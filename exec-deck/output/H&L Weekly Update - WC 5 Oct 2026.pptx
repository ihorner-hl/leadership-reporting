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identified</c:v>
                </c:pt>
              </c:strCache>
            </c:strRef>
          </c:tx>
          <c:spPr>
            <a:solidFill>
              <a:srgbClr val="24435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Sheet1!$B$2:$B$10</c:f>
              <c:numCache>
                <c:formatCode>General</c:formatCode>
                <c:ptCount val="9"/>
                <c:pt idx="0">
                  <c:v>0</c:v>
                </c:pt>
                <c:pt idx="1">
                  <c:v>0</c:v>
                </c:pt>
                <c:pt idx="2">
                  <c:v>0</c:v>
                </c:pt>
                <c:pt idx="3">
                  <c:v>0</c:v>
                </c:pt>
                <c:pt idx="4">
                  <c:v>0</c:v>
                </c:pt>
                <c:pt idx="5">
                  <c:v>0</c:v>
                </c:pt>
                <c:pt idx="6">
                  <c:v>0</c:v>
                </c:pt>
                <c:pt idx="7">
                  <c:v>23</c:v>
                </c:pt>
                <c:pt idx="8">
                  <c:v>9</c:v>
                </c:pt>
              </c:numCache>
            </c:numRef>
          </c:val>
        </c:ser>
        <c:ser>
          <c:idx val="1"/>
          <c:order val="1"/>
          <c:tx>
            <c:strRef>
              <c:f>Sheet1!$C$1</c:f>
              <c:strCache>
                <c:ptCount val="1"/>
                <c:pt idx="0">
                  <c:v>referred</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Sheet1!$C$2:$C$10</c:f>
              <c:numCache>
                <c:formatCode>General</c:formatCode>
                <c:ptCount val="9"/>
                <c:pt idx="0">
                  <c:v>3</c:v>
                </c:pt>
                <c:pt idx="1">
                  <c:v>2</c:v>
                </c:pt>
                <c:pt idx="2">
                  <c:v>4</c:v>
                </c:pt>
                <c:pt idx="3">
                  <c:v>3</c:v>
                </c:pt>
                <c:pt idx="4">
                  <c:v>2</c:v>
                </c:pt>
                <c:pt idx="5">
                  <c:v>6</c:v>
                </c:pt>
                <c:pt idx="6">
                  <c:v>2</c:v>
                </c:pt>
                <c:pt idx="7">
                  <c:v>5</c:v>
                </c:pt>
                <c:pt idx="8">
                  <c:v>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lineChart>
        <c:varyColors val="0"/>
        <c:ser>
          <c:idx val="2"/>
          <c:order val="2"/>
          <c:tx>
            <c:strRef>
              <c:f>Sheet1!$D$1</c:f>
              <c:strCache>
                <c:ptCount val="1"/>
                <c:pt idx="0">
                  <c:v>cumulative referred</c:v>
                </c:pt>
              </c:strCache>
            </c:strRef>
          </c:tx>
          <c:spPr>
            <a:solidFill>
              <a:srgbClr val="C88A2E"/>
            </a:solidFill>
            <a:ln w="25400" cap="flat">
              <a:solidFill>
                <a:srgbClr val="C88A2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5"/>
            <c:spPr>
              <a:solidFill>
                <a:srgbClr val="C88A2E"/>
              </a:solidFill>
              <a:ln w="9525" cap="flat">
                <a:solidFill>
                  <a:srgbClr val="C88A2E"/>
                </a:solidFill>
                <a:prstDash val="solid"/>
                <a:round/>
              </a:ln>
              <a:effectLst/>
            </c:spPr>
          </c:marker>
          <c:cat>
            <c:multiLvlStrRef>
              <c:f>Sheet1!$A$2:$A$10</c:f>
              <c:multiLvlStrCache>
                <c:ptCount val="9"/>
                <c:lvl>
                  <c:pt idx="0">
                    <c:v>Jan</c:v>
                  </c:pt>
                  <c:pt idx="1">
                    <c:v>Feb</c:v>
                  </c:pt>
                  <c:pt idx="2">
                    <c:v>Mar</c:v>
                  </c:pt>
                  <c:pt idx="3">
                    <c:v>Apr</c:v>
                  </c:pt>
                  <c:pt idx="4">
                    <c:v>May</c:v>
                  </c:pt>
                  <c:pt idx="5">
                    <c:v>Jun</c:v>
                  </c:pt>
                  <c:pt idx="6">
                    <c:v>Jul</c:v>
                  </c:pt>
                  <c:pt idx="7">
                    <c:v>Aug</c:v>
                  </c:pt>
                  <c:pt idx="8">
                    <c:v>Sep</c:v>
                  </c:pt>
                </c:lvl>
              </c:multiLvlStrCache>
            </c:multiLvlStrRef>
          </c:cat>
          <c:val>
            <c:numRef>
              <c:f>Sheet1!$D$2:$D$10</c:f>
              <c:numCache>
                <c:formatCode>General</c:formatCode>
                <c:ptCount val="9"/>
                <c:pt idx="0">
                  <c:v>3</c:v>
                </c:pt>
                <c:pt idx="1">
                  <c:v>5</c:v>
                </c:pt>
                <c:pt idx="2">
                  <c:v>9</c:v>
                </c:pt>
                <c:pt idx="3">
                  <c:v>12</c:v>
                </c:pt>
                <c:pt idx="4">
                  <c:v>14</c:v>
                </c:pt>
                <c:pt idx="5">
                  <c:v>20</c:v>
                </c:pt>
                <c:pt idx="6">
                  <c:v>22</c:v>
                </c:pt>
                <c:pt idx="7">
                  <c:v>27</c:v>
                </c:pt>
                <c:pt idx="8">
                  <c:v>27</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7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0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6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Won (HubSpot)</c:v>
                </c:pt>
              </c:strCache>
            </c:strRef>
          </c:tx>
          <c:spPr>
            <a:solidFill>
              <a:srgbClr val="2C8394"/>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Jan</c:v>
                  </c:pt>
                  <c:pt idx="1">
                    <c:v>Feb</c:v>
                  </c:pt>
                  <c:pt idx="2">
                    <c:v>Mar</c:v>
                  </c:pt>
                  <c:pt idx="3">
                    <c:v>Apr</c:v>
                  </c:pt>
                  <c:pt idx="4">
                    <c:v>May</c:v>
                  </c:pt>
                  <c:pt idx="5">
                    <c:v>Jun</c:v>
                  </c:pt>
                  <c:pt idx="6">
                    <c:v>Jul</c:v>
                  </c:pt>
                  <c:pt idx="7">
                    <c:v>Aug</c:v>
                  </c:pt>
                  <c:pt idx="8">
                    <c:v>Sep</c:v>
                  </c:pt>
                  <c:pt idx="9">
                    <c:v>Oct</c:v>
                  </c:pt>
                </c:lvl>
              </c:multiLvlStrCache>
            </c:multiLvlStrRef>
          </c:cat>
          <c:val>
            <c:numRef>
              <c:f>Sheet1!$B$2:$B$11</c:f>
              <c:numCache>
                <c:formatCode>General</c:formatCode>
                <c:ptCount val="10"/>
                <c:pt idx="0">
                  <c:v>4077</c:v>
                </c:pt>
                <c:pt idx="1">
                  <c:v>7481</c:v>
                </c:pt>
                <c:pt idx="2">
                  <c:v>16726</c:v>
                </c:pt>
                <c:pt idx="3">
                  <c:v>3839</c:v>
                </c:pt>
                <c:pt idx="4">
                  <c:v>2327</c:v>
                </c:pt>
                <c:pt idx="5">
                  <c:v>17288</c:v>
                </c:pt>
                <c:pt idx="6">
                  <c:v>969</c:v>
                </c:pt>
                <c:pt idx="7">
                  <c:v>2685</c:v>
                </c:pt>
                <c:pt idx="8">
                  <c:v>11582</c:v>
                </c:pt>
                <c:pt idx="9">
                  <c:v>2486</c:v>
                </c:pt>
              </c:numCache>
            </c:numRef>
          </c:val>
        </c:ser>
        <c:ser>
          <c:idx val="1"/>
          <c:order val="1"/>
          <c:tx>
            <c:strRef>
              <c:f>Sheet1!$C$1</c:f>
              <c:strCache>
                <c:ptCount val="1"/>
                <c:pt idx="0">
                  <c:v>Invoiced (register)</c:v>
                </c:pt>
              </c:strCache>
            </c:strRef>
          </c:tx>
          <c:spPr>
            <a:solidFill>
              <a:srgbClr val="3D8F5F"/>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Sheet1!$A$2:$A$11</c:f>
              <c:multiLvlStrCache>
                <c:ptCount val="10"/>
                <c:lvl>
                  <c:pt idx="0">
                    <c:v>Jan</c:v>
                  </c:pt>
                  <c:pt idx="1">
                    <c:v>Feb</c:v>
                  </c:pt>
                  <c:pt idx="2">
                    <c:v>Mar</c:v>
                  </c:pt>
                  <c:pt idx="3">
                    <c:v>Apr</c:v>
                  </c:pt>
                  <c:pt idx="4">
                    <c:v>May</c:v>
                  </c:pt>
                  <c:pt idx="5">
                    <c:v>Jun</c:v>
                  </c:pt>
                  <c:pt idx="6">
                    <c:v>Jul</c:v>
                  </c:pt>
                  <c:pt idx="7">
                    <c:v>Aug</c:v>
                  </c:pt>
                  <c:pt idx="8">
                    <c:v>Sep</c:v>
                  </c:pt>
                  <c:pt idx="9">
                    <c:v>Oct</c:v>
                  </c:pt>
                </c:lvl>
              </c:multiLvlStrCache>
            </c:multiLvlStrRef>
          </c:cat>
          <c:val>
            <c:numRef>
              <c:f>Sheet1!$C$2:$C$11</c:f>
              <c:numCache>
                <c:formatCode>General</c:formatCode>
                <c:ptCount val="10"/>
                <c:pt idx="0">
                  <c:v>2829</c:v>
                </c:pt>
                <c:pt idx="1">
                  <c:v>5205</c:v>
                </c:pt>
                <c:pt idx="2">
                  <c:v>5883</c:v>
                </c:pt>
                <c:pt idx="3">
                  <c:v>3463</c:v>
                </c:pt>
                <c:pt idx="4">
                  <c:v>5482</c:v>
                </c:pt>
                <c:pt idx="5">
                  <c:v>7087</c:v>
                </c:pt>
                <c:pt idx="6">
                  <c:v>4860</c:v>
                </c:pt>
                <c:pt idx="7">
                  <c:v>3700</c:v>
                </c:pt>
                <c:pt idx="8">
                  <c:v>6897</c:v>
                </c:pt>
                <c:pt idx="9">
                  <c:v>2904</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12293A"/>
                </a:solidFill>
                <a:latin typeface="Poppins"/>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A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650" b="0" i="0" u="none" strike="noStrike">
                <a:solidFill>
                  <a:srgbClr val="8FA1AC"/>
                </a:solidFill>
                <a:latin typeface="Poppins"/>
              </a:defRPr>
            </a:pPr>
            <a:endParaRPr lang="en-US"/>
          </a:p>
        </c:txPr>
        <c:crossAx val="2094734554"/>
        <c:crosses val="autoZero"/>
        <c:crossBetween val="between"/>
      </c:valAx>
      <c:spPr>
        <a:noFill/>
        <a:ln>
          <a:noFill/>
        </a:ln>
        <a:effectLst/>
      </c:spPr>
    </c:plotArea>
    <c:legend>
      <c:legendPos val="t"/>
      <c:overlay val="0"/>
      <c:txPr>
        <a:bodyPr/>
        <a:lstStyle/>
        <a:p>
          <a:pPr>
            <a:defRPr sz="750">
              <a:solidFill>
                <a:srgbClr val="5E7280"/>
              </a:solidFill>
              <a:latin typeface="Poppins"/>
              <a:cs typeface="Poppin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weekly deck produced after the Creatio → HubSpot migration (live 8 Sep 2026). Slide 3 carries the cutover register; per-slide source pills carry the provenance.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93A"/>
        </a:solidFill>
      </p:bgPr>
    </p:bg>
    <p:spTree>
      <p:nvGrpSpPr>
        <p:cNvPr id="1" name=""/>
        <p:cNvGrpSpPr/>
        <p:nvPr/>
      </p:nvGrpSpPr>
      <p:grpSpPr>
        <a:xfrm>
          <a:off x="0" y="0"/>
          <a:ext cx="0" cy="0"/>
          <a:chOff x="0" y="0"/>
          <a:chExt cx="0" cy="0"/>
        </a:xfrm>
      </p:grpSpPr>
      <p:sp>
        <p:nvSpPr>
          <p:cNvPr id="2" name="Shape 0"/>
          <p:cNvSpPr/>
          <p:nvPr/>
        </p:nvSpPr>
        <p:spPr>
          <a:xfrm>
            <a:off x="9709099" y="-1263701"/>
            <a:ext cx="3533242" cy="3533242"/>
          </a:xfrm>
          <a:prstGeom prst="ellipse">
            <a:avLst/>
          </a:prstGeom>
          <a:solidFill>
            <a:srgbClr val="1C5765"/>
          </a:solidFill>
          <a:ln/>
        </p:spPr>
      </p:sp>
      <p:sp>
        <p:nvSpPr>
          <p:cNvPr id="3" name="Shape 1"/>
          <p:cNvSpPr/>
          <p:nvPr/>
        </p:nvSpPr>
        <p:spPr>
          <a:xfrm>
            <a:off x="10112350" y="-860450"/>
            <a:ext cx="2726741" cy="2726741"/>
          </a:xfrm>
          <a:prstGeom prst="ellipse">
            <a:avLst/>
          </a:prstGeom>
          <a:solidFill>
            <a:srgbClr val="2C8394"/>
          </a:solidFill>
          <a:ln/>
        </p:spPr>
      </p:sp>
      <p:sp>
        <p:nvSpPr>
          <p:cNvPr id="4" name="Shape 2"/>
          <p:cNvSpPr/>
          <p:nvPr/>
        </p:nvSpPr>
        <p:spPr>
          <a:xfrm>
            <a:off x="10515600" y="-457200"/>
            <a:ext cx="1920240" cy="1920240"/>
          </a:xfrm>
          <a:prstGeom prst="ellipse">
            <a:avLst/>
          </a:prstGeom>
          <a:solidFill>
            <a:srgbClr val="6FAEBB"/>
          </a:solidFill>
          <a:ln/>
        </p:spPr>
      </p:sp>
      <p:sp>
        <p:nvSpPr>
          <p:cNvPr id="5" name="Shape 3"/>
          <p:cNvSpPr/>
          <p:nvPr/>
        </p:nvSpPr>
        <p:spPr>
          <a:xfrm>
            <a:off x="10918850" y="-53950"/>
            <a:ext cx="1113739" cy="1113739"/>
          </a:xfrm>
          <a:prstGeom prst="ellipse">
            <a:avLst/>
          </a:prstGeom>
          <a:solidFill>
            <a:srgbClr val="E4F1F4"/>
          </a:solidFill>
          <a:ln/>
        </p:spPr>
      </p:sp>
      <p:sp>
        <p:nvSpPr>
          <p:cNvPr id="6" name="Shape 4"/>
          <p:cNvSpPr/>
          <p:nvPr/>
        </p:nvSpPr>
        <p:spPr>
          <a:xfrm>
            <a:off x="868680" y="777240"/>
            <a:ext cx="1051560" cy="1051560"/>
          </a:xfrm>
          <a:prstGeom prst="roundRect">
            <a:avLst>
              <a:gd name="adj" fmla="val 13913"/>
            </a:avLst>
          </a:prstGeom>
          <a:solidFill>
            <a:srgbClr val="FFFFFF"/>
          </a:solidFill>
          <a:ln/>
          <a:effectLst>
            <a:outerShdw sx="100000" sy="100000" kx="0" ky="0" algn="bl" rotWithShape="0" blurRad="76200" dist="25400" dir="5400000">
              <a:srgbClr val="9AAAB5">
                <a:alpha val="35000"/>
              </a:srgbClr>
            </a:outerShdw>
          </a:effectLst>
        </p:spPr>
      </p:sp>
      <p:sp>
        <p:nvSpPr>
          <p:cNvPr id="7" name="Text 5"/>
          <p:cNvSpPr txBox="1"/>
          <p:nvPr/>
        </p:nvSpPr>
        <p:spPr>
          <a:xfrm>
            <a:off x="868680" y="777240"/>
            <a:ext cx="1051560" cy="1051560"/>
          </a:xfrm>
          <a:prstGeom prst="rect">
            <a:avLst/>
          </a:prstGeom>
          <a:noFill/>
          <a:ln/>
        </p:spPr>
        <p:txBody>
          <a:bodyPr wrap="square" lIns="0" tIns="0" rIns="0" bIns="0" rtlCol="0" anchor="ctr"/>
          <a:lstStyle/>
          <a:p>
            <a:pPr algn="ctr" indent="0" marL="0">
              <a:buNone/>
            </a:pPr>
            <a:r>
              <a:rPr lang="en-US" sz="2400" b="1" dirty="0">
                <a:solidFill>
                  <a:srgbClr val="12293A"/>
                </a:solidFill>
                <a:latin typeface="Poppins" pitchFamily="34" charset="0"/>
                <a:ea typeface="Poppins" pitchFamily="34" charset="-122"/>
                <a:cs typeface="Poppins" pitchFamily="34" charset="-120"/>
              </a:rPr>
              <a:t>H&amp;L</a:t>
            </a:r>
            <a:endParaRPr lang="en-US" sz="2400" dirty="0"/>
          </a:p>
        </p:txBody>
      </p:sp>
      <p:sp>
        <p:nvSpPr>
          <p:cNvPr id="8" name="Text 6"/>
          <p:cNvSpPr txBox="1"/>
          <p:nvPr/>
        </p:nvSpPr>
        <p:spPr>
          <a:xfrm>
            <a:off x="868680" y="2743200"/>
            <a:ext cx="10424160" cy="1051560"/>
          </a:xfrm>
          <a:prstGeom prst="rect">
            <a:avLst/>
          </a:prstGeom>
          <a:noFill/>
          <a:ln/>
        </p:spPr>
        <p:txBody>
          <a:bodyPr wrap="square" lIns="0" tIns="0" rIns="0" bIns="0" rtlCol="0" anchor="ctr"/>
          <a:lstStyle/>
          <a:p>
            <a:pPr indent="0" marL="0">
              <a:buNone/>
            </a:pPr>
            <a:r>
              <a:rPr lang="en-US" sz="5400" b="1" dirty="0">
                <a:solidFill>
                  <a:srgbClr val="FFFFFF"/>
                </a:solidFill>
                <a:latin typeface="Poppins" pitchFamily="34" charset="0"/>
                <a:ea typeface="Poppins" pitchFamily="34" charset="-122"/>
                <a:cs typeface="Poppins" pitchFamily="34" charset="-120"/>
              </a:rPr>
              <a:t>H&amp;L Weekly Update</a:t>
            </a:r>
            <a:endParaRPr lang="en-US" sz="5400" dirty="0"/>
          </a:p>
        </p:txBody>
      </p:sp>
      <p:sp>
        <p:nvSpPr>
          <p:cNvPr id="9" name="Text 7"/>
          <p:cNvSpPr txBox="1"/>
          <p:nvPr/>
        </p:nvSpPr>
        <p:spPr>
          <a:xfrm>
            <a:off x="896112" y="3977640"/>
            <a:ext cx="8229600" cy="411480"/>
          </a:xfrm>
          <a:prstGeom prst="rect">
            <a:avLst/>
          </a:prstGeom>
          <a:noFill/>
          <a:ln/>
        </p:spPr>
        <p:txBody>
          <a:bodyPr wrap="square" lIns="0" tIns="0" rIns="0" bIns="0" rtlCol="0" anchor="ctr"/>
          <a:lstStyle/>
          <a:p>
            <a:pPr indent="0" marL="0">
              <a:buNone/>
            </a:pPr>
            <a:r>
              <a:rPr lang="en-US" sz="1800" b="1" dirty="0">
                <a:solidFill>
                  <a:srgbClr val="FFFFFF"/>
                </a:solidFill>
                <a:latin typeface="Poppins" pitchFamily="34" charset="0"/>
                <a:ea typeface="Poppins" pitchFamily="34" charset="-122"/>
                <a:cs typeface="Poppins" pitchFamily="34" charset="-120"/>
              </a:rPr>
              <a:t>Week commencing 5 October 2026</a:t>
            </a:r>
            <a:endParaRPr lang="en-US" sz="1800" dirty="0"/>
          </a:p>
        </p:txBody>
      </p:sp>
      <p:sp>
        <p:nvSpPr>
          <p:cNvPr id="10" name="Text 8"/>
          <p:cNvSpPr txBox="1"/>
          <p:nvPr/>
        </p:nvSpPr>
        <p:spPr>
          <a:xfrm>
            <a:off x="896112" y="4434840"/>
            <a:ext cx="8229600" cy="320040"/>
          </a:xfrm>
          <a:prstGeom prst="rect">
            <a:avLst/>
          </a:prstGeom>
          <a:noFill/>
          <a:ln/>
        </p:spPr>
        <p:txBody>
          <a:bodyPr wrap="square" lIns="0" tIns="0" rIns="0" bIns="0" rtlCol="0" anchor="ctr"/>
          <a:lstStyle/>
          <a:p>
            <a:pPr indent="0" marL="0">
              <a:buNone/>
            </a:pPr>
            <a:r>
              <a:rPr lang="en-US" sz="1100" dirty="0">
                <a:solidFill>
                  <a:srgbClr val="6FAEBB"/>
                </a:solidFill>
                <a:latin typeface="Poppins" pitchFamily="34" charset="0"/>
                <a:ea typeface="Poppins" pitchFamily="34" charset="-122"/>
                <a:cs typeface="Poppins" pitchFamily="34" charset="-120"/>
              </a:rPr>
              <a:t>Generated: 12 Oct 2026</a:t>
            </a:r>
            <a:endParaRPr lang="en-US" sz="1100" dirty="0"/>
          </a:p>
        </p:txBody>
      </p:sp>
      <p:sp>
        <p:nvSpPr>
          <p:cNvPr id="11" name="Shape 9"/>
          <p:cNvSpPr/>
          <p:nvPr/>
        </p:nvSpPr>
        <p:spPr>
          <a:xfrm>
            <a:off x="896112" y="5029200"/>
            <a:ext cx="4572000" cy="402336"/>
          </a:xfrm>
          <a:prstGeom prst="roundRect">
            <a:avLst>
              <a:gd name="adj" fmla="val 50000"/>
            </a:avLst>
          </a:prstGeom>
          <a:solidFill>
            <a:srgbClr val="B4552D"/>
          </a:solidFill>
          <a:ln/>
        </p:spPr>
      </p:sp>
      <p:sp>
        <p:nvSpPr>
          <p:cNvPr id="12" name="Text 10"/>
          <p:cNvSpPr txBox="1"/>
          <p:nvPr/>
        </p:nvSpPr>
        <p:spPr>
          <a:xfrm>
            <a:off x="896112" y="5029200"/>
            <a:ext cx="4572000" cy="402336"/>
          </a:xfrm>
          <a:prstGeom prst="rect">
            <a:avLst/>
          </a:prstGeom>
          <a:noFill/>
          <a:ln/>
        </p:spPr>
        <p:txBody>
          <a:bodyPr wrap="square" lIns="0" tIns="0" rIns="0" bIns="0" rtlCol="0" anchor="ctr"/>
          <a:lstStyle/>
          <a:p>
            <a:pPr algn="ctr" indent="0" marL="0">
              <a:buNone/>
            </a:pPr>
            <a:r>
              <a:rPr lang="en-US" sz="900" b="1" dirty="0">
                <a:solidFill>
                  <a:srgbClr val="FFFFFF"/>
                </a:solidFill>
                <a:latin typeface="Poppins" pitchFamily="34" charset="0"/>
                <a:ea typeface="Poppins" pitchFamily="34" charset="-122"/>
                <a:cs typeface="Poppins" pitchFamily="34" charset="-120"/>
              </a:rPr>
              <a:t>Q4 OPEN — TARGETS CARRIED FORWARD</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Agenda</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371600"/>
            <a:ext cx="2670048" cy="82296"/>
          </a:xfrm>
          <a:prstGeom prst="rect">
            <a:avLst/>
          </a:prstGeom>
          <a:solidFill>
            <a:srgbClr val="2C8394"/>
          </a:solidFill>
          <a:ln/>
        </p:spPr>
      </p:sp>
      <p:sp>
        <p:nvSpPr>
          <p:cNvPr id="11" name="Shape 9"/>
          <p:cNvSpPr/>
          <p:nvPr/>
        </p:nvSpPr>
        <p:spPr>
          <a:xfrm>
            <a:off x="411480"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12" name="Shape 10"/>
          <p:cNvSpPr/>
          <p:nvPr/>
        </p:nvSpPr>
        <p:spPr>
          <a:xfrm>
            <a:off x="1435608" y="1874520"/>
            <a:ext cx="621792" cy="621792"/>
          </a:xfrm>
          <a:prstGeom prst="ellipse">
            <a:avLst/>
          </a:prstGeom>
          <a:solidFill>
            <a:srgbClr val="2C8394"/>
          </a:solidFill>
          <a:ln/>
          <a:effectLst>
            <a:outerShdw sx="100000" sy="100000" kx="0" ky="0" algn="bl" rotWithShape="0" blurRad="76200" dist="25400" dir="5400000">
              <a:srgbClr val="9AAAB5">
                <a:alpha val="35000"/>
              </a:srgbClr>
            </a:outerShdw>
          </a:effectLst>
        </p:spPr>
      </p:sp>
      <p:sp>
        <p:nvSpPr>
          <p:cNvPr id="13" name="Text 11"/>
          <p:cNvSpPr txBox="1"/>
          <p:nvPr/>
        </p:nvSpPr>
        <p:spPr>
          <a:xfrm>
            <a:off x="1435608"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1</a:t>
            </a:r>
            <a:endParaRPr lang="en-US" sz="2200" dirty="0"/>
          </a:p>
        </p:txBody>
      </p:sp>
      <p:sp>
        <p:nvSpPr>
          <p:cNvPr id="14" name="Text 12"/>
          <p:cNvSpPr txBox="1"/>
          <p:nvPr/>
        </p:nvSpPr>
        <p:spPr>
          <a:xfrm>
            <a:off x="502920"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SELL?</a:t>
            </a:r>
            <a:endParaRPr lang="en-US" sz="1350" dirty="0"/>
          </a:p>
        </p:txBody>
      </p:sp>
      <p:sp>
        <p:nvSpPr>
          <p:cNvPr id="15" name="Text 13"/>
          <p:cNvSpPr txBox="1"/>
          <p:nvPr/>
        </p:nvSpPr>
        <p:spPr>
          <a:xfrm>
            <a:off x="502920" y="2971800"/>
            <a:ext cx="2487168" cy="274320"/>
          </a:xfrm>
          <a:prstGeom prst="rect">
            <a:avLst/>
          </a:prstGeom>
          <a:noFill/>
          <a:ln/>
        </p:spPr>
        <p:txBody>
          <a:bodyPr wrap="square" lIns="0" tIns="0" rIns="0" bIns="0" rtlCol="0" anchor="ctr"/>
          <a:lstStyle/>
          <a:p>
            <a:pPr algn="ctr" indent="0" marL="0">
              <a:buNone/>
            </a:pPr>
            <a:r>
              <a:rPr lang="en-US" sz="1000" b="1" dirty="0">
                <a:solidFill>
                  <a:srgbClr val="2C8394"/>
                </a:solidFill>
                <a:latin typeface="Poppins" pitchFamily="34" charset="0"/>
                <a:ea typeface="Poppins" pitchFamily="34" charset="-122"/>
                <a:cs typeface="Poppins" pitchFamily="34" charset="-120"/>
              </a:rPr>
              <a:t>Sales &amp; partner motion</a:t>
            </a:r>
            <a:endParaRPr lang="en-US" sz="1000" dirty="0"/>
          </a:p>
        </p:txBody>
      </p:sp>
      <p:sp>
        <p:nvSpPr>
          <p:cNvPr id="16" name="Shape 14"/>
          <p:cNvSpPr/>
          <p:nvPr/>
        </p:nvSpPr>
        <p:spPr>
          <a:xfrm>
            <a:off x="1426464" y="3310128"/>
            <a:ext cx="640080" cy="50292"/>
          </a:xfrm>
          <a:prstGeom prst="roundRect">
            <a:avLst>
              <a:gd name="adj" fmla="val 36364"/>
            </a:avLst>
          </a:prstGeom>
          <a:solidFill>
            <a:srgbClr val="E2EAEE"/>
          </a:solidFill>
          <a:ln/>
        </p:spPr>
      </p:sp>
      <p:sp>
        <p:nvSpPr>
          <p:cNvPr id="17" name="Text 15"/>
          <p:cNvSpPr txBox="1"/>
          <p:nvPr/>
        </p:nvSpPr>
        <p:spPr>
          <a:xfrm>
            <a:off x="612648"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Target vs Invoiced — sales team roll-up</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AI-Infused Products — pipeline &amp; conversion</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H&amp;L Pay — partner motion</a:t>
            </a:r>
            <a:endParaRPr lang="en-US" sz="950" dirty="0"/>
          </a:p>
        </p:txBody>
      </p:sp>
      <p:sp>
        <p:nvSpPr>
          <p:cNvPr id="18" name="Shape 16"/>
          <p:cNvSpPr/>
          <p:nvPr/>
        </p:nvSpPr>
        <p:spPr>
          <a:xfrm>
            <a:off x="3310128" y="1371600"/>
            <a:ext cx="2670048" cy="82296"/>
          </a:xfrm>
          <a:prstGeom prst="rect">
            <a:avLst/>
          </a:prstGeom>
          <a:solidFill>
            <a:srgbClr val="3D8F5F"/>
          </a:solidFill>
          <a:ln/>
        </p:spPr>
      </p:sp>
      <p:sp>
        <p:nvSpPr>
          <p:cNvPr id="19" name="Shape 17"/>
          <p:cNvSpPr/>
          <p:nvPr/>
        </p:nvSpPr>
        <p:spPr>
          <a:xfrm>
            <a:off x="3310128"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0" name="Shape 18"/>
          <p:cNvSpPr/>
          <p:nvPr/>
        </p:nvSpPr>
        <p:spPr>
          <a:xfrm>
            <a:off x="4334256" y="1874520"/>
            <a:ext cx="621792" cy="621792"/>
          </a:xfrm>
          <a:prstGeom prst="ellipse">
            <a:avLst/>
          </a:prstGeom>
          <a:solidFill>
            <a:srgbClr val="3D8F5F"/>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334256"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2</a:t>
            </a:r>
            <a:endParaRPr lang="en-US" sz="2200" dirty="0"/>
          </a:p>
        </p:txBody>
      </p:sp>
      <p:sp>
        <p:nvSpPr>
          <p:cNvPr id="22" name="Text 20"/>
          <p:cNvSpPr txBox="1"/>
          <p:nvPr/>
        </p:nvSpPr>
        <p:spPr>
          <a:xfrm>
            <a:off x="3401568"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DELIVER?</a:t>
            </a:r>
            <a:endParaRPr lang="en-US" sz="1350" dirty="0"/>
          </a:p>
        </p:txBody>
      </p:sp>
      <p:sp>
        <p:nvSpPr>
          <p:cNvPr id="23" name="Text 21"/>
          <p:cNvSpPr txBox="1"/>
          <p:nvPr/>
        </p:nvSpPr>
        <p:spPr>
          <a:xfrm>
            <a:off x="3401568" y="2971800"/>
            <a:ext cx="2487168" cy="274320"/>
          </a:xfrm>
          <a:prstGeom prst="rect">
            <a:avLst/>
          </a:prstGeom>
          <a:noFill/>
          <a:ln/>
        </p:spPr>
        <p:txBody>
          <a:bodyPr wrap="square" lIns="0" tIns="0" rIns="0" bIns="0" rtlCol="0" anchor="ctr"/>
          <a:lstStyle/>
          <a:p>
            <a:pPr algn="ctr" indent="0" marL="0">
              <a:buNone/>
            </a:pPr>
            <a:r>
              <a:rPr lang="en-US" sz="1000" b="1" dirty="0">
                <a:solidFill>
                  <a:srgbClr val="3D8F5F"/>
                </a:solidFill>
                <a:latin typeface="Poppins" pitchFamily="34" charset="0"/>
                <a:ea typeface="Poppins" pitchFamily="34" charset="-122"/>
                <a:cs typeface="Poppins" pitchFamily="34" charset="-120"/>
              </a:rPr>
              <a:t>From signed to billed</a:t>
            </a:r>
            <a:endParaRPr lang="en-US" sz="1000" dirty="0"/>
          </a:p>
        </p:txBody>
      </p:sp>
      <p:sp>
        <p:nvSpPr>
          <p:cNvPr id="24" name="Shape 22"/>
          <p:cNvSpPr/>
          <p:nvPr/>
        </p:nvSpPr>
        <p:spPr>
          <a:xfrm>
            <a:off x="4325112" y="3310128"/>
            <a:ext cx="640080" cy="50292"/>
          </a:xfrm>
          <a:prstGeom prst="roundRect">
            <a:avLst>
              <a:gd name="adj" fmla="val 36364"/>
            </a:avLst>
          </a:prstGeom>
          <a:solidFill>
            <a:srgbClr val="E2EAEE"/>
          </a:solidFill>
          <a:ln/>
        </p:spPr>
      </p:sp>
      <p:sp>
        <p:nvSpPr>
          <p:cNvPr id="25" name="Text 23"/>
          <p:cNvSpPr txBox="1"/>
          <p:nvPr/>
        </p:nvSpPr>
        <p:spPr>
          <a:xfrm>
            <a:off x="3511296"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Utilisation &amp; Delivery Hours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Won vs Invoiced &amp; Retention</a:t>
            </a:r>
            <a:endParaRPr lang="en-US" sz="950" dirty="0"/>
          </a:p>
        </p:txBody>
      </p:sp>
      <p:sp>
        <p:nvSpPr>
          <p:cNvPr id="26" name="Shape 24"/>
          <p:cNvSpPr/>
          <p:nvPr/>
        </p:nvSpPr>
        <p:spPr>
          <a:xfrm>
            <a:off x="6208776" y="1371600"/>
            <a:ext cx="2670048" cy="82296"/>
          </a:xfrm>
          <a:prstGeom prst="rect">
            <a:avLst/>
          </a:prstGeom>
          <a:solidFill>
            <a:srgbClr val="C88A2E"/>
          </a:solidFill>
          <a:ln/>
        </p:spPr>
      </p:sp>
      <p:sp>
        <p:nvSpPr>
          <p:cNvPr id="27" name="Shape 25"/>
          <p:cNvSpPr/>
          <p:nvPr/>
        </p:nvSpPr>
        <p:spPr>
          <a:xfrm>
            <a:off x="6208776"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28" name="Shape 26"/>
          <p:cNvSpPr/>
          <p:nvPr/>
        </p:nvSpPr>
        <p:spPr>
          <a:xfrm>
            <a:off x="7232904" y="1874520"/>
            <a:ext cx="621792" cy="621792"/>
          </a:xfrm>
          <a:prstGeom prst="ellipse">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7232904"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3</a:t>
            </a:r>
            <a:endParaRPr lang="en-US" sz="2200" dirty="0"/>
          </a:p>
        </p:txBody>
      </p:sp>
      <p:sp>
        <p:nvSpPr>
          <p:cNvPr id="30" name="Text 28"/>
          <p:cNvSpPr txBox="1"/>
          <p:nvPr/>
        </p:nvSpPr>
        <p:spPr>
          <a:xfrm>
            <a:off x="6300216"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DID WE KEEP THEM?</a:t>
            </a:r>
            <a:endParaRPr lang="en-US" sz="1350" dirty="0"/>
          </a:p>
        </p:txBody>
      </p:sp>
      <p:sp>
        <p:nvSpPr>
          <p:cNvPr id="31" name="Text 29"/>
          <p:cNvSpPr txBox="1"/>
          <p:nvPr/>
        </p:nvSpPr>
        <p:spPr>
          <a:xfrm>
            <a:off x="6300216" y="2971800"/>
            <a:ext cx="2487168" cy="274320"/>
          </a:xfrm>
          <a:prstGeom prst="rect">
            <a:avLst/>
          </a:prstGeom>
          <a:noFill/>
          <a:ln/>
        </p:spPr>
        <p:txBody>
          <a:bodyPr wrap="square" lIns="0" tIns="0" rIns="0" bIns="0" rtlCol="0" anchor="ctr"/>
          <a:lstStyle/>
          <a:p>
            <a:pPr algn="ctr" indent="0" marL="0">
              <a:buNone/>
            </a:pPr>
            <a:r>
              <a:rPr lang="en-US" sz="1000" b="1" dirty="0">
                <a:solidFill>
                  <a:srgbClr val="C88A2E"/>
                </a:solidFill>
                <a:latin typeface="Poppins" pitchFamily="34" charset="0"/>
                <a:ea typeface="Poppins" pitchFamily="34" charset="-122"/>
                <a:cs typeface="Poppins" pitchFamily="34" charset="-120"/>
              </a:rPr>
              <a:t>Support health</a:t>
            </a:r>
            <a:endParaRPr lang="en-US" sz="1000" dirty="0"/>
          </a:p>
        </p:txBody>
      </p:sp>
      <p:sp>
        <p:nvSpPr>
          <p:cNvPr id="32" name="Shape 30"/>
          <p:cNvSpPr/>
          <p:nvPr/>
        </p:nvSpPr>
        <p:spPr>
          <a:xfrm>
            <a:off x="7223760" y="3310128"/>
            <a:ext cx="640080" cy="50292"/>
          </a:xfrm>
          <a:prstGeom prst="roundRect">
            <a:avLst>
              <a:gd name="adj" fmla="val 36364"/>
            </a:avLst>
          </a:prstGeom>
          <a:solidFill>
            <a:srgbClr val="E2EAEE"/>
          </a:solidFill>
          <a:ln/>
        </p:spPr>
      </p:sp>
      <p:sp>
        <p:nvSpPr>
          <p:cNvPr id="33" name="Text 31"/>
          <p:cNvSpPr txBox="1"/>
          <p:nvPr/>
        </p:nvSpPr>
        <p:spPr>
          <a:xfrm>
            <a:off x="6409944"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Backlog, ageing &amp; first response</a:t>
            </a:r>
            <a:endParaRPr lang="en-US" sz="950" dirty="0"/>
          </a:p>
        </p:txBody>
      </p:sp>
      <p:sp>
        <p:nvSpPr>
          <p:cNvPr id="34" name="Shape 32"/>
          <p:cNvSpPr/>
          <p:nvPr/>
        </p:nvSpPr>
        <p:spPr>
          <a:xfrm>
            <a:off x="9107424" y="1371600"/>
            <a:ext cx="2670048" cy="82296"/>
          </a:xfrm>
          <a:prstGeom prst="rect">
            <a:avLst/>
          </a:prstGeom>
          <a:solidFill>
            <a:srgbClr val="12293A"/>
          </a:solidFill>
          <a:ln/>
        </p:spPr>
      </p:sp>
      <p:sp>
        <p:nvSpPr>
          <p:cNvPr id="35" name="Shape 33"/>
          <p:cNvSpPr/>
          <p:nvPr/>
        </p:nvSpPr>
        <p:spPr>
          <a:xfrm>
            <a:off x="9107424" y="1453896"/>
            <a:ext cx="2670048" cy="4398264"/>
          </a:xfrm>
          <a:prstGeom prst="roundRect">
            <a:avLst>
              <a:gd name="adj" fmla="val 2397"/>
            </a:avLst>
          </a:prstGeom>
          <a:solidFill>
            <a:srgbClr val="FFFFFF"/>
          </a:solidFill>
          <a:ln/>
          <a:effectLst>
            <a:outerShdw sx="100000" sy="100000" kx="0" ky="0" algn="bl" rotWithShape="0" blurRad="76200" dist="25400" dir="5400000">
              <a:srgbClr val="9AAAB5">
                <a:alpha val="35000"/>
              </a:srgbClr>
            </a:outerShdw>
          </a:effectLst>
        </p:spPr>
      </p:sp>
      <p:sp>
        <p:nvSpPr>
          <p:cNvPr id="36" name="Shape 34"/>
          <p:cNvSpPr/>
          <p:nvPr/>
        </p:nvSpPr>
        <p:spPr>
          <a:xfrm>
            <a:off x="10131552" y="1874520"/>
            <a:ext cx="621792" cy="621792"/>
          </a:xfrm>
          <a:prstGeom prst="ellipse">
            <a:avLst/>
          </a:prstGeom>
          <a:solidFill>
            <a:srgbClr val="12293A"/>
          </a:solidFill>
          <a:ln/>
          <a:effectLst>
            <a:outerShdw sx="100000" sy="100000" kx="0" ky="0" algn="bl" rotWithShape="0" blurRad="76200" dist="25400" dir="5400000">
              <a:srgbClr val="9AAAB5">
                <a:alpha val="35000"/>
              </a:srgbClr>
            </a:outerShdw>
          </a:effectLst>
        </p:spPr>
      </p:sp>
      <p:sp>
        <p:nvSpPr>
          <p:cNvPr id="37" name="Text 35"/>
          <p:cNvSpPr txBox="1"/>
          <p:nvPr/>
        </p:nvSpPr>
        <p:spPr>
          <a:xfrm>
            <a:off x="10131552" y="1874520"/>
            <a:ext cx="621792" cy="621792"/>
          </a:xfrm>
          <a:prstGeom prst="rect">
            <a:avLst/>
          </a:prstGeom>
          <a:noFill/>
          <a:ln/>
        </p:spPr>
        <p:txBody>
          <a:bodyPr wrap="square" lIns="0" tIns="0" rIns="0" bIns="0" rtlCol="0" anchor="ctr"/>
          <a:lstStyle/>
          <a:p>
            <a:pPr algn="ctr" indent="0" marL="0">
              <a:buNone/>
            </a:pPr>
            <a:r>
              <a:rPr lang="en-US" sz="2200" b="1" dirty="0">
                <a:solidFill>
                  <a:srgbClr val="FFFFFF"/>
                </a:solidFill>
                <a:latin typeface="Poppins" pitchFamily="34" charset="0"/>
                <a:ea typeface="Poppins" pitchFamily="34" charset="-122"/>
                <a:cs typeface="Poppins" pitchFamily="34" charset="-120"/>
              </a:rPr>
              <a:t>4</a:t>
            </a:r>
            <a:endParaRPr lang="en-US" sz="2200" dirty="0"/>
          </a:p>
        </p:txBody>
      </p:sp>
      <p:sp>
        <p:nvSpPr>
          <p:cNvPr id="38" name="Text 36"/>
          <p:cNvSpPr txBox="1"/>
          <p:nvPr/>
        </p:nvSpPr>
        <p:spPr>
          <a:xfrm>
            <a:off x="9198864" y="2651760"/>
            <a:ext cx="2487168" cy="320040"/>
          </a:xfrm>
          <a:prstGeom prst="rect">
            <a:avLst/>
          </a:prstGeom>
          <a:noFill/>
          <a:ln/>
        </p:spPr>
        <p:txBody>
          <a:bodyPr wrap="square" lIns="0" tIns="0" rIns="0" bIns="0" rtlCol="0" anchor="ctr"/>
          <a:lstStyle/>
          <a:p>
            <a:pPr algn="ctr" indent="0" marL="0">
              <a:buNone/>
            </a:pPr>
            <a:r>
              <a:rPr lang="en-US" sz="1350" b="1" dirty="0">
                <a:solidFill>
                  <a:srgbClr val="12293A"/>
                </a:solidFill>
                <a:latin typeface="Poppins" pitchFamily="34" charset="0"/>
                <a:ea typeface="Poppins" pitchFamily="34" charset="-122"/>
                <a:cs typeface="Poppins" pitchFamily="34" charset="-120"/>
              </a:rPr>
              <a:t>BUILDING THE FUTURE?</a:t>
            </a:r>
            <a:endParaRPr lang="en-US" sz="1350" dirty="0"/>
          </a:p>
        </p:txBody>
      </p:sp>
      <p:sp>
        <p:nvSpPr>
          <p:cNvPr id="39" name="Text 37"/>
          <p:cNvSpPr txBox="1"/>
          <p:nvPr/>
        </p:nvSpPr>
        <p:spPr>
          <a:xfrm>
            <a:off x="9198864" y="2971800"/>
            <a:ext cx="2487168" cy="274320"/>
          </a:xfrm>
          <a:prstGeom prst="rect">
            <a:avLst/>
          </a:prstGeom>
          <a:noFill/>
          <a:ln/>
        </p:spPr>
        <p:txBody>
          <a:bodyPr wrap="square" lIns="0" tIns="0" rIns="0" bIns="0" rtlCol="0" anchor="ctr"/>
          <a:lstStyle/>
          <a:p>
            <a:pPr algn="ctr" indent="0" marL="0">
              <a:buNone/>
            </a:pPr>
            <a:r>
              <a:rPr lang="en-US" sz="1000" b="1" dirty="0">
                <a:solidFill>
                  <a:srgbClr val="8FA1AC"/>
                </a:solidFill>
                <a:latin typeface="Poppins" pitchFamily="34" charset="0"/>
                <a:ea typeface="Poppins" pitchFamily="34" charset="-122"/>
                <a:cs typeface="Poppins" pitchFamily="34" charset="-120"/>
              </a:rPr>
              <a:t>Product, AI &amp; projects</a:t>
            </a:r>
            <a:endParaRPr lang="en-US" sz="1000" dirty="0"/>
          </a:p>
        </p:txBody>
      </p:sp>
      <p:sp>
        <p:nvSpPr>
          <p:cNvPr id="40" name="Shape 38"/>
          <p:cNvSpPr/>
          <p:nvPr/>
        </p:nvSpPr>
        <p:spPr>
          <a:xfrm>
            <a:off x="10122408" y="3310128"/>
            <a:ext cx="640080" cy="50292"/>
          </a:xfrm>
          <a:prstGeom prst="roundRect">
            <a:avLst>
              <a:gd name="adj" fmla="val 36364"/>
            </a:avLst>
          </a:prstGeom>
          <a:solidFill>
            <a:srgbClr val="E2EAEE"/>
          </a:solidFill>
          <a:ln/>
        </p:spPr>
      </p:sp>
      <p:sp>
        <p:nvSpPr>
          <p:cNvPr id="41" name="Text 39"/>
          <p:cNvSpPr txBox="1"/>
          <p:nvPr/>
        </p:nvSpPr>
        <p:spPr>
          <a:xfrm>
            <a:off x="9308592" y="3520440"/>
            <a:ext cx="2267712" cy="2103120"/>
          </a:xfrm>
          <a:prstGeom prst="rect">
            <a:avLst/>
          </a:prstGeom>
          <a:noFill/>
          <a:ln/>
        </p:spPr>
        <p:txBody>
          <a:bodyPr wrap="square" lIns="0" tIns="0" rIns="0" bIns="0" rtlCol="0" anchor="t"/>
          <a:lstStyle/>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Q3 Roadmap · GTM Readiness</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AI Usage — adoption &amp; activity</a:t>
            </a:r>
            <a:endParaRPr lang="en-US" sz="950" dirty="0"/>
          </a:p>
          <a:p>
            <a:pPr marL="342900" indent="-342900">
              <a:spcAft>
                <a:spcPts val="1000"/>
              </a:spcAft>
              <a:buSzPct val="100000"/>
              <a:buChar char="•"/>
            </a:pPr>
            <a:r>
              <a:rPr lang="en-US" sz="950" dirty="0">
                <a:solidFill>
                  <a:srgbClr val="3A4B57"/>
                </a:solidFill>
                <a:latin typeface="Poppins" pitchFamily="34" charset="0"/>
                <a:ea typeface="Poppins" pitchFamily="34" charset="-122"/>
                <a:cs typeface="Poppins" pitchFamily="34" charset="-120"/>
              </a:rPr>
              <a:t>Projects — portfolio status</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Executive Summary</a:t>
            </a:r>
            <a:endParaRPr lang="en-US" sz="2300" dirty="0"/>
          </a:p>
        </p:txBody>
      </p:sp>
      <p:sp>
        <p:nvSpPr>
          <p:cNvPr id="6" name="Shape 4"/>
          <p:cNvSpPr/>
          <p:nvPr/>
        </p:nvSpPr>
        <p:spPr>
          <a:xfrm>
            <a:off x="10872216" y="0"/>
            <a:ext cx="841248" cy="841248"/>
          </a:xfrm>
          <a:prstGeom prst="ellipse">
            <a:avLst/>
          </a:prstGeom>
          <a:solidFill>
            <a:srgbClr val="1C5765"/>
          </a:solidFill>
          <a:ln/>
        </p:spPr>
      </p:sp>
      <p:sp>
        <p:nvSpPr>
          <p:cNvPr id="7" name="Shape 5"/>
          <p:cNvSpPr/>
          <p:nvPr/>
        </p:nvSpPr>
        <p:spPr>
          <a:xfrm>
            <a:off x="10968228" y="96012"/>
            <a:ext cx="649224" cy="649224"/>
          </a:xfrm>
          <a:prstGeom prst="ellipse">
            <a:avLst/>
          </a:prstGeom>
          <a:solidFill>
            <a:srgbClr val="2C8394"/>
          </a:solidFill>
          <a:ln/>
        </p:spPr>
      </p:sp>
      <p:sp>
        <p:nvSpPr>
          <p:cNvPr id="8" name="Shape 6"/>
          <p:cNvSpPr/>
          <p:nvPr/>
        </p:nvSpPr>
        <p:spPr>
          <a:xfrm>
            <a:off x="11064240" y="192024"/>
            <a:ext cx="457200" cy="457200"/>
          </a:xfrm>
          <a:prstGeom prst="ellipse">
            <a:avLst/>
          </a:prstGeom>
          <a:solidFill>
            <a:srgbClr val="6FAEBB"/>
          </a:solidFill>
          <a:ln/>
        </p:spPr>
      </p:sp>
      <p:sp>
        <p:nvSpPr>
          <p:cNvPr id="9" name="Shape 7"/>
          <p:cNvSpPr/>
          <p:nvPr/>
        </p:nvSpPr>
        <p:spPr>
          <a:xfrm>
            <a:off x="11160252" y="288036"/>
            <a:ext cx="265176" cy="265176"/>
          </a:xfrm>
          <a:prstGeom prst="ellipse">
            <a:avLst/>
          </a:prstGeom>
          <a:solidFill>
            <a:srgbClr val="E4F1F4"/>
          </a:solidFill>
          <a:ln/>
        </p:spPr>
      </p:sp>
      <p:sp>
        <p:nvSpPr>
          <p:cNvPr id="10" name="Shape 8"/>
          <p:cNvSpPr/>
          <p:nvPr/>
        </p:nvSpPr>
        <p:spPr>
          <a:xfrm>
            <a:off x="411480"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1" name="Text 9"/>
          <p:cNvSpPr txBox="1"/>
          <p:nvPr/>
        </p:nvSpPr>
        <p:spPr>
          <a:xfrm>
            <a:off x="594360"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OVERALL PERFORMANCE &amp; FINANCE SUMMARY</a:t>
            </a:r>
            <a:endParaRPr lang="en-US" sz="1050" dirty="0"/>
          </a:p>
        </p:txBody>
      </p:sp>
      <p:sp>
        <p:nvSpPr>
          <p:cNvPr id="12" name="Text 10"/>
          <p:cNvSpPr txBox="1"/>
          <p:nvPr/>
        </p:nvSpPr>
        <p:spPr>
          <a:xfrm>
            <a:off x="594360"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Q4 hardware opens at $28k against the $715k OKR2 — one week of extract, with the 1–4 Oct straddle still unallocated</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3" name="Shape 11"/>
          <p:cNvSpPr/>
          <p:nvPr/>
        </p:nvSpPr>
        <p:spPr>
          <a:xfrm>
            <a:off x="4279392"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4462272"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SALES &amp; ACCOUNT MANAGEMENT SUMMARY</a:t>
            </a:r>
            <a:endParaRPr lang="en-US" sz="1050" dirty="0"/>
          </a:p>
        </p:txBody>
      </p:sp>
      <p:sp>
        <p:nvSpPr>
          <p:cNvPr id="15" name="Text 13"/>
          <p:cNvSpPr txBox="1"/>
          <p:nvPr/>
        </p:nvSpPr>
        <p:spPr>
          <a:xfrm>
            <a:off x="4462272"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Q4 new MRR $2.9k = 10% of OKR2; the week nets −$1,777 as three seasonal closures book $2,946 of churn</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6" name="Shape 14"/>
          <p:cNvSpPr/>
          <p:nvPr/>
        </p:nvSpPr>
        <p:spPr>
          <a:xfrm>
            <a:off x="8147304" y="11430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8330184" y="12710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PROFESSIONAL SERVICES SUMMARY</a:t>
            </a:r>
            <a:endParaRPr lang="en-US" sz="1050" dirty="0"/>
          </a:p>
        </p:txBody>
      </p:sp>
      <p:sp>
        <p:nvSpPr>
          <p:cNvPr id="18" name="Text 16"/>
          <p:cNvSpPr txBox="1"/>
          <p:nvPr/>
        </p:nvSpPr>
        <p:spPr>
          <a:xfrm>
            <a:off x="8330184" y="16916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billable utilisation 6.2% — 21.3h of 342h with Rhys and Rodney back in the base; one 10.5h record is half of it</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19" name="Shape 17"/>
          <p:cNvSpPr/>
          <p:nvPr/>
        </p:nvSpPr>
        <p:spPr>
          <a:xfrm>
            <a:off x="411480"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594360"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SUPPORT SUMMARY</a:t>
            </a:r>
            <a:endParaRPr lang="en-US" sz="1050" dirty="0"/>
          </a:p>
        </p:txBody>
      </p:sp>
      <p:sp>
        <p:nvSpPr>
          <p:cNvPr id="21" name="Text 19"/>
          <p:cNvSpPr txBox="1"/>
          <p:nvPr/>
        </p:nvSpPr>
        <p:spPr>
          <a:xfrm>
            <a:off x="594360"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weekly inflow 427 vs resolved 431 — backlog finally fell, 698 → 657, but 271 cases are now past 30 days</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2" name="Shape 20"/>
          <p:cNvSpPr/>
          <p:nvPr/>
        </p:nvSpPr>
        <p:spPr>
          <a:xfrm>
            <a:off x="4279392"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3" name="Text 21"/>
          <p:cNvSpPr txBox="1"/>
          <p:nvPr/>
        </p:nvSpPr>
        <p:spPr>
          <a:xfrm>
            <a:off x="4462272"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PRODUCT</a:t>
            </a:r>
            <a:endParaRPr lang="en-US" sz="1050" dirty="0"/>
          </a:p>
        </p:txBody>
      </p:sp>
      <p:sp>
        <p:nvSpPr>
          <p:cNvPr id="24" name="Text 22"/>
          <p:cNvSpPr txBox="1"/>
          <p:nvPr/>
        </p:nvSpPr>
        <p:spPr>
          <a:xfrm>
            <a:off x="4462272"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Q3 roadmap as at 19 Sep: 10 done · 12 on track · 3 not started · 2 at risk — tracker refresh still pending</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5" name="Shape 23"/>
          <p:cNvSpPr/>
          <p:nvPr/>
        </p:nvSpPr>
        <p:spPr>
          <a:xfrm>
            <a:off x="8147304" y="3657600"/>
            <a:ext cx="3639312" cy="2331720"/>
          </a:xfrm>
          <a:prstGeom prst="roundRect">
            <a:avLst>
              <a:gd name="adj" fmla="val 2745"/>
            </a:avLst>
          </a:prstGeom>
          <a:solidFill>
            <a:srgbClr val="FFFFFF"/>
          </a:solidFill>
          <a:ln/>
          <a:effectLst>
            <a:outerShdw sx="100000" sy="100000" kx="0" ky="0" algn="bl" rotWithShape="0" blurRad="76200" dist="25400" dir="5400000">
              <a:srgbClr val="9AAAB5">
                <a:alpha val="35000"/>
              </a:srgbClr>
            </a:outerShdw>
          </a:effectLst>
        </p:spPr>
      </p:sp>
      <p:sp>
        <p:nvSpPr>
          <p:cNvPr id="26" name="Text 24"/>
          <p:cNvSpPr txBox="1"/>
          <p:nvPr/>
        </p:nvSpPr>
        <p:spPr>
          <a:xfrm>
            <a:off x="8330184" y="3785616"/>
            <a:ext cx="3273552" cy="384048"/>
          </a:xfrm>
          <a:prstGeom prst="rect">
            <a:avLst/>
          </a:prstGeom>
          <a:noFill/>
          <a:ln/>
        </p:spPr>
        <p:txBody>
          <a:bodyPr wrap="square" lIns="0" tIns="0" rIns="0" bIns="0" rtlCol="0" anchor="ctr"/>
          <a:lstStyle/>
          <a:p>
            <a:pPr indent="0" marL="0">
              <a:buNone/>
            </a:pPr>
            <a:r>
              <a:rPr lang="en-US" sz="1050" b="1" dirty="0">
                <a:solidFill>
                  <a:srgbClr val="2C8394"/>
                </a:solidFill>
                <a:latin typeface="Poppins" pitchFamily="34" charset="0"/>
                <a:ea typeface="Poppins" pitchFamily="34" charset="-122"/>
                <a:cs typeface="Poppins" pitchFamily="34" charset="-120"/>
              </a:rPr>
              <a:t>AI USAGE SUMMARY</a:t>
            </a:r>
            <a:endParaRPr lang="en-US" sz="1050" dirty="0"/>
          </a:p>
        </p:txBody>
      </p:sp>
      <p:sp>
        <p:nvSpPr>
          <p:cNvPr id="27" name="Text 25"/>
          <p:cNvSpPr txBox="1"/>
          <p:nvPr/>
        </p:nvSpPr>
        <p:spPr>
          <a:xfrm>
            <a:off x="8330184" y="4206240"/>
            <a:ext cx="3273552" cy="1645920"/>
          </a:xfrm>
          <a:prstGeom prst="rect">
            <a:avLst/>
          </a:prstGeom>
          <a:noFill/>
          <a:ln/>
        </p:spPr>
        <p:txBody>
          <a:bodyPr wrap="square" lIns="0" tIns="0" rIns="0" bIns="0" rtlCol="0" anchor="t"/>
          <a:lstStyle/>
          <a:p>
            <a:pPr indent="0" marL="0">
              <a:buNone/>
            </a:pPr>
            <a:r>
              <a:rPr lang="en-US" sz="900" dirty="0">
                <a:solidFill>
                  <a:srgbClr val="2C8394"/>
                </a:solidFill>
                <a:latin typeface="Poppins" pitchFamily="34" charset="0"/>
                <a:ea typeface="Poppins" pitchFamily="34" charset="-122"/>
                <a:cs typeface="Poppins" pitchFamily="34" charset="-120"/>
              </a:rPr>
              <a:t>Team on track to target and why?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39 of 47 active weekly but daily use fell 19 → 12; October code output 111,689 lines, 69% of it one developer</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working well? </a:t>
            </a:r>
            <a:pPr indent="0" marL="0">
              <a:spcAft>
                <a:spcPts val="1000"/>
              </a:spcAft>
              <a:buNone/>
            </a:pPr>
            <a:r>
              <a:rPr lang="en-US" sz="900" dirty="0">
                <a:solidFill>
                  <a:srgbClr val="3A4B57"/>
                </a:solidFill>
                <a:latin typeface="Poppins" pitchFamily="34" charset="0"/>
                <a:ea typeface="Poppins" pitchFamily="34" charset="-122"/>
                <a:cs typeface="Poppins" pitchFamily="34" charset="-120"/>
              </a:rPr>
              <a:t>xx</a:t>
            </a:r>
            <a:endParaRPr lang="en-US" sz="900" dirty="0"/>
          </a:p>
          <a:p>
            <a:pPr indent="0" marL="0">
              <a:buNone/>
            </a:pPr>
            <a:r>
              <a:rPr lang="en-US" sz="900" dirty="0">
                <a:solidFill>
                  <a:srgbClr val="2C8394"/>
                </a:solidFill>
                <a:latin typeface="Poppins" pitchFamily="34" charset="0"/>
                <a:ea typeface="Poppins" pitchFamily="34" charset="-122"/>
                <a:cs typeface="Poppins" pitchFamily="34" charset="-120"/>
              </a:rPr>
              <a:t>What's not? </a:t>
            </a:r>
            <a:pPr indent="0" marL="0">
              <a:buNone/>
            </a:pPr>
            <a:r>
              <a:rPr lang="en-US" sz="900" dirty="0">
                <a:solidFill>
                  <a:srgbClr val="3A4B57"/>
                </a:solidFill>
                <a:latin typeface="Poppins" pitchFamily="34" charset="0"/>
                <a:ea typeface="Poppins" pitchFamily="34" charset="-122"/>
                <a:cs typeface="Poppins" pitchFamily="34" charset="-120"/>
              </a:rPr>
              <a:t>xx</a:t>
            </a:r>
            <a:endParaRPr lang="en-US" sz="900" dirty="0"/>
          </a:p>
        </p:txBody>
      </p:sp>
      <p:sp>
        <p:nvSpPr>
          <p:cNvPr id="28" name="Text 26"/>
          <p:cNvSpPr txBox="1"/>
          <p:nvPr/>
        </p:nvSpPr>
        <p:spPr>
          <a:xfrm>
            <a:off x="411480" y="6510528"/>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Commentary is leadership-editable — pre-filled lines are computed from this week's sources; 'xx' needs an owner's input</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Target vs Invoiced — Sales Team Roll-up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94360"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NEW MRR — Q4 · OKR2 $28k · team $30k</a:t>
            </a:r>
            <a:endParaRPr lang="en-US" sz="950" dirty="0"/>
          </a:p>
        </p:txBody>
      </p:sp>
      <p:sp>
        <p:nvSpPr>
          <p:cNvPr id="15" name="Text 13"/>
          <p:cNvSpPr txBox="1"/>
          <p:nvPr/>
        </p:nvSpPr>
        <p:spPr>
          <a:xfrm>
            <a:off x="594360"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$3k</a:t>
            </a:r>
            <a:pPr indent="0" marL="0">
              <a:buNone/>
            </a:pPr>
            <a:r>
              <a:rPr lang="en-US" sz="950" dirty="0">
                <a:solidFill>
                  <a:srgbClr val="5E7280"/>
                </a:solidFill>
                <a:latin typeface="Poppins" pitchFamily="34" charset="0"/>
                <a:ea typeface="Poppins" pitchFamily="34" charset="-122"/>
                <a:cs typeface="Poppins" pitchFamily="34" charset="-120"/>
              </a:rPr>
              <a:t>  of $28k target · register live</a:t>
            </a:r>
            <a:endParaRPr lang="en-US" sz="2400" dirty="0"/>
          </a:p>
        </p:txBody>
      </p:sp>
      <p:sp>
        <p:nvSpPr>
          <p:cNvPr id="16" name="Text 14"/>
          <p:cNvSpPr txBox="1"/>
          <p:nvPr/>
        </p:nvSpPr>
        <p:spPr>
          <a:xfrm>
            <a:off x="3611880" y="1371600"/>
            <a:ext cx="2240280" cy="310896"/>
          </a:xfrm>
          <a:prstGeom prst="rect">
            <a:avLst/>
          </a:prstGeom>
          <a:noFill/>
          <a:ln/>
        </p:spPr>
        <p:txBody>
          <a:bodyPr wrap="square" lIns="0" tIns="0" rIns="0" bIns="0" rtlCol="0" anchor="ctr"/>
          <a:lstStyle/>
          <a:p>
            <a:pPr algn="r" indent="0" marL="0">
              <a:buNone/>
            </a:pPr>
            <a:r>
              <a:rPr lang="en-US" sz="950" b="1" dirty="0">
                <a:solidFill>
                  <a:srgbClr val="B4552D"/>
                </a:solidFill>
                <a:latin typeface="Poppins" pitchFamily="34" charset="0"/>
                <a:ea typeface="Poppins" pitchFamily="34" charset="-122"/>
                <a:cs typeface="Poppins" pitchFamily="34" charset="-120"/>
              </a:rPr>
              <a:t>▼ −$1,777 net this wk</a:t>
            </a:r>
            <a:endParaRPr lang="en-US" sz="950" dirty="0"/>
          </a:p>
        </p:txBody>
      </p:sp>
      <p:sp>
        <p:nvSpPr>
          <p:cNvPr id="17" name="Shape 15"/>
          <p:cNvSpPr/>
          <p:nvPr/>
        </p:nvSpPr>
        <p:spPr>
          <a:xfrm>
            <a:off x="594360" y="1901952"/>
            <a:ext cx="4206240" cy="100584"/>
          </a:xfrm>
          <a:prstGeom prst="roundRect">
            <a:avLst>
              <a:gd name="adj" fmla="val 45455"/>
            </a:avLst>
          </a:prstGeom>
          <a:solidFill>
            <a:srgbClr val="E2EAEE"/>
          </a:solidFill>
          <a:ln/>
        </p:spPr>
      </p:sp>
      <p:sp>
        <p:nvSpPr>
          <p:cNvPr id="18" name="Shape 16"/>
          <p:cNvSpPr/>
          <p:nvPr/>
        </p:nvSpPr>
        <p:spPr>
          <a:xfrm>
            <a:off x="594360" y="1901952"/>
            <a:ext cx="420624" cy="100584"/>
          </a:xfrm>
          <a:prstGeom prst="roundRect">
            <a:avLst>
              <a:gd name="adj" fmla="val 45455"/>
            </a:avLst>
          </a:prstGeom>
          <a:solidFill>
            <a:srgbClr val="B4552D"/>
          </a:solidFill>
          <a:ln/>
        </p:spPr>
      </p:sp>
      <p:sp>
        <p:nvSpPr>
          <p:cNvPr id="19" name="Shape 17"/>
          <p:cNvSpPr/>
          <p:nvPr/>
        </p:nvSpPr>
        <p:spPr>
          <a:xfrm>
            <a:off x="1089050" y="1856232"/>
            <a:ext cx="20117" cy="192024"/>
          </a:xfrm>
          <a:prstGeom prst="rect">
            <a:avLst/>
          </a:prstGeom>
          <a:solidFill>
            <a:srgbClr val="12293A"/>
          </a:solidFill>
          <a:ln/>
        </p:spPr>
      </p:sp>
      <p:sp>
        <p:nvSpPr>
          <p:cNvPr id="20" name="Text 18"/>
          <p:cNvSpPr txBox="1"/>
          <p:nvPr/>
        </p:nvSpPr>
        <p:spPr>
          <a:xfrm>
            <a:off x="4892040"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10%</a:t>
            </a:r>
            <a:pPr algn="r" indent="0" marL="0">
              <a:buNone/>
            </a:pPr>
            <a:r>
              <a:rPr lang="en-US" sz="800" dirty="0">
                <a:solidFill>
                  <a:srgbClr val="8FA1AC"/>
                </a:solidFill>
                <a:latin typeface="Poppins" pitchFamily="34" charset="0"/>
                <a:ea typeface="Poppins" pitchFamily="34" charset="-122"/>
                <a:cs typeface="Poppins" pitchFamily="34" charset="-120"/>
              </a:rPr>
              <a:t> · pace 12%</a:t>
            </a:r>
            <a:endParaRPr lang="en-US" sz="1000" dirty="0"/>
          </a:p>
        </p:txBody>
      </p:sp>
      <p:sp>
        <p:nvSpPr>
          <p:cNvPr id="21" name="Shape 19"/>
          <p:cNvSpPr/>
          <p:nvPr/>
        </p:nvSpPr>
        <p:spPr>
          <a:xfrm>
            <a:off x="6245352" y="1005840"/>
            <a:ext cx="5532120" cy="1170432"/>
          </a:xfrm>
          <a:prstGeom prst="roundRect">
            <a:avLst>
              <a:gd name="adj" fmla="val 5469"/>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428232" y="1097280"/>
            <a:ext cx="5120640" cy="237744"/>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HARDWARE — Q4 · OKR2 $715k · team $761k</a:t>
            </a:r>
            <a:endParaRPr lang="en-US" sz="950" dirty="0"/>
          </a:p>
        </p:txBody>
      </p:sp>
      <p:sp>
        <p:nvSpPr>
          <p:cNvPr id="23" name="Text 21"/>
          <p:cNvSpPr txBox="1"/>
          <p:nvPr/>
        </p:nvSpPr>
        <p:spPr>
          <a:xfrm>
            <a:off x="6428232" y="1335024"/>
            <a:ext cx="3566160" cy="384048"/>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$28k</a:t>
            </a:r>
            <a:pPr indent="0" marL="0">
              <a:buNone/>
            </a:pPr>
            <a:r>
              <a:rPr lang="en-US" sz="950" dirty="0">
                <a:solidFill>
                  <a:srgbClr val="5E7280"/>
                </a:solidFill>
                <a:latin typeface="Poppins" pitchFamily="34" charset="0"/>
                <a:ea typeface="Poppins" pitchFamily="34" charset="-122"/>
                <a:cs typeface="Poppins" pitchFamily="34" charset="-120"/>
              </a:rPr>
              <a:t>  of $715k target</a:t>
            </a:r>
            <a:endParaRPr lang="en-US" sz="2400" dirty="0"/>
          </a:p>
        </p:txBody>
      </p:sp>
      <p:sp>
        <p:nvSpPr>
          <p:cNvPr id="24" name="Text 22"/>
          <p:cNvSpPr txBox="1"/>
          <p:nvPr/>
        </p:nvSpPr>
        <p:spPr>
          <a:xfrm>
            <a:off x="9509760" y="1371600"/>
            <a:ext cx="2057400" cy="310896"/>
          </a:xfrm>
          <a:prstGeom prst="rect">
            <a:avLst/>
          </a:prstGeom>
          <a:noFill/>
          <a:ln/>
        </p:spPr>
        <p:txBody>
          <a:bodyPr wrap="square" lIns="0" tIns="0" rIns="0" bIns="0" rtlCol="0" anchor="ctr"/>
          <a:lstStyle/>
          <a:p>
            <a:pPr algn="r" indent="0" marL="0">
              <a:buNone/>
            </a:pPr>
            <a:r>
              <a:rPr lang="en-US" sz="950" b="1" dirty="0">
                <a:solidFill>
                  <a:srgbClr val="3D8F5F"/>
                </a:solidFill>
                <a:latin typeface="Poppins" pitchFamily="34" charset="0"/>
                <a:ea typeface="Poppins" pitchFamily="34" charset="-122"/>
                <a:cs typeface="Poppins" pitchFamily="34" charset="-120"/>
              </a:rPr>
              <a:t>▲ +$28k this wk</a:t>
            </a:r>
            <a:endParaRPr lang="en-US" sz="950" dirty="0"/>
          </a:p>
        </p:txBody>
      </p:sp>
      <p:sp>
        <p:nvSpPr>
          <p:cNvPr id="25" name="Shape 23"/>
          <p:cNvSpPr/>
          <p:nvPr/>
        </p:nvSpPr>
        <p:spPr>
          <a:xfrm>
            <a:off x="6428232" y="1901952"/>
            <a:ext cx="4206240" cy="100584"/>
          </a:xfrm>
          <a:prstGeom prst="roundRect">
            <a:avLst>
              <a:gd name="adj" fmla="val 45455"/>
            </a:avLst>
          </a:prstGeom>
          <a:solidFill>
            <a:srgbClr val="E2EAEE"/>
          </a:solidFill>
          <a:ln/>
        </p:spPr>
      </p:sp>
      <p:sp>
        <p:nvSpPr>
          <p:cNvPr id="26" name="Shape 24"/>
          <p:cNvSpPr/>
          <p:nvPr/>
        </p:nvSpPr>
        <p:spPr>
          <a:xfrm>
            <a:off x="6428232" y="1901952"/>
            <a:ext cx="168250" cy="100584"/>
          </a:xfrm>
          <a:prstGeom prst="roundRect">
            <a:avLst>
              <a:gd name="adj" fmla="val 45455"/>
            </a:avLst>
          </a:prstGeom>
          <a:solidFill>
            <a:srgbClr val="B4552D"/>
          </a:solidFill>
          <a:ln/>
        </p:spPr>
      </p:sp>
      <p:sp>
        <p:nvSpPr>
          <p:cNvPr id="27" name="Shape 25"/>
          <p:cNvSpPr/>
          <p:nvPr/>
        </p:nvSpPr>
        <p:spPr>
          <a:xfrm>
            <a:off x="6922922" y="1856232"/>
            <a:ext cx="20117" cy="192024"/>
          </a:xfrm>
          <a:prstGeom prst="rect">
            <a:avLst/>
          </a:prstGeom>
          <a:solidFill>
            <a:srgbClr val="12293A"/>
          </a:solidFill>
          <a:ln/>
        </p:spPr>
      </p:sp>
      <p:sp>
        <p:nvSpPr>
          <p:cNvPr id="28" name="Text 26"/>
          <p:cNvSpPr txBox="1"/>
          <p:nvPr/>
        </p:nvSpPr>
        <p:spPr>
          <a:xfrm>
            <a:off x="10725912" y="1801368"/>
            <a:ext cx="1005840" cy="274320"/>
          </a:xfrm>
          <a:prstGeom prst="rect">
            <a:avLst/>
          </a:prstGeom>
          <a:noFill/>
          <a:ln/>
        </p:spPr>
        <p:txBody>
          <a:bodyPr wrap="square" lIns="0" tIns="0" rIns="0" bIns="0" rtlCol="0" anchor="ctr"/>
          <a:lstStyle/>
          <a:p>
            <a:pPr algn="r" indent="0" marL="0">
              <a:buNone/>
            </a:pPr>
            <a:r>
              <a:rPr lang="en-US" sz="1000" b="1" dirty="0">
                <a:solidFill>
                  <a:srgbClr val="B4552D"/>
                </a:solidFill>
                <a:latin typeface="Poppins" pitchFamily="34" charset="0"/>
                <a:ea typeface="Poppins" pitchFamily="34" charset="-122"/>
                <a:cs typeface="Poppins" pitchFamily="34" charset="-120"/>
              </a:rPr>
              <a:t>4%</a:t>
            </a:r>
            <a:pPr algn="r" indent="0" marL="0">
              <a:buNone/>
            </a:pPr>
            <a:r>
              <a:rPr lang="en-US" sz="800" dirty="0">
                <a:solidFill>
                  <a:srgbClr val="8FA1AC"/>
                </a:solidFill>
                <a:latin typeface="Poppins" pitchFamily="34" charset="0"/>
                <a:ea typeface="Poppins" pitchFamily="34" charset="-122"/>
                <a:cs typeface="Poppins" pitchFamily="34" charset="-120"/>
              </a:rPr>
              <a:t> · pace 12%</a:t>
            </a:r>
            <a:endParaRPr lang="en-US" sz="1000" dirty="0"/>
          </a:p>
        </p:txBody>
      </p:sp>
      <p:sp>
        <p:nvSpPr>
          <p:cNvPr id="29" name="Shape 27"/>
          <p:cNvSpPr/>
          <p:nvPr/>
        </p:nvSpPr>
        <p:spPr>
          <a:xfrm>
            <a:off x="411480" y="2340864"/>
            <a:ext cx="7635240" cy="4041648"/>
          </a:xfrm>
          <a:prstGeom prst="roundRect">
            <a:avLst>
              <a:gd name="adj" fmla="val 1584"/>
            </a:avLst>
          </a:prstGeom>
          <a:solidFill>
            <a:srgbClr val="FFFFFF"/>
          </a:solidFill>
          <a:ln/>
          <a:effectLst>
            <a:outerShdw sx="100000" sy="100000" kx="0" ky="0" algn="bl" rotWithShape="0" blurRad="76200" dist="25400" dir="5400000">
              <a:srgbClr val="9AAAB5">
                <a:alpha val="35000"/>
              </a:srgbClr>
            </a:outerShdw>
          </a:effectLst>
        </p:spPr>
      </p:sp>
      <p:sp>
        <p:nvSpPr>
          <p:cNvPr id="30" name="Text 28"/>
          <p:cNvSpPr txBox="1"/>
          <p:nvPr/>
        </p:nvSpPr>
        <p:spPr>
          <a:xfrm>
            <a:off x="612648" y="2450592"/>
            <a:ext cx="723290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Q4 BY MEMBER   </a:t>
            </a:r>
            <a:pPr indent="0" marL="0">
              <a:buNone/>
            </a:pPr>
            <a:r>
              <a:rPr lang="en-US" sz="800" dirty="0">
                <a:solidFill>
                  <a:srgbClr val="8FA1AC"/>
                </a:solidFill>
                <a:latin typeface="Poppins" pitchFamily="34" charset="0"/>
                <a:ea typeface="Poppins" pitchFamily="34" charset="-122"/>
                <a:cs typeface="Poppins" pitchFamily="34" charset="-120"/>
              </a:rPr>
              <a:t>▮ pace mark = share of quarter elapsed (12%)</a:t>
            </a:r>
            <a:endParaRPr lang="en-US" sz="1200" dirty="0"/>
          </a:p>
        </p:txBody>
      </p:sp>
      <p:sp>
        <p:nvSpPr>
          <p:cNvPr id="31" name="Text 29"/>
          <p:cNvSpPr txBox="1"/>
          <p:nvPr/>
        </p:nvSpPr>
        <p:spPr>
          <a:xfrm>
            <a:off x="2002536" y="2724912"/>
            <a:ext cx="2542032"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NEW MRR ($/qtr) · register live</a:t>
            </a:r>
            <a:endParaRPr lang="en-US" sz="800" dirty="0"/>
          </a:p>
        </p:txBody>
      </p:sp>
      <p:sp>
        <p:nvSpPr>
          <p:cNvPr id="32" name="Text 30"/>
          <p:cNvSpPr txBox="1"/>
          <p:nvPr/>
        </p:nvSpPr>
        <p:spPr>
          <a:xfrm>
            <a:off x="4599432" y="2724912"/>
            <a:ext cx="3200400" cy="201168"/>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HARDWARE ($/qtr) · extracts to 11 Oct</a:t>
            </a:r>
            <a:endParaRPr lang="en-US" sz="800" dirty="0"/>
          </a:p>
        </p:txBody>
      </p:sp>
      <p:sp>
        <p:nvSpPr>
          <p:cNvPr id="33" name="Text 31"/>
          <p:cNvSpPr txBox="1"/>
          <p:nvPr/>
        </p:nvSpPr>
        <p:spPr>
          <a:xfrm>
            <a:off x="612648" y="2944368"/>
            <a:ext cx="137160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MEMBER</a:t>
            </a:r>
            <a:endParaRPr lang="en-US" sz="750" dirty="0"/>
          </a:p>
        </p:txBody>
      </p:sp>
      <p:sp>
        <p:nvSpPr>
          <p:cNvPr id="34" name="Text 32"/>
          <p:cNvSpPr txBox="1"/>
          <p:nvPr/>
        </p:nvSpPr>
        <p:spPr>
          <a:xfrm>
            <a:off x="2002536" y="2944368"/>
            <a:ext cx="47548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5" name="Text 33"/>
          <p:cNvSpPr txBox="1"/>
          <p:nvPr/>
        </p:nvSpPr>
        <p:spPr>
          <a:xfrm>
            <a:off x="2514600" y="2944368"/>
            <a:ext cx="475488"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36" name="Text 34"/>
          <p:cNvSpPr txBox="1"/>
          <p:nvPr/>
        </p:nvSpPr>
        <p:spPr>
          <a:xfrm>
            <a:off x="3044952" y="2944368"/>
            <a:ext cx="914400"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37" name="Text 35"/>
          <p:cNvSpPr txBox="1"/>
          <p:nvPr/>
        </p:nvSpPr>
        <p:spPr>
          <a:xfrm>
            <a:off x="3904488" y="2944368"/>
            <a:ext cx="64008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NET Δ WK</a:t>
            </a:r>
            <a:endParaRPr lang="en-US" sz="750" dirty="0"/>
          </a:p>
        </p:txBody>
      </p:sp>
      <p:sp>
        <p:nvSpPr>
          <p:cNvPr id="38" name="Text 36"/>
          <p:cNvSpPr txBox="1"/>
          <p:nvPr/>
        </p:nvSpPr>
        <p:spPr>
          <a:xfrm>
            <a:off x="4599432" y="2944368"/>
            <a:ext cx="548640"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TGT</a:t>
            </a:r>
            <a:endParaRPr lang="en-US" sz="750" dirty="0"/>
          </a:p>
        </p:txBody>
      </p:sp>
      <p:sp>
        <p:nvSpPr>
          <p:cNvPr id="39" name="Text 37"/>
          <p:cNvSpPr txBox="1"/>
          <p:nvPr/>
        </p:nvSpPr>
        <p:spPr>
          <a:xfrm>
            <a:off x="5184648" y="2944368"/>
            <a:ext cx="603504"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QTD</a:t>
            </a:r>
            <a:endParaRPr lang="en-US" sz="750" dirty="0"/>
          </a:p>
        </p:txBody>
      </p:sp>
      <p:sp>
        <p:nvSpPr>
          <p:cNvPr id="40" name="Text 38"/>
          <p:cNvSpPr txBox="1"/>
          <p:nvPr/>
        </p:nvSpPr>
        <p:spPr>
          <a:xfrm>
            <a:off x="5843016" y="2944368"/>
            <a:ext cx="932688" cy="182880"/>
          </a:xfrm>
          <a:prstGeom prst="rect">
            <a:avLst/>
          </a:prstGeom>
          <a:noFill/>
          <a:ln/>
        </p:spPr>
        <p:txBody>
          <a:bodyPr wrap="square" lIns="0" tIns="0" rIns="0" bIns="0" rtlCol="0" anchor="ctr"/>
          <a:lstStyle/>
          <a:p>
            <a:pPr algn="l" indent="0" marL="0">
              <a:buNone/>
            </a:pPr>
            <a:r>
              <a:rPr lang="en-US" sz="750" b="1" dirty="0">
                <a:solidFill>
                  <a:srgbClr val="8FA1AC"/>
                </a:solidFill>
                <a:latin typeface="Poppins" pitchFamily="34" charset="0"/>
                <a:ea typeface="Poppins" pitchFamily="34" charset="-122"/>
                <a:cs typeface="Poppins" pitchFamily="34" charset="-120"/>
              </a:rPr>
              <a:t>ATTAIN</a:t>
            </a:r>
            <a:endParaRPr lang="en-US" sz="750" dirty="0"/>
          </a:p>
        </p:txBody>
      </p:sp>
      <p:sp>
        <p:nvSpPr>
          <p:cNvPr id="41" name="Text 39"/>
          <p:cNvSpPr txBox="1"/>
          <p:nvPr/>
        </p:nvSpPr>
        <p:spPr>
          <a:xfrm>
            <a:off x="6830568" y="2944368"/>
            <a:ext cx="987552" cy="182880"/>
          </a:xfrm>
          <a:prstGeom prst="rect">
            <a:avLst/>
          </a:prstGeom>
          <a:noFill/>
          <a:ln/>
        </p:spPr>
        <p:txBody>
          <a:bodyPr wrap="square" lIns="0" tIns="0" rIns="0" bIns="0" rtlCol="0" anchor="ctr"/>
          <a:lstStyle/>
          <a:p>
            <a:pPr algn="r" indent="0" marL="0">
              <a:buNone/>
            </a:pPr>
            <a:r>
              <a:rPr lang="en-US" sz="750" b="1" dirty="0">
                <a:solidFill>
                  <a:srgbClr val="8FA1AC"/>
                </a:solidFill>
                <a:latin typeface="Poppins" pitchFamily="34" charset="0"/>
                <a:ea typeface="Poppins" pitchFamily="34" charset="-122"/>
                <a:cs typeface="Poppins" pitchFamily="34" charset="-120"/>
              </a:rPr>
              <a:t>Δ WK</a:t>
            </a:r>
            <a:endParaRPr lang="en-US" sz="750" dirty="0"/>
          </a:p>
        </p:txBody>
      </p:sp>
      <p:sp>
        <p:nvSpPr>
          <p:cNvPr id="42" name="Shape 40"/>
          <p:cNvSpPr/>
          <p:nvPr/>
        </p:nvSpPr>
        <p:spPr>
          <a:xfrm>
            <a:off x="612648" y="3461004"/>
            <a:ext cx="7232904" cy="6401"/>
          </a:xfrm>
          <a:prstGeom prst="rect">
            <a:avLst/>
          </a:prstGeom>
          <a:solidFill>
            <a:srgbClr val="E2EAEE"/>
          </a:solidFill>
          <a:ln/>
        </p:spPr>
      </p:sp>
      <p:sp>
        <p:nvSpPr>
          <p:cNvPr id="43" name="Text 41"/>
          <p:cNvSpPr txBox="1"/>
          <p:nvPr/>
        </p:nvSpPr>
        <p:spPr>
          <a:xfrm>
            <a:off x="612648" y="3182112"/>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Bjorn Magabo</a:t>
            </a:r>
            <a:endParaRPr lang="en-US" sz="900" dirty="0"/>
          </a:p>
        </p:txBody>
      </p:sp>
      <p:sp>
        <p:nvSpPr>
          <p:cNvPr id="44" name="Text 42"/>
          <p:cNvSpPr txBox="1"/>
          <p:nvPr/>
        </p:nvSpPr>
        <p:spPr>
          <a:xfrm>
            <a:off x="2002536" y="3182112"/>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45" name="Text 43"/>
          <p:cNvSpPr txBox="1"/>
          <p:nvPr/>
        </p:nvSpPr>
        <p:spPr>
          <a:xfrm>
            <a:off x="2514600" y="3182112"/>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$421</a:t>
            </a:r>
            <a:endParaRPr lang="en-US" sz="850" dirty="0"/>
          </a:p>
        </p:txBody>
      </p:sp>
      <p:sp>
        <p:nvSpPr>
          <p:cNvPr id="46" name="Shape 44"/>
          <p:cNvSpPr/>
          <p:nvPr/>
        </p:nvSpPr>
        <p:spPr>
          <a:xfrm>
            <a:off x="3081528" y="3294126"/>
            <a:ext cx="548640" cy="100584"/>
          </a:xfrm>
          <a:prstGeom prst="roundRect">
            <a:avLst>
              <a:gd name="adj" fmla="val 45455"/>
            </a:avLst>
          </a:prstGeom>
          <a:solidFill>
            <a:srgbClr val="E2EAEE"/>
          </a:solidFill>
          <a:ln/>
        </p:spPr>
      </p:sp>
      <p:sp>
        <p:nvSpPr>
          <p:cNvPr id="47" name="Shape 45"/>
          <p:cNvSpPr/>
          <p:nvPr/>
        </p:nvSpPr>
        <p:spPr>
          <a:xfrm>
            <a:off x="3081528" y="3294126"/>
            <a:ext cx="54864" cy="100584"/>
          </a:xfrm>
          <a:prstGeom prst="roundRect">
            <a:avLst>
              <a:gd name="adj" fmla="val 83333"/>
            </a:avLst>
          </a:prstGeom>
          <a:solidFill>
            <a:srgbClr val="B4552D"/>
          </a:solidFill>
          <a:ln/>
        </p:spPr>
      </p:sp>
      <p:sp>
        <p:nvSpPr>
          <p:cNvPr id="48" name="Shape 46"/>
          <p:cNvSpPr/>
          <p:nvPr/>
        </p:nvSpPr>
        <p:spPr>
          <a:xfrm>
            <a:off x="3137306" y="3248406"/>
            <a:ext cx="20117" cy="192024"/>
          </a:xfrm>
          <a:prstGeom prst="rect">
            <a:avLst/>
          </a:prstGeom>
          <a:solidFill>
            <a:srgbClr val="12293A"/>
          </a:solidFill>
          <a:ln/>
        </p:spPr>
      </p:sp>
      <p:sp>
        <p:nvSpPr>
          <p:cNvPr id="49" name="Text 47"/>
          <p:cNvSpPr txBox="1"/>
          <p:nvPr/>
        </p:nvSpPr>
        <p:spPr>
          <a:xfrm>
            <a:off x="3630168" y="318211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8%</a:t>
            </a:r>
            <a:endParaRPr lang="en-US" sz="800" dirty="0"/>
          </a:p>
        </p:txBody>
      </p:sp>
      <p:sp>
        <p:nvSpPr>
          <p:cNvPr id="50" name="Text 48"/>
          <p:cNvSpPr txBox="1"/>
          <p:nvPr/>
        </p:nvSpPr>
        <p:spPr>
          <a:xfrm>
            <a:off x="3904488" y="3182112"/>
            <a:ext cx="640080"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−2,525</a:t>
            </a:r>
            <a:endParaRPr lang="en-US" sz="850" dirty="0"/>
          </a:p>
        </p:txBody>
      </p:sp>
      <p:sp>
        <p:nvSpPr>
          <p:cNvPr id="51" name="Text 49"/>
          <p:cNvSpPr txBox="1"/>
          <p:nvPr/>
        </p:nvSpPr>
        <p:spPr>
          <a:xfrm>
            <a:off x="4599432" y="3182112"/>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$140k</a:t>
            </a:r>
            <a:endParaRPr lang="en-US" sz="850" dirty="0"/>
          </a:p>
        </p:txBody>
      </p:sp>
      <p:sp>
        <p:nvSpPr>
          <p:cNvPr id="52" name="Text 50"/>
          <p:cNvSpPr txBox="1"/>
          <p:nvPr/>
        </p:nvSpPr>
        <p:spPr>
          <a:xfrm>
            <a:off x="5184648" y="3182112"/>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$5k</a:t>
            </a:r>
            <a:endParaRPr lang="en-US" sz="850" dirty="0"/>
          </a:p>
        </p:txBody>
      </p:sp>
      <p:sp>
        <p:nvSpPr>
          <p:cNvPr id="53" name="Shape 51"/>
          <p:cNvSpPr/>
          <p:nvPr/>
        </p:nvSpPr>
        <p:spPr>
          <a:xfrm>
            <a:off x="5879592" y="3294126"/>
            <a:ext cx="566928" cy="100584"/>
          </a:xfrm>
          <a:prstGeom prst="roundRect">
            <a:avLst>
              <a:gd name="adj" fmla="val 45455"/>
            </a:avLst>
          </a:prstGeom>
          <a:solidFill>
            <a:srgbClr val="E2EAEE"/>
          </a:solidFill>
          <a:ln/>
        </p:spPr>
      </p:sp>
      <p:sp>
        <p:nvSpPr>
          <p:cNvPr id="54" name="Shape 52"/>
          <p:cNvSpPr/>
          <p:nvPr/>
        </p:nvSpPr>
        <p:spPr>
          <a:xfrm>
            <a:off x="5879592" y="3294126"/>
            <a:ext cx="54864" cy="100584"/>
          </a:xfrm>
          <a:prstGeom prst="roundRect">
            <a:avLst>
              <a:gd name="adj" fmla="val 83333"/>
            </a:avLst>
          </a:prstGeom>
          <a:solidFill>
            <a:srgbClr val="B4552D"/>
          </a:solidFill>
          <a:ln/>
        </p:spPr>
      </p:sp>
      <p:sp>
        <p:nvSpPr>
          <p:cNvPr id="55" name="Shape 53"/>
          <p:cNvSpPr/>
          <p:nvPr/>
        </p:nvSpPr>
        <p:spPr>
          <a:xfrm>
            <a:off x="5937565" y="3248406"/>
            <a:ext cx="20117" cy="192024"/>
          </a:xfrm>
          <a:prstGeom prst="rect">
            <a:avLst/>
          </a:prstGeom>
          <a:solidFill>
            <a:srgbClr val="12293A"/>
          </a:solidFill>
          <a:ln/>
        </p:spPr>
      </p:sp>
      <p:sp>
        <p:nvSpPr>
          <p:cNvPr id="56" name="Text 54"/>
          <p:cNvSpPr txBox="1"/>
          <p:nvPr/>
        </p:nvSpPr>
        <p:spPr>
          <a:xfrm>
            <a:off x="6464808" y="318211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4%</a:t>
            </a:r>
            <a:endParaRPr lang="en-US" sz="800" dirty="0"/>
          </a:p>
        </p:txBody>
      </p:sp>
      <p:sp>
        <p:nvSpPr>
          <p:cNvPr id="57" name="Text 55"/>
          <p:cNvSpPr txBox="1"/>
          <p:nvPr/>
        </p:nvSpPr>
        <p:spPr>
          <a:xfrm>
            <a:off x="6830568" y="3182112"/>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+5k</a:t>
            </a:r>
            <a:endParaRPr lang="en-US" sz="850" dirty="0"/>
          </a:p>
        </p:txBody>
      </p:sp>
      <p:sp>
        <p:nvSpPr>
          <p:cNvPr id="58" name="Shape 56"/>
          <p:cNvSpPr/>
          <p:nvPr/>
        </p:nvSpPr>
        <p:spPr>
          <a:xfrm>
            <a:off x="612648" y="3776472"/>
            <a:ext cx="7232904" cy="6401"/>
          </a:xfrm>
          <a:prstGeom prst="rect">
            <a:avLst/>
          </a:prstGeom>
          <a:solidFill>
            <a:srgbClr val="E2EAEE"/>
          </a:solidFill>
          <a:ln/>
        </p:spPr>
      </p:sp>
      <p:sp>
        <p:nvSpPr>
          <p:cNvPr id="59" name="Text 57"/>
          <p:cNvSpPr txBox="1"/>
          <p:nvPr/>
        </p:nvSpPr>
        <p:spPr>
          <a:xfrm>
            <a:off x="612648" y="3497580"/>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Brett Gorman</a:t>
            </a:r>
            <a:endParaRPr lang="en-US" sz="900" dirty="0"/>
          </a:p>
        </p:txBody>
      </p:sp>
      <p:sp>
        <p:nvSpPr>
          <p:cNvPr id="60" name="Text 58"/>
          <p:cNvSpPr txBox="1"/>
          <p:nvPr/>
        </p:nvSpPr>
        <p:spPr>
          <a:xfrm>
            <a:off x="2002536" y="3497580"/>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61" name="Text 59"/>
          <p:cNvSpPr txBox="1"/>
          <p:nvPr/>
        </p:nvSpPr>
        <p:spPr>
          <a:xfrm>
            <a:off x="2514600" y="3497580"/>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$495</a:t>
            </a:r>
            <a:endParaRPr lang="en-US" sz="850" dirty="0"/>
          </a:p>
        </p:txBody>
      </p:sp>
      <p:sp>
        <p:nvSpPr>
          <p:cNvPr id="62" name="Shape 60"/>
          <p:cNvSpPr/>
          <p:nvPr/>
        </p:nvSpPr>
        <p:spPr>
          <a:xfrm>
            <a:off x="3081528" y="3609594"/>
            <a:ext cx="548640" cy="100584"/>
          </a:xfrm>
          <a:prstGeom prst="roundRect">
            <a:avLst>
              <a:gd name="adj" fmla="val 45455"/>
            </a:avLst>
          </a:prstGeom>
          <a:solidFill>
            <a:srgbClr val="E2EAEE"/>
          </a:solidFill>
          <a:ln/>
        </p:spPr>
      </p:sp>
      <p:sp>
        <p:nvSpPr>
          <p:cNvPr id="63" name="Shape 61"/>
          <p:cNvSpPr/>
          <p:nvPr/>
        </p:nvSpPr>
        <p:spPr>
          <a:xfrm>
            <a:off x="3081528" y="3609594"/>
            <a:ext cx="54864" cy="100584"/>
          </a:xfrm>
          <a:prstGeom prst="roundRect">
            <a:avLst>
              <a:gd name="adj" fmla="val 83333"/>
            </a:avLst>
          </a:prstGeom>
          <a:solidFill>
            <a:srgbClr val="B4552D"/>
          </a:solidFill>
          <a:ln/>
        </p:spPr>
      </p:sp>
      <p:sp>
        <p:nvSpPr>
          <p:cNvPr id="64" name="Shape 62"/>
          <p:cNvSpPr/>
          <p:nvPr/>
        </p:nvSpPr>
        <p:spPr>
          <a:xfrm>
            <a:off x="3137306" y="3563874"/>
            <a:ext cx="20117" cy="192024"/>
          </a:xfrm>
          <a:prstGeom prst="rect">
            <a:avLst/>
          </a:prstGeom>
          <a:solidFill>
            <a:srgbClr val="12293A"/>
          </a:solidFill>
          <a:ln/>
        </p:spPr>
      </p:sp>
      <p:sp>
        <p:nvSpPr>
          <p:cNvPr id="65" name="Text 63"/>
          <p:cNvSpPr txBox="1"/>
          <p:nvPr/>
        </p:nvSpPr>
        <p:spPr>
          <a:xfrm>
            <a:off x="3630168" y="349758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10%</a:t>
            </a:r>
            <a:endParaRPr lang="en-US" sz="800" dirty="0"/>
          </a:p>
        </p:txBody>
      </p:sp>
      <p:sp>
        <p:nvSpPr>
          <p:cNvPr id="66" name="Text 64"/>
          <p:cNvSpPr txBox="1"/>
          <p:nvPr/>
        </p:nvSpPr>
        <p:spPr>
          <a:xfrm>
            <a:off x="3904488" y="3497580"/>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67" name="Text 65"/>
          <p:cNvSpPr txBox="1"/>
          <p:nvPr/>
        </p:nvSpPr>
        <p:spPr>
          <a:xfrm>
            <a:off x="4599432" y="3497580"/>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$143k</a:t>
            </a:r>
            <a:endParaRPr lang="en-US" sz="850" dirty="0"/>
          </a:p>
        </p:txBody>
      </p:sp>
      <p:sp>
        <p:nvSpPr>
          <p:cNvPr id="68" name="Text 66"/>
          <p:cNvSpPr txBox="1"/>
          <p:nvPr/>
        </p:nvSpPr>
        <p:spPr>
          <a:xfrm>
            <a:off x="5184648" y="3497580"/>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$15k</a:t>
            </a:r>
            <a:endParaRPr lang="en-US" sz="850" dirty="0"/>
          </a:p>
        </p:txBody>
      </p:sp>
      <p:sp>
        <p:nvSpPr>
          <p:cNvPr id="69" name="Shape 67"/>
          <p:cNvSpPr/>
          <p:nvPr/>
        </p:nvSpPr>
        <p:spPr>
          <a:xfrm>
            <a:off x="5879592" y="3609594"/>
            <a:ext cx="566928" cy="100584"/>
          </a:xfrm>
          <a:prstGeom prst="roundRect">
            <a:avLst>
              <a:gd name="adj" fmla="val 45455"/>
            </a:avLst>
          </a:prstGeom>
          <a:solidFill>
            <a:srgbClr val="E2EAEE"/>
          </a:solidFill>
          <a:ln/>
        </p:spPr>
      </p:sp>
      <p:sp>
        <p:nvSpPr>
          <p:cNvPr id="70" name="Shape 68"/>
          <p:cNvSpPr/>
          <p:nvPr/>
        </p:nvSpPr>
        <p:spPr>
          <a:xfrm>
            <a:off x="5879592" y="3609594"/>
            <a:ext cx="56693" cy="100584"/>
          </a:xfrm>
          <a:prstGeom prst="roundRect">
            <a:avLst>
              <a:gd name="adj" fmla="val 80645"/>
            </a:avLst>
          </a:prstGeom>
          <a:solidFill>
            <a:srgbClr val="B4552D"/>
          </a:solidFill>
          <a:ln/>
        </p:spPr>
      </p:sp>
      <p:sp>
        <p:nvSpPr>
          <p:cNvPr id="71" name="Shape 69"/>
          <p:cNvSpPr/>
          <p:nvPr/>
        </p:nvSpPr>
        <p:spPr>
          <a:xfrm>
            <a:off x="5937565" y="3563874"/>
            <a:ext cx="20117" cy="192024"/>
          </a:xfrm>
          <a:prstGeom prst="rect">
            <a:avLst/>
          </a:prstGeom>
          <a:solidFill>
            <a:srgbClr val="12293A"/>
          </a:solidFill>
          <a:ln/>
        </p:spPr>
      </p:sp>
      <p:sp>
        <p:nvSpPr>
          <p:cNvPr id="72" name="Text 70"/>
          <p:cNvSpPr txBox="1"/>
          <p:nvPr/>
        </p:nvSpPr>
        <p:spPr>
          <a:xfrm>
            <a:off x="6464808" y="349758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10%</a:t>
            </a:r>
            <a:endParaRPr lang="en-US" sz="800" dirty="0"/>
          </a:p>
        </p:txBody>
      </p:sp>
      <p:sp>
        <p:nvSpPr>
          <p:cNvPr id="73" name="Text 71"/>
          <p:cNvSpPr txBox="1"/>
          <p:nvPr/>
        </p:nvSpPr>
        <p:spPr>
          <a:xfrm>
            <a:off x="6830568" y="3497580"/>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+15k</a:t>
            </a:r>
            <a:endParaRPr lang="en-US" sz="850" dirty="0"/>
          </a:p>
        </p:txBody>
      </p:sp>
      <p:sp>
        <p:nvSpPr>
          <p:cNvPr id="74" name="Shape 72"/>
          <p:cNvSpPr/>
          <p:nvPr/>
        </p:nvSpPr>
        <p:spPr>
          <a:xfrm>
            <a:off x="612648" y="4091940"/>
            <a:ext cx="7232904" cy="6401"/>
          </a:xfrm>
          <a:prstGeom prst="rect">
            <a:avLst/>
          </a:prstGeom>
          <a:solidFill>
            <a:srgbClr val="E2EAEE"/>
          </a:solidFill>
          <a:ln/>
        </p:spPr>
      </p:sp>
      <p:sp>
        <p:nvSpPr>
          <p:cNvPr id="75" name="Text 73"/>
          <p:cNvSpPr txBox="1"/>
          <p:nvPr/>
        </p:nvSpPr>
        <p:spPr>
          <a:xfrm>
            <a:off x="612648" y="3813048"/>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Bradford Young</a:t>
            </a:r>
            <a:endParaRPr lang="en-US" sz="900" dirty="0"/>
          </a:p>
        </p:txBody>
      </p:sp>
      <p:sp>
        <p:nvSpPr>
          <p:cNvPr id="76" name="Text 74"/>
          <p:cNvSpPr txBox="1"/>
          <p:nvPr/>
        </p:nvSpPr>
        <p:spPr>
          <a:xfrm>
            <a:off x="2002536" y="3813048"/>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$5k</a:t>
            </a:r>
            <a:endParaRPr lang="en-US" sz="850" dirty="0"/>
          </a:p>
        </p:txBody>
      </p:sp>
      <p:sp>
        <p:nvSpPr>
          <p:cNvPr id="77" name="Text 75"/>
          <p:cNvSpPr txBox="1"/>
          <p:nvPr/>
        </p:nvSpPr>
        <p:spPr>
          <a:xfrm>
            <a:off x="2514600" y="3813048"/>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$177</a:t>
            </a:r>
            <a:endParaRPr lang="en-US" sz="850" dirty="0"/>
          </a:p>
        </p:txBody>
      </p:sp>
      <p:sp>
        <p:nvSpPr>
          <p:cNvPr id="78" name="Shape 76"/>
          <p:cNvSpPr/>
          <p:nvPr/>
        </p:nvSpPr>
        <p:spPr>
          <a:xfrm>
            <a:off x="3081528" y="3925062"/>
            <a:ext cx="548640" cy="100584"/>
          </a:xfrm>
          <a:prstGeom prst="roundRect">
            <a:avLst>
              <a:gd name="adj" fmla="val 45455"/>
            </a:avLst>
          </a:prstGeom>
          <a:solidFill>
            <a:srgbClr val="E2EAEE"/>
          </a:solidFill>
          <a:ln/>
        </p:spPr>
      </p:sp>
      <p:sp>
        <p:nvSpPr>
          <p:cNvPr id="79" name="Shape 77"/>
          <p:cNvSpPr/>
          <p:nvPr/>
        </p:nvSpPr>
        <p:spPr>
          <a:xfrm>
            <a:off x="3081528" y="3925062"/>
            <a:ext cx="54864" cy="100584"/>
          </a:xfrm>
          <a:prstGeom prst="roundRect">
            <a:avLst>
              <a:gd name="adj" fmla="val 83333"/>
            </a:avLst>
          </a:prstGeom>
          <a:solidFill>
            <a:srgbClr val="B4552D"/>
          </a:solidFill>
          <a:ln/>
        </p:spPr>
      </p:sp>
      <p:sp>
        <p:nvSpPr>
          <p:cNvPr id="80" name="Shape 78"/>
          <p:cNvSpPr/>
          <p:nvPr/>
        </p:nvSpPr>
        <p:spPr>
          <a:xfrm>
            <a:off x="3137306" y="3879342"/>
            <a:ext cx="20117" cy="192024"/>
          </a:xfrm>
          <a:prstGeom prst="rect">
            <a:avLst/>
          </a:prstGeom>
          <a:solidFill>
            <a:srgbClr val="12293A"/>
          </a:solidFill>
          <a:ln/>
        </p:spPr>
      </p:sp>
      <p:sp>
        <p:nvSpPr>
          <p:cNvPr id="81" name="Text 79"/>
          <p:cNvSpPr txBox="1"/>
          <p:nvPr/>
        </p:nvSpPr>
        <p:spPr>
          <a:xfrm>
            <a:off x="3630168" y="3813048"/>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4%</a:t>
            </a:r>
            <a:endParaRPr lang="en-US" sz="800" dirty="0"/>
          </a:p>
        </p:txBody>
      </p:sp>
      <p:sp>
        <p:nvSpPr>
          <p:cNvPr id="82" name="Text 80"/>
          <p:cNvSpPr txBox="1"/>
          <p:nvPr/>
        </p:nvSpPr>
        <p:spPr>
          <a:xfrm>
            <a:off x="3904488" y="3813048"/>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83" name="Text 81"/>
          <p:cNvSpPr txBox="1"/>
          <p:nvPr/>
        </p:nvSpPr>
        <p:spPr>
          <a:xfrm>
            <a:off x="4599432" y="3813048"/>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$163k</a:t>
            </a:r>
            <a:endParaRPr lang="en-US" sz="850" dirty="0"/>
          </a:p>
        </p:txBody>
      </p:sp>
      <p:sp>
        <p:nvSpPr>
          <p:cNvPr id="84" name="Text 82"/>
          <p:cNvSpPr txBox="1"/>
          <p:nvPr/>
        </p:nvSpPr>
        <p:spPr>
          <a:xfrm>
            <a:off x="5184648" y="3813048"/>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$0k</a:t>
            </a:r>
            <a:endParaRPr lang="en-US" sz="850" dirty="0"/>
          </a:p>
        </p:txBody>
      </p:sp>
      <p:sp>
        <p:nvSpPr>
          <p:cNvPr id="85" name="Shape 83"/>
          <p:cNvSpPr/>
          <p:nvPr/>
        </p:nvSpPr>
        <p:spPr>
          <a:xfrm>
            <a:off x="5879592" y="3925062"/>
            <a:ext cx="566928" cy="100584"/>
          </a:xfrm>
          <a:prstGeom prst="roundRect">
            <a:avLst>
              <a:gd name="adj" fmla="val 45455"/>
            </a:avLst>
          </a:prstGeom>
          <a:solidFill>
            <a:srgbClr val="E2EAEE"/>
          </a:solidFill>
          <a:ln/>
        </p:spPr>
      </p:sp>
      <p:sp>
        <p:nvSpPr>
          <p:cNvPr id="86" name="Shape 84"/>
          <p:cNvSpPr/>
          <p:nvPr/>
        </p:nvSpPr>
        <p:spPr>
          <a:xfrm>
            <a:off x="5879592" y="3925062"/>
            <a:ext cx="54864" cy="100584"/>
          </a:xfrm>
          <a:prstGeom prst="roundRect">
            <a:avLst>
              <a:gd name="adj" fmla="val 83333"/>
            </a:avLst>
          </a:prstGeom>
          <a:solidFill>
            <a:srgbClr val="B4552D"/>
          </a:solidFill>
          <a:ln/>
        </p:spPr>
      </p:sp>
      <p:sp>
        <p:nvSpPr>
          <p:cNvPr id="87" name="Shape 85"/>
          <p:cNvSpPr/>
          <p:nvPr/>
        </p:nvSpPr>
        <p:spPr>
          <a:xfrm>
            <a:off x="5937565" y="3879342"/>
            <a:ext cx="20117" cy="192024"/>
          </a:xfrm>
          <a:prstGeom prst="rect">
            <a:avLst/>
          </a:prstGeom>
          <a:solidFill>
            <a:srgbClr val="12293A"/>
          </a:solidFill>
          <a:ln/>
        </p:spPr>
      </p:sp>
      <p:sp>
        <p:nvSpPr>
          <p:cNvPr id="88" name="Text 86"/>
          <p:cNvSpPr txBox="1"/>
          <p:nvPr/>
        </p:nvSpPr>
        <p:spPr>
          <a:xfrm>
            <a:off x="6464808" y="3813048"/>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0%</a:t>
            </a:r>
            <a:endParaRPr lang="en-US" sz="800" dirty="0"/>
          </a:p>
        </p:txBody>
      </p:sp>
      <p:sp>
        <p:nvSpPr>
          <p:cNvPr id="89" name="Text 87"/>
          <p:cNvSpPr txBox="1"/>
          <p:nvPr/>
        </p:nvSpPr>
        <p:spPr>
          <a:xfrm>
            <a:off x="6830568" y="3813048"/>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90" name="Shape 88"/>
          <p:cNvSpPr/>
          <p:nvPr/>
        </p:nvSpPr>
        <p:spPr>
          <a:xfrm>
            <a:off x="612648" y="4407408"/>
            <a:ext cx="7232904" cy="6401"/>
          </a:xfrm>
          <a:prstGeom prst="rect">
            <a:avLst/>
          </a:prstGeom>
          <a:solidFill>
            <a:srgbClr val="E2EAEE"/>
          </a:solidFill>
          <a:ln/>
        </p:spPr>
      </p:sp>
      <p:sp>
        <p:nvSpPr>
          <p:cNvPr id="91" name="Text 89"/>
          <p:cNvSpPr txBox="1"/>
          <p:nvPr/>
        </p:nvSpPr>
        <p:spPr>
          <a:xfrm>
            <a:off x="612648" y="4128516"/>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Jasmine Hikuroa</a:t>
            </a:r>
            <a:endParaRPr lang="en-US" sz="900" dirty="0"/>
          </a:p>
        </p:txBody>
      </p:sp>
      <p:sp>
        <p:nvSpPr>
          <p:cNvPr id="92" name="Text 90"/>
          <p:cNvSpPr txBox="1"/>
          <p:nvPr/>
        </p:nvSpPr>
        <p:spPr>
          <a:xfrm>
            <a:off x="2002536" y="4128516"/>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$6k</a:t>
            </a:r>
            <a:endParaRPr lang="en-US" sz="850" dirty="0"/>
          </a:p>
        </p:txBody>
      </p:sp>
      <p:sp>
        <p:nvSpPr>
          <p:cNvPr id="93" name="Text 91"/>
          <p:cNvSpPr txBox="1"/>
          <p:nvPr/>
        </p:nvSpPr>
        <p:spPr>
          <a:xfrm>
            <a:off x="2514600" y="4128516"/>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$1k</a:t>
            </a:r>
            <a:endParaRPr lang="en-US" sz="850" dirty="0"/>
          </a:p>
        </p:txBody>
      </p:sp>
      <p:sp>
        <p:nvSpPr>
          <p:cNvPr id="94" name="Shape 92"/>
          <p:cNvSpPr/>
          <p:nvPr/>
        </p:nvSpPr>
        <p:spPr>
          <a:xfrm>
            <a:off x="3081528" y="4240530"/>
            <a:ext cx="548640" cy="100584"/>
          </a:xfrm>
          <a:prstGeom prst="roundRect">
            <a:avLst>
              <a:gd name="adj" fmla="val 45455"/>
            </a:avLst>
          </a:prstGeom>
          <a:solidFill>
            <a:srgbClr val="E2EAEE"/>
          </a:solidFill>
          <a:ln/>
        </p:spPr>
      </p:sp>
      <p:sp>
        <p:nvSpPr>
          <p:cNvPr id="95" name="Shape 93"/>
          <p:cNvSpPr/>
          <p:nvPr/>
        </p:nvSpPr>
        <p:spPr>
          <a:xfrm>
            <a:off x="3081528" y="4240530"/>
            <a:ext cx="131674" cy="100584"/>
          </a:xfrm>
          <a:prstGeom prst="roundRect">
            <a:avLst>
              <a:gd name="adj" fmla="val 45455"/>
            </a:avLst>
          </a:prstGeom>
          <a:solidFill>
            <a:srgbClr val="B4552D"/>
          </a:solidFill>
          <a:ln/>
        </p:spPr>
      </p:sp>
      <p:sp>
        <p:nvSpPr>
          <p:cNvPr id="96" name="Shape 94"/>
          <p:cNvSpPr/>
          <p:nvPr/>
        </p:nvSpPr>
        <p:spPr>
          <a:xfrm>
            <a:off x="3137306" y="4194810"/>
            <a:ext cx="20117" cy="192024"/>
          </a:xfrm>
          <a:prstGeom prst="rect">
            <a:avLst/>
          </a:prstGeom>
          <a:solidFill>
            <a:srgbClr val="12293A"/>
          </a:solidFill>
          <a:ln/>
        </p:spPr>
      </p:sp>
      <p:sp>
        <p:nvSpPr>
          <p:cNvPr id="97" name="Text 95"/>
          <p:cNvSpPr txBox="1"/>
          <p:nvPr/>
        </p:nvSpPr>
        <p:spPr>
          <a:xfrm>
            <a:off x="3630168" y="4128516"/>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24%</a:t>
            </a:r>
            <a:endParaRPr lang="en-US" sz="800" dirty="0"/>
          </a:p>
        </p:txBody>
      </p:sp>
      <p:sp>
        <p:nvSpPr>
          <p:cNvPr id="98" name="Text 96"/>
          <p:cNvSpPr txBox="1"/>
          <p:nvPr/>
        </p:nvSpPr>
        <p:spPr>
          <a:xfrm>
            <a:off x="3904488" y="4128516"/>
            <a:ext cx="64008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+650</a:t>
            </a:r>
            <a:endParaRPr lang="en-US" sz="850" dirty="0"/>
          </a:p>
        </p:txBody>
      </p:sp>
      <p:sp>
        <p:nvSpPr>
          <p:cNvPr id="99" name="Text 97"/>
          <p:cNvSpPr txBox="1"/>
          <p:nvPr/>
        </p:nvSpPr>
        <p:spPr>
          <a:xfrm>
            <a:off x="4599432" y="4128516"/>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$214k</a:t>
            </a:r>
            <a:endParaRPr lang="en-US" sz="850" dirty="0"/>
          </a:p>
        </p:txBody>
      </p:sp>
      <p:sp>
        <p:nvSpPr>
          <p:cNvPr id="100" name="Text 98"/>
          <p:cNvSpPr txBox="1"/>
          <p:nvPr/>
        </p:nvSpPr>
        <p:spPr>
          <a:xfrm>
            <a:off x="5184648" y="4128516"/>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$3k</a:t>
            </a:r>
            <a:endParaRPr lang="en-US" sz="850" dirty="0"/>
          </a:p>
        </p:txBody>
      </p:sp>
      <p:sp>
        <p:nvSpPr>
          <p:cNvPr id="101" name="Shape 99"/>
          <p:cNvSpPr/>
          <p:nvPr/>
        </p:nvSpPr>
        <p:spPr>
          <a:xfrm>
            <a:off x="5879592" y="4240530"/>
            <a:ext cx="566928" cy="100584"/>
          </a:xfrm>
          <a:prstGeom prst="roundRect">
            <a:avLst>
              <a:gd name="adj" fmla="val 45455"/>
            </a:avLst>
          </a:prstGeom>
          <a:solidFill>
            <a:srgbClr val="E2EAEE"/>
          </a:solidFill>
          <a:ln/>
        </p:spPr>
      </p:sp>
      <p:sp>
        <p:nvSpPr>
          <p:cNvPr id="102" name="Shape 100"/>
          <p:cNvSpPr/>
          <p:nvPr/>
        </p:nvSpPr>
        <p:spPr>
          <a:xfrm>
            <a:off x="5879592" y="4240530"/>
            <a:ext cx="54864" cy="100584"/>
          </a:xfrm>
          <a:prstGeom prst="roundRect">
            <a:avLst>
              <a:gd name="adj" fmla="val 83333"/>
            </a:avLst>
          </a:prstGeom>
          <a:solidFill>
            <a:srgbClr val="B4552D"/>
          </a:solidFill>
          <a:ln/>
        </p:spPr>
      </p:sp>
      <p:sp>
        <p:nvSpPr>
          <p:cNvPr id="103" name="Shape 101"/>
          <p:cNvSpPr/>
          <p:nvPr/>
        </p:nvSpPr>
        <p:spPr>
          <a:xfrm>
            <a:off x="5937565" y="4194810"/>
            <a:ext cx="20117" cy="192024"/>
          </a:xfrm>
          <a:prstGeom prst="rect">
            <a:avLst/>
          </a:prstGeom>
          <a:solidFill>
            <a:srgbClr val="12293A"/>
          </a:solidFill>
          <a:ln/>
        </p:spPr>
      </p:sp>
      <p:sp>
        <p:nvSpPr>
          <p:cNvPr id="104" name="Text 102"/>
          <p:cNvSpPr txBox="1"/>
          <p:nvPr/>
        </p:nvSpPr>
        <p:spPr>
          <a:xfrm>
            <a:off x="6464808" y="4128516"/>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a:t>
            </a:r>
            <a:endParaRPr lang="en-US" sz="800" dirty="0"/>
          </a:p>
        </p:txBody>
      </p:sp>
      <p:sp>
        <p:nvSpPr>
          <p:cNvPr id="105" name="Text 103"/>
          <p:cNvSpPr txBox="1"/>
          <p:nvPr/>
        </p:nvSpPr>
        <p:spPr>
          <a:xfrm>
            <a:off x="6830568" y="4128516"/>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+3k</a:t>
            </a:r>
            <a:endParaRPr lang="en-US" sz="850" dirty="0"/>
          </a:p>
        </p:txBody>
      </p:sp>
      <p:sp>
        <p:nvSpPr>
          <p:cNvPr id="106" name="Shape 104"/>
          <p:cNvSpPr/>
          <p:nvPr/>
        </p:nvSpPr>
        <p:spPr>
          <a:xfrm>
            <a:off x="612648" y="4722876"/>
            <a:ext cx="7232904" cy="6401"/>
          </a:xfrm>
          <a:prstGeom prst="rect">
            <a:avLst/>
          </a:prstGeom>
          <a:solidFill>
            <a:srgbClr val="E2EAEE"/>
          </a:solidFill>
          <a:ln/>
        </p:spPr>
      </p:sp>
      <p:sp>
        <p:nvSpPr>
          <p:cNvPr id="107" name="Text 105"/>
          <p:cNvSpPr txBox="1"/>
          <p:nvPr/>
        </p:nvSpPr>
        <p:spPr>
          <a:xfrm>
            <a:off x="612648" y="4443984"/>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Phuong Ho</a:t>
            </a:r>
            <a:endParaRPr lang="en-US" sz="900" dirty="0"/>
          </a:p>
        </p:txBody>
      </p:sp>
      <p:sp>
        <p:nvSpPr>
          <p:cNvPr id="108" name="Text 106"/>
          <p:cNvSpPr txBox="1"/>
          <p:nvPr/>
        </p:nvSpPr>
        <p:spPr>
          <a:xfrm>
            <a:off x="2002536" y="4443984"/>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$2k</a:t>
            </a:r>
            <a:endParaRPr lang="en-US" sz="850" dirty="0"/>
          </a:p>
        </p:txBody>
      </p:sp>
      <p:sp>
        <p:nvSpPr>
          <p:cNvPr id="109" name="Text 107"/>
          <p:cNvSpPr txBox="1"/>
          <p:nvPr/>
        </p:nvSpPr>
        <p:spPr>
          <a:xfrm>
            <a:off x="2514600" y="4443984"/>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$98</a:t>
            </a:r>
            <a:endParaRPr lang="en-US" sz="850" dirty="0"/>
          </a:p>
        </p:txBody>
      </p:sp>
      <p:sp>
        <p:nvSpPr>
          <p:cNvPr id="110" name="Shape 108"/>
          <p:cNvSpPr/>
          <p:nvPr/>
        </p:nvSpPr>
        <p:spPr>
          <a:xfrm>
            <a:off x="3081528" y="4555998"/>
            <a:ext cx="548640" cy="100584"/>
          </a:xfrm>
          <a:prstGeom prst="roundRect">
            <a:avLst>
              <a:gd name="adj" fmla="val 45455"/>
            </a:avLst>
          </a:prstGeom>
          <a:solidFill>
            <a:srgbClr val="E2EAEE"/>
          </a:solidFill>
          <a:ln/>
        </p:spPr>
      </p:sp>
      <p:sp>
        <p:nvSpPr>
          <p:cNvPr id="111" name="Shape 109"/>
          <p:cNvSpPr/>
          <p:nvPr/>
        </p:nvSpPr>
        <p:spPr>
          <a:xfrm>
            <a:off x="3081528" y="4555998"/>
            <a:ext cx="54864" cy="100584"/>
          </a:xfrm>
          <a:prstGeom prst="roundRect">
            <a:avLst>
              <a:gd name="adj" fmla="val 83333"/>
            </a:avLst>
          </a:prstGeom>
          <a:solidFill>
            <a:srgbClr val="B4552D"/>
          </a:solidFill>
          <a:ln/>
        </p:spPr>
      </p:sp>
      <p:sp>
        <p:nvSpPr>
          <p:cNvPr id="112" name="Shape 110"/>
          <p:cNvSpPr/>
          <p:nvPr/>
        </p:nvSpPr>
        <p:spPr>
          <a:xfrm>
            <a:off x="3137306" y="4510278"/>
            <a:ext cx="20117" cy="192024"/>
          </a:xfrm>
          <a:prstGeom prst="rect">
            <a:avLst/>
          </a:prstGeom>
          <a:solidFill>
            <a:srgbClr val="12293A"/>
          </a:solidFill>
          <a:ln/>
        </p:spPr>
      </p:sp>
      <p:sp>
        <p:nvSpPr>
          <p:cNvPr id="113" name="Text 111"/>
          <p:cNvSpPr txBox="1"/>
          <p:nvPr/>
        </p:nvSpPr>
        <p:spPr>
          <a:xfrm>
            <a:off x="3630168" y="4443984"/>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5%</a:t>
            </a:r>
            <a:endParaRPr lang="en-US" sz="800" dirty="0"/>
          </a:p>
        </p:txBody>
      </p:sp>
      <p:sp>
        <p:nvSpPr>
          <p:cNvPr id="114" name="Text 112"/>
          <p:cNvSpPr txBox="1"/>
          <p:nvPr/>
        </p:nvSpPr>
        <p:spPr>
          <a:xfrm>
            <a:off x="3904488" y="4443984"/>
            <a:ext cx="640080"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+98</a:t>
            </a:r>
            <a:endParaRPr lang="en-US" sz="850" dirty="0"/>
          </a:p>
        </p:txBody>
      </p:sp>
      <p:sp>
        <p:nvSpPr>
          <p:cNvPr id="115" name="Text 113"/>
          <p:cNvSpPr txBox="1"/>
          <p:nvPr/>
        </p:nvSpPr>
        <p:spPr>
          <a:xfrm>
            <a:off x="4599432" y="4443984"/>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$55k</a:t>
            </a:r>
            <a:endParaRPr lang="en-US" sz="850" dirty="0"/>
          </a:p>
        </p:txBody>
      </p:sp>
      <p:sp>
        <p:nvSpPr>
          <p:cNvPr id="116" name="Text 114"/>
          <p:cNvSpPr txBox="1"/>
          <p:nvPr/>
        </p:nvSpPr>
        <p:spPr>
          <a:xfrm>
            <a:off x="5184648" y="4443984"/>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$5k</a:t>
            </a:r>
            <a:endParaRPr lang="en-US" sz="850" dirty="0"/>
          </a:p>
        </p:txBody>
      </p:sp>
      <p:sp>
        <p:nvSpPr>
          <p:cNvPr id="117" name="Shape 115"/>
          <p:cNvSpPr/>
          <p:nvPr/>
        </p:nvSpPr>
        <p:spPr>
          <a:xfrm>
            <a:off x="5879592" y="4555998"/>
            <a:ext cx="566928" cy="100584"/>
          </a:xfrm>
          <a:prstGeom prst="roundRect">
            <a:avLst>
              <a:gd name="adj" fmla="val 45455"/>
            </a:avLst>
          </a:prstGeom>
          <a:solidFill>
            <a:srgbClr val="E2EAEE"/>
          </a:solidFill>
          <a:ln/>
        </p:spPr>
      </p:sp>
      <p:sp>
        <p:nvSpPr>
          <p:cNvPr id="118" name="Shape 116"/>
          <p:cNvSpPr/>
          <p:nvPr/>
        </p:nvSpPr>
        <p:spPr>
          <a:xfrm>
            <a:off x="5879592" y="4555998"/>
            <a:ext cx="56693" cy="100584"/>
          </a:xfrm>
          <a:prstGeom prst="roundRect">
            <a:avLst>
              <a:gd name="adj" fmla="val 80645"/>
            </a:avLst>
          </a:prstGeom>
          <a:solidFill>
            <a:srgbClr val="B4552D"/>
          </a:solidFill>
          <a:ln/>
        </p:spPr>
      </p:sp>
      <p:sp>
        <p:nvSpPr>
          <p:cNvPr id="119" name="Shape 117"/>
          <p:cNvSpPr/>
          <p:nvPr/>
        </p:nvSpPr>
        <p:spPr>
          <a:xfrm>
            <a:off x="5937565" y="4510278"/>
            <a:ext cx="20117" cy="192024"/>
          </a:xfrm>
          <a:prstGeom prst="rect">
            <a:avLst/>
          </a:prstGeom>
          <a:solidFill>
            <a:srgbClr val="12293A"/>
          </a:solidFill>
          <a:ln/>
        </p:spPr>
      </p:sp>
      <p:sp>
        <p:nvSpPr>
          <p:cNvPr id="120" name="Text 118"/>
          <p:cNvSpPr txBox="1"/>
          <p:nvPr/>
        </p:nvSpPr>
        <p:spPr>
          <a:xfrm>
            <a:off x="6464808" y="4443984"/>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10%</a:t>
            </a:r>
            <a:endParaRPr lang="en-US" sz="800" dirty="0"/>
          </a:p>
        </p:txBody>
      </p:sp>
      <p:sp>
        <p:nvSpPr>
          <p:cNvPr id="121" name="Text 119"/>
          <p:cNvSpPr txBox="1"/>
          <p:nvPr/>
        </p:nvSpPr>
        <p:spPr>
          <a:xfrm>
            <a:off x="6830568" y="4443984"/>
            <a:ext cx="987552" cy="315468"/>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+5k</a:t>
            </a:r>
            <a:endParaRPr lang="en-US" sz="850" dirty="0"/>
          </a:p>
        </p:txBody>
      </p:sp>
      <p:sp>
        <p:nvSpPr>
          <p:cNvPr id="122" name="Shape 120"/>
          <p:cNvSpPr/>
          <p:nvPr/>
        </p:nvSpPr>
        <p:spPr>
          <a:xfrm>
            <a:off x="612648" y="5038344"/>
            <a:ext cx="7232904" cy="6401"/>
          </a:xfrm>
          <a:prstGeom prst="rect">
            <a:avLst/>
          </a:prstGeom>
          <a:solidFill>
            <a:srgbClr val="E2EAEE"/>
          </a:solidFill>
          <a:ln/>
        </p:spPr>
      </p:sp>
      <p:sp>
        <p:nvSpPr>
          <p:cNvPr id="123" name="Text 121"/>
          <p:cNvSpPr txBox="1"/>
          <p:nvPr/>
        </p:nvSpPr>
        <p:spPr>
          <a:xfrm>
            <a:off x="612648" y="4759452"/>
            <a:ext cx="1371600" cy="315468"/>
          </a:xfrm>
          <a:prstGeom prst="rect">
            <a:avLst/>
          </a:prstGeom>
          <a:noFill/>
          <a:ln/>
        </p:spPr>
        <p:txBody>
          <a:bodyPr wrap="square" lIns="0" tIns="0" rIns="0" bIns="0" rtlCol="0" anchor="ctr"/>
          <a:lstStyle/>
          <a:p>
            <a:pPr indent="0" marL="0">
              <a:buNone/>
            </a:pPr>
            <a:r>
              <a:rPr lang="en-US" sz="900" dirty="0">
                <a:solidFill>
                  <a:srgbClr val="12293A"/>
                </a:solidFill>
                <a:latin typeface="Poppins" pitchFamily="34" charset="0"/>
                <a:ea typeface="Poppins" pitchFamily="34" charset="-122"/>
                <a:cs typeface="Poppins" pitchFamily="34" charset="-120"/>
              </a:rPr>
              <a:t>Mick Teasdale</a:t>
            </a:r>
            <a:endParaRPr lang="en-US" sz="900" dirty="0"/>
          </a:p>
        </p:txBody>
      </p:sp>
      <p:sp>
        <p:nvSpPr>
          <p:cNvPr id="124" name="Text 122"/>
          <p:cNvSpPr txBox="1"/>
          <p:nvPr/>
        </p:nvSpPr>
        <p:spPr>
          <a:xfrm>
            <a:off x="2002536" y="4759452"/>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$3k</a:t>
            </a:r>
            <a:endParaRPr lang="en-US" sz="850" dirty="0"/>
          </a:p>
        </p:txBody>
      </p:sp>
      <p:sp>
        <p:nvSpPr>
          <p:cNvPr id="125" name="Text 123"/>
          <p:cNvSpPr txBox="1"/>
          <p:nvPr/>
        </p:nvSpPr>
        <p:spPr>
          <a:xfrm>
            <a:off x="2514600" y="4759452"/>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$0</a:t>
            </a:r>
            <a:endParaRPr lang="en-US" sz="850" dirty="0"/>
          </a:p>
        </p:txBody>
      </p:sp>
      <p:sp>
        <p:nvSpPr>
          <p:cNvPr id="126" name="Shape 124"/>
          <p:cNvSpPr/>
          <p:nvPr/>
        </p:nvSpPr>
        <p:spPr>
          <a:xfrm>
            <a:off x="3081528" y="4871466"/>
            <a:ext cx="548640" cy="100584"/>
          </a:xfrm>
          <a:prstGeom prst="roundRect">
            <a:avLst>
              <a:gd name="adj" fmla="val 45455"/>
            </a:avLst>
          </a:prstGeom>
          <a:solidFill>
            <a:srgbClr val="E2EAEE"/>
          </a:solidFill>
          <a:ln/>
        </p:spPr>
      </p:sp>
      <p:sp>
        <p:nvSpPr>
          <p:cNvPr id="127" name="Shape 125"/>
          <p:cNvSpPr/>
          <p:nvPr/>
        </p:nvSpPr>
        <p:spPr>
          <a:xfrm>
            <a:off x="3081528" y="4871466"/>
            <a:ext cx="54864" cy="100584"/>
          </a:xfrm>
          <a:prstGeom prst="roundRect">
            <a:avLst>
              <a:gd name="adj" fmla="val 83333"/>
            </a:avLst>
          </a:prstGeom>
          <a:solidFill>
            <a:srgbClr val="B4552D"/>
          </a:solidFill>
          <a:ln/>
        </p:spPr>
      </p:sp>
      <p:sp>
        <p:nvSpPr>
          <p:cNvPr id="128" name="Shape 126"/>
          <p:cNvSpPr/>
          <p:nvPr/>
        </p:nvSpPr>
        <p:spPr>
          <a:xfrm>
            <a:off x="3137306" y="4825746"/>
            <a:ext cx="20117" cy="192024"/>
          </a:xfrm>
          <a:prstGeom prst="rect">
            <a:avLst/>
          </a:prstGeom>
          <a:solidFill>
            <a:srgbClr val="12293A"/>
          </a:solidFill>
          <a:ln/>
        </p:spPr>
      </p:sp>
      <p:sp>
        <p:nvSpPr>
          <p:cNvPr id="129" name="Text 127"/>
          <p:cNvSpPr txBox="1"/>
          <p:nvPr/>
        </p:nvSpPr>
        <p:spPr>
          <a:xfrm>
            <a:off x="3630168" y="4759452"/>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0%</a:t>
            </a:r>
            <a:endParaRPr lang="en-US" sz="800" dirty="0"/>
          </a:p>
        </p:txBody>
      </p:sp>
      <p:sp>
        <p:nvSpPr>
          <p:cNvPr id="130" name="Text 128"/>
          <p:cNvSpPr txBox="1"/>
          <p:nvPr/>
        </p:nvSpPr>
        <p:spPr>
          <a:xfrm>
            <a:off x="3904488" y="4759452"/>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31" name="Text 129"/>
          <p:cNvSpPr txBox="1"/>
          <p:nvPr/>
        </p:nvSpPr>
        <p:spPr>
          <a:xfrm>
            <a:off x="4599432" y="4759452"/>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$46k</a:t>
            </a:r>
            <a:endParaRPr lang="en-US" sz="850" dirty="0"/>
          </a:p>
        </p:txBody>
      </p:sp>
      <p:sp>
        <p:nvSpPr>
          <p:cNvPr id="132" name="Text 130"/>
          <p:cNvSpPr txBox="1"/>
          <p:nvPr/>
        </p:nvSpPr>
        <p:spPr>
          <a:xfrm>
            <a:off x="5184648" y="4759452"/>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33" name="Text 131"/>
          <p:cNvSpPr txBox="1"/>
          <p:nvPr/>
        </p:nvSpPr>
        <p:spPr>
          <a:xfrm>
            <a:off x="5843016" y="4759452"/>
            <a:ext cx="932688"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34" name="Text 132"/>
          <p:cNvSpPr txBox="1"/>
          <p:nvPr/>
        </p:nvSpPr>
        <p:spPr>
          <a:xfrm>
            <a:off x="6830568" y="4759452"/>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35" name="Shape 133"/>
          <p:cNvSpPr/>
          <p:nvPr/>
        </p:nvSpPr>
        <p:spPr>
          <a:xfrm>
            <a:off x="612648" y="5353812"/>
            <a:ext cx="7232904" cy="6401"/>
          </a:xfrm>
          <a:prstGeom prst="rect">
            <a:avLst/>
          </a:prstGeom>
          <a:solidFill>
            <a:srgbClr val="E2EAEE"/>
          </a:solidFill>
          <a:ln/>
        </p:spPr>
      </p:sp>
      <p:sp>
        <p:nvSpPr>
          <p:cNvPr id="136" name="Text 134"/>
          <p:cNvSpPr txBox="1"/>
          <p:nvPr/>
        </p:nvSpPr>
        <p:spPr>
          <a:xfrm>
            <a:off x="612648" y="5074920"/>
            <a:ext cx="1371600" cy="315468"/>
          </a:xfrm>
          <a:prstGeom prst="rect">
            <a:avLst/>
          </a:prstGeom>
          <a:noFill/>
          <a:ln/>
        </p:spPr>
        <p:txBody>
          <a:bodyPr wrap="square" lIns="0" tIns="0" rIns="0" bIns="0" rtlCol="0" anchor="ctr"/>
          <a:lstStyle/>
          <a:p>
            <a:pPr indent="0" marL="0">
              <a:buNone/>
            </a:pPr>
            <a:r>
              <a:rPr lang="en-US" sz="900" dirty="0">
                <a:solidFill>
                  <a:srgbClr val="C88A2E"/>
                </a:solidFill>
                <a:latin typeface="Poppins" pitchFamily="34" charset="0"/>
                <a:ea typeface="Poppins" pitchFamily="34" charset="-122"/>
                <a:cs typeface="Poppins" pitchFamily="34" charset="-120"/>
              </a:rPr>
              <a:t>Unassigned</a:t>
            </a:r>
            <a:endParaRPr lang="en-US" sz="900" dirty="0"/>
          </a:p>
        </p:txBody>
      </p:sp>
      <p:sp>
        <p:nvSpPr>
          <p:cNvPr id="137" name="Text 135"/>
          <p:cNvSpPr txBox="1"/>
          <p:nvPr/>
        </p:nvSpPr>
        <p:spPr>
          <a:xfrm>
            <a:off x="2002536" y="5074920"/>
            <a:ext cx="475488"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$4k</a:t>
            </a:r>
            <a:endParaRPr lang="en-US" sz="850" dirty="0"/>
          </a:p>
        </p:txBody>
      </p:sp>
      <p:sp>
        <p:nvSpPr>
          <p:cNvPr id="138" name="Text 136"/>
          <p:cNvSpPr txBox="1"/>
          <p:nvPr/>
        </p:nvSpPr>
        <p:spPr>
          <a:xfrm>
            <a:off x="2514600" y="5074920"/>
            <a:ext cx="475488"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$294</a:t>
            </a:r>
            <a:endParaRPr lang="en-US" sz="850" dirty="0"/>
          </a:p>
        </p:txBody>
      </p:sp>
      <p:sp>
        <p:nvSpPr>
          <p:cNvPr id="139" name="Shape 137"/>
          <p:cNvSpPr/>
          <p:nvPr/>
        </p:nvSpPr>
        <p:spPr>
          <a:xfrm>
            <a:off x="3081528" y="5186934"/>
            <a:ext cx="548640" cy="100584"/>
          </a:xfrm>
          <a:prstGeom prst="roundRect">
            <a:avLst>
              <a:gd name="adj" fmla="val 45455"/>
            </a:avLst>
          </a:prstGeom>
          <a:solidFill>
            <a:srgbClr val="E2EAEE"/>
          </a:solidFill>
          <a:ln/>
        </p:spPr>
      </p:sp>
      <p:sp>
        <p:nvSpPr>
          <p:cNvPr id="140" name="Shape 138"/>
          <p:cNvSpPr/>
          <p:nvPr/>
        </p:nvSpPr>
        <p:spPr>
          <a:xfrm>
            <a:off x="3081528" y="5186934"/>
            <a:ext cx="54864" cy="100584"/>
          </a:xfrm>
          <a:prstGeom prst="roundRect">
            <a:avLst>
              <a:gd name="adj" fmla="val 83333"/>
            </a:avLst>
          </a:prstGeom>
          <a:solidFill>
            <a:srgbClr val="B4552D"/>
          </a:solidFill>
          <a:ln/>
        </p:spPr>
      </p:sp>
      <p:sp>
        <p:nvSpPr>
          <p:cNvPr id="141" name="Shape 139"/>
          <p:cNvSpPr/>
          <p:nvPr/>
        </p:nvSpPr>
        <p:spPr>
          <a:xfrm>
            <a:off x="3137306" y="5141214"/>
            <a:ext cx="20117" cy="192024"/>
          </a:xfrm>
          <a:prstGeom prst="rect">
            <a:avLst/>
          </a:prstGeom>
          <a:solidFill>
            <a:srgbClr val="12293A"/>
          </a:solidFill>
          <a:ln/>
        </p:spPr>
      </p:sp>
      <p:sp>
        <p:nvSpPr>
          <p:cNvPr id="142" name="Text 140"/>
          <p:cNvSpPr txBox="1"/>
          <p:nvPr/>
        </p:nvSpPr>
        <p:spPr>
          <a:xfrm>
            <a:off x="3630168" y="5074920"/>
            <a:ext cx="329184" cy="315468"/>
          </a:xfrm>
          <a:prstGeom prst="rect">
            <a:avLst/>
          </a:prstGeom>
          <a:noFill/>
          <a:ln/>
        </p:spPr>
        <p:txBody>
          <a:bodyPr wrap="square" lIns="0" tIns="0" rIns="0" bIns="0" rtlCol="0" anchor="ctr"/>
          <a:lstStyle/>
          <a:p>
            <a:pPr algn="r" indent="0" marL="0">
              <a:buNone/>
            </a:pPr>
            <a:r>
              <a:rPr lang="en-US" sz="800" b="1" dirty="0">
                <a:solidFill>
                  <a:srgbClr val="B4552D"/>
                </a:solidFill>
                <a:latin typeface="Poppins" pitchFamily="34" charset="0"/>
                <a:ea typeface="Poppins" pitchFamily="34" charset="-122"/>
                <a:cs typeface="Poppins" pitchFamily="34" charset="-120"/>
              </a:rPr>
              <a:t>7%</a:t>
            </a:r>
            <a:endParaRPr lang="en-US" sz="800" dirty="0"/>
          </a:p>
        </p:txBody>
      </p:sp>
      <p:sp>
        <p:nvSpPr>
          <p:cNvPr id="143" name="Text 141"/>
          <p:cNvSpPr txBox="1"/>
          <p:nvPr/>
        </p:nvSpPr>
        <p:spPr>
          <a:xfrm>
            <a:off x="3904488" y="5074920"/>
            <a:ext cx="640080" cy="315468"/>
          </a:xfrm>
          <a:prstGeom prst="rect">
            <a:avLst/>
          </a:prstGeom>
          <a:noFill/>
          <a:ln/>
        </p:spPr>
        <p:txBody>
          <a:bodyPr wrap="square" lIns="0" tIns="0" rIns="0" bIns="0" rtlCol="0" anchor="ctr"/>
          <a:lstStyle/>
          <a:p>
            <a:pPr algn="r" indent="0" marL="0">
              <a:buNone/>
            </a:pPr>
            <a:r>
              <a:rPr lang="en-US" sz="850" dirty="0">
                <a:solidFill>
                  <a:srgbClr val="8FA1AC"/>
                </a:solidFill>
                <a:latin typeface="Poppins" pitchFamily="34" charset="0"/>
                <a:ea typeface="Poppins" pitchFamily="34" charset="-122"/>
                <a:cs typeface="Poppins" pitchFamily="34" charset="-120"/>
              </a:rPr>
              <a:t>—</a:t>
            </a:r>
            <a:endParaRPr lang="en-US" sz="850" dirty="0"/>
          </a:p>
        </p:txBody>
      </p:sp>
      <p:sp>
        <p:nvSpPr>
          <p:cNvPr id="144" name="Text 142"/>
          <p:cNvSpPr txBox="1"/>
          <p:nvPr/>
        </p:nvSpPr>
        <p:spPr>
          <a:xfrm>
            <a:off x="4599432" y="5074920"/>
            <a:ext cx="548640" cy="315468"/>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a:t>
            </a:r>
            <a:endParaRPr lang="en-US" sz="850" dirty="0"/>
          </a:p>
        </p:txBody>
      </p:sp>
      <p:sp>
        <p:nvSpPr>
          <p:cNvPr id="145" name="Text 143"/>
          <p:cNvSpPr txBox="1"/>
          <p:nvPr/>
        </p:nvSpPr>
        <p:spPr>
          <a:xfrm>
            <a:off x="5184648" y="5074920"/>
            <a:ext cx="603504" cy="315468"/>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a:t>
            </a:r>
            <a:endParaRPr lang="en-US" sz="850" dirty="0"/>
          </a:p>
        </p:txBody>
      </p:sp>
      <p:sp>
        <p:nvSpPr>
          <p:cNvPr id="146" name="Text 144"/>
          <p:cNvSpPr txBox="1"/>
          <p:nvPr/>
        </p:nvSpPr>
        <p:spPr>
          <a:xfrm>
            <a:off x="5843016" y="5074920"/>
            <a:ext cx="932688" cy="315468"/>
          </a:xfrm>
          <a:prstGeom prst="rect">
            <a:avLst/>
          </a:prstGeom>
          <a:noFill/>
          <a:ln/>
        </p:spPr>
        <p:txBody>
          <a:bodyPr wrap="square" lIns="0" tIns="0" rIns="0" bIns="0" rtlCol="0" anchor="ctr"/>
          <a:lstStyle/>
          <a:p>
            <a:pPr algn="ct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147" name="Text 145"/>
          <p:cNvSpPr txBox="1"/>
          <p:nvPr/>
        </p:nvSpPr>
        <p:spPr>
          <a:xfrm>
            <a:off x="6830568" y="5074920"/>
            <a:ext cx="987552" cy="315468"/>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a:t>
            </a:r>
            <a:endParaRPr lang="en-US" sz="850" dirty="0"/>
          </a:p>
        </p:txBody>
      </p:sp>
      <p:sp>
        <p:nvSpPr>
          <p:cNvPr id="148" name="Shape 146"/>
          <p:cNvSpPr/>
          <p:nvPr/>
        </p:nvSpPr>
        <p:spPr>
          <a:xfrm>
            <a:off x="612648" y="5381244"/>
            <a:ext cx="7232904" cy="14630"/>
          </a:xfrm>
          <a:prstGeom prst="rect">
            <a:avLst/>
          </a:prstGeom>
          <a:solidFill>
            <a:srgbClr val="12293A"/>
          </a:solidFill>
          <a:ln/>
        </p:spPr>
      </p:sp>
      <p:sp>
        <p:nvSpPr>
          <p:cNvPr id="149" name="Text 147"/>
          <p:cNvSpPr txBox="1"/>
          <p:nvPr/>
        </p:nvSpPr>
        <p:spPr>
          <a:xfrm>
            <a:off x="612648" y="5426964"/>
            <a:ext cx="1371600" cy="274320"/>
          </a:xfrm>
          <a:prstGeom prst="rect">
            <a:avLst/>
          </a:prstGeom>
          <a:noFill/>
          <a:ln/>
        </p:spPr>
        <p:txBody>
          <a:bodyPr wrap="square" lIns="0" tIns="0" rIns="0" bIns="0" rtlCol="0" anchor="ctr"/>
          <a:lstStyle/>
          <a:p>
            <a:pPr indent="0" marL="0">
              <a:buNone/>
            </a:pPr>
            <a:r>
              <a:rPr lang="en-US" sz="900" b="1" dirty="0">
                <a:solidFill>
                  <a:srgbClr val="12293A"/>
                </a:solidFill>
                <a:latin typeface="Poppins" pitchFamily="34" charset="0"/>
                <a:ea typeface="Poppins" pitchFamily="34" charset="-122"/>
                <a:cs typeface="Poppins" pitchFamily="34" charset="-120"/>
              </a:rPr>
              <a:t>SALES TEAM TOTAL</a:t>
            </a:r>
            <a:endParaRPr lang="en-US" sz="900" dirty="0"/>
          </a:p>
        </p:txBody>
      </p:sp>
      <p:sp>
        <p:nvSpPr>
          <p:cNvPr id="150" name="Text 148"/>
          <p:cNvSpPr txBox="1"/>
          <p:nvPr/>
        </p:nvSpPr>
        <p:spPr>
          <a:xfrm>
            <a:off x="2002536" y="5426964"/>
            <a:ext cx="475488"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$30k</a:t>
            </a:r>
            <a:endParaRPr lang="en-US" sz="850" dirty="0"/>
          </a:p>
        </p:txBody>
      </p:sp>
      <p:sp>
        <p:nvSpPr>
          <p:cNvPr id="151" name="Text 149"/>
          <p:cNvSpPr txBox="1"/>
          <p:nvPr/>
        </p:nvSpPr>
        <p:spPr>
          <a:xfrm>
            <a:off x="2514600" y="5426964"/>
            <a:ext cx="475488"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$3k</a:t>
            </a:r>
            <a:endParaRPr lang="en-US" sz="850" dirty="0"/>
          </a:p>
        </p:txBody>
      </p:sp>
      <p:sp>
        <p:nvSpPr>
          <p:cNvPr id="152" name="Text 150"/>
          <p:cNvSpPr txBox="1"/>
          <p:nvPr/>
        </p:nvSpPr>
        <p:spPr>
          <a:xfrm>
            <a:off x="3904488" y="5426964"/>
            <a:ext cx="640080"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−1,777</a:t>
            </a:r>
            <a:endParaRPr lang="en-US" sz="850" dirty="0"/>
          </a:p>
        </p:txBody>
      </p:sp>
      <p:sp>
        <p:nvSpPr>
          <p:cNvPr id="153" name="Text 151"/>
          <p:cNvSpPr txBox="1"/>
          <p:nvPr/>
        </p:nvSpPr>
        <p:spPr>
          <a:xfrm>
            <a:off x="4599432" y="5426964"/>
            <a:ext cx="548640" cy="274320"/>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$761k</a:t>
            </a:r>
            <a:endParaRPr lang="en-US" sz="850" dirty="0"/>
          </a:p>
        </p:txBody>
      </p:sp>
      <p:sp>
        <p:nvSpPr>
          <p:cNvPr id="154" name="Text 152"/>
          <p:cNvSpPr txBox="1"/>
          <p:nvPr/>
        </p:nvSpPr>
        <p:spPr>
          <a:xfrm>
            <a:off x="5184648" y="5426964"/>
            <a:ext cx="603504" cy="274320"/>
          </a:xfrm>
          <a:prstGeom prst="rect">
            <a:avLst/>
          </a:prstGeom>
          <a:noFill/>
          <a:ln/>
        </p:spPr>
        <p:txBody>
          <a:bodyPr wrap="square" lIns="0" tIns="0" rIns="0" bIns="0" rtlCol="0" anchor="ctr"/>
          <a:lstStyle/>
          <a:p>
            <a:pPr algn="r" indent="0" marL="0">
              <a:buNone/>
            </a:pPr>
            <a:r>
              <a:rPr lang="en-US" sz="850" b="1" dirty="0">
                <a:solidFill>
                  <a:srgbClr val="B4552D"/>
                </a:solidFill>
                <a:latin typeface="Poppins" pitchFamily="34" charset="0"/>
                <a:ea typeface="Poppins" pitchFamily="34" charset="-122"/>
                <a:cs typeface="Poppins" pitchFamily="34" charset="-120"/>
              </a:rPr>
              <a:t>$28k</a:t>
            </a:r>
            <a:endParaRPr lang="en-US" sz="850" dirty="0"/>
          </a:p>
        </p:txBody>
      </p:sp>
      <p:sp>
        <p:nvSpPr>
          <p:cNvPr id="155" name="Text 153"/>
          <p:cNvSpPr txBox="1"/>
          <p:nvPr/>
        </p:nvSpPr>
        <p:spPr>
          <a:xfrm>
            <a:off x="5843016" y="5426964"/>
            <a:ext cx="932688" cy="274320"/>
          </a:xfrm>
          <a:prstGeom prst="rect">
            <a:avLst/>
          </a:prstGeom>
          <a:noFill/>
          <a:ln/>
        </p:spPr>
        <p:txBody>
          <a:bodyPr wrap="square" lIns="0" tIns="0" rIns="0" bIns="0" rtlCol="0" anchor="ctr"/>
          <a:lstStyle/>
          <a:p>
            <a:pPr algn="ctr" indent="0" marL="0">
              <a:buNone/>
            </a:pPr>
            <a:r>
              <a:rPr lang="en-US" sz="850" b="1" dirty="0">
                <a:solidFill>
                  <a:srgbClr val="B4552D"/>
                </a:solidFill>
                <a:latin typeface="Poppins" pitchFamily="34" charset="0"/>
                <a:ea typeface="Poppins" pitchFamily="34" charset="-122"/>
                <a:cs typeface="Poppins" pitchFamily="34" charset="-120"/>
              </a:rPr>
              <a:t>4%</a:t>
            </a:r>
            <a:endParaRPr lang="en-US" sz="850" dirty="0"/>
          </a:p>
        </p:txBody>
      </p:sp>
      <p:sp>
        <p:nvSpPr>
          <p:cNvPr id="156" name="Text 154"/>
          <p:cNvSpPr txBox="1"/>
          <p:nvPr/>
        </p:nvSpPr>
        <p:spPr>
          <a:xfrm>
            <a:off x="6830568" y="5426964"/>
            <a:ext cx="987552" cy="274320"/>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+28k</a:t>
            </a:r>
            <a:endParaRPr lang="en-US" sz="850" dirty="0"/>
          </a:p>
        </p:txBody>
      </p:sp>
      <p:sp>
        <p:nvSpPr>
          <p:cNvPr id="157" name="Text 155"/>
          <p:cNvSpPr txBox="1"/>
          <p:nvPr/>
        </p:nvSpPr>
        <p:spPr>
          <a:xfrm>
            <a:off x="612648" y="5719572"/>
            <a:ext cx="7232904" cy="21945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MRR = net new + expansion invoiced in Q4 (movement register, live 11 Oct) · H&amp;L Pay net new $0/mo is tracked separately and never sits inside core MRR</a:t>
            </a:r>
            <a:endParaRPr lang="en-US" sz="700" dirty="0"/>
          </a:p>
        </p:txBody>
      </p:sp>
      <p:sp>
        <p:nvSpPr>
          <p:cNvPr id="158" name="Shape 156"/>
          <p:cNvSpPr/>
          <p:nvPr/>
        </p:nvSpPr>
        <p:spPr>
          <a:xfrm>
            <a:off x="8229600" y="2340864"/>
            <a:ext cx="3547872" cy="4041648"/>
          </a:xfrm>
          <a:prstGeom prst="roundRect">
            <a:avLst>
              <a:gd name="adj" fmla="val 1804"/>
            </a:avLst>
          </a:prstGeom>
          <a:solidFill>
            <a:srgbClr val="FFFFFF"/>
          </a:solidFill>
          <a:ln/>
          <a:effectLst>
            <a:outerShdw sx="100000" sy="100000" kx="0" ky="0" algn="bl" rotWithShape="0" blurRad="76200" dist="25400" dir="5400000">
              <a:srgbClr val="9AAAB5">
                <a:alpha val="35000"/>
              </a:srgbClr>
            </a:outerShdw>
          </a:effectLst>
        </p:spPr>
      </p:sp>
      <p:sp>
        <p:nvSpPr>
          <p:cNvPr id="159" name="Text 157"/>
          <p:cNvSpPr txBox="1"/>
          <p:nvPr/>
        </p:nvSpPr>
        <p:spPr>
          <a:xfrm>
            <a:off x="8430768" y="2450592"/>
            <a:ext cx="31821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60" name="Text 158"/>
          <p:cNvSpPr txBox="1"/>
          <p:nvPr/>
        </p:nvSpPr>
        <p:spPr>
          <a:xfrm>
            <a:off x="8430768" y="2761488"/>
            <a:ext cx="3136392" cy="3493008"/>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Q4 hardware opens at $28,099 (4%)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against the $715k OKR2 at a 12% pace mark. Q4 to date is this one extract — the 28 Sep–4 Oct extract carried $102,373 but no dates, so its 1–4 Oct share cannot be brought in. Brett carries $15.0k of the week, Ho $5.4k and Bjorn $5.1k.</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week nets −$1,777 on MRR.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$1,169 of new invoiced — Stokehouse $650, Matilda Bay $421, two ODMs at $49 — against $2,946 of churn, all of it Bjorn's three seasonal closures dated to leave MRR on 1 November. Q4 stands at $2,904, 10% of the $28k OKR2 against a 12% pace mark.</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Targets are the Q3 numbers carried forward.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No Q4 OKR2 or team target has been set, so attainment on this slide is measured against last quarter's bar. Set the Q4 targets and these percentages change.</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HW = commissionable only, gross of discounts · attainment = invoiced, never closed-won · pace = Q4 (Oct–Dec) · 11 of 92 days elapsed.</a:t>
            </a:r>
            <a:endParaRPr lang="en-US" sz="900" dirty="0"/>
          </a:p>
        </p:txBody>
      </p:sp>
      <p:sp>
        <p:nvSpPr>
          <p:cNvPr id="161" name="Shape 159"/>
          <p:cNvSpPr/>
          <p:nvPr/>
        </p:nvSpPr>
        <p:spPr>
          <a:xfrm>
            <a:off x="7150608" y="6510528"/>
            <a:ext cx="4626864" cy="256032"/>
          </a:xfrm>
          <a:prstGeom prst="roundRect">
            <a:avLst>
              <a:gd name="adj" fmla="val 46429"/>
            </a:avLst>
          </a:prstGeom>
          <a:solidFill>
            <a:srgbClr val="12293A"/>
          </a:solidFill>
          <a:ln/>
        </p:spPr>
      </p:sp>
      <p:sp>
        <p:nvSpPr>
          <p:cNvPr id="162" name="Text 160"/>
          <p:cNvSpPr txBox="1"/>
          <p:nvPr/>
        </p:nvSpPr>
        <p:spPr>
          <a:xfrm>
            <a:off x="7150608" y="6510528"/>
            <a:ext cx="4626864"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Sysnet extract 5–11 Oct + MRR movement register (live, 12 Oct)</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AI-Infused Products — Pipeline</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&amp; Product</a:t>
            </a:r>
            <a:endParaRPr lang="en-US" sz="1050" dirty="0"/>
          </a:p>
        </p:txBody>
      </p:sp>
      <p:sp>
        <p:nvSpPr>
          <p:cNvPr id="7" name="Shape 5"/>
          <p:cNvSpPr/>
          <p:nvPr/>
        </p:nvSpPr>
        <p:spPr>
          <a:xfrm>
            <a:off x="8686800" y="82296"/>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PIPELINE</a:t>
            </a:r>
            <a:endParaRPr lang="en-US" sz="950" dirty="0"/>
          </a:p>
        </p:txBody>
      </p:sp>
      <p:sp>
        <p:nvSpPr>
          <p:cNvPr id="17" name="Text 15"/>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400" b="1" dirty="0">
                <a:solidFill>
                  <a:srgbClr val="12293A"/>
                </a:solidFill>
                <a:latin typeface="Poppins" pitchFamily="34" charset="0"/>
                <a:ea typeface="Poppins" pitchFamily="34" charset="-122"/>
                <a:cs typeface="Poppins" pitchFamily="34" charset="-120"/>
              </a:rPr>
              <a:t>US$2,059</a:t>
            </a:r>
            <a:endParaRPr lang="en-US" sz="2400" dirty="0"/>
          </a:p>
        </p:txBody>
      </p:sp>
      <p:sp>
        <p:nvSpPr>
          <p:cNvPr id="18" name="Text 16"/>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A$2,891 · 27 deals not yet ordered</a:t>
            </a:r>
            <a:endParaRPr lang="en-US" sz="780" dirty="0"/>
          </a:p>
        </p:txBody>
      </p:sp>
      <p:sp>
        <p:nvSpPr>
          <p:cNvPr id="19" name="Shape 17"/>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ORDER PLACED</a:t>
            </a:r>
            <a:endParaRPr lang="en-US" sz="950" dirty="0"/>
          </a:p>
        </p:txBody>
      </p:sp>
      <p:sp>
        <p:nvSpPr>
          <p:cNvPr id="21" name="Text 19"/>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3D8F5F"/>
                </a:solidFill>
                <a:latin typeface="Poppins" pitchFamily="34" charset="0"/>
                <a:ea typeface="Poppins" pitchFamily="34" charset="-122"/>
                <a:cs typeface="Poppins" pitchFamily="34" charset="-120"/>
              </a:rPr>
              <a:t>US$464</a:t>
            </a:r>
            <a:endParaRPr lang="en-US" sz="2400" dirty="0"/>
          </a:p>
        </p:txBody>
      </p:sp>
      <p:sp>
        <p:nvSpPr>
          <p:cNvPr id="22" name="Text 20"/>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A$651 · 9 deals since 1 Jul</a:t>
            </a:r>
            <a:endParaRPr lang="en-US" sz="780" dirty="0"/>
          </a:p>
        </p:txBody>
      </p:sp>
      <p:sp>
        <p:nvSpPr>
          <p:cNvPr id="23" name="Shape 21"/>
          <p:cNvSpPr/>
          <p:nvPr/>
        </p:nvSpPr>
        <p:spPr>
          <a:xfrm>
            <a:off x="617220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CLOSED LOST</a:t>
            </a:r>
            <a:endParaRPr lang="en-US" sz="950" dirty="0"/>
          </a:p>
        </p:txBody>
      </p:sp>
      <p:sp>
        <p:nvSpPr>
          <p:cNvPr id="25" name="Text 23"/>
          <p:cNvSpPr txBox="1"/>
          <p:nvPr/>
        </p:nvSpPr>
        <p:spPr>
          <a:xfrm>
            <a:off x="6318504" y="1261872"/>
            <a:ext cx="2404872" cy="310896"/>
          </a:xfrm>
          <a:prstGeom prst="rect">
            <a:avLst/>
          </a:prstGeom>
          <a:noFill/>
          <a:ln/>
        </p:spPr>
        <p:txBody>
          <a:bodyPr wrap="square" lIns="0" tIns="0" rIns="0" bIns="0" rtlCol="0" anchor="ctr"/>
          <a:lstStyle/>
          <a:p>
            <a:pPr indent="0" marL="0">
              <a:buNone/>
            </a:pPr>
            <a:r>
              <a:rPr lang="en-US" sz="2400" b="1" dirty="0">
                <a:solidFill>
                  <a:srgbClr val="B4552D"/>
                </a:solidFill>
                <a:latin typeface="Poppins" pitchFamily="34" charset="0"/>
                <a:ea typeface="Poppins" pitchFamily="34" charset="-122"/>
                <a:cs typeface="Poppins" pitchFamily="34" charset="-120"/>
              </a:rPr>
              <a:t>US$360</a:t>
            </a:r>
            <a:endParaRPr lang="en-US" sz="2400" dirty="0"/>
          </a:p>
        </p:txBody>
      </p:sp>
      <p:sp>
        <p:nvSpPr>
          <p:cNvPr id="26" name="Text 24"/>
          <p:cNvSpPr txBox="1"/>
          <p:nvPr/>
        </p:nvSpPr>
        <p:spPr>
          <a:xfrm>
            <a:off x="633679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A$506 · 7 deals since 1 Jul</a:t>
            </a:r>
            <a:endParaRPr lang="en-US" sz="780" dirty="0"/>
          </a:p>
        </p:txBody>
      </p:sp>
      <p:sp>
        <p:nvSpPr>
          <p:cNvPr id="27" name="Shape 25"/>
          <p:cNvSpPr/>
          <p:nvPr/>
        </p:nvSpPr>
        <p:spPr>
          <a:xfrm>
            <a:off x="9052560" y="987552"/>
            <a:ext cx="272491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078992"/>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CONVERSION — OF CLOSED</a:t>
            </a:r>
            <a:endParaRPr lang="en-US" sz="950" dirty="0"/>
          </a:p>
        </p:txBody>
      </p:sp>
      <p:sp>
        <p:nvSpPr>
          <p:cNvPr id="29" name="Text 27"/>
          <p:cNvSpPr txBox="1"/>
          <p:nvPr/>
        </p:nvSpPr>
        <p:spPr>
          <a:xfrm>
            <a:off x="9198864" y="1261872"/>
            <a:ext cx="2432304"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56%</a:t>
            </a:r>
            <a:endParaRPr lang="en-US" sz="2400" dirty="0"/>
          </a:p>
        </p:txBody>
      </p:sp>
      <p:sp>
        <p:nvSpPr>
          <p:cNvPr id="30" name="Text 28"/>
          <p:cNvSpPr txBox="1"/>
          <p:nvPr/>
        </p:nvSpPr>
        <p:spPr>
          <a:xfrm>
            <a:off x="9217152" y="1609344"/>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9 placed / 7 lost by count · 56% by value</a:t>
            </a:r>
            <a:endParaRPr lang="en-US" sz="780" dirty="0"/>
          </a:p>
        </p:txBody>
      </p:sp>
      <p:sp>
        <p:nvSpPr>
          <p:cNvPr id="31" name="Shape 29"/>
          <p:cNvSpPr/>
          <p:nvPr/>
        </p:nvSpPr>
        <p:spPr>
          <a:xfrm>
            <a:off x="411480" y="2212848"/>
            <a:ext cx="6858000" cy="3200400"/>
          </a:xfrm>
          <a:prstGeom prst="roundRect">
            <a:avLst>
              <a:gd name="adj" fmla="val 2000"/>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304288"/>
            <a:ext cx="645566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PIPELINE BY STAGE   </a:t>
            </a:r>
            <a:pPr indent="0" marL="0">
              <a:buNone/>
            </a:pPr>
            <a:r>
              <a:rPr lang="en-US" sz="680" dirty="0">
                <a:solidFill>
                  <a:srgbClr val="8FA1AC"/>
                </a:solidFill>
                <a:latin typeface="Poppins" pitchFamily="34" charset="0"/>
                <a:ea typeface="Poppins" pitchFamily="34" charset="-122"/>
                <a:cs typeface="Poppins" pitchFamily="34" charset="-120"/>
              </a:rPr>
              <a:t>converted at 0.7122 AUD→USD</a:t>
            </a:r>
            <a:endParaRPr lang="en-US" sz="1150" dirty="0"/>
          </a:p>
        </p:txBody>
      </p:sp>
      <p:sp>
        <p:nvSpPr>
          <p:cNvPr id="33" name="Text 31"/>
          <p:cNvSpPr txBox="1"/>
          <p:nvPr/>
        </p:nvSpPr>
        <p:spPr>
          <a:xfrm>
            <a:off x="667512" y="2633472"/>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Discovery</a:t>
            </a:r>
            <a:endParaRPr lang="en-US" sz="850" dirty="0"/>
          </a:p>
        </p:txBody>
      </p:sp>
      <p:sp>
        <p:nvSpPr>
          <p:cNvPr id="34" name="Shape 32"/>
          <p:cNvSpPr/>
          <p:nvPr/>
        </p:nvSpPr>
        <p:spPr>
          <a:xfrm>
            <a:off x="1828800" y="2734056"/>
            <a:ext cx="134308" cy="182880"/>
          </a:xfrm>
          <a:prstGeom prst="roundRect">
            <a:avLst>
              <a:gd name="adj" fmla="val 54466"/>
            </a:avLst>
          </a:prstGeom>
          <a:solidFill>
            <a:srgbClr val="2C8394"/>
          </a:solidFill>
          <a:ln/>
        </p:spPr>
      </p:sp>
      <p:sp>
        <p:nvSpPr>
          <p:cNvPr id="35" name="Text 33"/>
          <p:cNvSpPr txBox="1"/>
          <p:nvPr/>
        </p:nvSpPr>
        <p:spPr>
          <a:xfrm>
            <a:off x="5669280" y="2633472"/>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US$41</a:t>
            </a:r>
            <a:endParaRPr lang="en-US" sz="900" dirty="0"/>
          </a:p>
        </p:txBody>
      </p:sp>
      <p:sp>
        <p:nvSpPr>
          <p:cNvPr id="36" name="Text 34"/>
          <p:cNvSpPr txBox="1"/>
          <p:nvPr/>
        </p:nvSpPr>
        <p:spPr>
          <a:xfrm>
            <a:off x="6583680" y="2633472"/>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 deal</a:t>
            </a:r>
            <a:endParaRPr lang="en-US" sz="750" dirty="0"/>
          </a:p>
        </p:txBody>
      </p:sp>
      <p:sp>
        <p:nvSpPr>
          <p:cNvPr id="37" name="Text 35"/>
          <p:cNvSpPr txBox="1"/>
          <p:nvPr/>
        </p:nvSpPr>
        <p:spPr>
          <a:xfrm>
            <a:off x="667512" y="2980944"/>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Quote Sent</a:t>
            </a:r>
            <a:endParaRPr lang="en-US" sz="850" dirty="0"/>
          </a:p>
        </p:txBody>
      </p:sp>
      <p:sp>
        <p:nvSpPr>
          <p:cNvPr id="38" name="Shape 36"/>
          <p:cNvSpPr/>
          <p:nvPr/>
        </p:nvSpPr>
        <p:spPr>
          <a:xfrm>
            <a:off x="1828800" y="3081528"/>
            <a:ext cx="3749040" cy="182880"/>
          </a:xfrm>
          <a:prstGeom prst="roundRect">
            <a:avLst>
              <a:gd name="adj" fmla="val 40000"/>
            </a:avLst>
          </a:prstGeom>
          <a:solidFill>
            <a:srgbClr val="2C8394"/>
          </a:solidFill>
          <a:ln/>
        </p:spPr>
      </p:sp>
      <p:sp>
        <p:nvSpPr>
          <p:cNvPr id="39" name="Text 37"/>
          <p:cNvSpPr txBox="1"/>
          <p:nvPr/>
        </p:nvSpPr>
        <p:spPr>
          <a:xfrm>
            <a:off x="5669280" y="2980944"/>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US$1,153</a:t>
            </a:r>
            <a:endParaRPr lang="en-US" sz="900" dirty="0"/>
          </a:p>
        </p:txBody>
      </p:sp>
      <p:sp>
        <p:nvSpPr>
          <p:cNvPr id="40" name="Text 38"/>
          <p:cNvSpPr txBox="1"/>
          <p:nvPr/>
        </p:nvSpPr>
        <p:spPr>
          <a:xfrm>
            <a:off x="6583680" y="2980944"/>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19 deals</a:t>
            </a:r>
            <a:endParaRPr lang="en-US" sz="750" dirty="0"/>
          </a:p>
        </p:txBody>
      </p:sp>
      <p:sp>
        <p:nvSpPr>
          <p:cNvPr id="41" name="Text 39"/>
          <p:cNvSpPr txBox="1"/>
          <p:nvPr/>
        </p:nvSpPr>
        <p:spPr>
          <a:xfrm>
            <a:off x="667512" y="3328416"/>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Negotiation</a:t>
            </a:r>
            <a:endParaRPr lang="en-US" sz="850" dirty="0"/>
          </a:p>
        </p:txBody>
      </p:sp>
      <p:sp>
        <p:nvSpPr>
          <p:cNvPr id="42" name="Shape 40"/>
          <p:cNvSpPr/>
          <p:nvPr/>
        </p:nvSpPr>
        <p:spPr>
          <a:xfrm>
            <a:off x="1828800" y="3429000"/>
            <a:ext cx="2811201" cy="182880"/>
          </a:xfrm>
          <a:prstGeom prst="roundRect">
            <a:avLst>
              <a:gd name="adj" fmla="val 40000"/>
            </a:avLst>
          </a:prstGeom>
          <a:solidFill>
            <a:srgbClr val="2C8394"/>
          </a:solidFill>
          <a:ln/>
        </p:spPr>
      </p:sp>
      <p:sp>
        <p:nvSpPr>
          <p:cNvPr id="43" name="Text 41"/>
          <p:cNvSpPr txBox="1"/>
          <p:nvPr/>
        </p:nvSpPr>
        <p:spPr>
          <a:xfrm>
            <a:off x="5669280" y="3328416"/>
            <a:ext cx="868680" cy="347472"/>
          </a:xfrm>
          <a:prstGeom prst="rect">
            <a:avLst/>
          </a:prstGeom>
          <a:noFill/>
          <a:ln/>
        </p:spPr>
        <p:txBody>
          <a:bodyPr wrap="square" lIns="0" tIns="0" rIns="0" bIns="0" rtlCol="0" anchor="ctr"/>
          <a:lstStyle/>
          <a:p>
            <a:pPr algn="r" indent="0" marL="0">
              <a:buNone/>
            </a:pPr>
            <a:r>
              <a:rPr lang="en-US" sz="900" b="1" dirty="0">
                <a:solidFill>
                  <a:srgbClr val="2C8394"/>
                </a:solidFill>
                <a:latin typeface="Poppins" pitchFamily="34" charset="0"/>
                <a:ea typeface="Poppins" pitchFamily="34" charset="-122"/>
                <a:cs typeface="Poppins" pitchFamily="34" charset="-120"/>
              </a:rPr>
              <a:t>US$865</a:t>
            </a:r>
            <a:endParaRPr lang="en-US" sz="900" dirty="0"/>
          </a:p>
        </p:txBody>
      </p:sp>
      <p:sp>
        <p:nvSpPr>
          <p:cNvPr id="44" name="Text 42"/>
          <p:cNvSpPr txBox="1"/>
          <p:nvPr/>
        </p:nvSpPr>
        <p:spPr>
          <a:xfrm>
            <a:off x="6583680" y="3328416"/>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 deals</a:t>
            </a:r>
            <a:endParaRPr lang="en-US" sz="750" dirty="0"/>
          </a:p>
        </p:txBody>
      </p:sp>
      <p:sp>
        <p:nvSpPr>
          <p:cNvPr id="45" name="Text 43"/>
          <p:cNvSpPr txBox="1"/>
          <p:nvPr/>
        </p:nvSpPr>
        <p:spPr>
          <a:xfrm>
            <a:off x="667512" y="3675888"/>
            <a:ext cx="1097280" cy="347472"/>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Order Placed</a:t>
            </a:r>
            <a:endParaRPr lang="en-US" sz="850" dirty="0"/>
          </a:p>
        </p:txBody>
      </p:sp>
      <p:sp>
        <p:nvSpPr>
          <p:cNvPr id="46" name="Shape 44"/>
          <p:cNvSpPr/>
          <p:nvPr/>
        </p:nvSpPr>
        <p:spPr>
          <a:xfrm>
            <a:off x="1828800" y="3776472"/>
            <a:ext cx="1507489" cy="182880"/>
          </a:xfrm>
          <a:prstGeom prst="roundRect">
            <a:avLst>
              <a:gd name="adj" fmla="val 40000"/>
            </a:avLst>
          </a:prstGeom>
          <a:solidFill>
            <a:srgbClr val="3D8F5F"/>
          </a:solidFill>
          <a:ln/>
        </p:spPr>
      </p:sp>
      <p:sp>
        <p:nvSpPr>
          <p:cNvPr id="47" name="Text 45"/>
          <p:cNvSpPr txBox="1"/>
          <p:nvPr/>
        </p:nvSpPr>
        <p:spPr>
          <a:xfrm>
            <a:off x="5669280" y="3675888"/>
            <a:ext cx="868680" cy="347472"/>
          </a:xfrm>
          <a:prstGeom prst="rect">
            <a:avLst/>
          </a:prstGeom>
          <a:noFill/>
          <a:ln/>
        </p:spPr>
        <p:txBody>
          <a:bodyPr wrap="square" lIns="0" tIns="0" rIns="0" bIns="0" rtlCol="0" anchor="ctr"/>
          <a:lstStyle/>
          <a:p>
            <a:pPr algn="r" indent="0" marL="0">
              <a:buNone/>
            </a:pPr>
            <a:r>
              <a:rPr lang="en-US" sz="900" b="1" dirty="0">
                <a:solidFill>
                  <a:srgbClr val="3D8F5F"/>
                </a:solidFill>
                <a:latin typeface="Poppins" pitchFamily="34" charset="0"/>
                <a:ea typeface="Poppins" pitchFamily="34" charset="-122"/>
                <a:cs typeface="Poppins" pitchFamily="34" charset="-120"/>
              </a:rPr>
              <a:t>US$464</a:t>
            </a:r>
            <a:endParaRPr lang="en-US" sz="900" dirty="0"/>
          </a:p>
        </p:txBody>
      </p:sp>
      <p:sp>
        <p:nvSpPr>
          <p:cNvPr id="48" name="Text 46"/>
          <p:cNvSpPr txBox="1"/>
          <p:nvPr/>
        </p:nvSpPr>
        <p:spPr>
          <a:xfrm>
            <a:off x="6583680" y="3675888"/>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 deals</a:t>
            </a:r>
            <a:endParaRPr lang="en-US" sz="750" dirty="0"/>
          </a:p>
        </p:txBody>
      </p:sp>
      <p:sp>
        <p:nvSpPr>
          <p:cNvPr id="49" name="Text 47"/>
          <p:cNvSpPr txBox="1"/>
          <p:nvPr/>
        </p:nvSpPr>
        <p:spPr>
          <a:xfrm>
            <a:off x="667512" y="4023360"/>
            <a:ext cx="1097280" cy="347472"/>
          </a:xfrm>
          <a:prstGeom prst="rect">
            <a:avLst/>
          </a:prstGeom>
          <a:noFill/>
          <a:ln/>
        </p:spPr>
        <p:txBody>
          <a:bodyPr wrap="square" lIns="0" tIns="0" rIns="0" bIns="0" rtlCol="0" anchor="ctr"/>
          <a:lstStyle/>
          <a:p>
            <a:pPr indent="0" marL="0">
              <a:buNone/>
            </a:pPr>
            <a:r>
              <a:rPr lang="en-US" sz="850" b="1" dirty="0">
                <a:solidFill>
                  <a:srgbClr val="5E7280"/>
                </a:solidFill>
                <a:latin typeface="Poppins" pitchFamily="34" charset="0"/>
                <a:ea typeface="Poppins" pitchFamily="34" charset="-122"/>
                <a:cs typeface="Poppins" pitchFamily="34" charset="-120"/>
              </a:rPr>
              <a:t>Closed Lost</a:t>
            </a:r>
            <a:endParaRPr lang="en-US" sz="850" dirty="0"/>
          </a:p>
        </p:txBody>
      </p:sp>
      <p:sp>
        <p:nvSpPr>
          <p:cNvPr id="50" name="Shape 48"/>
          <p:cNvSpPr/>
          <p:nvPr/>
        </p:nvSpPr>
        <p:spPr>
          <a:xfrm>
            <a:off x="1828800" y="4123944"/>
            <a:ext cx="1171720" cy="182880"/>
          </a:xfrm>
          <a:prstGeom prst="roundRect">
            <a:avLst>
              <a:gd name="adj" fmla="val 40000"/>
            </a:avLst>
          </a:prstGeom>
          <a:solidFill>
            <a:srgbClr val="B4552D"/>
          </a:solidFill>
          <a:ln/>
        </p:spPr>
      </p:sp>
      <p:sp>
        <p:nvSpPr>
          <p:cNvPr id="51" name="Text 49"/>
          <p:cNvSpPr txBox="1"/>
          <p:nvPr/>
        </p:nvSpPr>
        <p:spPr>
          <a:xfrm>
            <a:off x="5669280" y="4023360"/>
            <a:ext cx="868680" cy="347472"/>
          </a:xfrm>
          <a:prstGeom prst="rect">
            <a:avLst/>
          </a:prstGeom>
          <a:noFill/>
          <a:ln/>
        </p:spPr>
        <p:txBody>
          <a:bodyPr wrap="square" lIns="0" tIns="0" rIns="0" bIns="0" rtlCol="0" anchor="ctr"/>
          <a:lstStyle/>
          <a:p>
            <a:pPr algn="r" indent="0" marL="0">
              <a:buNone/>
            </a:pPr>
            <a:r>
              <a:rPr lang="en-US" sz="900" b="1" dirty="0">
                <a:solidFill>
                  <a:srgbClr val="B4552D"/>
                </a:solidFill>
                <a:latin typeface="Poppins" pitchFamily="34" charset="0"/>
                <a:ea typeface="Poppins" pitchFamily="34" charset="-122"/>
                <a:cs typeface="Poppins" pitchFamily="34" charset="-120"/>
              </a:rPr>
              <a:t>US$360</a:t>
            </a:r>
            <a:endParaRPr lang="en-US" sz="900" dirty="0"/>
          </a:p>
        </p:txBody>
      </p:sp>
      <p:sp>
        <p:nvSpPr>
          <p:cNvPr id="52" name="Text 50"/>
          <p:cNvSpPr txBox="1"/>
          <p:nvPr/>
        </p:nvSpPr>
        <p:spPr>
          <a:xfrm>
            <a:off x="6583680" y="4023360"/>
            <a:ext cx="658368" cy="347472"/>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 deals</a:t>
            </a:r>
            <a:endParaRPr lang="en-US" sz="750" dirty="0"/>
          </a:p>
        </p:txBody>
      </p:sp>
      <p:sp>
        <p:nvSpPr>
          <p:cNvPr id="53" name="Shape 51"/>
          <p:cNvSpPr/>
          <p:nvPr/>
        </p:nvSpPr>
        <p:spPr>
          <a:xfrm>
            <a:off x="667512" y="3653028"/>
            <a:ext cx="6345936" cy="12802"/>
          </a:xfrm>
          <a:prstGeom prst="rect">
            <a:avLst/>
          </a:prstGeom>
          <a:solidFill>
            <a:srgbClr val="3D8F5F"/>
          </a:solidFill>
          <a:ln/>
        </p:spPr>
      </p:sp>
      <p:sp>
        <p:nvSpPr>
          <p:cNvPr id="54" name="Text 52"/>
          <p:cNvSpPr txBox="1"/>
          <p:nvPr/>
        </p:nvSpPr>
        <p:spPr>
          <a:xfrm>
            <a:off x="3977640" y="3493008"/>
            <a:ext cx="1600200" cy="155448"/>
          </a:xfrm>
          <a:prstGeom prst="rect">
            <a:avLst/>
          </a:prstGeom>
          <a:noFill/>
          <a:ln/>
        </p:spPr>
        <p:txBody>
          <a:bodyPr wrap="square" lIns="0" tIns="0" rIns="0" bIns="0" rtlCol="0" anchor="ctr"/>
          <a:lstStyle/>
          <a:p>
            <a:pPr algn="r" indent="0" marL="0">
              <a:buNone/>
            </a:pPr>
            <a:r>
              <a:rPr lang="en-US" sz="600" b="1" dirty="0">
                <a:solidFill>
                  <a:srgbClr val="2C8394"/>
                </a:solidFill>
                <a:latin typeface="Poppins" pitchFamily="34" charset="0"/>
                <a:ea typeface="Poppins" pitchFamily="34" charset="-122"/>
                <a:cs typeface="Poppins" pitchFamily="34" charset="-120"/>
              </a:rPr>
              <a:t>▲  NOT ORDER PLACED</a:t>
            </a:r>
            <a:endParaRPr lang="en-US" sz="600" dirty="0"/>
          </a:p>
        </p:txBody>
      </p:sp>
      <p:sp>
        <p:nvSpPr>
          <p:cNvPr id="55" name="Text 53"/>
          <p:cNvSpPr txBox="1"/>
          <p:nvPr/>
        </p:nvSpPr>
        <p:spPr>
          <a:xfrm>
            <a:off x="3977640" y="3703320"/>
            <a:ext cx="1600200" cy="155448"/>
          </a:xfrm>
          <a:prstGeom prst="rect">
            <a:avLst/>
          </a:prstGeom>
          <a:noFill/>
          <a:ln/>
        </p:spPr>
        <p:txBody>
          <a:bodyPr wrap="square" lIns="0" tIns="0" rIns="0" bIns="0" rtlCol="0" anchor="ctr"/>
          <a:lstStyle/>
          <a:p>
            <a:pPr algn="r" indent="0" marL="0">
              <a:buNone/>
            </a:pPr>
            <a:r>
              <a:rPr lang="en-US" sz="600" b="1" dirty="0">
                <a:solidFill>
                  <a:srgbClr val="3D8F5F"/>
                </a:solidFill>
                <a:latin typeface="Poppins" pitchFamily="34" charset="0"/>
                <a:ea typeface="Poppins" pitchFamily="34" charset="-122"/>
                <a:cs typeface="Poppins" pitchFamily="34" charset="-120"/>
              </a:rPr>
              <a:t>▼  ORDER PLACED</a:t>
            </a:r>
            <a:endParaRPr lang="en-US" sz="600" dirty="0"/>
          </a:p>
        </p:txBody>
      </p:sp>
      <p:sp>
        <p:nvSpPr>
          <p:cNvPr id="56" name="Text 54"/>
          <p:cNvSpPr txBox="1"/>
          <p:nvPr/>
        </p:nvSpPr>
        <p:spPr>
          <a:xfrm>
            <a:off x="667512" y="4517136"/>
            <a:ext cx="2743200" cy="182880"/>
          </a:xfrm>
          <a:prstGeom prst="rect">
            <a:avLst/>
          </a:prstGeom>
          <a:noFill/>
          <a:ln/>
        </p:spPr>
        <p:txBody>
          <a:bodyPr wrap="square" lIns="0" tIns="0" rIns="0" bIns="0" rtlCol="0" anchor="ctr"/>
          <a:lstStyle/>
          <a:p>
            <a:pPr indent="0" marL="0">
              <a:buNone/>
            </a:pPr>
            <a:r>
              <a:rPr lang="en-US" sz="800" b="1" dirty="0">
                <a:solidFill>
                  <a:srgbClr val="2C8394"/>
                </a:solidFill>
                <a:latin typeface="Poppins" pitchFamily="34" charset="0"/>
                <a:ea typeface="Poppins" pitchFamily="34" charset="-122"/>
                <a:cs typeface="Poppins" pitchFamily="34" charset="-120"/>
              </a:rPr>
              <a:t>ORDER PLACED VS NOT — SHARE</a:t>
            </a:r>
            <a:endParaRPr lang="en-US" sz="800" dirty="0"/>
          </a:p>
        </p:txBody>
      </p:sp>
      <p:sp>
        <p:nvSpPr>
          <p:cNvPr id="57" name="Text 55"/>
          <p:cNvSpPr txBox="1"/>
          <p:nvPr/>
        </p:nvSpPr>
        <p:spPr>
          <a:xfrm>
            <a:off x="667512" y="4754880"/>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VALUE</a:t>
            </a:r>
            <a:endParaRPr lang="en-US" sz="700" dirty="0"/>
          </a:p>
        </p:txBody>
      </p:sp>
      <p:sp>
        <p:nvSpPr>
          <p:cNvPr id="58" name="Shape 56"/>
          <p:cNvSpPr/>
          <p:nvPr/>
        </p:nvSpPr>
        <p:spPr>
          <a:xfrm>
            <a:off x="1828800" y="4800600"/>
            <a:ext cx="764681" cy="164592"/>
          </a:xfrm>
          <a:prstGeom prst="rect">
            <a:avLst/>
          </a:prstGeom>
          <a:solidFill>
            <a:srgbClr val="3D8F5F"/>
          </a:solidFill>
          <a:ln/>
        </p:spPr>
      </p:sp>
      <p:sp>
        <p:nvSpPr>
          <p:cNvPr id="59" name="Text 57"/>
          <p:cNvSpPr txBox="1"/>
          <p:nvPr/>
        </p:nvSpPr>
        <p:spPr>
          <a:xfrm>
            <a:off x="1828800" y="4782312"/>
            <a:ext cx="764681"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16%</a:t>
            </a:r>
            <a:endParaRPr lang="en-US" sz="650" dirty="0"/>
          </a:p>
        </p:txBody>
      </p:sp>
      <p:sp>
        <p:nvSpPr>
          <p:cNvPr id="60" name="Shape 58"/>
          <p:cNvSpPr/>
          <p:nvPr/>
        </p:nvSpPr>
        <p:spPr>
          <a:xfrm>
            <a:off x="2611769" y="4800600"/>
            <a:ext cx="3395839" cy="164592"/>
          </a:xfrm>
          <a:prstGeom prst="rect">
            <a:avLst/>
          </a:prstGeom>
          <a:solidFill>
            <a:srgbClr val="2C8394"/>
          </a:solidFill>
          <a:ln/>
        </p:spPr>
      </p:sp>
      <p:sp>
        <p:nvSpPr>
          <p:cNvPr id="61" name="Text 59"/>
          <p:cNvSpPr txBox="1"/>
          <p:nvPr/>
        </p:nvSpPr>
        <p:spPr>
          <a:xfrm>
            <a:off x="2611769" y="4782312"/>
            <a:ext cx="3395839"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71%</a:t>
            </a:r>
            <a:endParaRPr lang="en-US" sz="650" dirty="0"/>
          </a:p>
        </p:txBody>
      </p:sp>
      <p:sp>
        <p:nvSpPr>
          <p:cNvPr id="62" name="Shape 60"/>
          <p:cNvSpPr/>
          <p:nvPr/>
        </p:nvSpPr>
        <p:spPr>
          <a:xfrm>
            <a:off x="6025896" y="4800600"/>
            <a:ext cx="594360" cy="164592"/>
          </a:xfrm>
          <a:prstGeom prst="rect">
            <a:avLst/>
          </a:prstGeom>
          <a:solidFill>
            <a:srgbClr val="B4552D"/>
          </a:solidFill>
          <a:ln/>
        </p:spPr>
      </p:sp>
      <p:sp>
        <p:nvSpPr>
          <p:cNvPr id="63" name="Text 61"/>
          <p:cNvSpPr txBox="1"/>
          <p:nvPr/>
        </p:nvSpPr>
        <p:spPr>
          <a:xfrm>
            <a:off x="6025896" y="4782312"/>
            <a:ext cx="59436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13%</a:t>
            </a:r>
            <a:endParaRPr lang="en-US" sz="650" dirty="0"/>
          </a:p>
        </p:txBody>
      </p:sp>
      <p:sp>
        <p:nvSpPr>
          <p:cNvPr id="64" name="Text 62"/>
          <p:cNvSpPr txBox="1"/>
          <p:nvPr/>
        </p:nvSpPr>
        <p:spPr>
          <a:xfrm>
            <a:off x="667512" y="5065776"/>
            <a:ext cx="1097280" cy="237744"/>
          </a:xfrm>
          <a:prstGeom prst="rect">
            <a:avLst/>
          </a:prstGeom>
          <a:noFill/>
          <a:ln/>
        </p:spPr>
        <p:txBody>
          <a:bodyPr wrap="square" lIns="0" tIns="0" rIns="0" bIns="0" rtlCol="0" anchor="ctr"/>
          <a:lstStyle/>
          <a:p>
            <a:pPr indent="0" marL="0">
              <a:buNone/>
            </a:pPr>
            <a:r>
              <a:rPr lang="en-US" sz="700" b="1" dirty="0">
                <a:solidFill>
                  <a:srgbClr val="8FA1AC"/>
                </a:solidFill>
                <a:latin typeface="Poppins" pitchFamily="34" charset="0"/>
                <a:ea typeface="Poppins" pitchFamily="34" charset="-122"/>
                <a:cs typeface="Poppins" pitchFamily="34" charset="-120"/>
              </a:rPr>
              <a:t>BY DEALS</a:t>
            </a:r>
            <a:endParaRPr lang="en-US" sz="700" dirty="0"/>
          </a:p>
        </p:txBody>
      </p:sp>
      <p:sp>
        <p:nvSpPr>
          <p:cNvPr id="65" name="Shape 63"/>
          <p:cNvSpPr/>
          <p:nvPr/>
        </p:nvSpPr>
        <p:spPr>
          <a:xfrm>
            <a:off x="1828800" y="5111496"/>
            <a:ext cx="995207" cy="164592"/>
          </a:xfrm>
          <a:prstGeom prst="rect">
            <a:avLst/>
          </a:prstGeom>
          <a:solidFill>
            <a:srgbClr val="3D8F5F"/>
          </a:solidFill>
          <a:ln/>
        </p:spPr>
      </p:sp>
      <p:sp>
        <p:nvSpPr>
          <p:cNvPr id="66" name="Text 64"/>
          <p:cNvSpPr txBox="1"/>
          <p:nvPr/>
        </p:nvSpPr>
        <p:spPr>
          <a:xfrm>
            <a:off x="1828800" y="5093208"/>
            <a:ext cx="995207"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21%</a:t>
            </a:r>
            <a:endParaRPr lang="en-US" sz="650" dirty="0"/>
          </a:p>
        </p:txBody>
      </p:sp>
      <p:sp>
        <p:nvSpPr>
          <p:cNvPr id="67" name="Shape 65"/>
          <p:cNvSpPr/>
          <p:nvPr/>
        </p:nvSpPr>
        <p:spPr>
          <a:xfrm>
            <a:off x="2842295" y="5111496"/>
            <a:ext cx="2985622" cy="164592"/>
          </a:xfrm>
          <a:prstGeom prst="rect">
            <a:avLst/>
          </a:prstGeom>
          <a:solidFill>
            <a:srgbClr val="2C8394"/>
          </a:solidFill>
          <a:ln/>
        </p:spPr>
      </p:sp>
      <p:sp>
        <p:nvSpPr>
          <p:cNvPr id="68" name="Text 66"/>
          <p:cNvSpPr txBox="1"/>
          <p:nvPr/>
        </p:nvSpPr>
        <p:spPr>
          <a:xfrm>
            <a:off x="2842295" y="5093208"/>
            <a:ext cx="2985622"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63%</a:t>
            </a:r>
            <a:endParaRPr lang="en-US" sz="650" dirty="0"/>
          </a:p>
        </p:txBody>
      </p:sp>
      <p:sp>
        <p:nvSpPr>
          <p:cNvPr id="69" name="Shape 67"/>
          <p:cNvSpPr/>
          <p:nvPr/>
        </p:nvSpPr>
        <p:spPr>
          <a:xfrm>
            <a:off x="5846206" y="5111496"/>
            <a:ext cx="774050" cy="164592"/>
          </a:xfrm>
          <a:prstGeom prst="rect">
            <a:avLst/>
          </a:prstGeom>
          <a:solidFill>
            <a:srgbClr val="B4552D"/>
          </a:solidFill>
          <a:ln/>
        </p:spPr>
      </p:sp>
      <p:sp>
        <p:nvSpPr>
          <p:cNvPr id="70" name="Text 68"/>
          <p:cNvSpPr txBox="1"/>
          <p:nvPr/>
        </p:nvSpPr>
        <p:spPr>
          <a:xfrm>
            <a:off x="5846206" y="5093208"/>
            <a:ext cx="774050" cy="201168"/>
          </a:xfrm>
          <a:prstGeom prst="rect">
            <a:avLst/>
          </a:prstGeom>
          <a:noFill/>
          <a:ln/>
        </p:spPr>
        <p:txBody>
          <a:bodyPr wrap="square" lIns="0" tIns="0" rIns="0" bIns="0" rtlCol="0" anchor="ctr"/>
          <a:lstStyle/>
          <a:p>
            <a:pPr algn="ctr" indent="0" marL="0">
              <a:buNone/>
            </a:pPr>
            <a:r>
              <a:rPr lang="en-US" sz="650" b="1" dirty="0">
                <a:solidFill>
                  <a:srgbClr val="FFFFFF"/>
                </a:solidFill>
                <a:latin typeface="Poppins" pitchFamily="34" charset="0"/>
                <a:ea typeface="Poppins" pitchFamily="34" charset="-122"/>
                <a:cs typeface="Poppins" pitchFamily="34" charset="-120"/>
              </a:rPr>
              <a:t>16%</a:t>
            </a:r>
            <a:endParaRPr lang="en-US" sz="650" dirty="0"/>
          </a:p>
        </p:txBody>
      </p:sp>
      <p:sp>
        <p:nvSpPr>
          <p:cNvPr id="71" name="Shape 69"/>
          <p:cNvSpPr/>
          <p:nvPr/>
        </p:nvSpPr>
        <p:spPr>
          <a:xfrm>
            <a:off x="3657600" y="4562856"/>
            <a:ext cx="91440" cy="91440"/>
          </a:xfrm>
          <a:prstGeom prst="rect">
            <a:avLst/>
          </a:prstGeom>
          <a:solidFill>
            <a:srgbClr val="3D8F5F"/>
          </a:solidFill>
          <a:ln/>
        </p:spPr>
      </p:sp>
      <p:sp>
        <p:nvSpPr>
          <p:cNvPr id="72" name="Text 70"/>
          <p:cNvSpPr txBox="1"/>
          <p:nvPr/>
        </p:nvSpPr>
        <p:spPr>
          <a:xfrm>
            <a:off x="378561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Order placed</a:t>
            </a:r>
            <a:endParaRPr lang="en-US" sz="630" dirty="0"/>
          </a:p>
        </p:txBody>
      </p:sp>
      <p:sp>
        <p:nvSpPr>
          <p:cNvPr id="73" name="Shape 71"/>
          <p:cNvSpPr/>
          <p:nvPr/>
        </p:nvSpPr>
        <p:spPr>
          <a:xfrm>
            <a:off x="4754880" y="4562856"/>
            <a:ext cx="91440" cy="91440"/>
          </a:xfrm>
          <a:prstGeom prst="rect">
            <a:avLst/>
          </a:prstGeom>
          <a:solidFill>
            <a:srgbClr val="2C8394"/>
          </a:solidFill>
          <a:ln/>
        </p:spPr>
      </p:sp>
      <p:sp>
        <p:nvSpPr>
          <p:cNvPr id="74" name="Text 72"/>
          <p:cNvSpPr txBox="1"/>
          <p:nvPr/>
        </p:nvSpPr>
        <p:spPr>
          <a:xfrm>
            <a:off x="488289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Still open</a:t>
            </a:r>
            <a:endParaRPr lang="en-US" sz="630" dirty="0"/>
          </a:p>
        </p:txBody>
      </p:sp>
      <p:sp>
        <p:nvSpPr>
          <p:cNvPr id="75" name="Shape 73"/>
          <p:cNvSpPr/>
          <p:nvPr/>
        </p:nvSpPr>
        <p:spPr>
          <a:xfrm>
            <a:off x="5852160" y="4562856"/>
            <a:ext cx="91440" cy="91440"/>
          </a:xfrm>
          <a:prstGeom prst="rect">
            <a:avLst/>
          </a:prstGeom>
          <a:solidFill>
            <a:srgbClr val="B4552D"/>
          </a:solidFill>
          <a:ln/>
        </p:spPr>
      </p:sp>
      <p:sp>
        <p:nvSpPr>
          <p:cNvPr id="76" name="Text 74"/>
          <p:cNvSpPr txBox="1"/>
          <p:nvPr/>
        </p:nvSpPr>
        <p:spPr>
          <a:xfrm>
            <a:off x="5980176" y="4517136"/>
            <a:ext cx="9144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Closed lost</a:t>
            </a:r>
            <a:endParaRPr lang="en-US" sz="630" dirty="0"/>
          </a:p>
        </p:txBody>
      </p:sp>
      <p:sp>
        <p:nvSpPr>
          <p:cNvPr id="77" name="Shape 75"/>
          <p:cNvSpPr/>
          <p:nvPr/>
        </p:nvSpPr>
        <p:spPr>
          <a:xfrm>
            <a:off x="7452360" y="2212848"/>
            <a:ext cx="4325112" cy="1828800"/>
          </a:xfrm>
          <a:prstGeom prst="roundRect">
            <a:avLst>
              <a:gd name="adj" fmla="val 3500"/>
            </a:avLst>
          </a:prstGeom>
          <a:solidFill>
            <a:srgbClr val="FFFFFF"/>
          </a:solidFill>
          <a:ln/>
          <a:effectLst>
            <a:outerShdw sx="100000" sy="100000" kx="0" ky="0" algn="bl" rotWithShape="0" blurRad="76200" dist="25400" dir="5400000">
              <a:srgbClr val="9AAAB5">
                <a:alpha val="35000"/>
              </a:srgbClr>
            </a:outerShdw>
          </a:effectLst>
        </p:spPr>
      </p:sp>
      <p:sp>
        <p:nvSpPr>
          <p:cNvPr id="78" name="Text 76"/>
          <p:cNvSpPr txBox="1"/>
          <p:nvPr/>
        </p:nvSpPr>
        <p:spPr>
          <a:xfrm>
            <a:off x="7653528" y="2322576"/>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BY PRODUCT</a:t>
            </a:r>
            <a:endParaRPr lang="en-US" sz="1200" dirty="0"/>
          </a:p>
        </p:txBody>
      </p:sp>
      <p:sp>
        <p:nvSpPr>
          <p:cNvPr id="79" name="Text 77"/>
          <p:cNvSpPr txBox="1"/>
          <p:nvPr/>
        </p:nvSpPr>
        <p:spPr>
          <a:xfrm>
            <a:off x="7653528" y="2596896"/>
            <a:ext cx="18745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PRODUCT</a:t>
            </a:r>
            <a:endParaRPr lang="en-US" sz="650" dirty="0"/>
          </a:p>
        </p:txBody>
      </p:sp>
      <p:sp>
        <p:nvSpPr>
          <p:cNvPr id="80" name="Text 78"/>
          <p:cNvSpPr txBox="1"/>
          <p:nvPr/>
        </p:nvSpPr>
        <p:spPr>
          <a:xfrm>
            <a:off x="960120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OPEN</a:t>
            </a:r>
            <a:endParaRPr lang="en-US" sz="650" dirty="0"/>
          </a:p>
        </p:txBody>
      </p:sp>
      <p:sp>
        <p:nvSpPr>
          <p:cNvPr id="81" name="Text 79"/>
          <p:cNvSpPr txBox="1"/>
          <p:nvPr/>
        </p:nvSpPr>
        <p:spPr>
          <a:xfrm>
            <a:off x="10332720" y="2596896"/>
            <a:ext cx="658368"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PLACED</a:t>
            </a:r>
            <a:endParaRPr lang="en-US" sz="650" dirty="0"/>
          </a:p>
        </p:txBody>
      </p:sp>
      <p:sp>
        <p:nvSpPr>
          <p:cNvPr id="82" name="Text 80"/>
          <p:cNvSpPr txBox="1"/>
          <p:nvPr/>
        </p:nvSpPr>
        <p:spPr>
          <a:xfrm>
            <a:off x="11064240" y="2596896"/>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LOST</a:t>
            </a:r>
            <a:endParaRPr lang="en-US" sz="650" dirty="0"/>
          </a:p>
        </p:txBody>
      </p:sp>
      <p:sp>
        <p:nvSpPr>
          <p:cNvPr id="83" name="Text 81"/>
          <p:cNvSpPr txBox="1"/>
          <p:nvPr/>
        </p:nvSpPr>
        <p:spPr>
          <a:xfrm>
            <a:off x="7653528" y="2798064"/>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H&amp;L ROAM Monthly</a:t>
            </a:r>
            <a:endParaRPr lang="en-US" sz="750" dirty="0"/>
          </a:p>
        </p:txBody>
      </p:sp>
      <p:sp>
        <p:nvSpPr>
          <p:cNvPr id="84" name="Text 82"/>
          <p:cNvSpPr txBox="1"/>
          <p:nvPr/>
        </p:nvSpPr>
        <p:spPr>
          <a:xfrm>
            <a:off x="7653528" y="2935224"/>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$29–31/unit/mo · all the order volume</a:t>
            </a:r>
            <a:endParaRPr lang="en-US" sz="530" dirty="0"/>
          </a:p>
        </p:txBody>
      </p:sp>
      <p:sp>
        <p:nvSpPr>
          <p:cNvPr id="85" name="Text 83"/>
          <p:cNvSpPr txBox="1"/>
          <p:nvPr/>
        </p:nvSpPr>
        <p:spPr>
          <a:xfrm>
            <a:off x="9601200" y="2798064"/>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US$1,207</a:t>
            </a:r>
            <a:endParaRPr lang="en-US" sz="750" dirty="0"/>
          </a:p>
        </p:txBody>
      </p:sp>
      <p:sp>
        <p:nvSpPr>
          <p:cNvPr id="86" name="Text 84"/>
          <p:cNvSpPr txBox="1"/>
          <p:nvPr/>
        </p:nvSpPr>
        <p:spPr>
          <a:xfrm>
            <a:off x="10332720" y="2798064"/>
            <a:ext cx="658368"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US$464</a:t>
            </a:r>
            <a:endParaRPr lang="en-US" sz="750" dirty="0"/>
          </a:p>
        </p:txBody>
      </p:sp>
      <p:sp>
        <p:nvSpPr>
          <p:cNvPr id="87" name="Text 85"/>
          <p:cNvSpPr txBox="1"/>
          <p:nvPr/>
        </p:nvSpPr>
        <p:spPr>
          <a:xfrm>
            <a:off x="11064240" y="2798064"/>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US$147</a:t>
            </a:r>
            <a:endParaRPr lang="en-US" sz="750" dirty="0"/>
          </a:p>
        </p:txBody>
      </p:sp>
      <p:sp>
        <p:nvSpPr>
          <p:cNvPr id="88" name="Text 86"/>
          <p:cNvSpPr txBox="1"/>
          <p:nvPr/>
        </p:nvSpPr>
        <p:spPr>
          <a:xfrm>
            <a:off x="7653528" y="3099816"/>
            <a:ext cx="1874520" cy="182880"/>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Sentinel Reporting</a:t>
            </a:r>
            <a:endParaRPr lang="en-US" sz="750" dirty="0"/>
          </a:p>
        </p:txBody>
      </p:sp>
      <p:sp>
        <p:nvSpPr>
          <p:cNvPr id="89" name="Text 87"/>
          <p:cNvSpPr txBox="1"/>
          <p:nvPr/>
        </p:nvSpPr>
        <p:spPr>
          <a:xfrm>
            <a:off x="7653528" y="3236976"/>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$299/unit licence · still no orders</a:t>
            </a:r>
            <a:endParaRPr lang="en-US" sz="530" dirty="0"/>
          </a:p>
        </p:txBody>
      </p:sp>
      <p:sp>
        <p:nvSpPr>
          <p:cNvPr id="90" name="Text 88"/>
          <p:cNvSpPr txBox="1"/>
          <p:nvPr/>
        </p:nvSpPr>
        <p:spPr>
          <a:xfrm>
            <a:off x="9601200" y="3099816"/>
            <a:ext cx="658368" cy="18288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US$852</a:t>
            </a:r>
            <a:endParaRPr lang="en-US" sz="750" dirty="0"/>
          </a:p>
        </p:txBody>
      </p:sp>
      <p:sp>
        <p:nvSpPr>
          <p:cNvPr id="91" name="Text 89"/>
          <p:cNvSpPr txBox="1"/>
          <p:nvPr/>
        </p:nvSpPr>
        <p:spPr>
          <a:xfrm>
            <a:off x="10332720" y="3099816"/>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2" name="Text 90"/>
          <p:cNvSpPr txBox="1"/>
          <p:nvPr/>
        </p:nvSpPr>
        <p:spPr>
          <a:xfrm>
            <a:off x="11064240" y="3099816"/>
            <a:ext cx="548640" cy="182880"/>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US$213</a:t>
            </a:r>
            <a:endParaRPr lang="en-US" sz="750" dirty="0"/>
          </a:p>
        </p:txBody>
      </p:sp>
      <p:sp>
        <p:nvSpPr>
          <p:cNvPr id="93" name="Text 91"/>
          <p:cNvSpPr txBox="1"/>
          <p:nvPr/>
        </p:nvSpPr>
        <p:spPr>
          <a:xfrm>
            <a:off x="7653528" y="3401568"/>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QR Ordering (OrderNow)</a:t>
            </a:r>
            <a:endParaRPr lang="en-US" sz="750" dirty="0"/>
          </a:p>
        </p:txBody>
      </p:sp>
      <p:sp>
        <p:nvSpPr>
          <p:cNvPr id="94" name="Text 92"/>
          <p:cNvSpPr txBox="1"/>
          <p:nvPr/>
        </p:nvSpPr>
        <p:spPr>
          <a:xfrm>
            <a:off x="7653528" y="3538728"/>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every line priced $0 — value understated</a:t>
            </a:r>
            <a:endParaRPr lang="en-US" sz="530" dirty="0"/>
          </a:p>
        </p:txBody>
      </p:sp>
      <p:sp>
        <p:nvSpPr>
          <p:cNvPr id="95" name="Text 93"/>
          <p:cNvSpPr txBox="1"/>
          <p:nvPr/>
        </p:nvSpPr>
        <p:spPr>
          <a:xfrm>
            <a:off x="960120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6" name="Text 94"/>
          <p:cNvSpPr txBox="1"/>
          <p:nvPr/>
        </p:nvSpPr>
        <p:spPr>
          <a:xfrm>
            <a:off x="10332720" y="3401568"/>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7" name="Text 95"/>
          <p:cNvSpPr txBox="1"/>
          <p:nvPr/>
        </p:nvSpPr>
        <p:spPr>
          <a:xfrm>
            <a:off x="11064240" y="3401568"/>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98" name="Text 96"/>
          <p:cNvSpPr txBox="1"/>
          <p:nvPr/>
        </p:nvSpPr>
        <p:spPr>
          <a:xfrm>
            <a:off x="7653528" y="3703320"/>
            <a:ext cx="1874520" cy="182880"/>
          </a:xfrm>
          <a:prstGeom prst="rect">
            <a:avLst/>
          </a:prstGeom>
          <a:noFill/>
          <a:ln/>
        </p:spPr>
        <p:txBody>
          <a:bodyPr wrap="square" lIns="0" tIns="0" rIns="0" bIns="0" rtlCol="0" anchor="ctr"/>
          <a:lstStyle/>
          <a:p>
            <a:pPr indent="0" marL="0">
              <a:buNone/>
            </a:pPr>
            <a:r>
              <a:rPr lang="en-US" sz="750" b="1" dirty="0">
                <a:solidFill>
                  <a:srgbClr val="8FA1AC"/>
                </a:solidFill>
                <a:latin typeface="Poppins" pitchFamily="34" charset="0"/>
                <a:ea typeface="Poppins" pitchFamily="34" charset="-122"/>
                <a:cs typeface="Poppins" pitchFamily="34" charset="-120"/>
              </a:rPr>
              <a:t>H&amp;L ROAM Annual</a:t>
            </a:r>
            <a:endParaRPr lang="en-US" sz="750" dirty="0"/>
          </a:p>
        </p:txBody>
      </p:sp>
      <p:sp>
        <p:nvSpPr>
          <p:cNvPr id="99" name="Text 97"/>
          <p:cNvSpPr txBox="1"/>
          <p:nvPr/>
        </p:nvSpPr>
        <p:spPr>
          <a:xfrm>
            <a:off x="7653528" y="3840480"/>
            <a:ext cx="1920240" cy="137160"/>
          </a:xfrm>
          <a:prstGeom prst="rect">
            <a:avLst/>
          </a:prstGeom>
          <a:noFill/>
          <a:ln/>
        </p:spPr>
        <p:txBody>
          <a:bodyPr wrap="square" lIns="0" tIns="0" rIns="0" bIns="0" rtlCol="0" anchor="ctr"/>
          <a:lstStyle/>
          <a:p>
            <a:pPr indent="0" marL="0">
              <a:buNone/>
            </a:pPr>
            <a:r>
              <a:rPr lang="en-US" sz="530" dirty="0">
                <a:solidFill>
                  <a:srgbClr val="8FA1AC"/>
                </a:solidFill>
                <a:latin typeface="Poppins" pitchFamily="34" charset="0"/>
                <a:ea typeface="Poppins" pitchFamily="34" charset="-122"/>
                <a:cs typeface="Poppins" pitchFamily="34" charset="-120"/>
              </a:rPr>
              <a:t>flagged but no line items anywhere</a:t>
            </a:r>
            <a:endParaRPr lang="en-US" sz="530" dirty="0"/>
          </a:p>
        </p:txBody>
      </p:sp>
      <p:sp>
        <p:nvSpPr>
          <p:cNvPr id="100" name="Text 98"/>
          <p:cNvSpPr txBox="1"/>
          <p:nvPr/>
        </p:nvSpPr>
        <p:spPr>
          <a:xfrm>
            <a:off x="960120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1" name="Text 99"/>
          <p:cNvSpPr txBox="1"/>
          <p:nvPr/>
        </p:nvSpPr>
        <p:spPr>
          <a:xfrm>
            <a:off x="10332720" y="3703320"/>
            <a:ext cx="658368"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2" name="Text 100"/>
          <p:cNvSpPr txBox="1"/>
          <p:nvPr/>
        </p:nvSpPr>
        <p:spPr>
          <a:xfrm>
            <a:off x="11064240" y="3703320"/>
            <a:ext cx="548640" cy="18288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3" name="Shape 101"/>
          <p:cNvSpPr/>
          <p:nvPr/>
        </p:nvSpPr>
        <p:spPr>
          <a:xfrm>
            <a:off x="7452360" y="4169664"/>
            <a:ext cx="4325112" cy="1078992"/>
          </a:xfrm>
          <a:prstGeom prst="roundRect">
            <a:avLst>
              <a:gd name="adj" fmla="val 5932"/>
            </a:avLst>
          </a:prstGeom>
          <a:solidFill>
            <a:srgbClr val="FFFFFF"/>
          </a:solidFill>
          <a:ln/>
          <a:effectLst>
            <a:outerShdw sx="100000" sy="100000" kx="0" ky="0" algn="bl" rotWithShape="0" blurRad="76200" dist="25400" dir="5400000">
              <a:srgbClr val="9AAAB5">
                <a:alpha val="35000"/>
              </a:srgbClr>
            </a:outerShdw>
          </a:effectLst>
        </p:spPr>
      </p:sp>
      <p:sp>
        <p:nvSpPr>
          <p:cNvPr id="104" name="Text 102"/>
          <p:cNvSpPr txBox="1"/>
          <p:nvPr/>
        </p:nvSpPr>
        <p:spPr>
          <a:xfrm>
            <a:off x="7653528" y="4242816"/>
            <a:ext cx="3922776" cy="201168"/>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ANNUALISED VIEW</a:t>
            </a:r>
            <a:endParaRPr lang="en-US" sz="900" dirty="0"/>
          </a:p>
        </p:txBody>
      </p:sp>
      <p:sp>
        <p:nvSpPr>
          <p:cNvPr id="105" name="Text 103"/>
          <p:cNvSpPr txBox="1"/>
          <p:nvPr/>
        </p:nvSpPr>
        <p:spPr>
          <a:xfrm>
            <a:off x="7653528" y="4462272"/>
            <a:ext cx="1600200" cy="384048"/>
          </a:xfrm>
          <a:prstGeom prst="rect">
            <a:avLst/>
          </a:prstGeom>
          <a:noFill/>
          <a:ln/>
        </p:spPr>
        <p:txBody>
          <a:bodyPr wrap="square" lIns="0" tIns="0" rIns="0" bIns="0" rtlCol="0" anchor="ctr"/>
          <a:lstStyle/>
          <a:p>
            <a:pPr indent="0" marL="0">
              <a:buNone/>
            </a:pPr>
            <a:r>
              <a:rPr lang="en-US" sz="1800" b="1" dirty="0">
                <a:solidFill>
                  <a:srgbClr val="2C8394"/>
                </a:solidFill>
                <a:latin typeface="Poppins" pitchFamily="34" charset="0"/>
                <a:ea typeface="Poppins" pitchFamily="34" charset="-122"/>
                <a:cs typeface="Poppins" pitchFamily="34" charset="-120"/>
              </a:rPr>
              <a:t>US$14,486</a:t>
            </a:r>
            <a:endParaRPr lang="en-US" sz="1800" dirty="0"/>
          </a:p>
        </p:txBody>
      </p:sp>
      <p:sp>
        <p:nvSpPr>
          <p:cNvPr id="106" name="Text 104"/>
          <p:cNvSpPr txBox="1"/>
          <p:nvPr/>
        </p:nvSpPr>
        <p:spPr>
          <a:xfrm>
            <a:off x="9326880" y="4443984"/>
            <a:ext cx="2221992" cy="45720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open ROAM pipeline at ×12 (A$20,340) — the contract value behind the US$2,059 of monthly lines</a:t>
            </a:r>
            <a:endParaRPr lang="en-US" sz="700" dirty="0"/>
          </a:p>
        </p:txBody>
      </p:sp>
      <p:sp>
        <p:nvSpPr>
          <p:cNvPr id="107" name="Text 105"/>
          <p:cNvSpPr txBox="1"/>
          <p:nvPr/>
        </p:nvSpPr>
        <p:spPr>
          <a:xfrm>
            <a:off x="7653528" y="4901184"/>
            <a:ext cx="3922776" cy="274320"/>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AUD→USD 0.7122 (mid-market close 20 Sep 2026) — rate three weeks stale; HubSpot holds no USD field</a:t>
            </a:r>
            <a:endParaRPr lang="en-US" sz="580" dirty="0"/>
          </a:p>
        </p:txBody>
      </p:sp>
      <p:sp>
        <p:nvSpPr>
          <p:cNvPr id="108" name="Shape 106"/>
          <p:cNvSpPr/>
          <p:nvPr/>
        </p:nvSpPr>
        <p:spPr>
          <a:xfrm>
            <a:off x="411480" y="5413248"/>
            <a:ext cx="11365992" cy="1042416"/>
          </a:xfrm>
          <a:prstGeom prst="roundRect">
            <a:avLst>
              <a:gd name="adj" fmla="val 6140"/>
            </a:avLst>
          </a:prstGeom>
          <a:solidFill>
            <a:srgbClr val="FFFFFF"/>
          </a:solidFill>
          <a:ln/>
          <a:effectLst>
            <a:outerShdw sx="100000" sy="100000" kx="0" ky="0" algn="bl" rotWithShape="0" blurRad="76200" dist="25400" dir="5400000">
              <a:srgbClr val="9AAAB5">
                <a:alpha val="35000"/>
              </a:srgbClr>
            </a:outerShdw>
          </a:effectLst>
        </p:spPr>
      </p:sp>
      <p:sp>
        <p:nvSpPr>
          <p:cNvPr id="109" name="Text 107"/>
          <p:cNvSpPr txBox="1"/>
          <p:nvPr/>
        </p:nvSpPr>
        <p:spPr>
          <a:xfrm>
            <a:off x="612648" y="5522976"/>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10" name="Text 108"/>
          <p:cNvSpPr txBox="1"/>
          <p:nvPr/>
        </p:nvSpPr>
        <p:spPr>
          <a:xfrm>
            <a:off x="612648" y="5833872"/>
            <a:ext cx="10954512" cy="493776"/>
          </a:xfrm>
          <a:prstGeom prst="rect">
            <a:avLst/>
          </a:prstGeom>
          <a:noFill/>
          <a:ln/>
        </p:spPr>
        <p:txBody>
          <a:bodyPr wrap="square" lIns="0" tIns="0" rIns="0" bIns="0" rtlCol="0" anchor="t"/>
          <a:lstStyle/>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Conversion is real but tiny.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9 orders placed since 1 Jul (US$464) against 7 lost — 56% by count, 56% by value. All of it is ROAM; Sentinel has US$852 in play and no order yet.</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book is stuck mid-funnel: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US$2,018 of the US$2,059 open sits in Quote Sent and Negotiation across 26 deals — the movement to chase is quote-to-order, not top-of-funnel.</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No new AI-infused order this week · 21 ROAM lines worth A$1,612 sit on no deal and are excluded · QR Ordering is priced $0 on every line, so its value reads nil.</a:t>
            </a:r>
            <a:endParaRPr lang="en-US" sz="900" dirty="0"/>
          </a:p>
        </p:txBody>
      </p:sp>
      <p:sp>
        <p:nvSpPr>
          <p:cNvPr id="111" name="Shape 109"/>
          <p:cNvSpPr/>
          <p:nvPr/>
        </p:nvSpPr>
        <p:spPr>
          <a:xfrm>
            <a:off x="7585862" y="6510528"/>
            <a:ext cx="4191610" cy="256032"/>
          </a:xfrm>
          <a:prstGeom prst="roundRect">
            <a:avLst>
              <a:gd name="adj" fmla="val 46429"/>
            </a:avLst>
          </a:prstGeom>
          <a:solidFill>
            <a:srgbClr val="12293A"/>
          </a:solidFill>
          <a:ln/>
        </p:spPr>
      </p:sp>
      <p:sp>
        <p:nvSpPr>
          <p:cNvPr id="112" name="Text 110"/>
          <p:cNvSpPr txBox="1"/>
          <p:nvPr/>
        </p:nvSpPr>
        <p:spPr>
          <a:xfrm>
            <a:off x="7585862" y="6510528"/>
            <a:ext cx="419161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line items · products flagged ai_infused (live)</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H&amp;L Pay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a:t>
            </a:r>
            <a:endParaRPr lang="en-US" sz="1050" dirty="0"/>
          </a:p>
        </p:txBody>
      </p:sp>
      <p:sp>
        <p:nvSpPr>
          <p:cNvPr id="7" name="Shape 5"/>
          <p:cNvSpPr/>
          <p:nvPr/>
        </p:nvSpPr>
        <p:spPr>
          <a:xfrm>
            <a:off x="8686800" y="246888"/>
            <a:ext cx="1965960" cy="347472"/>
          </a:xfrm>
          <a:prstGeom prst="roundRect">
            <a:avLst>
              <a:gd name="adj" fmla="val 50000"/>
            </a:avLst>
          </a:prstGeom>
          <a:solidFill>
            <a:srgbClr val="2C8394"/>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1  ·  DID WE SELL?</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REFERRALS GIVEN — ALL-TIME</a:t>
            </a:r>
            <a:endParaRPr lang="en-US" sz="950" dirty="0"/>
          </a:p>
        </p:txBody>
      </p:sp>
      <p:sp>
        <p:nvSpPr>
          <p:cNvPr id="15" name="Text 13"/>
          <p:cNvSpPr txBox="1"/>
          <p:nvPr/>
        </p:nvSpPr>
        <p:spPr>
          <a:xfrm>
            <a:off x="557784" y="1243584"/>
            <a:ext cx="3456432" cy="292608"/>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34</a:t>
            </a:r>
            <a:endParaRPr lang="en-US" sz="2600" dirty="0"/>
          </a:p>
        </p:txBody>
      </p:sp>
      <p:sp>
        <p:nvSpPr>
          <p:cNvPr id="16" name="Text 14"/>
          <p:cNvSpPr txBox="1"/>
          <p:nvPr/>
        </p:nvSpPr>
        <p:spPr>
          <a:xfrm>
            <a:off x="5760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tagged referred deals in the partner pipeline</a:t>
            </a:r>
            <a:endParaRPr lang="en-US" sz="780" dirty="0"/>
          </a:p>
        </p:txBody>
      </p:sp>
      <p:sp>
        <p:nvSpPr>
          <p:cNvPr id="17" name="Text 15"/>
          <p:cNvSpPr txBox="1"/>
          <p:nvPr/>
        </p:nvSpPr>
        <p:spPr>
          <a:xfrm>
            <a:off x="2377440" y="1042416"/>
            <a:ext cx="1600200" cy="182880"/>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7 this qtr · 11 last</a:t>
            </a:r>
            <a:endParaRPr lang="en-US" sz="750" dirty="0"/>
          </a:p>
        </p:txBody>
      </p:sp>
      <p:sp>
        <p:nvSpPr>
          <p:cNvPr id="18" name="Shape 16"/>
          <p:cNvSpPr/>
          <p:nvPr/>
        </p:nvSpPr>
        <p:spPr>
          <a:xfrm>
            <a:off x="4297680" y="969264"/>
            <a:ext cx="3749040"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9" name="Text 17"/>
          <p:cNvSpPr txBox="1"/>
          <p:nvPr/>
        </p:nvSpPr>
        <p:spPr>
          <a:xfrm>
            <a:off x="4462272" y="1060704"/>
            <a:ext cx="341985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GMV — SIGNED</a:t>
            </a:r>
            <a:endParaRPr lang="en-US" sz="950" dirty="0"/>
          </a:p>
        </p:txBody>
      </p:sp>
      <p:sp>
        <p:nvSpPr>
          <p:cNvPr id="20" name="Text 18"/>
          <p:cNvSpPr txBox="1"/>
          <p:nvPr/>
        </p:nvSpPr>
        <p:spPr>
          <a:xfrm>
            <a:off x="4443984" y="1243584"/>
            <a:ext cx="3456432"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$38M</a:t>
            </a:r>
            <a:endParaRPr lang="en-US" sz="2600" dirty="0"/>
          </a:p>
        </p:txBody>
      </p:sp>
      <p:sp>
        <p:nvSpPr>
          <p:cNvPr id="21" name="Text 19"/>
          <p:cNvSpPr txBox="1"/>
          <p:nvPr/>
        </p:nvSpPr>
        <p:spPr>
          <a:xfrm>
            <a:off x="4462272" y="1572768"/>
            <a:ext cx="3419856"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14 deals won · 2 venues live &amp; billing</a:t>
            </a:r>
            <a:endParaRPr lang="en-US" sz="780" dirty="0"/>
          </a:p>
        </p:txBody>
      </p:sp>
      <p:sp>
        <p:nvSpPr>
          <p:cNvPr id="22" name="Text 20"/>
          <p:cNvSpPr txBox="1"/>
          <p:nvPr/>
        </p:nvSpPr>
        <p:spPr>
          <a:xfrm>
            <a:off x="6263640" y="1042416"/>
            <a:ext cx="1600200" cy="182880"/>
          </a:xfrm>
          <a:prstGeom prst="rect">
            <a:avLst/>
          </a:prstGeom>
          <a:noFill/>
          <a:ln/>
        </p:spPr>
        <p:txBody>
          <a:bodyPr wrap="square" lIns="0" tIns="0" rIns="0" bIns="0" rtlCol="0" anchor="ctr"/>
          <a:lstStyle/>
          <a:p>
            <a:pPr algn="r" indent="0" marL="0">
              <a:buNone/>
            </a:pPr>
            <a:r>
              <a:rPr lang="en-US" sz="750" b="1" dirty="0">
                <a:solidFill>
                  <a:srgbClr val="3D8F5F"/>
                </a:solidFill>
                <a:latin typeface="Poppins" pitchFamily="34" charset="0"/>
                <a:ea typeface="Poppins" pitchFamily="34" charset="-122"/>
                <a:cs typeface="Poppins" pitchFamily="34" charset="-120"/>
              </a:rPr>
              <a:t>39% of all wins</a:t>
            </a:r>
            <a:endParaRPr lang="en-US" sz="750" dirty="0"/>
          </a:p>
        </p:txBody>
      </p:sp>
      <p:sp>
        <p:nvSpPr>
          <p:cNvPr id="23" name="Shape 21"/>
          <p:cNvSpPr/>
          <p:nvPr/>
        </p:nvSpPr>
        <p:spPr>
          <a:xfrm>
            <a:off x="8183880" y="969264"/>
            <a:ext cx="35935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348472" y="1060704"/>
            <a:ext cx="32644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REFERRED — OPEN PIPELINE</a:t>
            </a:r>
            <a:endParaRPr lang="en-US" sz="950" dirty="0"/>
          </a:p>
        </p:txBody>
      </p:sp>
      <p:sp>
        <p:nvSpPr>
          <p:cNvPr id="25" name="Text 23"/>
          <p:cNvSpPr txBox="1"/>
          <p:nvPr/>
        </p:nvSpPr>
        <p:spPr>
          <a:xfrm>
            <a:off x="8330184" y="1243584"/>
            <a:ext cx="3300984" cy="292608"/>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$245M</a:t>
            </a:r>
            <a:endParaRPr lang="en-US" sz="2600" dirty="0"/>
          </a:p>
        </p:txBody>
      </p:sp>
      <p:sp>
        <p:nvSpPr>
          <p:cNvPr id="26" name="Text 24"/>
          <p:cNvSpPr txBox="1"/>
          <p:nvPr/>
        </p:nvSpPr>
        <p:spPr>
          <a:xfrm>
            <a:off x="8348472" y="1572768"/>
            <a:ext cx="3264408" cy="365760"/>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19 referred deals in negotiation</a:t>
            </a:r>
            <a:endParaRPr lang="en-US" sz="780" dirty="0"/>
          </a:p>
        </p:txBody>
      </p:sp>
      <p:sp>
        <p:nvSpPr>
          <p:cNvPr id="27" name="Shape 25"/>
          <p:cNvSpPr/>
          <p:nvPr/>
        </p:nvSpPr>
        <p:spPr>
          <a:xfrm>
            <a:off x="411480" y="2139696"/>
            <a:ext cx="6949440"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249424"/>
            <a:ext cx="64922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IDENTIFIED BY H&amp;L → REFERRED → SIGNED</a:t>
            </a:r>
            <a:endParaRPr lang="en-US" sz="1200" dirty="0"/>
          </a:p>
        </p:txBody>
      </p:sp>
      <p:sp>
        <p:nvSpPr>
          <p:cNvPr id="29" name="Shape 27"/>
          <p:cNvSpPr/>
          <p:nvPr/>
        </p:nvSpPr>
        <p:spPr>
          <a:xfrm>
            <a:off x="612648" y="2542032"/>
            <a:ext cx="1371600" cy="566928"/>
          </a:xfrm>
          <a:prstGeom prst="homePlate">
            <a:avLst/>
          </a:prstGeom>
          <a:solidFill>
            <a:srgbClr val="24435C"/>
          </a:solidFill>
          <a:ln/>
        </p:spPr>
      </p:sp>
      <p:sp>
        <p:nvSpPr>
          <p:cNvPr id="30" name="Text 28"/>
          <p:cNvSpPr txBox="1"/>
          <p:nvPr/>
        </p:nvSpPr>
        <p:spPr>
          <a:xfrm>
            <a:off x="72237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IDENTIFIED</a:t>
            </a:r>
            <a:endParaRPr lang="en-US" sz="550" dirty="0"/>
          </a:p>
        </p:txBody>
      </p:sp>
      <p:sp>
        <p:nvSpPr>
          <p:cNvPr id="31" name="Text 29"/>
          <p:cNvSpPr txBox="1"/>
          <p:nvPr/>
        </p:nvSpPr>
        <p:spPr>
          <a:xfrm>
            <a:off x="72237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2" name="Text 30"/>
          <p:cNvSpPr txBox="1"/>
          <p:nvPr/>
        </p:nvSpPr>
        <p:spPr>
          <a:xfrm>
            <a:off x="64922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32 unique venues · register</a:t>
            </a:r>
            <a:endParaRPr lang="en-US" sz="550" dirty="0"/>
          </a:p>
        </p:txBody>
      </p:sp>
      <p:sp>
        <p:nvSpPr>
          <p:cNvPr id="33" name="Shape 31"/>
          <p:cNvSpPr/>
          <p:nvPr/>
        </p:nvSpPr>
        <p:spPr>
          <a:xfrm>
            <a:off x="1874520" y="2542032"/>
            <a:ext cx="1371600" cy="566928"/>
          </a:xfrm>
          <a:prstGeom prst="chevron">
            <a:avLst/>
          </a:prstGeom>
          <a:solidFill>
            <a:srgbClr val="3A6472"/>
          </a:solidFill>
          <a:ln/>
        </p:spPr>
      </p:sp>
      <p:sp>
        <p:nvSpPr>
          <p:cNvPr id="34" name="Text 32"/>
          <p:cNvSpPr txBox="1"/>
          <p:nvPr/>
        </p:nvSpPr>
        <p:spPr>
          <a:xfrm>
            <a:off x="2112264"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REFERRED</a:t>
            </a:r>
            <a:endParaRPr lang="en-US" sz="550" dirty="0"/>
          </a:p>
        </p:txBody>
      </p:sp>
      <p:sp>
        <p:nvSpPr>
          <p:cNvPr id="35" name="Text 33"/>
          <p:cNvSpPr txBox="1"/>
          <p:nvPr/>
        </p:nvSpPr>
        <p:spPr>
          <a:xfrm>
            <a:off x="2112264"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34</a:t>
            </a:r>
            <a:endParaRPr lang="en-US" sz="1600" dirty="0"/>
          </a:p>
        </p:txBody>
      </p:sp>
      <p:sp>
        <p:nvSpPr>
          <p:cNvPr id="36" name="Text 34"/>
          <p:cNvSpPr txBox="1"/>
          <p:nvPr/>
        </p:nvSpPr>
        <p:spPr>
          <a:xfrm>
            <a:off x="2039112"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$285M GMV tagged</a:t>
            </a:r>
            <a:endParaRPr lang="en-US" sz="550" dirty="0"/>
          </a:p>
        </p:txBody>
      </p:sp>
      <p:sp>
        <p:nvSpPr>
          <p:cNvPr id="37" name="Shape 35"/>
          <p:cNvSpPr/>
          <p:nvPr/>
        </p:nvSpPr>
        <p:spPr>
          <a:xfrm>
            <a:off x="3136392" y="2542032"/>
            <a:ext cx="1371600" cy="566928"/>
          </a:xfrm>
          <a:prstGeom prst="chevron">
            <a:avLst/>
          </a:prstGeom>
          <a:solidFill>
            <a:srgbClr val="2C8394"/>
          </a:solidFill>
          <a:ln/>
        </p:spPr>
      </p:sp>
      <p:sp>
        <p:nvSpPr>
          <p:cNvPr id="38" name="Text 36"/>
          <p:cNvSpPr txBox="1"/>
          <p:nvPr/>
        </p:nvSpPr>
        <p:spPr>
          <a:xfrm>
            <a:off x="3374136"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OPEN</a:t>
            </a:r>
            <a:endParaRPr lang="en-US" sz="550" dirty="0"/>
          </a:p>
        </p:txBody>
      </p:sp>
      <p:sp>
        <p:nvSpPr>
          <p:cNvPr id="39" name="Text 37"/>
          <p:cNvSpPr txBox="1"/>
          <p:nvPr/>
        </p:nvSpPr>
        <p:spPr>
          <a:xfrm>
            <a:off x="3374136"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19</a:t>
            </a:r>
            <a:endParaRPr lang="en-US" sz="1600" dirty="0"/>
          </a:p>
        </p:txBody>
      </p:sp>
      <p:sp>
        <p:nvSpPr>
          <p:cNvPr id="40" name="Text 38"/>
          <p:cNvSpPr txBox="1"/>
          <p:nvPr/>
        </p:nvSpPr>
        <p:spPr>
          <a:xfrm>
            <a:off x="3300984"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$245M negotiating</a:t>
            </a:r>
            <a:endParaRPr lang="en-US" sz="550" dirty="0"/>
          </a:p>
        </p:txBody>
      </p:sp>
      <p:sp>
        <p:nvSpPr>
          <p:cNvPr id="41" name="Shape 39"/>
          <p:cNvSpPr/>
          <p:nvPr/>
        </p:nvSpPr>
        <p:spPr>
          <a:xfrm>
            <a:off x="4398264" y="2542032"/>
            <a:ext cx="1371600" cy="566928"/>
          </a:xfrm>
          <a:prstGeom prst="chevron">
            <a:avLst/>
          </a:prstGeom>
          <a:solidFill>
            <a:srgbClr val="3D8F5F"/>
          </a:solidFill>
          <a:ln/>
        </p:spPr>
      </p:sp>
      <p:sp>
        <p:nvSpPr>
          <p:cNvPr id="42" name="Text 40"/>
          <p:cNvSpPr txBox="1"/>
          <p:nvPr/>
        </p:nvSpPr>
        <p:spPr>
          <a:xfrm>
            <a:off x="4636008"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WON</a:t>
            </a:r>
            <a:endParaRPr lang="en-US" sz="550" dirty="0"/>
          </a:p>
        </p:txBody>
      </p:sp>
      <p:sp>
        <p:nvSpPr>
          <p:cNvPr id="43" name="Text 41"/>
          <p:cNvSpPr txBox="1"/>
          <p:nvPr/>
        </p:nvSpPr>
        <p:spPr>
          <a:xfrm>
            <a:off x="4636008"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14</a:t>
            </a:r>
            <a:endParaRPr lang="en-US" sz="1600" dirty="0"/>
          </a:p>
        </p:txBody>
      </p:sp>
      <p:sp>
        <p:nvSpPr>
          <p:cNvPr id="44" name="Text 42"/>
          <p:cNvSpPr txBox="1"/>
          <p:nvPr/>
        </p:nvSpPr>
        <p:spPr>
          <a:xfrm>
            <a:off x="4562856"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$38M signed</a:t>
            </a:r>
            <a:endParaRPr lang="en-US" sz="550" dirty="0"/>
          </a:p>
        </p:txBody>
      </p:sp>
      <p:sp>
        <p:nvSpPr>
          <p:cNvPr id="45" name="Shape 43"/>
          <p:cNvSpPr/>
          <p:nvPr/>
        </p:nvSpPr>
        <p:spPr>
          <a:xfrm>
            <a:off x="5660136" y="2542032"/>
            <a:ext cx="1371600" cy="566928"/>
          </a:xfrm>
          <a:prstGeom prst="chevron">
            <a:avLst/>
          </a:prstGeom>
          <a:solidFill>
            <a:srgbClr val="5B7C8A"/>
          </a:solidFill>
          <a:ln/>
        </p:spPr>
      </p:sp>
      <p:sp>
        <p:nvSpPr>
          <p:cNvPr id="46" name="Text 44"/>
          <p:cNvSpPr txBox="1"/>
          <p:nvPr/>
        </p:nvSpPr>
        <p:spPr>
          <a:xfrm>
            <a:off x="5897880" y="2587752"/>
            <a:ext cx="987552" cy="146304"/>
          </a:xfrm>
          <a:prstGeom prst="rect">
            <a:avLst/>
          </a:prstGeom>
          <a:noFill/>
          <a:ln/>
        </p:spPr>
        <p:txBody>
          <a:bodyPr wrap="square" lIns="0" tIns="0" rIns="0" bIns="0" rtlCol="0" anchor="ctr"/>
          <a:lstStyle/>
          <a:p>
            <a:pPr indent="0" marL="0">
              <a:buNone/>
            </a:pPr>
            <a:r>
              <a:rPr lang="en-US" sz="550" b="1" dirty="0">
                <a:solidFill>
                  <a:srgbClr val="FFFFFF"/>
                </a:solidFill>
                <a:latin typeface="Poppins" pitchFamily="34" charset="0"/>
                <a:ea typeface="Poppins" pitchFamily="34" charset="-122"/>
                <a:cs typeface="Poppins" pitchFamily="34" charset="-120"/>
              </a:rPr>
              <a:t>SHARE OF WINS</a:t>
            </a:r>
            <a:endParaRPr lang="en-US" sz="550" dirty="0"/>
          </a:p>
        </p:txBody>
      </p:sp>
      <p:sp>
        <p:nvSpPr>
          <p:cNvPr id="47" name="Text 45"/>
          <p:cNvSpPr txBox="1"/>
          <p:nvPr/>
        </p:nvSpPr>
        <p:spPr>
          <a:xfrm>
            <a:off x="5897880" y="2724912"/>
            <a:ext cx="987552" cy="329184"/>
          </a:xfrm>
          <a:prstGeom prst="rect">
            <a:avLst/>
          </a:prstGeom>
          <a:noFill/>
          <a:ln/>
        </p:spPr>
        <p:txBody>
          <a:bodyPr wrap="square" lIns="0" tIns="0" rIns="0" bIns="0" rtlCol="0" anchor="ctr"/>
          <a:lstStyle/>
          <a:p>
            <a:pPr indent="0" marL="0">
              <a:buNone/>
            </a:pPr>
            <a:r>
              <a:rPr lang="en-US" sz="1600" b="1" dirty="0">
                <a:solidFill>
                  <a:srgbClr val="FFFFFF"/>
                </a:solidFill>
                <a:latin typeface="Poppins" pitchFamily="34" charset="0"/>
                <a:ea typeface="Poppins" pitchFamily="34" charset="-122"/>
                <a:cs typeface="Poppins" pitchFamily="34" charset="-120"/>
              </a:rPr>
              <a:t>39%</a:t>
            </a:r>
            <a:endParaRPr lang="en-US" sz="1600" dirty="0"/>
          </a:p>
        </p:txBody>
      </p:sp>
      <p:sp>
        <p:nvSpPr>
          <p:cNvPr id="48" name="Text 46"/>
          <p:cNvSpPr txBox="1"/>
          <p:nvPr/>
        </p:nvSpPr>
        <p:spPr>
          <a:xfrm>
            <a:off x="5824728" y="3127248"/>
            <a:ext cx="1188720" cy="201168"/>
          </a:xfrm>
          <a:prstGeom prst="rect">
            <a:avLst/>
          </a:prstGeom>
          <a:noFill/>
          <a:ln/>
        </p:spPr>
        <p:txBody>
          <a:bodyPr wrap="square" lIns="0" tIns="0" rIns="0" bIns="0" rtlCol="0" anchor="t"/>
          <a:lstStyle/>
          <a:p>
            <a:pPr indent="0" marL="0">
              <a:buNone/>
            </a:pPr>
            <a:r>
              <a:rPr lang="en-US" sz="550" dirty="0">
                <a:solidFill>
                  <a:srgbClr val="8FA1AC"/>
                </a:solidFill>
                <a:latin typeface="Poppins" pitchFamily="34" charset="0"/>
                <a:ea typeface="Poppins" pitchFamily="34" charset="-122"/>
                <a:cs typeface="Poppins" pitchFamily="34" charset="-120"/>
              </a:rPr>
              <a:t>of $98M signed</a:t>
            </a:r>
            <a:endParaRPr lang="en-US" sz="550" dirty="0"/>
          </a:p>
        </p:txBody>
      </p:sp>
      <p:sp>
        <p:nvSpPr>
          <p:cNvPr id="49" name="Text 47"/>
          <p:cNvSpPr txBox="1"/>
          <p:nvPr/>
        </p:nvSpPr>
        <p:spPr>
          <a:xfrm>
            <a:off x="612648" y="3383280"/>
            <a:ext cx="3291840" cy="182880"/>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REFERRAL FLOW — WHEN REFERRALS WERE GIVEN</a:t>
            </a:r>
            <a:endParaRPr lang="en-US" sz="850" dirty="0"/>
          </a:p>
        </p:txBody>
      </p:sp>
      <p:sp>
        <p:nvSpPr>
          <p:cNvPr id="50" name="Text 48"/>
          <p:cNvSpPr txBox="1"/>
          <p:nvPr/>
        </p:nvSpPr>
        <p:spPr>
          <a:xfrm>
            <a:off x="3886200" y="3383280"/>
            <a:ext cx="3200400" cy="182880"/>
          </a:xfrm>
          <a:prstGeom prst="rect">
            <a:avLst/>
          </a:prstGeom>
          <a:noFill/>
          <a:ln/>
        </p:spPr>
        <p:txBody>
          <a:bodyPr wrap="square" lIns="0" tIns="0" rIns="0" bIns="0" rtlCol="0" anchor="ctr"/>
          <a:lstStyle/>
          <a:p>
            <a:pPr algn="r" indent="0" marL="0">
              <a:buNone/>
            </a:pPr>
            <a:r>
              <a:rPr lang="en-US" sz="580" dirty="0">
                <a:solidFill>
                  <a:srgbClr val="8FA1AC"/>
                </a:solidFill>
                <a:latin typeface="Poppins" pitchFamily="34" charset="0"/>
                <a:ea typeface="Poppins" pitchFamily="34" charset="-122"/>
                <a:cs typeface="Poppins" pitchFamily="34" charset="-120"/>
              </a:rPr>
              <a:t>bars = identified / referred per month · line = cumulative referred → 27 YTD</a:t>
            </a:r>
            <a:endParaRPr lang="en-US" sz="580" dirty="0"/>
          </a:p>
        </p:txBody>
      </p:sp>
      <p:graphicFrame>
        <p:nvGraphicFramePr>
          <p:cNvPr id="51" name="Chart 0" descr=""/>
          <p:cNvGraphicFramePr/>
          <p:nvPr/>
        </p:nvGraphicFramePr>
        <p:xfrm>
          <a:off x="576072" y="3584448"/>
          <a:ext cx="6565392" cy="1389888"/>
        </p:xfrm>
        <a:graphic xmlns:a="http://schemas.openxmlformats.org/drawingml/2006/main">
          <a:graphicData uri="http://schemas.openxmlformats.org/drawingml/2006/chart">
            <c:chart xmlns:c="http://schemas.openxmlformats.org/drawingml/2006/chart" r:id="rId1"/>
          </a:graphicData>
        </a:graphic>
      </p:graphicFrame>
      <p:sp>
        <p:nvSpPr>
          <p:cNvPr id="52" name="Shape 49"/>
          <p:cNvSpPr/>
          <p:nvPr/>
        </p:nvSpPr>
        <p:spPr>
          <a:xfrm>
            <a:off x="7498080" y="2139696"/>
            <a:ext cx="4279392" cy="3054096"/>
          </a:xfrm>
          <a:prstGeom prst="roundRect">
            <a:avLst>
              <a:gd name="adj" fmla="val 2096"/>
            </a:avLst>
          </a:prstGeom>
          <a:solidFill>
            <a:srgbClr val="FFFFFF"/>
          </a:solidFill>
          <a:ln/>
          <a:effectLst>
            <a:outerShdw sx="100000" sy="100000" kx="0" ky="0" algn="bl" rotWithShape="0" blurRad="76200" dist="25400" dir="5400000">
              <a:srgbClr val="9AAAB5">
                <a:alpha val="35000"/>
              </a:srgbClr>
            </a:outerShdw>
          </a:effectLst>
        </p:spPr>
      </p:sp>
      <p:sp>
        <p:nvSpPr>
          <p:cNvPr id="53" name="Text 50"/>
          <p:cNvSpPr txBox="1"/>
          <p:nvPr/>
        </p:nvSpPr>
        <p:spPr>
          <a:xfrm>
            <a:off x="7699248" y="2249424"/>
            <a:ext cx="38404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WHO IS GIVING THE REFERRALS</a:t>
            </a:r>
            <a:endParaRPr lang="en-US" sz="1200" dirty="0"/>
          </a:p>
        </p:txBody>
      </p:sp>
      <p:sp>
        <p:nvSpPr>
          <p:cNvPr id="54" name="Text 51"/>
          <p:cNvSpPr txBox="1"/>
          <p:nvPr/>
        </p:nvSpPr>
        <p:spPr>
          <a:xfrm>
            <a:off x="7699248" y="2542032"/>
            <a:ext cx="2103120" cy="164592"/>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REFERRER</a:t>
            </a:r>
            <a:endParaRPr lang="en-US" sz="650" dirty="0"/>
          </a:p>
        </p:txBody>
      </p:sp>
      <p:sp>
        <p:nvSpPr>
          <p:cNvPr id="55" name="Text 52"/>
          <p:cNvSpPr txBox="1"/>
          <p:nvPr/>
        </p:nvSpPr>
        <p:spPr>
          <a:xfrm>
            <a:off x="9921240" y="2542032"/>
            <a:ext cx="54864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GIVEN</a:t>
            </a:r>
            <a:endParaRPr lang="en-US" sz="650" dirty="0"/>
          </a:p>
        </p:txBody>
      </p:sp>
      <p:sp>
        <p:nvSpPr>
          <p:cNvPr id="56" name="Text 53"/>
          <p:cNvSpPr txBox="1"/>
          <p:nvPr/>
        </p:nvSpPr>
        <p:spPr>
          <a:xfrm>
            <a:off x="10561320" y="2542032"/>
            <a:ext cx="50292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WON</a:t>
            </a:r>
            <a:endParaRPr lang="en-US" sz="650" dirty="0"/>
          </a:p>
        </p:txBody>
      </p:sp>
      <p:sp>
        <p:nvSpPr>
          <p:cNvPr id="57" name="Text 54"/>
          <p:cNvSpPr txBox="1"/>
          <p:nvPr/>
        </p:nvSpPr>
        <p:spPr>
          <a:xfrm>
            <a:off x="11155680" y="2542032"/>
            <a:ext cx="457200" cy="164592"/>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GMV</a:t>
            </a:r>
            <a:endParaRPr lang="en-US" sz="650" dirty="0"/>
          </a:p>
        </p:txBody>
      </p:sp>
      <p:sp>
        <p:nvSpPr>
          <p:cNvPr id="58" name="Text 55"/>
          <p:cNvSpPr txBox="1"/>
          <p:nvPr/>
        </p:nvSpPr>
        <p:spPr>
          <a:xfrm>
            <a:off x="7699248" y="274320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Bjorn Magabo</a:t>
            </a:r>
            <a:endParaRPr lang="en-US" sz="850" dirty="0"/>
          </a:p>
        </p:txBody>
      </p:sp>
      <p:sp>
        <p:nvSpPr>
          <p:cNvPr id="59" name="Shape 56"/>
          <p:cNvSpPr/>
          <p:nvPr/>
        </p:nvSpPr>
        <p:spPr>
          <a:xfrm>
            <a:off x="7699248" y="2971800"/>
            <a:ext cx="2011680" cy="41148"/>
          </a:xfrm>
          <a:prstGeom prst="rect">
            <a:avLst/>
          </a:prstGeom>
          <a:solidFill>
            <a:srgbClr val="2C8394"/>
          </a:solidFill>
          <a:ln/>
        </p:spPr>
      </p:sp>
      <p:sp>
        <p:nvSpPr>
          <p:cNvPr id="60" name="Text 57"/>
          <p:cNvSpPr txBox="1"/>
          <p:nvPr/>
        </p:nvSpPr>
        <p:spPr>
          <a:xfrm>
            <a:off x="9921240" y="27432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11</a:t>
            </a:r>
            <a:endParaRPr lang="en-US" sz="850" dirty="0"/>
          </a:p>
        </p:txBody>
      </p:sp>
      <p:sp>
        <p:nvSpPr>
          <p:cNvPr id="61" name="Text 58"/>
          <p:cNvSpPr txBox="1"/>
          <p:nvPr/>
        </p:nvSpPr>
        <p:spPr>
          <a:xfrm>
            <a:off x="10561320" y="274320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6</a:t>
            </a:r>
            <a:endParaRPr lang="en-US" sz="850" dirty="0"/>
          </a:p>
        </p:txBody>
      </p:sp>
      <p:sp>
        <p:nvSpPr>
          <p:cNvPr id="62" name="Text 59"/>
          <p:cNvSpPr txBox="1"/>
          <p:nvPr/>
        </p:nvSpPr>
        <p:spPr>
          <a:xfrm>
            <a:off x="11155680" y="27432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$65M</a:t>
            </a:r>
            <a:endParaRPr lang="en-US" sz="850" dirty="0"/>
          </a:p>
        </p:txBody>
      </p:sp>
      <p:sp>
        <p:nvSpPr>
          <p:cNvPr id="63" name="Text 60"/>
          <p:cNvSpPr txBox="1"/>
          <p:nvPr/>
        </p:nvSpPr>
        <p:spPr>
          <a:xfrm>
            <a:off x="7699248" y="310896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Bradford Young</a:t>
            </a:r>
            <a:endParaRPr lang="en-US" sz="850" dirty="0"/>
          </a:p>
        </p:txBody>
      </p:sp>
      <p:sp>
        <p:nvSpPr>
          <p:cNvPr id="64" name="Shape 61"/>
          <p:cNvSpPr/>
          <p:nvPr/>
        </p:nvSpPr>
        <p:spPr>
          <a:xfrm>
            <a:off x="7699248" y="3337560"/>
            <a:ext cx="1645920" cy="41148"/>
          </a:xfrm>
          <a:prstGeom prst="rect">
            <a:avLst/>
          </a:prstGeom>
          <a:solidFill>
            <a:srgbClr val="2C8394"/>
          </a:solidFill>
          <a:ln/>
        </p:spPr>
      </p:sp>
      <p:sp>
        <p:nvSpPr>
          <p:cNvPr id="65" name="Text 62"/>
          <p:cNvSpPr txBox="1"/>
          <p:nvPr/>
        </p:nvSpPr>
        <p:spPr>
          <a:xfrm>
            <a:off x="9921240" y="310896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9</a:t>
            </a:r>
            <a:endParaRPr lang="en-US" sz="850" dirty="0"/>
          </a:p>
        </p:txBody>
      </p:sp>
      <p:sp>
        <p:nvSpPr>
          <p:cNvPr id="66" name="Text 63"/>
          <p:cNvSpPr txBox="1"/>
          <p:nvPr/>
        </p:nvSpPr>
        <p:spPr>
          <a:xfrm>
            <a:off x="10561320" y="310896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5</a:t>
            </a:r>
            <a:endParaRPr lang="en-US" sz="850" dirty="0"/>
          </a:p>
        </p:txBody>
      </p:sp>
      <p:sp>
        <p:nvSpPr>
          <p:cNvPr id="67" name="Text 64"/>
          <p:cNvSpPr txBox="1"/>
          <p:nvPr/>
        </p:nvSpPr>
        <p:spPr>
          <a:xfrm>
            <a:off x="11155680" y="310896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$31M</a:t>
            </a:r>
            <a:endParaRPr lang="en-US" sz="850" dirty="0"/>
          </a:p>
        </p:txBody>
      </p:sp>
      <p:sp>
        <p:nvSpPr>
          <p:cNvPr id="68" name="Text 65"/>
          <p:cNvSpPr txBox="1"/>
          <p:nvPr/>
        </p:nvSpPr>
        <p:spPr>
          <a:xfrm>
            <a:off x="7699248" y="347472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Brett Gorman</a:t>
            </a:r>
            <a:endParaRPr lang="en-US" sz="850" dirty="0"/>
          </a:p>
        </p:txBody>
      </p:sp>
      <p:sp>
        <p:nvSpPr>
          <p:cNvPr id="69" name="Shape 66"/>
          <p:cNvSpPr/>
          <p:nvPr/>
        </p:nvSpPr>
        <p:spPr>
          <a:xfrm>
            <a:off x="7699248" y="3703320"/>
            <a:ext cx="1097280" cy="41148"/>
          </a:xfrm>
          <a:prstGeom prst="rect">
            <a:avLst/>
          </a:prstGeom>
          <a:solidFill>
            <a:srgbClr val="2C8394"/>
          </a:solidFill>
          <a:ln/>
        </p:spPr>
      </p:sp>
      <p:sp>
        <p:nvSpPr>
          <p:cNvPr id="70" name="Text 67"/>
          <p:cNvSpPr txBox="1"/>
          <p:nvPr/>
        </p:nvSpPr>
        <p:spPr>
          <a:xfrm>
            <a:off x="9921240" y="347472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6</a:t>
            </a:r>
            <a:endParaRPr lang="en-US" sz="850" dirty="0"/>
          </a:p>
        </p:txBody>
      </p:sp>
      <p:sp>
        <p:nvSpPr>
          <p:cNvPr id="71" name="Text 68"/>
          <p:cNvSpPr txBox="1"/>
          <p:nvPr/>
        </p:nvSpPr>
        <p:spPr>
          <a:xfrm>
            <a:off x="10561320" y="347472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72" name="Text 69"/>
          <p:cNvSpPr txBox="1"/>
          <p:nvPr/>
        </p:nvSpPr>
        <p:spPr>
          <a:xfrm>
            <a:off x="11155680" y="347472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$146M</a:t>
            </a:r>
            <a:endParaRPr lang="en-US" sz="850" dirty="0"/>
          </a:p>
        </p:txBody>
      </p:sp>
      <p:sp>
        <p:nvSpPr>
          <p:cNvPr id="73" name="Text 70"/>
          <p:cNvSpPr txBox="1"/>
          <p:nvPr/>
        </p:nvSpPr>
        <p:spPr>
          <a:xfrm>
            <a:off x="7699248" y="384048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Mick Teasdale</a:t>
            </a:r>
            <a:endParaRPr lang="en-US" sz="850" dirty="0"/>
          </a:p>
        </p:txBody>
      </p:sp>
      <p:sp>
        <p:nvSpPr>
          <p:cNvPr id="74" name="Shape 71"/>
          <p:cNvSpPr/>
          <p:nvPr/>
        </p:nvSpPr>
        <p:spPr>
          <a:xfrm>
            <a:off x="7699248" y="4069080"/>
            <a:ext cx="731520" cy="41148"/>
          </a:xfrm>
          <a:prstGeom prst="rect">
            <a:avLst/>
          </a:prstGeom>
          <a:solidFill>
            <a:srgbClr val="2C8394"/>
          </a:solidFill>
          <a:ln/>
        </p:spPr>
      </p:sp>
      <p:sp>
        <p:nvSpPr>
          <p:cNvPr id="75" name="Text 72"/>
          <p:cNvSpPr txBox="1"/>
          <p:nvPr/>
        </p:nvSpPr>
        <p:spPr>
          <a:xfrm>
            <a:off x="9921240" y="384048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4</a:t>
            </a:r>
            <a:endParaRPr lang="en-US" sz="850" dirty="0"/>
          </a:p>
        </p:txBody>
      </p:sp>
      <p:sp>
        <p:nvSpPr>
          <p:cNvPr id="76" name="Text 73"/>
          <p:cNvSpPr txBox="1"/>
          <p:nvPr/>
        </p:nvSpPr>
        <p:spPr>
          <a:xfrm>
            <a:off x="10561320" y="384048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2</a:t>
            </a:r>
            <a:endParaRPr lang="en-US" sz="850" dirty="0"/>
          </a:p>
        </p:txBody>
      </p:sp>
      <p:sp>
        <p:nvSpPr>
          <p:cNvPr id="77" name="Text 74"/>
          <p:cNvSpPr txBox="1"/>
          <p:nvPr/>
        </p:nvSpPr>
        <p:spPr>
          <a:xfrm>
            <a:off x="11155680" y="384048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$5M</a:t>
            </a:r>
            <a:endParaRPr lang="en-US" sz="850" dirty="0"/>
          </a:p>
        </p:txBody>
      </p:sp>
      <p:sp>
        <p:nvSpPr>
          <p:cNvPr id="78" name="Text 75"/>
          <p:cNvSpPr txBox="1"/>
          <p:nvPr/>
        </p:nvSpPr>
        <p:spPr>
          <a:xfrm>
            <a:off x="7699248" y="4206240"/>
            <a:ext cx="2103120" cy="219456"/>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Phuong Ho</a:t>
            </a:r>
            <a:endParaRPr lang="en-US" sz="850" dirty="0"/>
          </a:p>
        </p:txBody>
      </p:sp>
      <p:sp>
        <p:nvSpPr>
          <p:cNvPr id="79" name="Shape 76"/>
          <p:cNvSpPr/>
          <p:nvPr/>
        </p:nvSpPr>
        <p:spPr>
          <a:xfrm>
            <a:off x="7699248" y="4434840"/>
            <a:ext cx="548640" cy="41148"/>
          </a:xfrm>
          <a:prstGeom prst="rect">
            <a:avLst/>
          </a:prstGeom>
          <a:solidFill>
            <a:srgbClr val="2C8394"/>
          </a:solidFill>
          <a:ln/>
        </p:spPr>
      </p:sp>
      <p:sp>
        <p:nvSpPr>
          <p:cNvPr id="80" name="Text 77"/>
          <p:cNvSpPr txBox="1"/>
          <p:nvPr/>
        </p:nvSpPr>
        <p:spPr>
          <a:xfrm>
            <a:off x="9921240" y="420624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3</a:t>
            </a:r>
            <a:endParaRPr lang="en-US" sz="850" dirty="0"/>
          </a:p>
        </p:txBody>
      </p:sp>
      <p:sp>
        <p:nvSpPr>
          <p:cNvPr id="81" name="Text 78"/>
          <p:cNvSpPr txBox="1"/>
          <p:nvPr/>
        </p:nvSpPr>
        <p:spPr>
          <a:xfrm>
            <a:off x="10561320" y="4206240"/>
            <a:ext cx="502920" cy="219456"/>
          </a:xfrm>
          <a:prstGeom prst="rect">
            <a:avLst/>
          </a:prstGeom>
          <a:noFill/>
          <a:ln/>
        </p:spPr>
        <p:txBody>
          <a:bodyPr wrap="square" lIns="0" tIns="0" rIns="0" bIns="0" rtlCol="0" anchor="ctr"/>
          <a:lstStyle/>
          <a:p>
            <a:pPr algn="r" indent="0" marL="0">
              <a:buNone/>
            </a:pPr>
            <a:r>
              <a:rPr lang="en-US" sz="850" b="1" dirty="0">
                <a:solidFill>
                  <a:srgbClr val="3D8F5F"/>
                </a:solidFill>
                <a:latin typeface="Poppins" pitchFamily="34" charset="0"/>
                <a:ea typeface="Poppins" pitchFamily="34" charset="-122"/>
                <a:cs typeface="Poppins" pitchFamily="34" charset="-120"/>
              </a:rPr>
              <a:t>1</a:t>
            </a:r>
            <a:endParaRPr lang="en-US" sz="850" dirty="0"/>
          </a:p>
        </p:txBody>
      </p:sp>
      <p:sp>
        <p:nvSpPr>
          <p:cNvPr id="82" name="Text 79"/>
          <p:cNvSpPr txBox="1"/>
          <p:nvPr/>
        </p:nvSpPr>
        <p:spPr>
          <a:xfrm>
            <a:off x="11155680" y="420624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$23M</a:t>
            </a:r>
            <a:endParaRPr lang="en-US" sz="850" dirty="0"/>
          </a:p>
        </p:txBody>
      </p:sp>
      <p:sp>
        <p:nvSpPr>
          <p:cNvPr id="83" name="Text 80"/>
          <p:cNvSpPr txBox="1"/>
          <p:nvPr/>
        </p:nvSpPr>
        <p:spPr>
          <a:xfrm>
            <a:off x="7699248" y="4572000"/>
            <a:ext cx="2103120" cy="219456"/>
          </a:xfrm>
          <a:prstGeom prst="rect">
            <a:avLst/>
          </a:prstGeom>
          <a:noFill/>
          <a:ln/>
        </p:spPr>
        <p:txBody>
          <a:bodyPr wrap="square" lIns="0" tIns="0" rIns="0" bIns="0" rtlCol="0" anchor="ctr"/>
          <a:lstStyle/>
          <a:p>
            <a:pPr indent="0" marL="0">
              <a:buNone/>
            </a:pPr>
            <a:r>
              <a:rPr lang="en-US" sz="850" b="1" dirty="0">
                <a:solidFill>
                  <a:srgbClr val="8FA1AC"/>
                </a:solidFill>
                <a:latin typeface="Poppins" pitchFamily="34" charset="0"/>
                <a:ea typeface="Poppins" pitchFamily="34" charset="-122"/>
                <a:cs typeface="Poppins" pitchFamily="34" charset="-120"/>
              </a:rPr>
              <a:t>Unattributed</a:t>
            </a:r>
            <a:endParaRPr lang="en-US" sz="850" dirty="0"/>
          </a:p>
        </p:txBody>
      </p:sp>
      <p:sp>
        <p:nvSpPr>
          <p:cNvPr id="84" name="Shape 81"/>
          <p:cNvSpPr/>
          <p:nvPr/>
        </p:nvSpPr>
        <p:spPr>
          <a:xfrm>
            <a:off x="7699248" y="4800600"/>
            <a:ext cx="182880" cy="41148"/>
          </a:xfrm>
          <a:prstGeom prst="rect">
            <a:avLst/>
          </a:prstGeom>
          <a:solidFill>
            <a:srgbClr val="2C8394"/>
          </a:solidFill>
          <a:ln/>
        </p:spPr>
      </p:sp>
      <p:sp>
        <p:nvSpPr>
          <p:cNvPr id="85" name="Text 82"/>
          <p:cNvSpPr txBox="1"/>
          <p:nvPr/>
        </p:nvSpPr>
        <p:spPr>
          <a:xfrm>
            <a:off x="9921240" y="4572000"/>
            <a:ext cx="548640" cy="219456"/>
          </a:xfrm>
          <a:prstGeom prst="rect">
            <a:avLst/>
          </a:prstGeom>
          <a:noFill/>
          <a:ln/>
        </p:spPr>
        <p:txBody>
          <a:bodyPr wrap="square" lIns="0" tIns="0" rIns="0" bIns="0" rtlCol="0" anchor="ctr"/>
          <a:lstStyle/>
          <a:p>
            <a:pPr algn="r" indent="0" marL="0">
              <a:buNone/>
            </a:pPr>
            <a:r>
              <a:rPr lang="en-US" sz="850" b="1" dirty="0">
                <a:solidFill>
                  <a:srgbClr val="12293A"/>
                </a:solidFill>
                <a:latin typeface="Poppins" pitchFamily="34" charset="0"/>
                <a:ea typeface="Poppins" pitchFamily="34" charset="-122"/>
                <a:cs typeface="Poppins" pitchFamily="34" charset="-120"/>
              </a:rPr>
              <a:t>1</a:t>
            </a:r>
            <a:endParaRPr lang="en-US" sz="850" dirty="0"/>
          </a:p>
        </p:txBody>
      </p:sp>
      <p:sp>
        <p:nvSpPr>
          <p:cNvPr id="86" name="Text 83"/>
          <p:cNvSpPr txBox="1"/>
          <p:nvPr/>
        </p:nvSpPr>
        <p:spPr>
          <a:xfrm>
            <a:off x="10561320" y="4572000"/>
            <a:ext cx="502920" cy="219456"/>
          </a:xfrm>
          <a:prstGeom prst="rect">
            <a:avLst/>
          </a:prstGeom>
          <a:noFill/>
          <a:ln/>
        </p:spPr>
        <p:txBody>
          <a:bodyPr wrap="square" lIns="0" tIns="0" rIns="0" bIns="0" rtlCol="0" anchor="ctr"/>
          <a:lstStyle/>
          <a:p>
            <a:pPr algn="r" indent="0" marL="0">
              <a:buNone/>
            </a:pPr>
            <a:r>
              <a:rPr lang="en-US" sz="850" b="1" dirty="0">
                <a:solidFill>
                  <a:srgbClr val="8FA1AC"/>
                </a:solidFill>
                <a:latin typeface="Poppins" pitchFamily="34" charset="0"/>
                <a:ea typeface="Poppins" pitchFamily="34" charset="-122"/>
                <a:cs typeface="Poppins" pitchFamily="34" charset="-120"/>
              </a:rPr>
              <a:t>0</a:t>
            </a:r>
            <a:endParaRPr lang="en-US" sz="850" dirty="0"/>
          </a:p>
        </p:txBody>
      </p:sp>
      <p:sp>
        <p:nvSpPr>
          <p:cNvPr id="87" name="Text 84"/>
          <p:cNvSpPr txBox="1"/>
          <p:nvPr/>
        </p:nvSpPr>
        <p:spPr>
          <a:xfrm>
            <a:off x="11155680" y="4572000"/>
            <a:ext cx="457200" cy="219456"/>
          </a:xfrm>
          <a:prstGeom prst="rect">
            <a:avLst/>
          </a:prstGeom>
          <a:noFill/>
          <a:ln/>
        </p:spPr>
        <p:txBody>
          <a:bodyPr wrap="square" lIns="0" tIns="0" rIns="0" bIns="0" rtlCol="0" anchor="ctr"/>
          <a:lstStyle/>
          <a:p>
            <a:pPr algn="r" indent="0" marL="0">
              <a:buNone/>
            </a:pPr>
            <a:r>
              <a:rPr lang="en-US" sz="850" dirty="0">
                <a:solidFill>
                  <a:srgbClr val="5E7280"/>
                </a:solidFill>
                <a:latin typeface="Poppins" pitchFamily="34" charset="0"/>
                <a:ea typeface="Poppins" pitchFamily="34" charset="-122"/>
                <a:cs typeface="Poppins" pitchFamily="34" charset="-120"/>
              </a:rPr>
              <a:t>$15M</a:t>
            </a:r>
            <a:endParaRPr lang="en-US" sz="850" dirty="0"/>
          </a:p>
        </p:txBody>
      </p:sp>
      <p:sp>
        <p:nvSpPr>
          <p:cNvPr id="88" name="Text 85"/>
          <p:cNvSpPr txBox="1"/>
          <p:nvPr/>
        </p:nvSpPr>
        <p:spPr>
          <a:xfrm>
            <a:off x="7699248" y="4956048"/>
            <a:ext cx="3877056" cy="201168"/>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6 deals untagged — referral figures are a floor. Referrer = Account Manager on the deal. The 12 Oct workbook is byte-identical to the 6 Oct drop: no new identifications, referrals or wins for a fourth week.</a:t>
            </a:r>
            <a:endParaRPr lang="en-US" sz="580" dirty="0"/>
          </a:p>
        </p:txBody>
      </p:sp>
      <p:sp>
        <p:nvSpPr>
          <p:cNvPr id="89" name="Shape 86"/>
          <p:cNvSpPr/>
          <p:nvPr/>
        </p:nvSpPr>
        <p:spPr>
          <a:xfrm>
            <a:off x="411480" y="5285232"/>
            <a:ext cx="11365992" cy="1133856"/>
          </a:xfrm>
          <a:prstGeom prst="roundRect">
            <a:avLst>
              <a:gd name="adj" fmla="val 5645"/>
            </a:avLst>
          </a:prstGeom>
          <a:solidFill>
            <a:srgbClr val="FFFFFF"/>
          </a:solidFill>
          <a:ln/>
          <a:effectLst>
            <a:outerShdw sx="100000" sy="100000" kx="0" ky="0" algn="bl" rotWithShape="0" blurRad="76200" dist="25400" dir="5400000">
              <a:srgbClr val="9AAAB5">
                <a:alpha val="35000"/>
              </a:srgbClr>
            </a:outerShdw>
          </a:effectLst>
        </p:spPr>
      </p:sp>
      <p:sp>
        <p:nvSpPr>
          <p:cNvPr id="90" name="Text 87"/>
          <p:cNvSpPr txBox="1"/>
          <p:nvPr/>
        </p:nvSpPr>
        <p:spPr>
          <a:xfrm>
            <a:off x="612648" y="5394960"/>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1" name="Text 88"/>
          <p:cNvSpPr txBox="1"/>
          <p:nvPr/>
        </p:nvSpPr>
        <p:spPr>
          <a:xfrm>
            <a:off x="612648" y="5705856"/>
            <a:ext cx="10954512" cy="585216"/>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Our referrals convert: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referred deals have produced 14 wins worth $38M GMV — 39% of everything H&amp;L Pay has signed — with $245M more in negotiation. Flow: 6 (Jun) → 2 (Jul) → 5 (Aug), 27 YTD.</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Identification is now tracked ahead of referral: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34 accounts flagged (32 unique venues) but only 10 carry a referral date — converting identified into referred is the gap. Ho (13) and Bradford (11) identify; Bjorn has flagged 4 and referred none.</a:t>
            </a:r>
            <a:endParaRPr lang="en-US" sz="900" dirty="0"/>
          </a:p>
        </p:txBody>
      </p:sp>
      <p:sp>
        <p:nvSpPr>
          <p:cNvPr id="92" name="Shape 89"/>
          <p:cNvSpPr/>
          <p:nvPr/>
        </p:nvSpPr>
        <p:spPr>
          <a:xfrm>
            <a:off x="6653174" y="6510528"/>
            <a:ext cx="5124298" cy="256032"/>
          </a:xfrm>
          <a:prstGeom prst="roundRect">
            <a:avLst>
              <a:gd name="adj" fmla="val 46429"/>
            </a:avLst>
          </a:prstGeom>
          <a:solidFill>
            <a:srgbClr val="12293A"/>
          </a:solidFill>
          <a:ln/>
        </p:spPr>
      </p:sp>
      <p:sp>
        <p:nvSpPr>
          <p:cNvPr id="93" name="Text 90"/>
          <p:cNvSpPr txBox="1"/>
          <p:nvPr/>
        </p:nvSpPr>
        <p:spPr>
          <a:xfrm>
            <a:off x="6653174" y="6510528"/>
            <a:ext cx="5124298"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H&amp;L identification register + ValPay export · workbook received 12 Oct</a:t>
            </a:r>
            <a:endParaRPr lang="en-US" sz="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Utilisation &amp; Delivery Hours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Professional Services</a:t>
            </a:r>
            <a:endParaRPr lang="en-US" sz="1050" dirty="0"/>
          </a:p>
        </p:txBody>
      </p:sp>
      <p:sp>
        <p:nvSpPr>
          <p:cNvPr id="7" name="Shape 5"/>
          <p:cNvSpPr/>
          <p:nvPr/>
        </p:nvSpPr>
        <p:spPr>
          <a:xfrm>
            <a:off x="8686800" y="82296"/>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BILLABLE UTILISATION</a:t>
            </a:r>
            <a:endParaRPr lang="en-US" sz="950" dirty="0"/>
          </a:p>
        </p:txBody>
      </p:sp>
      <p:sp>
        <p:nvSpPr>
          <p:cNvPr id="17" name="Text 15"/>
          <p:cNvSpPr txBox="1"/>
          <p:nvPr/>
        </p:nvSpPr>
        <p:spPr>
          <a:xfrm>
            <a:off x="557784" y="1298448"/>
            <a:ext cx="3346704"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6.2%</a:t>
            </a:r>
            <a:endParaRPr lang="en-US" sz="2600" dirty="0"/>
          </a:p>
        </p:txBody>
      </p:sp>
      <p:sp>
        <p:nvSpPr>
          <p:cNvPr id="18" name="Text 16"/>
          <p:cNvSpPr txBox="1"/>
          <p:nvPr/>
        </p:nvSpPr>
        <p:spPr>
          <a:xfrm>
            <a:off x="576072"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21.25h billed of 342h available · target 80% · one 10.5h record is half of it</a:t>
            </a:r>
            <a:endParaRPr lang="en-US" sz="780" dirty="0"/>
          </a:p>
        </p:txBody>
      </p:sp>
      <p:sp>
        <p:nvSpPr>
          <p:cNvPr id="19" name="Shape 17"/>
          <p:cNvSpPr/>
          <p:nvPr/>
        </p:nvSpPr>
        <p:spPr>
          <a:xfrm>
            <a:off x="4233672" y="1024128"/>
            <a:ext cx="36393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4398264" y="1115568"/>
            <a:ext cx="33101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AVAILABLE HOURS — THIS WEEK</a:t>
            </a:r>
            <a:endParaRPr lang="en-US" sz="950" dirty="0"/>
          </a:p>
        </p:txBody>
      </p:sp>
      <p:sp>
        <p:nvSpPr>
          <p:cNvPr id="21" name="Text 19"/>
          <p:cNvSpPr txBox="1"/>
          <p:nvPr/>
        </p:nvSpPr>
        <p:spPr>
          <a:xfrm>
            <a:off x="4379976" y="1298448"/>
            <a:ext cx="33467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342h</a:t>
            </a:r>
            <a:endParaRPr lang="en-US" sz="2600" dirty="0"/>
          </a:p>
        </p:txBody>
      </p:sp>
      <p:sp>
        <p:nvSpPr>
          <p:cNvPr id="22" name="Text 20"/>
          <p:cNvSpPr txBox="1"/>
          <p:nvPr/>
        </p:nvSpPr>
        <p:spPr>
          <a:xfrm>
            <a:off x="4398264" y="1691640"/>
            <a:ext cx="33101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9 people assigned to PS-pipeline tickets × 38h standard week</a:t>
            </a:r>
            <a:endParaRPr lang="en-US" sz="780" dirty="0"/>
          </a:p>
        </p:txBody>
      </p:sp>
      <p:sp>
        <p:nvSpPr>
          <p:cNvPr id="23" name="Shape 21"/>
          <p:cNvSpPr/>
          <p:nvPr/>
        </p:nvSpPr>
        <p:spPr>
          <a:xfrm>
            <a:off x="8055864" y="1024128"/>
            <a:ext cx="3721608"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8220456" y="1115568"/>
            <a:ext cx="3392424"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TIME-LOGGING COVERAGE</a:t>
            </a:r>
            <a:endParaRPr lang="en-US" sz="950" dirty="0"/>
          </a:p>
        </p:txBody>
      </p:sp>
      <p:sp>
        <p:nvSpPr>
          <p:cNvPr id="25" name="Text 23"/>
          <p:cNvSpPr txBox="1"/>
          <p:nvPr/>
        </p:nvSpPr>
        <p:spPr>
          <a:xfrm>
            <a:off x="8202168" y="1298448"/>
            <a:ext cx="3429000" cy="356616"/>
          </a:xfrm>
          <a:prstGeom prst="rect">
            <a:avLst/>
          </a:prstGeom>
          <a:noFill/>
          <a:ln/>
        </p:spPr>
        <p:txBody>
          <a:bodyPr wrap="square" lIns="0" tIns="0" rIns="0" bIns="0" rtlCol="0" anchor="ctr"/>
          <a:lstStyle/>
          <a:p>
            <a:pPr indent="0" marL="0">
              <a:buNone/>
            </a:pPr>
            <a:r>
              <a:rPr lang="en-US" sz="2600" b="1" dirty="0">
                <a:solidFill>
                  <a:srgbClr val="C88A2E"/>
                </a:solidFill>
                <a:latin typeface="Poppins" pitchFamily="34" charset="0"/>
                <a:ea typeface="Poppins" pitchFamily="34" charset="-122"/>
                <a:cs typeface="Poppins" pitchFamily="34" charset="-120"/>
              </a:rPr>
              <a:t>29%</a:t>
            </a:r>
            <a:endParaRPr lang="en-US" sz="2600" dirty="0"/>
          </a:p>
        </p:txBody>
      </p:sp>
      <p:sp>
        <p:nvSpPr>
          <p:cNvPr id="26" name="Text 24"/>
          <p:cNvSpPr txBox="1"/>
          <p:nvPr/>
        </p:nvSpPr>
        <p:spPr>
          <a:xfrm>
            <a:off x="8220456" y="1691640"/>
            <a:ext cx="3392424"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15 of 52 PS items raised this week carry hours — utilisation reads low because logging is ramping, not because delivery stopped</a:t>
            </a:r>
            <a:endParaRPr lang="en-US" sz="780" dirty="0"/>
          </a:p>
        </p:txBody>
      </p:sp>
      <p:sp>
        <p:nvSpPr>
          <p:cNvPr id="27" name="Shape 25"/>
          <p:cNvSpPr/>
          <p:nvPr/>
        </p:nvSpPr>
        <p:spPr>
          <a:xfrm>
            <a:off x="411480" y="2395728"/>
            <a:ext cx="6583680" cy="2962656"/>
          </a:xfrm>
          <a:prstGeom prst="roundRect">
            <a:avLst>
              <a:gd name="adj" fmla="val 216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612648" y="2505456"/>
            <a:ext cx="6181344"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BILLABLE BY EMPLOYEE  </a:t>
            </a:r>
            <a:pPr indent="0" marL="0">
              <a:buNone/>
            </a:pPr>
            <a:r>
              <a:rPr lang="en-US" sz="700" dirty="0">
                <a:solidFill>
                  <a:srgbClr val="8FA1AC"/>
                </a:solidFill>
                <a:latin typeface="Poppins" pitchFamily="34" charset="0"/>
                <a:ea typeface="Poppins" pitchFamily="34" charset="-122"/>
                <a:cs typeface="Poppins" pitchFamily="34" charset="-120"/>
              </a:rPr>
              <a:t>hours logged against 38h available each</a:t>
            </a:r>
            <a:endParaRPr lang="en-US" sz="1200" dirty="0"/>
          </a:p>
        </p:txBody>
      </p:sp>
      <p:sp>
        <p:nvSpPr>
          <p:cNvPr id="29" name="Text 27"/>
          <p:cNvSpPr txBox="1"/>
          <p:nvPr/>
        </p:nvSpPr>
        <p:spPr>
          <a:xfrm>
            <a:off x="640080" y="2834640"/>
            <a:ext cx="1737360" cy="182880"/>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PS TEAM MEMBER</a:t>
            </a:r>
            <a:endParaRPr lang="en-US" sz="700" dirty="0"/>
          </a:p>
        </p:txBody>
      </p:sp>
      <p:sp>
        <p:nvSpPr>
          <p:cNvPr id="30" name="Text 28"/>
          <p:cNvSpPr txBox="1"/>
          <p:nvPr/>
        </p:nvSpPr>
        <p:spPr>
          <a:xfrm>
            <a:off x="50292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HOURS</a:t>
            </a:r>
            <a:endParaRPr lang="en-US" sz="700" dirty="0"/>
          </a:p>
        </p:txBody>
      </p:sp>
      <p:sp>
        <p:nvSpPr>
          <p:cNvPr id="31" name="Text 29"/>
          <p:cNvSpPr txBox="1"/>
          <p:nvPr/>
        </p:nvSpPr>
        <p:spPr>
          <a:xfrm>
            <a:off x="5943600" y="2834640"/>
            <a:ext cx="822960" cy="182880"/>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UTIL %</a:t>
            </a:r>
            <a:endParaRPr lang="en-US" sz="700" dirty="0"/>
          </a:p>
        </p:txBody>
      </p:sp>
      <p:sp>
        <p:nvSpPr>
          <p:cNvPr id="32" name="Text 30"/>
          <p:cNvSpPr txBox="1"/>
          <p:nvPr/>
        </p:nvSpPr>
        <p:spPr>
          <a:xfrm>
            <a:off x="2468880" y="2816352"/>
            <a:ext cx="402336" cy="182880"/>
          </a:xfrm>
          <a:prstGeom prst="rect">
            <a:avLst/>
          </a:prstGeom>
          <a:noFill/>
          <a:ln/>
        </p:spPr>
        <p:txBody>
          <a:bodyPr wrap="square" lIns="0" tIns="0" rIns="0" bIns="0" rtlCol="0" anchor="ctr"/>
          <a:lstStyle/>
          <a:p>
            <a:pPr algn="l" indent="0" marL="0">
              <a:buNone/>
            </a:pPr>
            <a:r>
              <a:rPr lang="en-US" sz="650" b="1" dirty="0">
                <a:solidFill>
                  <a:srgbClr val="8FA1AC"/>
                </a:solidFill>
                <a:latin typeface="Poppins" pitchFamily="34" charset="0"/>
                <a:ea typeface="Poppins" pitchFamily="34" charset="-122"/>
                <a:cs typeface="Poppins" pitchFamily="34" charset="-120"/>
              </a:rPr>
              <a:t>0%</a:t>
            </a:r>
            <a:endParaRPr lang="en-US" sz="650" dirty="0"/>
          </a:p>
        </p:txBody>
      </p:sp>
      <p:sp>
        <p:nvSpPr>
          <p:cNvPr id="33" name="Text 31"/>
          <p:cNvSpPr txBox="1"/>
          <p:nvPr/>
        </p:nvSpPr>
        <p:spPr>
          <a:xfrm>
            <a:off x="2743200"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20%</a:t>
            </a:r>
            <a:endParaRPr lang="en-US" sz="650" dirty="0"/>
          </a:p>
        </p:txBody>
      </p:sp>
      <p:sp>
        <p:nvSpPr>
          <p:cNvPr id="34" name="Shape 32"/>
          <p:cNvSpPr/>
          <p:nvPr/>
        </p:nvSpPr>
        <p:spPr>
          <a:xfrm>
            <a:off x="2944368" y="3017520"/>
            <a:ext cx="5486" cy="1744675"/>
          </a:xfrm>
          <a:prstGeom prst="rect">
            <a:avLst/>
          </a:prstGeom>
          <a:solidFill>
            <a:srgbClr val="E2EAEE"/>
          </a:solidFill>
          <a:ln/>
        </p:spPr>
      </p:sp>
      <p:sp>
        <p:nvSpPr>
          <p:cNvPr id="35" name="Text 33"/>
          <p:cNvSpPr txBox="1"/>
          <p:nvPr/>
        </p:nvSpPr>
        <p:spPr>
          <a:xfrm>
            <a:off x="3218688"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40%</a:t>
            </a:r>
            <a:endParaRPr lang="en-US" sz="650" dirty="0"/>
          </a:p>
        </p:txBody>
      </p:sp>
      <p:sp>
        <p:nvSpPr>
          <p:cNvPr id="36" name="Shape 34"/>
          <p:cNvSpPr/>
          <p:nvPr/>
        </p:nvSpPr>
        <p:spPr>
          <a:xfrm>
            <a:off x="3419856" y="3017520"/>
            <a:ext cx="5486" cy="1744675"/>
          </a:xfrm>
          <a:prstGeom prst="rect">
            <a:avLst/>
          </a:prstGeom>
          <a:solidFill>
            <a:srgbClr val="E2EAEE"/>
          </a:solidFill>
          <a:ln/>
        </p:spPr>
      </p:sp>
      <p:sp>
        <p:nvSpPr>
          <p:cNvPr id="37" name="Text 35"/>
          <p:cNvSpPr txBox="1"/>
          <p:nvPr/>
        </p:nvSpPr>
        <p:spPr>
          <a:xfrm>
            <a:off x="3694176"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60%</a:t>
            </a:r>
            <a:endParaRPr lang="en-US" sz="650" dirty="0"/>
          </a:p>
        </p:txBody>
      </p:sp>
      <p:sp>
        <p:nvSpPr>
          <p:cNvPr id="38" name="Shape 36"/>
          <p:cNvSpPr/>
          <p:nvPr/>
        </p:nvSpPr>
        <p:spPr>
          <a:xfrm>
            <a:off x="3895344" y="3017520"/>
            <a:ext cx="5486" cy="1744675"/>
          </a:xfrm>
          <a:prstGeom prst="rect">
            <a:avLst/>
          </a:prstGeom>
          <a:solidFill>
            <a:srgbClr val="E2EAEE"/>
          </a:solidFill>
          <a:ln/>
        </p:spPr>
      </p:sp>
      <p:sp>
        <p:nvSpPr>
          <p:cNvPr id="39" name="Text 37"/>
          <p:cNvSpPr txBox="1"/>
          <p:nvPr/>
        </p:nvSpPr>
        <p:spPr>
          <a:xfrm>
            <a:off x="4169664" y="2816352"/>
            <a:ext cx="402336" cy="182880"/>
          </a:xfrm>
          <a:prstGeom prst="rect">
            <a:avLst/>
          </a:prstGeom>
          <a:noFill/>
          <a:ln/>
        </p:spPr>
        <p:txBody>
          <a:bodyPr wrap="square" lIns="0" tIns="0" rIns="0" bIns="0" rtlCol="0" anchor="ctr"/>
          <a:lstStyle/>
          <a:p>
            <a:pPr algn="ctr" indent="0" marL="0">
              <a:buNone/>
            </a:pPr>
            <a:r>
              <a:rPr lang="en-US" sz="650" b="1" dirty="0">
                <a:solidFill>
                  <a:srgbClr val="8FA1AC"/>
                </a:solidFill>
                <a:latin typeface="Poppins" pitchFamily="34" charset="0"/>
                <a:ea typeface="Poppins" pitchFamily="34" charset="-122"/>
                <a:cs typeface="Poppins" pitchFamily="34" charset="-120"/>
              </a:rPr>
              <a:t>80%</a:t>
            </a:r>
            <a:endParaRPr lang="en-US" sz="650" dirty="0"/>
          </a:p>
        </p:txBody>
      </p:sp>
      <p:sp>
        <p:nvSpPr>
          <p:cNvPr id="40" name="Shape 38"/>
          <p:cNvSpPr/>
          <p:nvPr/>
        </p:nvSpPr>
        <p:spPr>
          <a:xfrm>
            <a:off x="4370832" y="3017520"/>
            <a:ext cx="5486" cy="1744675"/>
          </a:xfrm>
          <a:prstGeom prst="rect">
            <a:avLst/>
          </a:prstGeom>
          <a:solidFill>
            <a:srgbClr val="E2EAEE"/>
          </a:solidFill>
          <a:ln/>
        </p:spPr>
      </p:sp>
      <p:sp>
        <p:nvSpPr>
          <p:cNvPr id="41" name="Text 39"/>
          <p:cNvSpPr txBox="1"/>
          <p:nvPr/>
        </p:nvSpPr>
        <p:spPr>
          <a:xfrm>
            <a:off x="4443984" y="2816352"/>
            <a:ext cx="402336" cy="182880"/>
          </a:xfrm>
          <a:prstGeom prst="rect">
            <a:avLst/>
          </a:prstGeom>
          <a:noFill/>
          <a:ln/>
        </p:spPr>
        <p:txBody>
          <a:bodyPr wrap="square" lIns="0" tIns="0" rIns="0" bIns="0" rtlCol="0" anchor="ctr"/>
          <a:lstStyle/>
          <a:p>
            <a:pPr algn="r" indent="0" marL="0">
              <a:buNone/>
            </a:pPr>
            <a:r>
              <a:rPr lang="en-US" sz="650" b="1" dirty="0">
                <a:solidFill>
                  <a:srgbClr val="8FA1AC"/>
                </a:solidFill>
                <a:latin typeface="Poppins" pitchFamily="34" charset="0"/>
                <a:ea typeface="Poppins" pitchFamily="34" charset="-122"/>
                <a:cs typeface="Poppins" pitchFamily="34" charset="-120"/>
              </a:rPr>
              <a:t>100%</a:t>
            </a:r>
            <a:endParaRPr lang="en-US" sz="650" dirty="0"/>
          </a:p>
        </p:txBody>
      </p:sp>
      <p:sp>
        <p:nvSpPr>
          <p:cNvPr id="42" name="Shape 40"/>
          <p:cNvSpPr/>
          <p:nvPr/>
        </p:nvSpPr>
        <p:spPr>
          <a:xfrm>
            <a:off x="4846320" y="3017520"/>
            <a:ext cx="5486" cy="1744675"/>
          </a:xfrm>
          <a:prstGeom prst="rect">
            <a:avLst/>
          </a:prstGeom>
          <a:solidFill>
            <a:srgbClr val="E2EAEE"/>
          </a:solidFill>
          <a:ln/>
        </p:spPr>
      </p:sp>
      <p:sp>
        <p:nvSpPr>
          <p:cNvPr id="43" name="Text 41"/>
          <p:cNvSpPr txBox="1"/>
          <p:nvPr/>
        </p:nvSpPr>
        <p:spPr>
          <a:xfrm>
            <a:off x="640080" y="3054096"/>
            <a:ext cx="1783080" cy="193853"/>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Joshua Casey</a:t>
            </a:r>
            <a:endParaRPr lang="en-US" sz="800" dirty="0"/>
          </a:p>
        </p:txBody>
      </p:sp>
      <p:sp>
        <p:nvSpPr>
          <p:cNvPr id="44" name="Shape 42"/>
          <p:cNvSpPr/>
          <p:nvPr/>
        </p:nvSpPr>
        <p:spPr>
          <a:xfrm>
            <a:off x="2468880" y="3121304"/>
            <a:ext cx="2377440" cy="59436"/>
          </a:xfrm>
          <a:prstGeom prst="roundRect">
            <a:avLst>
              <a:gd name="adj" fmla="val 49231"/>
            </a:avLst>
          </a:prstGeom>
          <a:solidFill>
            <a:srgbClr val="E2EAEE"/>
          </a:solidFill>
          <a:ln/>
        </p:spPr>
      </p:sp>
      <p:sp>
        <p:nvSpPr>
          <p:cNvPr id="45" name="Shape 43"/>
          <p:cNvSpPr/>
          <p:nvPr/>
        </p:nvSpPr>
        <p:spPr>
          <a:xfrm>
            <a:off x="2468880" y="3121304"/>
            <a:ext cx="969996" cy="59436"/>
          </a:xfrm>
          <a:prstGeom prst="roundRect">
            <a:avLst>
              <a:gd name="adj" fmla="val 49231"/>
            </a:avLst>
          </a:prstGeom>
          <a:solidFill>
            <a:srgbClr val="2C8394"/>
          </a:solidFill>
          <a:ln/>
        </p:spPr>
      </p:sp>
      <p:sp>
        <p:nvSpPr>
          <p:cNvPr id="46" name="Text 44"/>
          <p:cNvSpPr txBox="1"/>
          <p:nvPr/>
        </p:nvSpPr>
        <p:spPr>
          <a:xfrm>
            <a:off x="5029200" y="3054096"/>
            <a:ext cx="822960" cy="193853"/>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15.50h</a:t>
            </a:r>
            <a:endParaRPr lang="en-US" sz="800" dirty="0"/>
          </a:p>
        </p:txBody>
      </p:sp>
      <p:sp>
        <p:nvSpPr>
          <p:cNvPr id="47" name="Text 45"/>
          <p:cNvSpPr txBox="1"/>
          <p:nvPr/>
        </p:nvSpPr>
        <p:spPr>
          <a:xfrm>
            <a:off x="5943600" y="3054096"/>
            <a:ext cx="822960" cy="193853"/>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40.8%</a:t>
            </a:r>
            <a:endParaRPr lang="en-US" sz="800" dirty="0"/>
          </a:p>
        </p:txBody>
      </p:sp>
      <p:sp>
        <p:nvSpPr>
          <p:cNvPr id="48" name="Text 46"/>
          <p:cNvSpPr txBox="1"/>
          <p:nvPr/>
        </p:nvSpPr>
        <p:spPr>
          <a:xfrm>
            <a:off x="640080" y="3247949"/>
            <a:ext cx="1783080" cy="193853"/>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Isayah Kuhlmann</a:t>
            </a:r>
            <a:endParaRPr lang="en-US" sz="800" dirty="0"/>
          </a:p>
        </p:txBody>
      </p:sp>
      <p:sp>
        <p:nvSpPr>
          <p:cNvPr id="49" name="Shape 47"/>
          <p:cNvSpPr/>
          <p:nvPr/>
        </p:nvSpPr>
        <p:spPr>
          <a:xfrm>
            <a:off x="2468880" y="3315157"/>
            <a:ext cx="2377440" cy="59436"/>
          </a:xfrm>
          <a:prstGeom prst="roundRect">
            <a:avLst>
              <a:gd name="adj" fmla="val 49231"/>
            </a:avLst>
          </a:prstGeom>
          <a:solidFill>
            <a:srgbClr val="E2EAEE"/>
          </a:solidFill>
          <a:ln/>
        </p:spPr>
      </p:sp>
      <p:sp>
        <p:nvSpPr>
          <p:cNvPr id="50" name="Shape 48"/>
          <p:cNvSpPr/>
          <p:nvPr/>
        </p:nvSpPr>
        <p:spPr>
          <a:xfrm>
            <a:off x="2468880" y="3315157"/>
            <a:ext cx="204460" cy="59436"/>
          </a:xfrm>
          <a:prstGeom prst="roundRect">
            <a:avLst>
              <a:gd name="adj" fmla="val 49231"/>
            </a:avLst>
          </a:prstGeom>
          <a:solidFill>
            <a:srgbClr val="2C8394"/>
          </a:solidFill>
          <a:ln/>
        </p:spPr>
      </p:sp>
      <p:sp>
        <p:nvSpPr>
          <p:cNvPr id="51" name="Text 49"/>
          <p:cNvSpPr txBox="1"/>
          <p:nvPr/>
        </p:nvSpPr>
        <p:spPr>
          <a:xfrm>
            <a:off x="5029200" y="3247949"/>
            <a:ext cx="822960" cy="193853"/>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3.25h</a:t>
            </a:r>
            <a:endParaRPr lang="en-US" sz="800" dirty="0"/>
          </a:p>
        </p:txBody>
      </p:sp>
      <p:sp>
        <p:nvSpPr>
          <p:cNvPr id="52" name="Text 50"/>
          <p:cNvSpPr txBox="1"/>
          <p:nvPr/>
        </p:nvSpPr>
        <p:spPr>
          <a:xfrm>
            <a:off x="5943600" y="3247949"/>
            <a:ext cx="822960" cy="193853"/>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8.6%</a:t>
            </a:r>
            <a:endParaRPr lang="en-US" sz="800" dirty="0"/>
          </a:p>
        </p:txBody>
      </p:sp>
      <p:sp>
        <p:nvSpPr>
          <p:cNvPr id="53" name="Text 51"/>
          <p:cNvSpPr txBox="1"/>
          <p:nvPr/>
        </p:nvSpPr>
        <p:spPr>
          <a:xfrm>
            <a:off x="640080" y="3441802"/>
            <a:ext cx="1783080" cy="193853"/>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Argenis Rafael Guevara</a:t>
            </a:r>
            <a:endParaRPr lang="en-US" sz="800" dirty="0"/>
          </a:p>
        </p:txBody>
      </p:sp>
      <p:sp>
        <p:nvSpPr>
          <p:cNvPr id="54" name="Shape 52"/>
          <p:cNvSpPr/>
          <p:nvPr/>
        </p:nvSpPr>
        <p:spPr>
          <a:xfrm>
            <a:off x="2468880" y="3509010"/>
            <a:ext cx="2377440" cy="59436"/>
          </a:xfrm>
          <a:prstGeom prst="roundRect">
            <a:avLst>
              <a:gd name="adj" fmla="val 49231"/>
            </a:avLst>
          </a:prstGeom>
          <a:solidFill>
            <a:srgbClr val="E2EAEE"/>
          </a:solidFill>
          <a:ln/>
        </p:spPr>
      </p:sp>
      <p:sp>
        <p:nvSpPr>
          <p:cNvPr id="55" name="Shape 53"/>
          <p:cNvSpPr/>
          <p:nvPr/>
        </p:nvSpPr>
        <p:spPr>
          <a:xfrm>
            <a:off x="2468880" y="3509010"/>
            <a:ext cx="126004" cy="59436"/>
          </a:xfrm>
          <a:prstGeom prst="roundRect">
            <a:avLst>
              <a:gd name="adj" fmla="val 49231"/>
            </a:avLst>
          </a:prstGeom>
          <a:solidFill>
            <a:srgbClr val="2C8394"/>
          </a:solidFill>
          <a:ln/>
        </p:spPr>
      </p:sp>
      <p:sp>
        <p:nvSpPr>
          <p:cNvPr id="56" name="Text 54"/>
          <p:cNvSpPr txBox="1"/>
          <p:nvPr/>
        </p:nvSpPr>
        <p:spPr>
          <a:xfrm>
            <a:off x="5029200" y="3441802"/>
            <a:ext cx="822960" cy="193853"/>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2.00h</a:t>
            </a:r>
            <a:endParaRPr lang="en-US" sz="800" dirty="0"/>
          </a:p>
        </p:txBody>
      </p:sp>
      <p:sp>
        <p:nvSpPr>
          <p:cNvPr id="57" name="Text 55"/>
          <p:cNvSpPr txBox="1"/>
          <p:nvPr/>
        </p:nvSpPr>
        <p:spPr>
          <a:xfrm>
            <a:off x="5943600" y="3441802"/>
            <a:ext cx="822960" cy="193853"/>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5.3%</a:t>
            </a:r>
            <a:endParaRPr lang="en-US" sz="800" dirty="0"/>
          </a:p>
        </p:txBody>
      </p:sp>
      <p:sp>
        <p:nvSpPr>
          <p:cNvPr id="58" name="Text 56"/>
          <p:cNvSpPr txBox="1"/>
          <p:nvPr/>
        </p:nvSpPr>
        <p:spPr>
          <a:xfrm>
            <a:off x="640080" y="3635654"/>
            <a:ext cx="1783080" cy="193853"/>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Gregory St Clare-Hobbs</a:t>
            </a:r>
            <a:endParaRPr lang="en-US" sz="800" dirty="0"/>
          </a:p>
        </p:txBody>
      </p:sp>
      <p:sp>
        <p:nvSpPr>
          <p:cNvPr id="59" name="Shape 57"/>
          <p:cNvSpPr/>
          <p:nvPr/>
        </p:nvSpPr>
        <p:spPr>
          <a:xfrm>
            <a:off x="2468880" y="3702863"/>
            <a:ext cx="2377440" cy="59436"/>
          </a:xfrm>
          <a:prstGeom prst="roundRect">
            <a:avLst>
              <a:gd name="adj" fmla="val 49231"/>
            </a:avLst>
          </a:prstGeom>
          <a:solidFill>
            <a:srgbClr val="E2EAEE"/>
          </a:solidFill>
          <a:ln/>
        </p:spPr>
      </p:sp>
      <p:sp>
        <p:nvSpPr>
          <p:cNvPr id="60" name="Shape 58"/>
          <p:cNvSpPr/>
          <p:nvPr/>
        </p:nvSpPr>
        <p:spPr>
          <a:xfrm>
            <a:off x="2468880" y="3702863"/>
            <a:ext cx="45720" cy="59436"/>
          </a:xfrm>
          <a:prstGeom prst="roundRect">
            <a:avLst>
              <a:gd name="adj" fmla="val 64000"/>
            </a:avLst>
          </a:prstGeom>
          <a:solidFill>
            <a:srgbClr val="2C8394"/>
          </a:solidFill>
          <a:ln/>
        </p:spPr>
      </p:sp>
      <p:sp>
        <p:nvSpPr>
          <p:cNvPr id="61" name="Text 59"/>
          <p:cNvSpPr txBox="1"/>
          <p:nvPr/>
        </p:nvSpPr>
        <p:spPr>
          <a:xfrm>
            <a:off x="5029200" y="3635654"/>
            <a:ext cx="822960" cy="193853"/>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0.50h</a:t>
            </a:r>
            <a:endParaRPr lang="en-US" sz="800" dirty="0"/>
          </a:p>
        </p:txBody>
      </p:sp>
      <p:sp>
        <p:nvSpPr>
          <p:cNvPr id="62" name="Text 60"/>
          <p:cNvSpPr txBox="1"/>
          <p:nvPr/>
        </p:nvSpPr>
        <p:spPr>
          <a:xfrm>
            <a:off x="5943600" y="3635654"/>
            <a:ext cx="822960" cy="193853"/>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1.3%</a:t>
            </a:r>
            <a:endParaRPr lang="en-US" sz="800" dirty="0"/>
          </a:p>
        </p:txBody>
      </p:sp>
      <p:sp>
        <p:nvSpPr>
          <p:cNvPr id="63" name="Text 61"/>
          <p:cNvSpPr txBox="1"/>
          <p:nvPr/>
        </p:nvSpPr>
        <p:spPr>
          <a:xfrm>
            <a:off x="640080" y="3829507"/>
            <a:ext cx="1783080" cy="193853"/>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Isaac Mercado</a:t>
            </a:r>
            <a:endParaRPr lang="en-US" sz="800" dirty="0"/>
          </a:p>
        </p:txBody>
      </p:sp>
      <p:sp>
        <p:nvSpPr>
          <p:cNvPr id="64" name="Shape 62"/>
          <p:cNvSpPr/>
          <p:nvPr/>
        </p:nvSpPr>
        <p:spPr>
          <a:xfrm>
            <a:off x="2468880" y="3896716"/>
            <a:ext cx="2377440" cy="59436"/>
          </a:xfrm>
          <a:prstGeom prst="roundRect">
            <a:avLst>
              <a:gd name="adj" fmla="val 49231"/>
            </a:avLst>
          </a:prstGeom>
          <a:solidFill>
            <a:srgbClr val="E2EAEE"/>
          </a:solidFill>
          <a:ln/>
        </p:spPr>
      </p:sp>
      <p:sp>
        <p:nvSpPr>
          <p:cNvPr id="65" name="Text 63"/>
          <p:cNvSpPr txBox="1"/>
          <p:nvPr/>
        </p:nvSpPr>
        <p:spPr>
          <a:xfrm>
            <a:off x="5029200" y="3829507"/>
            <a:ext cx="822960" cy="193853"/>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66" name="Text 64"/>
          <p:cNvSpPr txBox="1"/>
          <p:nvPr/>
        </p:nvSpPr>
        <p:spPr>
          <a:xfrm>
            <a:off x="5943600" y="3829507"/>
            <a:ext cx="822960" cy="193853"/>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67" name="Text 65"/>
          <p:cNvSpPr txBox="1"/>
          <p:nvPr/>
        </p:nvSpPr>
        <p:spPr>
          <a:xfrm>
            <a:off x="640080" y="4023360"/>
            <a:ext cx="1783080" cy="193853"/>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Karim AlRifaii</a:t>
            </a:r>
            <a:endParaRPr lang="en-US" sz="800" dirty="0"/>
          </a:p>
        </p:txBody>
      </p:sp>
      <p:sp>
        <p:nvSpPr>
          <p:cNvPr id="68" name="Shape 66"/>
          <p:cNvSpPr/>
          <p:nvPr/>
        </p:nvSpPr>
        <p:spPr>
          <a:xfrm>
            <a:off x="2468880" y="4090568"/>
            <a:ext cx="2377440" cy="59436"/>
          </a:xfrm>
          <a:prstGeom prst="roundRect">
            <a:avLst>
              <a:gd name="adj" fmla="val 49231"/>
            </a:avLst>
          </a:prstGeom>
          <a:solidFill>
            <a:srgbClr val="E2EAEE"/>
          </a:solidFill>
          <a:ln/>
        </p:spPr>
      </p:sp>
      <p:sp>
        <p:nvSpPr>
          <p:cNvPr id="69" name="Text 67"/>
          <p:cNvSpPr txBox="1"/>
          <p:nvPr/>
        </p:nvSpPr>
        <p:spPr>
          <a:xfrm>
            <a:off x="5029200" y="4023360"/>
            <a:ext cx="822960" cy="193853"/>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0" name="Text 68"/>
          <p:cNvSpPr txBox="1"/>
          <p:nvPr/>
        </p:nvSpPr>
        <p:spPr>
          <a:xfrm>
            <a:off x="5943600" y="4023360"/>
            <a:ext cx="822960" cy="193853"/>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1" name="Text 69"/>
          <p:cNvSpPr txBox="1"/>
          <p:nvPr/>
        </p:nvSpPr>
        <p:spPr>
          <a:xfrm>
            <a:off x="640080" y="4217213"/>
            <a:ext cx="1783080" cy="193853"/>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Rhys Woolcock</a:t>
            </a:r>
            <a:endParaRPr lang="en-US" sz="800" dirty="0"/>
          </a:p>
        </p:txBody>
      </p:sp>
      <p:sp>
        <p:nvSpPr>
          <p:cNvPr id="72" name="Shape 70"/>
          <p:cNvSpPr/>
          <p:nvPr/>
        </p:nvSpPr>
        <p:spPr>
          <a:xfrm>
            <a:off x="2468880" y="4284421"/>
            <a:ext cx="2377440" cy="59436"/>
          </a:xfrm>
          <a:prstGeom prst="roundRect">
            <a:avLst>
              <a:gd name="adj" fmla="val 49231"/>
            </a:avLst>
          </a:prstGeom>
          <a:solidFill>
            <a:srgbClr val="E2EAEE"/>
          </a:solidFill>
          <a:ln/>
        </p:spPr>
      </p:sp>
      <p:sp>
        <p:nvSpPr>
          <p:cNvPr id="73" name="Text 71"/>
          <p:cNvSpPr txBox="1"/>
          <p:nvPr/>
        </p:nvSpPr>
        <p:spPr>
          <a:xfrm>
            <a:off x="5029200" y="4217213"/>
            <a:ext cx="822960" cy="193853"/>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4" name="Text 72"/>
          <p:cNvSpPr txBox="1"/>
          <p:nvPr/>
        </p:nvSpPr>
        <p:spPr>
          <a:xfrm>
            <a:off x="5943600" y="4217213"/>
            <a:ext cx="822960" cy="193853"/>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5" name="Text 73"/>
          <p:cNvSpPr txBox="1"/>
          <p:nvPr/>
        </p:nvSpPr>
        <p:spPr>
          <a:xfrm>
            <a:off x="640080" y="4411066"/>
            <a:ext cx="1783080" cy="193853"/>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Rodney Nolan</a:t>
            </a:r>
            <a:endParaRPr lang="en-US" sz="800" dirty="0"/>
          </a:p>
        </p:txBody>
      </p:sp>
      <p:sp>
        <p:nvSpPr>
          <p:cNvPr id="76" name="Shape 74"/>
          <p:cNvSpPr/>
          <p:nvPr/>
        </p:nvSpPr>
        <p:spPr>
          <a:xfrm>
            <a:off x="2468880" y="4478274"/>
            <a:ext cx="2377440" cy="59436"/>
          </a:xfrm>
          <a:prstGeom prst="roundRect">
            <a:avLst>
              <a:gd name="adj" fmla="val 49231"/>
            </a:avLst>
          </a:prstGeom>
          <a:solidFill>
            <a:srgbClr val="E2EAEE"/>
          </a:solidFill>
          <a:ln/>
        </p:spPr>
      </p:sp>
      <p:sp>
        <p:nvSpPr>
          <p:cNvPr id="77" name="Text 75"/>
          <p:cNvSpPr txBox="1"/>
          <p:nvPr/>
        </p:nvSpPr>
        <p:spPr>
          <a:xfrm>
            <a:off x="5029200" y="4411066"/>
            <a:ext cx="822960" cy="193853"/>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78" name="Text 76"/>
          <p:cNvSpPr txBox="1"/>
          <p:nvPr/>
        </p:nvSpPr>
        <p:spPr>
          <a:xfrm>
            <a:off x="5943600" y="4411066"/>
            <a:ext cx="822960" cy="193853"/>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79" name="Text 77"/>
          <p:cNvSpPr txBox="1"/>
          <p:nvPr/>
        </p:nvSpPr>
        <p:spPr>
          <a:xfrm>
            <a:off x="640080" y="4604918"/>
            <a:ext cx="1783080" cy="193853"/>
          </a:xfrm>
          <a:prstGeom prst="rect">
            <a:avLst/>
          </a:prstGeom>
          <a:noFill/>
          <a:ln/>
        </p:spPr>
        <p:txBody>
          <a:bodyPr wrap="square" lIns="0" tIns="0" rIns="0" bIns="0" rtlCol="0" anchor="ctr"/>
          <a:lstStyle/>
          <a:p>
            <a:pPr indent="0" marL="0">
              <a:buNone/>
            </a:pPr>
            <a:r>
              <a:rPr lang="en-US" sz="800" dirty="0">
                <a:solidFill>
                  <a:srgbClr val="5E7280"/>
                </a:solidFill>
                <a:latin typeface="Poppins" pitchFamily="34" charset="0"/>
                <a:ea typeface="Poppins" pitchFamily="34" charset="-122"/>
                <a:cs typeface="Poppins" pitchFamily="34" charset="-120"/>
              </a:rPr>
              <a:t>Ryan Neil Orande</a:t>
            </a:r>
            <a:endParaRPr lang="en-US" sz="800" dirty="0"/>
          </a:p>
        </p:txBody>
      </p:sp>
      <p:sp>
        <p:nvSpPr>
          <p:cNvPr id="80" name="Shape 78"/>
          <p:cNvSpPr/>
          <p:nvPr/>
        </p:nvSpPr>
        <p:spPr>
          <a:xfrm>
            <a:off x="2468880" y="4672127"/>
            <a:ext cx="2377440" cy="59436"/>
          </a:xfrm>
          <a:prstGeom prst="roundRect">
            <a:avLst>
              <a:gd name="adj" fmla="val 49231"/>
            </a:avLst>
          </a:prstGeom>
          <a:solidFill>
            <a:srgbClr val="E2EAEE"/>
          </a:solidFill>
          <a:ln/>
        </p:spPr>
      </p:sp>
      <p:sp>
        <p:nvSpPr>
          <p:cNvPr id="81" name="Text 79"/>
          <p:cNvSpPr txBox="1"/>
          <p:nvPr/>
        </p:nvSpPr>
        <p:spPr>
          <a:xfrm>
            <a:off x="5029200" y="4604918"/>
            <a:ext cx="822960" cy="193853"/>
          </a:xfrm>
          <a:prstGeom prst="rect">
            <a:avLst/>
          </a:prstGeom>
          <a:noFill/>
          <a:ln/>
        </p:spPr>
        <p:txBody>
          <a:bodyPr wrap="square" lIns="0" tIns="0" rIns="0" bIns="0" rtlCol="0" anchor="ctr"/>
          <a:lstStyle/>
          <a:p>
            <a:pPr algn="r" indent="0" marL="0">
              <a:buNone/>
            </a:pPr>
            <a:r>
              <a:rPr lang="en-US" sz="800" dirty="0">
                <a:solidFill>
                  <a:srgbClr val="8FA1AC"/>
                </a:solidFill>
                <a:latin typeface="Poppins" pitchFamily="34" charset="0"/>
                <a:ea typeface="Poppins" pitchFamily="34" charset="-122"/>
                <a:cs typeface="Poppins" pitchFamily="34" charset="-120"/>
              </a:rPr>
              <a:t>—</a:t>
            </a:r>
            <a:endParaRPr lang="en-US" sz="800" dirty="0"/>
          </a:p>
        </p:txBody>
      </p:sp>
      <p:sp>
        <p:nvSpPr>
          <p:cNvPr id="82" name="Text 80"/>
          <p:cNvSpPr txBox="1"/>
          <p:nvPr/>
        </p:nvSpPr>
        <p:spPr>
          <a:xfrm>
            <a:off x="5943600" y="4604918"/>
            <a:ext cx="822960" cy="193853"/>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 time logged</a:t>
            </a:r>
            <a:endParaRPr lang="en-US" sz="600" dirty="0"/>
          </a:p>
        </p:txBody>
      </p:sp>
      <p:sp>
        <p:nvSpPr>
          <p:cNvPr id="83" name="Shape 81"/>
          <p:cNvSpPr/>
          <p:nvPr/>
        </p:nvSpPr>
        <p:spPr>
          <a:xfrm>
            <a:off x="640080" y="4817059"/>
            <a:ext cx="6126480" cy="10973"/>
          </a:xfrm>
          <a:prstGeom prst="rect">
            <a:avLst/>
          </a:prstGeom>
          <a:solidFill>
            <a:srgbClr val="12293A"/>
          </a:solidFill>
          <a:ln/>
        </p:spPr>
      </p:sp>
      <p:sp>
        <p:nvSpPr>
          <p:cNvPr id="84" name="Text 82"/>
          <p:cNvSpPr txBox="1"/>
          <p:nvPr/>
        </p:nvSpPr>
        <p:spPr>
          <a:xfrm>
            <a:off x="640080" y="4844491"/>
            <a:ext cx="1783080" cy="193853"/>
          </a:xfrm>
          <a:prstGeom prst="rect">
            <a:avLst/>
          </a:prstGeom>
          <a:noFill/>
          <a:ln/>
        </p:spPr>
        <p:txBody>
          <a:bodyPr wrap="square" lIns="0" tIns="0" rIns="0" bIns="0" rtlCol="0" anchor="ctr"/>
          <a:lstStyle/>
          <a:p>
            <a:pPr indent="0" marL="0">
              <a:buNone/>
            </a:pPr>
            <a:r>
              <a:rPr lang="en-US" sz="850" b="1" dirty="0">
                <a:solidFill>
                  <a:srgbClr val="12293A"/>
                </a:solidFill>
                <a:latin typeface="Poppins" pitchFamily="34" charset="0"/>
                <a:ea typeface="Poppins" pitchFamily="34" charset="-122"/>
                <a:cs typeface="Poppins" pitchFamily="34" charset="-120"/>
              </a:rPr>
              <a:t>TOTAL</a:t>
            </a:r>
            <a:endParaRPr lang="en-US" sz="850" dirty="0"/>
          </a:p>
        </p:txBody>
      </p:sp>
      <p:sp>
        <p:nvSpPr>
          <p:cNvPr id="85" name="Text 83"/>
          <p:cNvSpPr txBox="1"/>
          <p:nvPr/>
        </p:nvSpPr>
        <p:spPr>
          <a:xfrm>
            <a:off x="2468880" y="4844491"/>
            <a:ext cx="2377440" cy="193853"/>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9 PS people × 38h = 342h available</a:t>
            </a:r>
            <a:endParaRPr lang="en-US" sz="700" dirty="0"/>
          </a:p>
        </p:txBody>
      </p:sp>
      <p:sp>
        <p:nvSpPr>
          <p:cNvPr id="86" name="Text 84"/>
          <p:cNvSpPr txBox="1"/>
          <p:nvPr/>
        </p:nvSpPr>
        <p:spPr>
          <a:xfrm>
            <a:off x="5029200" y="4844491"/>
            <a:ext cx="822960" cy="193853"/>
          </a:xfrm>
          <a:prstGeom prst="rect">
            <a:avLst/>
          </a:prstGeom>
          <a:noFill/>
          <a:ln/>
        </p:spPr>
        <p:txBody>
          <a:bodyPr wrap="square" lIns="0" tIns="0" rIns="0" bIns="0" rtlCol="0" anchor="ctr"/>
          <a:lstStyle/>
          <a:p>
            <a:pPr algn="r" indent="0" marL="0">
              <a:buNone/>
            </a:pPr>
            <a:r>
              <a:rPr lang="en-US" sz="950" b="1" dirty="0">
                <a:solidFill>
                  <a:srgbClr val="2C8394"/>
                </a:solidFill>
                <a:latin typeface="Poppins" pitchFamily="34" charset="0"/>
                <a:ea typeface="Poppins" pitchFamily="34" charset="-122"/>
                <a:cs typeface="Poppins" pitchFamily="34" charset="-120"/>
              </a:rPr>
              <a:t>21.25h</a:t>
            </a:r>
            <a:endParaRPr lang="en-US" sz="950" dirty="0"/>
          </a:p>
        </p:txBody>
      </p:sp>
      <p:sp>
        <p:nvSpPr>
          <p:cNvPr id="87" name="Text 85"/>
          <p:cNvSpPr txBox="1"/>
          <p:nvPr/>
        </p:nvSpPr>
        <p:spPr>
          <a:xfrm>
            <a:off x="5943600" y="4844491"/>
            <a:ext cx="822960" cy="193853"/>
          </a:xfrm>
          <a:prstGeom prst="rect">
            <a:avLst/>
          </a:prstGeom>
          <a:noFill/>
          <a:ln/>
        </p:spPr>
        <p:txBody>
          <a:bodyPr wrap="square" lIns="0" tIns="0" rIns="0" bIns="0" rtlCol="0" anchor="ctr"/>
          <a:lstStyle/>
          <a:p>
            <a:pPr algn="r" indent="0" marL="0">
              <a:buNone/>
            </a:pPr>
            <a:r>
              <a:rPr lang="en-US" sz="950" b="1" dirty="0">
                <a:solidFill>
                  <a:srgbClr val="C88A2E"/>
                </a:solidFill>
                <a:latin typeface="Poppins" pitchFamily="34" charset="0"/>
                <a:ea typeface="Poppins" pitchFamily="34" charset="-122"/>
                <a:cs typeface="Poppins" pitchFamily="34" charset="-120"/>
              </a:rPr>
              <a:t>6.2%</a:t>
            </a:r>
            <a:endParaRPr lang="en-US" sz="950" dirty="0"/>
          </a:p>
        </p:txBody>
      </p:sp>
      <p:sp>
        <p:nvSpPr>
          <p:cNvPr id="88" name="Text 86"/>
          <p:cNvSpPr txBox="1"/>
          <p:nvPr/>
        </p:nvSpPr>
        <p:spPr>
          <a:xfrm>
            <a:off x="640080" y="5029200"/>
            <a:ext cx="6126480" cy="310896"/>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Available staff = the 9 Professional Services people holding PS-pipeline tickets this week, at 38h each. Rhys Woolcock and Rodney Nolan are back in the base after last week's leave. Lopez, Hikuroa, Magabo, Ho, Fenwick and Hettiarachchy hold PS tickets but are not PS staff — they and their hours are excluded; none carried hours this week.</a:t>
            </a:r>
            <a:endParaRPr lang="en-US" sz="580" dirty="0"/>
          </a:p>
        </p:txBody>
      </p:sp>
      <p:sp>
        <p:nvSpPr>
          <p:cNvPr id="89" name="Shape 87"/>
          <p:cNvSpPr/>
          <p:nvPr/>
        </p:nvSpPr>
        <p:spPr>
          <a:xfrm>
            <a:off x="7178040" y="2395728"/>
            <a:ext cx="4599432" cy="1481328"/>
          </a:xfrm>
          <a:prstGeom prst="roundRect">
            <a:avLst>
              <a:gd name="adj" fmla="val 4321"/>
            </a:avLst>
          </a:prstGeom>
          <a:solidFill>
            <a:srgbClr val="FFFFFF"/>
          </a:solidFill>
          <a:ln/>
          <a:effectLst>
            <a:outerShdw sx="100000" sy="100000" kx="0" ky="0" algn="bl" rotWithShape="0" blurRad="76200" dist="25400" dir="5400000">
              <a:srgbClr val="9AAAB5">
                <a:alpha val="35000"/>
              </a:srgbClr>
            </a:outerShdw>
          </a:effectLst>
        </p:spPr>
      </p:sp>
      <p:sp>
        <p:nvSpPr>
          <p:cNvPr id="90" name="Text 88"/>
          <p:cNvSpPr txBox="1"/>
          <p:nvPr/>
        </p:nvSpPr>
        <p:spPr>
          <a:xfrm>
            <a:off x="7379208" y="2468880"/>
            <a:ext cx="4197096" cy="219456"/>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BILLABLE BY PS WORK  </a:t>
            </a:r>
            <a:pPr indent="0" marL="0">
              <a:buNone/>
            </a:pPr>
            <a:r>
              <a:rPr lang="en-US" sz="650" dirty="0">
                <a:solidFill>
                  <a:srgbClr val="8FA1AC"/>
                </a:solidFill>
                <a:latin typeface="Poppins" pitchFamily="34" charset="0"/>
                <a:ea typeface="Poppins" pitchFamily="34" charset="-122"/>
                <a:cs typeface="Poppins" pitchFamily="34" charset="-120"/>
              </a:rPr>
              <a:t>share of hours logged</a:t>
            </a:r>
            <a:endParaRPr lang="en-US" sz="1100" dirty="0"/>
          </a:p>
        </p:txBody>
      </p:sp>
      <p:sp>
        <p:nvSpPr>
          <p:cNvPr id="91" name="Text 89"/>
          <p:cNvSpPr txBox="1"/>
          <p:nvPr/>
        </p:nvSpPr>
        <p:spPr>
          <a:xfrm>
            <a:off x="7379208" y="2706624"/>
            <a:ext cx="1371600" cy="164592"/>
          </a:xfrm>
          <a:prstGeom prst="rect">
            <a:avLst/>
          </a:prstGeom>
          <a:noFill/>
          <a:ln/>
        </p:spPr>
        <p:txBody>
          <a:bodyPr wrap="square" lIns="0" tIns="0" rIns="0" bIns="0" rtlCol="0" anchor="ctr"/>
          <a:lstStyle/>
          <a:p>
            <a:pPr algn="l" indent="0" marL="0">
              <a:buNone/>
            </a:pPr>
            <a:r>
              <a:rPr lang="en-US" sz="680" b="1" dirty="0">
                <a:solidFill>
                  <a:srgbClr val="8FA1AC"/>
                </a:solidFill>
                <a:latin typeface="Poppins" pitchFamily="34" charset="0"/>
                <a:ea typeface="Poppins" pitchFamily="34" charset="-122"/>
                <a:cs typeface="Poppins" pitchFamily="34" charset="-120"/>
              </a:rPr>
              <a:t>SERVICE TYPE</a:t>
            </a:r>
            <a:endParaRPr lang="en-US" sz="680" dirty="0"/>
          </a:p>
        </p:txBody>
      </p:sp>
      <p:sp>
        <p:nvSpPr>
          <p:cNvPr id="92" name="Text 90"/>
          <p:cNvSpPr txBox="1"/>
          <p:nvPr/>
        </p:nvSpPr>
        <p:spPr>
          <a:xfrm>
            <a:off x="10287000" y="2706624"/>
            <a:ext cx="640080"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HOURS</a:t>
            </a:r>
            <a:endParaRPr lang="en-US" sz="680" dirty="0"/>
          </a:p>
        </p:txBody>
      </p:sp>
      <p:sp>
        <p:nvSpPr>
          <p:cNvPr id="93" name="Text 91"/>
          <p:cNvSpPr txBox="1"/>
          <p:nvPr/>
        </p:nvSpPr>
        <p:spPr>
          <a:xfrm>
            <a:off x="10972800" y="2706624"/>
            <a:ext cx="603504" cy="164592"/>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SHARE</a:t>
            </a:r>
            <a:endParaRPr lang="en-US" sz="680" dirty="0"/>
          </a:p>
        </p:txBody>
      </p:sp>
      <p:sp>
        <p:nvSpPr>
          <p:cNvPr id="94" name="Text 92"/>
          <p:cNvSpPr txBox="1"/>
          <p:nvPr/>
        </p:nvSpPr>
        <p:spPr>
          <a:xfrm>
            <a:off x="7379208" y="2880360"/>
            <a:ext cx="1371600" cy="151790"/>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Tech</a:t>
            </a:r>
            <a:endParaRPr lang="en-US" sz="700" dirty="0"/>
          </a:p>
        </p:txBody>
      </p:sp>
      <p:sp>
        <p:nvSpPr>
          <p:cNvPr id="95" name="Shape 93"/>
          <p:cNvSpPr/>
          <p:nvPr/>
        </p:nvSpPr>
        <p:spPr>
          <a:xfrm>
            <a:off x="8823960" y="2928823"/>
            <a:ext cx="1371600" cy="54864"/>
          </a:xfrm>
          <a:prstGeom prst="roundRect">
            <a:avLst>
              <a:gd name="adj" fmla="val 50000"/>
            </a:avLst>
          </a:prstGeom>
          <a:solidFill>
            <a:srgbClr val="E2EAEE"/>
          </a:solidFill>
          <a:ln/>
        </p:spPr>
      </p:sp>
      <p:sp>
        <p:nvSpPr>
          <p:cNvPr id="96" name="Shape 94"/>
          <p:cNvSpPr/>
          <p:nvPr/>
        </p:nvSpPr>
        <p:spPr>
          <a:xfrm>
            <a:off x="8823960" y="2928823"/>
            <a:ext cx="1371600" cy="54864"/>
          </a:xfrm>
          <a:prstGeom prst="roundRect">
            <a:avLst>
              <a:gd name="adj" fmla="val 50000"/>
            </a:avLst>
          </a:prstGeom>
          <a:solidFill>
            <a:srgbClr val="2C8394"/>
          </a:solidFill>
          <a:ln/>
        </p:spPr>
      </p:sp>
      <p:sp>
        <p:nvSpPr>
          <p:cNvPr id="97" name="Text 95"/>
          <p:cNvSpPr txBox="1"/>
          <p:nvPr/>
        </p:nvSpPr>
        <p:spPr>
          <a:xfrm>
            <a:off x="10287000" y="2880360"/>
            <a:ext cx="640080" cy="15179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19.75h</a:t>
            </a:r>
            <a:endParaRPr lang="en-US" sz="750" dirty="0"/>
          </a:p>
        </p:txBody>
      </p:sp>
      <p:sp>
        <p:nvSpPr>
          <p:cNvPr id="98" name="Text 96"/>
          <p:cNvSpPr txBox="1"/>
          <p:nvPr/>
        </p:nvSpPr>
        <p:spPr>
          <a:xfrm>
            <a:off x="10972800" y="2880360"/>
            <a:ext cx="603504" cy="151790"/>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92.9%</a:t>
            </a:r>
            <a:endParaRPr lang="en-US" sz="750" dirty="0"/>
          </a:p>
        </p:txBody>
      </p:sp>
      <p:sp>
        <p:nvSpPr>
          <p:cNvPr id="99" name="Text 97"/>
          <p:cNvSpPr txBox="1"/>
          <p:nvPr/>
        </p:nvSpPr>
        <p:spPr>
          <a:xfrm>
            <a:off x="7379208" y="3032150"/>
            <a:ext cx="1371600" cy="151790"/>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Training</a:t>
            </a:r>
            <a:endParaRPr lang="en-US" sz="700" dirty="0"/>
          </a:p>
        </p:txBody>
      </p:sp>
      <p:sp>
        <p:nvSpPr>
          <p:cNvPr id="100" name="Shape 98"/>
          <p:cNvSpPr/>
          <p:nvPr/>
        </p:nvSpPr>
        <p:spPr>
          <a:xfrm>
            <a:off x="8823960" y="3080614"/>
            <a:ext cx="1371600" cy="54864"/>
          </a:xfrm>
          <a:prstGeom prst="roundRect">
            <a:avLst>
              <a:gd name="adj" fmla="val 50000"/>
            </a:avLst>
          </a:prstGeom>
          <a:solidFill>
            <a:srgbClr val="E2EAEE"/>
          </a:solidFill>
          <a:ln/>
        </p:spPr>
      </p:sp>
      <p:sp>
        <p:nvSpPr>
          <p:cNvPr id="101" name="Shape 99"/>
          <p:cNvSpPr/>
          <p:nvPr/>
        </p:nvSpPr>
        <p:spPr>
          <a:xfrm>
            <a:off x="8823960" y="3080614"/>
            <a:ext cx="104172" cy="54864"/>
          </a:xfrm>
          <a:prstGeom prst="roundRect">
            <a:avLst>
              <a:gd name="adj" fmla="val 50000"/>
            </a:avLst>
          </a:prstGeom>
          <a:solidFill>
            <a:srgbClr val="2C8394"/>
          </a:solidFill>
          <a:ln/>
        </p:spPr>
      </p:sp>
      <p:sp>
        <p:nvSpPr>
          <p:cNvPr id="102" name="Text 100"/>
          <p:cNvSpPr txBox="1"/>
          <p:nvPr/>
        </p:nvSpPr>
        <p:spPr>
          <a:xfrm>
            <a:off x="10287000" y="3032150"/>
            <a:ext cx="640080" cy="151790"/>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1.50h</a:t>
            </a:r>
            <a:endParaRPr lang="en-US" sz="750" dirty="0"/>
          </a:p>
        </p:txBody>
      </p:sp>
      <p:sp>
        <p:nvSpPr>
          <p:cNvPr id="103" name="Text 101"/>
          <p:cNvSpPr txBox="1"/>
          <p:nvPr/>
        </p:nvSpPr>
        <p:spPr>
          <a:xfrm>
            <a:off x="10972800" y="3032150"/>
            <a:ext cx="603504" cy="151790"/>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7.1%</a:t>
            </a:r>
            <a:endParaRPr lang="en-US" sz="750" dirty="0"/>
          </a:p>
        </p:txBody>
      </p:sp>
      <p:sp>
        <p:nvSpPr>
          <p:cNvPr id="104" name="Text 102"/>
          <p:cNvSpPr txBox="1"/>
          <p:nvPr/>
        </p:nvSpPr>
        <p:spPr>
          <a:xfrm>
            <a:off x="7379208" y="3183941"/>
            <a:ext cx="1371600" cy="15179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Onboarding</a:t>
            </a:r>
            <a:endParaRPr lang="en-US" sz="700" dirty="0"/>
          </a:p>
        </p:txBody>
      </p:sp>
      <p:sp>
        <p:nvSpPr>
          <p:cNvPr id="105" name="Shape 103"/>
          <p:cNvSpPr/>
          <p:nvPr/>
        </p:nvSpPr>
        <p:spPr>
          <a:xfrm>
            <a:off x="8823960" y="3232404"/>
            <a:ext cx="1371600" cy="54864"/>
          </a:xfrm>
          <a:prstGeom prst="roundRect">
            <a:avLst>
              <a:gd name="adj" fmla="val 50000"/>
            </a:avLst>
          </a:prstGeom>
          <a:solidFill>
            <a:srgbClr val="E2EAEE"/>
          </a:solidFill>
          <a:ln/>
        </p:spPr>
      </p:sp>
      <p:sp>
        <p:nvSpPr>
          <p:cNvPr id="106" name="Text 104"/>
          <p:cNvSpPr txBox="1"/>
          <p:nvPr/>
        </p:nvSpPr>
        <p:spPr>
          <a:xfrm>
            <a:off x="10287000" y="3183941"/>
            <a:ext cx="640080" cy="15179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07" name="Text 105"/>
          <p:cNvSpPr txBox="1"/>
          <p:nvPr/>
        </p:nvSpPr>
        <p:spPr>
          <a:xfrm>
            <a:off x="10972800" y="3183941"/>
            <a:ext cx="603504" cy="151790"/>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none</a:t>
            </a:r>
            <a:endParaRPr lang="en-US" sz="600" dirty="0"/>
          </a:p>
        </p:txBody>
      </p:sp>
      <p:sp>
        <p:nvSpPr>
          <p:cNvPr id="108" name="Text 106"/>
          <p:cNvSpPr txBox="1"/>
          <p:nvPr/>
        </p:nvSpPr>
        <p:spPr>
          <a:xfrm>
            <a:off x="7379208" y="3335731"/>
            <a:ext cx="1371600" cy="15179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Integration</a:t>
            </a:r>
            <a:endParaRPr lang="en-US" sz="700" dirty="0"/>
          </a:p>
        </p:txBody>
      </p:sp>
      <p:sp>
        <p:nvSpPr>
          <p:cNvPr id="109" name="Shape 107"/>
          <p:cNvSpPr/>
          <p:nvPr/>
        </p:nvSpPr>
        <p:spPr>
          <a:xfrm>
            <a:off x="8823960" y="3384194"/>
            <a:ext cx="1371600" cy="54864"/>
          </a:xfrm>
          <a:prstGeom prst="roundRect">
            <a:avLst>
              <a:gd name="adj" fmla="val 50000"/>
            </a:avLst>
          </a:prstGeom>
          <a:solidFill>
            <a:srgbClr val="E2EAEE"/>
          </a:solidFill>
          <a:ln/>
        </p:spPr>
      </p:sp>
      <p:sp>
        <p:nvSpPr>
          <p:cNvPr id="110" name="Text 108"/>
          <p:cNvSpPr txBox="1"/>
          <p:nvPr/>
        </p:nvSpPr>
        <p:spPr>
          <a:xfrm>
            <a:off x="10287000" y="3335731"/>
            <a:ext cx="640080" cy="15179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11" name="Text 109"/>
          <p:cNvSpPr txBox="1"/>
          <p:nvPr/>
        </p:nvSpPr>
        <p:spPr>
          <a:xfrm>
            <a:off x="10972800" y="3335731"/>
            <a:ext cx="603504" cy="151790"/>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none</a:t>
            </a:r>
            <a:endParaRPr lang="en-US" sz="600" dirty="0"/>
          </a:p>
        </p:txBody>
      </p:sp>
      <p:sp>
        <p:nvSpPr>
          <p:cNvPr id="112" name="Text 110"/>
          <p:cNvSpPr txBox="1"/>
          <p:nvPr/>
        </p:nvSpPr>
        <p:spPr>
          <a:xfrm>
            <a:off x="7379208" y="3487522"/>
            <a:ext cx="1371600" cy="151790"/>
          </a:xfrm>
          <a:prstGeom prst="rect">
            <a:avLst/>
          </a:prstGeom>
          <a:noFill/>
          <a:ln/>
        </p:spPr>
        <p:txBody>
          <a:bodyPr wrap="square" lIns="0" tIns="0" rIns="0" bIns="0" rtlCol="0" anchor="ctr"/>
          <a:lstStyle/>
          <a:p>
            <a:pPr indent="0" marL="0">
              <a:buNone/>
            </a:pPr>
            <a:r>
              <a:rPr lang="en-US" sz="700" dirty="0">
                <a:solidFill>
                  <a:srgbClr val="5E7280"/>
                </a:solidFill>
                <a:latin typeface="Poppins" pitchFamily="34" charset="0"/>
                <a:ea typeface="Poppins" pitchFamily="34" charset="-122"/>
                <a:cs typeface="Poppins" pitchFamily="34" charset="-120"/>
              </a:rPr>
              <a:t>Warranty</a:t>
            </a:r>
            <a:endParaRPr lang="en-US" sz="700" dirty="0"/>
          </a:p>
        </p:txBody>
      </p:sp>
      <p:sp>
        <p:nvSpPr>
          <p:cNvPr id="113" name="Shape 111"/>
          <p:cNvSpPr/>
          <p:nvPr/>
        </p:nvSpPr>
        <p:spPr>
          <a:xfrm>
            <a:off x="8823960" y="3535985"/>
            <a:ext cx="1371600" cy="54864"/>
          </a:xfrm>
          <a:prstGeom prst="roundRect">
            <a:avLst>
              <a:gd name="adj" fmla="val 50000"/>
            </a:avLst>
          </a:prstGeom>
          <a:solidFill>
            <a:srgbClr val="E2EAEE"/>
          </a:solidFill>
          <a:ln/>
        </p:spPr>
      </p:sp>
      <p:sp>
        <p:nvSpPr>
          <p:cNvPr id="114" name="Text 112"/>
          <p:cNvSpPr txBox="1"/>
          <p:nvPr/>
        </p:nvSpPr>
        <p:spPr>
          <a:xfrm>
            <a:off x="10287000" y="3487522"/>
            <a:ext cx="640080" cy="151790"/>
          </a:xfrm>
          <a:prstGeom prst="rect">
            <a:avLst/>
          </a:prstGeom>
          <a:noFill/>
          <a:ln/>
        </p:spPr>
        <p:txBody>
          <a:bodyPr wrap="square" lIns="0" tIns="0" rIns="0" bIns="0" rtlCol="0" anchor="ctr"/>
          <a:lstStyle/>
          <a:p>
            <a:pPr algn="r" indent="0" marL="0">
              <a:buNone/>
            </a:pPr>
            <a:r>
              <a:rPr lang="en-US" sz="750" dirty="0">
                <a:solidFill>
                  <a:srgbClr val="8FA1AC"/>
                </a:solidFill>
                <a:latin typeface="Poppins" pitchFamily="34" charset="0"/>
                <a:ea typeface="Poppins" pitchFamily="34" charset="-122"/>
                <a:cs typeface="Poppins" pitchFamily="34" charset="-120"/>
              </a:rPr>
              <a:t>—</a:t>
            </a:r>
            <a:endParaRPr lang="en-US" sz="750" dirty="0"/>
          </a:p>
        </p:txBody>
      </p:sp>
      <p:sp>
        <p:nvSpPr>
          <p:cNvPr id="115" name="Text 113"/>
          <p:cNvSpPr txBox="1"/>
          <p:nvPr/>
        </p:nvSpPr>
        <p:spPr>
          <a:xfrm>
            <a:off x="10972800" y="3487522"/>
            <a:ext cx="603504" cy="151790"/>
          </a:xfrm>
          <a:prstGeom prst="rect">
            <a:avLst/>
          </a:prstGeom>
          <a:noFill/>
          <a:ln/>
        </p:spPr>
        <p:txBody>
          <a:bodyPr wrap="square" lIns="0" tIns="0" rIns="0" bIns="0" rtlCol="0" anchor="ctr"/>
          <a:lstStyle/>
          <a:p>
            <a:pPr algn="r" indent="0" marL="0">
              <a:buNone/>
            </a:pPr>
            <a:r>
              <a:rPr lang="en-US" sz="600" dirty="0">
                <a:solidFill>
                  <a:srgbClr val="8FA1AC"/>
                </a:solidFill>
                <a:latin typeface="Poppins" pitchFamily="34" charset="0"/>
                <a:ea typeface="Poppins" pitchFamily="34" charset="-122"/>
                <a:cs typeface="Poppins" pitchFamily="34" charset="-120"/>
              </a:rPr>
              <a:t>none</a:t>
            </a:r>
            <a:endParaRPr lang="en-US" sz="600" dirty="0"/>
          </a:p>
        </p:txBody>
      </p:sp>
      <p:sp>
        <p:nvSpPr>
          <p:cNvPr id="116" name="Shape 114"/>
          <p:cNvSpPr/>
          <p:nvPr/>
        </p:nvSpPr>
        <p:spPr>
          <a:xfrm>
            <a:off x="7379208" y="3657600"/>
            <a:ext cx="4197096" cy="10973"/>
          </a:xfrm>
          <a:prstGeom prst="rect">
            <a:avLst/>
          </a:prstGeom>
          <a:solidFill>
            <a:srgbClr val="12293A"/>
          </a:solidFill>
          <a:ln/>
        </p:spPr>
      </p:sp>
      <p:sp>
        <p:nvSpPr>
          <p:cNvPr id="117" name="Text 115"/>
          <p:cNvSpPr txBox="1"/>
          <p:nvPr/>
        </p:nvSpPr>
        <p:spPr>
          <a:xfrm>
            <a:off x="7379208" y="3675888"/>
            <a:ext cx="1371600" cy="182880"/>
          </a:xfrm>
          <a:prstGeom prst="rect">
            <a:avLst/>
          </a:prstGeom>
          <a:noFill/>
          <a:ln/>
        </p:spPr>
        <p:txBody>
          <a:bodyPr wrap="square" lIns="0" tIns="0" rIns="0" bIns="0" rtlCol="0" anchor="ctr"/>
          <a:lstStyle/>
          <a:p>
            <a:pP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118" name="Text 116"/>
          <p:cNvSpPr txBox="1"/>
          <p:nvPr/>
        </p:nvSpPr>
        <p:spPr>
          <a:xfrm>
            <a:off x="8823960" y="3675888"/>
            <a:ext cx="1371600" cy="182880"/>
          </a:xfrm>
          <a:prstGeom prst="rect">
            <a:avLst/>
          </a:prstGeom>
          <a:noFill/>
          <a:ln/>
        </p:spPr>
        <p:txBody>
          <a:bodyPr wrap="square" lIns="0" tIns="0" rIns="0" bIns="0" rtlCol="0" anchor="ctr"/>
          <a:lstStyle/>
          <a:p>
            <a:pPr indent="0" marL="0">
              <a:buNone/>
            </a:pPr>
            <a:r>
              <a:rPr lang="en-US" sz="630" dirty="0">
                <a:solidFill>
                  <a:srgbClr val="5E7280"/>
                </a:solidFill>
                <a:latin typeface="Poppins" pitchFamily="34" charset="0"/>
                <a:ea typeface="Poppins" pitchFamily="34" charset="-122"/>
                <a:cs typeface="Poppins" pitchFamily="34" charset="-120"/>
              </a:rPr>
              <a:t>15 PS items carry time</a:t>
            </a:r>
            <a:endParaRPr lang="en-US" sz="630" dirty="0"/>
          </a:p>
        </p:txBody>
      </p:sp>
      <p:sp>
        <p:nvSpPr>
          <p:cNvPr id="119" name="Text 117"/>
          <p:cNvSpPr txBox="1"/>
          <p:nvPr/>
        </p:nvSpPr>
        <p:spPr>
          <a:xfrm>
            <a:off x="10287000" y="3675888"/>
            <a:ext cx="640080" cy="182880"/>
          </a:xfrm>
          <a:prstGeom prst="rect">
            <a:avLst/>
          </a:prstGeom>
          <a:noFill/>
          <a:ln/>
        </p:spPr>
        <p:txBody>
          <a:bodyPr wrap="square" lIns="0" tIns="0" rIns="0" bIns="0" rtlCol="0" anchor="ctr"/>
          <a:lstStyle/>
          <a:p>
            <a:pPr algn="r" indent="0" marL="0">
              <a:buNone/>
            </a:pPr>
            <a:r>
              <a:rPr lang="en-US" sz="850" b="1" dirty="0">
                <a:solidFill>
                  <a:srgbClr val="2C8394"/>
                </a:solidFill>
                <a:latin typeface="Poppins" pitchFamily="34" charset="0"/>
                <a:ea typeface="Poppins" pitchFamily="34" charset="-122"/>
                <a:cs typeface="Poppins" pitchFamily="34" charset="-120"/>
              </a:rPr>
              <a:t>21.25h</a:t>
            </a:r>
            <a:endParaRPr lang="en-US" sz="850" dirty="0"/>
          </a:p>
        </p:txBody>
      </p:sp>
      <p:sp>
        <p:nvSpPr>
          <p:cNvPr id="120" name="Text 118"/>
          <p:cNvSpPr txBox="1"/>
          <p:nvPr/>
        </p:nvSpPr>
        <p:spPr>
          <a:xfrm>
            <a:off x="10972800" y="3675888"/>
            <a:ext cx="603504" cy="182880"/>
          </a:xfrm>
          <a:prstGeom prst="rect">
            <a:avLst/>
          </a:prstGeom>
          <a:noFill/>
          <a:ln/>
        </p:spPr>
        <p:txBody>
          <a:bodyPr wrap="square" lIns="0" tIns="0" rIns="0" bIns="0" rtlCol="0" anchor="ctr"/>
          <a:lstStyle/>
          <a:p>
            <a:pPr algn="r" indent="0" marL="0">
              <a:buNone/>
            </a:pPr>
            <a:r>
              <a:rPr lang="en-US" sz="750" b="1" dirty="0">
                <a:solidFill>
                  <a:srgbClr val="5E7280"/>
                </a:solidFill>
                <a:latin typeface="Poppins" pitchFamily="34" charset="0"/>
                <a:ea typeface="Poppins" pitchFamily="34" charset="-122"/>
                <a:cs typeface="Poppins" pitchFamily="34" charset="-120"/>
              </a:rPr>
              <a:t>100%</a:t>
            </a:r>
            <a:endParaRPr lang="en-US" sz="750" dirty="0"/>
          </a:p>
        </p:txBody>
      </p:sp>
      <p:sp>
        <p:nvSpPr>
          <p:cNvPr id="121" name="Shape 119"/>
          <p:cNvSpPr/>
          <p:nvPr/>
        </p:nvSpPr>
        <p:spPr>
          <a:xfrm>
            <a:off x="7178040" y="3968496"/>
            <a:ext cx="4599432" cy="1389888"/>
          </a:xfrm>
          <a:prstGeom prst="roundRect">
            <a:avLst>
              <a:gd name="adj" fmla="val 4605"/>
            </a:avLst>
          </a:prstGeom>
          <a:solidFill>
            <a:srgbClr val="FFFFFF"/>
          </a:solidFill>
          <a:ln/>
          <a:effectLst>
            <a:outerShdw sx="100000" sy="100000" kx="0" ky="0" algn="bl" rotWithShape="0" blurRad="76200" dist="25400" dir="5400000">
              <a:srgbClr val="9AAAB5">
                <a:alpha val="35000"/>
              </a:srgbClr>
            </a:outerShdw>
          </a:effectLst>
        </p:spPr>
      </p:sp>
      <p:sp>
        <p:nvSpPr>
          <p:cNvPr id="122" name="Text 120"/>
          <p:cNvSpPr txBox="1"/>
          <p:nvPr/>
        </p:nvSpPr>
        <p:spPr>
          <a:xfrm>
            <a:off x="7379208" y="4032504"/>
            <a:ext cx="4197096" cy="219456"/>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WEEK ON WEEK  </a:t>
            </a:r>
            <a:pPr indent="0" marL="0">
              <a:buNone/>
            </a:pPr>
            <a:r>
              <a:rPr lang="en-US" sz="650" dirty="0">
                <a:solidFill>
                  <a:srgbClr val="8FA1AC"/>
                </a:solidFill>
                <a:latin typeface="Poppins" pitchFamily="34" charset="0"/>
                <a:ea typeface="Poppins" pitchFamily="34" charset="-122"/>
                <a:cs typeface="Poppins" pitchFamily="34" charset="-120"/>
              </a:rPr>
              <a:t>as the weeks stand today</a:t>
            </a:r>
            <a:endParaRPr lang="en-US" sz="1100" dirty="0"/>
          </a:p>
        </p:txBody>
      </p:sp>
      <p:sp>
        <p:nvSpPr>
          <p:cNvPr id="123" name="Text 121"/>
          <p:cNvSpPr txBox="1"/>
          <p:nvPr/>
        </p:nvSpPr>
        <p:spPr>
          <a:xfrm>
            <a:off x="7379208" y="4261104"/>
            <a:ext cx="960120" cy="164592"/>
          </a:xfrm>
          <a:prstGeom prst="rect">
            <a:avLst/>
          </a:prstGeom>
          <a:noFill/>
          <a:ln/>
        </p:spPr>
        <p:txBody>
          <a:bodyPr wrap="square" lIns="0" tIns="0" rIns="0" bIns="0" rtlCol="0" anchor="ctr"/>
          <a:lstStyle/>
          <a:p>
            <a:pPr algn="l" indent="0" marL="0">
              <a:buNone/>
            </a:pPr>
            <a:r>
              <a:rPr lang="en-US" sz="630" b="1" dirty="0">
                <a:solidFill>
                  <a:srgbClr val="8FA1AC"/>
                </a:solidFill>
                <a:latin typeface="Poppins" pitchFamily="34" charset="0"/>
                <a:ea typeface="Poppins" pitchFamily="34" charset="-122"/>
                <a:cs typeface="Poppins" pitchFamily="34" charset="-120"/>
              </a:rPr>
              <a:t>WEEK</a:t>
            </a:r>
            <a:endParaRPr lang="en-US" sz="630" dirty="0"/>
          </a:p>
        </p:txBody>
      </p:sp>
      <p:sp>
        <p:nvSpPr>
          <p:cNvPr id="124" name="Text 122"/>
          <p:cNvSpPr txBox="1"/>
          <p:nvPr/>
        </p:nvSpPr>
        <p:spPr>
          <a:xfrm>
            <a:off x="8385048" y="4261104"/>
            <a:ext cx="45720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ITEMS</a:t>
            </a:r>
            <a:endParaRPr lang="en-US" sz="630" dirty="0"/>
          </a:p>
        </p:txBody>
      </p:sp>
      <p:sp>
        <p:nvSpPr>
          <p:cNvPr id="125" name="Text 123"/>
          <p:cNvSpPr txBox="1"/>
          <p:nvPr/>
        </p:nvSpPr>
        <p:spPr>
          <a:xfrm>
            <a:off x="8897112" y="4261104"/>
            <a:ext cx="77724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HOURS NOW</a:t>
            </a:r>
            <a:endParaRPr lang="en-US" sz="630" dirty="0"/>
          </a:p>
        </p:txBody>
      </p:sp>
      <p:sp>
        <p:nvSpPr>
          <p:cNvPr id="126" name="Text 124"/>
          <p:cNvSpPr txBox="1"/>
          <p:nvPr/>
        </p:nvSpPr>
        <p:spPr>
          <a:xfrm>
            <a:off x="9729216" y="4261104"/>
            <a:ext cx="457200"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UTIL</a:t>
            </a:r>
            <a:endParaRPr lang="en-US" sz="630" dirty="0"/>
          </a:p>
        </p:txBody>
      </p:sp>
      <p:sp>
        <p:nvSpPr>
          <p:cNvPr id="127" name="Text 125"/>
          <p:cNvSpPr txBox="1"/>
          <p:nvPr/>
        </p:nvSpPr>
        <p:spPr>
          <a:xfrm>
            <a:off x="10241280" y="4261104"/>
            <a:ext cx="1335024" cy="164592"/>
          </a:xfrm>
          <a:prstGeom prst="rect">
            <a:avLst/>
          </a:prstGeom>
          <a:noFill/>
          <a:ln/>
        </p:spPr>
        <p:txBody>
          <a:bodyPr wrap="square" lIns="0" tIns="0" rIns="0" bIns="0" rtlCol="0" anchor="ctr"/>
          <a:lstStyle/>
          <a:p>
            <a:pPr algn="r" indent="0" marL="0">
              <a:buNone/>
            </a:pPr>
            <a:r>
              <a:rPr lang="en-US" sz="630" b="1" dirty="0">
                <a:solidFill>
                  <a:srgbClr val="8FA1AC"/>
                </a:solidFill>
                <a:latin typeface="Poppins" pitchFamily="34" charset="0"/>
                <a:ea typeface="Poppins" pitchFamily="34" charset="-122"/>
                <a:cs typeface="Poppins" pitchFamily="34" charset="-120"/>
              </a:rPr>
              <a:t>AS FIRST REPORTED</a:t>
            </a:r>
            <a:endParaRPr lang="en-US" sz="630" dirty="0"/>
          </a:p>
        </p:txBody>
      </p:sp>
      <p:sp>
        <p:nvSpPr>
          <p:cNvPr id="128" name="Shape 126"/>
          <p:cNvSpPr/>
          <p:nvPr/>
        </p:nvSpPr>
        <p:spPr>
          <a:xfrm>
            <a:off x="7379208" y="4585716"/>
            <a:ext cx="4197096" cy="5486"/>
          </a:xfrm>
          <a:prstGeom prst="rect">
            <a:avLst/>
          </a:prstGeom>
          <a:solidFill>
            <a:srgbClr val="E2EAEE"/>
          </a:solidFill>
          <a:ln/>
        </p:spPr>
      </p:sp>
      <p:sp>
        <p:nvSpPr>
          <p:cNvPr id="129" name="Text 127"/>
          <p:cNvSpPr txBox="1"/>
          <p:nvPr/>
        </p:nvSpPr>
        <p:spPr>
          <a:xfrm>
            <a:off x="7379208" y="4443984"/>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14–20 Sep</a:t>
            </a:r>
            <a:endParaRPr lang="en-US" sz="700" dirty="0"/>
          </a:p>
        </p:txBody>
      </p:sp>
      <p:sp>
        <p:nvSpPr>
          <p:cNvPr id="130" name="Text 128"/>
          <p:cNvSpPr txBox="1"/>
          <p:nvPr/>
        </p:nvSpPr>
        <p:spPr>
          <a:xfrm>
            <a:off x="8385048" y="4443984"/>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28</a:t>
            </a:r>
            <a:endParaRPr lang="en-US" sz="700" dirty="0"/>
          </a:p>
        </p:txBody>
      </p:sp>
      <p:sp>
        <p:nvSpPr>
          <p:cNvPr id="131" name="Text 129"/>
          <p:cNvSpPr txBox="1"/>
          <p:nvPr/>
        </p:nvSpPr>
        <p:spPr>
          <a:xfrm>
            <a:off x="8897112" y="4443984"/>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71.32h</a:t>
            </a:r>
            <a:endParaRPr lang="en-US" sz="750" dirty="0"/>
          </a:p>
        </p:txBody>
      </p:sp>
      <p:sp>
        <p:nvSpPr>
          <p:cNvPr id="132" name="Text 130"/>
          <p:cNvSpPr txBox="1"/>
          <p:nvPr/>
        </p:nvSpPr>
        <p:spPr>
          <a:xfrm>
            <a:off x="9729216" y="4443984"/>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20.9%</a:t>
            </a:r>
            <a:endParaRPr lang="en-US" sz="750" dirty="0"/>
          </a:p>
        </p:txBody>
      </p:sp>
      <p:sp>
        <p:nvSpPr>
          <p:cNvPr id="133" name="Text 131"/>
          <p:cNvSpPr txBox="1"/>
          <p:nvPr/>
        </p:nvSpPr>
        <p:spPr>
          <a:xfrm>
            <a:off x="10241280" y="4443984"/>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16.07h · 4.7%   ▲ +55.25h</a:t>
            </a:r>
            <a:endParaRPr lang="en-US" sz="610" dirty="0"/>
          </a:p>
        </p:txBody>
      </p:sp>
      <p:sp>
        <p:nvSpPr>
          <p:cNvPr id="134" name="Shape 132"/>
          <p:cNvSpPr/>
          <p:nvPr/>
        </p:nvSpPr>
        <p:spPr>
          <a:xfrm>
            <a:off x="7379208" y="4736592"/>
            <a:ext cx="4197096" cy="5486"/>
          </a:xfrm>
          <a:prstGeom prst="rect">
            <a:avLst/>
          </a:prstGeom>
          <a:solidFill>
            <a:srgbClr val="E2EAEE"/>
          </a:solidFill>
          <a:ln/>
        </p:spPr>
      </p:sp>
      <p:sp>
        <p:nvSpPr>
          <p:cNvPr id="135" name="Text 133"/>
          <p:cNvSpPr txBox="1"/>
          <p:nvPr/>
        </p:nvSpPr>
        <p:spPr>
          <a:xfrm>
            <a:off x="7379208" y="4594860"/>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21–27 Sep</a:t>
            </a:r>
            <a:endParaRPr lang="en-US" sz="700" dirty="0"/>
          </a:p>
        </p:txBody>
      </p:sp>
      <p:sp>
        <p:nvSpPr>
          <p:cNvPr id="136" name="Text 134"/>
          <p:cNvSpPr txBox="1"/>
          <p:nvPr/>
        </p:nvSpPr>
        <p:spPr>
          <a:xfrm>
            <a:off x="8385048" y="4594860"/>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26</a:t>
            </a:r>
            <a:endParaRPr lang="en-US" sz="700" dirty="0"/>
          </a:p>
        </p:txBody>
      </p:sp>
      <p:sp>
        <p:nvSpPr>
          <p:cNvPr id="137" name="Text 135"/>
          <p:cNvSpPr txBox="1"/>
          <p:nvPr/>
        </p:nvSpPr>
        <p:spPr>
          <a:xfrm>
            <a:off x="8897112" y="4594860"/>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42.50h</a:t>
            </a:r>
            <a:endParaRPr lang="en-US" sz="750" dirty="0"/>
          </a:p>
        </p:txBody>
      </p:sp>
      <p:sp>
        <p:nvSpPr>
          <p:cNvPr id="138" name="Text 136"/>
          <p:cNvSpPr txBox="1"/>
          <p:nvPr/>
        </p:nvSpPr>
        <p:spPr>
          <a:xfrm>
            <a:off x="9729216" y="4594860"/>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12.4%</a:t>
            </a:r>
            <a:endParaRPr lang="en-US" sz="750" dirty="0"/>
          </a:p>
        </p:txBody>
      </p:sp>
      <p:sp>
        <p:nvSpPr>
          <p:cNvPr id="139" name="Text 137"/>
          <p:cNvSpPr txBox="1"/>
          <p:nvPr/>
        </p:nvSpPr>
        <p:spPr>
          <a:xfrm>
            <a:off x="10241280" y="4594860"/>
            <a:ext cx="1335024" cy="150876"/>
          </a:xfrm>
          <a:prstGeom prst="rect">
            <a:avLst/>
          </a:prstGeom>
          <a:noFill/>
          <a:ln/>
        </p:spPr>
        <p:txBody>
          <a:bodyPr wrap="square" lIns="0" tIns="0" rIns="0" bIns="0" rtlCol="0" anchor="ctr"/>
          <a:lstStyle/>
          <a:p>
            <a:pPr algn="r" indent="0" marL="0">
              <a:buNone/>
            </a:pPr>
            <a:r>
              <a:rPr lang="en-US" sz="610" b="1" dirty="0">
                <a:solidFill>
                  <a:srgbClr val="B4552D"/>
                </a:solidFill>
                <a:latin typeface="Poppins" pitchFamily="34" charset="0"/>
                <a:ea typeface="Poppins" pitchFamily="34" charset="-122"/>
                <a:cs typeface="Poppins" pitchFamily="34" charset="-120"/>
              </a:rPr>
              <a:t>20.75h · 6.1%   ▲ +21.75h</a:t>
            </a:r>
            <a:endParaRPr lang="en-US" sz="610" dirty="0"/>
          </a:p>
        </p:txBody>
      </p:sp>
      <p:sp>
        <p:nvSpPr>
          <p:cNvPr id="140" name="Shape 138"/>
          <p:cNvSpPr/>
          <p:nvPr/>
        </p:nvSpPr>
        <p:spPr>
          <a:xfrm>
            <a:off x="7379208" y="4887468"/>
            <a:ext cx="4197096" cy="5486"/>
          </a:xfrm>
          <a:prstGeom prst="rect">
            <a:avLst/>
          </a:prstGeom>
          <a:solidFill>
            <a:srgbClr val="E2EAEE"/>
          </a:solidFill>
          <a:ln/>
        </p:spPr>
      </p:sp>
      <p:sp>
        <p:nvSpPr>
          <p:cNvPr id="141" name="Text 139"/>
          <p:cNvSpPr txBox="1"/>
          <p:nvPr/>
        </p:nvSpPr>
        <p:spPr>
          <a:xfrm>
            <a:off x="7379208" y="4745736"/>
            <a:ext cx="960120" cy="150876"/>
          </a:xfrm>
          <a:prstGeom prst="rect">
            <a:avLst/>
          </a:prstGeom>
          <a:noFill/>
          <a:ln/>
        </p:spPr>
        <p:txBody>
          <a:bodyPr wrap="square" lIns="0" tIns="0" rIns="0" bIns="0" rtlCol="0" anchor="ctr"/>
          <a:lstStyle/>
          <a:p>
            <a:pPr indent="0" marL="0">
              <a:buNone/>
            </a:pPr>
            <a:r>
              <a:rPr lang="en-US" sz="700" b="1" dirty="0">
                <a:solidFill>
                  <a:srgbClr val="12293A"/>
                </a:solidFill>
                <a:latin typeface="Poppins" pitchFamily="34" charset="0"/>
                <a:ea typeface="Poppins" pitchFamily="34" charset="-122"/>
                <a:cs typeface="Poppins" pitchFamily="34" charset="-120"/>
              </a:rPr>
              <a:t>28 Sep–4 Oct</a:t>
            </a:r>
            <a:endParaRPr lang="en-US" sz="700" dirty="0"/>
          </a:p>
        </p:txBody>
      </p:sp>
      <p:sp>
        <p:nvSpPr>
          <p:cNvPr id="142" name="Text 140"/>
          <p:cNvSpPr txBox="1"/>
          <p:nvPr/>
        </p:nvSpPr>
        <p:spPr>
          <a:xfrm>
            <a:off x="8385048" y="4745736"/>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27</a:t>
            </a:r>
            <a:endParaRPr lang="en-US" sz="700" dirty="0"/>
          </a:p>
        </p:txBody>
      </p:sp>
      <p:sp>
        <p:nvSpPr>
          <p:cNvPr id="143" name="Text 141"/>
          <p:cNvSpPr txBox="1"/>
          <p:nvPr/>
        </p:nvSpPr>
        <p:spPr>
          <a:xfrm>
            <a:off x="8897112" y="4745736"/>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79.83h</a:t>
            </a:r>
            <a:endParaRPr lang="en-US" sz="750" dirty="0"/>
          </a:p>
        </p:txBody>
      </p:sp>
      <p:sp>
        <p:nvSpPr>
          <p:cNvPr id="144" name="Text 142"/>
          <p:cNvSpPr txBox="1"/>
          <p:nvPr/>
        </p:nvSpPr>
        <p:spPr>
          <a:xfrm>
            <a:off x="9729216" y="4745736"/>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30.0%</a:t>
            </a:r>
            <a:endParaRPr lang="en-US" sz="750" dirty="0"/>
          </a:p>
        </p:txBody>
      </p:sp>
      <p:sp>
        <p:nvSpPr>
          <p:cNvPr id="145" name="Text 143"/>
          <p:cNvSpPr txBox="1"/>
          <p:nvPr/>
        </p:nvSpPr>
        <p:spPr>
          <a:xfrm>
            <a:off x="10241280" y="4745736"/>
            <a:ext cx="1335024" cy="150876"/>
          </a:xfrm>
          <a:prstGeom prst="rect">
            <a:avLst/>
          </a:prstGeom>
          <a:noFill/>
          <a:ln/>
        </p:spPr>
        <p:txBody>
          <a:bodyPr wrap="square" lIns="0" tIns="0" rIns="0" bIns="0" rtlCol="0" anchor="ctr"/>
          <a:lstStyle/>
          <a:p>
            <a:pPr algn="r" indent="0" marL="0">
              <a:buNone/>
            </a:pPr>
            <a:r>
              <a:rPr lang="en-US" sz="610" b="1" dirty="0">
                <a:solidFill>
                  <a:srgbClr val="C88A2E"/>
                </a:solidFill>
                <a:latin typeface="Poppins" pitchFamily="34" charset="0"/>
                <a:ea typeface="Poppins" pitchFamily="34" charset="-122"/>
                <a:cs typeface="Poppins" pitchFamily="34" charset="-120"/>
              </a:rPr>
              <a:t>88.87h · 33.4%   ▼ −9.04h</a:t>
            </a:r>
            <a:endParaRPr lang="en-US" sz="610" dirty="0"/>
          </a:p>
        </p:txBody>
      </p:sp>
      <p:sp>
        <p:nvSpPr>
          <p:cNvPr id="146" name="Shape 144"/>
          <p:cNvSpPr/>
          <p:nvPr/>
        </p:nvSpPr>
        <p:spPr>
          <a:xfrm>
            <a:off x="7379208" y="5038344"/>
            <a:ext cx="4197096" cy="5486"/>
          </a:xfrm>
          <a:prstGeom prst="rect">
            <a:avLst/>
          </a:prstGeom>
          <a:solidFill>
            <a:srgbClr val="E2EAEE"/>
          </a:solidFill>
          <a:ln/>
        </p:spPr>
      </p:sp>
      <p:sp>
        <p:nvSpPr>
          <p:cNvPr id="147" name="Text 145"/>
          <p:cNvSpPr txBox="1"/>
          <p:nvPr/>
        </p:nvSpPr>
        <p:spPr>
          <a:xfrm>
            <a:off x="7379208" y="4896612"/>
            <a:ext cx="960120" cy="150876"/>
          </a:xfrm>
          <a:prstGeom prst="rect">
            <a:avLst/>
          </a:prstGeom>
          <a:noFill/>
          <a:ln/>
        </p:spPr>
        <p:txBody>
          <a:bodyPr wrap="square" lIns="0" tIns="0" rIns="0" bIns="0" rtlCol="0" anchor="ctr"/>
          <a:lstStyle/>
          <a:p>
            <a:pPr indent="0" marL="0">
              <a:buNone/>
            </a:pPr>
            <a:r>
              <a:rPr lang="en-US" sz="700" b="1" dirty="0">
                <a:solidFill>
                  <a:srgbClr val="2C8394"/>
                </a:solidFill>
                <a:latin typeface="Poppins" pitchFamily="34" charset="0"/>
                <a:ea typeface="Poppins" pitchFamily="34" charset="-122"/>
                <a:cs typeface="Poppins" pitchFamily="34" charset="-120"/>
              </a:rPr>
              <a:t>5–11 Oct  ●</a:t>
            </a:r>
            <a:endParaRPr lang="en-US" sz="700" dirty="0"/>
          </a:p>
        </p:txBody>
      </p:sp>
      <p:sp>
        <p:nvSpPr>
          <p:cNvPr id="148" name="Text 146"/>
          <p:cNvSpPr txBox="1"/>
          <p:nvPr/>
        </p:nvSpPr>
        <p:spPr>
          <a:xfrm>
            <a:off x="8385048" y="4896612"/>
            <a:ext cx="457200" cy="150876"/>
          </a:xfrm>
          <a:prstGeom prst="rect">
            <a:avLst/>
          </a:prstGeom>
          <a:noFill/>
          <a:ln/>
        </p:spPr>
        <p:txBody>
          <a:bodyPr wrap="square" lIns="0" tIns="0" rIns="0" bIns="0" rtlCol="0" anchor="ctr"/>
          <a:lstStyle/>
          <a:p>
            <a:pPr algn="r" indent="0" marL="0">
              <a:buNone/>
            </a:pPr>
            <a:r>
              <a:rPr lang="en-US" sz="700" dirty="0">
                <a:solidFill>
                  <a:srgbClr val="5E7280"/>
                </a:solidFill>
                <a:latin typeface="Poppins" pitchFamily="34" charset="0"/>
                <a:ea typeface="Poppins" pitchFamily="34" charset="-122"/>
                <a:cs typeface="Poppins" pitchFamily="34" charset="-120"/>
              </a:rPr>
              <a:t>15</a:t>
            </a:r>
            <a:endParaRPr lang="en-US" sz="700" dirty="0"/>
          </a:p>
        </p:txBody>
      </p:sp>
      <p:sp>
        <p:nvSpPr>
          <p:cNvPr id="149" name="Text 147"/>
          <p:cNvSpPr txBox="1"/>
          <p:nvPr/>
        </p:nvSpPr>
        <p:spPr>
          <a:xfrm>
            <a:off x="8897112" y="4896612"/>
            <a:ext cx="777240" cy="150876"/>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21.25h</a:t>
            </a:r>
            <a:endParaRPr lang="en-US" sz="750" dirty="0"/>
          </a:p>
        </p:txBody>
      </p:sp>
      <p:sp>
        <p:nvSpPr>
          <p:cNvPr id="150" name="Text 148"/>
          <p:cNvSpPr txBox="1"/>
          <p:nvPr/>
        </p:nvSpPr>
        <p:spPr>
          <a:xfrm>
            <a:off x="9729216" y="4896612"/>
            <a:ext cx="457200" cy="15087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6.2%</a:t>
            </a:r>
            <a:endParaRPr lang="en-US" sz="750" dirty="0"/>
          </a:p>
        </p:txBody>
      </p:sp>
      <p:sp>
        <p:nvSpPr>
          <p:cNvPr id="151" name="Text 149"/>
          <p:cNvSpPr txBox="1"/>
          <p:nvPr/>
        </p:nvSpPr>
        <p:spPr>
          <a:xfrm>
            <a:off x="10241280" y="4896612"/>
            <a:ext cx="1335024" cy="150876"/>
          </a:xfrm>
          <a:prstGeom prst="rect">
            <a:avLst/>
          </a:prstGeom>
          <a:noFill/>
          <a:ln/>
        </p:spPr>
        <p:txBody>
          <a:bodyPr wrap="square" lIns="0" tIns="0" rIns="0" bIns="0" rtlCol="0" anchor="ctr"/>
          <a:lstStyle/>
          <a:p>
            <a:pPr algn="r" indent="0" marL="0">
              <a:buNone/>
            </a:pPr>
            <a:r>
              <a:rPr lang="en-US" sz="630" dirty="0">
                <a:solidFill>
                  <a:srgbClr val="8FA1AC"/>
                </a:solidFill>
                <a:latin typeface="Poppins" pitchFamily="34" charset="0"/>
                <a:ea typeface="Poppins" pitchFamily="34" charset="-122"/>
                <a:cs typeface="Poppins" pitchFamily="34" charset="-120"/>
              </a:rPr>
              <a:t>first report</a:t>
            </a:r>
            <a:endParaRPr lang="en-US" sz="630" dirty="0"/>
          </a:p>
        </p:txBody>
      </p:sp>
      <p:sp>
        <p:nvSpPr>
          <p:cNvPr id="152" name="Text 150"/>
          <p:cNvSpPr txBox="1"/>
          <p:nvPr/>
        </p:nvSpPr>
        <p:spPr>
          <a:xfrm>
            <a:off x="7379208" y="5084064"/>
            <a:ext cx="4197096" cy="237744"/>
          </a:xfrm>
          <a:prstGeom prst="rect">
            <a:avLst/>
          </a:prstGeom>
          <a:noFill/>
          <a:ln/>
        </p:spPr>
        <p:txBody>
          <a:bodyPr wrap="square" lIns="0" tIns="0" rIns="0" bIns="0" rtlCol="0" anchor="t"/>
          <a:lstStyle/>
          <a:p>
            <a:pPr indent="0" marL="0">
              <a:buNone/>
            </a:pPr>
            <a:r>
              <a:rPr lang="en-US" sz="580" dirty="0">
                <a:solidFill>
                  <a:srgbClr val="8FA1AC"/>
                </a:solidFill>
                <a:latin typeface="Poppins" pitchFamily="34" charset="0"/>
                <a:ea typeface="Poppins" pitchFamily="34" charset="-122"/>
                <a:cs typeface="Poppins" pitchFamily="34" charset="-120"/>
              </a:rPr>
              <a:t>Base is available staff × 38h: 9 every week except 28 Sep–4 Oct (7, Rhys and Rodney on leave). All four weeks are recomputed on one basis this week — PS-pipeline tickets by Sydney week.</a:t>
            </a:r>
            <a:endParaRPr lang="en-US" sz="580" dirty="0"/>
          </a:p>
        </p:txBody>
      </p:sp>
      <p:sp>
        <p:nvSpPr>
          <p:cNvPr id="153" name="Shape 151"/>
          <p:cNvSpPr/>
          <p:nvPr/>
        </p:nvSpPr>
        <p:spPr>
          <a:xfrm>
            <a:off x="411480" y="5431536"/>
            <a:ext cx="11365992" cy="1024128"/>
          </a:xfrm>
          <a:prstGeom prst="roundRect">
            <a:avLst>
              <a:gd name="adj" fmla="val 6250"/>
            </a:avLst>
          </a:prstGeom>
          <a:solidFill>
            <a:srgbClr val="FFFFFF"/>
          </a:solidFill>
          <a:ln/>
          <a:effectLst>
            <a:outerShdw sx="100000" sy="100000" kx="0" ky="0" algn="bl" rotWithShape="0" blurRad="76200" dist="25400" dir="5400000">
              <a:srgbClr val="9AAAB5">
                <a:alpha val="35000"/>
              </a:srgbClr>
            </a:outerShdw>
          </a:effectLst>
        </p:spPr>
      </p:sp>
      <p:sp>
        <p:nvSpPr>
          <p:cNvPr id="154" name="Text 152"/>
          <p:cNvSpPr txBox="1"/>
          <p:nvPr/>
        </p:nvSpPr>
        <p:spPr>
          <a:xfrm>
            <a:off x="612648" y="5541264"/>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55" name="Text 153"/>
          <p:cNvSpPr txBox="1"/>
          <p:nvPr/>
        </p:nvSpPr>
        <p:spPr>
          <a:xfrm>
            <a:off x="612648" y="5852160"/>
            <a:ext cx="10954512" cy="475488"/>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September keeps restating upward; last week's figure has been rebased.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14–20 Sep went out at 16.07h (4.7%) and now stands at 71.32h (20.9%); 21–27 Sep doubled to 42.50h. 28 Sep–4 Oct reads 79.83h against 88.87h last week — the hours have not fallen, last week's build put every non-Greg hour under one name.</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One ticket is half the week.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Joshua Casey 15.50h, of which 10.5h is one open AVC 9.2 upgrade record; 5 of the 9 logged nothing. Strip that record and utilisation is 3.1%. This week's 6.2% is a floor, not a result.</a:t>
            </a:r>
            <a:endParaRPr lang="en-US" sz="900" dirty="0"/>
          </a:p>
        </p:txBody>
      </p:sp>
      <p:sp>
        <p:nvSpPr>
          <p:cNvPr id="156" name="Shape 154"/>
          <p:cNvSpPr/>
          <p:nvPr/>
        </p:nvSpPr>
        <p:spPr>
          <a:xfrm>
            <a:off x="5925312" y="6510528"/>
            <a:ext cx="5852160" cy="256032"/>
          </a:xfrm>
          <a:prstGeom prst="roundRect">
            <a:avLst>
              <a:gd name="adj" fmla="val 46429"/>
            </a:avLst>
          </a:prstGeom>
          <a:solidFill>
            <a:srgbClr val="12293A"/>
          </a:solidFill>
          <a:ln/>
        </p:spPr>
      </p:sp>
      <p:sp>
        <p:nvSpPr>
          <p:cNvPr id="157" name="Text 155"/>
          <p:cNvSpPr txBox="1"/>
          <p:nvPr/>
        </p:nvSpPr>
        <p:spPr>
          <a:xfrm>
            <a:off x="5925312" y="6510528"/>
            <a:ext cx="58521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PS-pipeline tickets · actual_hours + training_actual_hours, Sydney weeks — live, read-only</a:t>
            </a:r>
            <a:endParaRPr lang="en-US" sz="7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Won vs Invoiced &amp; Retention</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Sales, Professional Services &amp; Finance</a:t>
            </a:r>
            <a:endParaRPr lang="en-US" sz="1050" dirty="0"/>
          </a:p>
        </p:txBody>
      </p:sp>
      <p:sp>
        <p:nvSpPr>
          <p:cNvPr id="7" name="Shape 5"/>
          <p:cNvSpPr/>
          <p:nvPr/>
        </p:nvSpPr>
        <p:spPr>
          <a:xfrm>
            <a:off x="8686800" y="246888"/>
            <a:ext cx="1965960" cy="347472"/>
          </a:xfrm>
          <a:prstGeom prst="roundRect">
            <a:avLst>
              <a:gd name="adj" fmla="val 50000"/>
            </a:avLst>
          </a:prstGeom>
          <a:solidFill>
            <a:srgbClr val="3D8F5F"/>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2  ·  DID WE DELIVER?</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6720840" cy="2880360"/>
          </a:xfrm>
          <a:prstGeom prst="roundRect">
            <a:avLst>
              <a:gd name="adj" fmla="val 2222"/>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612648" y="1097280"/>
            <a:ext cx="6318504" cy="219456"/>
          </a:xfrm>
          <a:prstGeom prst="rect">
            <a:avLst/>
          </a:prstGeom>
          <a:noFill/>
          <a:ln/>
        </p:spPr>
        <p:txBody>
          <a:bodyPr wrap="square" lIns="0" tIns="0" rIns="0" bIns="0" rtlCol="0" anchor="ctr"/>
          <a:lstStyle/>
          <a:p>
            <a:pPr indent="0" marL="0">
              <a:buNone/>
            </a:pPr>
            <a:r>
              <a:rPr lang="en-US" sz="1150" b="1" dirty="0">
                <a:solidFill>
                  <a:srgbClr val="2C8394"/>
                </a:solidFill>
                <a:latin typeface="Poppins" pitchFamily="34" charset="0"/>
                <a:ea typeface="Poppins" pitchFamily="34" charset="-122"/>
                <a:cs typeface="Poppins" pitchFamily="34" charset="-120"/>
              </a:rPr>
              <a:t>NEW MRR — WON VS INVOICED BY MONTH · 2026   </a:t>
            </a:r>
            <a:pPr indent="0" marL="0">
              <a:buNone/>
            </a:pPr>
            <a:r>
              <a:rPr lang="en-US" sz="680" dirty="0">
                <a:solidFill>
                  <a:srgbClr val="3D8F5F"/>
                </a:solidFill>
                <a:latin typeface="Poppins" pitchFamily="34" charset="0"/>
                <a:ea typeface="Poppins" pitchFamily="34" charset="-122"/>
                <a:cs typeface="Poppins" pitchFamily="34" charset="-120"/>
              </a:rPr>
              <a:t>both series live</a:t>
            </a:r>
            <a:endParaRPr lang="en-US" sz="1150" dirty="0"/>
          </a:p>
        </p:txBody>
      </p:sp>
      <p:graphicFrame>
        <p:nvGraphicFramePr>
          <p:cNvPr id="15" name="Chart 0" descr=""/>
          <p:cNvGraphicFramePr/>
          <p:nvPr/>
        </p:nvGraphicFramePr>
        <p:xfrm>
          <a:off x="594360" y="1335024"/>
          <a:ext cx="6318504" cy="2167128"/>
        </p:xfrm>
        <a:graphic xmlns:a="http://schemas.openxmlformats.org/drawingml/2006/main">
          <a:graphicData uri="http://schemas.openxmlformats.org/drawingml/2006/chart">
            <c:chart xmlns:c="http://schemas.openxmlformats.org/drawingml/2006/chart" r:id="rId1"/>
          </a:graphicData>
        </a:graphic>
      </p:graphicFrame>
      <p:sp>
        <p:nvSpPr>
          <p:cNvPr id="16" name="Text 13"/>
          <p:cNvSpPr txBox="1"/>
          <p:nvPr/>
        </p:nvSpPr>
        <p:spPr>
          <a:xfrm>
            <a:off x="612648" y="3538728"/>
            <a:ext cx="6318504" cy="292608"/>
          </a:xfrm>
          <a:prstGeom prst="rect">
            <a:avLst/>
          </a:prstGeom>
          <a:noFill/>
          <a:ln/>
        </p:spPr>
        <p:txBody>
          <a:bodyPr wrap="square" lIns="0" tIns="0" rIns="0" bIns="0" rtlCol="0" anchor="t"/>
          <a:lstStyle/>
          <a:p>
            <a:pPr indent="0" marL="0">
              <a:buNone/>
            </a:pPr>
            <a:endParaRPr lang="en-US" sz="620" dirty="0"/>
          </a:p>
        </p:txBody>
      </p:sp>
      <p:sp>
        <p:nvSpPr>
          <p:cNvPr id="17" name="Shape 14"/>
          <p:cNvSpPr/>
          <p:nvPr/>
        </p:nvSpPr>
        <p:spPr>
          <a:xfrm>
            <a:off x="7269480" y="1005840"/>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18" name="Text 15"/>
          <p:cNvSpPr txBox="1"/>
          <p:nvPr/>
        </p:nvSpPr>
        <p:spPr>
          <a:xfrm>
            <a:off x="7434072" y="1097280"/>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AWAITING INVOICE — ARR</a:t>
            </a:r>
            <a:endParaRPr lang="en-US" sz="950" dirty="0"/>
          </a:p>
        </p:txBody>
      </p:sp>
      <p:sp>
        <p:nvSpPr>
          <p:cNvPr id="19" name="Text 16"/>
          <p:cNvSpPr txBox="1"/>
          <p:nvPr/>
        </p:nvSpPr>
        <p:spPr>
          <a:xfrm>
            <a:off x="7415784" y="1280160"/>
            <a:ext cx="4215384" cy="292608"/>
          </a:xfrm>
          <a:prstGeom prst="rect">
            <a:avLst/>
          </a:prstGeom>
          <a:noFill/>
          <a:ln/>
        </p:spPr>
        <p:txBody>
          <a:bodyPr wrap="square" lIns="0" tIns="0" rIns="0" bIns="0" rtlCol="0" anchor="ctr"/>
          <a:lstStyle/>
          <a:p>
            <a:pPr indent="0" marL="0">
              <a:buNone/>
            </a:pPr>
            <a:r>
              <a:rPr lang="en-US" sz="2000" b="1" dirty="0">
                <a:solidFill>
                  <a:srgbClr val="C88A2E"/>
                </a:solidFill>
                <a:latin typeface="Poppins" pitchFamily="34" charset="0"/>
                <a:ea typeface="Poppins" pitchFamily="34" charset="-122"/>
                <a:cs typeface="Poppins" pitchFamily="34" charset="-120"/>
              </a:rPr>
              <a:t>$236k</a:t>
            </a:r>
            <a:endParaRPr lang="en-US" sz="2000" dirty="0"/>
          </a:p>
        </p:txBody>
      </p:sp>
      <p:sp>
        <p:nvSpPr>
          <p:cNvPr id="20" name="Text 17"/>
          <p:cNvSpPr txBox="1"/>
          <p:nvPr/>
        </p:nvSpPr>
        <p:spPr>
          <a:xfrm>
            <a:off x="7434072" y="1609344"/>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18 of the 89 deals won with software MRR in 2026 have no row on the register · Oscars Group is $155k of it</a:t>
            </a:r>
            <a:endParaRPr lang="en-US" sz="780" dirty="0"/>
          </a:p>
        </p:txBody>
      </p:sp>
      <p:sp>
        <p:nvSpPr>
          <p:cNvPr id="21" name="Shape 18"/>
          <p:cNvSpPr/>
          <p:nvPr/>
        </p:nvSpPr>
        <p:spPr>
          <a:xfrm>
            <a:off x="7269480" y="1993392"/>
            <a:ext cx="4507992" cy="896112"/>
          </a:xfrm>
          <a:prstGeom prst="roundRect">
            <a:avLst>
              <a:gd name="adj" fmla="val 7143"/>
            </a:avLst>
          </a:prstGeom>
          <a:solidFill>
            <a:srgbClr val="FFFFFF"/>
          </a:solidFill>
          <a:ln/>
          <a:effectLst>
            <a:outerShdw sx="100000" sy="100000" kx="0" ky="0" algn="bl" rotWithShape="0" blurRad="76200" dist="25400" dir="5400000">
              <a:srgbClr val="9AAAB5">
                <a:alpha val="35000"/>
              </a:srgbClr>
            </a:outerShdw>
          </a:effectLst>
        </p:spPr>
      </p:sp>
      <p:sp>
        <p:nvSpPr>
          <p:cNvPr id="22" name="Text 19"/>
          <p:cNvSpPr txBox="1"/>
          <p:nvPr/>
        </p:nvSpPr>
        <p:spPr>
          <a:xfrm>
            <a:off x="7434072" y="2084832"/>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CHURNED ARR · 2025→</a:t>
            </a:r>
            <a:endParaRPr lang="en-US" sz="950" dirty="0"/>
          </a:p>
        </p:txBody>
      </p:sp>
      <p:sp>
        <p:nvSpPr>
          <p:cNvPr id="23" name="Text 20"/>
          <p:cNvSpPr txBox="1"/>
          <p:nvPr/>
        </p:nvSpPr>
        <p:spPr>
          <a:xfrm>
            <a:off x="7415784" y="2267712"/>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$1.26M</a:t>
            </a:r>
            <a:endParaRPr lang="en-US" sz="2000" dirty="0"/>
          </a:p>
        </p:txBody>
      </p:sp>
      <p:sp>
        <p:nvSpPr>
          <p:cNvPr id="24" name="Text 21"/>
          <p:cNvSpPr txBox="1"/>
          <p:nvPr/>
        </p:nvSpPr>
        <p:spPr>
          <a:xfrm>
            <a:off x="7434072" y="2596896"/>
            <a:ext cx="4178808" cy="23774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269 logos · MRR movement register, live · HubSpot churn object stopped being maintained after February</a:t>
            </a:r>
            <a:endParaRPr lang="en-US" sz="780" dirty="0"/>
          </a:p>
        </p:txBody>
      </p:sp>
      <p:sp>
        <p:nvSpPr>
          <p:cNvPr id="25" name="Shape 22"/>
          <p:cNvSpPr/>
          <p:nvPr/>
        </p:nvSpPr>
        <p:spPr>
          <a:xfrm>
            <a:off x="7269480" y="2980944"/>
            <a:ext cx="4507992" cy="905256"/>
          </a:xfrm>
          <a:prstGeom prst="roundRect">
            <a:avLst>
              <a:gd name="adj" fmla="val 7071"/>
            </a:avLst>
          </a:prstGeom>
          <a:solidFill>
            <a:srgbClr val="FFFFFF"/>
          </a:solidFill>
          <a:ln/>
          <a:effectLst>
            <a:outerShdw sx="100000" sy="100000" kx="0" ky="0" algn="bl" rotWithShape="0" blurRad="76200" dist="25400" dir="5400000">
              <a:srgbClr val="9AAAB5">
                <a:alpha val="35000"/>
              </a:srgbClr>
            </a:outerShdw>
          </a:effectLst>
        </p:spPr>
      </p:sp>
      <p:sp>
        <p:nvSpPr>
          <p:cNvPr id="26" name="Text 23"/>
          <p:cNvSpPr txBox="1"/>
          <p:nvPr/>
        </p:nvSpPr>
        <p:spPr>
          <a:xfrm>
            <a:off x="7434072" y="3072384"/>
            <a:ext cx="417880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NET MRR MOVEMENT · Q4</a:t>
            </a:r>
            <a:endParaRPr lang="en-US" sz="950" dirty="0"/>
          </a:p>
        </p:txBody>
      </p:sp>
      <p:sp>
        <p:nvSpPr>
          <p:cNvPr id="27" name="Text 24"/>
          <p:cNvSpPr txBox="1"/>
          <p:nvPr/>
        </p:nvSpPr>
        <p:spPr>
          <a:xfrm>
            <a:off x="7415784" y="3255264"/>
            <a:ext cx="4215384" cy="292608"/>
          </a:xfrm>
          <a:prstGeom prst="rect">
            <a:avLst/>
          </a:prstGeom>
          <a:noFill/>
          <a:ln/>
        </p:spPr>
        <p:txBody>
          <a:bodyPr wrap="square" lIns="0" tIns="0" rIns="0" bIns="0" rtlCol="0" anchor="ctr"/>
          <a:lstStyle/>
          <a:p>
            <a:pPr indent="0" marL="0">
              <a:buNone/>
            </a:pPr>
            <a:r>
              <a:rPr lang="en-US" sz="2000" b="1" dirty="0">
                <a:solidFill>
                  <a:srgbClr val="B4552D"/>
                </a:solidFill>
                <a:latin typeface="Poppins" pitchFamily="34" charset="0"/>
                <a:ea typeface="Poppins" pitchFamily="34" charset="-122"/>
                <a:cs typeface="Poppins" pitchFamily="34" charset="-120"/>
              </a:rPr>
              <a:t>-$6.1k</a:t>
            </a:r>
            <a:endParaRPr lang="en-US" sz="2000" dirty="0"/>
          </a:p>
        </p:txBody>
      </p:sp>
      <p:sp>
        <p:nvSpPr>
          <p:cNvPr id="28" name="Text 25"/>
          <p:cNvSpPr txBox="1"/>
          <p:nvPr/>
        </p:nvSpPr>
        <p:spPr>
          <a:xfrm>
            <a:off x="7434072" y="3584448"/>
            <a:ext cx="4178808" cy="246888"/>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Q4 to date · new $2.9k − churn $6.9k − contraction $2.1k − credits $0</a:t>
            </a:r>
            <a:endParaRPr lang="en-US" sz="780" dirty="0"/>
          </a:p>
        </p:txBody>
      </p:sp>
      <p:sp>
        <p:nvSpPr>
          <p:cNvPr id="29" name="Shape 26"/>
          <p:cNvSpPr/>
          <p:nvPr/>
        </p:nvSpPr>
        <p:spPr>
          <a:xfrm>
            <a:off x="6309360" y="4023360"/>
            <a:ext cx="5468112"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30" name="Text 27"/>
          <p:cNvSpPr txBox="1"/>
          <p:nvPr/>
        </p:nvSpPr>
        <p:spPr>
          <a:xfrm>
            <a:off x="6510528" y="4105656"/>
            <a:ext cx="5065776" cy="237744"/>
          </a:xfrm>
          <a:prstGeom prst="rect">
            <a:avLst/>
          </a:prstGeom>
          <a:noFill/>
          <a:ln/>
        </p:spPr>
        <p:txBody>
          <a:bodyPr wrap="square" lIns="0" tIns="0" rIns="0" bIns="0" rtlCol="0" anchor="ctr"/>
          <a:lstStyle/>
          <a:p>
            <a:pPr indent="0" marL="0">
              <a:buNone/>
            </a:pPr>
            <a:r>
              <a:rPr lang="en-US" sz="1100" b="1" dirty="0">
                <a:solidFill>
                  <a:srgbClr val="2C8394"/>
                </a:solidFill>
                <a:latin typeface="Poppins" pitchFamily="34" charset="0"/>
                <a:ea typeface="Poppins" pitchFamily="34" charset="-122"/>
                <a:cs typeface="Poppins" pitchFamily="34" charset="-120"/>
              </a:rPr>
              <a:t>TOP 10 NOT INVOICED   </a:t>
            </a:r>
            <a:pPr indent="0" marL="0">
              <a:buNone/>
            </a:pPr>
            <a:r>
              <a:rPr lang="en-US" sz="650" dirty="0">
                <a:solidFill>
                  <a:srgbClr val="8FA1AC"/>
                </a:solidFill>
                <a:latin typeface="Poppins" pitchFamily="34" charset="0"/>
                <a:ea typeface="Poppins" pitchFamily="34" charset="-122"/>
                <a:cs typeface="Poppins" pitchFamily="34" charset="-120"/>
              </a:rPr>
              <a:t>ARR — sums to the awaiting figure</a:t>
            </a:r>
            <a:endParaRPr lang="en-US" sz="1100" dirty="0"/>
          </a:p>
        </p:txBody>
      </p:sp>
      <p:sp>
        <p:nvSpPr>
          <p:cNvPr id="31" name="Text 28"/>
          <p:cNvSpPr txBox="1"/>
          <p:nvPr/>
        </p:nvSpPr>
        <p:spPr>
          <a:xfrm>
            <a:off x="6748272" y="4352544"/>
            <a:ext cx="2286000" cy="164592"/>
          </a:xfrm>
          <a:prstGeom prst="rect">
            <a:avLst/>
          </a:prstGeom>
          <a:noFill/>
          <a:ln/>
        </p:spPr>
        <p:txBody>
          <a:bodyPr wrap="square" lIns="0" tIns="0" rIns="0" bIns="0" rtlCol="0" anchor="ctr"/>
          <a:lstStyle/>
          <a:p>
            <a:pPr algn="l" indent="0" marL="0">
              <a:buNone/>
            </a:pPr>
            <a:r>
              <a:rPr lang="en-US" sz="700" b="1" dirty="0">
                <a:solidFill>
                  <a:srgbClr val="8FA1AC"/>
                </a:solidFill>
                <a:latin typeface="Poppins" pitchFamily="34" charset="0"/>
                <a:ea typeface="Poppins" pitchFamily="34" charset="-122"/>
                <a:cs typeface="Poppins" pitchFamily="34" charset="-120"/>
              </a:rPr>
              <a:t>CLIENT</a:t>
            </a:r>
            <a:endParaRPr lang="en-US" sz="700" dirty="0"/>
          </a:p>
        </p:txBody>
      </p:sp>
      <p:sp>
        <p:nvSpPr>
          <p:cNvPr id="32" name="Text 29"/>
          <p:cNvSpPr txBox="1"/>
          <p:nvPr/>
        </p:nvSpPr>
        <p:spPr>
          <a:xfrm>
            <a:off x="9052560" y="4352544"/>
            <a:ext cx="82296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ARR</a:t>
            </a:r>
            <a:endParaRPr lang="en-US" sz="700" dirty="0"/>
          </a:p>
        </p:txBody>
      </p:sp>
      <p:sp>
        <p:nvSpPr>
          <p:cNvPr id="33" name="Text 30"/>
          <p:cNvSpPr txBox="1"/>
          <p:nvPr/>
        </p:nvSpPr>
        <p:spPr>
          <a:xfrm>
            <a:off x="9921240" y="4352544"/>
            <a:ext cx="6858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MRR/mo</a:t>
            </a:r>
            <a:endParaRPr lang="en-US" sz="700" dirty="0"/>
          </a:p>
        </p:txBody>
      </p:sp>
      <p:sp>
        <p:nvSpPr>
          <p:cNvPr id="34" name="Text 31"/>
          <p:cNvSpPr txBox="1"/>
          <p:nvPr/>
        </p:nvSpPr>
        <p:spPr>
          <a:xfrm>
            <a:off x="10652760" y="4352544"/>
            <a:ext cx="457200" cy="164592"/>
          </a:xfrm>
          <a:prstGeom prst="rect">
            <a:avLst/>
          </a:prstGeom>
          <a:noFill/>
          <a:ln/>
        </p:spPr>
        <p:txBody>
          <a:bodyPr wrap="square" lIns="0" tIns="0" rIns="0" bIns="0" rtlCol="0" anchor="ctr"/>
          <a:lstStyle/>
          <a:p>
            <a:pPr algn="r" indent="0" marL="0">
              <a:buNone/>
            </a:pPr>
            <a:r>
              <a:rPr lang="en-US" sz="700" b="1" dirty="0">
                <a:solidFill>
                  <a:srgbClr val="8FA1AC"/>
                </a:solidFill>
                <a:latin typeface="Poppins" pitchFamily="34" charset="0"/>
                <a:ea typeface="Poppins" pitchFamily="34" charset="-122"/>
                <a:cs typeface="Poppins" pitchFamily="34" charset="-120"/>
              </a:rPr>
              <a:t>WON</a:t>
            </a:r>
            <a:endParaRPr lang="en-US" sz="700" dirty="0"/>
          </a:p>
        </p:txBody>
      </p:sp>
      <p:sp>
        <p:nvSpPr>
          <p:cNvPr id="35" name="Text 32"/>
          <p:cNvSpPr txBox="1"/>
          <p:nvPr/>
        </p:nvSpPr>
        <p:spPr>
          <a:xfrm>
            <a:off x="11155680" y="4352544"/>
            <a:ext cx="384048" cy="164592"/>
          </a:xfrm>
          <a:prstGeom prst="rect">
            <a:avLst/>
          </a:prstGeom>
          <a:noFill/>
          <a:ln/>
        </p:spPr>
        <p:txBody>
          <a:bodyPr wrap="square" lIns="0" tIns="0" rIns="0" bIns="0" rtlCol="0" anchor="ctr"/>
          <a:lstStyle/>
          <a:p>
            <a:pPr algn="r" indent="0" marL="0">
              <a:buNone/>
            </a:pPr>
            <a:endParaRPr lang="en-US" sz="700" dirty="0"/>
          </a:p>
        </p:txBody>
      </p:sp>
      <p:sp>
        <p:nvSpPr>
          <p:cNvPr id="36" name="Text 33"/>
          <p:cNvSpPr txBox="1"/>
          <p:nvPr/>
        </p:nvSpPr>
        <p:spPr>
          <a:xfrm>
            <a:off x="6510528" y="453542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a:t>
            </a:r>
            <a:endParaRPr lang="en-US" sz="700" dirty="0"/>
          </a:p>
        </p:txBody>
      </p:sp>
      <p:sp>
        <p:nvSpPr>
          <p:cNvPr id="37" name="Text 34"/>
          <p:cNvSpPr txBox="1"/>
          <p:nvPr/>
        </p:nvSpPr>
        <p:spPr>
          <a:xfrm>
            <a:off x="6748272" y="453542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Oscars Hotels</a:t>
            </a:r>
            <a:endParaRPr lang="en-US" sz="750" dirty="0"/>
          </a:p>
        </p:txBody>
      </p:sp>
      <p:sp>
        <p:nvSpPr>
          <p:cNvPr id="38" name="Text 35"/>
          <p:cNvSpPr txBox="1"/>
          <p:nvPr/>
        </p:nvSpPr>
        <p:spPr>
          <a:xfrm>
            <a:off x="9052560" y="453542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$155k</a:t>
            </a:r>
            <a:endParaRPr lang="en-US" sz="750" dirty="0"/>
          </a:p>
        </p:txBody>
      </p:sp>
      <p:sp>
        <p:nvSpPr>
          <p:cNvPr id="39" name="Text 36"/>
          <p:cNvSpPr txBox="1"/>
          <p:nvPr/>
        </p:nvSpPr>
        <p:spPr>
          <a:xfrm>
            <a:off x="9921240" y="453542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$12,880</a:t>
            </a:r>
            <a:endParaRPr lang="en-US" sz="750" dirty="0"/>
          </a:p>
        </p:txBody>
      </p:sp>
      <p:sp>
        <p:nvSpPr>
          <p:cNvPr id="40" name="Text 37"/>
          <p:cNvSpPr txBox="1"/>
          <p:nvPr/>
        </p:nvSpPr>
        <p:spPr>
          <a:xfrm>
            <a:off x="10652760" y="453542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41" name="Text 38"/>
          <p:cNvSpPr txBox="1"/>
          <p:nvPr/>
        </p:nvSpPr>
        <p:spPr>
          <a:xfrm>
            <a:off x="11155680" y="4535424"/>
            <a:ext cx="384048" cy="173736"/>
          </a:xfrm>
          <a:prstGeom prst="rect">
            <a:avLst/>
          </a:prstGeom>
          <a:noFill/>
          <a:ln/>
        </p:spPr>
        <p:txBody>
          <a:bodyPr wrap="square" lIns="0" tIns="0" rIns="0" bIns="0" rtlCol="0" anchor="ctr"/>
          <a:lstStyle/>
          <a:p>
            <a:pPr algn="r" indent="0" marL="0">
              <a:buNone/>
            </a:pPr>
            <a:r>
              <a:rPr lang="en-US" sz="750" b="1" dirty="0">
                <a:solidFill>
                  <a:srgbClr val="C88A2E"/>
                </a:solidFill>
                <a:latin typeface="Poppins" pitchFamily="34" charset="0"/>
                <a:ea typeface="Poppins" pitchFamily="34" charset="-122"/>
                <a:cs typeface="Poppins" pitchFamily="34" charset="-120"/>
              </a:rPr>
              <a:t>◆</a:t>
            </a:r>
            <a:endParaRPr lang="en-US" sz="750" dirty="0"/>
          </a:p>
        </p:txBody>
      </p:sp>
      <p:sp>
        <p:nvSpPr>
          <p:cNvPr id="42" name="Text 39"/>
          <p:cNvSpPr txBox="1"/>
          <p:nvPr/>
        </p:nvSpPr>
        <p:spPr>
          <a:xfrm>
            <a:off x="6510528" y="4710989"/>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2</a:t>
            </a:r>
            <a:endParaRPr lang="en-US" sz="700" dirty="0"/>
          </a:p>
        </p:txBody>
      </p:sp>
      <p:sp>
        <p:nvSpPr>
          <p:cNvPr id="43" name="Text 40"/>
          <p:cNvSpPr txBox="1"/>
          <p:nvPr/>
        </p:nvSpPr>
        <p:spPr>
          <a:xfrm>
            <a:off x="6748272" y="4710989"/>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Mt Henry Tavern</a:t>
            </a:r>
            <a:endParaRPr lang="en-US" sz="750" dirty="0"/>
          </a:p>
        </p:txBody>
      </p:sp>
      <p:sp>
        <p:nvSpPr>
          <p:cNvPr id="44" name="Text 41"/>
          <p:cNvSpPr txBox="1"/>
          <p:nvPr/>
        </p:nvSpPr>
        <p:spPr>
          <a:xfrm>
            <a:off x="9052560" y="4710989"/>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$11k</a:t>
            </a:r>
            <a:endParaRPr lang="en-US" sz="750" dirty="0"/>
          </a:p>
        </p:txBody>
      </p:sp>
      <p:sp>
        <p:nvSpPr>
          <p:cNvPr id="45" name="Text 42"/>
          <p:cNvSpPr txBox="1"/>
          <p:nvPr/>
        </p:nvSpPr>
        <p:spPr>
          <a:xfrm>
            <a:off x="9921240" y="4710989"/>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$905</a:t>
            </a:r>
            <a:endParaRPr lang="en-US" sz="750" dirty="0"/>
          </a:p>
        </p:txBody>
      </p:sp>
      <p:sp>
        <p:nvSpPr>
          <p:cNvPr id="46" name="Text 43"/>
          <p:cNvSpPr txBox="1"/>
          <p:nvPr/>
        </p:nvSpPr>
        <p:spPr>
          <a:xfrm>
            <a:off x="10652760" y="4710989"/>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Oct</a:t>
            </a:r>
            <a:endParaRPr lang="en-US" sz="750" dirty="0"/>
          </a:p>
        </p:txBody>
      </p:sp>
      <p:sp>
        <p:nvSpPr>
          <p:cNvPr id="47" name="Text 44"/>
          <p:cNvSpPr txBox="1"/>
          <p:nvPr/>
        </p:nvSpPr>
        <p:spPr>
          <a:xfrm>
            <a:off x="11155680" y="4710989"/>
            <a:ext cx="384048" cy="173736"/>
          </a:xfrm>
          <a:prstGeom prst="rect">
            <a:avLst/>
          </a:prstGeom>
          <a:noFill/>
          <a:ln/>
        </p:spPr>
        <p:txBody>
          <a:bodyPr wrap="square" lIns="0" tIns="0" rIns="0" bIns="0" rtlCol="0" anchor="ctr"/>
          <a:lstStyle/>
          <a:p>
            <a:pPr algn="r" indent="0" marL="0">
              <a:buNone/>
            </a:pPr>
            <a:endParaRPr lang="en-US" sz="750" dirty="0"/>
          </a:p>
        </p:txBody>
      </p:sp>
      <p:sp>
        <p:nvSpPr>
          <p:cNvPr id="48" name="Text 45"/>
          <p:cNvSpPr txBox="1"/>
          <p:nvPr/>
        </p:nvSpPr>
        <p:spPr>
          <a:xfrm>
            <a:off x="6510528" y="4886554"/>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3</a:t>
            </a:r>
            <a:endParaRPr lang="en-US" sz="700" dirty="0"/>
          </a:p>
        </p:txBody>
      </p:sp>
      <p:sp>
        <p:nvSpPr>
          <p:cNvPr id="49" name="Text 46"/>
          <p:cNvSpPr txBox="1"/>
          <p:nvPr/>
        </p:nvSpPr>
        <p:spPr>
          <a:xfrm>
            <a:off x="6748272" y="4886554"/>
            <a:ext cx="2286000" cy="173736"/>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Caves House Hotel</a:t>
            </a:r>
            <a:endParaRPr lang="en-US" sz="750" dirty="0"/>
          </a:p>
        </p:txBody>
      </p:sp>
      <p:sp>
        <p:nvSpPr>
          <p:cNvPr id="50" name="Text 47"/>
          <p:cNvSpPr txBox="1"/>
          <p:nvPr/>
        </p:nvSpPr>
        <p:spPr>
          <a:xfrm>
            <a:off x="9052560" y="4886554"/>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$8k</a:t>
            </a:r>
            <a:endParaRPr lang="en-US" sz="750" dirty="0"/>
          </a:p>
        </p:txBody>
      </p:sp>
      <p:sp>
        <p:nvSpPr>
          <p:cNvPr id="51" name="Text 48"/>
          <p:cNvSpPr txBox="1"/>
          <p:nvPr/>
        </p:nvSpPr>
        <p:spPr>
          <a:xfrm>
            <a:off x="9921240" y="4886554"/>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$669</a:t>
            </a:r>
            <a:endParaRPr lang="en-US" sz="750" dirty="0"/>
          </a:p>
        </p:txBody>
      </p:sp>
      <p:sp>
        <p:nvSpPr>
          <p:cNvPr id="52" name="Text 49"/>
          <p:cNvSpPr txBox="1"/>
          <p:nvPr/>
        </p:nvSpPr>
        <p:spPr>
          <a:xfrm>
            <a:off x="10652760" y="4886554"/>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Aug</a:t>
            </a:r>
            <a:endParaRPr lang="en-US" sz="750" dirty="0"/>
          </a:p>
        </p:txBody>
      </p:sp>
      <p:sp>
        <p:nvSpPr>
          <p:cNvPr id="53" name="Text 50"/>
          <p:cNvSpPr txBox="1"/>
          <p:nvPr/>
        </p:nvSpPr>
        <p:spPr>
          <a:xfrm>
            <a:off x="11155680" y="4886554"/>
            <a:ext cx="384048" cy="173736"/>
          </a:xfrm>
          <a:prstGeom prst="rect">
            <a:avLst/>
          </a:prstGeom>
          <a:noFill/>
          <a:ln/>
        </p:spPr>
        <p:txBody>
          <a:bodyPr wrap="square" lIns="0" tIns="0" rIns="0" bIns="0" rtlCol="0" anchor="ctr"/>
          <a:lstStyle/>
          <a:p>
            <a:pPr algn="r" indent="0" marL="0">
              <a:buNone/>
            </a:pPr>
            <a:endParaRPr lang="en-US" sz="750" dirty="0"/>
          </a:p>
        </p:txBody>
      </p:sp>
      <p:sp>
        <p:nvSpPr>
          <p:cNvPr id="54" name="Text 51"/>
          <p:cNvSpPr txBox="1"/>
          <p:nvPr/>
        </p:nvSpPr>
        <p:spPr>
          <a:xfrm>
            <a:off x="6510528" y="506211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4</a:t>
            </a:r>
            <a:endParaRPr lang="en-US" sz="700" dirty="0"/>
          </a:p>
        </p:txBody>
      </p:sp>
      <p:sp>
        <p:nvSpPr>
          <p:cNvPr id="55" name="Text 52"/>
          <p:cNvSpPr txBox="1"/>
          <p:nvPr/>
        </p:nvSpPr>
        <p:spPr>
          <a:xfrm>
            <a:off x="6748272" y="506211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Pier Hotel - Pt Lincoln</a:t>
            </a:r>
            <a:endParaRPr lang="en-US" sz="750" dirty="0"/>
          </a:p>
        </p:txBody>
      </p:sp>
      <p:sp>
        <p:nvSpPr>
          <p:cNvPr id="56" name="Text 53"/>
          <p:cNvSpPr txBox="1"/>
          <p:nvPr/>
        </p:nvSpPr>
        <p:spPr>
          <a:xfrm>
            <a:off x="9052560" y="506211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$8k</a:t>
            </a:r>
            <a:endParaRPr lang="en-US" sz="750" dirty="0"/>
          </a:p>
        </p:txBody>
      </p:sp>
      <p:sp>
        <p:nvSpPr>
          <p:cNvPr id="57" name="Text 54"/>
          <p:cNvSpPr txBox="1"/>
          <p:nvPr/>
        </p:nvSpPr>
        <p:spPr>
          <a:xfrm>
            <a:off x="9921240" y="506211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$648</a:t>
            </a:r>
            <a:endParaRPr lang="en-US" sz="750" dirty="0"/>
          </a:p>
        </p:txBody>
      </p:sp>
      <p:sp>
        <p:nvSpPr>
          <p:cNvPr id="58" name="Text 55"/>
          <p:cNvSpPr txBox="1"/>
          <p:nvPr/>
        </p:nvSpPr>
        <p:spPr>
          <a:xfrm>
            <a:off x="10652760" y="506211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59" name="Text 56"/>
          <p:cNvSpPr txBox="1"/>
          <p:nvPr/>
        </p:nvSpPr>
        <p:spPr>
          <a:xfrm>
            <a:off x="11155680" y="5062118"/>
            <a:ext cx="384048" cy="173736"/>
          </a:xfrm>
          <a:prstGeom prst="rect">
            <a:avLst/>
          </a:prstGeom>
          <a:noFill/>
          <a:ln/>
        </p:spPr>
        <p:txBody>
          <a:bodyPr wrap="square" lIns="0" tIns="0" rIns="0" bIns="0" rtlCol="0" anchor="ctr"/>
          <a:lstStyle/>
          <a:p>
            <a:pPr algn="r" indent="0" marL="0">
              <a:buNone/>
            </a:pPr>
            <a:endParaRPr lang="en-US" sz="750" dirty="0"/>
          </a:p>
        </p:txBody>
      </p:sp>
      <p:sp>
        <p:nvSpPr>
          <p:cNvPr id="60" name="Text 57"/>
          <p:cNvSpPr txBox="1"/>
          <p:nvPr/>
        </p:nvSpPr>
        <p:spPr>
          <a:xfrm>
            <a:off x="6510528" y="523768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5</a:t>
            </a:r>
            <a:endParaRPr lang="en-US" sz="700" dirty="0"/>
          </a:p>
        </p:txBody>
      </p:sp>
      <p:sp>
        <p:nvSpPr>
          <p:cNvPr id="61" name="Text 58"/>
          <p:cNvSpPr txBox="1"/>
          <p:nvPr/>
        </p:nvSpPr>
        <p:spPr>
          <a:xfrm>
            <a:off x="6748272" y="523768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The Iris Pavilion</a:t>
            </a:r>
            <a:endParaRPr lang="en-US" sz="750" dirty="0"/>
          </a:p>
        </p:txBody>
      </p:sp>
      <p:sp>
        <p:nvSpPr>
          <p:cNvPr id="62" name="Text 59"/>
          <p:cNvSpPr txBox="1"/>
          <p:nvPr/>
        </p:nvSpPr>
        <p:spPr>
          <a:xfrm>
            <a:off x="9052560" y="523768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$7k</a:t>
            </a:r>
            <a:endParaRPr lang="en-US" sz="750" dirty="0"/>
          </a:p>
        </p:txBody>
      </p:sp>
      <p:sp>
        <p:nvSpPr>
          <p:cNvPr id="63" name="Text 60"/>
          <p:cNvSpPr txBox="1"/>
          <p:nvPr/>
        </p:nvSpPr>
        <p:spPr>
          <a:xfrm>
            <a:off x="9921240" y="523768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$623</a:t>
            </a:r>
            <a:endParaRPr lang="en-US" sz="750" dirty="0"/>
          </a:p>
        </p:txBody>
      </p:sp>
      <p:sp>
        <p:nvSpPr>
          <p:cNvPr id="64" name="Text 61"/>
          <p:cNvSpPr txBox="1"/>
          <p:nvPr/>
        </p:nvSpPr>
        <p:spPr>
          <a:xfrm>
            <a:off x="10652760" y="523768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65" name="Text 62"/>
          <p:cNvSpPr txBox="1"/>
          <p:nvPr/>
        </p:nvSpPr>
        <p:spPr>
          <a:xfrm>
            <a:off x="11155680" y="5237683"/>
            <a:ext cx="384048" cy="173736"/>
          </a:xfrm>
          <a:prstGeom prst="rect">
            <a:avLst/>
          </a:prstGeom>
          <a:noFill/>
          <a:ln/>
        </p:spPr>
        <p:txBody>
          <a:bodyPr wrap="square" lIns="0" tIns="0" rIns="0" bIns="0" rtlCol="0" anchor="ctr"/>
          <a:lstStyle/>
          <a:p>
            <a:pPr algn="r" indent="0" marL="0">
              <a:buNone/>
            </a:pPr>
            <a:endParaRPr lang="en-US" sz="750" dirty="0"/>
          </a:p>
        </p:txBody>
      </p:sp>
      <p:sp>
        <p:nvSpPr>
          <p:cNvPr id="66" name="Text 63"/>
          <p:cNvSpPr txBox="1"/>
          <p:nvPr/>
        </p:nvSpPr>
        <p:spPr>
          <a:xfrm>
            <a:off x="6510528" y="541324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6</a:t>
            </a:r>
            <a:endParaRPr lang="en-US" sz="700" dirty="0"/>
          </a:p>
        </p:txBody>
      </p:sp>
      <p:sp>
        <p:nvSpPr>
          <p:cNvPr id="67" name="Text 64"/>
          <p:cNvSpPr txBox="1"/>
          <p:nvPr/>
        </p:nvSpPr>
        <p:spPr>
          <a:xfrm>
            <a:off x="6748272" y="541324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Royal Family Hotel</a:t>
            </a:r>
            <a:endParaRPr lang="en-US" sz="750" dirty="0"/>
          </a:p>
        </p:txBody>
      </p:sp>
      <p:sp>
        <p:nvSpPr>
          <p:cNvPr id="68" name="Text 65"/>
          <p:cNvSpPr txBox="1"/>
          <p:nvPr/>
        </p:nvSpPr>
        <p:spPr>
          <a:xfrm>
            <a:off x="9052560" y="541324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$7k</a:t>
            </a:r>
            <a:endParaRPr lang="en-US" sz="750" dirty="0"/>
          </a:p>
        </p:txBody>
      </p:sp>
      <p:sp>
        <p:nvSpPr>
          <p:cNvPr id="69" name="Text 66"/>
          <p:cNvSpPr txBox="1"/>
          <p:nvPr/>
        </p:nvSpPr>
        <p:spPr>
          <a:xfrm>
            <a:off x="9921240" y="541324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$597</a:t>
            </a:r>
            <a:endParaRPr lang="en-US" sz="750" dirty="0"/>
          </a:p>
        </p:txBody>
      </p:sp>
      <p:sp>
        <p:nvSpPr>
          <p:cNvPr id="70" name="Text 67"/>
          <p:cNvSpPr txBox="1"/>
          <p:nvPr/>
        </p:nvSpPr>
        <p:spPr>
          <a:xfrm>
            <a:off x="10652760" y="541324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71" name="Text 68"/>
          <p:cNvSpPr txBox="1"/>
          <p:nvPr/>
        </p:nvSpPr>
        <p:spPr>
          <a:xfrm>
            <a:off x="11155680" y="5413248"/>
            <a:ext cx="384048" cy="173736"/>
          </a:xfrm>
          <a:prstGeom prst="rect">
            <a:avLst/>
          </a:prstGeom>
          <a:noFill/>
          <a:ln/>
        </p:spPr>
        <p:txBody>
          <a:bodyPr wrap="square" lIns="0" tIns="0" rIns="0" bIns="0" rtlCol="0" anchor="ctr"/>
          <a:lstStyle/>
          <a:p>
            <a:pPr algn="r" indent="0" marL="0">
              <a:buNone/>
            </a:pPr>
            <a:endParaRPr lang="en-US" sz="750" dirty="0"/>
          </a:p>
        </p:txBody>
      </p:sp>
      <p:sp>
        <p:nvSpPr>
          <p:cNvPr id="72" name="Text 69"/>
          <p:cNvSpPr txBox="1"/>
          <p:nvPr/>
        </p:nvSpPr>
        <p:spPr>
          <a:xfrm>
            <a:off x="6510528" y="5588813"/>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7</a:t>
            </a:r>
            <a:endParaRPr lang="en-US" sz="700" dirty="0"/>
          </a:p>
        </p:txBody>
      </p:sp>
      <p:sp>
        <p:nvSpPr>
          <p:cNvPr id="73" name="Text 70"/>
          <p:cNvSpPr txBox="1"/>
          <p:nvPr/>
        </p:nvSpPr>
        <p:spPr>
          <a:xfrm>
            <a:off x="6748272" y="5588813"/>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The Berrigan</a:t>
            </a:r>
            <a:endParaRPr lang="en-US" sz="750" dirty="0"/>
          </a:p>
        </p:txBody>
      </p:sp>
      <p:sp>
        <p:nvSpPr>
          <p:cNvPr id="74" name="Text 71"/>
          <p:cNvSpPr txBox="1"/>
          <p:nvPr/>
        </p:nvSpPr>
        <p:spPr>
          <a:xfrm>
            <a:off x="9052560" y="5588813"/>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75" name="Text 72"/>
          <p:cNvSpPr txBox="1"/>
          <p:nvPr/>
        </p:nvSpPr>
        <p:spPr>
          <a:xfrm>
            <a:off x="9921240" y="5588813"/>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$475</a:t>
            </a:r>
            <a:endParaRPr lang="en-US" sz="750" dirty="0"/>
          </a:p>
        </p:txBody>
      </p:sp>
      <p:sp>
        <p:nvSpPr>
          <p:cNvPr id="76" name="Text 73"/>
          <p:cNvSpPr txBox="1"/>
          <p:nvPr/>
        </p:nvSpPr>
        <p:spPr>
          <a:xfrm>
            <a:off x="10652760" y="5588813"/>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Mar</a:t>
            </a:r>
            <a:endParaRPr lang="en-US" sz="750" dirty="0"/>
          </a:p>
        </p:txBody>
      </p:sp>
      <p:sp>
        <p:nvSpPr>
          <p:cNvPr id="77" name="Text 74"/>
          <p:cNvSpPr txBox="1"/>
          <p:nvPr/>
        </p:nvSpPr>
        <p:spPr>
          <a:xfrm>
            <a:off x="11155680" y="5588813"/>
            <a:ext cx="384048" cy="173736"/>
          </a:xfrm>
          <a:prstGeom prst="rect">
            <a:avLst/>
          </a:prstGeom>
          <a:noFill/>
          <a:ln/>
        </p:spPr>
        <p:txBody>
          <a:bodyPr wrap="square" lIns="0" tIns="0" rIns="0" bIns="0" rtlCol="0" anchor="ctr"/>
          <a:lstStyle/>
          <a:p>
            <a:pPr algn="r" indent="0" marL="0">
              <a:buNone/>
            </a:pPr>
            <a:endParaRPr lang="en-US" sz="750" dirty="0"/>
          </a:p>
        </p:txBody>
      </p:sp>
      <p:sp>
        <p:nvSpPr>
          <p:cNvPr id="78" name="Text 75"/>
          <p:cNvSpPr txBox="1"/>
          <p:nvPr/>
        </p:nvSpPr>
        <p:spPr>
          <a:xfrm>
            <a:off x="6510528" y="5764378"/>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8</a:t>
            </a:r>
            <a:endParaRPr lang="en-US" sz="700" dirty="0"/>
          </a:p>
        </p:txBody>
      </p:sp>
      <p:sp>
        <p:nvSpPr>
          <p:cNvPr id="79" name="Text 76"/>
          <p:cNvSpPr txBox="1"/>
          <p:nvPr/>
        </p:nvSpPr>
        <p:spPr>
          <a:xfrm>
            <a:off x="6748272" y="5764378"/>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Bar Carolina</a:t>
            </a:r>
            <a:endParaRPr lang="en-US" sz="750" dirty="0"/>
          </a:p>
        </p:txBody>
      </p:sp>
      <p:sp>
        <p:nvSpPr>
          <p:cNvPr id="80" name="Text 77"/>
          <p:cNvSpPr txBox="1"/>
          <p:nvPr/>
        </p:nvSpPr>
        <p:spPr>
          <a:xfrm>
            <a:off x="9052560" y="5764378"/>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$6k</a:t>
            </a:r>
            <a:endParaRPr lang="en-US" sz="750" dirty="0"/>
          </a:p>
        </p:txBody>
      </p:sp>
      <p:sp>
        <p:nvSpPr>
          <p:cNvPr id="81" name="Text 78"/>
          <p:cNvSpPr txBox="1"/>
          <p:nvPr/>
        </p:nvSpPr>
        <p:spPr>
          <a:xfrm>
            <a:off x="9921240" y="5764378"/>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$474</a:t>
            </a:r>
            <a:endParaRPr lang="en-US" sz="750" dirty="0"/>
          </a:p>
        </p:txBody>
      </p:sp>
      <p:sp>
        <p:nvSpPr>
          <p:cNvPr id="82" name="Text 79"/>
          <p:cNvSpPr txBox="1"/>
          <p:nvPr/>
        </p:nvSpPr>
        <p:spPr>
          <a:xfrm>
            <a:off x="10652760" y="5764378"/>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Oct</a:t>
            </a:r>
            <a:endParaRPr lang="en-US" sz="750" dirty="0"/>
          </a:p>
        </p:txBody>
      </p:sp>
      <p:sp>
        <p:nvSpPr>
          <p:cNvPr id="83" name="Text 80"/>
          <p:cNvSpPr txBox="1"/>
          <p:nvPr/>
        </p:nvSpPr>
        <p:spPr>
          <a:xfrm>
            <a:off x="11155680" y="5764378"/>
            <a:ext cx="384048" cy="173736"/>
          </a:xfrm>
          <a:prstGeom prst="rect">
            <a:avLst/>
          </a:prstGeom>
          <a:noFill/>
          <a:ln/>
        </p:spPr>
        <p:txBody>
          <a:bodyPr wrap="square" lIns="0" tIns="0" rIns="0" bIns="0" rtlCol="0" anchor="ctr"/>
          <a:lstStyle/>
          <a:p>
            <a:pPr algn="r" indent="0" marL="0">
              <a:buNone/>
            </a:pPr>
            <a:endParaRPr lang="en-US" sz="750" dirty="0"/>
          </a:p>
        </p:txBody>
      </p:sp>
      <p:sp>
        <p:nvSpPr>
          <p:cNvPr id="84" name="Text 81"/>
          <p:cNvSpPr txBox="1"/>
          <p:nvPr/>
        </p:nvSpPr>
        <p:spPr>
          <a:xfrm>
            <a:off x="6510528" y="5939942"/>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9</a:t>
            </a:r>
            <a:endParaRPr lang="en-US" sz="700" dirty="0"/>
          </a:p>
        </p:txBody>
      </p:sp>
      <p:sp>
        <p:nvSpPr>
          <p:cNvPr id="85" name="Text 82"/>
          <p:cNvSpPr txBox="1"/>
          <p:nvPr/>
        </p:nvSpPr>
        <p:spPr>
          <a:xfrm>
            <a:off x="6748272" y="5939942"/>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Hotel Augusta</a:t>
            </a:r>
            <a:endParaRPr lang="en-US" sz="750" dirty="0"/>
          </a:p>
        </p:txBody>
      </p:sp>
      <p:sp>
        <p:nvSpPr>
          <p:cNvPr id="86" name="Text 83"/>
          <p:cNvSpPr txBox="1"/>
          <p:nvPr/>
        </p:nvSpPr>
        <p:spPr>
          <a:xfrm>
            <a:off x="9052560" y="5939942"/>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87" name="Text 84"/>
          <p:cNvSpPr txBox="1"/>
          <p:nvPr/>
        </p:nvSpPr>
        <p:spPr>
          <a:xfrm>
            <a:off x="9921240" y="5939942"/>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$410</a:t>
            </a:r>
            <a:endParaRPr lang="en-US" sz="750" dirty="0"/>
          </a:p>
        </p:txBody>
      </p:sp>
      <p:sp>
        <p:nvSpPr>
          <p:cNvPr id="88" name="Text 85"/>
          <p:cNvSpPr txBox="1"/>
          <p:nvPr/>
        </p:nvSpPr>
        <p:spPr>
          <a:xfrm>
            <a:off x="10652760" y="5939942"/>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Jun</a:t>
            </a:r>
            <a:endParaRPr lang="en-US" sz="750" dirty="0"/>
          </a:p>
        </p:txBody>
      </p:sp>
      <p:sp>
        <p:nvSpPr>
          <p:cNvPr id="89" name="Text 86"/>
          <p:cNvSpPr txBox="1"/>
          <p:nvPr/>
        </p:nvSpPr>
        <p:spPr>
          <a:xfrm>
            <a:off x="11155680" y="5939942"/>
            <a:ext cx="384048" cy="173736"/>
          </a:xfrm>
          <a:prstGeom prst="rect">
            <a:avLst/>
          </a:prstGeom>
          <a:noFill/>
          <a:ln/>
        </p:spPr>
        <p:txBody>
          <a:bodyPr wrap="square" lIns="0" tIns="0" rIns="0" bIns="0" rtlCol="0" anchor="ctr"/>
          <a:lstStyle/>
          <a:p>
            <a:pPr algn="r" indent="0" marL="0">
              <a:buNone/>
            </a:pPr>
            <a:endParaRPr lang="en-US" sz="750" dirty="0"/>
          </a:p>
        </p:txBody>
      </p:sp>
      <p:sp>
        <p:nvSpPr>
          <p:cNvPr id="90" name="Text 87"/>
          <p:cNvSpPr txBox="1"/>
          <p:nvPr/>
        </p:nvSpPr>
        <p:spPr>
          <a:xfrm>
            <a:off x="6510528" y="6115507"/>
            <a:ext cx="201168" cy="173736"/>
          </a:xfrm>
          <a:prstGeom prst="rect">
            <a:avLst/>
          </a:prstGeom>
          <a:noFill/>
          <a:ln/>
        </p:spPr>
        <p:txBody>
          <a:bodyPr wrap="square" lIns="0" tIns="0" rIns="0" bIns="0" rtlCol="0" anchor="ctr"/>
          <a:lstStyle/>
          <a:p>
            <a:pPr indent="0" marL="0">
              <a:buNone/>
            </a:pPr>
            <a:r>
              <a:rPr lang="en-US" sz="700" dirty="0">
                <a:solidFill>
                  <a:srgbClr val="8FA1AC"/>
                </a:solidFill>
                <a:latin typeface="Poppins" pitchFamily="34" charset="0"/>
                <a:ea typeface="Poppins" pitchFamily="34" charset="-122"/>
                <a:cs typeface="Poppins" pitchFamily="34" charset="-120"/>
              </a:rPr>
              <a:t>10</a:t>
            </a:r>
            <a:endParaRPr lang="en-US" sz="700" dirty="0"/>
          </a:p>
        </p:txBody>
      </p:sp>
      <p:sp>
        <p:nvSpPr>
          <p:cNvPr id="91" name="Text 88"/>
          <p:cNvSpPr txBox="1"/>
          <p:nvPr/>
        </p:nvSpPr>
        <p:spPr>
          <a:xfrm>
            <a:off x="6748272" y="6115507"/>
            <a:ext cx="2286000" cy="173736"/>
          </a:xfrm>
          <a:prstGeom prst="rect">
            <a:avLst/>
          </a:prstGeom>
          <a:noFill/>
          <a:ln/>
        </p:spPr>
        <p:txBody>
          <a:bodyPr wrap="square" lIns="0" tIns="0" rIns="0" bIns="0" rtlCol="0" anchor="ctr"/>
          <a:lstStyle/>
          <a:p>
            <a:pPr indent="0" marL="0">
              <a:buNone/>
            </a:pPr>
            <a:r>
              <a:rPr lang="en-US" sz="750" dirty="0">
                <a:solidFill>
                  <a:srgbClr val="12293A"/>
                </a:solidFill>
                <a:latin typeface="Poppins" pitchFamily="34" charset="0"/>
                <a:ea typeface="Poppins" pitchFamily="34" charset="-122"/>
                <a:cs typeface="Poppins" pitchFamily="34" charset="-120"/>
              </a:rPr>
              <a:t>Bar Orient</a:t>
            </a:r>
            <a:endParaRPr lang="en-US" sz="750" dirty="0"/>
          </a:p>
        </p:txBody>
      </p:sp>
      <p:sp>
        <p:nvSpPr>
          <p:cNvPr id="92" name="Text 89"/>
          <p:cNvSpPr txBox="1"/>
          <p:nvPr/>
        </p:nvSpPr>
        <p:spPr>
          <a:xfrm>
            <a:off x="9052560" y="6115507"/>
            <a:ext cx="822960" cy="173736"/>
          </a:xfrm>
          <a:prstGeom prst="rect">
            <a:avLst/>
          </a:prstGeom>
          <a:noFill/>
          <a:ln/>
        </p:spPr>
        <p:txBody>
          <a:bodyPr wrap="square" lIns="0" tIns="0" rIns="0" bIns="0" rtlCol="0" anchor="ctr"/>
          <a:lstStyle/>
          <a:p>
            <a:pPr algn="r" indent="0" marL="0">
              <a:buNone/>
            </a:pPr>
            <a:r>
              <a:rPr lang="en-US" sz="750" b="1" dirty="0">
                <a:solidFill>
                  <a:srgbClr val="B4552D"/>
                </a:solidFill>
                <a:latin typeface="Poppins" pitchFamily="34" charset="0"/>
                <a:ea typeface="Poppins" pitchFamily="34" charset="-122"/>
                <a:cs typeface="Poppins" pitchFamily="34" charset="-120"/>
              </a:rPr>
              <a:t>$5k</a:t>
            </a:r>
            <a:endParaRPr lang="en-US" sz="750" dirty="0"/>
          </a:p>
        </p:txBody>
      </p:sp>
      <p:sp>
        <p:nvSpPr>
          <p:cNvPr id="93" name="Text 90"/>
          <p:cNvSpPr txBox="1"/>
          <p:nvPr/>
        </p:nvSpPr>
        <p:spPr>
          <a:xfrm>
            <a:off x="9921240" y="6115507"/>
            <a:ext cx="6858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$377</a:t>
            </a:r>
            <a:endParaRPr lang="en-US" sz="750" dirty="0"/>
          </a:p>
        </p:txBody>
      </p:sp>
      <p:sp>
        <p:nvSpPr>
          <p:cNvPr id="94" name="Text 91"/>
          <p:cNvSpPr txBox="1"/>
          <p:nvPr/>
        </p:nvSpPr>
        <p:spPr>
          <a:xfrm>
            <a:off x="10652760" y="6115507"/>
            <a:ext cx="457200" cy="173736"/>
          </a:xfrm>
          <a:prstGeom prst="rect">
            <a:avLst/>
          </a:prstGeom>
          <a:noFill/>
          <a:ln/>
        </p:spPr>
        <p:txBody>
          <a:bodyPr wrap="square" lIns="0" tIns="0" rIns="0" bIns="0" rtlCol="0" anchor="ctr"/>
          <a:lstStyle/>
          <a:p>
            <a:pPr algn="r" indent="0" marL="0">
              <a:buNone/>
            </a:pPr>
            <a:r>
              <a:rPr lang="en-US" sz="750" dirty="0">
                <a:solidFill>
                  <a:srgbClr val="5E7280"/>
                </a:solidFill>
                <a:latin typeface="Poppins" pitchFamily="34" charset="0"/>
                <a:ea typeface="Poppins" pitchFamily="34" charset="-122"/>
                <a:cs typeface="Poppins" pitchFamily="34" charset="-120"/>
              </a:rPr>
              <a:t>Sep</a:t>
            </a:r>
            <a:endParaRPr lang="en-US" sz="750" dirty="0"/>
          </a:p>
        </p:txBody>
      </p:sp>
      <p:sp>
        <p:nvSpPr>
          <p:cNvPr id="95" name="Text 92"/>
          <p:cNvSpPr txBox="1"/>
          <p:nvPr/>
        </p:nvSpPr>
        <p:spPr>
          <a:xfrm>
            <a:off x="11155680" y="6115507"/>
            <a:ext cx="384048" cy="173736"/>
          </a:xfrm>
          <a:prstGeom prst="rect">
            <a:avLst/>
          </a:prstGeom>
          <a:noFill/>
          <a:ln/>
        </p:spPr>
        <p:txBody>
          <a:bodyPr wrap="square" lIns="0" tIns="0" rIns="0" bIns="0" rtlCol="0" anchor="ctr"/>
          <a:lstStyle/>
          <a:p>
            <a:pPr algn="r" indent="0" marL="0">
              <a:buNone/>
            </a:pPr>
            <a:endParaRPr lang="en-US" sz="750" dirty="0"/>
          </a:p>
        </p:txBody>
      </p:sp>
      <p:sp>
        <p:nvSpPr>
          <p:cNvPr id="96" name="Shape 93"/>
          <p:cNvSpPr/>
          <p:nvPr/>
        </p:nvSpPr>
        <p:spPr>
          <a:xfrm>
            <a:off x="411480" y="4023360"/>
            <a:ext cx="5760720" cy="2340864"/>
          </a:xfrm>
          <a:prstGeom prst="roundRect">
            <a:avLst>
              <a:gd name="adj" fmla="val 2734"/>
            </a:avLst>
          </a:prstGeom>
          <a:solidFill>
            <a:srgbClr val="FFFFFF"/>
          </a:solidFill>
          <a:ln/>
          <a:effectLst>
            <a:outerShdw sx="100000" sy="100000" kx="0" ky="0" algn="bl" rotWithShape="0" blurRad="76200" dist="25400" dir="5400000">
              <a:srgbClr val="9AAAB5">
                <a:alpha val="35000"/>
              </a:srgbClr>
            </a:outerShdw>
          </a:effectLst>
        </p:spPr>
      </p:sp>
      <p:sp>
        <p:nvSpPr>
          <p:cNvPr id="97" name="Text 94"/>
          <p:cNvSpPr txBox="1"/>
          <p:nvPr/>
        </p:nvSpPr>
        <p:spPr>
          <a:xfrm>
            <a:off x="612648" y="4133088"/>
            <a:ext cx="530352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98" name="Text 95"/>
          <p:cNvSpPr txBox="1"/>
          <p:nvPr/>
        </p:nvSpPr>
        <p:spPr>
          <a:xfrm>
            <a:off x="612648" y="4425696"/>
            <a:ext cx="5349240" cy="1810512"/>
          </a:xfrm>
          <a:prstGeom prst="rect">
            <a:avLst/>
          </a:prstGeom>
          <a:noFill/>
          <a:ln/>
        </p:spPr>
        <p:txBody>
          <a:bodyPr wrap="square" lIns="0" tIns="0" rIns="0" bIns="0" rtlCol="0" anchor="t"/>
          <a:lstStyle/>
          <a:p>
            <a:pPr indent="0" marL="0">
              <a:buNone/>
            </a:pPr>
            <a:r>
              <a:rPr lang="en-US" sz="850" b="1" dirty="0">
                <a:solidFill>
                  <a:srgbClr val="B4552D"/>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Q4 has opened with invoicing behind wins and both behind last quarter.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$2,486 won against $2,904 invoiced in October to date. Ten months of both series now read live from HubSpot and the register.</a:t>
            </a:r>
            <a:endParaRPr lang="en-US" sz="850" dirty="0"/>
          </a:p>
          <a:p>
            <a:pPr indent="0" marL="0">
              <a:buNone/>
            </a:pPr>
            <a:r>
              <a:rPr lang="en-US" sz="850" b="1" dirty="0">
                <a:solidFill>
                  <a:srgbClr val="C88A2E"/>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Churn is still the whole story: $1.26M of ARR across 269 logos since Jan 2025.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Q4 is already −$6.1k net — $2.9k in against $6.9k of churn and $2.1k of contraction, and the quarter is eleven days old.</a:t>
            </a:r>
            <a:endParaRPr lang="en-US" sz="850" dirty="0"/>
          </a:p>
          <a:p>
            <a:pPr indent="0" marL="0">
              <a:buNone/>
            </a:pPr>
            <a:r>
              <a:rPr lang="en-US" sz="850" b="1" dirty="0">
                <a:solidFill>
                  <a:srgbClr val="2C8394"/>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Four months of won MRR restated in HubSpot this week.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January moved $188 → $4,077, February $472 → $7,481, May $6,312 → $2,327 and September $8,407 → $11,582 as deal values were corrected during the debtor-mapping work. The series is live, so it moves.</a:t>
            </a:r>
            <a:endParaRPr lang="en-US" sz="850" dirty="0"/>
          </a:p>
          <a:p>
            <a:pPr indent="0" marL="0">
              <a:buNone/>
            </a:pPr>
            <a:r>
              <a:rPr lang="en-US" sz="850" b="1" dirty="0">
                <a:solidFill>
                  <a:srgbClr val="B4552D"/>
                </a:solidFill>
                <a:latin typeface="Poppins" pitchFamily="34" charset="0"/>
                <a:ea typeface="Poppins" pitchFamily="34" charset="-122"/>
                <a:cs typeface="Poppins" pitchFamily="34" charset="-120"/>
              </a:rPr>
              <a:t>•  </a:t>
            </a:r>
            <a:pPr indent="0" marL="0">
              <a:buNone/>
            </a:pPr>
            <a:r>
              <a:rPr lang="en-US" sz="850" b="1" dirty="0">
                <a:solidFill>
                  <a:srgbClr val="12293A"/>
                </a:solidFill>
                <a:latin typeface="Poppins" pitchFamily="34" charset="0"/>
                <a:ea typeface="Poppins" pitchFamily="34" charset="-122"/>
                <a:cs typeface="Poppins" pitchFamily="34" charset="-120"/>
              </a:rPr>
              <a:t>$236k of ARR is won with no row on the register. </a:t>
            </a:r>
            <a:pPr indent="0" marL="0">
              <a:spcAft>
                <a:spcPts val="600"/>
              </a:spcAft>
              <a:buNone/>
            </a:pPr>
            <a:r>
              <a:rPr lang="en-US" sz="850" dirty="0">
                <a:solidFill>
                  <a:srgbClr val="3A4B57"/>
                </a:solidFill>
                <a:latin typeface="Poppins" pitchFamily="34" charset="0"/>
                <a:ea typeface="Poppins" pitchFamily="34" charset="-122"/>
                <a:cs typeface="Poppins" pitchFamily="34" charset="-120"/>
              </a:rPr>
              <a:t>18 of the 89 deals that carried software MRR in 2026. Oscars Group is $155k of it — 66%.</a:t>
            </a:r>
            <a:endParaRPr lang="en-US" sz="850" dirty="0"/>
          </a:p>
          <a:p>
            <a:pPr indent="0" marL="0">
              <a:buNone/>
            </a:pPr>
            <a:r>
              <a:rPr lang="en-US" sz="700" dirty="0">
                <a:solidFill>
                  <a:srgbClr val="8FA1AC"/>
                </a:solidFill>
                <a:latin typeface="Poppins" pitchFamily="34" charset="0"/>
                <a:ea typeface="Poppins" pitchFamily="34" charset="-122"/>
                <a:cs typeface="Poppins" pitchFamily="34" charset="-120"/>
              </a:rPr>
              <a:t>◆ Oscars Group — signed, ~1.5x rollout, held by the old provider's contract terms. AVC new sites excluded (parked licences, not counted in MRR). Eight more sit below the cut, together worth $1.2k/mo.</a:t>
            </a:r>
            <a:endParaRPr lang="en-US" sz="850" dirty="0"/>
          </a:p>
        </p:txBody>
      </p:sp>
      <p:sp>
        <p:nvSpPr>
          <p:cNvPr id="99" name="Text 96"/>
          <p:cNvSpPr txBox="1"/>
          <p:nvPr/>
        </p:nvSpPr>
        <p:spPr>
          <a:xfrm>
            <a:off x="411480" y="6455664"/>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ARR = monthly MRR × 12 · matched on debtor ID and venue name</a:t>
            </a:r>
            <a:endParaRPr lang="en-US" sz="750" dirty="0"/>
          </a:p>
        </p:txBody>
      </p:sp>
      <p:sp>
        <p:nvSpPr>
          <p:cNvPr id="100" name="Shape 97"/>
          <p:cNvSpPr/>
          <p:nvPr/>
        </p:nvSpPr>
        <p:spPr>
          <a:xfrm>
            <a:off x="5925312" y="6510528"/>
            <a:ext cx="5852160" cy="256032"/>
          </a:xfrm>
          <a:prstGeom prst="roundRect">
            <a:avLst>
              <a:gd name="adj" fmla="val 46429"/>
            </a:avLst>
          </a:prstGeom>
          <a:solidFill>
            <a:srgbClr val="12293A"/>
          </a:solidFill>
          <a:ln/>
        </p:spPr>
      </p:sp>
      <p:sp>
        <p:nvSpPr>
          <p:cNvPr id="101" name="Text 98"/>
          <p:cNvSpPr txBox="1"/>
          <p:nvPr/>
        </p:nvSpPr>
        <p:spPr>
          <a:xfrm>
            <a:off x="5925312" y="6510528"/>
            <a:ext cx="5852160"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closed-won deals (total_software_cost) + MRR movement register (live, 12 Oct) — all series live</a:t>
            </a:r>
            <a:endParaRPr lang="en-US" sz="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Backlog</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Support</a:t>
            </a:r>
            <a:endParaRPr lang="en-US" sz="1050" dirty="0"/>
          </a:p>
        </p:txBody>
      </p:sp>
      <p:sp>
        <p:nvSpPr>
          <p:cNvPr id="7" name="Shape 5"/>
          <p:cNvSpPr/>
          <p:nvPr/>
        </p:nvSpPr>
        <p:spPr>
          <a:xfrm>
            <a:off x="8686800" y="82296"/>
            <a:ext cx="1965960" cy="347472"/>
          </a:xfrm>
          <a:prstGeom prst="roundRect">
            <a:avLst>
              <a:gd name="adj" fmla="val 50000"/>
            </a:avLst>
          </a:prstGeom>
          <a:solidFill>
            <a:srgbClr val="C88A2E"/>
          </a:solidFill>
          <a:ln w="9525">
            <a:solidFill>
              <a:srgbClr val="FFFFFF">
                <a:alpha val="45000"/>
              </a:srgbClr>
            </a:solidFill>
            <a:prstDash val="solid"/>
          </a:ln>
        </p:spPr>
      </p:sp>
      <p:sp>
        <p:nvSpPr>
          <p:cNvPr id="8" name="Text 6"/>
          <p:cNvSpPr txBox="1"/>
          <p:nvPr/>
        </p:nvSpPr>
        <p:spPr>
          <a:xfrm>
            <a:off x="8686800" y="82296"/>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3  ·  DID WE KEEP THEM?</a:t>
            </a:r>
            <a:endParaRPr lang="en-US" sz="850" dirty="0"/>
          </a:p>
        </p:txBody>
      </p:sp>
      <p:sp>
        <p:nvSpPr>
          <p:cNvPr id="9" name="Shape 7"/>
          <p:cNvSpPr/>
          <p:nvPr/>
        </p:nvSpPr>
        <p:spPr>
          <a:xfrm>
            <a:off x="8686800" y="484632"/>
            <a:ext cx="1965960" cy="310896"/>
          </a:xfrm>
          <a:prstGeom prst="roundRect">
            <a:avLst>
              <a:gd name="adj" fmla="val 50000"/>
            </a:avLst>
          </a:prstGeom>
          <a:solidFill>
            <a:srgbClr val="B4552D"/>
          </a:solidFill>
          <a:ln/>
        </p:spPr>
      </p:sp>
      <p:sp>
        <p:nvSpPr>
          <p:cNvPr id="10" name="Text 8"/>
          <p:cNvSpPr txBox="1"/>
          <p:nvPr/>
        </p:nvSpPr>
        <p:spPr>
          <a:xfrm>
            <a:off x="8686800" y="484632"/>
            <a:ext cx="1965960" cy="310896"/>
          </a:xfrm>
          <a:prstGeom prst="rect">
            <a:avLst/>
          </a:prstGeom>
          <a:noFill/>
          <a:ln/>
        </p:spPr>
        <p:txBody>
          <a:bodyPr wrap="square" lIns="0" tIns="0" rIns="0" bIns="0" rtlCol="0" anchor="ctr"/>
          <a:lstStyle/>
          <a:p>
            <a:pPr algn="ctr" indent="0" marL="0">
              <a:buNone/>
            </a:pPr>
            <a:r>
              <a:rPr lang="en-US" sz="750" b="1" dirty="0">
                <a:solidFill>
                  <a:srgbClr val="FFFFFF"/>
                </a:solidFill>
                <a:latin typeface="Poppins" pitchFamily="34" charset="0"/>
                <a:ea typeface="Poppins" pitchFamily="34" charset="-122"/>
                <a:cs typeface="Poppins" pitchFamily="34" charset="-120"/>
              </a:rPr>
              <a:t>CUTOVER · NOW HUBSPOT</a:t>
            </a:r>
            <a:endParaRPr lang="en-US" sz="750" dirty="0"/>
          </a:p>
        </p:txBody>
      </p:sp>
      <p:sp>
        <p:nvSpPr>
          <p:cNvPr id="11" name="Shape 9"/>
          <p:cNvSpPr/>
          <p:nvPr/>
        </p:nvSpPr>
        <p:spPr>
          <a:xfrm>
            <a:off x="10872216" y="0"/>
            <a:ext cx="841248" cy="841248"/>
          </a:xfrm>
          <a:prstGeom prst="ellipse">
            <a:avLst/>
          </a:prstGeom>
          <a:solidFill>
            <a:srgbClr val="1C5765"/>
          </a:solidFill>
          <a:ln/>
        </p:spPr>
      </p:sp>
      <p:sp>
        <p:nvSpPr>
          <p:cNvPr id="12" name="Shape 10"/>
          <p:cNvSpPr/>
          <p:nvPr/>
        </p:nvSpPr>
        <p:spPr>
          <a:xfrm>
            <a:off x="10968228" y="96012"/>
            <a:ext cx="649224" cy="649224"/>
          </a:xfrm>
          <a:prstGeom prst="ellipse">
            <a:avLst/>
          </a:prstGeom>
          <a:solidFill>
            <a:srgbClr val="2C8394"/>
          </a:solidFill>
          <a:ln/>
        </p:spPr>
      </p:sp>
      <p:sp>
        <p:nvSpPr>
          <p:cNvPr id="13" name="Shape 11"/>
          <p:cNvSpPr/>
          <p:nvPr/>
        </p:nvSpPr>
        <p:spPr>
          <a:xfrm>
            <a:off x="11064240" y="192024"/>
            <a:ext cx="457200" cy="457200"/>
          </a:xfrm>
          <a:prstGeom prst="ellipse">
            <a:avLst/>
          </a:prstGeom>
          <a:solidFill>
            <a:srgbClr val="6FAEBB"/>
          </a:solidFill>
          <a:ln/>
        </p:spPr>
      </p:sp>
      <p:sp>
        <p:nvSpPr>
          <p:cNvPr id="14" name="Shape 12"/>
          <p:cNvSpPr/>
          <p:nvPr/>
        </p:nvSpPr>
        <p:spPr>
          <a:xfrm>
            <a:off x="11160252" y="288036"/>
            <a:ext cx="265176" cy="265176"/>
          </a:xfrm>
          <a:prstGeom prst="ellipse">
            <a:avLst/>
          </a:prstGeom>
          <a:solidFill>
            <a:srgbClr val="E4F1F4"/>
          </a:solidFill>
          <a:ln/>
        </p:spPr>
      </p:sp>
      <p:sp>
        <p:nvSpPr>
          <p:cNvPr id="15" name="Shape 13"/>
          <p:cNvSpPr/>
          <p:nvPr/>
        </p:nvSpPr>
        <p:spPr>
          <a:xfrm>
            <a:off x="41148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16" name="Text 14"/>
          <p:cNvSpPr txBox="1"/>
          <p:nvPr/>
        </p:nvSpPr>
        <p:spPr>
          <a:xfrm>
            <a:off x="57607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BACKLOG</a:t>
            </a:r>
            <a:endParaRPr lang="en-US" sz="950" dirty="0"/>
          </a:p>
        </p:txBody>
      </p:sp>
      <p:sp>
        <p:nvSpPr>
          <p:cNvPr id="17" name="Text 15"/>
          <p:cNvSpPr txBox="1"/>
          <p:nvPr/>
        </p:nvSpPr>
        <p:spPr>
          <a:xfrm>
            <a:off x="55778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657</a:t>
            </a:r>
            <a:endParaRPr lang="en-US" sz="2600" dirty="0"/>
          </a:p>
        </p:txBody>
      </p:sp>
      <p:sp>
        <p:nvSpPr>
          <p:cNvPr id="18" name="Text 16"/>
          <p:cNvSpPr txBox="1"/>
          <p:nvPr/>
        </p:nvSpPr>
        <p:spPr>
          <a:xfrm>
            <a:off x="57607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as at 11 Oct</a:t>
            </a:r>
            <a:endParaRPr lang="en-US" sz="780" dirty="0"/>
          </a:p>
        </p:txBody>
      </p:sp>
      <p:sp>
        <p:nvSpPr>
          <p:cNvPr id="19" name="Shape 17"/>
          <p:cNvSpPr/>
          <p:nvPr/>
        </p:nvSpPr>
        <p:spPr>
          <a:xfrm>
            <a:off x="329184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0" name="Text 18"/>
          <p:cNvSpPr txBox="1"/>
          <p:nvPr/>
        </p:nvSpPr>
        <p:spPr>
          <a:xfrm>
            <a:off x="345643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OPEN PAST 30 DAYS</a:t>
            </a:r>
            <a:endParaRPr lang="en-US" sz="950" dirty="0"/>
          </a:p>
        </p:txBody>
      </p:sp>
      <p:sp>
        <p:nvSpPr>
          <p:cNvPr id="21" name="Text 19"/>
          <p:cNvSpPr txBox="1"/>
          <p:nvPr/>
        </p:nvSpPr>
        <p:spPr>
          <a:xfrm>
            <a:off x="343814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271</a:t>
            </a:r>
            <a:endParaRPr lang="en-US" sz="2600" dirty="0"/>
          </a:p>
        </p:txBody>
      </p:sp>
      <p:sp>
        <p:nvSpPr>
          <p:cNvPr id="22" name="Text 20"/>
          <p:cNvSpPr txBox="1"/>
          <p:nvPr/>
        </p:nvSpPr>
        <p:spPr>
          <a:xfrm>
            <a:off x="345643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resolution overdue</a:t>
            </a:r>
            <a:endParaRPr lang="en-US" sz="780" dirty="0"/>
          </a:p>
        </p:txBody>
      </p:sp>
      <p:sp>
        <p:nvSpPr>
          <p:cNvPr id="23" name="Shape 21"/>
          <p:cNvSpPr/>
          <p:nvPr/>
        </p:nvSpPr>
        <p:spPr>
          <a:xfrm>
            <a:off x="6172200" y="1024128"/>
            <a:ext cx="2697480"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4" name="Text 22"/>
          <p:cNvSpPr txBox="1"/>
          <p:nvPr/>
        </p:nvSpPr>
        <p:spPr>
          <a:xfrm>
            <a:off x="6336792" y="1115568"/>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MEDIAN TICKET AGE</a:t>
            </a:r>
            <a:endParaRPr lang="en-US" sz="950" dirty="0"/>
          </a:p>
        </p:txBody>
      </p:sp>
      <p:sp>
        <p:nvSpPr>
          <p:cNvPr id="25" name="Text 23"/>
          <p:cNvSpPr txBox="1"/>
          <p:nvPr/>
        </p:nvSpPr>
        <p:spPr>
          <a:xfrm>
            <a:off x="6318504" y="1298448"/>
            <a:ext cx="2404872" cy="356616"/>
          </a:xfrm>
          <a:prstGeom prst="rect">
            <a:avLst/>
          </a:prstGeom>
          <a:noFill/>
          <a:ln/>
        </p:spPr>
        <p:txBody>
          <a:bodyPr wrap="square" lIns="0" tIns="0" rIns="0" bIns="0" rtlCol="0" anchor="ctr"/>
          <a:lstStyle/>
          <a:p>
            <a:pPr indent="0" marL="0">
              <a:buNone/>
            </a:pPr>
            <a:r>
              <a:rPr lang="en-US" sz="2600" b="1" dirty="0">
                <a:solidFill>
                  <a:srgbClr val="B4552D"/>
                </a:solidFill>
                <a:latin typeface="Poppins" pitchFamily="34" charset="0"/>
                <a:ea typeface="Poppins" pitchFamily="34" charset="-122"/>
                <a:cs typeface="Poppins" pitchFamily="34" charset="-120"/>
              </a:rPr>
              <a:t>26 Days</a:t>
            </a:r>
            <a:endParaRPr lang="en-US" sz="2600" dirty="0"/>
          </a:p>
        </p:txBody>
      </p:sp>
      <p:sp>
        <p:nvSpPr>
          <p:cNvPr id="26" name="Text 24"/>
          <p:cNvSpPr txBox="1"/>
          <p:nvPr/>
        </p:nvSpPr>
        <p:spPr>
          <a:xfrm>
            <a:off x="6336792" y="1691640"/>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All open tickets</a:t>
            </a:r>
            <a:endParaRPr lang="en-US" sz="780" dirty="0"/>
          </a:p>
        </p:txBody>
      </p:sp>
      <p:sp>
        <p:nvSpPr>
          <p:cNvPr id="27" name="Shape 25"/>
          <p:cNvSpPr/>
          <p:nvPr/>
        </p:nvSpPr>
        <p:spPr>
          <a:xfrm>
            <a:off x="9052560" y="1024128"/>
            <a:ext cx="2724912" cy="1143000"/>
          </a:xfrm>
          <a:prstGeom prst="roundRect">
            <a:avLst>
              <a:gd name="adj" fmla="val 5600"/>
            </a:avLst>
          </a:prstGeom>
          <a:solidFill>
            <a:srgbClr val="FFFFFF"/>
          </a:solidFill>
          <a:ln/>
          <a:effectLst>
            <a:outerShdw sx="100000" sy="100000" kx="0" ky="0" algn="bl" rotWithShape="0" blurRad="76200" dist="25400" dir="5400000">
              <a:srgbClr val="9AAAB5">
                <a:alpha val="35000"/>
              </a:srgbClr>
            </a:outerShdw>
          </a:effectLst>
        </p:spPr>
      </p:sp>
      <p:sp>
        <p:nvSpPr>
          <p:cNvPr id="28" name="Text 26"/>
          <p:cNvSpPr txBox="1"/>
          <p:nvPr/>
        </p:nvSpPr>
        <p:spPr>
          <a:xfrm>
            <a:off x="9217152" y="1115568"/>
            <a:ext cx="2395728"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TOTAL CASES</a:t>
            </a:r>
            <a:endParaRPr lang="en-US" sz="950" dirty="0"/>
          </a:p>
        </p:txBody>
      </p:sp>
      <p:sp>
        <p:nvSpPr>
          <p:cNvPr id="29" name="Text 27"/>
          <p:cNvSpPr txBox="1"/>
          <p:nvPr/>
        </p:nvSpPr>
        <p:spPr>
          <a:xfrm>
            <a:off x="9198864" y="1298448"/>
            <a:ext cx="2432304" cy="35661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14,485</a:t>
            </a:r>
            <a:endParaRPr lang="en-US" sz="2600" dirty="0"/>
          </a:p>
        </p:txBody>
      </p:sp>
      <p:sp>
        <p:nvSpPr>
          <p:cNvPr id="30" name="Text 28"/>
          <p:cNvSpPr txBox="1"/>
          <p:nvPr/>
        </p:nvSpPr>
        <p:spPr>
          <a:xfrm>
            <a:off x="9217152" y="1691640"/>
            <a:ext cx="2395728"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 Feb 26 → 11 Oct 26 · HubSpot basis (all Support-pipeline tickets)</a:t>
            </a:r>
            <a:endParaRPr lang="en-US" sz="780" dirty="0"/>
          </a:p>
        </p:txBody>
      </p:sp>
      <p:sp>
        <p:nvSpPr>
          <p:cNvPr id="31" name="Shape 29"/>
          <p:cNvSpPr/>
          <p:nvPr/>
        </p:nvSpPr>
        <p:spPr>
          <a:xfrm>
            <a:off x="411480" y="2395728"/>
            <a:ext cx="6583680" cy="3913632"/>
          </a:xfrm>
          <a:prstGeom prst="roundRect">
            <a:avLst>
              <a:gd name="adj" fmla="val 1636"/>
            </a:avLst>
          </a:prstGeom>
          <a:solidFill>
            <a:srgbClr val="FFFFFF"/>
          </a:solidFill>
          <a:ln/>
          <a:effectLst>
            <a:outerShdw sx="100000" sy="100000" kx="0" ky="0" algn="bl" rotWithShape="0" blurRad="76200" dist="25400" dir="5400000">
              <a:srgbClr val="9AAAB5">
                <a:alpha val="35000"/>
              </a:srgbClr>
            </a:outerShdw>
          </a:effectLst>
        </p:spPr>
      </p:sp>
      <p:sp>
        <p:nvSpPr>
          <p:cNvPr id="32" name="Text 30"/>
          <p:cNvSpPr txBox="1"/>
          <p:nvPr/>
        </p:nvSpPr>
        <p:spPr>
          <a:xfrm>
            <a:off x="612648" y="2505456"/>
            <a:ext cx="585216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OPEN BACKLOG BY AGE BAND vs CLOSED — WEEKLY</a:t>
            </a:r>
            <a:endParaRPr lang="en-US" sz="1200" dirty="0"/>
          </a:p>
        </p:txBody>
      </p:sp>
      <p:sp>
        <p:nvSpPr>
          <p:cNvPr id="33" name="Shape 31"/>
          <p:cNvSpPr/>
          <p:nvPr/>
        </p:nvSpPr>
        <p:spPr>
          <a:xfrm>
            <a:off x="630936" y="2807208"/>
            <a:ext cx="109728" cy="109728"/>
          </a:xfrm>
          <a:prstGeom prst="rect">
            <a:avLst/>
          </a:prstGeom>
          <a:solidFill>
            <a:srgbClr val="3D8F5F"/>
          </a:solidFill>
          <a:ln/>
        </p:spPr>
      </p:sp>
      <p:sp>
        <p:nvSpPr>
          <p:cNvPr id="34" name="Text 32"/>
          <p:cNvSpPr txBox="1"/>
          <p:nvPr/>
        </p:nvSpPr>
        <p:spPr>
          <a:xfrm>
            <a:off x="76809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0–7 days</a:t>
            </a:r>
            <a:endParaRPr lang="en-US" sz="680" dirty="0"/>
          </a:p>
        </p:txBody>
      </p:sp>
      <p:sp>
        <p:nvSpPr>
          <p:cNvPr id="35" name="Shape 33"/>
          <p:cNvSpPr/>
          <p:nvPr/>
        </p:nvSpPr>
        <p:spPr>
          <a:xfrm>
            <a:off x="1453896" y="2807208"/>
            <a:ext cx="109728" cy="109728"/>
          </a:xfrm>
          <a:prstGeom prst="rect">
            <a:avLst/>
          </a:prstGeom>
          <a:solidFill>
            <a:srgbClr val="6FAEBB"/>
          </a:solidFill>
          <a:ln/>
        </p:spPr>
      </p:sp>
      <p:sp>
        <p:nvSpPr>
          <p:cNvPr id="36" name="Text 34"/>
          <p:cNvSpPr txBox="1"/>
          <p:nvPr/>
        </p:nvSpPr>
        <p:spPr>
          <a:xfrm>
            <a:off x="159105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8–30 days</a:t>
            </a:r>
            <a:endParaRPr lang="en-US" sz="680" dirty="0"/>
          </a:p>
        </p:txBody>
      </p:sp>
      <p:sp>
        <p:nvSpPr>
          <p:cNvPr id="37" name="Shape 35"/>
          <p:cNvSpPr/>
          <p:nvPr/>
        </p:nvSpPr>
        <p:spPr>
          <a:xfrm>
            <a:off x="2276856" y="2807208"/>
            <a:ext cx="109728" cy="109728"/>
          </a:xfrm>
          <a:prstGeom prst="rect">
            <a:avLst/>
          </a:prstGeom>
          <a:solidFill>
            <a:srgbClr val="C88A2E"/>
          </a:solidFill>
          <a:ln/>
        </p:spPr>
      </p:sp>
      <p:sp>
        <p:nvSpPr>
          <p:cNvPr id="38" name="Text 36"/>
          <p:cNvSpPr txBox="1"/>
          <p:nvPr/>
        </p:nvSpPr>
        <p:spPr>
          <a:xfrm>
            <a:off x="241401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31–90 days</a:t>
            </a:r>
            <a:endParaRPr lang="en-US" sz="680" dirty="0"/>
          </a:p>
        </p:txBody>
      </p:sp>
      <p:sp>
        <p:nvSpPr>
          <p:cNvPr id="39" name="Shape 37"/>
          <p:cNvSpPr/>
          <p:nvPr/>
        </p:nvSpPr>
        <p:spPr>
          <a:xfrm>
            <a:off x="3099816" y="2807208"/>
            <a:ext cx="109728" cy="109728"/>
          </a:xfrm>
          <a:prstGeom prst="rect">
            <a:avLst/>
          </a:prstGeom>
          <a:solidFill>
            <a:srgbClr val="7A3B21"/>
          </a:solidFill>
          <a:ln/>
        </p:spPr>
      </p:sp>
      <p:sp>
        <p:nvSpPr>
          <p:cNvPr id="40" name="Text 38"/>
          <p:cNvSpPr txBox="1"/>
          <p:nvPr/>
        </p:nvSpPr>
        <p:spPr>
          <a:xfrm>
            <a:off x="3236976" y="2761488"/>
            <a:ext cx="713232" cy="201168"/>
          </a:xfrm>
          <a:prstGeom prst="rect">
            <a:avLst/>
          </a:prstGeom>
          <a:noFill/>
          <a:ln/>
        </p:spPr>
        <p:txBody>
          <a:bodyPr wrap="square" lIns="0" tIns="0" rIns="0" bIns="0" rtlCol="0" anchor="ctr"/>
          <a:lstStyle/>
          <a:p>
            <a:pPr indent="0" marL="0">
              <a:buNone/>
            </a:pPr>
            <a:r>
              <a:rPr lang="en-US" sz="680" dirty="0">
                <a:solidFill>
                  <a:srgbClr val="5E7280"/>
                </a:solidFill>
                <a:latin typeface="Poppins" pitchFamily="34" charset="0"/>
                <a:ea typeface="Poppins" pitchFamily="34" charset="-122"/>
                <a:cs typeface="Poppins" pitchFamily="34" charset="-120"/>
              </a:rPr>
              <a:t>90+ days</a:t>
            </a:r>
            <a:endParaRPr lang="en-US" sz="680" dirty="0"/>
          </a:p>
        </p:txBody>
      </p:sp>
      <p:sp>
        <p:nvSpPr>
          <p:cNvPr id="41" name="Shape 39"/>
          <p:cNvSpPr/>
          <p:nvPr/>
        </p:nvSpPr>
        <p:spPr>
          <a:xfrm>
            <a:off x="3922776" y="2807208"/>
            <a:ext cx="109728" cy="109728"/>
          </a:xfrm>
          <a:prstGeom prst="rect">
            <a:avLst/>
          </a:prstGeom>
          <a:solidFill>
            <a:srgbClr val="1C5765"/>
          </a:solidFill>
          <a:ln/>
        </p:spPr>
      </p:sp>
      <p:sp>
        <p:nvSpPr>
          <p:cNvPr id="42" name="Text 40"/>
          <p:cNvSpPr txBox="1"/>
          <p:nvPr/>
        </p:nvSpPr>
        <p:spPr>
          <a:xfrm>
            <a:off x="4059936" y="2761488"/>
            <a:ext cx="914400" cy="201168"/>
          </a:xfrm>
          <a:prstGeom prst="rect">
            <a:avLst/>
          </a:prstGeom>
          <a:noFill/>
          <a:ln/>
        </p:spPr>
        <p:txBody>
          <a:bodyPr wrap="square" lIns="0" tIns="0" rIns="0" bIns="0" rtlCol="0" anchor="ctr"/>
          <a:lstStyle/>
          <a:p>
            <a:pPr indent="0" marL="0">
              <a:buNone/>
            </a:pPr>
            <a:r>
              <a:rPr lang="en-US" sz="680" b="1" dirty="0">
                <a:solidFill>
                  <a:srgbClr val="1C5765"/>
                </a:solidFill>
                <a:latin typeface="Poppins" pitchFamily="34" charset="0"/>
                <a:ea typeface="Poppins" pitchFamily="34" charset="-122"/>
                <a:cs typeface="Poppins" pitchFamily="34" charset="-120"/>
              </a:rPr>
              <a:t>closed in week</a:t>
            </a:r>
            <a:endParaRPr lang="en-US" sz="680" dirty="0"/>
          </a:p>
        </p:txBody>
      </p:sp>
      <p:sp>
        <p:nvSpPr>
          <p:cNvPr id="43" name="Shape 41"/>
          <p:cNvSpPr/>
          <p:nvPr/>
        </p:nvSpPr>
        <p:spPr>
          <a:xfrm>
            <a:off x="923544" y="5477256"/>
            <a:ext cx="5852160" cy="5486"/>
          </a:xfrm>
          <a:prstGeom prst="rect">
            <a:avLst/>
          </a:prstGeom>
          <a:solidFill>
            <a:srgbClr val="E2EAEE"/>
          </a:solidFill>
          <a:ln/>
        </p:spPr>
      </p:sp>
      <p:sp>
        <p:nvSpPr>
          <p:cNvPr id="44" name="Text 42"/>
          <p:cNvSpPr txBox="1"/>
          <p:nvPr/>
        </p:nvSpPr>
        <p:spPr>
          <a:xfrm>
            <a:off x="539496" y="5404104"/>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0</a:t>
            </a:r>
            <a:endParaRPr lang="en-US" sz="620" dirty="0"/>
          </a:p>
        </p:txBody>
      </p:sp>
      <p:sp>
        <p:nvSpPr>
          <p:cNvPr id="45" name="Shape 43"/>
          <p:cNvSpPr/>
          <p:nvPr/>
        </p:nvSpPr>
        <p:spPr>
          <a:xfrm>
            <a:off x="923544" y="4924044"/>
            <a:ext cx="5852160" cy="5486"/>
          </a:xfrm>
          <a:prstGeom prst="rect">
            <a:avLst/>
          </a:prstGeom>
          <a:solidFill>
            <a:srgbClr val="E2EAEE"/>
          </a:solidFill>
          <a:ln/>
        </p:spPr>
      </p:sp>
      <p:sp>
        <p:nvSpPr>
          <p:cNvPr id="46" name="Text 44"/>
          <p:cNvSpPr txBox="1"/>
          <p:nvPr/>
        </p:nvSpPr>
        <p:spPr>
          <a:xfrm>
            <a:off x="539496" y="4850892"/>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200</a:t>
            </a:r>
            <a:endParaRPr lang="en-US" sz="620" dirty="0"/>
          </a:p>
        </p:txBody>
      </p:sp>
      <p:sp>
        <p:nvSpPr>
          <p:cNvPr id="47" name="Shape 45"/>
          <p:cNvSpPr/>
          <p:nvPr/>
        </p:nvSpPr>
        <p:spPr>
          <a:xfrm>
            <a:off x="923544" y="4370832"/>
            <a:ext cx="5852160" cy="5486"/>
          </a:xfrm>
          <a:prstGeom prst="rect">
            <a:avLst/>
          </a:prstGeom>
          <a:solidFill>
            <a:srgbClr val="E2EAEE"/>
          </a:solidFill>
          <a:ln/>
        </p:spPr>
      </p:sp>
      <p:sp>
        <p:nvSpPr>
          <p:cNvPr id="48" name="Text 46"/>
          <p:cNvSpPr txBox="1"/>
          <p:nvPr/>
        </p:nvSpPr>
        <p:spPr>
          <a:xfrm>
            <a:off x="539496" y="4297680"/>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400</a:t>
            </a:r>
            <a:endParaRPr lang="en-US" sz="620" dirty="0"/>
          </a:p>
        </p:txBody>
      </p:sp>
      <p:sp>
        <p:nvSpPr>
          <p:cNvPr id="49" name="Shape 47"/>
          <p:cNvSpPr/>
          <p:nvPr/>
        </p:nvSpPr>
        <p:spPr>
          <a:xfrm>
            <a:off x="923544" y="3817620"/>
            <a:ext cx="5852160" cy="5486"/>
          </a:xfrm>
          <a:prstGeom prst="rect">
            <a:avLst/>
          </a:prstGeom>
          <a:solidFill>
            <a:srgbClr val="E2EAEE"/>
          </a:solidFill>
          <a:ln/>
        </p:spPr>
      </p:sp>
      <p:sp>
        <p:nvSpPr>
          <p:cNvPr id="50" name="Text 48"/>
          <p:cNvSpPr txBox="1"/>
          <p:nvPr/>
        </p:nvSpPr>
        <p:spPr>
          <a:xfrm>
            <a:off x="539496" y="3744468"/>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600</a:t>
            </a:r>
            <a:endParaRPr lang="en-US" sz="620" dirty="0"/>
          </a:p>
        </p:txBody>
      </p:sp>
      <p:sp>
        <p:nvSpPr>
          <p:cNvPr id="51" name="Shape 49"/>
          <p:cNvSpPr/>
          <p:nvPr/>
        </p:nvSpPr>
        <p:spPr>
          <a:xfrm>
            <a:off x="923544" y="3264408"/>
            <a:ext cx="5852160" cy="5486"/>
          </a:xfrm>
          <a:prstGeom prst="rect">
            <a:avLst/>
          </a:prstGeom>
          <a:solidFill>
            <a:srgbClr val="E2EAEE"/>
          </a:solidFill>
          <a:ln/>
        </p:spPr>
      </p:sp>
      <p:sp>
        <p:nvSpPr>
          <p:cNvPr id="52" name="Text 50"/>
          <p:cNvSpPr txBox="1"/>
          <p:nvPr/>
        </p:nvSpPr>
        <p:spPr>
          <a:xfrm>
            <a:off x="539496" y="3191256"/>
            <a:ext cx="402336" cy="146304"/>
          </a:xfrm>
          <a:prstGeom prst="rect">
            <a:avLst/>
          </a:prstGeom>
          <a:noFill/>
          <a:ln/>
        </p:spPr>
        <p:txBody>
          <a:bodyPr wrap="square" lIns="0" tIns="0" rIns="0" bIns="0" rtlCol="0" anchor="ctr"/>
          <a:lstStyle/>
          <a:p>
            <a:pPr algn="r" indent="0" marL="0">
              <a:buNone/>
            </a:pPr>
            <a:r>
              <a:rPr lang="en-US" sz="620" dirty="0">
                <a:solidFill>
                  <a:srgbClr val="8FA1AC"/>
                </a:solidFill>
                <a:latin typeface="Poppins" pitchFamily="34" charset="0"/>
                <a:ea typeface="Poppins" pitchFamily="34" charset="-122"/>
                <a:cs typeface="Poppins" pitchFamily="34" charset="-120"/>
              </a:rPr>
              <a:t>800</a:t>
            </a:r>
            <a:endParaRPr lang="en-US" sz="620" dirty="0"/>
          </a:p>
        </p:txBody>
      </p:sp>
      <p:sp>
        <p:nvSpPr>
          <p:cNvPr id="53" name="Shape 51"/>
          <p:cNvSpPr/>
          <p:nvPr/>
        </p:nvSpPr>
        <p:spPr>
          <a:xfrm>
            <a:off x="1041520" y="5037452"/>
            <a:ext cx="203436" cy="439804"/>
          </a:xfrm>
          <a:prstGeom prst="rect">
            <a:avLst/>
          </a:prstGeom>
          <a:solidFill>
            <a:srgbClr val="3D8F5F"/>
          </a:solidFill>
          <a:ln/>
        </p:spPr>
      </p:sp>
      <p:sp>
        <p:nvSpPr>
          <p:cNvPr id="54" name="Text 52"/>
          <p:cNvSpPr txBox="1"/>
          <p:nvPr/>
        </p:nvSpPr>
        <p:spPr>
          <a:xfrm>
            <a:off x="1041520" y="5193346"/>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159</a:t>
            </a:r>
            <a:endParaRPr lang="en-US" sz="600" dirty="0"/>
          </a:p>
        </p:txBody>
      </p:sp>
      <p:sp>
        <p:nvSpPr>
          <p:cNvPr id="55" name="Shape 53"/>
          <p:cNvSpPr/>
          <p:nvPr/>
        </p:nvSpPr>
        <p:spPr>
          <a:xfrm>
            <a:off x="1041520" y="4437217"/>
            <a:ext cx="203436" cy="600235"/>
          </a:xfrm>
          <a:prstGeom prst="rect">
            <a:avLst/>
          </a:prstGeom>
          <a:solidFill>
            <a:srgbClr val="6FAEBB"/>
          </a:solidFill>
          <a:ln/>
        </p:spPr>
      </p:sp>
      <p:sp>
        <p:nvSpPr>
          <p:cNvPr id="56" name="Text 54"/>
          <p:cNvSpPr txBox="1"/>
          <p:nvPr/>
        </p:nvSpPr>
        <p:spPr>
          <a:xfrm>
            <a:off x="1041520" y="467332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217</a:t>
            </a:r>
            <a:endParaRPr lang="en-US" sz="600" dirty="0"/>
          </a:p>
        </p:txBody>
      </p:sp>
      <p:sp>
        <p:nvSpPr>
          <p:cNvPr id="57" name="Shape 55"/>
          <p:cNvSpPr/>
          <p:nvPr/>
        </p:nvSpPr>
        <p:spPr>
          <a:xfrm>
            <a:off x="1041520" y="3781661"/>
            <a:ext cx="203436" cy="655556"/>
          </a:xfrm>
          <a:prstGeom prst="rect">
            <a:avLst/>
          </a:prstGeom>
          <a:solidFill>
            <a:srgbClr val="C88A2E"/>
          </a:solidFill>
          <a:ln/>
        </p:spPr>
      </p:sp>
      <p:sp>
        <p:nvSpPr>
          <p:cNvPr id="58" name="Text 56"/>
          <p:cNvSpPr txBox="1"/>
          <p:nvPr/>
        </p:nvSpPr>
        <p:spPr>
          <a:xfrm>
            <a:off x="1041520" y="4045431"/>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237</a:t>
            </a:r>
            <a:endParaRPr lang="en-US" sz="600" dirty="0"/>
          </a:p>
        </p:txBody>
      </p:sp>
      <p:sp>
        <p:nvSpPr>
          <p:cNvPr id="59" name="Shape 57"/>
          <p:cNvSpPr/>
          <p:nvPr/>
        </p:nvSpPr>
        <p:spPr>
          <a:xfrm>
            <a:off x="1041520" y="3579739"/>
            <a:ext cx="203436" cy="201922"/>
          </a:xfrm>
          <a:prstGeom prst="rect">
            <a:avLst/>
          </a:prstGeom>
          <a:solidFill>
            <a:srgbClr val="7A3B21"/>
          </a:solidFill>
          <a:ln/>
        </p:spPr>
      </p:sp>
      <p:sp>
        <p:nvSpPr>
          <p:cNvPr id="60" name="Text 58"/>
          <p:cNvSpPr txBox="1"/>
          <p:nvPr/>
        </p:nvSpPr>
        <p:spPr>
          <a:xfrm>
            <a:off x="1041520" y="3616692"/>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73</a:t>
            </a:r>
            <a:endParaRPr lang="en-US" sz="600" dirty="0"/>
          </a:p>
        </p:txBody>
      </p:sp>
      <p:sp>
        <p:nvSpPr>
          <p:cNvPr id="61" name="Text 59"/>
          <p:cNvSpPr txBox="1"/>
          <p:nvPr/>
        </p:nvSpPr>
        <p:spPr>
          <a:xfrm>
            <a:off x="995800" y="3424291"/>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686</a:t>
            </a:r>
            <a:endParaRPr lang="en-US" sz="620" dirty="0"/>
          </a:p>
        </p:txBody>
      </p:sp>
      <p:sp>
        <p:nvSpPr>
          <p:cNvPr id="62" name="Text 60"/>
          <p:cNvSpPr txBox="1"/>
          <p:nvPr/>
        </p:nvSpPr>
        <p:spPr>
          <a:xfrm>
            <a:off x="1276960" y="5312664"/>
            <a:ext cx="203436"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63" name="Text 61"/>
          <p:cNvSpPr txBox="1"/>
          <p:nvPr/>
        </p:nvSpPr>
        <p:spPr>
          <a:xfrm>
            <a:off x="978408"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08-02</a:t>
            </a:r>
            <a:endParaRPr lang="en-US" sz="650" dirty="0"/>
          </a:p>
        </p:txBody>
      </p:sp>
      <p:sp>
        <p:nvSpPr>
          <p:cNvPr id="64" name="Shape 62"/>
          <p:cNvSpPr/>
          <p:nvPr/>
        </p:nvSpPr>
        <p:spPr>
          <a:xfrm>
            <a:off x="1606619" y="4771911"/>
            <a:ext cx="203436" cy="705345"/>
          </a:xfrm>
          <a:prstGeom prst="rect">
            <a:avLst/>
          </a:prstGeom>
          <a:solidFill>
            <a:srgbClr val="3D8F5F"/>
          </a:solidFill>
          <a:ln/>
        </p:spPr>
      </p:sp>
      <p:sp>
        <p:nvSpPr>
          <p:cNvPr id="65" name="Text 63"/>
          <p:cNvSpPr txBox="1"/>
          <p:nvPr/>
        </p:nvSpPr>
        <p:spPr>
          <a:xfrm>
            <a:off x="1606619" y="5060575"/>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255</a:t>
            </a:r>
            <a:endParaRPr lang="en-US" sz="600" dirty="0"/>
          </a:p>
        </p:txBody>
      </p:sp>
      <p:sp>
        <p:nvSpPr>
          <p:cNvPr id="66" name="Shape 64"/>
          <p:cNvSpPr/>
          <p:nvPr/>
        </p:nvSpPr>
        <p:spPr>
          <a:xfrm>
            <a:off x="1606619" y="4141249"/>
            <a:ext cx="203436" cy="630662"/>
          </a:xfrm>
          <a:prstGeom prst="rect">
            <a:avLst/>
          </a:prstGeom>
          <a:solidFill>
            <a:srgbClr val="6FAEBB"/>
          </a:solidFill>
          <a:ln/>
        </p:spPr>
      </p:sp>
      <p:sp>
        <p:nvSpPr>
          <p:cNvPr id="67" name="Text 65"/>
          <p:cNvSpPr txBox="1"/>
          <p:nvPr/>
        </p:nvSpPr>
        <p:spPr>
          <a:xfrm>
            <a:off x="1606619" y="4392572"/>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228</a:t>
            </a:r>
            <a:endParaRPr lang="en-US" sz="600" dirty="0"/>
          </a:p>
        </p:txBody>
      </p:sp>
      <p:sp>
        <p:nvSpPr>
          <p:cNvPr id="68" name="Shape 66"/>
          <p:cNvSpPr/>
          <p:nvPr/>
        </p:nvSpPr>
        <p:spPr>
          <a:xfrm>
            <a:off x="1606619" y="3906134"/>
            <a:ext cx="203436" cy="235115"/>
          </a:xfrm>
          <a:prstGeom prst="rect">
            <a:avLst/>
          </a:prstGeom>
          <a:solidFill>
            <a:srgbClr val="C88A2E"/>
          </a:solidFill>
          <a:ln/>
        </p:spPr>
      </p:sp>
      <p:sp>
        <p:nvSpPr>
          <p:cNvPr id="69" name="Text 67"/>
          <p:cNvSpPr txBox="1"/>
          <p:nvPr/>
        </p:nvSpPr>
        <p:spPr>
          <a:xfrm>
            <a:off x="1606619" y="395968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85</a:t>
            </a:r>
            <a:endParaRPr lang="en-US" sz="600" dirty="0"/>
          </a:p>
        </p:txBody>
      </p:sp>
      <p:sp>
        <p:nvSpPr>
          <p:cNvPr id="70" name="Shape 68"/>
          <p:cNvSpPr/>
          <p:nvPr/>
        </p:nvSpPr>
        <p:spPr>
          <a:xfrm>
            <a:off x="1606619" y="3748469"/>
            <a:ext cx="203436" cy="157665"/>
          </a:xfrm>
          <a:prstGeom prst="rect">
            <a:avLst/>
          </a:prstGeom>
          <a:solidFill>
            <a:srgbClr val="7A3B21"/>
          </a:solidFill>
          <a:ln/>
        </p:spPr>
      </p:sp>
      <p:sp>
        <p:nvSpPr>
          <p:cNvPr id="71" name="Text 69"/>
          <p:cNvSpPr txBox="1"/>
          <p:nvPr/>
        </p:nvSpPr>
        <p:spPr>
          <a:xfrm>
            <a:off x="1606619" y="376329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57</a:t>
            </a:r>
            <a:endParaRPr lang="en-US" sz="600" dirty="0"/>
          </a:p>
        </p:txBody>
      </p:sp>
      <p:sp>
        <p:nvSpPr>
          <p:cNvPr id="72" name="Text 70"/>
          <p:cNvSpPr txBox="1"/>
          <p:nvPr/>
        </p:nvSpPr>
        <p:spPr>
          <a:xfrm>
            <a:off x="1560899" y="3593021"/>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625</a:t>
            </a:r>
            <a:endParaRPr lang="en-US" sz="620" dirty="0"/>
          </a:p>
        </p:txBody>
      </p:sp>
      <p:sp>
        <p:nvSpPr>
          <p:cNvPr id="73" name="Text 71"/>
          <p:cNvSpPr txBox="1"/>
          <p:nvPr/>
        </p:nvSpPr>
        <p:spPr>
          <a:xfrm>
            <a:off x="1842059" y="5312664"/>
            <a:ext cx="203436"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74" name="Text 72"/>
          <p:cNvSpPr txBox="1"/>
          <p:nvPr/>
        </p:nvSpPr>
        <p:spPr>
          <a:xfrm>
            <a:off x="1543507"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08-09</a:t>
            </a:r>
            <a:endParaRPr lang="en-US" sz="650" dirty="0"/>
          </a:p>
        </p:txBody>
      </p:sp>
      <p:sp>
        <p:nvSpPr>
          <p:cNvPr id="75" name="Shape 73"/>
          <p:cNvSpPr/>
          <p:nvPr/>
        </p:nvSpPr>
        <p:spPr>
          <a:xfrm>
            <a:off x="2171718" y="5001494"/>
            <a:ext cx="203436" cy="475762"/>
          </a:xfrm>
          <a:prstGeom prst="rect">
            <a:avLst/>
          </a:prstGeom>
          <a:solidFill>
            <a:srgbClr val="3D8F5F"/>
          </a:solidFill>
          <a:ln/>
        </p:spPr>
      </p:sp>
      <p:sp>
        <p:nvSpPr>
          <p:cNvPr id="76" name="Text 74"/>
          <p:cNvSpPr txBox="1"/>
          <p:nvPr/>
        </p:nvSpPr>
        <p:spPr>
          <a:xfrm>
            <a:off x="2171718" y="517536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172</a:t>
            </a:r>
            <a:endParaRPr lang="en-US" sz="600" dirty="0"/>
          </a:p>
        </p:txBody>
      </p:sp>
      <p:sp>
        <p:nvSpPr>
          <p:cNvPr id="77" name="Shape 75"/>
          <p:cNvSpPr/>
          <p:nvPr/>
        </p:nvSpPr>
        <p:spPr>
          <a:xfrm>
            <a:off x="2171718" y="4254657"/>
            <a:ext cx="203436" cy="746836"/>
          </a:xfrm>
          <a:prstGeom prst="rect">
            <a:avLst/>
          </a:prstGeom>
          <a:solidFill>
            <a:srgbClr val="6FAEBB"/>
          </a:solidFill>
          <a:ln/>
        </p:spPr>
      </p:sp>
      <p:sp>
        <p:nvSpPr>
          <p:cNvPr id="78" name="Text 76"/>
          <p:cNvSpPr txBox="1"/>
          <p:nvPr/>
        </p:nvSpPr>
        <p:spPr>
          <a:xfrm>
            <a:off x="2171718" y="4564068"/>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270</a:t>
            </a:r>
            <a:endParaRPr lang="en-US" sz="600" dirty="0"/>
          </a:p>
        </p:txBody>
      </p:sp>
      <p:sp>
        <p:nvSpPr>
          <p:cNvPr id="79" name="Shape 77"/>
          <p:cNvSpPr/>
          <p:nvPr/>
        </p:nvSpPr>
        <p:spPr>
          <a:xfrm>
            <a:off x="2171718" y="4005712"/>
            <a:ext cx="203436" cy="248945"/>
          </a:xfrm>
          <a:prstGeom prst="rect">
            <a:avLst/>
          </a:prstGeom>
          <a:solidFill>
            <a:srgbClr val="C88A2E"/>
          </a:solidFill>
          <a:ln/>
        </p:spPr>
      </p:sp>
      <p:sp>
        <p:nvSpPr>
          <p:cNvPr id="80" name="Text 78"/>
          <p:cNvSpPr txBox="1"/>
          <p:nvPr/>
        </p:nvSpPr>
        <p:spPr>
          <a:xfrm>
            <a:off x="2171718" y="406617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90</a:t>
            </a:r>
            <a:endParaRPr lang="en-US" sz="600" dirty="0"/>
          </a:p>
        </p:txBody>
      </p:sp>
      <p:sp>
        <p:nvSpPr>
          <p:cNvPr id="81" name="Shape 79"/>
          <p:cNvSpPr/>
          <p:nvPr/>
        </p:nvSpPr>
        <p:spPr>
          <a:xfrm>
            <a:off x="2171718" y="3861877"/>
            <a:ext cx="203436" cy="143835"/>
          </a:xfrm>
          <a:prstGeom prst="rect">
            <a:avLst/>
          </a:prstGeom>
          <a:solidFill>
            <a:srgbClr val="7A3B21"/>
          </a:solidFill>
          <a:ln/>
        </p:spPr>
      </p:sp>
      <p:sp>
        <p:nvSpPr>
          <p:cNvPr id="82" name="Text 80"/>
          <p:cNvSpPr txBox="1"/>
          <p:nvPr/>
        </p:nvSpPr>
        <p:spPr>
          <a:xfrm>
            <a:off x="2171718" y="386978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52</a:t>
            </a:r>
            <a:endParaRPr lang="en-US" sz="600" dirty="0"/>
          </a:p>
        </p:txBody>
      </p:sp>
      <p:sp>
        <p:nvSpPr>
          <p:cNvPr id="83" name="Text 81"/>
          <p:cNvSpPr txBox="1"/>
          <p:nvPr/>
        </p:nvSpPr>
        <p:spPr>
          <a:xfrm>
            <a:off x="2125998" y="3706429"/>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584</a:t>
            </a:r>
            <a:endParaRPr lang="en-US" sz="620" dirty="0"/>
          </a:p>
        </p:txBody>
      </p:sp>
      <p:sp>
        <p:nvSpPr>
          <p:cNvPr id="84" name="Shape 82"/>
          <p:cNvSpPr/>
          <p:nvPr/>
        </p:nvSpPr>
        <p:spPr>
          <a:xfrm>
            <a:off x="2407158" y="4191038"/>
            <a:ext cx="203436" cy="1286218"/>
          </a:xfrm>
          <a:prstGeom prst="rect">
            <a:avLst/>
          </a:prstGeom>
          <a:solidFill>
            <a:srgbClr val="1C5765"/>
          </a:solidFill>
          <a:ln/>
        </p:spPr>
      </p:sp>
      <p:sp>
        <p:nvSpPr>
          <p:cNvPr id="85" name="Text 83"/>
          <p:cNvSpPr txBox="1"/>
          <p:nvPr/>
        </p:nvSpPr>
        <p:spPr>
          <a:xfrm>
            <a:off x="2361438" y="4035590"/>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465</a:t>
            </a:r>
            <a:endParaRPr lang="en-US" sz="620" dirty="0"/>
          </a:p>
        </p:txBody>
      </p:sp>
      <p:sp>
        <p:nvSpPr>
          <p:cNvPr id="86" name="Text 84"/>
          <p:cNvSpPr txBox="1"/>
          <p:nvPr/>
        </p:nvSpPr>
        <p:spPr>
          <a:xfrm>
            <a:off x="2108606"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08-16</a:t>
            </a:r>
            <a:endParaRPr lang="en-US" sz="650" dirty="0"/>
          </a:p>
        </p:txBody>
      </p:sp>
      <p:sp>
        <p:nvSpPr>
          <p:cNvPr id="87" name="Shape 85"/>
          <p:cNvSpPr/>
          <p:nvPr/>
        </p:nvSpPr>
        <p:spPr>
          <a:xfrm>
            <a:off x="2736817" y="5023622"/>
            <a:ext cx="203436" cy="453634"/>
          </a:xfrm>
          <a:prstGeom prst="rect">
            <a:avLst/>
          </a:prstGeom>
          <a:solidFill>
            <a:srgbClr val="3D8F5F"/>
          </a:solidFill>
          <a:ln/>
        </p:spPr>
      </p:sp>
      <p:sp>
        <p:nvSpPr>
          <p:cNvPr id="88" name="Text 86"/>
          <p:cNvSpPr txBox="1"/>
          <p:nvPr/>
        </p:nvSpPr>
        <p:spPr>
          <a:xfrm>
            <a:off x="2736817" y="5186431"/>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164</a:t>
            </a:r>
            <a:endParaRPr lang="en-US" sz="600" dirty="0"/>
          </a:p>
        </p:txBody>
      </p:sp>
      <p:sp>
        <p:nvSpPr>
          <p:cNvPr id="89" name="Shape 87"/>
          <p:cNvSpPr/>
          <p:nvPr/>
        </p:nvSpPr>
        <p:spPr>
          <a:xfrm>
            <a:off x="2736817" y="4196570"/>
            <a:ext cx="203436" cy="827052"/>
          </a:xfrm>
          <a:prstGeom prst="rect">
            <a:avLst/>
          </a:prstGeom>
          <a:solidFill>
            <a:srgbClr val="6FAEBB"/>
          </a:solidFill>
          <a:ln/>
        </p:spPr>
      </p:sp>
      <p:sp>
        <p:nvSpPr>
          <p:cNvPr id="90" name="Text 88"/>
          <p:cNvSpPr txBox="1"/>
          <p:nvPr/>
        </p:nvSpPr>
        <p:spPr>
          <a:xfrm>
            <a:off x="2736817" y="4546088"/>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299</a:t>
            </a:r>
            <a:endParaRPr lang="en-US" sz="600" dirty="0"/>
          </a:p>
        </p:txBody>
      </p:sp>
      <p:sp>
        <p:nvSpPr>
          <p:cNvPr id="91" name="Shape 89"/>
          <p:cNvSpPr/>
          <p:nvPr/>
        </p:nvSpPr>
        <p:spPr>
          <a:xfrm>
            <a:off x="2736817" y="3889538"/>
            <a:ext cx="203436" cy="307033"/>
          </a:xfrm>
          <a:prstGeom prst="rect">
            <a:avLst/>
          </a:prstGeom>
          <a:solidFill>
            <a:srgbClr val="C88A2E"/>
          </a:solidFill>
          <a:ln/>
        </p:spPr>
      </p:sp>
      <p:sp>
        <p:nvSpPr>
          <p:cNvPr id="92" name="Text 90"/>
          <p:cNvSpPr txBox="1"/>
          <p:nvPr/>
        </p:nvSpPr>
        <p:spPr>
          <a:xfrm>
            <a:off x="2736817" y="3979046"/>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111</a:t>
            </a:r>
            <a:endParaRPr lang="en-US" sz="600" dirty="0"/>
          </a:p>
        </p:txBody>
      </p:sp>
      <p:sp>
        <p:nvSpPr>
          <p:cNvPr id="93" name="Shape 91"/>
          <p:cNvSpPr/>
          <p:nvPr/>
        </p:nvSpPr>
        <p:spPr>
          <a:xfrm>
            <a:off x="2736817" y="3729106"/>
            <a:ext cx="203436" cy="160431"/>
          </a:xfrm>
          <a:prstGeom prst="rect">
            <a:avLst/>
          </a:prstGeom>
          <a:solidFill>
            <a:srgbClr val="7A3B21"/>
          </a:solidFill>
          <a:ln/>
        </p:spPr>
      </p:sp>
      <p:sp>
        <p:nvSpPr>
          <p:cNvPr id="94" name="Text 92"/>
          <p:cNvSpPr txBox="1"/>
          <p:nvPr/>
        </p:nvSpPr>
        <p:spPr>
          <a:xfrm>
            <a:off x="2736817" y="3745314"/>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58</a:t>
            </a:r>
            <a:endParaRPr lang="en-US" sz="600" dirty="0"/>
          </a:p>
        </p:txBody>
      </p:sp>
      <p:sp>
        <p:nvSpPr>
          <p:cNvPr id="95" name="Text 93"/>
          <p:cNvSpPr txBox="1"/>
          <p:nvPr/>
        </p:nvSpPr>
        <p:spPr>
          <a:xfrm>
            <a:off x="2691097" y="3573658"/>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632</a:t>
            </a:r>
            <a:endParaRPr lang="en-US" sz="620" dirty="0"/>
          </a:p>
        </p:txBody>
      </p:sp>
      <p:sp>
        <p:nvSpPr>
          <p:cNvPr id="96" name="Shape 94"/>
          <p:cNvSpPr/>
          <p:nvPr/>
        </p:nvSpPr>
        <p:spPr>
          <a:xfrm>
            <a:off x="2972257" y="4215933"/>
            <a:ext cx="203436" cy="1261323"/>
          </a:xfrm>
          <a:prstGeom prst="rect">
            <a:avLst/>
          </a:prstGeom>
          <a:solidFill>
            <a:srgbClr val="1C5765"/>
          </a:solidFill>
          <a:ln/>
        </p:spPr>
      </p:sp>
      <p:sp>
        <p:nvSpPr>
          <p:cNvPr id="97" name="Text 95"/>
          <p:cNvSpPr txBox="1"/>
          <p:nvPr/>
        </p:nvSpPr>
        <p:spPr>
          <a:xfrm>
            <a:off x="2926537" y="4060485"/>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456</a:t>
            </a:r>
            <a:endParaRPr lang="en-US" sz="620" dirty="0"/>
          </a:p>
        </p:txBody>
      </p:sp>
      <p:sp>
        <p:nvSpPr>
          <p:cNvPr id="98" name="Text 96"/>
          <p:cNvSpPr txBox="1"/>
          <p:nvPr/>
        </p:nvSpPr>
        <p:spPr>
          <a:xfrm>
            <a:off x="2673706"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08-23</a:t>
            </a:r>
            <a:endParaRPr lang="en-US" sz="650" dirty="0"/>
          </a:p>
        </p:txBody>
      </p:sp>
      <p:sp>
        <p:nvSpPr>
          <p:cNvPr id="99" name="Shape 97"/>
          <p:cNvSpPr/>
          <p:nvPr/>
        </p:nvSpPr>
        <p:spPr>
          <a:xfrm>
            <a:off x="3301917" y="5059581"/>
            <a:ext cx="203436" cy="417675"/>
          </a:xfrm>
          <a:prstGeom prst="rect">
            <a:avLst/>
          </a:prstGeom>
          <a:solidFill>
            <a:srgbClr val="3D8F5F"/>
          </a:solidFill>
          <a:ln/>
        </p:spPr>
      </p:sp>
      <p:sp>
        <p:nvSpPr>
          <p:cNvPr id="100" name="Text 98"/>
          <p:cNvSpPr txBox="1"/>
          <p:nvPr/>
        </p:nvSpPr>
        <p:spPr>
          <a:xfrm>
            <a:off x="3301917" y="5204410"/>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151</a:t>
            </a:r>
            <a:endParaRPr lang="en-US" sz="600" dirty="0"/>
          </a:p>
        </p:txBody>
      </p:sp>
      <p:sp>
        <p:nvSpPr>
          <p:cNvPr id="101" name="Shape 99"/>
          <p:cNvSpPr/>
          <p:nvPr/>
        </p:nvSpPr>
        <p:spPr>
          <a:xfrm>
            <a:off x="3301917" y="4238061"/>
            <a:ext cx="203436" cy="821520"/>
          </a:xfrm>
          <a:prstGeom prst="rect">
            <a:avLst/>
          </a:prstGeom>
          <a:solidFill>
            <a:srgbClr val="6FAEBB"/>
          </a:solidFill>
          <a:ln/>
        </p:spPr>
      </p:sp>
      <p:sp>
        <p:nvSpPr>
          <p:cNvPr id="102" name="Text 100"/>
          <p:cNvSpPr txBox="1"/>
          <p:nvPr/>
        </p:nvSpPr>
        <p:spPr>
          <a:xfrm>
            <a:off x="3301917" y="458481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297</a:t>
            </a:r>
            <a:endParaRPr lang="en-US" sz="600" dirty="0"/>
          </a:p>
        </p:txBody>
      </p:sp>
      <p:sp>
        <p:nvSpPr>
          <p:cNvPr id="103" name="Shape 101"/>
          <p:cNvSpPr/>
          <p:nvPr/>
        </p:nvSpPr>
        <p:spPr>
          <a:xfrm>
            <a:off x="3301917" y="4019542"/>
            <a:ext cx="203436" cy="218519"/>
          </a:xfrm>
          <a:prstGeom prst="rect">
            <a:avLst/>
          </a:prstGeom>
          <a:solidFill>
            <a:srgbClr val="C88A2E"/>
          </a:solidFill>
          <a:ln/>
        </p:spPr>
      </p:sp>
      <p:sp>
        <p:nvSpPr>
          <p:cNvPr id="104" name="Text 102"/>
          <p:cNvSpPr txBox="1"/>
          <p:nvPr/>
        </p:nvSpPr>
        <p:spPr>
          <a:xfrm>
            <a:off x="3301917" y="4064794"/>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79</a:t>
            </a:r>
            <a:endParaRPr lang="en-US" sz="600" dirty="0"/>
          </a:p>
        </p:txBody>
      </p:sp>
      <p:sp>
        <p:nvSpPr>
          <p:cNvPr id="105" name="Shape 103"/>
          <p:cNvSpPr/>
          <p:nvPr/>
        </p:nvSpPr>
        <p:spPr>
          <a:xfrm>
            <a:off x="3301917" y="3856345"/>
            <a:ext cx="203436" cy="163198"/>
          </a:xfrm>
          <a:prstGeom prst="rect">
            <a:avLst/>
          </a:prstGeom>
          <a:solidFill>
            <a:srgbClr val="7A3B21"/>
          </a:solidFill>
          <a:ln/>
        </p:spPr>
      </p:sp>
      <p:sp>
        <p:nvSpPr>
          <p:cNvPr id="106" name="Text 104"/>
          <p:cNvSpPr txBox="1"/>
          <p:nvPr/>
        </p:nvSpPr>
        <p:spPr>
          <a:xfrm>
            <a:off x="3301917" y="3873936"/>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59</a:t>
            </a:r>
            <a:endParaRPr lang="en-US" sz="600" dirty="0"/>
          </a:p>
        </p:txBody>
      </p:sp>
      <p:sp>
        <p:nvSpPr>
          <p:cNvPr id="107" name="Text 105"/>
          <p:cNvSpPr txBox="1"/>
          <p:nvPr/>
        </p:nvSpPr>
        <p:spPr>
          <a:xfrm>
            <a:off x="3256197" y="3700897"/>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586</a:t>
            </a:r>
            <a:endParaRPr lang="en-US" sz="620" dirty="0"/>
          </a:p>
        </p:txBody>
      </p:sp>
      <p:sp>
        <p:nvSpPr>
          <p:cNvPr id="108" name="Shape 106"/>
          <p:cNvSpPr/>
          <p:nvPr/>
        </p:nvSpPr>
        <p:spPr>
          <a:xfrm>
            <a:off x="3537356" y="4528497"/>
            <a:ext cx="203436" cy="948759"/>
          </a:xfrm>
          <a:prstGeom prst="rect">
            <a:avLst/>
          </a:prstGeom>
          <a:solidFill>
            <a:srgbClr val="1C5765"/>
          </a:solidFill>
          <a:ln/>
        </p:spPr>
      </p:sp>
      <p:sp>
        <p:nvSpPr>
          <p:cNvPr id="109" name="Text 107"/>
          <p:cNvSpPr txBox="1"/>
          <p:nvPr/>
        </p:nvSpPr>
        <p:spPr>
          <a:xfrm>
            <a:off x="3491636" y="4373049"/>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343</a:t>
            </a:r>
            <a:endParaRPr lang="en-US" sz="620" dirty="0"/>
          </a:p>
        </p:txBody>
      </p:sp>
      <p:sp>
        <p:nvSpPr>
          <p:cNvPr id="110" name="Text 108"/>
          <p:cNvSpPr txBox="1"/>
          <p:nvPr/>
        </p:nvSpPr>
        <p:spPr>
          <a:xfrm>
            <a:off x="3238805"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08-30</a:t>
            </a:r>
            <a:endParaRPr lang="en-US" sz="650" dirty="0"/>
          </a:p>
        </p:txBody>
      </p:sp>
      <p:sp>
        <p:nvSpPr>
          <p:cNvPr id="111" name="Shape 109"/>
          <p:cNvSpPr/>
          <p:nvPr/>
        </p:nvSpPr>
        <p:spPr>
          <a:xfrm>
            <a:off x="4013320" y="4824466"/>
            <a:ext cx="203436" cy="652790"/>
          </a:xfrm>
          <a:prstGeom prst="rect">
            <a:avLst/>
          </a:prstGeom>
          <a:solidFill>
            <a:srgbClr val="3D8F5F"/>
          </a:solidFill>
          <a:ln/>
        </p:spPr>
      </p:sp>
      <p:sp>
        <p:nvSpPr>
          <p:cNvPr id="112" name="Text 110"/>
          <p:cNvSpPr txBox="1"/>
          <p:nvPr/>
        </p:nvSpPr>
        <p:spPr>
          <a:xfrm>
            <a:off x="4013320" y="508685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236</a:t>
            </a:r>
            <a:endParaRPr lang="en-US" sz="600" dirty="0"/>
          </a:p>
        </p:txBody>
      </p:sp>
      <p:sp>
        <p:nvSpPr>
          <p:cNvPr id="113" name="Shape 111"/>
          <p:cNvSpPr/>
          <p:nvPr/>
        </p:nvSpPr>
        <p:spPr>
          <a:xfrm>
            <a:off x="4013320" y="4108056"/>
            <a:ext cx="203436" cy="716410"/>
          </a:xfrm>
          <a:prstGeom prst="rect">
            <a:avLst/>
          </a:prstGeom>
          <a:solidFill>
            <a:srgbClr val="6FAEBB"/>
          </a:solidFill>
          <a:ln/>
        </p:spPr>
      </p:sp>
      <p:sp>
        <p:nvSpPr>
          <p:cNvPr id="114" name="Text 112"/>
          <p:cNvSpPr txBox="1"/>
          <p:nvPr/>
        </p:nvSpPr>
        <p:spPr>
          <a:xfrm>
            <a:off x="4013320" y="440225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259</a:t>
            </a:r>
            <a:endParaRPr lang="en-US" sz="600" dirty="0"/>
          </a:p>
        </p:txBody>
      </p:sp>
      <p:sp>
        <p:nvSpPr>
          <p:cNvPr id="115" name="Shape 113"/>
          <p:cNvSpPr/>
          <p:nvPr/>
        </p:nvSpPr>
        <p:spPr>
          <a:xfrm>
            <a:off x="4013320" y="3690381"/>
            <a:ext cx="203436" cy="417675"/>
          </a:xfrm>
          <a:prstGeom prst="rect">
            <a:avLst/>
          </a:prstGeom>
          <a:solidFill>
            <a:srgbClr val="C88A2E"/>
          </a:solidFill>
          <a:ln/>
        </p:spPr>
      </p:sp>
      <p:sp>
        <p:nvSpPr>
          <p:cNvPr id="116" name="Text 114"/>
          <p:cNvSpPr txBox="1"/>
          <p:nvPr/>
        </p:nvSpPr>
        <p:spPr>
          <a:xfrm>
            <a:off x="4013320" y="3835211"/>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151</a:t>
            </a:r>
            <a:endParaRPr lang="en-US" sz="600" dirty="0"/>
          </a:p>
        </p:txBody>
      </p:sp>
      <p:sp>
        <p:nvSpPr>
          <p:cNvPr id="117" name="Shape 115"/>
          <p:cNvSpPr/>
          <p:nvPr/>
        </p:nvSpPr>
        <p:spPr>
          <a:xfrm>
            <a:off x="4013320" y="3593569"/>
            <a:ext cx="203436" cy="96812"/>
          </a:xfrm>
          <a:prstGeom prst="rect">
            <a:avLst/>
          </a:prstGeom>
          <a:solidFill>
            <a:srgbClr val="7A3B21"/>
          </a:solidFill>
          <a:ln/>
        </p:spPr>
      </p:sp>
      <p:sp>
        <p:nvSpPr>
          <p:cNvPr id="118" name="Text 116"/>
          <p:cNvSpPr txBox="1"/>
          <p:nvPr/>
        </p:nvSpPr>
        <p:spPr>
          <a:xfrm>
            <a:off x="3967600" y="3438121"/>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681</a:t>
            </a:r>
            <a:endParaRPr lang="en-US" sz="620" dirty="0"/>
          </a:p>
        </p:txBody>
      </p:sp>
      <p:sp>
        <p:nvSpPr>
          <p:cNvPr id="119" name="Text 117"/>
          <p:cNvSpPr txBox="1"/>
          <p:nvPr/>
        </p:nvSpPr>
        <p:spPr>
          <a:xfrm>
            <a:off x="4248760" y="5312664"/>
            <a:ext cx="203436" cy="146304"/>
          </a:xfrm>
          <a:prstGeom prst="rect">
            <a:avLst/>
          </a:prstGeom>
          <a:noFill/>
          <a:ln/>
        </p:spPr>
        <p:txBody>
          <a:bodyPr wrap="square" lIns="0" tIns="0" rIns="0" bIns="0" rtlCol="0" anchor="ctr"/>
          <a:lstStyle/>
          <a:p>
            <a:pPr algn="ctr" indent="0" marL="0">
              <a:buNone/>
            </a:pPr>
            <a:r>
              <a:rPr lang="en-US" sz="700" dirty="0">
                <a:solidFill>
                  <a:srgbClr val="8FA1AC"/>
                </a:solidFill>
                <a:latin typeface="Poppins" pitchFamily="34" charset="0"/>
                <a:ea typeface="Poppins" pitchFamily="34" charset="-122"/>
                <a:cs typeface="Poppins" pitchFamily="34" charset="-120"/>
              </a:rPr>
              <a:t>—</a:t>
            </a:r>
            <a:endParaRPr lang="en-US" sz="700" dirty="0"/>
          </a:p>
        </p:txBody>
      </p:sp>
      <p:sp>
        <p:nvSpPr>
          <p:cNvPr id="120" name="Text 118"/>
          <p:cNvSpPr txBox="1"/>
          <p:nvPr/>
        </p:nvSpPr>
        <p:spPr>
          <a:xfrm>
            <a:off x="3950208"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09-13</a:t>
            </a:r>
            <a:endParaRPr lang="en-US" sz="650" dirty="0"/>
          </a:p>
        </p:txBody>
      </p:sp>
      <p:sp>
        <p:nvSpPr>
          <p:cNvPr id="121" name="Shape 119"/>
          <p:cNvSpPr/>
          <p:nvPr/>
        </p:nvSpPr>
        <p:spPr>
          <a:xfrm>
            <a:off x="4578419" y="4968301"/>
            <a:ext cx="203436" cy="508955"/>
          </a:xfrm>
          <a:prstGeom prst="rect">
            <a:avLst/>
          </a:prstGeom>
          <a:solidFill>
            <a:srgbClr val="3D8F5F"/>
          </a:solidFill>
          <a:ln/>
        </p:spPr>
      </p:sp>
      <p:sp>
        <p:nvSpPr>
          <p:cNvPr id="122" name="Text 120"/>
          <p:cNvSpPr txBox="1"/>
          <p:nvPr/>
        </p:nvSpPr>
        <p:spPr>
          <a:xfrm>
            <a:off x="4578419" y="5158770"/>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184</a:t>
            </a:r>
            <a:endParaRPr lang="en-US" sz="600" dirty="0"/>
          </a:p>
        </p:txBody>
      </p:sp>
      <p:sp>
        <p:nvSpPr>
          <p:cNvPr id="123" name="Shape 121"/>
          <p:cNvSpPr/>
          <p:nvPr/>
        </p:nvSpPr>
        <p:spPr>
          <a:xfrm>
            <a:off x="4578419" y="4279552"/>
            <a:ext cx="203436" cy="688749"/>
          </a:xfrm>
          <a:prstGeom prst="rect">
            <a:avLst/>
          </a:prstGeom>
          <a:solidFill>
            <a:srgbClr val="6FAEBB"/>
          </a:solidFill>
          <a:ln/>
        </p:spPr>
      </p:sp>
      <p:sp>
        <p:nvSpPr>
          <p:cNvPr id="124" name="Text 122"/>
          <p:cNvSpPr txBox="1"/>
          <p:nvPr/>
        </p:nvSpPr>
        <p:spPr>
          <a:xfrm>
            <a:off x="4578419" y="4559918"/>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249</a:t>
            </a:r>
            <a:endParaRPr lang="en-US" sz="600" dirty="0"/>
          </a:p>
        </p:txBody>
      </p:sp>
      <p:sp>
        <p:nvSpPr>
          <p:cNvPr id="125" name="Shape 123"/>
          <p:cNvSpPr/>
          <p:nvPr/>
        </p:nvSpPr>
        <p:spPr>
          <a:xfrm>
            <a:off x="4578419" y="3914432"/>
            <a:ext cx="203436" cy="365120"/>
          </a:xfrm>
          <a:prstGeom prst="rect">
            <a:avLst/>
          </a:prstGeom>
          <a:solidFill>
            <a:srgbClr val="C88A2E"/>
          </a:solidFill>
          <a:ln/>
        </p:spPr>
      </p:sp>
      <p:sp>
        <p:nvSpPr>
          <p:cNvPr id="126" name="Text 124"/>
          <p:cNvSpPr txBox="1"/>
          <p:nvPr/>
        </p:nvSpPr>
        <p:spPr>
          <a:xfrm>
            <a:off x="4578419" y="4032984"/>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132</a:t>
            </a:r>
            <a:endParaRPr lang="en-US" sz="600" dirty="0"/>
          </a:p>
        </p:txBody>
      </p:sp>
      <p:sp>
        <p:nvSpPr>
          <p:cNvPr id="127" name="Shape 125"/>
          <p:cNvSpPr/>
          <p:nvPr/>
        </p:nvSpPr>
        <p:spPr>
          <a:xfrm>
            <a:off x="4578419" y="3886772"/>
            <a:ext cx="203436" cy="27661"/>
          </a:xfrm>
          <a:prstGeom prst="rect">
            <a:avLst/>
          </a:prstGeom>
          <a:solidFill>
            <a:srgbClr val="7A3B21"/>
          </a:solidFill>
          <a:ln/>
        </p:spPr>
      </p:sp>
      <p:sp>
        <p:nvSpPr>
          <p:cNvPr id="128" name="Text 126"/>
          <p:cNvSpPr txBox="1"/>
          <p:nvPr/>
        </p:nvSpPr>
        <p:spPr>
          <a:xfrm>
            <a:off x="4532699" y="3731324"/>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575</a:t>
            </a:r>
            <a:endParaRPr lang="en-US" sz="620" dirty="0"/>
          </a:p>
        </p:txBody>
      </p:sp>
      <p:sp>
        <p:nvSpPr>
          <p:cNvPr id="129" name="Shape 127"/>
          <p:cNvSpPr/>
          <p:nvPr/>
        </p:nvSpPr>
        <p:spPr>
          <a:xfrm>
            <a:off x="4813859" y="3798258"/>
            <a:ext cx="203436" cy="1678998"/>
          </a:xfrm>
          <a:prstGeom prst="rect">
            <a:avLst/>
          </a:prstGeom>
          <a:solidFill>
            <a:srgbClr val="1C5765"/>
          </a:solidFill>
          <a:ln/>
        </p:spPr>
      </p:sp>
      <p:sp>
        <p:nvSpPr>
          <p:cNvPr id="130" name="Text 128"/>
          <p:cNvSpPr txBox="1"/>
          <p:nvPr/>
        </p:nvSpPr>
        <p:spPr>
          <a:xfrm>
            <a:off x="4768139" y="3642810"/>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607</a:t>
            </a:r>
            <a:endParaRPr lang="en-US" sz="620" dirty="0"/>
          </a:p>
        </p:txBody>
      </p:sp>
      <p:sp>
        <p:nvSpPr>
          <p:cNvPr id="131" name="Text 129"/>
          <p:cNvSpPr txBox="1"/>
          <p:nvPr/>
        </p:nvSpPr>
        <p:spPr>
          <a:xfrm>
            <a:off x="4515307"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09-20</a:t>
            </a:r>
            <a:endParaRPr lang="en-US" sz="650" dirty="0"/>
          </a:p>
        </p:txBody>
      </p:sp>
      <p:sp>
        <p:nvSpPr>
          <p:cNvPr id="132" name="Shape 130"/>
          <p:cNvSpPr/>
          <p:nvPr/>
        </p:nvSpPr>
        <p:spPr>
          <a:xfrm>
            <a:off x="5143518" y="4940640"/>
            <a:ext cx="203436" cy="536616"/>
          </a:xfrm>
          <a:prstGeom prst="rect">
            <a:avLst/>
          </a:prstGeom>
          <a:solidFill>
            <a:srgbClr val="3D8F5F"/>
          </a:solidFill>
          <a:ln/>
        </p:spPr>
      </p:sp>
      <p:sp>
        <p:nvSpPr>
          <p:cNvPr id="133" name="Text 131"/>
          <p:cNvSpPr txBox="1"/>
          <p:nvPr/>
        </p:nvSpPr>
        <p:spPr>
          <a:xfrm>
            <a:off x="5143518" y="5144940"/>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194</a:t>
            </a:r>
            <a:endParaRPr lang="en-US" sz="600" dirty="0"/>
          </a:p>
        </p:txBody>
      </p:sp>
      <p:sp>
        <p:nvSpPr>
          <p:cNvPr id="134" name="Shape 132"/>
          <p:cNvSpPr/>
          <p:nvPr/>
        </p:nvSpPr>
        <p:spPr>
          <a:xfrm>
            <a:off x="5143518" y="4105290"/>
            <a:ext cx="203436" cy="835350"/>
          </a:xfrm>
          <a:prstGeom prst="rect">
            <a:avLst/>
          </a:prstGeom>
          <a:solidFill>
            <a:srgbClr val="6FAEBB"/>
          </a:solidFill>
          <a:ln/>
        </p:spPr>
      </p:sp>
      <p:sp>
        <p:nvSpPr>
          <p:cNvPr id="135" name="Text 133"/>
          <p:cNvSpPr txBox="1"/>
          <p:nvPr/>
        </p:nvSpPr>
        <p:spPr>
          <a:xfrm>
            <a:off x="5143518" y="445895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302</a:t>
            </a:r>
            <a:endParaRPr lang="en-US" sz="600" dirty="0"/>
          </a:p>
        </p:txBody>
      </p:sp>
      <p:sp>
        <p:nvSpPr>
          <p:cNvPr id="136" name="Shape 134"/>
          <p:cNvSpPr/>
          <p:nvPr/>
        </p:nvSpPr>
        <p:spPr>
          <a:xfrm>
            <a:off x="5143518" y="3640592"/>
            <a:ext cx="203436" cy="464698"/>
          </a:xfrm>
          <a:prstGeom prst="rect">
            <a:avLst/>
          </a:prstGeom>
          <a:solidFill>
            <a:srgbClr val="C88A2E"/>
          </a:solidFill>
          <a:ln/>
        </p:spPr>
      </p:sp>
      <p:sp>
        <p:nvSpPr>
          <p:cNvPr id="137" name="Text 135"/>
          <p:cNvSpPr txBox="1"/>
          <p:nvPr/>
        </p:nvSpPr>
        <p:spPr>
          <a:xfrm>
            <a:off x="5143518" y="380893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168</a:t>
            </a:r>
            <a:endParaRPr lang="en-US" sz="600" dirty="0"/>
          </a:p>
        </p:txBody>
      </p:sp>
      <p:sp>
        <p:nvSpPr>
          <p:cNvPr id="138" name="Shape 136"/>
          <p:cNvSpPr/>
          <p:nvPr/>
        </p:nvSpPr>
        <p:spPr>
          <a:xfrm>
            <a:off x="5143518" y="3610166"/>
            <a:ext cx="203436" cy="30427"/>
          </a:xfrm>
          <a:prstGeom prst="rect">
            <a:avLst/>
          </a:prstGeom>
          <a:solidFill>
            <a:srgbClr val="7A3B21"/>
          </a:solidFill>
          <a:ln/>
        </p:spPr>
      </p:sp>
      <p:sp>
        <p:nvSpPr>
          <p:cNvPr id="139" name="Text 137"/>
          <p:cNvSpPr txBox="1"/>
          <p:nvPr/>
        </p:nvSpPr>
        <p:spPr>
          <a:xfrm>
            <a:off x="5097798" y="3454718"/>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675</a:t>
            </a:r>
            <a:endParaRPr lang="en-US" sz="620" dirty="0"/>
          </a:p>
        </p:txBody>
      </p:sp>
      <p:sp>
        <p:nvSpPr>
          <p:cNvPr id="140" name="Shape 138"/>
          <p:cNvSpPr/>
          <p:nvPr/>
        </p:nvSpPr>
        <p:spPr>
          <a:xfrm>
            <a:off x="5378958" y="4318277"/>
            <a:ext cx="203436" cy="1158979"/>
          </a:xfrm>
          <a:prstGeom prst="rect">
            <a:avLst/>
          </a:prstGeom>
          <a:solidFill>
            <a:srgbClr val="1C5765"/>
          </a:solidFill>
          <a:ln/>
        </p:spPr>
      </p:sp>
      <p:sp>
        <p:nvSpPr>
          <p:cNvPr id="141" name="Text 139"/>
          <p:cNvSpPr txBox="1"/>
          <p:nvPr/>
        </p:nvSpPr>
        <p:spPr>
          <a:xfrm>
            <a:off x="5333238" y="4162829"/>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419</a:t>
            </a:r>
            <a:endParaRPr lang="en-US" sz="620" dirty="0"/>
          </a:p>
        </p:txBody>
      </p:sp>
      <p:sp>
        <p:nvSpPr>
          <p:cNvPr id="142" name="Text 140"/>
          <p:cNvSpPr txBox="1"/>
          <p:nvPr/>
        </p:nvSpPr>
        <p:spPr>
          <a:xfrm>
            <a:off x="5080406"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09-27</a:t>
            </a:r>
            <a:endParaRPr lang="en-US" sz="650" dirty="0"/>
          </a:p>
        </p:txBody>
      </p:sp>
      <p:sp>
        <p:nvSpPr>
          <p:cNvPr id="143" name="Shape 141"/>
          <p:cNvSpPr/>
          <p:nvPr/>
        </p:nvSpPr>
        <p:spPr>
          <a:xfrm>
            <a:off x="5708617" y="5015324"/>
            <a:ext cx="203436" cy="461932"/>
          </a:xfrm>
          <a:prstGeom prst="rect">
            <a:avLst/>
          </a:prstGeom>
          <a:solidFill>
            <a:srgbClr val="3D8F5F"/>
          </a:solidFill>
          <a:ln/>
        </p:spPr>
      </p:sp>
      <p:sp>
        <p:nvSpPr>
          <p:cNvPr id="144" name="Text 142"/>
          <p:cNvSpPr txBox="1"/>
          <p:nvPr/>
        </p:nvSpPr>
        <p:spPr>
          <a:xfrm>
            <a:off x="5708617" y="5182282"/>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167</a:t>
            </a:r>
            <a:endParaRPr lang="en-US" sz="600" dirty="0"/>
          </a:p>
        </p:txBody>
      </p:sp>
      <p:sp>
        <p:nvSpPr>
          <p:cNvPr id="145" name="Shape 143"/>
          <p:cNvSpPr/>
          <p:nvPr/>
        </p:nvSpPr>
        <p:spPr>
          <a:xfrm>
            <a:off x="5708617" y="4110822"/>
            <a:ext cx="203436" cy="904502"/>
          </a:xfrm>
          <a:prstGeom prst="rect">
            <a:avLst/>
          </a:prstGeom>
          <a:solidFill>
            <a:srgbClr val="6FAEBB"/>
          </a:solidFill>
          <a:ln/>
        </p:spPr>
      </p:sp>
      <p:sp>
        <p:nvSpPr>
          <p:cNvPr id="146" name="Text 144"/>
          <p:cNvSpPr txBox="1"/>
          <p:nvPr/>
        </p:nvSpPr>
        <p:spPr>
          <a:xfrm>
            <a:off x="5708617" y="4499065"/>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327</a:t>
            </a:r>
            <a:endParaRPr lang="en-US" sz="600" dirty="0"/>
          </a:p>
        </p:txBody>
      </p:sp>
      <p:sp>
        <p:nvSpPr>
          <p:cNvPr id="147" name="Shape 145"/>
          <p:cNvSpPr/>
          <p:nvPr/>
        </p:nvSpPr>
        <p:spPr>
          <a:xfrm>
            <a:off x="5708617" y="3579739"/>
            <a:ext cx="203436" cy="531084"/>
          </a:xfrm>
          <a:prstGeom prst="rect">
            <a:avLst/>
          </a:prstGeom>
          <a:solidFill>
            <a:srgbClr val="C88A2E"/>
          </a:solidFill>
          <a:ln/>
        </p:spPr>
      </p:sp>
      <p:sp>
        <p:nvSpPr>
          <p:cNvPr id="148" name="Text 146"/>
          <p:cNvSpPr txBox="1"/>
          <p:nvPr/>
        </p:nvSpPr>
        <p:spPr>
          <a:xfrm>
            <a:off x="5708617" y="378127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192</a:t>
            </a:r>
            <a:endParaRPr lang="en-US" sz="600" dirty="0"/>
          </a:p>
        </p:txBody>
      </p:sp>
      <p:sp>
        <p:nvSpPr>
          <p:cNvPr id="149" name="Shape 147"/>
          <p:cNvSpPr/>
          <p:nvPr/>
        </p:nvSpPr>
        <p:spPr>
          <a:xfrm>
            <a:off x="5708617" y="3546546"/>
            <a:ext cx="203436" cy="33193"/>
          </a:xfrm>
          <a:prstGeom prst="rect">
            <a:avLst/>
          </a:prstGeom>
          <a:solidFill>
            <a:srgbClr val="7A3B21"/>
          </a:solidFill>
          <a:ln/>
        </p:spPr>
      </p:sp>
      <p:sp>
        <p:nvSpPr>
          <p:cNvPr id="150" name="Text 148"/>
          <p:cNvSpPr txBox="1"/>
          <p:nvPr/>
        </p:nvSpPr>
        <p:spPr>
          <a:xfrm>
            <a:off x="5662897" y="3391098"/>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698</a:t>
            </a:r>
            <a:endParaRPr lang="en-US" sz="620" dirty="0"/>
          </a:p>
        </p:txBody>
      </p:sp>
      <p:sp>
        <p:nvSpPr>
          <p:cNvPr id="151" name="Shape 149"/>
          <p:cNvSpPr/>
          <p:nvPr/>
        </p:nvSpPr>
        <p:spPr>
          <a:xfrm>
            <a:off x="5944057" y="4282318"/>
            <a:ext cx="203436" cy="1194938"/>
          </a:xfrm>
          <a:prstGeom prst="rect">
            <a:avLst/>
          </a:prstGeom>
          <a:solidFill>
            <a:srgbClr val="1C5765"/>
          </a:solidFill>
          <a:ln/>
        </p:spPr>
      </p:sp>
      <p:sp>
        <p:nvSpPr>
          <p:cNvPr id="152" name="Text 150"/>
          <p:cNvSpPr txBox="1"/>
          <p:nvPr/>
        </p:nvSpPr>
        <p:spPr>
          <a:xfrm>
            <a:off x="5898337" y="4126870"/>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432</a:t>
            </a:r>
            <a:endParaRPr lang="en-US" sz="620" dirty="0"/>
          </a:p>
        </p:txBody>
      </p:sp>
      <p:sp>
        <p:nvSpPr>
          <p:cNvPr id="153" name="Text 151"/>
          <p:cNvSpPr txBox="1"/>
          <p:nvPr/>
        </p:nvSpPr>
        <p:spPr>
          <a:xfrm>
            <a:off x="5645506"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10-04</a:t>
            </a:r>
            <a:endParaRPr lang="en-US" sz="650" dirty="0"/>
          </a:p>
        </p:txBody>
      </p:sp>
      <p:sp>
        <p:nvSpPr>
          <p:cNvPr id="154" name="Shape 152"/>
          <p:cNvSpPr/>
          <p:nvPr/>
        </p:nvSpPr>
        <p:spPr>
          <a:xfrm>
            <a:off x="6273717" y="5092774"/>
            <a:ext cx="203436" cy="384482"/>
          </a:xfrm>
          <a:prstGeom prst="rect">
            <a:avLst/>
          </a:prstGeom>
          <a:solidFill>
            <a:srgbClr val="3D8F5F"/>
          </a:solidFill>
          <a:ln/>
        </p:spPr>
      </p:sp>
      <p:sp>
        <p:nvSpPr>
          <p:cNvPr id="155" name="Text 153"/>
          <p:cNvSpPr txBox="1"/>
          <p:nvPr/>
        </p:nvSpPr>
        <p:spPr>
          <a:xfrm>
            <a:off x="6273717" y="522100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139</a:t>
            </a:r>
            <a:endParaRPr lang="en-US" sz="600" dirty="0"/>
          </a:p>
        </p:txBody>
      </p:sp>
      <p:sp>
        <p:nvSpPr>
          <p:cNvPr id="156" name="Shape 154"/>
          <p:cNvSpPr/>
          <p:nvPr/>
        </p:nvSpPr>
        <p:spPr>
          <a:xfrm>
            <a:off x="6273717" y="4409557"/>
            <a:ext cx="203436" cy="683217"/>
          </a:xfrm>
          <a:prstGeom prst="rect">
            <a:avLst/>
          </a:prstGeom>
          <a:solidFill>
            <a:srgbClr val="6FAEBB"/>
          </a:solidFill>
          <a:ln/>
        </p:spPr>
      </p:sp>
      <p:sp>
        <p:nvSpPr>
          <p:cNvPr id="157" name="Text 155"/>
          <p:cNvSpPr txBox="1"/>
          <p:nvPr/>
        </p:nvSpPr>
        <p:spPr>
          <a:xfrm>
            <a:off x="6273717" y="4687157"/>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247</a:t>
            </a:r>
            <a:endParaRPr lang="en-US" sz="600" dirty="0"/>
          </a:p>
        </p:txBody>
      </p:sp>
      <p:sp>
        <p:nvSpPr>
          <p:cNvPr id="158" name="Shape 156"/>
          <p:cNvSpPr/>
          <p:nvPr/>
        </p:nvSpPr>
        <p:spPr>
          <a:xfrm>
            <a:off x="6273717" y="3701445"/>
            <a:ext cx="203436" cy="708111"/>
          </a:xfrm>
          <a:prstGeom prst="rect">
            <a:avLst/>
          </a:prstGeom>
          <a:solidFill>
            <a:srgbClr val="C88A2E"/>
          </a:solidFill>
          <a:ln/>
        </p:spPr>
      </p:sp>
      <p:sp>
        <p:nvSpPr>
          <p:cNvPr id="159" name="Text 157"/>
          <p:cNvSpPr txBox="1"/>
          <p:nvPr/>
        </p:nvSpPr>
        <p:spPr>
          <a:xfrm>
            <a:off x="6273717" y="3991493"/>
            <a:ext cx="203436" cy="137160"/>
          </a:xfrm>
          <a:prstGeom prst="rect">
            <a:avLst/>
          </a:prstGeom>
          <a:noFill/>
          <a:ln/>
        </p:spPr>
        <p:txBody>
          <a:bodyPr wrap="square" lIns="0" tIns="0" rIns="0" bIns="0" rtlCol="0" anchor="ctr"/>
          <a:lstStyle/>
          <a:p>
            <a:pPr algn="ctr" indent="0" marL="0">
              <a:buNone/>
            </a:pPr>
            <a:r>
              <a:rPr lang="en-US" sz="600" dirty="0">
                <a:solidFill>
                  <a:srgbClr val="FFFFFF"/>
                </a:solidFill>
                <a:latin typeface="Poppins" pitchFamily="34" charset="0"/>
                <a:ea typeface="Poppins" pitchFamily="34" charset="-122"/>
                <a:cs typeface="Poppins" pitchFamily="34" charset="-120"/>
              </a:rPr>
              <a:t>256</a:t>
            </a:r>
            <a:endParaRPr lang="en-US" sz="600" dirty="0"/>
          </a:p>
        </p:txBody>
      </p:sp>
      <p:sp>
        <p:nvSpPr>
          <p:cNvPr id="160" name="Shape 158"/>
          <p:cNvSpPr/>
          <p:nvPr/>
        </p:nvSpPr>
        <p:spPr>
          <a:xfrm>
            <a:off x="6273717" y="3659955"/>
            <a:ext cx="203436" cy="41491"/>
          </a:xfrm>
          <a:prstGeom prst="rect">
            <a:avLst/>
          </a:prstGeom>
          <a:solidFill>
            <a:srgbClr val="7A3B21"/>
          </a:solidFill>
          <a:ln/>
        </p:spPr>
      </p:sp>
      <p:sp>
        <p:nvSpPr>
          <p:cNvPr id="161" name="Text 159"/>
          <p:cNvSpPr txBox="1"/>
          <p:nvPr/>
        </p:nvSpPr>
        <p:spPr>
          <a:xfrm>
            <a:off x="6227997" y="3504507"/>
            <a:ext cx="294876" cy="146304"/>
          </a:xfrm>
          <a:prstGeom prst="rect">
            <a:avLst/>
          </a:prstGeom>
          <a:noFill/>
          <a:ln/>
        </p:spPr>
        <p:txBody>
          <a:bodyPr wrap="square" lIns="0" tIns="0" rIns="0" bIns="0" rtlCol="0" anchor="ctr"/>
          <a:lstStyle/>
          <a:p>
            <a:pPr algn="ctr" indent="0" marL="0">
              <a:buNone/>
            </a:pPr>
            <a:r>
              <a:rPr lang="en-US" sz="620" b="1" dirty="0">
                <a:solidFill>
                  <a:srgbClr val="12293A"/>
                </a:solidFill>
                <a:latin typeface="Poppins" pitchFamily="34" charset="0"/>
                <a:ea typeface="Poppins" pitchFamily="34" charset="-122"/>
                <a:cs typeface="Poppins" pitchFamily="34" charset="-120"/>
              </a:rPr>
              <a:t>657</a:t>
            </a:r>
            <a:endParaRPr lang="en-US" sz="620" dirty="0"/>
          </a:p>
        </p:txBody>
      </p:sp>
      <p:sp>
        <p:nvSpPr>
          <p:cNvPr id="162" name="Shape 160"/>
          <p:cNvSpPr/>
          <p:nvPr/>
        </p:nvSpPr>
        <p:spPr>
          <a:xfrm>
            <a:off x="6509156" y="4285084"/>
            <a:ext cx="203436" cy="1192172"/>
          </a:xfrm>
          <a:prstGeom prst="rect">
            <a:avLst/>
          </a:prstGeom>
          <a:solidFill>
            <a:srgbClr val="1C5765"/>
          </a:solidFill>
          <a:ln/>
        </p:spPr>
      </p:sp>
      <p:sp>
        <p:nvSpPr>
          <p:cNvPr id="163" name="Text 161"/>
          <p:cNvSpPr txBox="1"/>
          <p:nvPr/>
        </p:nvSpPr>
        <p:spPr>
          <a:xfrm>
            <a:off x="6463436" y="4129636"/>
            <a:ext cx="294876" cy="146304"/>
          </a:xfrm>
          <a:prstGeom prst="rect">
            <a:avLst/>
          </a:prstGeom>
          <a:noFill/>
          <a:ln/>
        </p:spPr>
        <p:txBody>
          <a:bodyPr wrap="square" lIns="0" tIns="0" rIns="0" bIns="0" rtlCol="0" anchor="ctr"/>
          <a:lstStyle/>
          <a:p>
            <a:pPr algn="ctr" indent="0" marL="0">
              <a:buNone/>
            </a:pPr>
            <a:r>
              <a:rPr lang="en-US" sz="620" b="1" dirty="0">
                <a:solidFill>
                  <a:srgbClr val="1C5765"/>
                </a:solidFill>
                <a:latin typeface="Poppins" pitchFamily="34" charset="0"/>
                <a:ea typeface="Poppins" pitchFamily="34" charset="-122"/>
                <a:cs typeface="Poppins" pitchFamily="34" charset="-120"/>
              </a:rPr>
              <a:t>431</a:t>
            </a:r>
            <a:endParaRPr lang="en-US" sz="620" dirty="0"/>
          </a:p>
        </p:txBody>
      </p:sp>
      <p:sp>
        <p:nvSpPr>
          <p:cNvPr id="164" name="Text 162"/>
          <p:cNvSpPr txBox="1"/>
          <p:nvPr/>
        </p:nvSpPr>
        <p:spPr>
          <a:xfrm>
            <a:off x="6210605" y="5513832"/>
            <a:ext cx="565099" cy="164592"/>
          </a:xfrm>
          <a:prstGeom prst="rect">
            <a:avLst/>
          </a:prstGeom>
          <a:noFill/>
          <a:ln/>
        </p:spPr>
        <p:txBody>
          <a:bodyPr wrap="square" lIns="0" tIns="0" rIns="0" bIns="0" rtlCol="0" anchor="ctr"/>
          <a:lstStyle/>
          <a:p>
            <a:pPr algn="ctr" indent="0" marL="0">
              <a:buNone/>
            </a:pPr>
            <a:r>
              <a:rPr lang="en-US" sz="650" dirty="0">
                <a:solidFill>
                  <a:srgbClr val="12293A"/>
                </a:solidFill>
                <a:latin typeface="Poppins" pitchFamily="34" charset="0"/>
                <a:ea typeface="Poppins" pitchFamily="34" charset="-122"/>
                <a:cs typeface="Poppins" pitchFamily="34" charset="-120"/>
              </a:rPr>
              <a:t>10-11</a:t>
            </a:r>
            <a:endParaRPr lang="en-US" sz="650" dirty="0"/>
          </a:p>
        </p:txBody>
      </p:sp>
      <p:sp>
        <p:nvSpPr>
          <p:cNvPr id="165" name="Shape 163"/>
          <p:cNvSpPr/>
          <p:nvPr/>
        </p:nvSpPr>
        <p:spPr>
          <a:xfrm>
            <a:off x="923544" y="5477256"/>
            <a:ext cx="5852160" cy="10973"/>
          </a:xfrm>
          <a:prstGeom prst="rect">
            <a:avLst/>
          </a:prstGeom>
          <a:solidFill>
            <a:srgbClr val="12293A"/>
          </a:solidFill>
          <a:ln/>
        </p:spPr>
      </p:sp>
      <p:sp>
        <p:nvSpPr>
          <p:cNvPr id="166" name="Shape 164"/>
          <p:cNvSpPr/>
          <p:nvPr/>
        </p:nvSpPr>
        <p:spPr>
          <a:xfrm>
            <a:off x="3866998" y="3209544"/>
            <a:ext cx="20117" cy="2267712"/>
          </a:xfrm>
          <a:prstGeom prst="rect">
            <a:avLst/>
          </a:prstGeom>
          <a:solidFill>
            <a:srgbClr val="B4552D"/>
          </a:solidFill>
          <a:ln/>
        </p:spPr>
      </p:sp>
      <p:sp>
        <p:nvSpPr>
          <p:cNvPr id="167" name="Shape 165"/>
          <p:cNvSpPr/>
          <p:nvPr/>
        </p:nvSpPr>
        <p:spPr>
          <a:xfrm>
            <a:off x="3409798" y="3017520"/>
            <a:ext cx="960120" cy="201168"/>
          </a:xfrm>
          <a:prstGeom prst="roundRect">
            <a:avLst>
              <a:gd name="adj" fmla="val 50000"/>
            </a:avLst>
          </a:prstGeom>
          <a:solidFill>
            <a:srgbClr val="B4552D"/>
          </a:solidFill>
          <a:ln/>
        </p:spPr>
      </p:sp>
      <p:sp>
        <p:nvSpPr>
          <p:cNvPr id="168" name="Text 166"/>
          <p:cNvSpPr txBox="1"/>
          <p:nvPr/>
        </p:nvSpPr>
        <p:spPr>
          <a:xfrm>
            <a:off x="3409798" y="3017520"/>
            <a:ext cx="960120" cy="201168"/>
          </a:xfrm>
          <a:prstGeom prst="rect">
            <a:avLst/>
          </a:prstGeom>
          <a:noFill/>
          <a:ln/>
        </p:spPr>
        <p:txBody>
          <a:bodyPr wrap="square" lIns="0" tIns="0" rIns="0" bIns="0" rtlCol="0" anchor="ctr"/>
          <a:lstStyle/>
          <a:p>
            <a:pPr algn="ctr" indent="0" marL="0">
              <a:buNone/>
            </a:pPr>
            <a:r>
              <a:rPr lang="en-US" sz="600" b="1" dirty="0">
                <a:solidFill>
                  <a:srgbClr val="FFFFFF"/>
                </a:solidFill>
                <a:latin typeface="Poppins" pitchFamily="34" charset="0"/>
                <a:ea typeface="Poppins" pitchFamily="34" charset="-122"/>
                <a:cs typeface="Poppins" pitchFamily="34" charset="-120"/>
              </a:rPr>
              <a:t>CUTOVER 8 SEP</a:t>
            </a:r>
            <a:endParaRPr lang="en-US" sz="600" dirty="0"/>
          </a:p>
        </p:txBody>
      </p:sp>
      <p:sp>
        <p:nvSpPr>
          <p:cNvPr id="169" name="Text 167"/>
          <p:cNvSpPr txBox="1"/>
          <p:nvPr/>
        </p:nvSpPr>
        <p:spPr>
          <a:xfrm>
            <a:off x="978408" y="5687568"/>
            <a:ext cx="2825496" cy="182880"/>
          </a:xfrm>
          <a:prstGeom prst="rect">
            <a:avLst/>
          </a:prstGeom>
          <a:noFill/>
          <a:ln/>
        </p:spPr>
        <p:txBody>
          <a:bodyPr wrap="square" lIns="0" tIns="0" rIns="0" bIns="0" rtlCol="0" anchor="ctr"/>
          <a:lstStyle/>
          <a:p>
            <a:pPr algn="ctr" indent="0" marL="0">
              <a:buNone/>
            </a:pPr>
            <a:r>
              <a:rPr lang="en-US" sz="650" b="1" dirty="0">
                <a:solidFill>
                  <a:srgbClr val="C88A2E"/>
                </a:solidFill>
                <a:latin typeface="Poppins" pitchFamily="34" charset="0"/>
                <a:ea typeface="Poppins" pitchFamily="34" charset="-122"/>
                <a:cs typeface="Poppins" pitchFamily="34" charset="-120"/>
              </a:rPr>
              <a:t>CREATIO — FROZEN</a:t>
            </a:r>
            <a:endParaRPr lang="en-US" sz="650" dirty="0"/>
          </a:p>
        </p:txBody>
      </p:sp>
      <p:sp>
        <p:nvSpPr>
          <p:cNvPr id="170" name="Text 168"/>
          <p:cNvSpPr txBox="1"/>
          <p:nvPr/>
        </p:nvSpPr>
        <p:spPr>
          <a:xfrm>
            <a:off x="3950208" y="5687568"/>
            <a:ext cx="2825496" cy="182880"/>
          </a:xfrm>
          <a:prstGeom prst="rect">
            <a:avLst/>
          </a:prstGeom>
          <a:noFill/>
          <a:ln/>
        </p:spPr>
        <p:txBody>
          <a:bodyPr wrap="square" lIns="0" tIns="0" rIns="0" bIns="0" rtlCol="0" anchor="ctr"/>
          <a:lstStyle/>
          <a:p>
            <a:pPr algn="ctr" indent="0" marL="0">
              <a:buNone/>
            </a:pPr>
            <a:r>
              <a:rPr lang="en-US" sz="650" b="1" dirty="0">
                <a:solidFill>
                  <a:srgbClr val="2C8394"/>
                </a:solidFill>
                <a:latin typeface="Poppins" pitchFamily="34" charset="0"/>
                <a:ea typeface="Poppins" pitchFamily="34" charset="-122"/>
                <a:cs typeface="Poppins" pitchFamily="34" charset="-120"/>
              </a:rPr>
              <a:t>HUBSPOT — LIVE</a:t>
            </a:r>
            <a:endParaRPr lang="en-US" sz="650" dirty="0"/>
          </a:p>
        </p:txBody>
      </p:sp>
      <p:sp>
        <p:nvSpPr>
          <p:cNvPr id="171" name="Text 169"/>
          <p:cNvSpPr txBox="1"/>
          <p:nvPr/>
        </p:nvSpPr>
        <p:spPr>
          <a:xfrm>
            <a:off x="612648" y="5888736"/>
            <a:ext cx="6181344" cy="384048"/>
          </a:xfrm>
          <a:prstGeom prst="rect">
            <a:avLst/>
          </a:prstGeom>
          <a:noFill/>
          <a:ln/>
        </p:spPr>
        <p:txBody>
          <a:bodyPr wrap="square" lIns="0" tIns="0" rIns="0" bIns="0" rtlCol="0" anchor="t"/>
          <a:lstStyle/>
          <a:p>
            <a:pPr indent="0" marL="0">
              <a:buNone/>
            </a:pPr>
            <a:r>
              <a:rPr lang="en-US" sz="620" dirty="0">
                <a:solidFill>
                  <a:srgbClr val="8FA1AC"/>
                </a:solidFill>
                <a:latin typeface="Poppins" pitchFamily="34" charset="0"/>
                <a:ea typeface="Poppins" pitchFamily="34" charset="-122"/>
                <a:cs typeface="Poppins" pitchFamily="34" charset="-120"/>
              </a:rPr>
              <a:t>Weeks to 30 Aug are the frozen Creatio series (extracts ended 4 Sep); 13 Sep onward read live from HubSpot. Closed bars are tickets resolved in the week ending that date — the 7 Sep migration week is omitted because its 1,249 closes are cleanup, not throughput.</a:t>
            </a:r>
            <a:endParaRPr lang="en-US" sz="620" dirty="0"/>
          </a:p>
        </p:txBody>
      </p:sp>
      <p:sp>
        <p:nvSpPr>
          <p:cNvPr id="172" name="Shape 170"/>
          <p:cNvSpPr/>
          <p:nvPr/>
        </p:nvSpPr>
        <p:spPr>
          <a:xfrm>
            <a:off x="7178040" y="2395728"/>
            <a:ext cx="4599432" cy="2788920"/>
          </a:xfrm>
          <a:prstGeom prst="roundRect">
            <a:avLst>
              <a:gd name="adj" fmla="val 2295"/>
            </a:avLst>
          </a:prstGeom>
          <a:solidFill>
            <a:srgbClr val="FFFFFF"/>
          </a:solidFill>
          <a:ln/>
          <a:effectLst>
            <a:outerShdw sx="100000" sy="100000" kx="0" ky="0" algn="bl" rotWithShape="0" blurRad="76200" dist="25400" dir="5400000">
              <a:srgbClr val="9AAAB5">
                <a:alpha val="35000"/>
              </a:srgbClr>
            </a:outerShdw>
          </a:effectLst>
        </p:spPr>
      </p:sp>
      <p:sp>
        <p:nvSpPr>
          <p:cNvPr id="173" name="Text 171"/>
          <p:cNvSpPr txBox="1"/>
          <p:nvPr/>
        </p:nvSpPr>
        <p:spPr>
          <a:xfrm>
            <a:off x="7379208" y="2505456"/>
            <a:ext cx="423367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174" name="Text 172"/>
          <p:cNvSpPr txBox="1"/>
          <p:nvPr/>
        </p:nvSpPr>
        <p:spPr>
          <a:xfrm>
            <a:off x="7379208" y="2816352"/>
            <a:ext cx="4187952" cy="2240280"/>
          </a:xfrm>
          <a:prstGeom prst="rect">
            <a:avLst/>
          </a:prstGeom>
          <a:noFill/>
          <a:ln/>
        </p:spPr>
        <p:txBody>
          <a:bodyPr wrap="square" lIns="0" tIns="0" rIns="0" bIns="0" rtlCol="0" anchor="t"/>
          <a:lstStyle/>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backlog fell for the first time since the migration.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427 in against 431 resolved, so open went 698 → 657. The closed bar finally sits level with the open stack — but it took a quieter inflow week to do it, not more throughput.</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ageing got worse while the total got better.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31–90 days went 192 → 256 and 8–30 days fell 327 → 247: the middle band is draining straight into the old one. 271 cases are now past 30 days against 204 a week ago, and the median open ticket is 26 days old, up from 20.</a:t>
            </a:r>
            <a:endParaRPr lang="en-US" sz="900" dirty="0"/>
          </a:p>
          <a:p>
            <a:pPr indent="0" marL="0">
              <a:buNone/>
            </a:pPr>
            <a:r>
              <a:rPr lang="en-US" sz="900" b="1" dirty="0">
                <a:solidFill>
                  <a:srgbClr val="3D8F5F"/>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The 90+ tail is holding, just.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15 against 12 last week and 73 at the start of August. The oldest work is still being cleared, but three cases crossed the line this week.</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SLA fields are populating on new HubSpot tickets — attainment reporting returns once coverage is credible.</a:t>
            </a:r>
            <a:endParaRPr lang="en-US" sz="900" dirty="0"/>
          </a:p>
        </p:txBody>
      </p:sp>
      <p:sp>
        <p:nvSpPr>
          <p:cNvPr id="175" name="Shape 173"/>
          <p:cNvSpPr/>
          <p:nvPr/>
        </p:nvSpPr>
        <p:spPr>
          <a:xfrm>
            <a:off x="7178040" y="5303520"/>
            <a:ext cx="4599432" cy="1005840"/>
          </a:xfrm>
          <a:prstGeom prst="roundRect">
            <a:avLst>
              <a:gd name="adj" fmla="val 6364"/>
            </a:avLst>
          </a:prstGeom>
          <a:solidFill>
            <a:srgbClr val="FFFFFF"/>
          </a:solidFill>
          <a:ln/>
          <a:effectLst>
            <a:outerShdw sx="100000" sy="100000" kx="0" ky="0" algn="bl" rotWithShape="0" blurRad="76200" dist="25400" dir="5400000">
              <a:srgbClr val="9AAAB5">
                <a:alpha val="35000"/>
              </a:srgbClr>
            </a:outerShdw>
          </a:effectLst>
        </p:spPr>
      </p:sp>
      <p:sp>
        <p:nvSpPr>
          <p:cNvPr id="176" name="Text 174"/>
          <p:cNvSpPr txBox="1"/>
          <p:nvPr/>
        </p:nvSpPr>
        <p:spPr>
          <a:xfrm>
            <a:off x="7379208" y="5394960"/>
            <a:ext cx="4197096" cy="201168"/>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WHERE THE 657 OPEN SIT   </a:t>
            </a:r>
            <a:pPr indent="0" marL="0">
              <a:buNone/>
            </a:pPr>
            <a:r>
              <a:rPr lang="en-US" sz="630" dirty="0">
                <a:solidFill>
                  <a:srgbClr val="8FA1AC"/>
                </a:solidFill>
                <a:latin typeface="Poppins" pitchFamily="34" charset="0"/>
                <a:ea typeface="Poppins" pitchFamily="34" charset="-122"/>
                <a:cs typeface="Poppins" pitchFamily="34" charset="-120"/>
              </a:rPr>
              <a:t>the two pending states are counted in</a:t>
            </a:r>
            <a:endParaRPr lang="en-US" sz="950" dirty="0"/>
          </a:p>
        </p:txBody>
      </p:sp>
      <p:sp>
        <p:nvSpPr>
          <p:cNvPr id="177" name="Shape 175"/>
          <p:cNvSpPr/>
          <p:nvPr/>
        </p:nvSpPr>
        <p:spPr>
          <a:xfrm>
            <a:off x="7379208" y="5632704"/>
            <a:ext cx="1001268" cy="420624"/>
          </a:xfrm>
          <a:prstGeom prst="rect">
            <a:avLst/>
          </a:prstGeom>
          <a:solidFill>
            <a:srgbClr val="F2F6F8"/>
          </a:solidFill>
          <a:ln/>
        </p:spPr>
      </p:sp>
      <p:sp>
        <p:nvSpPr>
          <p:cNvPr id="178" name="Text 176"/>
          <p:cNvSpPr txBox="1"/>
          <p:nvPr/>
        </p:nvSpPr>
        <p:spPr>
          <a:xfrm>
            <a:off x="7470648" y="5660136"/>
            <a:ext cx="818388" cy="219456"/>
          </a:xfrm>
          <a:prstGeom prst="rect">
            <a:avLst/>
          </a:prstGeom>
          <a:noFill/>
          <a:ln/>
        </p:spPr>
        <p:txBody>
          <a:bodyPr wrap="square" lIns="0" tIns="0" rIns="0" bIns="0" rtlCol="0" anchor="ctr"/>
          <a:lstStyle/>
          <a:p>
            <a:pPr algn="ctr" indent="0" marL="0">
              <a:buNone/>
            </a:pPr>
            <a:r>
              <a:rPr lang="en-US" sz="1400" b="1" dirty="0">
                <a:solidFill>
                  <a:srgbClr val="12293A"/>
                </a:solidFill>
                <a:latin typeface="Poppins" pitchFamily="34" charset="0"/>
                <a:ea typeface="Poppins" pitchFamily="34" charset="-122"/>
                <a:cs typeface="Poppins" pitchFamily="34" charset="-120"/>
              </a:rPr>
              <a:t>529</a:t>
            </a:r>
            <a:endParaRPr lang="en-US" sz="1400" dirty="0"/>
          </a:p>
        </p:txBody>
      </p:sp>
      <p:sp>
        <p:nvSpPr>
          <p:cNvPr id="179" name="Text 177"/>
          <p:cNvSpPr txBox="1"/>
          <p:nvPr/>
        </p:nvSpPr>
        <p:spPr>
          <a:xfrm>
            <a:off x="7406640" y="5879592"/>
            <a:ext cx="946404" cy="155448"/>
          </a:xfrm>
          <a:prstGeom prst="rect">
            <a:avLst/>
          </a:prstGeom>
          <a:noFill/>
          <a:ln/>
        </p:spPr>
        <p:txBody>
          <a:bodyPr wrap="square" lIns="0" tIns="0" rIns="0" bIns="0" rtlCol="0" anchor="ctr"/>
          <a:lstStyle/>
          <a:p>
            <a:pPr algn="ctr" indent="0" marL="0">
              <a:buNone/>
            </a:pPr>
            <a:r>
              <a:rPr lang="en-US" sz="620" b="1" dirty="0">
                <a:solidFill>
                  <a:srgbClr val="5E7280"/>
                </a:solidFill>
                <a:latin typeface="Poppins" pitchFamily="34" charset="0"/>
                <a:ea typeface="Poppins" pitchFamily="34" charset="-122"/>
                <a:cs typeface="Poppins" pitchFamily="34" charset="-120"/>
              </a:rPr>
              <a:t>NEW</a:t>
            </a:r>
            <a:endParaRPr lang="en-US" sz="620" dirty="0"/>
          </a:p>
        </p:txBody>
      </p:sp>
      <p:sp>
        <p:nvSpPr>
          <p:cNvPr id="180" name="Shape 178"/>
          <p:cNvSpPr/>
          <p:nvPr/>
        </p:nvSpPr>
        <p:spPr>
          <a:xfrm>
            <a:off x="8444484" y="5632704"/>
            <a:ext cx="1001268" cy="420624"/>
          </a:xfrm>
          <a:prstGeom prst="rect">
            <a:avLst/>
          </a:prstGeom>
          <a:solidFill>
            <a:srgbClr val="F2F6F8"/>
          </a:solidFill>
          <a:ln/>
        </p:spPr>
      </p:sp>
      <p:sp>
        <p:nvSpPr>
          <p:cNvPr id="181" name="Text 179"/>
          <p:cNvSpPr txBox="1"/>
          <p:nvPr/>
        </p:nvSpPr>
        <p:spPr>
          <a:xfrm>
            <a:off x="8535924" y="5660136"/>
            <a:ext cx="818388" cy="219456"/>
          </a:xfrm>
          <a:prstGeom prst="rect">
            <a:avLst/>
          </a:prstGeom>
          <a:noFill/>
          <a:ln/>
        </p:spPr>
        <p:txBody>
          <a:bodyPr wrap="square" lIns="0" tIns="0" rIns="0" bIns="0" rtlCol="0" anchor="ctr"/>
          <a:lstStyle/>
          <a:p>
            <a:pPr algn="ctr" indent="0" marL="0">
              <a:buNone/>
            </a:pPr>
            <a:r>
              <a:rPr lang="en-US" sz="1400" b="1" dirty="0">
                <a:solidFill>
                  <a:srgbClr val="12293A"/>
                </a:solidFill>
                <a:latin typeface="Poppins" pitchFamily="34" charset="0"/>
                <a:ea typeface="Poppins" pitchFamily="34" charset="-122"/>
                <a:cs typeface="Poppins" pitchFamily="34" charset="-120"/>
              </a:rPr>
              <a:t>88</a:t>
            </a:r>
            <a:endParaRPr lang="en-US" sz="1400" dirty="0"/>
          </a:p>
        </p:txBody>
      </p:sp>
      <p:sp>
        <p:nvSpPr>
          <p:cNvPr id="182" name="Text 180"/>
          <p:cNvSpPr txBox="1"/>
          <p:nvPr/>
        </p:nvSpPr>
        <p:spPr>
          <a:xfrm>
            <a:off x="8471916" y="5879592"/>
            <a:ext cx="946404" cy="155448"/>
          </a:xfrm>
          <a:prstGeom prst="rect">
            <a:avLst/>
          </a:prstGeom>
          <a:noFill/>
          <a:ln/>
        </p:spPr>
        <p:txBody>
          <a:bodyPr wrap="square" lIns="0" tIns="0" rIns="0" bIns="0" rtlCol="0" anchor="ctr"/>
          <a:lstStyle/>
          <a:p>
            <a:pPr algn="ctr" indent="0" marL="0">
              <a:buNone/>
            </a:pPr>
            <a:r>
              <a:rPr lang="en-US" sz="620" b="1" dirty="0">
                <a:solidFill>
                  <a:srgbClr val="5E7280"/>
                </a:solidFill>
                <a:latin typeface="Poppins" pitchFamily="34" charset="0"/>
                <a:ea typeface="Poppins" pitchFamily="34" charset="-122"/>
                <a:cs typeface="Poppins" pitchFamily="34" charset="-120"/>
              </a:rPr>
              <a:t>IN PROGRESS</a:t>
            </a:r>
            <a:endParaRPr lang="en-US" sz="620" dirty="0"/>
          </a:p>
        </p:txBody>
      </p:sp>
      <p:sp>
        <p:nvSpPr>
          <p:cNvPr id="183" name="Shape 181"/>
          <p:cNvSpPr/>
          <p:nvPr/>
        </p:nvSpPr>
        <p:spPr>
          <a:xfrm>
            <a:off x="9509760" y="5632704"/>
            <a:ext cx="1001268" cy="420624"/>
          </a:xfrm>
          <a:prstGeom prst="rect">
            <a:avLst/>
          </a:prstGeom>
          <a:solidFill>
            <a:srgbClr val="F7EEDF"/>
          </a:solidFill>
          <a:ln/>
        </p:spPr>
      </p:sp>
      <p:sp>
        <p:nvSpPr>
          <p:cNvPr id="184" name="Shape 182"/>
          <p:cNvSpPr/>
          <p:nvPr/>
        </p:nvSpPr>
        <p:spPr>
          <a:xfrm>
            <a:off x="9509760" y="5632704"/>
            <a:ext cx="32004" cy="420624"/>
          </a:xfrm>
          <a:prstGeom prst="rect">
            <a:avLst/>
          </a:prstGeom>
          <a:solidFill>
            <a:srgbClr val="C88A2E"/>
          </a:solidFill>
          <a:ln/>
        </p:spPr>
      </p:sp>
      <p:sp>
        <p:nvSpPr>
          <p:cNvPr id="185" name="Text 183"/>
          <p:cNvSpPr txBox="1"/>
          <p:nvPr/>
        </p:nvSpPr>
        <p:spPr>
          <a:xfrm>
            <a:off x="9601200" y="5660136"/>
            <a:ext cx="818388" cy="219456"/>
          </a:xfrm>
          <a:prstGeom prst="rect">
            <a:avLst/>
          </a:prstGeom>
          <a:noFill/>
          <a:ln/>
        </p:spPr>
        <p:txBody>
          <a:bodyPr wrap="square" lIns="0" tIns="0" rIns="0" bIns="0" rtlCol="0" anchor="ctr"/>
          <a:lstStyle/>
          <a:p>
            <a:pPr algn="ctr" indent="0" marL="0">
              <a:buNone/>
            </a:pPr>
            <a:r>
              <a:rPr lang="en-US" sz="1400" b="1" dirty="0">
                <a:solidFill>
                  <a:srgbClr val="C88A2E"/>
                </a:solidFill>
                <a:latin typeface="Poppins" pitchFamily="34" charset="0"/>
                <a:ea typeface="Poppins" pitchFamily="34" charset="-122"/>
                <a:cs typeface="Poppins" pitchFamily="34" charset="-120"/>
              </a:rPr>
              <a:t>23</a:t>
            </a:r>
            <a:endParaRPr lang="en-US" sz="1400" dirty="0"/>
          </a:p>
        </p:txBody>
      </p:sp>
      <p:sp>
        <p:nvSpPr>
          <p:cNvPr id="186" name="Text 184"/>
          <p:cNvSpPr txBox="1"/>
          <p:nvPr/>
        </p:nvSpPr>
        <p:spPr>
          <a:xfrm>
            <a:off x="9537192" y="5879592"/>
            <a:ext cx="946404" cy="155448"/>
          </a:xfrm>
          <a:prstGeom prst="rect">
            <a:avLst/>
          </a:prstGeom>
          <a:noFill/>
          <a:ln/>
        </p:spPr>
        <p:txBody>
          <a:bodyPr wrap="square" lIns="0" tIns="0" rIns="0" bIns="0" rtlCol="0" anchor="ctr"/>
          <a:lstStyle/>
          <a:p>
            <a:pPr algn="ctr" indent="0" marL="0">
              <a:buNone/>
            </a:pPr>
            <a:r>
              <a:rPr lang="en-US" sz="540" b="1" dirty="0">
                <a:solidFill>
                  <a:srgbClr val="C88A2E"/>
                </a:solidFill>
                <a:latin typeface="Poppins" pitchFamily="34" charset="0"/>
                <a:ea typeface="Poppins" pitchFamily="34" charset="-122"/>
                <a:cs typeface="Poppins" pitchFamily="34" charset="-120"/>
              </a:rPr>
              <a:t>PENDING INTERNAL</a:t>
            </a:r>
            <a:endParaRPr lang="en-US" sz="540" dirty="0"/>
          </a:p>
        </p:txBody>
      </p:sp>
      <p:sp>
        <p:nvSpPr>
          <p:cNvPr id="187" name="Shape 185"/>
          <p:cNvSpPr/>
          <p:nvPr/>
        </p:nvSpPr>
        <p:spPr>
          <a:xfrm>
            <a:off x="10575036" y="5632704"/>
            <a:ext cx="1001268" cy="420624"/>
          </a:xfrm>
          <a:prstGeom prst="rect">
            <a:avLst/>
          </a:prstGeom>
          <a:solidFill>
            <a:srgbClr val="F7EEDF"/>
          </a:solidFill>
          <a:ln/>
        </p:spPr>
      </p:sp>
      <p:sp>
        <p:nvSpPr>
          <p:cNvPr id="188" name="Shape 186"/>
          <p:cNvSpPr/>
          <p:nvPr/>
        </p:nvSpPr>
        <p:spPr>
          <a:xfrm>
            <a:off x="10575036" y="5632704"/>
            <a:ext cx="32004" cy="420624"/>
          </a:xfrm>
          <a:prstGeom prst="rect">
            <a:avLst/>
          </a:prstGeom>
          <a:solidFill>
            <a:srgbClr val="C88A2E"/>
          </a:solidFill>
          <a:ln/>
        </p:spPr>
      </p:sp>
      <p:sp>
        <p:nvSpPr>
          <p:cNvPr id="189" name="Text 187"/>
          <p:cNvSpPr txBox="1"/>
          <p:nvPr/>
        </p:nvSpPr>
        <p:spPr>
          <a:xfrm>
            <a:off x="10666476" y="5660136"/>
            <a:ext cx="818388" cy="219456"/>
          </a:xfrm>
          <a:prstGeom prst="rect">
            <a:avLst/>
          </a:prstGeom>
          <a:noFill/>
          <a:ln/>
        </p:spPr>
        <p:txBody>
          <a:bodyPr wrap="square" lIns="0" tIns="0" rIns="0" bIns="0" rtlCol="0" anchor="ctr"/>
          <a:lstStyle/>
          <a:p>
            <a:pPr algn="ctr" indent="0" marL="0">
              <a:buNone/>
            </a:pPr>
            <a:r>
              <a:rPr lang="en-US" sz="1400" b="1" dirty="0">
                <a:solidFill>
                  <a:srgbClr val="C88A2E"/>
                </a:solidFill>
                <a:latin typeface="Poppins" pitchFamily="34" charset="0"/>
                <a:ea typeface="Poppins" pitchFamily="34" charset="-122"/>
                <a:cs typeface="Poppins" pitchFamily="34" charset="-120"/>
              </a:rPr>
              <a:t>18</a:t>
            </a:r>
            <a:endParaRPr lang="en-US" sz="1400" dirty="0"/>
          </a:p>
        </p:txBody>
      </p:sp>
      <p:sp>
        <p:nvSpPr>
          <p:cNvPr id="190" name="Text 188"/>
          <p:cNvSpPr txBox="1"/>
          <p:nvPr/>
        </p:nvSpPr>
        <p:spPr>
          <a:xfrm>
            <a:off x="10602468" y="5879592"/>
            <a:ext cx="946404" cy="155448"/>
          </a:xfrm>
          <a:prstGeom prst="rect">
            <a:avLst/>
          </a:prstGeom>
          <a:noFill/>
          <a:ln/>
        </p:spPr>
        <p:txBody>
          <a:bodyPr wrap="square" lIns="0" tIns="0" rIns="0" bIns="0" rtlCol="0" anchor="ctr"/>
          <a:lstStyle/>
          <a:p>
            <a:pPr algn="ctr" indent="0" marL="0">
              <a:buNone/>
            </a:pPr>
            <a:r>
              <a:rPr lang="en-US" sz="540" b="1" dirty="0">
                <a:solidFill>
                  <a:srgbClr val="C88A2E"/>
                </a:solidFill>
                <a:latin typeface="Poppins" pitchFamily="34" charset="0"/>
                <a:ea typeface="Poppins" pitchFamily="34" charset="-122"/>
                <a:cs typeface="Poppins" pitchFamily="34" charset="-120"/>
              </a:rPr>
              <a:t>PENDING EXTERNAL</a:t>
            </a:r>
            <a:endParaRPr lang="en-US" sz="540" dirty="0"/>
          </a:p>
        </p:txBody>
      </p:sp>
      <p:sp>
        <p:nvSpPr>
          <p:cNvPr id="191" name="Text 189"/>
          <p:cNvSpPr txBox="1"/>
          <p:nvPr/>
        </p:nvSpPr>
        <p:spPr>
          <a:xfrm>
            <a:off x="7379208" y="6099048"/>
            <a:ext cx="4197096" cy="274320"/>
          </a:xfrm>
          <a:prstGeom prst="rect">
            <a:avLst/>
          </a:prstGeom>
          <a:noFill/>
          <a:ln/>
        </p:spPr>
        <p:txBody>
          <a:bodyPr wrap="square" lIns="0" tIns="0" rIns="0" bIns="0" rtlCol="0" anchor="t"/>
          <a:lstStyle/>
          <a:p>
            <a:pPr indent="0" marL="0">
              <a:buNone/>
            </a:pPr>
            <a:r>
              <a:rPr lang="en-US" sz="640" dirty="0">
                <a:solidFill>
                  <a:srgbClr val="5E7280"/>
                </a:solidFill>
                <a:latin typeface="Poppins" pitchFamily="34" charset="0"/>
                <a:ea typeface="Poppins" pitchFamily="34" charset="-122"/>
                <a:cs typeface="Poppins" pitchFamily="34" charset="-120"/>
              </a:rPr>
              <a:t>Pending Internal and Pending External are inside the 657 — 41 tickets, 6% of it; exclude both and the backlog reads 616. The number to watch is the other end: 529 of 657, 81%, have never left New.</a:t>
            </a:r>
            <a:endParaRPr lang="en-US" sz="640" dirty="0"/>
          </a:p>
        </p:txBody>
      </p:sp>
      <p:sp>
        <p:nvSpPr>
          <p:cNvPr id="192" name="Shape 190"/>
          <p:cNvSpPr/>
          <p:nvPr/>
        </p:nvSpPr>
        <p:spPr>
          <a:xfrm>
            <a:off x="8642909" y="6510528"/>
            <a:ext cx="3134563" cy="256032"/>
          </a:xfrm>
          <a:prstGeom prst="roundRect">
            <a:avLst>
              <a:gd name="adj" fmla="val 46429"/>
            </a:avLst>
          </a:prstGeom>
          <a:solidFill>
            <a:srgbClr val="12293A"/>
          </a:solidFill>
          <a:ln/>
        </p:spPr>
      </p:sp>
      <p:sp>
        <p:nvSpPr>
          <p:cNvPr id="193" name="Text 191"/>
          <p:cNvSpPr txBox="1"/>
          <p:nvPr/>
        </p:nvSpPr>
        <p:spPr>
          <a:xfrm>
            <a:off x="8642909" y="6510528"/>
            <a:ext cx="313456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HubSpot (live) — cut over from Creatio</a:t>
            </a:r>
            <a:endParaRPr lang="en-US" sz="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Q3 Roadmap</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164592" cy="164592"/>
          </a:xfrm>
          <a:prstGeom prst="ellipse">
            <a:avLst/>
          </a:prstGeom>
          <a:solidFill>
            <a:srgbClr val="3D8F5F"/>
          </a:solidFill>
          <a:ln/>
        </p:spPr>
      </p:sp>
      <p:sp>
        <p:nvSpPr>
          <p:cNvPr id="14" name="Text 12"/>
          <p:cNvSpPr txBox="1"/>
          <p:nvPr/>
        </p:nvSpPr>
        <p:spPr>
          <a:xfrm>
            <a:off x="630936"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10 Done</a:t>
            </a:r>
            <a:endParaRPr lang="en-US" sz="1100" dirty="0"/>
          </a:p>
        </p:txBody>
      </p:sp>
      <p:sp>
        <p:nvSpPr>
          <p:cNvPr id="15" name="Shape 13"/>
          <p:cNvSpPr/>
          <p:nvPr/>
        </p:nvSpPr>
        <p:spPr>
          <a:xfrm>
            <a:off x="1595628" y="987552"/>
            <a:ext cx="164592" cy="164592"/>
          </a:xfrm>
          <a:prstGeom prst="ellipse">
            <a:avLst/>
          </a:prstGeom>
          <a:solidFill>
            <a:srgbClr val="C88A2E"/>
          </a:solidFill>
          <a:ln/>
        </p:spPr>
      </p:sp>
      <p:sp>
        <p:nvSpPr>
          <p:cNvPr id="16" name="Text 14"/>
          <p:cNvSpPr txBox="1"/>
          <p:nvPr/>
        </p:nvSpPr>
        <p:spPr>
          <a:xfrm>
            <a:off x="1815084"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12 On Track</a:t>
            </a:r>
            <a:endParaRPr lang="en-US" sz="1100" dirty="0"/>
          </a:p>
        </p:txBody>
      </p:sp>
      <p:sp>
        <p:nvSpPr>
          <p:cNvPr id="17" name="Shape 15"/>
          <p:cNvSpPr/>
          <p:nvPr/>
        </p:nvSpPr>
        <p:spPr>
          <a:xfrm>
            <a:off x="3090672" y="987552"/>
            <a:ext cx="164592" cy="164592"/>
          </a:xfrm>
          <a:prstGeom prst="ellipse">
            <a:avLst/>
          </a:prstGeom>
          <a:solidFill>
            <a:srgbClr val="C7D3DA"/>
          </a:solidFill>
          <a:ln/>
        </p:spPr>
      </p:sp>
      <p:sp>
        <p:nvSpPr>
          <p:cNvPr id="18" name="Text 16"/>
          <p:cNvSpPr txBox="1"/>
          <p:nvPr/>
        </p:nvSpPr>
        <p:spPr>
          <a:xfrm>
            <a:off x="3310128"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3 Not Started</a:t>
            </a:r>
            <a:endParaRPr lang="en-US" sz="1100" dirty="0"/>
          </a:p>
        </p:txBody>
      </p:sp>
      <p:sp>
        <p:nvSpPr>
          <p:cNvPr id="19" name="Shape 17"/>
          <p:cNvSpPr/>
          <p:nvPr/>
        </p:nvSpPr>
        <p:spPr>
          <a:xfrm>
            <a:off x="4741164" y="987552"/>
            <a:ext cx="164592" cy="164592"/>
          </a:xfrm>
          <a:prstGeom prst="ellipse">
            <a:avLst/>
          </a:prstGeom>
          <a:solidFill>
            <a:srgbClr val="B4552D"/>
          </a:solidFill>
          <a:ln/>
        </p:spPr>
      </p:sp>
      <p:sp>
        <p:nvSpPr>
          <p:cNvPr id="20" name="Text 18"/>
          <p:cNvSpPr txBox="1"/>
          <p:nvPr/>
        </p:nvSpPr>
        <p:spPr>
          <a:xfrm>
            <a:off x="4960620" y="914400"/>
            <a:ext cx="1463040" cy="292608"/>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2 At risk</a:t>
            </a:r>
            <a:endParaRPr lang="en-US" sz="1100" dirty="0"/>
          </a:p>
        </p:txBody>
      </p:sp>
      <p:sp>
        <p:nvSpPr>
          <p:cNvPr id="21" name="Text 19"/>
          <p:cNvSpPr txBox="1"/>
          <p:nvPr/>
        </p:nvSpPr>
        <p:spPr>
          <a:xfrm>
            <a:off x="6080760" y="914400"/>
            <a:ext cx="2377440" cy="292608"/>
          </a:xfrm>
          <a:prstGeom prst="rect">
            <a:avLst/>
          </a:prstGeom>
          <a:noFill/>
          <a:ln/>
        </p:spPr>
        <p:txBody>
          <a:bodyPr wrap="square" lIns="0" tIns="0" rIns="0" bIns="0" rtlCol="0" anchor="ctr"/>
          <a:lstStyle/>
          <a:p>
            <a:pPr indent="0" marL="0">
              <a:buNone/>
            </a:pPr>
            <a:r>
              <a:rPr lang="en-US" sz="950" dirty="0">
                <a:solidFill>
                  <a:srgbClr val="8FA1AC"/>
                </a:solidFill>
                <a:latin typeface="Poppins" pitchFamily="34" charset="0"/>
                <a:ea typeface="Poppins" pitchFamily="34" charset="-122"/>
                <a:cs typeface="Poppins" pitchFamily="34" charset="-120"/>
              </a:rPr>
              <a:t>· 27 items across 6 sprints</a:t>
            </a:r>
            <a:endParaRPr lang="en-US" sz="950" dirty="0"/>
          </a:p>
        </p:txBody>
      </p:sp>
      <p:sp>
        <p:nvSpPr>
          <p:cNvPr id="22" name="Text 20"/>
          <p:cNvSpPr txBox="1"/>
          <p:nvPr/>
        </p:nvSpPr>
        <p:spPr>
          <a:xfrm>
            <a:off x="379476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wk1-2</a:t>
            </a:r>
            <a:endParaRPr lang="en-US" sz="900" dirty="0"/>
          </a:p>
        </p:txBody>
      </p:sp>
      <p:sp>
        <p:nvSpPr>
          <p:cNvPr id="23" name="Text 21"/>
          <p:cNvSpPr txBox="1"/>
          <p:nvPr/>
        </p:nvSpPr>
        <p:spPr>
          <a:xfrm>
            <a:off x="5125212"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Jul wk3-4</a:t>
            </a:r>
            <a:endParaRPr lang="en-US" sz="900" dirty="0"/>
          </a:p>
        </p:txBody>
      </p:sp>
      <p:sp>
        <p:nvSpPr>
          <p:cNvPr id="24" name="Text 22"/>
          <p:cNvSpPr txBox="1"/>
          <p:nvPr/>
        </p:nvSpPr>
        <p:spPr>
          <a:xfrm>
            <a:off x="6455664"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wk1-2</a:t>
            </a:r>
            <a:endParaRPr lang="en-US" sz="900" dirty="0"/>
          </a:p>
        </p:txBody>
      </p:sp>
      <p:sp>
        <p:nvSpPr>
          <p:cNvPr id="25" name="Text 23"/>
          <p:cNvSpPr txBox="1"/>
          <p:nvPr/>
        </p:nvSpPr>
        <p:spPr>
          <a:xfrm>
            <a:off x="7786116"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Aug wk3-4</a:t>
            </a:r>
            <a:endParaRPr lang="en-US" sz="900" dirty="0"/>
          </a:p>
        </p:txBody>
      </p:sp>
      <p:sp>
        <p:nvSpPr>
          <p:cNvPr id="26" name="Text 24"/>
          <p:cNvSpPr txBox="1"/>
          <p:nvPr/>
        </p:nvSpPr>
        <p:spPr>
          <a:xfrm>
            <a:off x="9116568"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wk1-2</a:t>
            </a:r>
            <a:endParaRPr lang="en-US" sz="900" dirty="0"/>
          </a:p>
        </p:txBody>
      </p:sp>
      <p:sp>
        <p:nvSpPr>
          <p:cNvPr id="27" name="Text 25"/>
          <p:cNvSpPr txBox="1"/>
          <p:nvPr/>
        </p:nvSpPr>
        <p:spPr>
          <a:xfrm>
            <a:off x="10447020" y="1261872"/>
            <a:ext cx="1330452" cy="237744"/>
          </a:xfrm>
          <a:prstGeom prst="rect">
            <a:avLst/>
          </a:prstGeom>
          <a:noFill/>
          <a:ln/>
        </p:spPr>
        <p:txBody>
          <a:bodyPr wrap="square" lIns="0" tIns="0" rIns="0" bIns="0" rtlCol="0" anchor="ctr"/>
          <a:lstStyle/>
          <a:p>
            <a:pPr algn="ctr" indent="0" marL="0">
              <a:buNone/>
            </a:pPr>
            <a:r>
              <a:rPr lang="en-US" sz="900" b="1" dirty="0">
                <a:solidFill>
                  <a:srgbClr val="2C8394"/>
                </a:solidFill>
                <a:latin typeface="Poppins" pitchFamily="34" charset="0"/>
                <a:ea typeface="Poppins" pitchFamily="34" charset="-122"/>
                <a:cs typeface="Poppins" pitchFamily="34" charset="-120"/>
              </a:rPr>
              <a:t>Sep wk3-4</a:t>
            </a:r>
            <a:endParaRPr lang="en-US" sz="900" dirty="0"/>
          </a:p>
        </p:txBody>
      </p:sp>
      <p:sp>
        <p:nvSpPr>
          <p:cNvPr id="28" name="Shape 26"/>
          <p:cNvSpPr/>
          <p:nvPr/>
        </p:nvSpPr>
        <p:spPr>
          <a:xfrm>
            <a:off x="411480" y="1572768"/>
            <a:ext cx="11365992" cy="175565"/>
          </a:xfrm>
          <a:prstGeom prst="rect">
            <a:avLst/>
          </a:prstGeom>
          <a:solidFill>
            <a:srgbClr val="FFFFFF"/>
          </a:solidFill>
          <a:ln/>
        </p:spPr>
      </p:sp>
      <p:sp>
        <p:nvSpPr>
          <p:cNvPr id="29" name="Text 27"/>
          <p:cNvSpPr txBox="1"/>
          <p:nvPr/>
        </p:nvSpPr>
        <p:spPr>
          <a:xfrm>
            <a:off x="457200" y="157276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Phase 1B</a:t>
            </a:r>
            <a:endParaRPr lang="en-US" sz="730" dirty="0"/>
          </a:p>
        </p:txBody>
      </p:sp>
      <p:sp>
        <p:nvSpPr>
          <p:cNvPr id="30" name="Shape 28"/>
          <p:cNvSpPr/>
          <p:nvPr/>
        </p:nvSpPr>
        <p:spPr>
          <a:xfrm>
            <a:off x="3794760" y="1591056"/>
            <a:ext cx="10973" cy="148133"/>
          </a:xfrm>
          <a:prstGeom prst="rect">
            <a:avLst/>
          </a:prstGeom>
          <a:solidFill>
            <a:srgbClr val="E2EAEE"/>
          </a:solidFill>
          <a:ln/>
        </p:spPr>
      </p:sp>
      <p:sp>
        <p:nvSpPr>
          <p:cNvPr id="31" name="Shape 29"/>
          <p:cNvSpPr/>
          <p:nvPr/>
        </p:nvSpPr>
        <p:spPr>
          <a:xfrm>
            <a:off x="5125212" y="1591056"/>
            <a:ext cx="10973" cy="148133"/>
          </a:xfrm>
          <a:prstGeom prst="rect">
            <a:avLst/>
          </a:prstGeom>
          <a:solidFill>
            <a:srgbClr val="E2EAEE"/>
          </a:solidFill>
          <a:ln/>
        </p:spPr>
      </p:sp>
      <p:sp>
        <p:nvSpPr>
          <p:cNvPr id="32" name="Shape 30"/>
          <p:cNvSpPr/>
          <p:nvPr/>
        </p:nvSpPr>
        <p:spPr>
          <a:xfrm>
            <a:off x="6455664" y="1591056"/>
            <a:ext cx="10973" cy="148133"/>
          </a:xfrm>
          <a:prstGeom prst="rect">
            <a:avLst/>
          </a:prstGeom>
          <a:solidFill>
            <a:srgbClr val="E2EAEE"/>
          </a:solidFill>
          <a:ln/>
        </p:spPr>
      </p:sp>
      <p:sp>
        <p:nvSpPr>
          <p:cNvPr id="33" name="Shape 31"/>
          <p:cNvSpPr/>
          <p:nvPr/>
        </p:nvSpPr>
        <p:spPr>
          <a:xfrm>
            <a:off x="7786116" y="1591056"/>
            <a:ext cx="10973" cy="148133"/>
          </a:xfrm>
          <a:prstGeom prst="rect">
            <a:avLst/>
          </a:prstGeom>
          <a:solidFill>
            <a:srgbClr val="E2EAEE"/>
          </a:solidFill>
          <a:ln/>
        </p:spPr>
      </p:sp>
      <p:sp>
        <p:nvSpPr>
          <p:cNvPr id="34" name="Shape 32"/>
          <p:cNvSpPr/>
          <p:nvPr/>
        </p:nvSpPr>
        <p:spPr>
          <a:xfrm>
            <a:off x="9116568" y="1591056"/>
            <a:ext cx="10973" cy="148133"/>
          </a:xfrm>
          <a:prstGeom prst="rect">
            <a:avLst/>
          </a:prstGeom>
          <a:solidFill>
            <a:srgbClr val="E2EAEE"/>
          </a:solidFill>
          <a:ln/>
        </p:spPr>
      </p:sp>
      <p:sp>
        <p:nvSpPr>
          <p:cNvPr id="35" name="Shape 33"/>
          <p:cNvSpPr/>
          <p:nvPr/>
        </p:nvSpPr>
        <p:spPr>
          <a:xfrm>
            <a:off x="10447020" y="1591056"/>
            <a:ext cx="10973" cy="148133"/>
          </a:xfrm>
          <a:prstGeom prst="rect">
            <a:avLst/>
          </a:prstGeom>
          <a:solidFill>
            <a:srgbClr val="E2EAEE"/>
          </a:solidFill>
          <a:ln/>
        </p:spPr>
      </p:sp>
      <p:sp>
        <p:nvSpPr>
          <p:cNvPr id="36" name="Shape 34"/>
          <p:cNvSpPr/>
          <p:nvPr/>
        </p:nvSpPr>
        <p:spPr>
          <a:xfrm>
            <a:off x="3822192" y="1592885"/>
            <a:ext cx="1275588" cy="129845"/>
          </a:xfrm>
          <a:prstGeom prst="roundRect">
            <a:avLst>
              <a:gd name="adj" fmla="val 45775"/>
            </a:avLst>
          </a:prstGeom>
          <a:solidFill>
            <a:srgbClr val="3D8F5F"/>
          </a:solidFill>
          <a:ln/>
        </p:spPr>
      </p:sp>
      <p:sp>
        <p:nvSpPr>
          <p:cNvPr id="37" name="Text 35"/>
          <p:cNvSpPr txBox="1"/>
          <p:nvPr/>
        </p:nvSpPr>
        <p:spPr>
          <a:xfrm>
            <a:off x="3895344" y="158008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38" name="Text 36"/>
          <p:cNvSpPr txBox="1"/>
          <p:nvPr/>
        </p:nvSpPr>
        <p:spPr>
          <a:xfrm>
            <a:off x="457200" y="174833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Order at Bar</a:t>
            </a:r>
            <a:endParaRPr lang="en-US" sz="730" dirty="0"/>
          </a:p>
        </p:txBody>
      </p:sp>
      <p:sp>
        <p:nvSpPr>
          <p:cNvPr id="39" name="Shape 37"/>
          <p:cNvSpPr/>
          <p:nvPr/>
        </p:nvSpPr>
        <p:spPr>
          <a:xfrm>
            <a:off x="3794760" y="1766621"/>
            <a:ext cx="10973" cy="148133"/>
          </a:xfrm>
          <a:prstGeom prst="rect">
            <a:avLst/>
          </a:prstGeom>
          <a:solidFill>
            <a:srgbClr val="E2EAEE"/>
          </a:solidFill>
          <a:ln/>
        </p:spPr>
      </p:sp>
      <p:sp>
        <p:nvSpPr>
          <p:cNvPr id="40" name="Shape 38"/>
          <p:cNvSpPr/>
          <p:nvPr/>
        </p:nvSpPr>
        <p:spPr>
          <a:xfrm>
            <a:off x="5125212" y="1766621"/>
            <a:ext cx="10973" cy="148133"/>
          </a:xfrm>
          <a:prstGeom prst="rect">
            <a:avLst/>
          </a:prstGeom>
          <a:solidFill>
            <a:srgbClr val="E2EAEE"/>
          </a:solidFill>
          <a:ln/>
        </p:spPr>
      </p:sp>
      <p:sp>
        <p:nvSpPr>
          <p:cNvPr id="41" name="Shape 39"/>
          <p:cNvSpPr/>
          <p:nvPr/>
        </p:nvSpPr>
        <p:spPr>
          <a:xfrm>
            <a:off x="6455664" y="1766621"/>
            <a:ext cx="10973" cy="148133"/>
          </a:xfrm>
          <a:prstGeom prst="rect">
            <a:avLst/>
          </a:prstGeom>
          <a:solidFill>
            <a:srgbClr val="E2EAEE"/>
          </a:solidFill>
          <a:ln/>
        </p:spPr>
      </p:sp>
      <p:sp>
        <p:nvSpPr>
          <p:cNvPr id="42" name="Shape 40"/>
          <p:cNvSpPr/>
          <p:nvPr/>
        </p:nvSpPr>
        <p:spPr>
          <a:xfrm>
            <a:off x="7786116" y="1766621"/>
            <a:ext cx="10973" cy="148133"/>
          </a:xfrm>
          <a:prstGeom prst="rect">
            <a:avLst/>
          </a:prstGeom>
          <a:solidFill>
            <a:srgbClr val="E2EAEE"/>
          </a:solidFill>
          <a:ln/>
        </p:spPr>
      </p:sp>
      <p:sp>
        <p:nvSpPr>
          <p:cNvPr id="43" name="Shape 41"/>
          <p:cNvSpPr/>
          <p:nvPr/>
        </p:nvSpPr>
        <p:spPr>
          <a:xfrm>
            <a:off x="9116568" y="1766621"/>
            <a:ext cx="10973" cy="148133"/>
          </a:xfrm>
          <a:prstGeom prst="rect">
            <a:avLst/>
          </a:prstGeom>
          <a:solidFill>
            <a:srgbClr val="E2EAEE"/>
          </a:solidFill>
          <a:ln/>
        </p:spPr>
      </p:sp>
      <p:sp>
        <p:nvSpPr>
          <p:cNvPr id="44" name="Shape 42"/>
          <p:cNvSpPr/>
          <p:nvPr/>
        </p:nvSpPr>
        <p:spPr>
          <a:xfrm>
            <a:off x="10447020" y="1766621"/>
            <a:ext cx="10973" cy="148133"/>
          </a:xfrm>
          <a:prstGeom prst="rect">
            <a:avLst/>
          </a:prstGeom>
          <a:solidFill>
            <a:srgbClr val="E2EAEE"/>
          </a:solidFill>
          <a:ln/>
        </p:spPr>
      </p:sp>
      <p:sp>
        <p:nvSpPr>
          <p:cNvPr id="45" name="Shape 43"/>
          <p:cNvSpPr/>
          <p:nvPr/>
        </p:nvSpPr>
        <p:spPr>
          <a:xfrm>
            <a:off x="3822192" y="1768450"/>
            <a:ext cx="1275588" cy="129845"/>
          </a:xfrm>
          <a:prstGeom prst="roundRect">
            <a:avLst>
              <a:gd name="adj" fmla="val 45775"/>
            </a:avLst>
          </a:prstGeom>
          <a:solidFill>
            <a:srgbClr val="3D8F5F"/>
          </a:solidFill>
          <a:ln/>
        </p:spPr>
      </p:sp>
      <p:sp>
        <p:nvSpPr>
          <p:cNvPr id="46" name="Text 44"/>
          <p:cNvSpPr txBox="1"/>
          <p:nvPr/>
        </p:nvSpPr>
        <p:spPr>
          <a:xfrm>
            <a:off x="3895344" y="1755648"/>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47" name="Shape 45"/>
          <p:cNvSpPr/>
          <p:nvPr/>
        </p:nvSpPr>
        <p:spPr>
          <a:xfrm>
            <a:off x="411480" y="1923898"/>
            <a:ext cx="11365992" cy="175565"/>
          </a:xfrm>
          <a:prstGeom prst="rect">
            <a:avLst/>
          </a:prstGeom>
          <a:solidFill>
            <a:srgbClr val="FFFFFF"/>
          </a:solidFill>
          <a:ln/>
        </p:spPr>
      </p:sp>
      <p:sp>
        <p:nvSpPr>
          <p:cNvPr id="48" name="Text 46"/>
          <p:cNvSpPr txBox="1"/>
          <p:nvPr/>
        </p:nvSpPr>
        <p:spPr>
          <a:xfrm>
            <a:off x="457200" y="192389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WebOrders Reference/BatchID Capture</a:t>
            </a:r>
            <a:endParaRPr lang="en-US" sz="730" dirty="0"/>
          </a:p>
        </p:txBody>
      </p:sp>
      <p:sp>
        <p:nvSpPr>
          <p:cNvPr id="49" name="Shape 47"/>
          <p:cNvSpPr/>
          <p:nvPr/>
        </p:nvSpPr>
        <p:spPr>
          <a:xfrm>
            <a:off x="3794760" y="1942186"/>
            <a:ext cx="10973" cy="148133"/>
          </a:xfrm>
          <a:prstGeom prst="rect">
            <a:avLst/>
          </a:prstGeom>
          <a:solidFill>
            <a:srgbClr val="E2EAEE"/>
          </a:solidFill>
          <a:ln/>
        </p:spPr>
      </p:sp>
      <p:sp>
        <p:nvSpPr>
          <p:cNvPr id="50" name="Shape 48"/>
          <p:cNvSpPr/>
          <p:nvPr/>
        </p:nvSpPr>
        <p:spPr>
          <a:xfrm>
            <a:off x="5125212" y="1942186"/>
            <a:ext cx="10973" cy="148133"/>
          </a:xfrm>
          <a:prstGeom prst="rect">
            <a:avLst/>
          </a:prstGeom>
          <a:solidFill>
            <a:srgbClr val="E2EAEE"/>
          </a:solidFill>
          <a:ln/>
        </p:spPr>
      </p:sp>
      <p:sp>
        <p:nvSpPr>
          <p:cNvPr id="51" name="Shape 49"/>
          <p:cNvSpPr/>
          <p:nvPr/>
        </p:nvSpPr>
        <p:spPr>
          <a:xfrm>
            <a:off x="6455664" y="1942186"/>
            <a:ext cx="10973" cy="148133"/>
          </a:xfrm>
          <a:prstGeom prst="rect">
            <a:avLst/>
          </a:prstGeom>
          <a:solidFill>
            <a:srgbClr val="E2EAEE"/>
          </a:solidFill>
          <a:ln/>
        </p:spPr>
      </p:sp>
      <p:sp>
        <p:nvSpPr>
          <p:cNvPr id="52" name="Shape 50"/>
          <p:cNvSpPr/>
          <p:nvPr/>
        </p:nvSpPr>
        <p:spPr>
          <a:xfrm>
            <a:off x="7786116" y="1942186"/>
            <a:ext cx="10973" cy="148133"/>
          </a:xfrm>
          <a:prstGeom prst="rect">
            <a:avLst/>
          </a:prstGeom>
          <a:solidFill>
            <a:srgbClr val="E2EAEE"/>
          </a:solidFill>
          <a:ln/>
        </p:spPr>
      </p:sp>
      <p:sp>
        <p:nvSpPr>
          <p:cNvPr id="53" name="Shape 51"/>
          <p:cNvSpPr/>
          <p:nvPr/>
        </p:nvSpPr>
        <p:spPr>
          <a:xfrm>
            <a:off x="9116568" y="1942186"/>
            <a:ext cx="10973" cy="148133"/>
          </a:xfrm>
          <a:prstGeom prst="rect">
            <a:avLst/>
          </a:prstGeom>
          <a:solidFill>
            <a:srgbClr val="E2EAEE"/>
          </a:solidFill>
          <a:ln/>
        </p:spPr>
      </p:sp>
      <p:sp>
        <p:nvSpPr>
          <p:cNvPr id="54" name="Shape 52"/>
          <p:cNvSpPr/>
          <p:nvPr/>
        </p:nvSpPr>
        <p:spPr>
          <a:xfrm>
            <a:off x="10447020" y="1942186"/>
            <a:ext cx="10973" cy="148133"/>
          </a:xfrm>
          <a:prstGeom prst="rect">
            <a:avLst/>
          </a:prstGeom>
          <a:solidFill>
            <a:srgbClr val="E2EAEE"/>
          </a:solidFill>
          <a:ln/>
        </p:spPr>
      </p:sp>
      <p:sp>
        <p:nvSpPr>
          <p:cNvPr id="55" name="Shape 53"/>
          <p:cNvSpPr/>
          <p:nvPr/>
        </p:nvSpPr>
        <p:spPr>
          <a:xfrm>
            <a:off x="5152644" y="1944014"/>
            <a:ext cx="1275588" cy="129845"/>
          </a:xfrm>
          <a:prstGeom prst="roundRect">
            <a:avLst>
              <a:gd name="adj" fmla="val 45775"/>
            </a:avLst>
          </a:prstGeom>
          <a:solidFill>
            <a:srgbClr val="3D8F5F"/>
          </a:solidFill>
          <a:ln/>
        </p:spPr>
      </p:sp>
      <p:sp>
        <p:nvSpPr>
          <p:cNvPr id="56" name="Text 54"/>
          <p:cNvSpPr txBox="1"/>
          <p:nvPr/>
        </p:nvSpPr>
        <p:spPr>
          <a:xfrm>
            <a:off x="5225796" y="1931213"/>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57" name="Text 55"/>
          <p:cNvSpPr txBox="1"/>
          <p:nvPr/>
        </p:nvSpPr>
        <p:spPr>
          <a:xfrm>
            <a:off x="457200" y="209946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Eonx API Uplift</a:t>
            </a:r>
            <a:endParaRPr lang="en-US" sz="730" dirty="0"/>
          </a:p>
        </p:txBody>
      </p:sp>
      <p:sp>
        <p:nvSpPr>
          <p:cNvPr id="58" name="Shape 56"/>
          <p:cNvSpPr/>
          <p:nvPr/>
        </p:nvSpPr>
        <p:spPr>
          <a:xfrm>
            <a:off x="3794760" y="2117750"/>
            <a:ext cx="10973" cy="148133"/>
          </a:xfrm>
          <a:prstGeom prst="rect">
            <a:avLst/>
          </a:prstGeom>
          <a:solidFill>
            <a:srgbClr val="E2EAEE"/>
          </a:solidFill>
          <a:ln/>
        </p:spPr>
      </p:sp>
      <p:sp>
        <p:nvSpPr>
          <p:cNvPr id="59" name="Shape 57"/>
          <p:cNvSpPr/>
          <p:nvPr/>
        </p:nvSpPr>
        <p:spPr>
          <a:xfrm>
            <a:off x="5125212" y="2117750"/>
            <a:ext cx="10973" cy="148133"/>
          </a:xfrm>
          <a:prstGeom prst="rect">
            <a:avLst/>
          </a:prstGeom>
          <a:solidFill>
            <a:srgbClr val="E2EAEE"/>
          </a:solidFill>
          <a:ln/>
        </p:spPr>
      </p:sp>
      <p:sp>
        <p:nvSpPr>
          <p:cNvPr id="60" name="Shape 58"/>
          <p:cNvSpPr/>
          <p:nvPr/>
        </p:nvSpPr>
        <p:spPr>
          <a:xfrm>
            <a:off x="6455664" y="2117750"/>
            <a:ext cx="10973" cy="148133"/>
          </a:xfrm>
          <a:prstGeom prst="rect">
            <a:avLst/>
          </a:prstGeom>
          <a:solidFill>
            <a:srgbClr val="E2EAEE"/>
          </a:solidFill>
          <a:ln/>
        </p:spPr>
      </p:sp>
      <p:sp>
        <p:nvSpPr>
          <p:cNvPr id="61" name="Shape 59"/>
          <p:cNvSpPr/>
          <p:nvPr/>
        </p:nvSpPr>
        <p:spPr>
          <a:xfrm>
            <a:off x="7786116" y="2117750"/>
            <a:ext cx="10973" cy="148133"/>
          </a:xfrm>
          <a:prstGeom prst="rect">
            <a:avLst/>
          </a:prstGeom>
          <a:solidFill>
            <a:srgbClr val="E2EAEE"/>
          </a:solidFill>
          <a:ln/>
        </p:spPr>
      </p:sp>
      <p:sp>
        <p:nvSpPr>
          <p:cNvPr id="62" name="Shape 60"/>
          <p:cNvSpPr/>
          <p:nvPr/>
        </p:nvSpPr>
        <p:spPr>
          <a:xfrm>
            <a:off x="9116568" y="2117750"/>
            <a:ext cx="10973" cy="148133"/>
          </a:xfrm>
          <a:prstGeom prst="rect">
            <a:avLst/>
          </a:prstGeom>
          <a:solidFill>
            <a:srgbClr val="E2EAEE"/>
          </a:solidFill>
          <a:ln/>
        </p:spPr>
      </p:sp>
      <p:sp>
        <p:nvSpPr>
          <p:cNvPr id="63" name="Shape 61"/>
          <p:cNvSpPr/>
          <p:nvPr/>
        </p:nvSpPr>
        <p:spPr>
          <a:xfrm>
            <a:off x="10447020" y="2117750"/>
            <a:ext cx="10973" cy="148133"/>
          </a:xfrm>
          <a:prstGeom prst="rect">
            <a:avLst/>
          </a:prstGeom>
          <a:solidFill>
            <a:srgbClr val="E2EAEE"/>
          </a:solidFill>
          <a:ln/>
        </p:spPr>
      </p:sp>
      <p:sp>
        <p:nvSpPr>
          <p:cNvPr id="64" name="Shape 62"/>
          <p:cNvSpPr/>
          <p:nvPr/>
        </p:nvSpPr>
        <p:spPr>
          <a:xfrm>
            <a:off x="6483096" y="2119579"/>
            <a:ext cx="2606040" cy="129845"/>
          </a:xfrm>
          <a:prstGeom prst="roundRect">
            <a:avLst>
              <a:gd name="adj" fmla="val 45775"/>
            </a:avLst>
          </a:prstGeom>
          <a:solidFill>
            <a:srgbClr val="C88A2E"/>
          </a:solidFill>
          <a:ln/>
        </p:spPr>
      </p:sp>
      <p:sp>
        <p:nvSpPr>
          <p:cNvPr id="65" name="Text 63"/>
          <p:cNvSpPr txBox="1"/>
          <p:nvPr/>
        </p:nvSpPr>
        <p:spPr>
          <a:xfrm>
            <a:off x="6556248" y="210677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66" name="Shape 64"/>
          <p:cNvSpPr/>
          <p:nvPr/>
        </p:nvSpPr>
        <p:spPr>
          <a:xfrm>
            <a:off x="411480" y="2275027"/>
            <a:ext cx="11365992" cy="175565"/>
          </a:xfrm>
          <a:prstGeom prst="rect">
            <a:avLst/>
          </a:prstGeom>
          <a:solidFill>
            <a:srgbClr val="FFFFFF"/>
          </a:solidFill>
          <a:ln/>
        </p:spPr>
      </p:sp>
      <p:sp>
        <p:nvSpPr>
          <p:cNvPr id="67" name="Text 65"/>
          <p:cNvSpPr txBox="1"/>
          <p:nvPr/>
        </p:nvSpPr>
        <p:spPr>
          <a:xfrm>
            <a:off x="457200" y="227502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Onxy Gaming</a:t>
            </a:r>
            <a:endParaRPr lang="en-US" sz="730" dirty="0"/>
          </a:p>
        </p:txBody>
      </p:sp>
      <p:sp>
        <p:nvSpPr>
          <p:cNvPr id="68" name="Shape 66"/>
          <p:cNvSpPr/>
          <p:nvPr/>
        </p:nvSpPr>
        <p:spPr>
          <a:xfrm>
            <a:off x="3794760" y="2293315"/>
            <a:ext cx="10973" cy="148133"/>
          </a:xfrm>
          <a:prstGeom prst="rect">
            <a:avLst/>
          </a:prstGeom>
          <a:solidFill>
            <a:srgbClr val="E2EAEE"/>
          </a:solidFill>
          <a:ln/>
        </p:spPr>
      </p:sp>
      <p:sp>
        <p:nvSpPr>
          <p:cNvPr id="69" name="Shape 67"/>
          <p:cNvSpPr/>
          <p:nvPr/>
        </p:nvSpPr>
        <p:spPr>
          <a:xfrm>
            <a:off x="5125212" y="2293315"/>
            <a:ext cx="10973" cy="148133"/>
          </a:xfrm>
          <a:prstGeom prst="rect">
            <a:avLst/>
          </a:prstGeom>
          <a:solidFill>
            <a:srgbClr val="E2EAEE"/>
          </a:solidFill>
          <a:ln/>
        </p:spPr>
      </p:sp>
      <p:sp>
        <p:nvSpPr>
          <p:cNvPr id="70" name="Shape 68"/>
          <p:cNvSpPr/>
          <p:nvPr/>
        </p:nvSpPr>
        <p:spPr>
          <a:xfrm>
            <a:off x="6455664" y="2293315"/>
            <a:ext cx="10973" cy="148133"/>
          </a:xfrm>
          <a:prstGeom prst="rect">
            <a:avLst/>
          </a:prstGeom>
          <a:solidFill>
            <a:srgbClr val="E2EAEE"/>
          </a:solidFill>
          <a:ln/>
        </p:spPr>
      </p:sp>
      <p:sp>
        <p:nvSpPr>
          <p:cNvPr id="71" name="Shape 69"/>
          <p:cNvSpPr/>
          <p:nvPr/>
        </p:nvSpPr>
        <p:spPr>
          <a:xfrm>
            <a:off x="7786116" y="2293315"/>
            <a:ext cx="10973" cy="148133"/>
          </a:xfrm>
          <a:prstGeom prst="rect">
            <a:avLst/>
          </a:prstGeom>
          <a:solidFill>
            <a:srgbClr val="E2EAEE"/>
          </a:solidFill>
          <a:ln/>
        </p:spPr>
      </p:sp>
      <p:sp>
        <p:nvSpPr>
          <p:cNvPr id="72" name="Shape 70"/>
          <p:cNvSpPr/>
          <p:nvPr/>
        </p:nvSpPr>
        <p:spPr>
          <a:xfrm>
            <a:off x="9116568" y="2293315"/>
            <a:ext cx="10973" cy="148133"/>
          </a:xfrm>
          <a:prstGeom prst="rect">
            <a:avLst/>
          </a:prstGeom>
          <a:solidFill>
            <a:srgbClr val="E2EAEE"/>
          </a:solidFill>
          <a:ln/>
        </p:spPr>
      </p:sp>
      <p:sp>
        <p:nvSpPr>
          <p:cNvPr id="73" name="Shape 71"/>
          <p:cNvSpPr/>
          <p:nvPr/>
        </p:nvSpPr>
        <p:spPr>
          <a:xfrm>
            <a:off x="10447020" y="2293315"/>
            <a:ext cx="10973" cy="148133"/>
          </a:xfrm>
          <a:prstGeom prst="rect">
            <a:avLst/>
          </a:prstGeom>
          <a:solidFill>
            <a:srgbClr val="E2EAEE"/>
          </a:solidFill>
          <a:ln/>
        </p:spPr>
      </p:sp>
      <p:sp>
        <p:nvSpPr>
          <p:cNvPr id="74" name="Shape 72"/>
          <p:cNvSpPr/>
          <p:nvPr/>
        </p:nvSpPr>
        <p:spPr>
          <a:xfrm>
            <a:off x="3822192" y="2295144"/>
            <a:ext cx="1275588" cy="129845"/>
          </a:xfrm>
          <a:prstGeom prst="roundRect">
            <a:avLst>
              <a:gd name="adj" fmla="val 45775"/>
            </a:avLst>
          </a:prstGeom>
          <a:solidFill>
            <a:srgbClr val="3D8F5F"/>
          </a:solidFill>
          <a:ln/>
        </p:spPr>
      </p:sp>
      <p:sp>
        <p:nvSpPr>
          <p:cNvPr id="75" name="Text 73"/>
          <p:cNvSpPr txBox="1"/>
          <p:nvPr/>
        </p:nvSpPr>
        <p:spPr>
          <a:xfrm>
            <a:off x="3895344" y="228234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76" name="Text 74"/>
          <p:cNvSpPr txBox="1"/>
          <p:nvPr/>
        </p:nvSpPr>
        <p:spPr>
          <a:xfrm>
            <a:off x="457200" y="245059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SCIS Stock Movement</a:t>
            </a:r>
            <a:endParaRPr lang="en-US" sz="730" dirty="0"/>
          </a:p>
        </p:txBody>
      </p:sp>
      <p:sp>
        <p:nvSpPr>
          <p:cNvPr id="77" name="Shape 75"/>
          <p:cNvSpPr/>
          <p:nvPr/>
        </p:nvSpPr>
        <p:spPr>
          <a:xfrm>
            <a:off x="3794760" y="2468880"/>
            <a:ext cx="10973" cy="148133"/>
          </a:xfrm>
          <a:prstGeom prst="rect">
            <a:avLst/>
          </a:prstGeom>
          <a:solidFill>
            <a:srgbClr val="E2EAEE"/>
          </a:solidFill>
          <a:ln/>
        </p:spPr>
      </p:sp>
      <p:sp>
        <p:nvSpPr>
          <p:cNvPr id="78" name="Shape 76"/>
          <p:cNvSpPr/>
          <p:nvPr/>
        </p:nvSpPr>
        <p:spPr>
          <a:xfrm>
            <a:off x="5125212" y="2468880"/>
            <a:ext cx="10973" cy="148133"/>
          </a:xfrm>
          <a:prstGeom prst="rect">
            <a:avLst/>
          </a:prstGeom>
          <a:solidFill>
            <a:srgbClr val="E2EAEE"/>
          </a:solidFill>
          <a:ln/>
        </p:spPr>
      </p:sp>
      <p:sp>
        <p:nvSpPr>
          <p:cNvPr id="79" name="Shape 77"/>
          <p:cNvSpPr/>
          <p:nvPr/>
        </p:nvSpPr>
        <p:spPr>
          <a:xfrm>
            <a:off x="6455664" y="2468880"/>
            <a:ext cx="10973" cy="148133"/>
          </a:xfrm>
          <a:prstGeom prst="rect">
            <a:avLst/>
          </a:prstGeom>
          <a:solidFill>
            <a:srgbClr val="E2EAEE"/>
          </a:solidFill>
          <a:ln/>
        </p:spPr>
      </p:sp>
      <p:sp>
        <p:nvSpPr>
          <p:cNvPr id="80" name="Shape 78"/>
          <p:cNvSpPr/>
          <p:nvPr/>
        </p:nvSpPr>
        <p:spPr>
          <a:xfrm>
            <a:off x="7786116" y="2468880"/>
            <a:ext cx="10973" cy="148133"/>
          </a:xfrm>
          <a:prstGeom prst="rect">
            <a:avLst/>
          </a:prstGeom>
          <a:solidFill>
            <a:srgbClr val="E2EAEE"/>
          </a:solidFill>
          <a:ln/>
        </p:spPr>
      </p:sp>
      <p:sp>
        <p:nvSpPr>
          <p:cNvPr id="81" name="Shape 79"/>
          <p:cNvSpPr/>
          <p:nvPr/>
        </p:nvSpPr>
        <p:spPr>
          <a:xfrm>
            <a:off x="9116568" y="2468880"/>
            <a:ext cx="10973" cy="148133"/>
          </a:xfrm>
          <a:prstGeom prst="rect">
            <a:avLst/>
          </a:prstGeom>
          <a:solidFill>
            <a:srgbClr val="E2EAEE"/>
          </a:solidFill>
          <a:ln/>
        </p:spPr>
      </p:sp>
      <p:sp>
        <p:nvSpPr>
          <p:cNvPr id="82" name="Shape 80"/>
          <p:cNvSpPr/>
          <p:nvPr/>
        </p:nvSpPr>
        <p:spPr>
          <a:xfrm>
            <a:off x="10447020" y="2468880"/>
            <a:ext cx="10973" cy="148133"/>
          </a:xfrm>
          <a:prstGeom prst="rect">
            <a:avLst/>
          </a:prstGeom>
          <a:solidFill>
            <a:srgbClr val="E2EAEE"/>
          </a:solidFill>
          <a:ln/>
        </p:spPr>
      </p:sp>
      <p:sp>
        <p:nvSpPr>
          <p:cNvPr id="83" name="Shape 81"/>
          <p:cNvSpPr/>
          <p:nvPr/>
        </p:nvSpPr>
        <p:spPr>
          <a:xfrm>
            <a:off x="3822192" y="2470709"/>
            <a:ext cx="2606040" cy="129845"/>
          </a:xfrm>
          <a:prstGeom prst="roundRect">
            <a:avLst>
              <a:gd name="adj" fmla="val 45775"/>
            </a:avLst>
          </a:prstGeom>
          <a:solidFill>
            <a:srgbClr val="3D8F5F"/>
          </a:solidFill>
          <a:ln/>
        </p:spPr>
      </p:sp>
      <p:sp>
        <p:nvSpPr>
          <p:cNvPr id="84" name="Text 82"/>
          <p:cNvSpPr txBox="1"/>
          <p:nvPr/>
        </p:nvSpPr>
        <p:spPr>
          <a:xfrm>
            <a:off x="3895344" y="2457907"/>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85" name="Shape 83"/>
          <p:cNvSpPr/>
          <p:nvPr/>
        </p:nvSpPr>
        <p:spPr>
          <a:xfrm>
            <a:off x="411480" y="2626157"/>
            <a:ext cx="11365992" cy="175565"/>
          </a:xfrm>
          <a:prstGeom prst="rect">
            <a:avLst/>
          </a:prstGeom>
          <a:solidFill>
            <a:srgbClr val="FFFFFF"/>
          </a:solidFill>
          <a:ln/>
        </p:spPr>
      </p:sp>
      <p:sp>
        <p:nvSpPr>
          <p:cNvPr id="86" name="Text 84"/>
          <p:cNvSpPr txBox="1"/>
          <p:nvPr/>
        </p:nvSpPr>
        <p:spPr>
          <a:xfrm>
            <a:off x="457200" y="2626157"/>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EDR Auth</a:t>
            </a:r>
            <a:endParaRPr lang="en-US" sz="730" dirty="0"/>
          </a:p>
        </p:txBody>
      </p:sp>
      <p:sp>
        <p:nvSpPr>
          <p:cNvPr id="87" name="Shape 85"/>
          <p:cNvSpPr/>
          <p:nvPr/>
        </p:nvSpPr>
        <p:spPr>
          <a:xfrm>
            <a:off x="3794760" y="2644445"/>
            <a:ext cx="10973" cy="148133"/>
          </a:xfrm>
          <a:prstGeom prst="rect">
            <a:avLst/>
          </a:prstGeom>
          <a:solidFill>
            <a:srgbClr val="E2EAEE"/>
          </a:solidFill>
          <a:ln/>
        </p:spPr>
      </p:sp>
      <p:sp>
        <p:nvSpPr>
          <p:cNvPr id="88" name="Shape 86"/>
          <p:cNvSpPr/>
          <p:nvPr/>
        </p:nvSpPr>
        <p:spPr>
          <a:xfrm>
            <a:off x="5125212" y="2644445"/>
            <a:ext cx="10973" cy="148133"/>
          </a:xfrm>
          <a:prstGeom prst="rect">
            <a:avLst/>
          </a:prstGeom>
          <a:solidFill>
            <a:srgbClr val="E2EAEE"/>
          </a:solidFill>
          <a:ln/>
        </p:spPr>
      </p:sp>
      <p:sp>
        <p:nvSpPr>
          <p:cNvPr id="89" name="Shape 87"/>
          <p:cNvSpPr/>
          <p:nvPr/>
        </p:nvSpPr>
        <p:spPr>
          <a:xfrm>
            <a:off x="6455664" y="2644445"/>
            <a:ext cx="10973" cy="148133"/>
          </a:xfrm>
          <a:prstGeom prst="rect">
            <a:avLst/>
          </a:prstGeom>
          <a:solidFill>
            <a:srgbClr val="E2EAEE"/>
          </a:solidFill>
          <a:ln/>
        </p:spPr>
      </p:sp>
      <p:sp>
        <p:nvSpPr>
          <p:cNvPr id="90" name="Shape 88"/>
          <p:cNvSpPr/>
          <p:nvPr/>
        </p:nvSpPr>
        <p:spPr>
          <a:xfrm>
            <a:off x="7786116" y="2644445"/>
            <a:ext cx="10973" cy="148133"/>
          </a:xfrm>
          <a:prstGeom prst="rect">
            <a:avLst/>
          </a:prstGeom>
          <a:solidFill>
            <a:srgbClr val="E2EAEE"/>
          </a:solidFill>
          <a:ln/>
        </p:spPr>
      </p:sp>
      <p:sp>
        <p:nvSpPr>
          <p:cNvPr id="91" name="Shape 89"/>
          <p:cNvSpPr/>
          <p:nvPr/>
        </p:nvSpPr>
        <p:spPr>
          <a:xfrm>
            <a:off x="9116568" y="2644445"/>
            <a:ext cx="10973" cy="148133"/>
          </a:xfrm>
          <a:prstGeom prst="rect">
            <a:avLst/>
          </a:prstGeom>
          <a:solidFill>
            <a:srgbClr val="E2EAEE"/>
          </a:solidFill>
          <a:ln/>
        </p:spPr>
      </p:sp>
      <p:sp>
        <p:nvSpPr>
          <p:cNvPr id="92" name="Shape 90"/>
          <p:cNvSpPr/>
          <p:nvPr/>
        </p:nvSpPr>
        <p:spPr>
          <a:xfrm>
            <a:off x="10447020" y="2644445"/>
            <a:ext cx="10973" cy="148133"/>
          </a:xfrm>
          <a:prstGeom prst="rect">
            <a:avLst/>
          </a:prstGeom>
          <a:solidFill>
            <a:srgbClr val="E2EAEE"/>
          </a:solidFill>
          <a:ln/>
        </p:spPr>
      </p:sp>
      <p:sp>
        <p:nvSpPr>
          <p:cNvPr id="93" name="Shape 91"/>
          <p:cNvSpPr/>
          <p:nvPr/>
        </p:nvSpPr>
        <p:spPr>
          <a:xfrm>
            <a:off x="5152644" y="2646274"/>
            <a:ext cx="1275588" cy="129845"/>
          </a:xfrm>
          <a:prstGeom prst="roundRect">
            <a:avLst>
              <a:gd name="adj" fmla="val 45775"/>
            </a:avLst>
          </a:prstGeom>
          <a:solidFill>
            <a:srgbClr val="3D8F5F"/>
          </a:solidFill>
          <a:ln/>
        </p:spPr>
      </p:sp>
      <p:sp>
        <p:nvSpPr>
          <p:cNvPr id="94" name="Text 92"/>
          <p:cNvSpPr txBox="1"/>
          <p:nvPr/>
        </p:nvSpPr>
        <p:spPr>
          <a:xfrm>
            <a:off x="5225796" y="263347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95" name="Text 93"/>
          <p:cNvSpPr txBox="1"/>
          <p:nvPr/>
        </p:nvSpPr>
        <p:spPr>
          <a:xfrm>
            <a:off x="457200" y="2801722"/>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Accounts Flow Auto Promo File Delivery</a:t>
            </a:r>
            <a:endParaRPr lang="en-US" sz="730" dirty="0"/>
          </a:p>
        </p:txBody>
      </p:sp>
      <p:sp>
        <p:nvSpPr>
          <p:cNvPr id="96" name="Shape 94"/>
          <p:cNvSpPr/>
          <p:nvPr/>
        </p:nvSpPr>
        <p:spPr>
          <a:xfrm>
            <a:off x="3794760" y="2820010"/>
            <a:ext cx="10973" cy="148133"/>
          </a:xfrm>
          <a:prstGeom prst="rect">
            <a:avLst/>
          </a:prstGeom>
          <a:solidFill>
            <a:srgbClr val="E2EAEE"/>
          </a:solidFill>
          <a:ln/>
        </p:spPr>
      </p:sp>
      <p:sp>
        <p:nvSpPr>
          <p:cNvPr id="97" name="Shape 95"/>
          <p:cNvSpPr/>
          <p:nvPr/>
        </p:nvSpPr>
        <p:spPr>
          <a:xfrm>
            <a:off x="5125212" y="2820010"/>
            <a:ext cx="10973" cy="148133"/>
          </a:xfrm>
          <a:prstGeom prst="rect">
            <a:avLst/>
          </a:prstGeom>
          <a:solidFill>
            <a:srgbClr val="E2EAEE"/>
          </a:solidFill>
          <a:ln/>
        </p:spPr>
      </p:sp>
      <p:sp>
        <p:nvSpPr>
          <p:cNvPr id="98" name="Shape 96"/>
          <p:cNvSpPr/>
          <p:nvPr/>
        </p:nvSpPr>
        <p:spPr>
          <a:xfrm>
            <a:off x="6455664" y="2820010"/>
            <a:ext cx="10973" cy="148133"/>
          </a:xfrm>
          <a:prstGeom prst="rect">
            <a:avLst/>
          </a:prstGeom>
          <a:solidFill>
            <a:srgbClr val="E2EAEE"/>
          </a:solidFill>
          <a:ln/>
        </p:spPr>
      </p:sp>
      <p:sp>
        <p:nvSpPr>
          <p:cNvPr id="99" name="Shape 97"/>
          <p:cNvSpPr/>
          <p:nvPr/>
        </p:nvSpPr>
        <p:spPr>
          <a:xfrm>
            <a:off x="7786116" y="2820010"/>
            <a:ext cx="10973" cy="148133"/>
          </a:xfrm>
          <a:prstGeom prst="rect">
            <a:avLst/>
          </a:prstGeom>
          <a:solidFill>
            <a:srgbClr val="E2EAEE"/>
          </a:solidFill>
          <a:ln/>
        </p:spPr>
      </p:sp>
      <p:sp>
        <p:nvSpPr>
          <p:cNvPr id="100" name="Shape 98"/>
          <p:cNvSpPr/>
          <p:nvPr/>
        </p:nvSpPr>
        <p:spPr>
          <a:xfrm>
            <a:off x="9116568" y="2820010"/>
            <a:ext cx="10973" cy="148133"/>
          </a:xfrm>
          <a:prstGeom prst="rect">
            <a:avLst/>
          </a:prstGeom>
          <a:solidFill>
            <a:srgbClr val="E2EAEE"/>
          </a:solidFill>
          <a:ln/>
        </p:spPr>
      </p:sp>
      <p:sp>
        <p:nvSpPr>
          <p:cNvPr id="101" name="Shape 99"/>
          <p:cNvSpPr/>
          <p:nvPr/>
        </p:nvSpPr>
        <p:spPr>
          <a:xfrm>
            <a:off x="10447020" y="2820010"/>
            <a:ext cx="10973" cy="148133"/>
          </a:xfrm>
          <a:prstGeom prst="rect">
            <a:avLst/>
          </a:prstGeom>
          <a:solidFill>
            <a:srgbClr val="E2EAEE"/>
          </a:solidFill>
          <a:ln/>
        </p:spPr>
      </p:sp>
      <p:sp>
        <p:nvSpPr>
          <p:cNvPr id="102" name="Shape 100"/>
          <p:cNvSpPr/>
          <p:nvPr/>
        </p:nvSpPr>
        <p:spPr>
          <a:xfrm>
            <a:off x="5152644" y="2821838"/>
            <a:ext cx="1275588" cy="129845"/>
          </a:xfrm>
          <a:prstGeom prst="roundRect">
            <a:avLst>
              <a:gd name="adj" fmla="val 45775"/>
            </a:avLst>
          </a:prstGeom>
          <a:solidFill>
            <a:srgbClr val="3D8F5F"/>
          </a:solidFill>
          <a:ln/>
        </p:spPr>
      </p:sp>
      <p:sp>
        <p:nvSpPr>
          <p:cNvPr id="103" name="Text 101"/>
          <p:cNvSpPr txBox="1"/>
          <p:nvPr/>
        </p:nvSpPr>
        <p:spPr>
          <a:xfrm>
            <a:off x="5225796" y="2809037"/>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04" name="Shape 102"/>
          <p:cNvSpPr/>
          <p:nvPr/>
        </p:nvSpPr>
        <p:spPr>
          <a:xfrm>
            <a:off x="411480" y="2977286"/>
            <a:ext cx="11365992" cy="175565"/>
          </a:xfrm>
          <a:prstGeom prst="rect">
            <a:avLst/>
          </a:prstGeom>
          <a:solidFill>
            <a:srgbClr val="FFFFFF"/>
          </a:solidFill>
          <a:ln/>
        </p:spPr>
      </p:sp>
      <p:sp>
        <p:nvSpPr>
          <p:cNvPr id="105" name="Text 103"/>
          <p:cNvSpPr txBox="1"/>
          <p:nvPr/>
        </p:nvSpPr>
        <p:spPr>
          <a:xfrm>
            <a:off x="457200" y="297728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Create Stripe Terminal Simulator</a:t>
            </a:r>
            <a:endParaRPr lang="en-US" sz="730" dirty="0"/>
          </a:p>
        </p:txBody>
      </p:sp>
      <p:sp>
        <p:nvSpPr>
          <p:cNvPr id="106" name="Shape 104"/>
          <p:cNvSpPr/>
          <p:nvPr/>
        </p:nvSpPr>
        <p:spPr>
          <a:xfrm>
            <a:off x="3794760" y="2995574"/>
            <a:ext cx="10973" cy="148133"/>
          </a:xfrm>
          <a:prstGeom prst="rect">
            <a:avLst/>
          </a:prstGeom>
          <a:solidFill>
            <a:srgbClr val="E2EAEE"/>
          </a:solidFill>
          <a:ln/>
        </p:spPr>
      </p:sp>
      <p:sp>
        <p:nvSpPr>
          <p:cNvPr id="107" name="Shape 105"/>
          <p:cNvSpPr/>
          <p:nvPr/>
        </p:nvSpPr>
        <p:spPr>
          <a:xfrm>
            <a:off x="5125212" y="2995574"/>
            <a:ext cx="10973" cy="148133"/>
          </a:xfrm>
          <a:prstGeom prst="rect">
            <a:avLst/>
          </a:prstGeom>
          <a:solidFill>
            <a:srgbClr val="E2EAEE"/>
          </a:solidFill>
          <a:ln/>
        </p:spPr>
      </p:sp>
      <p:sp>
        <p:nvSpPr>
          <p:cNvPr id="108" name="Shape 106"/>
          <p:cNvSpPr/>
          <p:nvPr/>
        </p:nvSpPr>
        <p:spPr>
          <a:xfrm>
            <a:off x="6455664" y="2995574"/>
            <a:ext cx="10973" cy="148133"/>
          </a:xfrm>
          <a:prstGeom prst="rect">
            <a:avLst/>
          </a:prstGeom>
          <a:solidFill>
            <a:srgbClr val="E2EAEE"/>
          </a:solidFill>
          <a:ln/>
        </p:spPr>
      </p:sp>
      <p:sp>
        <p:nvSpPr>
          <p:cNvPr id="109" name="Shape 107"/>
          <p:cNvSpPr/>
          <p:nvPr/>
        </p:nvSpPr>
        <p:spPr>
          <a:xfrm>
            <a:off x="7786116" y="2995574"/>
            <a:ext cx="10973" cy="148133"/>
          </a:xfrm>
          <a:prstGeom prst="rect">
            <a:avLst/>
          </a:prstGeom>
          <a:solidFill>
            <a:srgbClr val="E2EAEE"/>
          </a:solidFill>
          <a:ln/>
        </p:spPr>
      </p:sp>
      <p:sp>
        <p:nvSpPr>
          <p:cNvPr id="110" name="Shape 108"/>
          <p:cNvSpPr/>
          <p:nvPr/>
        </p:nvSpPr>
        <p:spPr>
          <a:xfrm>
            <a:off x="9116568" y="2995574"/>
            <a:ext cx="10973" cy="148133"/>
          </a:xfrm>
          <a:prstGeom prst="rect">
            <a:avLst/>
          </a:prstGeom>
          <a:solidFill>
            <a:srgbClr val="E2EAEE"/>
          </a:solidFill>
          <a:ln/>
        </p:spPr>
      </p:sp>
      <p:sp>
        <p:nvSpPr>
          <p:cNvPr id="111" name="Shape 109"/>
          <p:cNvSpPr/>
          <p:nvPr/>
        </p:nvSpPr>
        <p:spPr>
          <a:xfrm>
            <a:off x="10447020" y="2995574"/>
            <a:ext cx="10973" cy="148133"/>
          </a:xfrm>
          <a:prstGeom prst="rect">
            <a:avLst/>
          </a:prstGeom>
          <a:solidFill>
            <a:srgbClr val="E2EAEE"/>
          </a:solidFill>
          <a:ln/>
        </p:spPr>
      </p:sp>
      <p:sp>
        <p:nvSpPr>
          <p:cNvPr id="112" name="Shape 110"/>
          <p:cNvSpPr/>
          <p:nvPr/>
        </p:nvSpPr>
        <p:spPr>
          <a:xfrm>
            <a:off x="5152644" y="2997403"/>
            <a:ext cx="1275588" cy="129845"/>
          </a:xfrm>
          <a:prstGeom prst="roundRect">
            <a:avLst>
              <a:gd name="adj" fmla="val 45775"/>
            </a:avLst>
          </a:prstGeom>
          <a:solidFill>
            <a:srgbClr val="3D8F5F"/>
          </a:solidFill>
          <a:ln/>
        </p:spPr>
      </p:sp>
      <p:sp>
        <p:nvSpPr>
          <p:cNvPr id="113" name="Text 111"/>
          <p:cNvSpPr txBox="1"/>
          <p:nvPr/>
        </p:nvSpPr>
        <p:spPr>
          <a:xfrm>
            <a:off x="5225796" y="2984602"/>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14" name="Text 112"/>
          <p:cNvSpPr txBox="1"/>
          <p:nvPr/>
        </p:nvSpPr>
        <p:spPr>
          <a:xfrm>
            <a:off x="457200" y="315285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Bug Fixes</a:t>
            </a:r>
            <a:endParaRPr lang="en-US" sz="730" dirty="0"/>
          </a:p>
        </p:txBody>
      </p:sp>
      <p:sp>
        <p:nvSpPr>
          <p:cNvPr id="115" name="Shape 113"/>
          <p:cNvSpPr/>
          <p:nvPr/>
        </p:nvSpPr>
        <p:spPr>
          <a:xfrm>
            <a:off x="3794760" y="3171139"/>
            <a:ext cx="10973" cy="148133"/>
          </a:xfrm>
          <a:prstGeom prst="rect">
            <a:avLst/>
          </a:prstGeom>
          <a:solidFill>
            <a:srgbClr val="E2EAEE"/>
          </a:solidFill>
          <a:ln/>
        </p:spPr>
      </p:sp>
      <p:sp>
        <p:nvSpPr>
          <p:cNvPr id="116" name="Shape 114"/>
          <p:cNvSpPr/>
          <p:nvPr/>
        </p:nvSpPr>
        <p:spPr>
          <a:xfrm>
            <a:off x="5125212" y="3171139"/>
            <a:ext cx="10973" cy="148133"/>
          </a:xfrm>
          <a:prstGeom prst="rect">
            <a:avLst/>
          </a:prstGeom>
          <a:solidFill>
            <a:srgbClr val="E2EAEE"/>
          </a:solidFill>
          <a:ln/>
        </p:spPr>
      </p:sp>
      <p:sp>
        <p:nvSpPr>
          <p:cNvPr id="117" name="Shape 115"/>
          <p:cNvSpPr/>
          <p:nvPr/>
        </p:nvSpPr>
        <p:spPr>
          <a:xfrm>
            <a:off x="6455664" y="3171139"/>
            <a:ext cx="10973" cy="148133"/>
          </a:xfrm>
          <a:prstGeom prst="rect">
            <a:avLst/>
          </a:prstGeom>
          <a:solidFill>
            <a:srgbClr val="E2EAEE"/>
          </a:solidFill>
          <a:ln/>
        </p:spPr>
      </p:sp>
      <p:sp>
        <p:nvSpPr>
          <p:cNvPr id="118" name="Shape 116"/>
          <p:cNvSpPr/>
          <p:nvPr/>
        </p:nvSpPr>
        <p:spPr>
          <a:xfrm>
            <a:off x="7786116" y="3171139"/>
            <a:ext cx="10973" cy="148133"/>
          </a:xfrm>
          <a:prstGeom prst="rect">
            <a:avLst/>
          </a:prstGeom>
          <a:solidFill>
            <a:srgbClr val="E2EAEE"/>
          </a:solidFill>
          <a:ln/>
        </p:spPr>
      </p:sp>
      <p:sp>
        <p:nvSpPr>
          <p:cNvPr id="119" name="Shape 117"/>
          <p:cNvSpPr/>
          <p:nvPr/>
        </p:nvSpPr>
        <p:spPr>
          <a:xfrm>
            <a:off x="9116568" y="3171139"/>
            <a:ext cx="10973" cy="148133"/>
          </a:xfrm>
          <a:prstGeom prst="rect">
            <a:avLst/>
          </a:prstGeom>
          <a:solidFill>
            <a:srgbClr val="E2EAEE"/>
          </a:solidFill>
          <a:ln/>
        </p:spPr>
      </p:sp>
      <p:sp>
        <p:nvSpPr>
          <p:cNvPr id="120" name="Shape 118"/>
          <p:cNvSpPr/>
          <p:nvPr/>
        </p:nvSpPr>
        <p:spPr>
          <a:xfrm>
            <a:off x="10447020" y="3171139"/>
            <a:ext cx="10973" cy="148133"/>
          </a:xfrm>
          <a:prstGeom prst="rect">
            <a:avLst/>
          </a:prstGeom>
          <a:solidFill>
            <a:srgbClr val="E2EAEE"/>
          </a:solidFill>
          <a:ln/>
        </p:spPr>
      </p:sp>
      <p:sp>
        <p:nvSpPr>
          <p:cNvPr id="121" name="Shape 119"/>
          <p:cNvSpPr/>
          <p:nvPr/>
        </p:nvSpPr>
        <p:spPr>
          <a:xfrm>
            <a:off x="3822192" y="3172968"/>
            <a:ext cx="1275588" cy="129845"/>
          </a:xfrm>
          <a:prstGeom prst="roundRect">
            <a:avLst>
              <a:gd name="adj" fmla="val 45775"/>
            </a:avLst>
          </a:prstGeom>
          <a:solidFill>
            <a:srgbClr val="3D8F5F"/>
          </a:solidFill>
          <a:ln/>
        </p:spPr>
      </p:sp>
      <p:sp>
        <p:nvSpPr>
          <p:cNvPr id="122" name="Text 120"/>
          <p:cNvSpPr txBox="1"/>
          <p:nvPr/>
        </p:nvSpPr>
        <p:spPr>
          <a:xfrm>
            <a:off x="3895344" y="316016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23" name="Shape 121"/>
          <p:cNvSpPr/>
          <p:nvPr/>
        </p:nvSpPr>
        <p:spPr>
          <a:xfrm>
            <a:off x="411480" y="3328416"/>
            <a:ext cx="11365992" cy="175565"/>
          </a:xfrm>
          <a:prstGeom prst="rect">
            <a:avLst/>
          </a:prstGeom>
          <a:solidFill>
            <a:srgbClr val="FFFFFF"/>
          </a:solidFill>
          <a:ln/>
        </p:spPr>
      </p:sp>
      <p:sp>
        <p:nvSpPr>
          <p:cNvPr id="124" name="Text 122"/>
          <p:cNvSpPr txBox="1"/>
          <p:nvPr/>
        </p:nvSpPr>
        <p:spPr>
          <a:xfrm>
            <a:off x="457200" y="332841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Food Pricing - PLU Visibility Filter</a:t>
            </a:r>
            <a:endParaRPr lang="en-US" sz="730" dirty="0"/>
          </a:p>
        </p:txBody>
      </p:sp>
      <p:sp>
        <p:nvSpPr>
          <p:cNvPr id="125" name="Shape 123"/>
          <p:cNvSpPr/>
          <p:nvPr/>
        </p:nvSpPr>
        <p:spPr>
          <a:xfrm>
            <a:off x="3794760" y="3346704"/>
            <a:ext cx="10973" cy="148133"/>
          </a:xfrm>
          <a:prstGeom prst="rect">
            <a:avLst/>
          </a:prstGeom>
          <a:solidFill>
            <a:srgbClr val="E2EAEE"/>
          </a:solidFill>
          <a:ln/>
        </p:spPr>
      </p:sp>
      <p:sp>
        <p:nvSpPr>
          <p:cNvPr id="126" name="Shape 124"/>
          <p:cNvSpPr/>
          <p:nvPr/>
        </p:nvSpPr>
        <p:spPr>
          <a:xfrm>
            <a:off x="5125212" y="3346704"/>
            <a:ext cx="10973" cy="148133"/>
          </a:xfrm>
          <a:prstGeom prst="rect">
            <a:avLst/>
          </a:prstGeom>
          <a:solidFill>
            <a:srgbClr val="E2EAEE"/>
          </a:solidFill>
          <a:ln/>
        </p:spPr>
      </p:sp>
      <p:sp>
        <p:nvSpPr>
          <p:cNvPr id="127" name="Shape 125"/>
          <p:cNvSpPr/>
          <p:nvPr/>
        </p:nvSpPr>
        <p:spPr>
          <a:xfrm>
            <a:off x="6455664" y="3346704"/>
            <a:ext cx="10973" cy="148133"/>
          </a:xfrm>
          <a:prstGeom prst="rect">
            <a:avLst/>
          </a:prstGeom>
          <a:solidFill>
            <a:srgbClr val="E2EAEE"/>
          </a:solidFill>
          <a:ln/>
        </p:spPr>
      </p:sp>
      <p:sp>
        <p:nvSpPr>
          <p:cNvPr id="128" name="Shape 126"/>
          <p:cNvSpPr/>
          <p:nvPr/>
        </p:nvSpPr>
        <p:spPr>
          <a:xfrm>
            <a:off x="7786116" y="3346704"/>
            <a:ext cx="10973" cy="148133"/>
          </a:xfrm>
          <a:prstGeom prst="rect">
            <a:avLst/>
          </a:prstGeom>
          <a:solidFill>
            <a:srgbClr val="E2EAEE"/>
          </a:solidFill>
          <a:ln/>
        </p:spPr>
      </p:sp>
      <p:sp>
        <p:nvSpPr>
          <p:cNvPr id="129" name="Shape 127"/>
          <p:cNvSpPr/>
          <p:nvPr/>
        </p:nvSpPr>
        <p:spPr>
          <a:xfrm>
            <a:off x="9116568" y="3346704"/>
            <a:ext cx="10973" cy="148133"/>
          </a:xfrm>
          <a:prstGeom prst="rect">
            <a:avLst/>
          </a:prstGeom>
          <a:solidFill>
            <a:srgbClr val="E2EAEE"/>
          </a:solidFill>
          <a:ln/>
        </p:spPr>
      </p:sp>
      <p:sp>
        <p:nvSpPr>
          <p:cNvPr id="130" name="Shape 128"/>
          <p:cNvSpPr/>
          <p:nvPr/>
        </p:nvSpPr>
        <p:spPr>
          <a:xfrm>
            <a:off x="10447020" y="3346704"/>
            <a:ext cx="10973" cy="148133"/>
          </a:xfrm>
          <a:prstGeom prst="rect">
            <a:avLst/>
          </a:prstGeom>
          <a:solidFill>
            <a:srgbClr val="E2EAEE"/>
          </a:solidFill>
          <a:ln/>
        </p:spPr>
      </p:sp>
      <p:sp>
        <p:nvSpPr>
          <p:cNvPr id="131" name="Shape 129"/>
          <p:cNvSpPr/>
          <p:nvPr/>
        </p:nvSpPr>
        <p:spPr>
          <a:xfrm>
            <a:off x="5152644" y="3348533"/>
            <a:ext cx="1275588" cy="129845"/>
          </a:xfrm>
          <a:prstGeom prst="roundRect">
            <a:avLst>
              <a:gd name="adj" fmla="val 45775"/>
            </a:avLst>
          </a:prstGeom>
          <a:solidFill>
            <a:srgbClr val="C88A2E"/>
          </a:solidFill>
          <a:ln/>
        </p:spPr>
      </p:sp>
      <p:sp>
        <p:nvSpPr>
          <p:cNvPr id="132" name="Text 130"/>
          <p:cNvSpPr txBox="1"/>
          <p:nvPr/>
        </p:nvSpPr>
        <p:spPr>
          <a:xfrm>
            <a:off x="5225796" y="3335731"/>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Ciaran</a:t>
            </a:r>
            <a:endParaRPr lang="en-US" sz="650" dirty="0"/>
          </a:p>
        </p:txBody>
      </p:sp>
      <p:sp>
        <p:nvSpPr>
          <p:cNvPr id="133" name="Text 131"/>
          <p:cNvSpPr txBox="1"/>
          <p:nvPr/>
        </p:nvSpPr>
        <p:spPr>
          <a:xfrm>
            <a:off x="457200" y="3503981"/>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ALH RMS</a:t>
            </a:r>
            <a:endParaRPr lang="en-US" sz="730" dirty="0"/>
          </a:p>
        </p:txBody>
      </p:sp>
      <p:sp>
        <p:nvSpPr>
          <p:cNvPr id="134" name="Shape 132"/>
          <p:cNvSpPr/>
          <p:nvPr/>
        </p:nvSpPr>
        <p:spPr>
          <a:xfrm>
            <a:off x="3794760" y="3522269"/>
            <a:ext cx="10973" cy="148133"/>
          </a:xfrm>
          <a:prstGeom prst="rect">
            <a:avLst/>
          </a:prstGeom>
          <a:solidFill>
            <a:srgbClr val="E2EAEE"/>
          </a:solidFill>
          <a:ln/>
        </p:spPr>
      </p:sp>
      <p:sp>
        <p:nvSpPr>
          <p:cNvPr id="135" name="Shape 133"/>
          <p:cNvSpPr/>
          <p:nvPr/>
        </p:nvSpPr>
        <p:spPr>
          <a:xfrm>
            <a:off x="5125212" y="3522269"/>
            <a:ext cx="10973" cy="148133"/>
          </a:xfrm>
          <a:prstGeom prst="rect">
            <a:avLst/>
          </a:prstGeom>
          <a:solidFill>
            <a:srgbClr val="E2EAEE"/>
          </a:solidFill>
          <a:ln/>
        </p:spPr>
      </p:sp>
      <p:sp>
        <p:nvSpPr>
          <p:cNvPr id="136" name="Shape 134"/>
          <p:cNvSpPr/>
          <p:nvPr/>
        </p:nvSpPr>
        <p:spPr>
          <a:xfrm>
            <a:off x="6455664" y="3522269"/>
            <a:ext cx="10973" cy="148133"/>
          </a:xfrm>
          <a:prstGeom prst="rect">
            <a:avLst/>
          </a:prstGeom>
          <a:solidFill>
            <a:srgbClr val="E2EAEE"/>
          </a:solidFill>
          <a:ln/>
        </p:spPr>
      </p:sp>
      <p:sp>
        <p:nvSpPr>
          <p:cNvPr id="137" name="Shape 135"/>
          <p:cNvSpPr/>
          <p:nvPr/>
        </p:nvSpPr>
        <p:spPr>
          <a:xfrm>
            <a:off x="7786116" y="3522269"/>
            <a:ext cx="10973" cy="148133"/>
          </a:xfrm>
          <a:prstGeom prst="rect">
            <a:avLst/>
          </a:prstGeom>
          <a:solidFill>
            <a:srgbClr val="E2EAEE"/>
          </a:solidFill>
          <a:ln/>
        </p:spPr>
      </p:sp>
      <p:sp>
        <p:nvSpPr>
          <p:cNvPr id="138" name="Shape 136"/>
          <p:cNvSpPr/>
          <p:nvPr/>
        </p:nvSpPr>
        <p:spPr>
          <a:xfrm>
            <a:off x="9116568" y="3522269"/>
            <a:ext cx="10973" cy="148133"/>
          </a:xfrm>
          <a:prstGeom prst="rect">
            <a:avLst/>
          </a:prstGeom>
          <a:solidFill>
            <a:srgbClr val="E2EAEE"/>
          </a:solidFill>
          <a:ln/>
        </p:spPr>
      </p:sp>
      <p:sp>
        <p:nvSpPr>
          <p:cNvPr id="139" name="Shape 137"/>
          <p:cNvSpPr/>
          <p:nvPr/>
        </p:nvSpPr>
        <p:spPr>
          <a:xfrm>
            <a:off x="10447020" y="3522269"/>
            <a:ext cx="10973" cy="148133"/>
          </a:xfrm>
          <a:prstGeom prst="rect">
            <a:avLst/>
          </a:prstGeom>
          <a:solidFill>
            <a:srgbClr val="E2EAEE"/>
          </a:solidFill>
          <a:ln/>
        </p:spPr>
      </p:sp>
      <p:sp>
        <p:nvSpPr>
          <p:cNvPr id="140" name="Shape 138"/>
          <p:cNvSpPr/>
          <p:nvPr/>
        </p:nvSpPr>
        <p:spPr>
          <a:xfrm>
            <a:off x="6483096" y="3524098"/>
            <a:ext cx="1275588" cy="129845"/>
          </a:xfrm>
          <a:prstGeom prst="roundRect">
            <a:avLst>
              <a:gd name="adj" fmla="val 45775"/>
            </a:avLst>
          </a:prstGeom>
          <a:solidFill>
            <a:srgbClr val="C88A2E"/>
          </a:solidFill>
          <a:ln/>
        </p:spPr>
      </p:sp>
      <p:sp>
        <p:nvSpPr>
          <p:cNvPr id="141" name="Text 139"/>
          <p:cNvSpPr txBox="1"/>
          <p:nvPr/>
        </p:nvSpPr>
        <p:spPr>
          <a:xfrm>
            <a:off x="6556248" y="3511296"/>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Brad</a:t>
            </a:r>
            <a:endParaRPr lang="en-US" sz="650" dirty="0"/>
          </a:p>
        </p:txBody>
      </p:sp>
      <p:sp>
        <p:nvSpPr>
          <p:cNvPr id="142" name="Shape 140"/>
          <p:cNvSpPr/>
          <p:nvPr/>
        </p:nvSpPr>
        <p:spPr>
          <a:xfrm>
            <a:off x="411480" y="3679546"/>
            <a:ext cx="11365992" cy="175565"/>
          </a:xfrm>
          <a:prstGeom prst="rect">
            <a:avLst/>
          </a:prstGeom>
          <a:solidFill>
            <a:srgbClr val="FFFFFF"/>
          </a:solidFill>
          <a:ln/>
        </p:spPr>
      </p:sp>
      <p:sp>
        <p:nvSpPr>
          <p:cNvPr id="143" name="Text 141"/>
          <p:cNvSpPr txBox="1"/>
          <p:nvPr/>
        </p:nvSpPr>
        <p:spPr>
          <a:xfrm>
            <a:off x="457200" y="3679546"/>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LMG - various enhancemens</a:t>
            </a:r>
            <a:endParaRPr lang="en-US" sz="730" dirty="0"/>
          </a:p>
        </p:txBody>
      </p:sp>
      <p:sp>
        <p:nvSpPr>
          <p:cNvPr id="144" name="Shape 142"/>
          <p:cNvSpPr/>
          <p:nvPr/>
        </p:nvSpPr>
        <p:spPr>
          <a:xfrm>
            <a:off x="3794760" y="3697834"/>
            <a:ext cx="10973" cy="148133"/>
          </a:xfrm>
          <a:prstGeom prst="rect">
            <a:avLst/>
          </a:prstGeom>
          <a:solidFill>
            <a:srgbClr val="E2EAEE"/>
          </a:solidFill>
          <a:ln/>
        </p:spPr>
      </p:sp>
      <p:sp>
        <p:nvSpPr>
          <p:cNvPr id="145" name="Shape 143"/>
          <p:cNvSpPr/>
          <p:nvPr/>
        </p:nvSpPr>
        <p:spPr>
          <a:xfrm>
            <a:off x="5125212" y="3697834"/>
            <a:ext cx="10973" cy="148133"/>
          </a:xfrm>
          <a:prstGeom prst="rect">
            <a:avLst/>
          </a:prstGeom>
          <a:solidFill>
            <a:srgbClr val="E2EAEE"/>
          </a:solidFill>
          <a:ln/>
        </p:spPr>
      </p:sp>
      <p:sp>
        <p:nvSpPr>
          <p:cNvPr id="146" name="Shape 144"/>
          <p:cNvSpPr/>
          <p:nvPr/>
        </p:nvSpPr>
        <p:spPr>
          <a:xfrm>
            <a:off x="6455664" y="3697834"/>
            <a:ext cx="10973" cy="148133"/>
          </a:xfrm>
          <a:prstGeom prst="rect">
            <a:avLst/>
          </a:prstGeom>
          <a:solidFill>
            <a:srgbClr val="E2EAEE"/>
          </a:solidFill>
          <a:ln/>
        </p:spPr>
      </p:sp>
      <p:sp>
        <p:nvSpPr>
          <p:cNvPr id="147" name="Shape 145"/>
          <p:cNvSpPr/>
          <p:nvPr/>
        </p:nvSpPr>
        <p:spPr>
          <a:xfrm>
            <a:off x="7786116" y="3697834"/>
            <a:ext cx="10973" cy="148133"/>
          </a:xfrm>
          <a:prstGeom prst="rect">
            <a:avLst/>
          </a:prstGeom>
          <a:solidFill>
            <a:srgbClr val="E2EAEE"/>
          </a:solidFill>
          <a:ln/>
        </p:spPr>
      </p:sp>
      <p:sp>
        <p:nvSpPr>
          <p:cNvPr id="148" name="Shape 146"/>
          <p:cNvSpPr/>
          <p:nvPr/>
        </p:nvSpPr>
        <p:spPr>
          <a:xfrm>
            <a:off x="9116568" y="3697834"/>
            <a:ext cx="10973" cy="148133"/>
          </a:xfrm>
          <a:prstGeom prst="rect">
            <a:avLst/>
          </a:prstGeom>
          <a:solidFill>
            <a:srgbClr val="E2EAEE"/>
          </a:solidFill>
          <a:ln/>
        </p:spPr>
      </p:sp>
      <p:sp>
        <p:nvSpPr>
          <p:cNvPr id="149" name="Shape 147"/>
          <p:cNvSpPr/>
          <p:nvPr/>
        </p:nvSpPr>
        <p:spPr>
          <a:xfrm>
            <a:off x="10447020" y="3697834"/>
            <a:ext cx="10973" cy="148133"/>
          </a:xfrm>
          <a:prstGeom prst="rect">
            <a:avLst/>
          </a:prstGeom>
          <a:solidFill>
            <a:srgbClr val="E2EAEE"/>
          </a:solidFill>
          <a:ln/>
        </p:spPr>
      </p:sp>
      <p:sp>
        <p:nvSpPr>
          <p:cNvPr id="150" name="Shape 148"/>
          <p:cNvSpPr/>
          <p:nvPr/>
        </p:nvSpPr>
        <p:spPr>
          <a:xfrm>
            <a:off x="7813548" y="3699662"/>
            <a:ext cx="2606040" cy="129845"/>
          </a:xfrm>
          <a:prstGeom prst="roundRect">
            <a:avLst>
              <a:gd name="adj" fmla="val 45775"/>
            </a:avLst>
          </a:prstGeom>
          <a:solidFill>
            <a:srgbClr val="C7D3DA">
              <a:alpha val="75000"/>
            </a:srgbClr>
          </a:solidFill>
          <a:ln/>
        </p:spPr>
      </p:sp>
      <p:sp>
        <p:nvSpPr>
          <p:cNvPr id="151" name="Text 149"/>
          <p:cNvSpPr txBox="1"/>
          <p:nvPr/>
        </p:nvSpPr>
        <p:spPr>
          <a:xfrm>
            <a:off x="7886700" y="3686861"/>
            <a:ext cx="2496312"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52" name="Text 150"/>
          <p:cNvSpPr txBox="1"/>
          <p:nvPr/>
        </p:nvSpPr>
        <p:spPr>
          <a:xfrm>
            <a:off x="457200" y="385511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Bug Run 9.3</a:t>
            </a:r>
            <a:endParaRPr lang="en-US" sz="730" dirty="0"/>
          </a:p>
        </p:txBody>
      </p:sp>
      <p:sp>
        <p:nvSpPr>
          <p:cNvPr id="153" name="Shape 151"/>
          <p:cNvSpPr/>
          <p:nvPr/>
        </p:nvSpPr>
        <p:spPr>
          <a:xfrm>
            <a:off x="3794760" y="3873398"/>
            <a:ext cx="10973" cy="148133"/>
          </a:xfrm>
          <a:prstGeom prst="rect">
            <a:avLst/>
          </a:prstGeom>
          <a:solidFill>
            <a:srgbClr val="E2EAEE"/>
          </a:solidFill>
          <a:ln/>
        </p:spPr>
      </p:sp>
      <p:sp>
        <p:nvSpPr>
          <p:cNvPr id="154" name="Shape 152"/>
          <p:cNvSpPr/>
          <p:nvPr/>
        </p:nvSpPr>
        <p:spPr>
          <a:xfrm>
            <a:off x="5125212" y="3873398"/>
            <a:ext cx="10973" cy="148133"/>
          </a:xfrm>
          <a:prstGeom prst="rect">
            <a:avLst/>
          </a:prstGeom>
          <a:solidFill>
            <a:srgbClr val="E2EAEE"/>
          </a:solidFill>
          <a:ln/>
        </p:spPr>
      </p:sp>
      <p:sp>
        <p:nvSpPr>
          <p:cNvPr id="155" name="Shape 153"/>
          <p:cNvSpPr/>
          <p:nvPr/>
        </p:nvSpPr>
        <p:spPr>
          <a:xfrm>
            <a:off x="6455664" y="3873398"/>
            <a:ext cx="10973" cy="148133"/>
          </a:xfrm>
          <a:prstGeom prst="rect">
            <a:avLst/>
          </a:prstGeom>
          <a:solidFill>
            <a:srgbClr val="E2EAEE"/>
          </a:solidFill>
          <a:ln/>
        </p:spPr>
      </p:sp>
      <p:sp>
        <p:nvSpPr>
          <p:cNvPr id="156" name="Shape 154"/>
          <p:cNvSpPr/>
          <p:nvPr/>
        </p:nvSpPr>
        <p:spPr>
          <a:xfrm>
            <a:off x="7786116" y="3873398"/>
            <a:ext cx="10973" cy="148133"/>
          </a:xfrm>
          <a:prstGeom prst="rect">
            <a:avLst/>
          </a:prstGeom>
          <a:solidFill>
            <a:srgbClr val="E2EAEE"/>
          </a:solidFill>
          <a:ln/>
        </p:spPr>
      </p:sp>
      <p:sp>
        <p:nvSpPr>
          <p:cNvPr id="157" name="Shape 155"/>
          <p:cNvSpPr/>
          <p:nvPr/>
        </p:nvSpPr>
        <p:spPr>
          <a:xfrm>
            <a:off x="9116568" y="3873398"/>
            <a:ext cx="10973" cy="148133"/>
          </a:xfrm>
          <a:prstGeom prst="rect">
            <a:avLst/>
          </a:prstGeom>
          <a:solidFill>
            <a:srgbClr val="E2EAEE"/>
          </a:solidFill>
          <a:ln/>
        </p:spPr>
      </p:sp>
      <p:sp>
        <p:nvSpPr>
          <p:cNvPr id="158" name="Shape 156"/>
          <p:cNvSpPr/>
          <p:nvPr/>
        </p:nvSpPr>
        <p:spPr>
          <a:xfrm>
            <a:off x="10447020" y="3873398"/>
            <a:ext cx="10973" cy="148133"/>
          </a:xfrm>
          <a:prstGeom prst="rect">
            <a:avLst/>
          </a:prstGeom>
          <a:solidFill>
            <a:srgbClr val="E2EAEE"/>
          </a:solidFill>
          <a:ln/>
        </p:spPr>
      </p:sp>
      <p:sp>
        <p:nvSpPr>
          <p:cNvPr id="159" name="Shape 157"/>
          <p:cNvSpPr/>
          <p:nvPr/>
        </p:nvSpPr>
        <p:spPr>
          <a:xfrm>
            <a:off x="10474452" y="3875227"/>
            <a:ext cx="1275588" cy="129845"/>
          </a:xfrm>
          <a:prstGeom prst="roundRect">
            <a:avLst>
              <a:gd name="adj" fmla="val 45775"/>
            </a:avLst>
          </a:prstGeom>
          <a:solidFill>
            <a:srgbClr val="C7D3DA">
              <a:alpha val="75000"/>
            </a:srgbClr>
          </a:solidFill>
          <a:ln/>
        </p:spPr>
      </p:sp>
      <p:sp>
        <p:nvSpPr>
          <p:cNvPr id="160" name="Text 158"/>
          <p:cNvSpPr txBox="1"/>
          <p:nvPr/>
        </p:nvSpPr>
        <p:spPr>
          <a:xfrm>
            <a:off x="10547604" y="3862426"/>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Brad</a:t>
            </a:r>
            <a:endParaRPr lang="en-US" sz="650" dirty="0"/>
          </a:p>
        </p:txBody>
      </p:sp>
      <p:sp>
        <p:nvSpPr>
          <p:cNvPr id="161" name="Shape 159"/>
          <p:cNvSpPr/>
          <p:nvPr/>
        </p:nvSpPr>
        <p:spPr>
          <a:xfrm>
            <a:off x="411480" y="4030675"/>
            <a:ext cx="11365992" cy="175565"/>
          </a:xfrm>
          <a:prstGeom prst="rect">
            <a:avLst/>
          </a:prstGeom>
          <a:solidFill>
            <a:srgbClr val="FFFFFF"/>
          </a:solidFill>
          <a:ln/>
        </p:spPr>
      </p:sp>
      <p:sp>
        <p:nvSpPr>
          <p:cNvPr id="162" name="Text 160"/>
          <p:cNvSpPr txBox="1"/>
          <p:nvPr/>
        </p:nvSpPr>
        <p:spPr>
          <a:xfrm>
            <a:off x="457200" y="403067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OpenTable</a:t>
            </a:r>
            <a:endParaRPr lang="en-US" sz="730" dirty="0"/>
          </a:p>
        </p:txBody>
      </p:sp>
      <p:sp>
        <p:nvSpPr>
          <p:cNvPr id="163" name="Shape 161"/>
          <p:cNvSpPr/>
          <p:nvPr/>
        </p:nvSpPr>
        <p:spPr>
          <a:xfrm>
            <a:off x="3794760" y="4048963"/>
            <a:ext cx="10973" cy="148133"/>
          </a:xfrm>
          <a:prstGeom prst="rect">
            <a:avLst/>
          </a:prstGeom>
          <a:solidFill>
            <a:srgbClr val="E2EAEE"/>
          </a:solidFill>
          <a:ln/>
        </p:spPr>
      </p:sp>
      <p:sp>
        <p:nvSpPr>
          <p:cNvPr id="164" name="Shape 162"/>
          <p:cNvSpPr/>
          <p:nvPr/>
        </p:nvSpPr>
        <p:spPr>
          <a:xfrm>
            <a:off x="5125212" y="4048963"/>
            <a:ext cx="10973" cy="148133"/>
          </a:xfrm>
          <a:prstGeom prst="rect">
            <a:avLst/>
          </a:prstGeom>
          <a:solidFill>
            <a:srgbClr val="E2EAEE"/>
          </a:solidFill>
          <a:ln/>
        </p:spPr>
      </p:sp>
      <p:sp>
        <p:nvSpPr>
          <p:cNvPr id="165" name="Shape 163"/>
          <p:cNvSpPr/>
          <p:nvPr/>
        </p:nvSpPr>
        <p:spPr>
          <a:xfrm>
            <a:off x="6455664" y="4048963"/>
            <a:ext cx="10973" cy="148133"/>
          </a:xfrm>
          <a:prstGeom prst="rect">
            <a:avLst/>
          </a:prstGeom>
          <a:solidFill>
            <a:srgbClr val="E2EAEE"/>
          </a:solidFill>
          <a:ln/>
        </p:spPr>
      </p:sp>
      <p:sp>
        <p:nvSpPr>
          <p:cNvPr id="166" name="Shape 164"/>
          <p:cNvSpPr/>
          <p:nvPr/>
        </p:nvSpPr>
        <p:spPr>
          <a:xfrm>
            <a:off x="7786116" y="4048963"/>
            <a:ext cx="10973" cy="148133"/>
          </a:xfrm>
          <a:prstGeom prst="rect">
            <a:avLst/>
          </a:prstGeom>
          <a:solidFill>
            <a:srgbClr val="E2EAEE"/>
          </a:solidFill>
          <a:ln/>
        </p:spPr>
      </p:sp>
      <p:sp>
        <p:nvSpPr>
          <p:cNvPr id="167" name="Shape 165"/>
          <p:cNvSpPr/>
          <p:nvPr/>
        </p:nvSpPr>
        <p:spPr>
          <a:xfrm>
            <a:off x="9116568" y="4048963"/>
            <a:ext cx="10973" cy="148133"/>
          </a:xfrm>
          <a:prstGeom prst="rect">
            <a:avLst/>
          </a:prstGeom>
          <a:solidFill>
            <a:srgbClr val="E2EAEE"/>
          </a:solidFill>
          <a:ln/>
        </p:spPr>
      </p:sp>
      <p:sp>
        <p:nvSpPr>
          <p:cNvPr id="168" name="Shape 166"/>
          <p:cNvSpPr/>
          <p:nvPr/>
        </p:nvSpPr>
        <p:spPr>
          <a:xfrm>
            <a:off x="10447020" y="4048963"/>
            <a:ext cx="10973" cy="148133"/>
          </a:xfrm>
          <a:prstGeom prst="rect">
            <a:avLst/>
          </a:prstGeom>
          <a:solidFill>
            <a:srgbClr val="E2EAEE"/>
          </a:solidFill>
          <a:ln/>
        </p:spPr>
      </p:sp>
      <p:sp>
        <p:nvSpPr>
          <p:cNvPr id="169" name="Shape 167"/>
          <p:cNvSpPr/>
          <p:nvPr/>
        </p:nvSpPr>
        <p:spPr>
          <a:xfrm>
            <a:off x="3822192" y="4050792"/>
            <a:ext cx="2606040" cy="129845"/>
          </a:xfrm>
          <a:prstGeom prst="roundRect">
            <a:avLst>
              <a:gd name="adj" fmla="val 45775"/>
            </a:avLst>
          </a:prstGeom>
          <a:solidFill>
            <a:srgbClr val="3D8F5F"/>
          </a:solidFill>
          <a:ln/>
        </p:spPr>
      </p:sp>
      <p:sp>
        <p:nvSpPr>
          <p:cNvPr id="170" name="Text 168"/>
          <p:cNvSpPr txBox="1"/>
          <p:nvPr/>
        </p:nvSpPr>
        <p:spPr>
          <a:xfrm>
            <a:off x="3895344" y="4037990"/>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Hawraa</a:t>
            </a:r>
            <a:endParaRPr lang="en-US" sz="650" dirty="0"/>
          </a:p>
        </p:txBody>
      </p:sp>
      <p:sp>
        <p:nvSpPr>
          <p:cNvPr id="171" name="Text 169"/>
          <p:cNvSpPr txBox="1"/>
          <p:nvPr/>
        </p:nvSpPr>
        <p:spPr>
          <a:xfrm>
            <a:off x="457200" y="420624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Metcash Scan Work (SM-6423,SM-6478)</a:t>
            </a:r>
            <a:endParaRPr lang="en-US" sz="730" dirty="0"/>
          </a:p>
        </p:txBody>
      </p:sp>
      <p:sp>
        <p:nvSpPr>
          <p:cNvPr id="172" name="Shape 170"/>
          <p:cNvSpPr/>
          <p:nvPr/>
        </p:nvSpPr>
        <p:spPr>
          <a:xfrm>
            <a:off x="3794760" y="4224528"/>
            <a:ext cx="10973" cy="148133"/>
          </a:xfrm>
          <a:prstGeom prst="rect">
            <a:avLst/>
          </a:prstGeom>
          <a:solidFill>
            <a:srgbClr val="E2EAEE"/>
          </a:solidFill>
          <a:ln/>
        </p:spPr>
      </p:sp>
      <p:sp>
        <p:nvSpPr>
          <p:cNvPr id="173" name="Shape 171"/>
          <p:cNvSpPr/>
          <p:nvPr/>
        </p:nvSpPr>
        <p:spPr>
          <a:xfrm>
            <a:off x="5125212" y="4224528"/>
            <a:ext cx="10973" cy="148133"/>
          </a:xfrm>
          <a:prstGeom prst="rect">
            <a:avLst/>
          </a:prstGeom>
          <a:solidFill>
            <a:srgbClr val="E2EAEE"/>
          </a:solidFill>
          <a:ln/>
        </p:spPr>
      </p:sp>
      <p:sp>
        <p:nvSpPr>
          <p:cNvPr id="174" name="Shape 172"/>
          <p:cNvSpPr/>
          <p:nvPr/>
        </p:nvSpPr>
        <p:spPr>
          <a:xfrm>
            <a:off x="6455664" y="4224528"/>
            <a:ext cx="10973" cy="148133"/>
          </a:xfrm>
          <a:prstGeom prst="rect">
            <a:avLst/>
          </a:prstGeom>
          <a:solidFill>
            <a:srgbClr val="E2EAEE"/>
          </a:solidFill>
          <a:ln/>
        </p:spPr>
      </p:sp>
      <p:sp>
        <p:nvSpPr>
          <p:cNvPr id="175" name="Shape 173"/>
          <p:cNvSpPr/>
          <p:nvPr/>
        </p:nvSpPr>
        <p:spPr>
          <a:xfrm>
            <a:off x="7786116" y="4224528"/>
            <a:ext cx="10973" cy="148133"/>
          </a:xfrm>
          <a:prstGeom prst="rect">
            <a:avLst/>
          </a:prstGeom>
          <a:solidFill>
            <a:srgbClr val="E2EAEE"/>
          </a:solidFill>
          <a:ln/>
        </p:spPr>
      </p:sp>
      <p:sp>
        <p:nvSpPr>
          <p:cNvPr id="176" name="Shape 174"/>
          <p:cNvSpPr/>
          <p:nvPr/>
        </p:nvSpPr>
        <p:spPr>
          <a:xfrm>
            <a:off x="9116568" y="4224528"/>
            <a:ext cx="10973" cy="148133"/>
          </a:xfrm>
          <a:prstGeom prst="rect">
            <a:avLst/>
          </a:prstGeom>
          <a:solidFill>
            <a:srgbClr val="E2EAEE"/>
          </a:solidFill>
          <a:ln/>
        </p:spPr>
      </p:sp>
      <p:sp>
        <p:nvSpPr>
          <p:cNvPr id="177" name="Shape 175"/>
          <p:cNvSpPr/>
          <p:nvPr/>
        </p:nvSpPr>
        <p:spPr>
          <a:xfrm>
            <a:off x="10447020" y="4224528"/>
            <a:ext cx="10973" cy="148133"/>
          </a:xfrm>
          <a:prstGeom prst="rect">
            <a:avLst/>
          </a:prstGeom>
          <a:solidFill>
            <a:srgbClr val="E2EAEE"/>
          </a:solidFill>
          <a:ln/>
        </p:spPr>
      </p:sp>
      <p:sp>
        <p:nvSpPr>
          <p:cNvPr id="178" name="Shape 176"/>
          <p:cNvSpPr/>
          <p:nvPr/>
        </p:nvSpPr>
        <p:spPr>
          <a:xfrm>
            <a:off x="9144000" y="4226357"/>
            <a:ext cx="1275588" cy="129845"/>
          </a:xfrm>
          <a:prstGeom prst="roundRect">
            <a:avLst>
              <a:gd name="adj" fmla="val 45775"/>
            </a:avLst>
          </a:prstGeom>
          <a:solidFill>
            <a:srgbClr val="C7D3DA">
              <a:alpha val="75000"/>
            </a:srgbClr>
          </a:solidFill>
          <a:ln/>
        </p:spPr>
      </p:sp>
      <p:sp>
        <p:nvSpPr>
          <p:cNvPr id="179" name="Text 177"/>
          <p:cNvSpPr txBox="1"/>
          <p:nvPr/>
        </p:nvSpPr>
        <p:spPr>
          <a:xfrm>
            <a:off x="9217152" y="4213555"/>
            <a:ext cx="1165860" cy="157277"/>
          </a:xfrm>
          <a:prstGeom prst="rect">
            <a:avLst/>
          </a:prstGeom>
          <a:noFill/>
          <a:ln/>
        </p:spPr>
        <p:txBody>
          <a:bodyPr wrap="square" lIns="0" tIns="0" rIns="0" bIns="0" rtlCol="0" anchor="ctr"/>
          <a:lstStyle/>
          <a:p>
            <a:pPr indent="0" marL="0">
              <a:buNone/>
            </a:pPr>
            <a:r>
              <a:rPr lang="en-US" sz="650" b="1" dirty="0">
                <a:solidFill>
                  <a:srgbClr val="5E7280"/>
                </a:solidFill>
                <a:latin typeface="Poppins" pitchFamily="34" charset="0"/>
                <a:ea typeface="Poppins" pitchFamily="34" charset="-122"/>
                <a:cs typeface="Poppins" pitchFamily="34" charset="-120"/>
              </a:rPr>
              <a:t>Ciaran</a:t>
            </a:r>
            <a:endParaRPr lang="en-US" sz="650" dirty="0"/>
          </a:p>
        </p:txBody>
      </p:sp>
      <p:sp>
        <p:nvSpPr>
          <p:cNvPr id="180" name="Shape 178"/>
          <p:cNvSpPr/>
          <p:nvPr/>
        </p:nvSpPr>
        <p:spPr>
          <a:xfrm>
            <a:off x="411480" y="4381805"/>
            <a:ext cx="11365992" cy="175565"/>
          </a:xfrm>
          <a:prstGeom prst="rect">
            <a:avLst/>
          </a:prstGeom>
          <a:solidFill>
            <a:srgbClr val="FFFFFF"/>
          </a:solidFill>
          <a:ln/>
        </p:spPr>
      </p:sp>
      <p:sp>
        <p:nvSpPr>
          <p:cNvPr id="181" name="Text 179"/>
          <p:cNvSpPr txBox="1"/>
          <p:nvPr/>
        </p:nvSpPr>
        <p:spPr>
          <a:xfrm>
            <a:off x="457200" y="4381805"/>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Unattended Upgrades (released deployment)</a:t>
            </a:r>
            <a:endParaRPr lang="en-US" sz="730" dirty="0"/>
          </a:p>
        </p:txBody>
      </p:sp>
      <p:sp>
        <p:nvSpPr>
          <p:cNvPr id="182" name="Shape 180"/>
          <p:cNvSpPr/>
          <p:nvPr/>
        </p:nvSpPr>
        <p:spPr>
          <a:xfrm>
            <a:off x="3794760" y="4400093"/>
            <a:ext cx="10973" cy="148133"/>
          </a:xfrm>
          <a:prstGeom prst="rect">
            <a:avLst/>
          </a:prstGeom>
          <a:solidFill>
            <a:srgbClr val="E2EAEE"/>
          </a:solidFill>
          <a:ln/>
        </p:spPr>
      </p:sp>
      <p:sp>
        <p:nvSpPr>
          <p:cNvPr id="183" name="Shape 181"/>
          <p:cNvSpPr/>
          <p:nvPr/>
        </p:nvSpPr>
        <p:spPr>
          <a:xfrm>
            <a:off x="5125212" y="4400093"/>
            <a:ext cx="10973" cy="148133"/>
          </a:xfrm>
          <a:prstGeom prst="rect">
            <a:avLst/>
          </a:prstGeom>
          <a:solidFill>
            <a:srgbClr val="E2EAEE"/>
          </a:solidFill>
          <a:ln/>
        </p:spPr>
      </p:sp>
      <p:sp>
        <p:nvSpPr>
          <p:cNvPr id="184" name="Shape 182"/>
          <p:cNvSpPr/>
          <p:nvPr/>
        </p:nvSpPr>
        <p:spPr>
          <a:xfrm>
            <a:off x="6455664" y="4400093"/>
            <a:ext cx="10973" cy="148133"/>
          </a:xfrm>
          <a:prstGeom prst="rect">
            <a:avLst/>
          </a:prstGeom>
          <a:solidFill>
            <a:srgbClr val="E2EAEE"/>
          </a:solidFill>
          <a:ln/>
        </p:spPr>
      </p:sp>
      <p:sp>
        <p:nvSpPr>
          <p:cNvPr id="185" name="Shape 183"/>
          <p:cNvSpPr/>
          <p:nvPr/>
        </p:nvSpPr>
        <p:spPr>
          <a:xfrm>
            <a:off x="7786116" y="4400093"/>
            <a:ext cx="10973" cy="148133"/>
          </a:xfrm>
          <a:prstGeom prst="rect">
            <a:avLst/>
          </a:prstGeom>
          <a:solidFill>
            <a:srgbClr val="E2EAEE"/>
          </a:solidFill>
          <a:ln/>
        </p:spPr>
      </p:sp>
      <p:sp>
        <p:nvSpPr>
          <p:cNvPr id="186" name="Shape 184"/>
          <p:cNvSpPr/>
          <p:nvPr/>
        </p:nvSpPr>
        <p:spPr>
          <a:xfrm>
            <a:off x="9116568" y="4400093"/>
            <a:ext cx="10973" cy="148133"/>
          </a:xfrm>
          <a:prstGeom prst="rect">
            <a:avLst/>
          </a:prstGeom>
          <a:solidFill>
            <a:srgbClr val="E2EAEE"/>
          </a:solidFill>
          <a:ln/>
        </p:spPr>
      </p:sp>
      <p:sp>
        <p:nvSpPr>
          <p:cNvPr id="187" name="Shape 185"/>
          <p:cNvSpPr/>
          <p:nvPr/>
        </p:nvSpPr>
        <p:spPr>
          <a:xfrm>
            <a:off x="10447020" y="4400093"/>
            <a:ext cx="10973" cy="148133"/>
          </a:xfrm>
          <a:prstGeom prst="rect">
            <a:avLst/>
          </a:prstGeom>
          <a:solidFill>
            <a:srgbClr val="E2EAEE"/>
          </a:solidFill>
          <a:ln/>
        </p:spPr>
      </p:sp>
      <p:sp>
        <p:nvSpPr>
          <p:cNvPr id="188" name="Shape 186"/>
          <p:cNvSpPr/>
          <p:nvPr/>
        </p:nvSpPr>
        <p:spPr>
          <a:xfrm>
            <a:off x="3822192" y="4401922"/>
            <a:ext cx="3936492" cy="129845"/>
          </a:xfrm>
          <a:prstGeom prst="roundRect">
            <a:avLst>
              <a:gd name="adj" fmla="val 45775"/>
            </a:avLst>
          </a:prstGeom>
          <a:solidFill>
            <a:srgbClr val="C88A2E"/>
          </a:solidFill>
          <a:ln/>
        </p:spPr>
      </p:sp>
      <p:sp>
        <p:nvSpPr>
          <p:cNvPr id="189" name="Text 187"/>
          <p:cNvSpPr txBox="1"/>
          <p:nvPr/>
        </p:nvSpPr>
        <p:spPr>
          <a:xfrm>
            <a:off x="3895344" y="4389120"/>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Dave</a:t>
            </a:r>
            <a:endParaRPr lang="en-US" sz="650" dirty="0"/>
          </a:p>
        </p:txBody>
      </p:sp>
      <p:sp>
        <p:nvSpPr>
          <p:cNvPr id="190" name="Text 188"/>
          <p:cNvSpPr txBox="1"/>
          <p:nvPr/>
        </p:nvSpPr>
        <p:spPr>
          <a:xfrm>
            <a:off x="457200" y="4557370"/>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H&amp;L Pay - Tyro Parity</a:t>
            </a:r>
            <a:endParaRPr lang="en-US" sz="730" dirty="0"/>
          </a:p>
        </p:txBody>
      </p:sp>
      <p:sp>
        <p:nvSpPr>
          <p:cNvPr id="191" name="Shape 189"/>
          <p:cNvSpPr/>
          <p:nvPr/>
        </p:nvSpPr>
        <p:spPr>
          <a:xfrm>
            <a:off x="3794760" y="4575658"/>
            <a:ext cx="10973" cy="148133"/>
          </a:xfrm>
          <a:prstGeom prst="rect">
            <a:avLst/>
          </a:prstGeom>
          <a:solidFill>
            <a:srgbClr val="E2EAEE"/>
          </a:solidFill>
          <a:ln/>
        </p:spPr>
      </p:sp>
      <p:sp>
        <p:nvSpPr>
          <p:cNvPr id="192" name="Shape 190"/>
          <p:cNvSpPr/>
          <p:nvPr/>
        </p:nvSpPr>
        <p:spPr>
          <a:xfrm>
            <a:off x="5125212" y="4575658"/>
            <a:ext cx="10973" cy="148133"/>
          </a:xfrm>
          <a:prstGeom prst="rect">
            <a:avLst/>
          </a:prstGeom>
          <a:solidFill>
            <a:srgbClr val="E2EAEE"/>
          </a:solidFill>
          <a:ln/>
        </p:spPr>
      </p:sp>
      <p:sp>
        <p:nvSpPr>
          <p:cNvPr id="193" name="Shape 191"/>
          <p:cNvSpPr/>
          <p:nvPr/>
        </p:nvSpPr>
        <p:spPr>
          <a:xfrm>
            <a:off x="6455664" y="4575658"/>
            <a:ext cx="10973" cy="148133"/>
          </a:xfrm>
          <a:prstGeom prst="rect">
            <a:avLst/>
          </a:prstGeom>
          <a:solidFill>
            <a:srgbClr val="E2EAEE"/>
          </a:solidFill>
          <a:ln/>
        </p:spPr>
      </p:sp>
      <p:sp>
        <p:nvSpPr>
          <p:cNvPr id="194" name="Shape 192"/>
          <p:cNvSpPr/>
          <p:nvPr/>
        </p:nvSpPr>
        <p:spPr>
          <a:xfrm>
            <a:off x="7786116" y="4575658"/>
            <a:ext cx="10973" cy="148133"/>
          </a:xfrm>
          <a:prstGeom prst="rect">
            <a:avLst/>
          </a:prstGeom>
          <a:solidFill>
            <a:srgbClr val="E2EAEE"/>
          </a:solidFill>
          <a:ln/>
        </p:spPr>
      </p:sp>
      <p:sp>
        <p:nvSpPr>
          <p:cNvPr id="195" name="Shape 193"/>
          <p:cNvSpPr/>
          <p:nvPr/>
        </p:nvSpPr>
        <p:spPr>
          <a:xfrm>
            <a:off x="9116568" y="4575658"/>
            <a:ext cx="10973" cy="148133"/>
          </a:xfrm>
          <a:prstGeom prst="rect">
            <a:avLst/>
          </a:prstGeom>
          <a:solidFill>
            <a:srgbClr val="E2EAEE"/>
          </a:solidFill>
          <a:ln/>
        </p:spPr>
      </p:sp>
      <p:sp>
        <p:nvSpPr>
          <p:cNvPr id="196" name="Shape 194"/>
          <p:cNvSpPr/>
          <p:nvPr/>
        </p:nvSpPr>
        <p:spPr>
          <a:xfrm>
            <a:off x="10447020" y="4575658"/>
            <a:ext cx="10973" cy="148133"/>
          </a:xfrm>
          <a:prstGeom prst="rect">
            <a:avLst/>
          </a:prstGeom>
          <a:solidFill>
            <a:srgbClr val="E2EAEE"/>
          </a:solidFill>
          <a:ln/>
        </p:spPr>
      </p:sp>
      <p:sp>
        <p:nvSpPr>
          <p:cNvPr id="197" name="Shape 195"/>
          <p:cNvSpPr/>
          <p:nvPr/>
        </p:nvSpPr>
        <p:spPr>
          <a:xfrm>
            <a:off x="5152644" y="4577486"/>
            <a:ext cx="6597396" cy="129845"/>
          </a:xfrm>
          <a:prstGeom prst="roundRect">
            <a:avLst>
              <a:gd name="adj" fmla="val 45775"/>
            </a:avLst>
          </a:prstGeom>
          <a:solidFill>
            <a:srgbClr val="B4552D"/>
          </a:solidFill>
          <a:ln/>
        </p:spPr>
      </p:sp>
      <p:sp>
        <p:nvSpPr>
          <p:cNvPr id="198" name="Text 196"/>
          <p:cNvSpPr txBox="1"/>
          <p:nvPr/>
        </p:nvSpPr>
        <p:spPr>
          <a:xfrm>
            <a:off x="5225796" y="4564685"/>
            <a:ext cx="6487668"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Valpay</a:t>
            </a:r>
            <a:endParaRPr lang="en-US" sz="650" dirty="0"/>
          </a:p>
        </p:txBody>
      </p:sp>
      <p:sp>
        <p:nvSpPr>
          <p:cNvPr id="199" name="Shape 197"/>
          <p:cNvSpPr/>
          <p:nvPr/>
        </p:nvSpPr>
        <p:spPr>
          <a:xfrm>
            <a:off x="411480" y="4732934"/>
            <a:ext cx="11365992" cy="175565"/>
          </a:xfrm>
          <a:prstGeom prst="rect">
            <a:avLst/>
          </a:prstGeom>
          <a:solidFill>
            <a:srgbClr val="FFFFFF"/>
          </a:solidFill>
          <a:ln/>
        </p:spPr>
      </p:sp>
      <p:sp>
        <p:nvSpPr>
          <p:cNvPr id="200" name="Text 198"/>
          <p:cNvSpPr txBox="1"/>
          <p:nvPr/>
        </p:nvSpPr>
        <p:spPr>
          <a:xfrm>
            <a:off x="457200" y="473293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QR Code Ordering</a:t>
            </a:r>
            <a:endParaRPr lang="en-US" sz="730" dirty="0"/>
          </a:p>
        </p:txBody>
      </p:sp>
      <p:sp>
        <p:nvSpPr>
          <p:cNvPr id="201" name="Shape 199"/>
          <p:cNvSpPr/>
          <p:nvPr/>
        </p:nvSpPr>
        <p:spPr>
          <a:xfrm>
            <a:off x="3794760" y="4751222"/>
            <a:ext cx="10973" cy="148133"/>
          </a:xfrm>
          <a:prstGeom prst="rect">
            <a:avLst/>
          </a:prstGeom>
          <a:solidFill>
            <a:srgbClr val="E2EAEE"/>
          </a:solidFill>
          <a:ln/>
        </p:spPr>
      </p:sp>
      <p:sp>
        <p:nvSpPr>
          <p:cNvPr id="202" name="Shape 200"/>
          <p:cNvSpPr/>
          <p:nvPr/>
        </p:nvSpPr>
        <p:spPr>
          <a:xfrm>
            <a:off x="5125212" y="4751222"/>
            <a:ext cx="10973" cy="148133"/>
          </a:xfrm>
          <a:prstGeom prst="rect">
            <a:avLst/>
          </a:prstGeom>
          <a:solidFill>
            <a:srgbClr val="E2EAEE"/>
          </a:solidFill>
          <a:ln/>
        </p:spPr>
      </p:sp>
      <p:sp>
        <p:nvSpPr>
          <p:cNvPr id="203" name="Shape 201"/>
          <p:cNvSpPr/>
          <p:nvPr/>
        </p:nvSpPr>
        <p:spPr>
          <a:xfrm>
            <a:off x="6455664" y="4751222"/>
            <a:ext cx="10973" cy="148133"/>
          </a:xfrm>
          <a:prstGeom prst="rect">
            <a:avLst/>
          </a:prstGeom>
          <a:solidFill>
            <a:srgbClr val="E2EAEE"/>
          </a:solidFill>
          <a:ln/>
        </p:spPr>
      </p:sp>
      <p:sp>
        <p:nvSpPr>
          <p:cNvPr id="204" name="Shape 202"/>
          <p:cNvSpPr/>
          <p:nvPr/>
        </p:nvSpPr>
        <p:spPr>
          <a:xfrm>
            <a:off x="7786116" y="4751222"/>
            <a:ext cx="10973" cy="148133"/>
          </a:xfrm>
          <a:prstGeom prst="rect">
            <a:avLst/>
          </a:prstGeom>
          <a:solidFill>
            <a:srgbClr val="E2EAEE"/>
          </a:solidFill>
          <a:ln/>
        </p:spPr>
      </p:sp>
      <p:sp>
        <p:nvSpPr>
          <p:cNvPr id="205" name="Shape 203"/>
          <p:cNvSpPr/>
          <p:nvPr/>
        </p:nvSpPr>
        <p:spPr>
          <a:xfrm>
            <a:off x="9116568" y="4751222"/>
            <a:ext cx="10973" cy="148133"/>
          </a:xfrm>
          <a:prstGeom prst="rect">
            <a:avLst/>
          </a:prstGeom>
          <a:solidFill>
            <a:srgbClr val="E2EAEE"/>
          </a:solidFill>
          <a:ln/>
        </p:spPr>
      </p:sp>
      <p:sp>
        <p:nvSpPr>
          <p:cNvPr id="206" name="Shape 204"/>
          <p:cNvSpPr/>
          <p:nvPr/>
        </p:nvSpPr>
        <p:spPr>
          <a:xfrm>
            <a:off x="10447020" y="4751222"/>
            <a:ext cx="10973" cy="148133"/>
          </a:xfrm>
          <a:prstGeom prst="rect">
            <a:avLst/>
          </a:prstGeom>
          <a:solidFill>
            <a:srgbClr val="E2EAEE"/>
          </a:solidFill>
          <a:ln/>
        </p:spPr>
      </p:sp>
      <p:sp>
        <p:nvSpPr>
          <p:cNvPr id="207" name="Shape 205"/>
          <p:cNvSpPr/>
          <p:nvPr/>
        </p:nvSpPr>
        <p:spPr>
          <a:xfrm>
            <a:off x="3822192" y="4753051"/>
            <a:ext cx="7927848" cy="129845"/>
          </a:xfrm>
          <a:prstGeom prst="roundRect">
            <a:avLst>
              <a:gd name="adj" fmla="val 45775"/>
            </a:avLst>
          </a:prstGeom>
          <a:solidFill>
            <a:srgbClr val="C88A2E"/>
          </a:solidFill>
          <a:ln/>
        </p:spPr>
      </p:sp>
      <p:sp>
        <p:nvSpPr>
          <p:cNvPr id="208" name="Text 206"/>
          <p:cNvSpPr txBox="1"/>
          <p:nvPr/>
        </p:nvSpPr>
        <p:spPr>
          <a:xfrm>
            <a:off x="3895344" y="4740250"/>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Tony</a:t>
            </a:r>
            <a:endParaRPr lang="en-US" sz="650" dirty="0"/>
          </a:p>
        </p:txBody>
      </p:sp>
      <p:sp>
        <p:nvSpPr>
          <p:cNvPr id="209" name="Text 207"/>
          <p:cNvSpPr txBox="1"/>
          <p:nvPr/>
        </p:nvSpPr>
        <p:spPr>
          <a:xfrm>
            <a:off x="457200" y="490849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Native Apps</a:t>
            </a:r>
            <a:endParaRPr lang="en-US" sz="730" dirty="0"/>
          </a:p>
        </p:txBody>
      </p:sp>
      <p:sp>
        <p:nvSpPr>
          <p:cNvPr id="210" name="Shape 208"/>
          <p:cNvSpPr/>
          <p:nvPr/>
        </p:nvSpPr>
        <p:spPr>
          <a:xfrm>
            <a:off x="3794760" y="4926787"/>
            <a:ext cx="10973" cy="148133"/>
          </a:xfrm>
          <a:prstGeom prst="rect">
            <a:avLst/>
          </a:prstGeom>
          <a:solidFill>
            <a:srgbClr val="E2EAEE"/>
          </a:solidFill>
          <a:ln/>
        </p:spPr>
      </p:sp>
      <p:sp>
        <p:nvSpPr>
          <p:cNvPr id="211" name="Shape 209"/>
          <p:cNvSpPr/>
          <p:nvPr/>
        </p:nvSpPr>
        <p:spPr>
          <a:xfrm>
            <a:off x="5125212" y="4926787"/>
            <a:ext cx="10973" cy="148133"/>
          </a:xfrm>
          <a:prstGeom prst="rect">
            <a:avLst/>
          </a:prstGeom>
          <a:solidFill>
            <a:srgbClr val="E2EAEE"/>
          </a:solidFill>
          <a:ln/>
        </p:spPr>
      </p:sp>
      <p:sp>
        <p:nvSpPr>
          <p:cNvPr id="212" name="Shape 210"/>
          <p:cNvSpPr/>
          <p:nvPr/>
        </p:nvSpPr>
        <p:spPr>
          <a:xfrm>
            <a:off x="6455664" y="4926787"/>
            <a:ext cx="10973" cy="148133"/>
          </a:xfrm>
          <a:prstGeom prst="rect">
            <a:avLst/>
          </a:prstGeom>
          <a:solidFill>
            <a:srgbClr val="E2EAEE"/>
          </a:solidFill>
          <a:ln/>
        </p:spPr>
      </p:sp>
      <p:sp>
        <p:nvSpPr>
          <p:cNvPr id="213" name="Shape 211"/>
          <p:cNvSpPr/>
          <p:nvPr/>
        </p:nvSpPr>
        <p:spPr>
          <a:xfrm>
            <a:off x="7786116" y="4926787"/>
            <a:ext cx="10973" cy="148133"/>
          </a:xfrm>
          <a:prstGeom prst="rect">
            <a:avLst/>
          </a:prstGeom>
          <a:solidFill>
            <a:srgbClr val="E2EAEE"/>
          </a:solidFill>
          <a:ln/>
        </p:spPr>
      </p:sp>
      <p:sp>
        <p:nvSpPr>
          <p:cNvPr id="214" name="Shape 212"/>
          <p:cNvSpPr/>
          <p:nvPr/>
        </p:nvSpPr>
        <p:spPr>
          <a:xfrm>
            <a:off x="9116568" y="4926787"/>
            <a:ext cx="10973" cy="148133"/>
          </a:xfrm>
          <a:prstGeom prst="rect">
            <a:avLst/>
          </a:prstGeom>
          <a:solidFill>
            <a:srgbClr val="E2EAEE"/>
          </a:solidFill>
          <a:ln/>
        </p:spPr>
      </p:sp>
      <p:sp>
        <p:nvSpPr>
          <p:cNvPr id="215" name="Shape 213"/>
          <p:cNvSpPr/>
          <p:nvPr/>
        </p:nvSpPr>
        <p:spPr>
          <a:xfrm>
            <a:off x="10447020" y="4926787"/>
            <a:ext cx="10973" cy="148133"/>
          </a:xfrm>
          <a:prstGeom prst="rect">
            <a:avLst/>
          </a:prstGeom>
          <a:solidFill>
            <a:srgbClr val="E2EAEE"/>
          </a:solidFill>
          <a:ln/>
        </p:spPr>
      </p:sp>
      <p:sp>
        <p:nvSpPr>
          <p:cNvPr id="216" name="Shape 214"/>
          <p:cNvSpPr/>
          <p:nvPr/>
        </p:nvSpPr>
        <p:spPr>
          <a:xfrm>
            <a:off x="3822192" y="4928616"/>
            <a:ext cx="3936492" cy="129845"/>
          </a:xfrm>
          <a:prstGeom prst="roundRect">
            <a:avLst>
              <a:gd name="adj" fmla="val 45775"/>
            </a:avLst>
          </a:prstGeom>
          <a:solidFill>
            <a:srgbClr val="C88A2E"/>
          </a:solidFill>
          <a:ln/>
        </p:spPr>
      </p:sp>
      <p:sp>
        <p:nvSpPr>
          <p:cNvPr id="217" name="Text 215"/>
          <p:cNvSpPr txBox="1"/>
          <p:nvPr/>
        </p:nvSpPr>
        <p:spPr>
          <a:xfrm>
            <a:off x="3895344" y="491581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18" name="Shape 216"/>
          <p:cNvSpPr/>
          <p:nvPr/>
        </p:nvSpPr>
        <p:spPr>
          <a:xfrm>
            <a:off x="411480" y="5084064"/>
            <a:ext cx="11365992" cy="175565"/>
          </a:xfrm>
          <a:prstGeom prst="rect">
            <a:avLst/>
          </a:prstGeom>
          <a:solidFill>
            <a:srgbClr val="FFFFFF"/>
          </a:solidFill>
          <a:ln/>
        </p:spPr>
      </p:sp>
      <p:sp>
        <p:nvSpPr>
          <p:cNvPr id="219" name="Text 217"/>
          <p:cNvSpPr txBox="1"/>
          <p:nvPr/>
        </p:nvSpPr>
        <p:spPr>
          <a:xfrm>
            <a:off x="457200" y="508406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Adyen Native SDK</a:t>
            </a:r>
            <a:endParaRPr lang="en-US" sz="730" dirty="0"/>
          </a:p>
        </p:txBody>
      </p:sp>
      <p:sp>
        <p:nvSpPr>
          <p:cNvPr id="220" name="Shape 218"/>
          <p:cNvSpPr/>
          <p:nvPr/>
        </p:nvSpPr>
        <p:spPr>
          <a:xfrm>
            <a:off x="3794760" y="5102352"/>
            <a:ext cx="10973" cy="148133"/>
          </a:xfrm>
          <a:prstGeom prst="rect">
            <a:avLst/>
          </a:prstGeom>
          <a:solidFill>
            <a:srgbClr val="E2EAEE"/>
          </a:solidFill>
          <a:ln/>
        </p:spPr>
      </p:sp>
      <p:sp>
        <p:nvSpPr>
          <p:cNvPr id="221" name="Shape 219"/>
          <p:cNvSpPr/>
          <p:nvPr/>
        </p:nvSpPr>
        <p:spPr>
          <a:xfrm>
            <a:off x="5125212" y="5102352"/>
            <a:ext cx="10973" cy="148133"/>
          </a:xfrm>
          <a:prstGeom prst="rect">
            <a:avLst/>
          </a:prstGeom>
          <a:solidFill>
            <a:srgbClr val="E2EAEE"/>
          </a:solidFill>
          <a:ln/>
        </p:spPr>
      </p:sp>
      <p:sp>
        <p:nvSpPr>
          <p:cNvPr id="222" name="Shape 220"/>
          <p:cNvSpPr/>
          <p:nvPr/>
        </p:nvSpPr>
        <p:spPr>
          <a:xfrm>
            <a:off x="6455664" y="5102352"/>
            <a:ext cx="10973" cy="148133"/>
          </a:xfrm>
          <a:prstGeom prst="rect">
            <a:avLst/>
          </a:prstGeom>
          <a:solidFill>
            <a:srgbClr val="E2EAEE"/>
          </a:solidFill>
          <a:ln/>
        </p:spPr>
      </p:sp>
      <p:sp>
        <p:nvSpPr>
          <p:cNvPr id="223" name="Shape 221"/>
          <p:cNvSpPr/>
          <p:nvPr/>
        </p:nvSpPr>
        <p:spPr>
          <a:xfrm>
            <a:off x="7786116" y="5102352"/>
            <a:ext cx="10973" cy="148133"/>
          </a:xfrm>
          <a:prstGeom prst="rect">
            <a:avLst/>
          </a:prstGeom>
          <a:solidFill>
            <a:srgbClr val="E2EAEE"/>
          </a:solidFill>
          <a:ln/>
        </p:spPr>
      </p:sp>
      <p:sp>
        <p:nvSpPr>
          <p:cNvPr id="224" name="Shape 222"/>
          <p:cNvSpPr/>
          <p:nvPr/>
        </p:nvSpPr>
        <p:spPr>
          <a:xfrm>
            <a:off x="9116568" y="5102352"/>
            <a:ext cx="10973" cy="148133"/>
          </a:xfrm>
          <a:prstGeom prst="rect">
            <a:avLst/>
          </a:prstGeom>
          <a:solidFill>
            <a:srgbClr val="E2EAEE"/>
          </a:solidFill>
          <a:ln/>
        </p:spPr>
      </p:sp>
      <p:sp>
        <p:nvSpPr>
          <p:cNvPr id="225" name="Shape 223"/>
          <p:cNvSpPr/>
          <p:nvPr/>
        </p:nvSpPr>
        <p:spPr>
          <a:xfrm>
            <a:off x="10447020" y="5102352"/>
            <a:ext cx="10973" cy="148133"/>
          </a:xfrm>
          <a:prstGeom prst="rect">
            <a:avLst/>
          </a:prstGeom>
          <a:solidFill>
            <a:srgbClr val="E2EAEE"/>
          </a:solidFill>
          <a:ln/>
        </p:spPr>
      </p:sp>
      <p:sp>
        <p:nvSpPr>
          <p:cNvPr id="226" name="Shape 224"/>
          <p:cNvSpPr/>
          <p:nvPr/>
        </p:nvSpPr>
        <p:spPr>
          <a:xfrm>
            <a:off x="3822192" y="5104181"/>
            <a:ext cx="3936492" cy="129845"/>
          </a:xfrm>
          <a:prstGeom prst="roundRect">
            <a:avLst>
              <a:gd name="adj" fmla="val 45775"/>
            </a:avLst>
          </a:prstGeom>
          <a:solidFill>
            <a:srgbClr val="C88A2E"/>
          </a:solidFill>
          <a:ln/>
        </p:spPr>
      </p:sp>
      <p:sp>
        <p:nvSpPr>
          <p:cNvPr id="227" name="Text 225"/>
          <p:cNvSpPr txBox="1"/>
          <p:nvPr/>
        </p:nvSpPr>
        <p:spPr>
          <a:xfrm>
            <a:off x="3895344" y="5091379"/>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28" name="Text 226"/>
          <p:cNvSpPr txBox="1"/>
          <p:nvPr/>
        </p:nvSpPr>
        <p:spPr>
          <a:xfrm>
            <a:off x="457200" y="5259629"/>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Tyro Tap to Pay</a:t>
            </a:r>
            <a:endParaRPr lang="en-US" sz="730" dirty="0"/>
          </a:p>
        </p:txBody>
      </p:sp>
      <p:sp>
        <p:nvSpPr>
          <p:cNvPr id="229" name="Shape 227"/>
          <p:cNvSpPr/>
          <p:nvPr/>
        </p:nvSpPr>
        <p:spPr>
          <a:xfrm>
            <a:off x="3794760" y="5277917"/>
            <a:ext cx="10973" cy="148133"/>
          </a:xfrm>
          <a:prstGeom prst="rect">
            <a:avLst/>
          </a:prstGeom>
          <a:solidFill>
            <a:srgbClr val="E2EAEE"/>
          </a:solidFill>
          <a:ln/>
        </p:spPr>
      </p:sp>
      <p:sp>
        <p:nvSpPr>
          <p:cNvPr id="230" name="Shape 228"/>
          <p:cNvSpPr/>
          <p:nvPr/>
        </p:nvSpPr>
        <p:spPr>
          <a:xfrm>
            <a:off x="5125212" y="5277917"/>
            <a:ext cx="10973" cy="148133"/>
          </a:xfrm>
          <a:prstGeom prst="rect">
            <a:avLst/>
          </a:prstGeom>
          <a:solidFill>
            <a:srgbClr val="E2EAEE"/>
          </a:solidFill>
          <a:ln/>
        </p:spPr>
      </p:sp>
      <p:sp>
        <p:nvSpPr>
          <p:cNvPr id="231" name="Shape 229"/>
          <p:cNvSpPr/>
          <p:nvPr/>
        </p:nvSpPr>
        <p:spPr>
          <a:xfrm>
            <a:off x="6455664" y="5277917"/>
            <a:ext cx="10973" cy="148133"/>
          </a:xfrm>
          <a:prstGeom prst="rect">
            <a:avLst/>
          </a:prstGeom>
          <a:solidFill>
            <a:srgbClr val="E2EAEE"/>
          </a:solidFill>
          <a:ln/>
        </p:spPr>
      </p:sp>
      <p:sp>
        <p:nvSpPr>
          <p:cNvPr id="232" name="Shape 230"/>
          <p:cNvSpPr/>
          <p:nvPr/>
        </p:nvSpPr>
        <p:spPr>
          <a:xfrm>
            <a:off x="7786116" y="5277917"/>
            <a:ext cx="10973" cy="148133"/>
          </a:xfrm>
          <a:prstGeom prst="rect">
            <a:avLst/>
          </a:prstGeom>
          <a:solidFill>
            <a:srgbClr val="E2EAEE"/>
          </a:solidFill>
          <a:ln/>
        </p:spPr>
      </p:sp>
      <p:sp>
        <p:nvSpPr>
          <p:cNvPr id="233" name="Shape 231"/>
          <p:cNvSpPr/>
          <p:nvPr/>
        </p:nvSpPr>
        <p:spPr>
          <a:xfrm>
            <a:off x="9116568" y="5277917"/>
            <a:ext cx="10973" cy="148133"/>
          </a:xfrm>
          <a:prstGeom prst="rect">
            <a:avLst/>
          </a:prstGeom>
          <a:solidFill>
            <a:srgbClr val="E2EAEE"/>
          </a:solidFill>
          <a:ln/>
        </p:spPr>
      </p:sp>
      <p:sp>
        <p:nvSpPr>
          <p:cNvPr id="234" name="Shape 232"/>
          <p:cNvSpPr/>
          <p:nvPr/>
        </p:nvSpPr>
        <p:spPr>
          <a:xfrm>
            <a:off x="10447020" y="5277917"/>
            <a:ext cx="10973" cy="148133"/>
          </a:xfrm>
          <a:prstGeom prst="rect">
            <a:avLst/>
          </a:prstGeom>
          <a:solidFill>
            <a:srgbClr val="E2EAEE"/>
          </a:solidFill>
          <a:ln/>
        </p:spPr>
      </p:sp>
      <p:sp>
        <p:nvSpPr>
          <p:cNvPr id="235" name="Shape 233"/>
          <p:cNvSpPr/>
          <p:nvPr/>
        </p:nvSpPr>
        <p:spPr>
          <a:xfrm>
            <a:off x="3822192" y="5279746"/>
            <a:ext cx="3936492" cy="129845"/>
          </a:xfrm>
          <a:prstGeom prst="roundRect">
            <a:avLst>
              <a:gd name="adj" fmla="val 45775"/>
            </a:avLst>
          </a:prstGeom>
          <a:solidFill>
            <a:srgbClr val="C88A2E"/>
          </a:solidFill>
          <a:ln/>
        </p:spPr>
      </p:sp>
      <p:sp>
        <p:nvSpPr>
          <p:cNvPr id="236" name="Text 234"/>
          <p:cNvSpPr txBox="1"/>
          <p:nvPr/>
        </p:nvSpPr>
        <p:spPr>
          <a:xfrm>
            <a:off x="3895344" y="5266944"/>
            <a:ext cx="3826764"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 Eric</a:t>
            </a:r>
            <a:endParaRPr lang="en-US" sz="650" dirty="0"/>
          </a:p>
        </p:txBody>
      </p:sp>
      <p:sp>
        <p:nvSpPr>
          <p:cNvPr id="237" name="Shape 235"/>
          <p:cNvSpPr/>
          <p:nvPr/>
        </p:nvSpPr>
        <p:spPr>
          <a:xfrm>
            <a:off x="411480" y="5435194"/>
            <a:ext cx="11365992" cy="175565"/>
          </a:xfrm>
          <a:prstGeom prst="rect">
            <a:avLst/>
          </a:prstGeom>
          <a:solidFill>
            <a:srgbClr val="FFFFFF"/>
          </a:solidFill>
          <a:ln/>
        </p:spPr>
      </p:sp>
      <p:sp>
        <p:nvSpPr>
          <p:cNvPr id="238" name="Text 236"/>
          <p:cNvSpPr txBox="1"/>
          <p:nvPr/>
        </p:nvSpPr>
        <p:spPr>
          <a:xfrm>
            <a:off x="457200" y="5435194"/>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Floorplan</a:t>
            </a:r>
            <a:endParaRPr lang="en-US" sz="730" dirty="0"/>
          </a:p>
        </p:txBody>
      </p:sp>
      <p:sp>
        <p:nvSpPr>
          <p:cNvPr id="239" name="Shape 237"/>
          <p:cNvSpPr/>
          <p:nvPr/>
        </p:nvSpPr>
        <p:spPr>
          <a:xfrm>
            <a:off x="3794760" y="5453482"/>
            <a:ext cx="10973" cy="148133"/>
          </a:xfrm>
          <a:prstGeom prst="rect">
            <a:avLst/>
          </a:prstGeom>
          <a:solidFill>
            <a:srgbClr val="E2EAEE"/>
          </a:solidFill>
          <a:ln/>
        </p:spPr>
      </p:sp>
      <p:sp>
        <p:nvSpPr>
          <p:cNvPr id="240" name="Shape 238"/>
          <p:cNvSpPr/>
          <p:nvPr/>
        </p:nvSpPr>
        <p:spPr>
          <a:xfrm>
            <a:off x="5125212" y="5453482"/>
            <a:ext cx="10973" cy="148133"/>
          </a:xfrm>
          <a:prstGeom prst="rect">
            <a:avLst/>
          </a:prstGeom>
          <a:solidFill>
            <a:srgbClr val="E2EAEE"/>
          </a:solidFill>
          <a:ln/>
        </p:spPr>
      </p:sp>
      <p:sp>
        <p:nvSpPr>
          <p:cNvPr id="241" name="Shape 239"/>
          <p:cNvSpPr/>
          <p:nvPr/>
        </p:nvSpPr>
        <p:spPr>
          <a:xfrm>
            <a:off x="6455664" y="5453482"/>
            <a:ext cx="10973" cy="148133"/>
          </a:xfrm>
          <a:prstGeom prst="rect">
            <a:avLst/>
          </a:prstGeom>
          <a:solidFill>
            <a:srgbClr val="E2EAEE"/>
          </a:solidFill>
          <a:ln/>
        </p:spPr>
      </p:sp>
      <p:sp>
        <p:nvSpPr>
          <p:cNvPr id="242" name="Shape 240"/>
          <p:cNvSpPr/>
          <p:nvPr/>
        </p:nvSpPr>
        <p:spPr>
          <a:xfrm>
            <a:off x="7786116" y="5453482"/>
            <a:ext cx="10973" cy="148133"/>
          </a:xfrm>
          <a:prstGeom prst="rect">
            <a:avLst/>
          </a:prstGeom>
          <a:solidFill>
            <a:srgbClr val="E2EAEE"/>
          </a:solidFill>
          <a:ln/>
        </p:spPr>
      </p:sp>
      <p:sp>
        <p:nvSpPr>
          <p:cNvPr id="243" name="Shape 241"/>
          <p:cNvSpPr/>
          <p:nvPr/>
        </p:nvSpPr>
        <p:spPr>
          <a:xfrm>
            <a:off x="9116568" y="5453482"/>
            <a:ext cx="10973" cy="148133"/>
          </a:xfrm>
          <a:prstGeom prst="rect">
            <a:avLst/>
          </a:prstGeom>
          <a:solidFill>
            <a:srgbClr val="E2EAEE"/>
          </a:solidFill>
          <a:ln/>
        </p:spPr>
      </p:sp>
      <p:sp>
        <p:nvSpPr>
          <p:cNvPr id="244" name="Shape 242"/>
          <p:cNvSpPr/>
          <p:nvPr/>
        </p:nvSpPr>
        <p:spPr>
          <a:xfrm>
            <a:off x="10447020" y="5453482"/>
            <a:ext cx="10973" cy="148133"/>
          </a:xfrm>
          <a:prstGeom prst="rect">
            <a:avLst/>
          </a:prstGeom>
          <a:solidFill>
            <a:srgbClr val="E2EAEE"/>
          </a:solidFill>
          <a:ln/>
        </p:spPr>
      </p:sp>
      <p:sp>
        <p:nvSpPr>
          <p:cNvPr id="245" name="Shape 243"/>
          <p:cNvSpPr/>
          <p:nvPr/>
        </p:nvSpPr>
        <p:spPr>
          <a:xfrm>
            <a:off x="3822192" y="5455310"/>
            <a:ext cx="1275588" cy="129845"/>
          </a:xfrm>
          <a:prstGeom prst="roundRect">
            <a:avLst>
              <a:gd name="adj" fmla="val 45775"/>
            </a:avLst>
          </a:prstGeom>
          <a:solidFill>
            <a:srgbClr val="C88A2E"/>
          </a:solidFill>
          <a:ln/>
        </p:spPr>
      </p:sp>
      <p:sp>
        <p:nvSpPr>
          <p:cNvPr id="246" name="Text 244"/>
          <p:cNvSpPr txBox="1"/>
          <p:nvPr/>
        </p:nvSpPr>
        <p:spPr>
          <a:xfrm>
            <a:off x="3895344" y="5442509"/>
            <a:ext cx="116586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47" name="Text 245"/>
          <p:cNvSpPr txBox="1"/>
          <p:nvPr/>
        </p:nvSpPr>
        <p:spPr>
          <a:xfrm>
            <a:off x="457200" y="561075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The Pass Integration</a:t>
            </a:r>
            <a:endParaRPr lang="en-US" sz="730" dirty="0"/>
          </a:p>
        </p:txBody>
      </p:sp>
      <p:sp>
        <p:nvSpPr>
          <p:cNvPr id="248" name="Shape 246"/>
          <p:cNvSpPr/>
          <p:nvPr/>
        </p:nvSpPr>
        <p:spPr>
          <a:xfrm>
            <a:off x="3794760" y="5629046"/>
            <a:ext cx="10973" cy="148133"/>
          </a:xfrm>
          <a:prstGeom prst="rect">
            <a:avLst/>
          </a:prstGeom>
          <a:solidFill>
            <a:srgbClr val="E2EAEE"/>
          </a:solidFill>
          <a:ln/>
        </p:spPr>
      </p:sp>
      <p:sp>
        <p:nvSpPr>
          <p:cNvPr id="249" name="Shape 247"/>
          <p:cNvSpPr/>
          <p:nvPr/>
        </p:nvSpPr>
        <p:spPr>
          <a:xfrm>
            <a:off x="5125212" y="5629046"/>
            <a:ext cx="10973" cy="148133"/>
          </a:xfrm>
          <a:prstGeom prst="rect">
            <a:avLst/>
          </a:prstGeom>
          <a:solidFill>
            <a:srgbClr val="E2EAEE"/>
          </a:solidFill>
          <a:ln/>
        </p:spPr>
      </p:sp>
      <p:sp>
        <p:nvSpPr>
          <p:cNvPr id="250" name="Shape 248"/>
          <p:cNvSpPr/>
          <p:nvPr/>
        </p:nvSpPr>
        <p:spPr>
          <a:xfrm>
            <a:off x="6455664" y="5629046"/>
            <a:ext cx="10973" cy="148133"/>
          </a:xfrm>
          <a:prstGeom prst="rect">
            <a:avLst/>
          </a:prstGeom>
          <a:solidFill>
            <a:srgbClr val="E2EAEE"/>
          </a:solidFill>
          <a:ln/>
        </p:spPr>
      </p:sp>
      <p:sp>
        <p:nvSpPr>
          <p:cNvPr id="251" name="Shape 249"/>
          <p:cNvSpPr/>
          <p:nvPr/>
        </p:nvSpPr>
        <p:spPr>
          <a:xfrm>
            <a:off x="7786116" y="5629046"/>
            <a:ext cx="10973" cy="148133"/>
          </a:xfrm>
          <a:prstGeom prst="rect">
            <a:avLst/>
          </a:prstGeom>
          <a:solidFill>
            <a:srgbClr val="E2EAEE"/>
          </a:solidFill>
          <a:ln/>
        </p:spPr>
      </p:sp>
      <p:sp>
        <p:nvSpPr>
          <p:cNvPr id="252" name="Shape 250"/>
          <p:cNvSpPr/>
          <p:nvPr/>
        </p:nvSpPr>
        <p:spPr>
          <a:xfrm>
            <a:off x="9116568" y="5629046"/>
            <a:ext cx="10973" cy="148133"/>
          </a:xfrm>
          <a:prstGeom prst="rect">
            <a:avLst/>
          </a:prstGeom>
          <a:solidFill>
            <a:srgbClr val="E2EAEE"/>
          </a:solidFill>
          <a:ln/>
        </p:spPr>
      </p:sp>
      <p:sp>
        <p:nvSpPr>
          <p:cNvPr id="253" name="Shape 251"/>
          <p:cNvSpPr/>
          <p:nvPr/>
        </p:nvSpPr>
        <p:spPr>
          <a:xfrm>
            <a:off x="10447020" y="5629046"/>
            <a:ext cx="10973" cy="148133"/>
          </a:xfrm>
          <a:prstGeom prst="rect">
            <a:avLst/>
          </a:prstGeom>
          <a:solidFill>
            <a:srgbClr val="E2EAEE"/>
          </a:solidFill>
          <a:ln/>
        </p:spPr>
      </p:sp>
      <p:sp>
        <p:nvSpPr>
          <p:cNvPr id="254" name="Shape 252"/>
          <p:cNvSpPr/>
          <p:nvPr/>
        </p:nvSpPr>
        <p:spPr>
          <a:xfrm>
            <a:off x="6483096" y="5630875"/>
            <a:ext cx="5266944" cy="129845"/>
          </a:xfrm>
          <a:prstGeom prst="roundRect">
            <a:avLst>
              <a:gd name="adj" fmla="val 45775"/>
            </a:avLst>
          </a:prstGeom>
          <a:solidFill>
            <a:srgbClr val="B4552D"/>
          </a:solidFill>
          <a:ln/>
        </p:spPr>
      </p:sp>
      <p:sp>
        <p:nvSpPr>
          <p:cNvPr id="255" name="Text 253"/>
          <p:cNvSpPr txBox="1"/>
          <p:nvPr/>
        </p:nvSpPr>
        <p:spPr>
          <a:xfrm>
            <a:off x="6556248" y="5618074"/>
            <a:ext cx="5157216"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Nidhi</a:t>
            </a:r>
            <a:endParaRPr lang="en-US" sz="650" dirty="0"/>
          </a:p>
        </p:txBody>
      </p:sp>
      <p:sp>
        <p:nvSpPr>
          <p:cNvPr id="256" name="Shape 254"/>
          <p:cNvSpPr/>
          <p:nvPr/>
        </p:nvSpPr>
        <p:spPr>
          <a:xfrm>
            <a:off x="411480" y="5786323"/>
            <a:ext cx="11365992" cy="175565"/>
          </a:xfrm>
          <a:prstGeom prst="rect">
            <a:avLst/>
          </a:prstGeom>
          <a:solidFill>
            <a:srgbClr val="FFFFFF"/>
          </a:solidFill>
          <a:ln/>
        </p:spPr>
      </p:sp>
      <p:sp>
        <p:nvSpPr>
          <p:cNvPr id="257" name="Text 255"/>
          <p:cNvSpPr txBox="1"/>
          <p:nvPr/>
        </p:nvSpPr>
        <p:spPr>
          <a:xfrm>
            <a:off x="457200" y="578632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Quick Sale for Events</a:t>
            </a:r>
            <a:endParaRPr lang="en-US" sz="730" dirty="0"/>
          </a:p>
        </p:txBody>
      </p:sp>
      <p:sp>
        <p:nvSpPr>
          <p:cNvPr id="258" name="Shape 256"/>
          <p:cNvSpPr/>
          <p:nvPr/>
        </p:nvSpPr>
        <p:spPr>
          <a:xfrm>
            <a:off x="3794760" y="5804611"/>
            <a:ext cx="10973" cy="148133"/>
          </a:xfrm>
          <a:prstGeom prst="rect">
            <a:avLst/>
          </a:prstGeom>
          <a:solidFill>
            <a:srgbClr val="E2EAEE"/>
          </a:solidFill>
          <a:ln/>
        </p:spPr>
      </p:sp>
      <p:sp>
        <p:nvSpPr>
          <p:cNvPr id="259" name="Shape 257"/>
          <p:cNvSpPr/>
          <p:nvPr/>
        </p:nvSpPr>
        <p:spPr>
          <a:xfrm>
            <a:off x="5125212" y="5804611"/>
            <a:ext cx="10973" cy="148133"/>
          </a:xfrm>
          <a:prstGeom prst="rect">
            <a:avLst/>
          </a:prstGeom>
          <a:solidFill>
            <a:srgbClr val="E2EAEE"/>
          </a:solidFill>
          <a:ln/>
        </p:spPr>
      </p:sp>
      <p:sp>
        <p:nvSpPr>
          <p:cNvPr id="260" name="Shape 258"/>
          <p:cNvSpPr/>
          <p:nvPr/>
        </p:nvSpPr>
        <p:spPr>
          <a:xfrm>
            <a:off x="6455664" y="5804611"/>
            <a:ext cx="10973" cy="148133"/>
          </a:xfrm>
          <a:prstGeom prst="rect">
            <a:avLst/>
          </a:prstGeom>
          <a:solidFill>
            <a:srgbClr val="E2EAEE"/>
          </a:solidFill>
          <a:ln/>
        </p:spPr>
      </p:sp>
      <p:sp>
        <p:nvSpPr>
          <p:cNvPr id="261" name="Shape 259"/>
          <p:cNvSpPr/>
          <p:nvPr/>
        </p:nvSpPr>
        <p:spPr>
          <a:xfrm>
            <a:off x="7786116" y="5804611"/>
            <a:ext cx="10973" cy="148133"/>
          </a:xfrm>
          <a:prstGeom prst="rect">
            <a:avLst/>
          </a:prstGeom>
          <a:solidFill>
            <a:srgbClr val="E2EAEE"/>
          </a:solidFill>
          <a:ln/>
        </p:spPr>
      </p:sp>
      <p:sp>
        <p:nvSpPr>
          <p:cNvPr id="262" name="Shape 260"/>
          <p:cNvSpPr/>
          <p:nvPr/>
        </p:nvSpPr>
        <p:spPr>
          <a:xfrm>
            <a:off x="9116568" y="5804611"/>
            <a:ext cx="10973" cy="148133"/>
          </a:xfrm>
          <a:prstGeom prst="rect">
            <a:avLst/>
          </a:prstGeom>
          <a:solidFill>
            <a:srgbClr val="E2EAEE"/>
          </a:solidFill>
          <a:ln/>
        </p:spPr>
      </p:sp>
      <p:sp>
        <p:nvSpPr>
          <p:cNvPr id="263" name="Shape 261"/>
          <p:cNvSpPr/>
          <p:nvPr/>
        </p:nvSpPr>
        <p:spPr>
          <a:xfrm>
            <a:off x="10447020" y="5804611"/>
            <a:ext cx="10973" cy="148133"/>
          </a:xfrm>
          <a:prstGeom prst="rect">
            <a:avLst/>
          </a:prstGeom>
          <a:solidFill>
            <a:srgbClr val="E2EAEE"/>
          </a:solidFill>
          <a:ln/>
        </p:spPr>
      </p:sp>
      <p:sp>
        <p:nvSpPr>
          <p:cNvPr id="264" name="Shape 262"/>
          <p:cNvSpPr/>
          <p:nvPr/>
        </p:nvSpPr>
        <p:spPr>
          <a:xfrm>
            <a:off x="6483096" y="5806440"/>
            <a:ext cx="2606040" cy="129845"/>
          </a:xfrm>
          <a:prstGeom prst="roundRect">
            <a:avLst>
              <a:gd name="adj" fmla="val 45775"/>
            </a:avLst>
          </a:prstGeom>
          <a:solidFill>
            <a:srgbClr val="C88A2E"/>
          </a:solidFill>
          <a:ln/>
        </p:spPr>
      </p:sp>
      <p:sp>
        <p:nvSpPr>
          <p:cNvPr id="265" name="Text 263"/>
          <p:cNvSpPr txBox="1"/>
          <p:nvPr/>
        </p:nvSpPr>
        <p:spPr>
          <a:xfrm>
            <a:off x="6556248" y="5793638"/>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66" name="Text 264"/>
          <p:cNvSpPr txBox="1"/>
          <p:nvPr/>
        </p:nvSpPr>
        <p:spPr>
          <a:xfrm>
            <a:off x="457200" y="5961888"/>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Mobile POS - Happy Hour</a:t>
            </a:r>
            <a:endParaRPr lang="en-US" sz="730" dirty="0"/>
          </a:p>
        </p:txBody>
      </p:sp>
      <p:sp>
        <p:nvSpPr>
          <p:cNvPr id="267" name="Shape 265"/>
          <p:cNvSpPr/>
          <p:nvPr/>
        </p:nvSpPr>
        <p:spPr>
          <a:xfrm>
            <a:off x="3794760" y="5980176"/>
            <a:ext cx="10973" cy="148133"/>
          </a:xfrm>
          <a:prstGeom prst="rect">
            <a:avLst/>
          </a:prstGeom>
          <a:solidFill>
            <a:srgbClr val="E2EAEE"/>
          </a:solidFill>
          <a:ln/>
        </p:spPr>
      </p:sp>
      <p:sp>
        <p:nvSpPr>
          <p:cNvPr id="268" name="Shape 266"/>
          <p:cNvSpPr/>
          <p:nvPr/>
        </p:nvSpPr>
        <p:spPr>
          <a:xfrm>
            <a:off x="5125212" y="5980176"/>
            <a:ext cx="10973" cy="148133"/>
          </a:xfrm>
          <a:prstGeom prst="rect">
            <a:avLst/>
          </a:prstGeom>
          <a:solidFill>
            <a:srgbClr val="E2EAEE"/>
          </a:solidFill>
          <a:ln/>
        </p:spPr>
      </p:sp>
      <p:sp>
        <p:nvSpPr>
          <p:cNvPr id="269" name="Shape 267"/>
          <p:cNvSpPr/>
          <p:nvPr/>
        </p:nvSpPr>
        <p:spPr>
          <a:xfrm>
            <a:off x="6455664" y="5980176"/>
            <a:ext cx="10973" cy="148133"/>
          </a:xfrm>
          <a:prstGeom prst="rect">
            <a:avLst/>
          </a:prstGeom>
          <a:solidFill>
            <a:srgbClr val="E2EAEE"/>
          </a:solidFill>
          <a:ln/>
        </p:spPr>
      </p:sp>
      <p:sp>
        <p:nvSpPr>
          <p:cNvPr id="270" name="Shape 268"/>
          <p:cNvSpPr/>
          <p:nvPr/>
        </p:nvSpPr>
        <p:spPr>
          <a:xfrm>
            <a:off x="7786116" y="5980176"/>
            <a:ext cx="10973" cy="148133"/>
          </a:xfrm>
          <a:prstGeom prst="rect">
            <a:avLst/>
          </a:prstGeom>
          <a:solidFill>
            <a:srgbClr val="E2EAEE"/>
          </a:solidFill>
          <a:ln/>
        </p:spPr>
      </p:sp>
      <p:sp>
        <p:nvSpPr>
          <p:cNvPr id="271" name="Shape 269"/>
          <p:cNvSpPr/>
          <p:nvPr/>
        </p:nvSpPr>
        <p:spPr>
          <a:xfrm>
            <a:off x="9116568" y="5980176"/>
            <a:ext cx="10973" cy="148133"/>
          </a:xfrm>
          <a:prstGeom prst="rect">
            <a:avLst/>
          </a:prstGeom>
          <a:solidFill>
            <a:srgbClr val="E2EAEE"/>
          </a:solidFill>
          <a:ln/>
        </p:spPr>
      </p:sp>
      <p:sp>
        <p:nvSpPr>
          <p:cNvPr id="272" name="Shape 270"/>
          <p:cNvSpPr/>
          <p:nvPr/>
        </p:nvSpPr>
        <p:spPr>
          <a:xfrm>
            <a:off x="10447020" y="5980176"/>
            <a:ext cx="10973" cy="148133"/>
          </a:xfrm>
          <a:prstGeom prst="rect">
            <a:avLst/>
          </a:prstGeom>
          <a:solidFill>
            <a:srgbClr val="E2EAEE"/>
          </a:solidFill>
          <a:ln/>
        </p:spPr>
      </p:sp>
      <p:sp>
        <p:nvSpPr>
          <p:cNvPr id="273" name="Shape 271"/>
          <p:cNvSpPr/>
          <p:nvPr/>
        </p:nvSpPr>
        <p:spPr>
          <a:xfrm>
            <a:off x="9144000" y="5982005"/>
            <a:ext cx="2606040" cy="129845"/>
          </a:xfrm>
          <a:prstGeom prst="roundRect">
            <a:avLst>
              <a:gd name="adj" fmla="val 45775"/>
            </a:avLst>
          </a:prstGeom>
          <a:solidFill>
            <a:srgbClr val="C88A2E"/>
          </a:solidFill>
          <a:ln/>
        </p:spPr>
      </p:sp>
      <p:sp>
        <p:nvSpPr>
          <p:cNvPr id="274" name="Text 272"/>
          <p:cNvSpPr txBox="1"/>
          <p:nvPr/>
        </p:nvSpPr>
        <p:spPr>
          <a:xfrm>
            <a:off x="9217152" y="5969203"/>
            <a:ext cx="2496312"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Eric</a:t>
            </a:r>
            <a:endParaRPr lang="en-US" sz="650" dirty="0"/>
          </a:p>
        </p:txBody>
      </p:sp>
      <p:sp>
        <p:nvSpPr>
          <p:cNvPr id="275" name="Shape 273"/>
          <p:cNvSpPr/>
          <p:nvPr/>
        </p:nvSpPr>
        <p:spPr>
          <a:xfrm>
            <a:off x="411480" y="6137453"/>
            <a:ext cx="11365992" cy="175565"/>
          </a:xfrm>
          <a:prstGeom prst="rect">
            <a:avLst/>
          </a:prstGeom>
          <a:solidFill>
            <a:srgbClr val="FFFFFF"/>
          </a:solidFill>
          <a:ln/>
        </p:spPr>
      </p:sp>
      <p:sp>
        <p:nvSpPr>
          <p:cNvPr id="276" name="Text 274"/>
          <p:cNvSpPr txBox="1"/>
          <p:nvPr/>
        </p:nvSpPr>
        <p:spPr>
          <a:xfrm>
            <a:off x="457200" y="6137453"/>
            <a:ext cx="3291840" cy="175565"/>
          </a:xfrm>
          <a:prstGeom prst="rect">
            <a:avLst/>
          </a:prstGeom>
          <a:noFill/>
          <a:ln/>
        </p:spPr>
        <p:txBody>
          <a:bodyPr wrap="square" lIns="0" tIns="0" rIns="0" bIns="0" rtlCol="0" anchor="ctr"/>
          <a:lstStyle/>
          <a:p>
            <a:pPr indent="0" marL="0">
              <a:buNone/>
            </a:pPr>
            <a:r>
              <a:rPr lang="en-US" sz="730" b="1" dirty="0">
                <a:solidFill>
                  <a:srgbClr val="12293A"/>
                </a:solidFill>
                <a:latin typeface="Poppins" pitchFamily="34" charset="0"/>
                <a:ea typeface="Poppins" pitchFamily="34" charset="-122"/>
                <a:cs typeface="Poppins" pitchFamily="34" charset="-120"/>
              </a:rPr>
              <a:t>Data Product #1 - Margin Capture (Lucas)</a:t>
            </a:r>
            <a:endParaRPr lang="en-US" sz="730" dirty="0"/>
          </a:p>
        </p:txBody>
      </p:sp>
      <p:sp>
        <p:nvSpPr>
          <p:cNvPr id="277" name="Shape 275"/>
          <p:cNvSpPr/>
          <p:nvPr/>
        </p:nvSpPr>
        <p:spPr>
          <a:xfrm>
            <a:off x="3794760" y="6155741"/>
            <a:ext cx="10973" cy="148133"/>
          </a:xfrm>
          <a:prstGeom prst="rect">
            <a:avLst/>
          </a:prstGeom>
          <a:solidFill>
            <a:srgbClr val="E2EAEE"/>
          </a:solidFill>
          <a:ln/>
        </p:spPr>
      </p:sp>
      <p:sp>
        <p:nvSpPr>
          <p:cNvPr id="278" name="Shape 276"/>
          <p:cNvSpPr/>
          <p:nvPr/>
        </p:nvSpPr>
        <p:spPr>
          <a:xfrm>
            <a:off x="5125212" y="6155741"/>
            <a:ext cx="10973" cy="148133"/>
          </a:xfrm>
          <a:prstGeom prst="rect">
            <a:avLst/>
          </a:prstGeom>
          <a:solidFill>
            <a:srgbClr val="E2EAEE"/>
          </a:solidFill>
          <a:ln/>
        </p:spPr>
      </p:sp>
      <p:sp>
        <p:nvSpPr>
          <p:cNvPr id="279" name="Shape 277"/>
          <p:cNvSpPr/>
          <p:nvPr/>
        </p:nvSpPr>
        <p:spPr>
          <a:xfrm>
            <a:off x="6455664" y="6155741"/>
            <a:ext cx="10973" cy="148133"/>
          </a:xfrm>
          <a:prstGeom prst="rect">
            <a:avLst/>
          </a:prstGeom>
          <a:solidFill>
            <a:srgbClr val="E2EAEE"/>
          </a:solidFill>
          <a:ln/>
        </p:spPr>
      </p:sp>
      <p:sp>
        <p:nvSpPr>
          <p:cNvPr id="280" name="Shape 278"/>
          <p:cNvSpPr/>
          <p:nvPr/>
        </p:nvSpPr>
        <p:spPr>
          <a:xfrm>
            <a:off x="7786116" y="6155741"/>
            <a:ext cx="10973" cy="148133"/>
          </a:xfrm>
          <a:prstGeom prst="rect">
            <a:avLst/>
          </a:prstGeom>
          <a:solidFill>
            <a:srgbClr val="E2EAEE"/>
          </a:solidFill>
          <a:ln/>
        </p:spPr>
      </p:sp>
      <p:sp>
        <p:nvSpPr>
          <p:cNvPr id="281" name="Shape 279"/>
          <p:cNvSpPr/>
          <p:nvPr/>
        </p:nvSpPr>
        <p:spPr>
          <a:xfrm>
            <a:off x="9116568" y="6155741"/>
            <a:ext cx="10973" cy="148133"/>
          </a:xfrm>
          <a:prstGeom prst="rect">
            <a:avLst/>
          </a:prstGeom>
          <a:solidFill>
            <a:srgbClr val="E2EAEE"/>
          </a:solidFill>
          <a:ln/>
        </p:spPr>
      </p:sp>
      <p:sp>
        <p:nvSpPr>
          <p:cNvPr id="282" name="Shape 280"/>
          <p:cNvSpPr/>
          <p:nvPr/>
        </p:nvSpPr>
        <p:spPr>
          <a:xfrm>
            <a:off x="10447020" y="6155741"/>
            <a:ext cx="10973" cy="148133"/>
          </a:xfrm>
          <a:prstGeom prst="rect">
            <a:avLst/>
          </a:prstGeom>
          <a:solidFill>
            <a:srgbClr val="E2EAEE"/>
          </a:solidFill>
          <a:ln/>
        </p:spPr>
      </p:sp>
      <p:sp>
        <p:nvSpPr>
          <p:cNvPr id="283" name="Shape 281"/>
          <p:cNvSpPr/>
          <p:nvPr/>
        </p:nvSpPr>
        <p:spPr>
          <a:xfrm>
            <a:off x="3822192" y="6157570"/>
            <a:ext cx="7927848" cy="129845"/>
          </a:xfrm>
          <a:prstGeom prst="roundRect">
            <a:avLst>
              <a:gd name="adj" fmla="val 45775"/>
            </a:avLst>
          </a:prstGeom>
          <a:solidFill>
            <a:srgbClr val="C88A2E"/>
          </a:solidFill>
          <a:ln/>
        </p:spPr>
      </p:sp>
      <p:sp>
        <p:nvSpPr>
          <p:cNvPr id="284" name="Text 282"/>
          <p:cNvSpPr txBox="1"/>
          <p:nvPr/>
        </p:nvSpPr>
        <p:spPr>
          <a:xfrm>
            <a:off x="3895344" y="6144768"/>
            <a:ext cx="7818120" cy="157277"/>
          </a:xfrm>
          <a:prstGeom prst="rect">
            <a:avLst/>
          </a:prstGeom>
          <a:noFill/>
          <a:ln/>
        </p:spPr>
        <p:txBody>
          <a:bodyPr wrap="square" lIns="0" tIns="0" rIns="0" bIns="0" rtlCol="0" anchor="ctr"/>
          <a:lstStyle/>
          <a:p>
            <a:pPr indent="0" marL="0">
              <a:buNone/>
            </a:pPr>
            <a:r>
              <a:rPr lang="en-US" sz="650" b="1" dirty="0">
                <a:solidFill>
                  <a:srgbClr val="FFFFFF"/>
                </a:solidFill>
                <a:latin typeface="Poppins" pitchFamily="34" charset="0"/>
                <a:ea typeface="Poppins" pitchFamily="34" charset="-122"/>
                <a:cs typeface="Poppins" pitchFamily="34" charset="-120"/>
              </a:rPr>
              <a:t>Ammar</a:t>
            </a:r>
            <a:endParaRPr lang="en-US" sz="650" dirty="0"/>
          </a:p>
        </p:txBody>
      </p:sp>
      <p:sp>
        <p:nvSpPr>
          <p:cNvPr id="285" name="Shape 283"/>
          <p:cNvSpPr/>
          <p:nvPr/>
        </p:nvSpPr>
        <p:spPr>
          <a:xfrm>
            <a:off x="6280099" y="6510528"/>
            <a:ext cx="5497373" cy="256032"/>
          </a:xfrm>
          <a:prstGeom prst="roundRect">
            <a:avLst>
              <a:gd name="adj" fmla="val 46429"/>
            </a:avLst>
          </a:prstGeom>
          <a:solidFill>
            <a:srgbClr val="12293A"/>
          </a:solidFill>
          <a:ln/>
        </p:spPr>
      </p:sp>
      <p:sp>
        <p:nvSpPr>
          <p:cNvPr id="286" name="Text 284"/>
          <p:cNvSpPr txBox="1"/>
          <p:nvPr/>
        </p:nvSpPr>
        <p:spPr>
          <a:xfrm>
            <a:off x="6280099" y="6510528"/>
            <a:ext cx="549737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 for a fourth week</a:t>
            </a:r>
            <a:endParaRPr lang="en-US" sz="7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GTM Readiness</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Product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1005840"/>
            <a:ext cx="11365992" cy="457200"/>
          </a:xfrm>
          <a:prstGeom prst="roundRect">
            <a:avLst>
              <a:gd name="adj" fmla="val 12000"/>
            </a:avLst>
          </a:prstGeom>
          <a:solidFill>
            <a:srgbClr val="12293A"/>
          </a:solidFill>
          <a:ln/>
        </p:spPr>
      </p:sp>
      <p:sp>
        <p:nvSpPr>
          <p:cNvPr id="14" name="Text 12"/>
          <p:cNvSpPr txBox="1"/>
          <p:nvPr/>
        </p:nvSpPr>
        <p:spPr>
          <a:xfrm>
            <a:off x="594360" y="1005840"/>
            <a:ext cx="1737360" cy="457200"/>
          </a:xfrm>
          <a:prstGeom prst="rect">
            <a:avLst/>
          </a:prstGeom>
          <a:noFill/>
          <a:ln/>
        </p:spPr>
        <p:txBody>
          <a:bodyPr wrap="square" lIns="0" tIns="0" rIns="0" bIns="0" rtlCol="0" anchor="ctr"/>
          <a:lstStyle/>
          <a:p>
            <a:pPr indent="0" marL="0">
              <a:buNone/>
            </a:pPr>
            <a:r>
              <a:rPr lang="en-US" sz="900" b="1" dirty="0">
                <a:solidFill>
                  <a:srgbClr val="FFFFFF"/>
                </a:solidFill>
                <a:latin typeface="Poppins" pitchFamily="34" charset="0"/>
                <a:ea typeface="Poppins" pitchFamily="34" charset="-122"/>
                <a:cs typeface="Poppins" pitchFamily="34" charset="-120"/>
              </a:rPr>
              <a:t>PRODUCT</a:t>
            </a:r>
            <a:endParaRPr lang="en-US" sz="900" dirty="0"/>
          </a:p>
        </p:txBody>
      </p:sp>
      <p:sp>
        <p:nvSpPr>
          <p:cNvPr id="15" name="Text 13"/>
          <p:cNvSpPr txBox="1"/>
          <p:nvPr/>
        </p:nvSpPr>
        <p:spPr>
          <a:xfrm>
            <a:off x="251460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MESSAGING &amp; COLLATERAL</a:t>
            </a:r>
            <a:endParaRPr lang="en-US" sz="580" dirty="0"/>
          </a:p>
        </p:txBody>
      </p:sp>
      <p:sp>
        <p:nvSpPr>
          <p:cNvPr id="16" name="Text 14"/>
          <p:cNvSpPr txBox="1"/>
          <p:nvPr/>
        </p:nvSpPr>
        <p:spPr>
          <a:xfrm>
            <a:off x="354787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VALUE CASE $ PROVEN</a:t>
            </a:r>
            <a:endParaRPr lang="en-US" sz="580" dirty="0"/>
          </a:p>
        </p:txBody>
      </p:sp>
      <p:sp>
        <p:nvSpPr>
          <p:cNvPr id="17" name="Text 15"/>
          <p:cNvSpPr txBox="1"/>
          <p:nvPr/>
        </p:nvSpPr>
        <p:spPr>
          <a:xfrm>
            <a:off x="458114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PRICING &amp; PACKAGING</a:t>
            </a:r>
            <a:endParaRPr lang="en-US" sz="580" dirty="0"/>
          </a:p>
        </p:txBody>
      </p:sp>
      <p:sp>
        <p:nvSpPr>
          <p:cNvPr id="18" name="Text 16"/>
          <p:cNvSpPr txBox="1"/>
          <p:nvPr/>
        </p:nvSpPr>
        <p:spPr>
          <a:xfrm>
            <a:off x="561441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CONTRACT &amp; DATA TERMS</a:t>
            </a:r>
            <a:endParaRPr lang="en-US" sz="580" dirty="0"/>
          </a:p>
        </p:txBody>
      </p:sp>
      <p:sp>
        <p:nvSpPr>
          <p:cNvPr id="19" name="Text 17"/>
          <p:cNvSpPr txBox="1"/>
          <p:nvPr/>
        </p:nvSpPr>
        <p:spPr>
          <a:xfrm>
            <a:off x="6647688"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BILLING &amp; METERING</a:t>
            </a:r>
            <a:endParaRPr lang="en-US" sz="580" dirty="0"/>
          </a:p>
        </p:txBody>
      </p:sp>
      <p:sp>
        <p:nvSpPr>
          <p:cNvPr id="20" name="Text 18"/>
          <p:cNvSpPr txBox="1"/>
          <p:nvPr/>
        </p:nvSpPr>
        <p:spPr>
          <a:xfrm>
            <a:off x="7680960"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REFERENCE PILOT</a:t>
            </a:r>
            <a:endParaRPr lang="en-US" sz="580" dirty="0"/>
          </a:p>
        </p:txBody>
      </p:sp>
      <p:sp>
        <p:nvSpPr>
          <p:cNvPr id="21" name="Text 19"/>
          <p:cNvSpPr txBox="1"/>
          <p:nvPr/>
        </p:nvSpPr>
        <p:spPr>
          <a:xfrm>
            <a:off x="8714232"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SALES ENABLED</a:t>
            </a:r>
            <a:endParaRPr lang="en-US" sz="580" dirty="0"/>
          </a:p>
        </p:txBody>
      </p:sp>
      <p:sp>
        <p:nvSpPr>
          <p:cNvPr id="22" name="Text 20"/>
          <p:cNvSpPr txBox="1"/>
          <p:nvPr/>
        </p:nvSpPr>
        <p:spPr>
          <a:xfrm>
            <a:off x="9747504"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SUPPORT &amp; REMI</a:t>
            </a:r>
            <a:endParaRPr lang="en-US" sz="580" dirty="0"/>
          </a:p>
        </p:txBody>
      </p:sp>
      <p:sp>
        <p:nvSpPr>
          <p:cNvPr id="23" name="Text 21"/>
          <p:cNvSpPr txBox="1"/>
          <p:nvPr/>
        </p:nvSpPr>
        <p:spPr>
          <a:xfrm>
            <a:off x="10780776" y="1042416"/>
            <a:ext cx="1005840" cy="402336"/>
          </a:xfrm>
          <a:prstGeom prst="rect">
            <a:avLst/>
          </a:prstGeom>
          <a:noFill/>
          <a:ln/>
        </p:spPr>
        <p:txBody>
          <a:bodyPr wrap="square" lIns="0" tIns="0" rIns="0" bIns="0" rtlCol="0" anchor="ctr"/>
          <a:lstStyle/>
          <a:p>
            <a:pPr algn="ctr" indent="0" marL="0">
              <a:buNone/>
            </a:pPr>
            <a:r>
              <a:rPr lang="en-US" sz="580" b="1" dirty="0">
                <a:solidFill>
                  <a:srgbClr val="FFFFFF"/>
                </a:solidFill>
                <a:latin typeface="Poppins" pitchFamily="34" charset="0"/>
                <a:ea typeface="Poppins" pitchFamily="34" charset="-122"/>
                <a:cs typeface="Poppins" pitchFamily="34" charset="-120"/>
              </a:rPr>
              <a:t>AI ACCURACY &amp; FALLBACK</a:t>
            </a:r>
            <a:endParaRPr lang="en-US" sz="580" dirty="0"/>
          </a:p>
        </p:txBody>
      </p:sp>
      <p:sp>
        <p:nvSpPr>
          <p:cNvPr id="24" name="Shape 22"/>
          <p:cNvSpPr/>
          <p:nvPr/>
        </p:nvSpPr>
        <p:spPr>
          <a:xfrm>
            <a:off x="411480" y="1627632"/>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594360" y="1627632"/>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QR Ordering (OrderNow)</a:t>
            </a:r>
            <a:endParaRPr lang="en-US" sz="1100" dirty="0"/>
          </a:p>
        </p:txBody>
      </p:sp>
      <p:sp>
        <p:nvSpPr>
          <p:cNvPr id="26" name="Shape 24"/>
          <p:cNvSpPr/>
          <p:nvPr/>
        </p:nvSpPr>
        <p:spPr>
          <a:xfrm>
            <a:off x="2514600"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27" name="Text 25"/>
          <p:cNvSpPr txBox="1"/>
          <p:nvPr/>
        </p:nvSpPr>
        <p:spPr>
          <a:xfrm>
            <a:off x="251460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Jasmine</a:t>
            </a:r>
            <a:endParaRPr lang="en-US" sz="850" dirty="0"/>
          </a:p>
        </p:txBody>
      </p:sp>
      <p:sp>
        <p:nvSpPr>
          <p:cNvPr id="28" name="Shape 26"/>
          <p:cNvSpPr/>
          <p:nvPr/>
        </p:nvSpPr>
        <p:spPr>
          <a:xfrm>
            <a:off x="3547872"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29" name="Text 27"/>
          <p:cNvSpPr txBox="1"/>
          <p:nvPr/>
        </p:nvSpPr>
        <p:spPr>
          <a:xfrm>
            <a:off x="354787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30" name="Shape 28"/>
          <p:cNvSpPr/>
          <p:nvPr/>
        </p:nvSpPr>
        <p:spPr>
          <a:xfrm>
            <a:off x="4581144"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1" name="Text 29"/>
          <p:cNvSpPr txBox="1"/>
          <p:nvPr/>
        </p:nvSpPr>
        <p:spPr>
          <a:xfrm>
            <a:off x="458114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2" name="Shape 30"/>
          <p:cNvSpPr/>
          <p:nvPr/>
        </p:nvSpPr>
        <p:spPr>
          <a:xfrm>
            <a:off x="561441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3" name="Text 31"/>
          <p:cNvSpPr txBox="1"/>
          <p:nvPr/>
        </p:nvSpPr>
        <p:spPr>
          <a:xfrm>
            <a:off x="561441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34" name="Shape 32"/>
          <p:cNvSpPr/>
          <p:nvPr/>
        </p:nvSpPr>
        <p:spPr>
          <a:xfrm>
            <a:off x="6647688"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5" name="Text 33"/>
          <p:cNvSpPr txBox="1"/>
          <p:nvPr/>
        </p:nvSpPr>
        <p:spPr>
          <a:xfrm>
            <a:off x="6647688"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36" name="Shape 34"/>
          <p:cNvSpPr/>
          <p:nvPr/>
        </p:nvSpPr>
        <p:spPr>
          <a:xfrm>
            <a:off x="7680960"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37" name="Text 35"/>
          <p:cNvSpPr txBox="1"/>
          <p:nvPr/>
        </p:nvSpPr>
        <p:spPr>
          <a:xfrm>
            <a:off x="7680960"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38" name="Shape 36"/>
          <p:cNvSpPr/>
          <p:nvPr/>
        </p:nvSpPr>
        <p:spPr>
          <a:xfrm>
            <a:off x="8714232"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39" name="Text 37"/>
          <p:cNvSpPr txBox="1"/>
          <p:nvPr/>
        </p:nvSpPr>
        <p:spPr>
          <a:xfrm>
            <a:off x="8714232"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0" name="Shape 38"/>
          <p:cNvSpPr/>
          <p:nvPr/>
        </p:nvSpPr>
        <p:spPr>
          <a:xfrm>
            <a:off x="9747504" y="1783080"/>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41" name="Text 39"/>
          <p:cNvSpPr txBox="1"/>
          <p:nvPr/>
        </p:nvSpPr>
        <p:spPr>
          <a:xfrm>
            <a:off x="9747504"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42" name="Shape 40"/>
          <p:cNvSpPr/>
          <p:nvPr/>
        </p:nvSpPr>
        <p:spPr>
          <a:xfrm>
            <a:off x="10780776" y="1783080"/>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3" name="Text 41"/>
          <p:cNvSpPr txBox="1"/>
          <p:nvPr/>
        </p:nvSpPr>
        <p:spPr>
          <a:xfrm>
            <a:off x="10780776" y="1783080"/>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Eric</a:t>
            </a:r>
            <a:endParaRPr lang="en-US" sz="850" dirty="0"/>
          </a:p>
        </p:txBody>
      </p:sp>
      <p:sp>
        <p:nvSpPr>
          <p:cNvPr id="44" name="Shape 42"/>
          <p:cNvSpPr/>
          <p:nvPr/>
        </p:nvSpPr>
        <p:spPr>
          <a:xfrm>
            <a:off x="411480" y="2340864"/>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594360" y="2340864"/>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Roam</a:t>
            </a:r>
            <a:endParaRPr lang="en-US" sz="1100" dirty="0"/>
          </a:p>
        </p:txBody>
      </p:sp>
      <p:sp>
        <p:nvSpPr>
          <p:cNvPr id="46" name="Shape 44"/>
          <p:cNvSpPr/>
          <p:nvPr/>
        </p:nvSpPr>
        <p:spPr>
          <a:xfrm>
            <a:off x="2514600"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47" name="Text 45"/>
          <p:cNvSpPr txBox="1"/>
          <p:nvPr/>
        </p:nvSpPr>
        <p:spPr>
          <a:xfrm>
            <a:off x="251460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Bjorn</a:t>
            </a:r>
            <a:endParaRPr lang="en-US" sz="850" dirty="0"/>
          </a:p>
        </p:txBody>
      </p:sp>
      <p:sp>
        <p:nvSpPr>
          <p:cNvPr id="48" name="Shape 46"/>
          <p:cNvSpPr/>
          <p:nvPr/>
        </p:nvSpPr>
        <p:spPr>
          <a:xfrm>
            <a:off x="3547872"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9" name="Text 47"/>
          <p:cNvSpPr txBox="1"/>
          <p:nvPr/>
        </p:nvSpPr>
        <p:spPr>
          <a:xfrm>
            <a:off x="354787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50" name="Shape 48"/>
          <p:cNvSpPr/>
          <p:nvPr/>
        </p:nvSpPr>
        <p:spPr>
          <a:xfrm>
            <a:off x="458114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1" name="Text 49"/>
          <p:cNvSpPr txBox="1"/>
          <p:nvPr/>
        </p:nvSpPr>
        <p:spPr>
          <a:xfrm>
            <a:off x="458114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2" name="Shape 50"/>
          <p:cNvSpPr/>
          <p:nvPr/>
        </p:nvSpPr>
        <p:spPr>
          <a:xfrm>
            <a:off x="5614416"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3" name="Text 51"/>
          <p:cNvSpPr txBox="1"/>
          <p:nvPr/>
        </p:nvSpPr>
        <p:spPr>
          <a:xfrm>
            <a:off x="5614416"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54" name="Shape 52"/>
          <p:cNvSpPr/>
          <p:nvPr/>
        </p:nvSpPr>
        <p:spPr>
          <a:xfrm>
            <a:off x="6647688"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5" name="Text 53"/>
          <p:cNvSpPr txBox="1"/>
          <p:nvPr/>
        </p:nvSpPr>
        <p:spPr>
          <a:xfrm>
            <a:off x="6647688"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56" name="Shape 54"/>
          <p:cNvSpPr/>
          <p:nvPr/>
        </p:nvSpPr>
        <p:spPr>
          <a:xfrm>
            <a:off x="7680960"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57" name="Text 55"/>
          <p:cNvSpPr txBox="1"/>
          <p:nvPr/>
        </p:nvSpPr>
        <p:spPr>
          <a:xfrm>
            <a:off x="7680960"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58" name="Shape 56"/>
          <p:cNvSpPr/>
          <p:nvPr/>
        </p:nvSpPr>
        <p:spPr>
          <a:xfrm>
            <a:off x="8714232" y="2496312"/>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59" name="Text 57"/>
          <p:cNvSpPr txBox="1"/>
          <p:nvPr/>
        </p:nvSpPr>
        <p:spPr>
          <a:xfrm>
            <a:off x="8714232"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0" name="Shape 58"/>
          <p:cNvSpPr/>
          <p:nvPr/>
        </p:nvSpPr>
        <p:spPr>
          <a:xfrm>
            <a:off x="9747504" y="2496312"/>
            <a:ext cx="969264"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61" name="Text 59"/>
          <p:cNvSpPr txBox="1"/>
          <p:nvPr/>
        </p:nvSpPr>
        <p:spPr>
          <a:xfrm>
            <a:off x="9747504" y="2496312"/>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62" name="Shape 60"/>
          <p:cNvSpPr/>
          <p:nvPr/>
        </p:nvSpPr>
        <p:spPr>
          <a:xfrm>
            <a:off x="10780776" y="2496312"/>
            <a:ext cx="969264" cy="292608"/>
          </a:xfrm>
          <a:prstGeom prst="roundRect">
            <a:avLst>
              <a:gd name="adj" fmla="val 50000"/>
            </a:avLst>
          </a:prstGeom>
          <a:solidFill>
            <a:srgbClr val="C7D3DA"/>
          </a:solidFill>
          <a:ln/>
          <a:effectLst>
            <a:outerShdw sx="100000" sy="100000" kx="0" ky="0" algn="bl" rotWithShape="0" blurRad="76200" dist="25400" dir="5400000">
              <a:srgbClr val="9AAAB5">
                <a:alpha val="35000"/>
              </a:srgbClr>
            </a:outerShdw>
          </a:effectLst>
        </p:spPr>
      </p:sp>
      <p:sp>
        <p:nvSpPr>
          <p:cNvPr id="63" name="Text 61"/>
          <p:cNvSpPr txBox="1"/>
          <p:nvPr/>
        </p:nvSpPr>
        <p:spPr>
          <a:xfrm>
            <a:off x="10780776" y="2496312"/>
            <a:ext cx="969264" cy="292608"/>
          </a:xfrm>
          <a:prstGeom prst="rect">
            <a:avLst/>
          </a:prstGeom>
          <a:noFill/>
          <a:ln/>
        </p:spPr>
        <p:txBody>
          <a:bodyPr wrap="square" lIns="0" tIns="0" rIns="0" bIns="0" rtlCol="0" anchor="ctr"/>
          <a:lstStyle/>
          <a:p>
            <a:pPr algn="ctr" indent="0" marL="0">
              <a:buNone/>
            </a:pPr>
            <a:r>
              <a:rPr lang="en-US" sz="850" b="1" dirty="0">
                <a:solidFill>
                  <a:srgbClr val="5E7280"/>
                </a:solidFill>
                <a:latin typeface="Poppins" pitchFamily="34" charset="0"/>
                <a:ea typeface="Poppins" pitchFamily="34" charset="-122"/>
                <a:cs typeface="Poppins" pitchFamily="34" charset="-120"/>
              </a:rPr>
              <a:t>N/A</a:t>
            </a:r>
            <a:endParaRPr lang="en-US" sz="850" dirty="0"/>
          </a:p>
        </p:txBody>
      </p:sp>
      <p:sp>
        <p:nvSpPr>
          <p:cNvPr id="64" name="Shape 62"/>
          <p:cNvSpPr/>
          <p:nvPr/>
        </p:nvSpPr>
        <p:spPr>
          <a:xfrm>
            <a:off x="411480" y="3054096"/>
            <a:ext cx="11365992" cy="603504"/>
          </a:xfrm>
          <a:prstGeom prst="roundRect">
            <a:avLst>
              <a:gd name="adj" fmla="val 10606"/>
            </a:avLst>
          </a:prstGeom>
          <a:solidFill>
            <a:srgbClr val="FFFFFF"/>
          </a:solidFill>
          <a:ln/>
          <a:effectLst>
            <a:outerShdw sx="100000" sy="100000" kx="0" ky="0" algn="bl" rotWithShape="0" blurRad="76200" dist="25400" dir="5400000">
              <a:srgbClr val="9AAAB5">
                <a:alpha val="35000"/>
              </a:srgbClr>
            </a:outerShdw>
          </a:effectLst>
        </p:spPr>
      </p:sp>
      <p:sp>
        <p:nvSpPr>
          <p:cNvPr id="65" name="Text 63"/>
          <p:cNvSpPr txBox="1"/>
          <p:nvPr/>
        </p:nvSpPr>
        <p:spPr>
          <a:xfrm>
            <a:off x="594360" y="3054096"/>
            <a:ext cx="1828800" cy="603504"/>
          </a:xfrm>
          <a:prstGeom prst="rect">
            <a:avLst/>
          </a:prstGeom>
          <a:noFill/>
          <a:ln/>
        </p:spPr>
        <p:txBody>
          <a:bodyPr wrap="square" lIns="0" tIns="0" rIns="0" bIns="0" rtlCol="0" anchor="ctr"/>
          <a:lstStyle/>
          <a:p>
            <a:pPr indent="0" marL="0">
              <a:buNone/>
            </a:pPr>
            <a:r>
              <a:rPr lang="en-US" sz="1100" b="1" dirty="0">
                <a:solidFill>
                  <a:srgbClr val="12293A"/>
                </a:solidFill>
                <a:latin typeface="Poppins" pitchFamily="34" charset="0"/>
                <a:ea typeface="Poppins" pitchFamily="34" charset="-122"/>
                <a:cs typeface="Poppins" pitchFamily="34" charset="-120"/>
              </a:rPr>
              <a:t>Sentinel AI</a:t>
            </a:r>
            <a:endParaRPr lang="en-US" sz="1100" dirty="0"/>
          </a:p>
        </p:txBody>
      </p:sp>
      <p:sp>
        <p:nvSpPr>
          <p:cNvPr id="66" name="Shape 64"/>
          <p:cNvSpPr/>
          <p:nvPr/>
        </p:nvSpPr>
        <p:spPr>
          <a:xfrm>
            <a:off x="2514600"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67" name="Text 65"/>
          <p:cNvSpPr txBox="1"/>
          <p:nvPr/>
        </p:nvSpPr>
        <p:spPr>
          <a:xfrm>
            <a:off x="251460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Bradford *1</a:t>
            </a:r>
            <a:endParaRPr lang="en-US" sz="850" dirty="0"/>
          </a:p>
        </p:txBody>
      </p:sp>
      <p:sp>
        <p:nvSpPr>
          <p:cNvPr id="68" name="Shape 66"/>
          <p:cNvSpPr/>
          <p:nvPr/>
        </p:nvSpPr>
        <p:spPr>
          <a:xfrm>
            <a:off x="3547872"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69" name="Text 67"/>
          <p:cNvSpPr txBox="1"/>
          <p:nvPr/>
        </p:nvSpPr>
        <p:spPr>
          <a:xfrm>
            <a:off x="354787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t>
            </a:r>
            <a:endParaRPr lang="en-US" sz="850" dirty="0"/>
          </a:p>
        </p:txBody>
      </p:sp>
      <p:sp>
        <p:nvSpPr>
          <p:cNvPr id="70" name="Shape 68"/>
          <p:cNvSpPr/>
          <p:nvPr/>
        </p:nvSpPr>
        <p:spPr>
          <a:xfrm>
            <a:off x="458114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1" name="Text 69"/>
          <p:cNvSpPr txBox="1"/>
          <p:nvPr/>
        </p:nvSpPr>
        <p:spPr>
          <a:xfrm>
            <a:off x="458114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2" name="Shape 70"/>
          <p:cNvSpPr/>
          <p:nvPr/>
        </p:nvSpPr>
        <p:spPr>
          <a:xfrm>
            <a:off x="561441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3" name="Text 71"/>
          <p:cNvSpPr txBox="1"/>
          <p:nvPr/>
        </p:nvSpPr>
        <p:spPr>
          <a:xfrm>
            <a:off x="561441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Luke</a:t>
            </a:r>
            <a:endParaRPr lang="en-US" sz="850" dirty="0"/>
          </a:p>
        </p:txBody>
      </p:sp>
      <p:sp>
        <p:nvSpPr>
          <p:cNvPr id="74" name="Shape 72"/>
          <p:cNvSpPr/>
          <p:nvPr/>
        </p:nvSpPr>
        <p:spPr>
          <a:xfrm>
            <a:off x="6647688"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5" name="Text 73"/>
          <p:cNvSpPr txBox="1"/>
          <p:nvPr/>
        </p:nvSpPr>
        <p:spPr>
          <a:xfrm>
            <a:off x="6647688"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Janice</a:t>
            </a:r>
            <a:endParaRPr lang="en-US" sz="850" dirty="0"/>
          </a:p>
        </p:txBody>
      </p:sp>
      <p:sp>
        <p:nvSpPr>
          <p:cNvPr id="76" name="Shape 74"/>
          <p:cNvSpPr/>
          <p:nvPr/>
        </p:nvSpPr>
        <p:spPr>
          <a:xfrm>
            <a:off x="7680960" y="3209544"/>
            <a:ext cx="969264" cy="292608"/>
          </a:xfrm>
          <a:prstGeom prst="roundRect">
            <a:avLst>
              <a:gd name="adj" fmla="val 50000"/>
            </a:avLst>
          </a:prstGeom>
          <a:solidFill>
            <a:srgbClr val="C88A2E"/>
          </a:solidFill>
          <a:ln/>
          <a:effectLst>
            <a:outerShdw sx="100000" sy="100000" kx="0" ky="0" algn="bl" rotWithShape="0" blurRad="76200" dist="25400" dir="5400000">
              <a:srgbClr val="9AAAB5">
                <a:alpha val="35000"/>
              </a:srgbClr>
            </a:outerShdw>
          </a:effectLst>
        </p:spPr>
      </p:sp>
      <p:sp>
        <p:nvSpPr>
          <p:cNvPr id="77" name="Text 75"/>
          <p:cNvSpPr txBox="1"/>
          <p:nvPr/>
        </p:nvSpPr>
        <p:spPr>
          <a:xfrm>
            <a:off x="7680960"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78" name="Shape 76"/>
          <p:cNvSpPr/>
          <p:nvPr/>
        </p:nvSpPr>
        <p:spPr>
          <a:xfrm>
            <a:off x="8714232"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79" name="Text 77"/>
          <p:cNvSpPr txBox="1"/>
          <p:nvPr/>
        </p:nvSpPr>
        <p:spPr>
          <a:xfrm>
            <a:off x="8714232"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0" name="Shape 78"/>
          <p:cNvSpPr/>
          <p:nvPr/>
        </p:nvSpPr>
        <p:spPr>
          <a:xfrm>
            <a:off x="9747504"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1" name="Text 79"/>
          <p:cNvSpPr txBox="1"/>
          <p:nvPr/>
        </p:nvSpPr>
        <p:spPr>
          <a:xfrm>
            <a:off x="9747504"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Matt</a:t>
            </a:r>
            <a:endParaRPr lang="en-US" sz="850" dirty="0"/>
          </a:p>
        </p:txBody>
      </p:sp>
      <p:sp>
        <p:nvSpPr>
          <p:cNvPr id="82" name="Shape 80"/>
          <p:cNvSpPr/>
          <p:nvPr/>
        </p:nvSpPr>
        <p:spPr>
          <a:xfrm>
            <a:off x="10780776" y="3209544"/>
            <a:ext cx="969264" cy="292608"/>
          </a:xfrm>
          <a:prstGeom prst="roundRect">
            <a:avLst>
              <a:gd name="adj" fmla="val 50000"/>
            </a:avLst>
          </a:prstGeom>
          <a:solidFill>
            <a:srgbClr val="B4552D"/>
          </a:solidFill>
          <a:ln/>
          <a:effectLst>
            <a:outerShdw sx="100000" sy="100000" kx="0" ky="0" algn="bl" rotWithShape="0" blurRad="76200" dist="25400" dir="5400000">
              <a:srgbClr val="9AAAB5">
                <a:alpha val="35000"/>
              </a:srgbClr>
            </a:outerShdw>
          </a:effectLst>
        </p:spPr>
      </p:sp>
      <p:sp>
        <p:nvSpPr>
          <p:cNvPr id="83" name="Text 81"/>
          <p:cNvSpPr txBox="1"/>
          <p:nvPr/>
        </p:nvSpPr>
        <p:spPr>
          <a:xfrm>
            <a:off x="10780776" y="3209544"/>
            <a:ext cx="969264"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Ammar</a:t>
            </a:r>
            <a:endParaRPr lang="en-US" sz="850" dirty="0"/>
          </a:p>
        </p:txBody>
      </p:sp>
      <p:sp>
        <p:nvSpPr>
          <p:cNvPr id="84" name="Shape 82"/>
          <p:cNvSpPr/>
          <p:nvPr/>
        </p:nvSpPr>
        <p:spPr>
          <a:xfrm>
            <a:off x="411480" y="3931920"/>
            <a:ext cx="6035040"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5" name="Text 83"/>
          <p:cNvSpPr txBox="1"/>
          <p:nvPr/>
        </p:nvSpPr>
        <p:spPr>
          <a:xfrm>
            <a:off x="612648" y="4041648"/>
            <a:ext cx="566928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GTM READINESS — AI SUMMARY</a:t>
            </a:r>
            <a:endParaRPr lang="en-US" sz="1200" dirty="0"/>
          </a:p>
        </p:txBody>
      </p:sp>
      <p:sp>
        <p:nvSpPr>
          <p:cNvPr id="86" name="Text 84"/>
          <p:cNvSpPr txBox="1"/>
          <p:nvPr/>
        </p:nvSpPr>
        <p:spPr>
          <a:xfrm>
            <a:off x="612648" y="4352544"/>
            <a:ext cx="5623560" cy="1847088"/>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Launch scoreboard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Roam 78% · QR Ordering (OrderNow) 33% · Sentinel AI 11% (green = done, amber = half-credit)</a:t>
            </a:r>
            <a:endParaRPr lang="en-US" sz="900" dirty="0"/>
          </a:p>
          <a:p>
            <a:pPr indent="0" marL="0">
              <a:buNone/>
            </a:pPr>
            <a:r>
              <a:rPr lang="en-US" sz="900" b="1" dirty="0">
                <a:solidFill>
                  <a:srgbClr val="B4552D"/>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Red gates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QR Ordering (OrderNow) is blocked on Messaging &amp; collateral, Sales enabled, Support &amp; Remi; Sentinel AI is blocked on Messaging &amp; collateral, Pricing &amp; packaging, Contract &amp; data terms, Billing &amp; metering, Sales enabled, Support &amp; Remi, AI accuracy &amp; fallback. Nothing else stops a launch.</a:t>
            </a:r>
            <a:endParaRPr lang="en-US" sz="900" dirty="0"/>
          </a:p>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Who owns it —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24 of 27 dimensions have a named owner on the pill; 1 carries a note. An unowned red is a stalled red.</a:t>
            </a:r>
            <a:endParaRPr lang="en-US" sz="900" dirty="0"/>
          </a:p>
          <a:p>
            <a:pPr indent="0" marL="0">
              <a:buNone/>
            </a:pPr>
            <a:r>
              <a:rPr lang="en-US" sz="900" b="1" dirty="0">
                <a:solidFill>
                  <a:srgbClr val="8FA1AC"/>
                </a:solidFill>
                <a:latin typeface="Poppins" pitchFamily="34" charset="0"/>
                <a:ea typeface="Poppins" pitchFamily="34" charset="-122"/>
                <a:cs typeface="Poppins" pitchFamily="34" charset="-120"/>
              </a:rPr>
              <a:t>•  </a:t>
            </a:r>
            <a:pPr indent="0" marL="0">
              <a:spcAft>
                <a:spcPts val="800"/>
              </a:spcAft>
              <a:buNone/>
            </a:pPr>
            <a:r>
              <a:rPr lang="en-US" sz="900" dirty="0">
                <a:solidFill>
                  <a:srgbClr val="8FA1AC"/>
                </a:solidFill>
                <a:latin typeface="Poppins" pitchFamily="34" charset="0"/>
                <a:ea typeface="Poppins" pitchFamily="34" charset="-122"/>
                <a:cs typeface="Poppins" pitchFamily="34" charset="-120"/>
              </a:rPr>
              <a:t>*1 Sentinel AI · Messaging &amp; collateral: MF to give BY prototype to produce a 1pgr pitch</a:t>
            </a:r>
            <a:endParaRPr lang="en-US" sz="900" dirty="0"/>
          </a:p>
        </p:txBody>
      </p:sp>
      <p:sp>
        <p:nvSpPr>
          <p:cNvPr id="87" name="Shape 85"/>
          <p:cNvSpPr/>
          <p:nvPr/>
        </p:nvSpPr>
        <p:spPr>
          <a:xfrm>
            <a:off x="6629400" y="3931920"/>
            <a:ext cx="5148072" cy="2395728"/>
          </a:xfrm>
          <a:prstGeom prst="roundRect">
            <a:avLst>
              <a:gd name="adj" fmla="val 2672"/>
            </a:avLst>
          </a:prstGeom>
          <a:solidFill>
            <a:srgbClr val="FFFFFF"/>
          </a:solidFill>
          <a:ln/>
          <a:effectLst>
            <a:outerShdw sx="100000" sy="100000" kx="0" ky="0" algn="bl" rotWithShape="0" blurRad="76200" dist="25400" dir="5400000">
              <a:srgbClr val="9AAAB5">
                <a:alpha val="35000"/>
              </a:srgbClr>
            </a:outerShdw>
          </a:effectLst>
        </p:spPr>
      </p:sp>
      <p:sp>
        <p:nvSpPr>
          <p:cNvPr id="88" name="Text 86"/>
          <p:cNvSpPr txBox="1"/>
          <p:nvPr/>
        </p:nvSpPr>
        <p:spPr>
          <a:xfrm>
            <a:off x="6830568" y="4041648"/>
            <a:ext cx="478231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ROADMAP — AI SUMMARY</a:t>
            </a:r>
            <a:endParaRPr lang="en-US" sz="1200" dirty="0"/>
          </a:p>
        </p:txBody>
      </p:sp>
      <p:sp>
        <p:nvSpPr>
          <p:cNvPr id="89" name="Text 87"/>
          <p:cNvSpPr txBox="1"/>
          <p:nvPr/>
        </p:nvSpPr>
        <p:spPr>
          <a:xfrm>
            <a:off x="6830568" y="4352544"/>
            <a:ext cx="4736592" cy="1847088"/>
          </a:xfrm>
          <a:prstGeom prst="rect">
            <a:avLst/>
          </a:prstGeom>
          <a:noFill/>
          <a:ln/>
        </p:spPr>
        <p:txBody>
          <a:bodyPr wrap="square" lIns="0" tIns="0" rIns="0" bIns="0" rtlCol="0" anchor="t"/>
          <a:lstStyle/>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ALH Food Pricing - PLU Visibility Filter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Requirements gathered - behind schedule</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H&amp;L Pay - Tyro Parity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Tarek interviewing next week</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The Pass Integration (At risk):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Needs validation</a:t>
            </a:r>
            <a:endParaRPr lang="en-US" sz="900" dirty="0"/>
          </a:p>
          <a:p>
            <a:pPr indent="0" marL="0">
              <a:buNone/>
            </a:pPr>
            <a:r>
              <a:rPr lang="en-US" sz="900" b="1" dirty="0">
                <a:solidFill>
                  <a:srgbClr val="C88A2E"/>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Mobile POS - Tyro Tap to Pay (On Track):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Awaiting certification</a:t>
            </a:r>
            <a:endParaRPr lang="en-US" sz="900" dirty="0"/>
          </a:p>
        </p:txBody>
      </p:sp>
      <p:sp>
        <p:nvSpPr>
          <p:cNvPr id="90" name="Shape 88"/>
          <p:cNvSpPr/>
          <p:nvPr/>
        </p:nvSpPr>
        <p:spPr>
          <a:xfrm>
            <a:off x="6280099" y="6510528"/>
            <a:ext cx="5497373" cy="256032"/>
          </a:xfrm>
          <a:prstGeom prst="roundRect">
            <a:avLst>
              <a:gd name="adj" fmla="val 46429"/>
            </a:avLst>
          </a:prstGeom>
          <a:solidFill>
            <a:srgbClr val="12293A"/>
          </a:solidFill>
          <a:ln/>
        </p:spPr>
      </p:sp>
      <p:sp>
        <p:nvSpPr>
          <p:cNvPr id="91" name="Text 89"/>
          <p:cNvSpPr txBox="1"/>
          <p:nvPr/>
        </p:nvSpPr>
        <p:spPr>
          <a:xfrm>
            <a:off x="6280099" y="6510528"/>
            <a:ext cx="5497373"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GTM Tracker (product team) — as at 19 Sep, refresh pending for a fourth week</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AI Usage — Adoption &amp; Activity</a:t>
            </a:r>
            <a:endParaRPr lang="en-US" sz="2300" dirty="0"/>
          </a:p>
        </p:txBody>
      </p:sp>
      <p:sp>
        <p:nvSpPr>
          <p:cNvPr id="6" name="Text 4"/>
          <p:cNvSpPr txBox="1"/>
          <p:nvPr/>
        </p:nvSpPr>
        <p:spPr>
          <a:xfrm>
            <a:off x="1316736" y="512064"/>
            <a:ext cx="7040880" cy="256032"/>
          </a:xfrm>
          <a:prstGeom prst="rect">
            <a:avLst/>
          </a:prstGeom>
          <a:noFill/>
          <a:ln/>
        </p:spPr>
        <p:txBody>
          <a:bodyPr wrap="square" lIns="0" tIns="0" rIns="0" bIns="0" rtlCol="0" anchor="ctr"/>
          <a:lstStyle/>
          <a:p>
            <a:pPr indent="0" marL="0">
              <a:buNone/>
            </a:pPr>
            <a:r>
              <a:rPr lang="en-US" sz="1050" dirty="0">
                <a:solidFill>
                  <a:srgbClr val="6FAEBB"/>
                </a:solidFill>
                <a:latin typeface="Poppins" pitchFamily="34" charset="0"/>
                <a:ea typeface="Poppins" pitchFamily="34" charset="-122"/>
                <a:cs typeface="Poppins" pitchFamily="34" charset="-120"/>
              </a:rPr>
              <a:t>IT</a:t>
            </a:r>
            <a:endParaRPr lang="en-US" sz="1050" dirty="0"/>
          </a:p>
        </p:txBody>
      </p:sp>
      <p:sp>
        <p:nvSpPr>
          <p:cNvPr id="7" name="Shape 5"/>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8" name="Text 6"/>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9" name="Shape 7"/>
          <p:cNvSpPr/>
          <p:nvPr/>
        </p:nvSpPr>
        <p:spPr>
          <a:xfrm>
            <a:off x="10872216" y="0"/>
            <a:ext cx="841248" cy="841248"/>
          </a:xfrm>
          <a:prstGeom prst="ellipse">
            <a:avLst/>
          </a:prstGeom>
          <a:solidFill>
            <a:srgbClr val="1C5765"/>
          </a:solidFill>
          <a:ln/>
        </p:spPr>
      </p:sp>
      <p:sp>
        <p:nvSpPr>
          <p:cNvPr id="10" name="Shape 8"/>
          <p:cNvSpPr/>
          <p:nvPr/>
        </p:nvSpPr>
        <p:spPr>
          <a:xfrm>
            <a:off x="10968228" y="96012"/>
            <a:ext cx="649224" cy="649224"/>
          </a:xfrm>
          <a:prstGeom prst="ellipse">
            <a:avLst/>
          </a:prstGeom>
          <a:solidFill>
            <a:srgbClr val="2C8394"/>
          </a:solidFill>
          <a:ln/>
        </p:spPr>
      </p:sp>
      <p:sp>
        <p:nvSpPr>
          <p:cNvPr id="11" name="Shape 9"/>
          <p:cNvSpPr/>
          <p:nvPr/>
        </p:nvSpPr>
        <p:spPr>
          <a:xfrm>
            <a:off x="11064240" y="192024"/>
            <a:ext cx="457200" cy="457200"/>
          </a:xfrm>
          <a:prstGeom prst="ellipse">
            <a:avLst/>
          </a:prstGeom>
          <a:solidFill>
            <a:srgbClr val="6FAEBB"/>
          </a:solidFill>
          <a:ln/>
        </p:spPr>
      </p:sp>
      <p:sp>
        <p:nvSpPr>
          <p:cNvPr id="12" name="Shape 10"/>
          <p:cNvSpPr/>
          <p:nvPr/>
        </p:nvSpPr>
        <p:spPr>
          <a:xfrm>
            <a:off x="11160252" y="288036"/>
            <a:ext cx="265176" cy="265176"/>
          </a:xfrm>
          <a:prstGeom prst="ellipse">
            <a:avLst/>
          </a:prstGeom>
          <a:solidFill>
            <a:srgbClr val="E4F1F4"/>
          </a:solidFill>
          <a:ln/>
        </p:spPr>
      </p:sp>
      <p:sp>
        <p:nvSpPr>
          <p:cNvPr id="13" name="Shape 11"/>
          <p:cNvSpPr/>
          <p:nvPr/>
        </p:nvSpPr>
        <p:spPr>
          <a:xfrm>
            <a:off x="41148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4" name="Text 12"/>
          <p:cNvSpPr txBox="1"/>
          <p:nvPr/>
        </p:nvSpPr>
        <p:spPr>
          <a:xfrm>
            <a:off x="57607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ACTIVE MEMBERS</a:t>
            </a:r>
            <a:endParaRPr lang="en-US" sz="950" dirty="0"/>
          </a:p>
        </p:txBody>
      </p:sp>
      <p:sp>
        <p:nvSpPr>
          <p:cNvPr id="15" name="Text 13"/>
          <p:cNvSpPr txBox="1"/>
          <p:nvPr/>
        </p:nvSpPr>
        <p:spPr>
          <a:xfrm>
            <a:off x="557784" y="1261872"/>
            <a:ext cx="2404872" cy="310896"/>
          </a:xfrm>
          <a:prstGeom prst="rect">
            <a:avLst/>
          </a:prstGeom>
          <a:noFill/>
          <a:ln/>
        </p:spPr>
        <p:txBody>
          <a:bodyPr wrap="square" lIns="0" tIns="0" rIns="0" bIns="0" rtlCol="0" anchor="ctr"/>
          <a:lstStyle/>
          <a:p>
            <a:pPr indent="0" marL="0">
              <a:buNone/>
            </a:pPr>
            <a:r>
              <a:rPr lang="en-US" sz="2600" b="1" dirty="0">
                <a:solidFill>
                  <a:srgbClr val="12293A"/>
                </a:solidFill>
                <a:latin typeface="Poppins" pitchFamily="34" charset="0"/>
                <a:ea typeface="Poppins" pitchFamily="34" charset="-122"/>
                <a:cs typeface="Poppins" pitchFamily="34" charset="-120"/>
              </a:rPr>
              <a:t>39 of 47</a:t>
            </a:r>
            <a:endParaRPr lang="en-US" sz="2600" dirty="0"/>
          </a:p>
        </p:txBody>
      </p:sp>
      <p:sp>
        <p:nvSpPr>
          <p:cNvPr id="16" name="Text 14"/>
          <p:cNvSpPr txBox="1"/>
          <p:nvPr/>
        </p:nvSpPr>
        <p:spPr>
          <a:xfrm>
            <a:off x="57607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weekly active · 12 daily · 42 monthly</a:t>
            </a:r>
            <a:endParaRPr lang="en-US" sz="780" dirty="0"/>
          </a:p>
        </p:txBody>
      </p:sp>
      <p:sp>
        <p:nvSpPr>
          <p:cNvPr id="17" name="Shape 15"/>
          <p:cNvSpPr/>
          <p:nvPr/>
        </p:nvSpPr>
        <p:spPr>
          <a:xfrm>
            <a:off x="3291840" y="987552"/>
            <a:ext cx="2697480"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18" name="Text 16"/>
          <p:cNvSpPr txBox="1"/>
          <p:nvPr/>
        </p:nvSpPr>
        <p:spPr>
          <a:xfrm>
            <a:off x="3456432" y="1078992"/>
            <a:ext cx="2368296" cy="274320"/>
          </a:xfrm>
          <a:prstGeom prst="rect">
            <a:avLst/>
          </a:prstGeom>
          <a:noFill/>
          <a:ln/>
        </p:spPr>
        <p:txBody>
          <a:bodyPr wrap="square" lIns="0" tIns="0" rIns="0" bIns="0" rtlCol="0" anchor="ctr"/>
          <a:lstStyle/>
          <a:p>
            <a:pPr indent="0" marL="0">
              <a:buNone/>
            </a:pPr>
            <a:r>
              <a:rPr lang="en-US" sz="950" b="1" dirty="0">
                <a:solidFill>
                  <a:srgbClr val="2C8394"/>
                </a:solidFill>
                <a:latin typeface="Poppins" pitchFamily="34" charset="0"/>
                <a:ea typeface="Poppins" pitchFamily="34" charset="-122"/>
                <a:cs typeface="Poppins" pitchFamily="34" charset="-120"/>
              </a:rPr>
              <a:t>LINES OF CODE — OCT MTD</a:t>
            </a:r>
            <a:endParaRPr lang="en-US" sz="950" dirty="0"/>
          </a:p>
        </p:txBody>
      </p:sp>
      <p:sp>
        <p:nvSpPr>
          <p:cNvPr id="19" name="Text 17"/>
          <p:cNvSpPr txBox="1"/>
          <p:nvPr/>
        </p:nvSpPr>
        <p:spPr>
          <a:xfrm>
            <a:off x="3438144" y="1261872"/>
            <a:ext cx="2404872" cy="310896"/>
          </a:xfrm>
          <a:prstGeom prst="rect">
            <a:avLst/>
          </a:prstGeom>
          <a:noFill/>
          <a:ln/>
        </p:spPr>
        <p:txBody>
          <a:bodyPr wrap="square" lIns="0" tIns="0" rIns="0" bIns="0" rtlCol="0" anchor="ctr"/>
          <a:lstStyle/>
          <a:p>
            <a:pPr indent="0" marL="0">
              <a:buNone/>
            </a:pPr>
            <a:r>
              <a:rPr lang="en-US" sz="2400" b="1" dirty="0">
                <a:solidFill>
                  <a:srgbClr val="2C8394"/>
                </a:solidFill>
                <a:latin typeface="Poppins" pitchFamily="34" charset="0"/>
                <a:ea typeface="Poppins" pitchFamily="34" charset="-122"/>
                <a:cs typeface="Poppins" pitchFamily="34" charset="-120"/>
              </a:rPr>
              <a:t>111,689</a:t>
            </a:r>
            <a:endParaRPr lang="en-US" sz="2400" dirty="0"/>
          </a:p>
        </p:txBody>
      </p:sp>
      <p:sp>
        <p:nvSpPr>
          <p:cNvPr id="20" name="Text 18"/>
          <p:cNvSpPr txBox="1"/>
          <p:nvPr/>
        </p:nvSpPr>
        <p:spPr>
          <a:xfrm>
            <a:off x="3456432" y="1609344"/>
            <a:ext cx="2368296" cy="420624"/>
          </a:xfrm>
          <a:prstGeom prst="rect">
            <a:avLst/>
          </a:prstGeom>
          <a:noFill/>
          <a:ln/>
        </p:spPr>
        <p:txBody>
          <a:bodyPr wrap="square" lIns="0" tIns="0" rIns="0" bIns="0" rtlCol="0" anchor="t"/>
          <a:lstStyle/>
          <a:p>
            <a:pPr indent="0" marL="0">
              <a:buNone/>
            </a:pPr>
            <a:r>
              <a:rPr lang="en-US" sz="780" dirty="0">
                <a:solidFill>
                  <a:srgbClr val="5E7280"/>
                </a:solidFill>
                <a:latin typeface="Poppins" pitchFamily="34" charset="0"/>
                <a:ea typeface="Poppins" pitchFamily="34" charset="-122"/>
                <a:cs typeface="Poppins" pitchFamily="34" charset="-120"/>
              </a:rPr>
              <a:t>1–12 Oct · October month-to-date at the 12 Oct capture, up from 50,453 at 5 Oct; the admin capture gives month totals only, so there is no weekly split</a:t>
            </a:r>
            <a:endParaRPr lang="en-US" sz="780" dirty="0"/>
          </a:p>
        </p:txBody>
      </p:sp>
      <p:sp>
        <p:nvSpPr>
          <p:cNvPr id="21" name="Shape 19"/>
          <p:cNvSpPr/>
          <p:nvPr/>
        </p:nvSpPr>
        <p:spPr>
          <a:xfrm>
            <a:off x="6172200" y="987552"/>
            <a:ext cx="5605272" cy="1097280"/>
          </a:xfrm>
          <a:prstGeom prst="roundRect">
            <a:avLst>
              <a:gd name="adj" fmla="val 5833"/>
            </a:avLst>
          </a:prstGeom>
          <a:solidFill>
            <a:srgbClr val="FFFFFF"/>
          </a:solidFill>
          <a:ln/>
          <a:effectLst>
            <a:outerShdw sx="100000" sy="100000" kx="0" ky="0" algn="bl" rotWithShape="0" blurRad="76200" dist="25400" dir="5400000">
              <a:srgbClr val="9AAAB5">
                <a:alpha val="35000"/>
              </a:srgbClr>
            </a:outerShdw>
          </a:effectLst>
        </p:spPr>
      </p:sp>
      <p:sp>
        <p:nvSpPr>
          <p:cNvPr id="22" name="Text 20"/>
          <p:cNvSpPr txBox="1"/>
          <p:nvPr/>
        </p:nvSpPr>
        <p:spPr>
          <a:xfrm>
            <a:off x="6336792" y="1060704"/>
            <a:ext cx="5276088" cy="201168"/>
          </a:xfrm>
          <a:prstGeom prst="rect">
            <a:avLst/>
          </a:prstGeom>
          <a:noFill/>
          <a:ln/>
        </p:spPr>
        <p:txBody>
          <a:bodyPr wrap="square" lIns="0" tIns="0" rIns="0" bIns="0" rtlCol="0" anchor="ctr"/>
          <a:lstStyle/>
          <a:p>
            <a:pPr indent="0" marL="0">
              <a:buNone/>
            </a:pPr>
            <a:r>
              <a:rPr lang="en-US" sz="850" b="1" dirty="0">
                <a:solidFill>
                  <a:srgbClr val="2C8394"/>
                </a:solidFill>
                <a:latin typeface="Poppins" pitchFamily="34" charset="0"/>
                <a:ea typeface="Poppins" pitchFamily="34" charset="-122"/>
                <a:cs typeface="Poppins" pitchFamily="34" charset="-120"/>
              </a:rPr>
              <a:t>PLATFORM STICKINESS — SHARE OF MONTHLY USERS ACTIVE DAILY</a:t>
            </a:r>
            <a:endParaRPr lang="en-US" sz="850" dirty="0"/>
          </a:p>
        </p:txBody>
      </p:sp>
      <p:sp>
        <p:nvSpPr>
          <p:cNvPr id="23" name="Text 21"/>
          <p:cNvSpPr txBox="1"/>
          <p:nvPr/>
        </p:nvSpPr>
        <p:spPr>
          <a:xfrm>
            <a:off x="6336792" y="129844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 Code</a:t>
            </a:r>
            <a:endParaRPr lang="en-US" sz="750" dirty="0"/>
          </a:p>
        </p:txBody>
      </p:sp>
      <p:sp>
        <p:nvSpPr>
          <p:cNvPr id="24" name="Shape 22"/>
          <p:cNvSpPr/>
          <p:nvPr/>
        </p:nvSpPr>
        <p:spPr>
          <a:xfrm>
            <a:off x="7498080" y="1335024"/>
            <a:ext cx="3291840" cy="91440"/>
          </a:xfrm>
          <a:prstGeom prst="roundRect">
            <a:avLst>
              <a:gd name="adj" fmla="val 40000"/>
            </a:avLst>
          </a:prstGeom>
          <a:solidFill>
            <a:srgbClr val="E2EAEE"/>
          </a:solidFill>
          <a:ln/>
        </p:spPr>
      </p:sp>
      <p:sp>
        <p:nvSpPr>
          <p:cNvPr id="25" name="Shape 23"/>
          <p:cNvSpPr/>
          <p:nvPr/>
        </p:nvSpPr>
        <p:spPr>
          <a:xfrm>
            <a:off x="7498080" y="1335024"/>
            <a:ext cx="855878" cy="91440"/>
          </a:xfrm>
          <a:prstGeom prst="roundRect">
            <a:avLst>
              <a:gd name="adj" fmla="val 40000"/>
            </a:avLst>
          </a:prstGeom>
          <a:solidFill>
            <a:srgbClr val="2C8394"/>
          </a:solidFill>
          <a:ln/>
        </p:spPr>
      </p:sp>
      <p:sp>
        <p:nvSpPr>
          <p:cNvPr id="26" name="Text 24"/>
          <p:cNvSpPr txBox="1"/>
          <p:nvPr/>
        </p:nvSpPr>
        <p:spPr>
          <a:xfrm>
            <a:off x="10881360" y="129844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26%</a:t>
            </a:r>
            <a:endParaRPr lang="en-US" sz="800" dirty="0"/>
          </a:p>
        </p:txBody>
      </p:sp>
      <p:sp>
        <p:nvSpPr>
          <p:cNvPr id="27" name="Text 25"/>
          <p:cNvSpPr txBox="1"/>
          <p:nvPr/>
        </p:nvSpPr>
        <p:spPr>
          <a:xfrm>
            <a:off x="6336792" y="148132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Cowork</a:t>
            </a:r>
            <a:endParaRPr lang="en-US" sz="750" dirty="0"/>
          </a:p>
        </p:txBody>
      </p:sp>
      <p:sp>
        <p:nvSpPr>
          <p:cNvPr id="28" name="Shape 26"/>
          <p:cNvSpPr/>
          <p:nvPr/>
        </p:nvSpPr>
        <p:spPr>
          <a:xfrm>
            <a:off x="7498080" y="1517904"/>
            <a:ext cx="3291840" cy="91440"/>
          </a:xfrm>
          <a:prstGeom prst="roundRect">
            <a:avLst>
              <a:gd name="adj" fmla="val 40000"/>
            </a:avLst>
          </a:prstGeom>
          <a:solidFill>
            <a:srgbClr val="E2EAEE"/>
          </a:solidFill>
          <a:ln/>
        </p:spPr>
      </p:sp>
      <p:sp>
        <p:nvSpPr>
          <p:cNvPr id="29" name="Shape 27"/>
          <p:cNvSpPr/>
          <p:nvPr/>
        </p:nvSpPr>
        <p:spPr>
          <a:xfrm>
            <a:off x="7498080" y="1517904"/>
            <a:ext cx="790042" cy="91440"/>
          </a:xfrm>
          <a:prstGeom prst="roundRect">
            <a:avLst>
              <a:gd name="adj" fmla="val 40000"/>
            </a:avLst>
          </a:prstGeom>
          <a:solidFill>
            <a:srgbClr val="2C8394"/>
          </a:solidFill>
          <a:ln/>
        </p:spPr>
      </p:sp>
      <p:sp>
        <p:nvSpPr>
          <p:cNvPr id="30" name="Text 28"/>
          <p:cNvSpPr txBox="1"/>
          <p:nvPr/>
        </p:nvSpPr>
        <p:spPr>
          <a:xfrm>
            <a:off x="10881360" y="148132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24%</a:t>
            </a:r>
            <a:endParaRPr lang="en-US" sz="800" dirty="0"/>
          </a:p>
        </p:txBody>
      </p:sp>
      <p:sp>
        <p:nvSpPr>
          <p:cNvPr id="31" name="Text 29"/>
          <p:cNvSpPr txBox="1"/>
          <p:nvPr/>
        </p:nvSpPr>
        <p:spPr>
          <a:xfrm>
            <a:off x="6336792" y="166420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Claude.ai</a:t>
            </a:r>
            <a:endParaRPr lang="en-US" sz="750" dirty="0"/>
          </a:p>
        </p:txBody>
      </p:sp>
      <p:sp>
        <p:nvSpPr>
          <p:cNvPr id="32" name="Shape 30"/>
          <p:cNvSpPr/>
          <p:nvPr/>
        </p:nvSpPr>
        <p:spPr>
          <a:xfrm>
            <a:off x="7498080" y="1700784"/>
            <a:ext cx="3291840" cy="91440"/>
          </a:xfrm>
          <a:prstGeom prst="roundRect">
            <a:avLst>
              <a:gd name="adj" fmla="val 40000"/>
            </a:avLst>
          </a:prstGeom>
          <a:solidFill>
            <a:srgbClr val="E2EAEE"/>
          </a:solidFill>
          <a:ln/>
        </p:spPr>
      </p:sp>
      <p:sp>
        <p:nvSpPr>
          <p:cNvPr id="33" name="Shape 31"/>
          <p:cNvSpPr/>
          <p:nvPr/>
        </p:nvSpPr>
        <p:spPr>
          <a:xfrm>
            <a:off x="7498080" y="1700784"/>
            <a:ext cx="230429" cy="91440"/>
          </a:xfrm>
          <a:prstGeom prst="roundRect">
            <a:avLst>
              <a:gd name="adj" fmla="val 40000"/>
            </a:avLst>
          </a:prstGeom>
          <a:solidFill>
            <a:srgbClr val="2C8394"/>
          </a:solidFill>
          <a:ln/>
        </p:spPr>
      </p:sp>
      <p:sp>
        <p:nvSpPr>
          <p:cNvPr id="34" name="Text 32"/>
          <p:cNvSpPr txBox="1"/>
          <p:nvPr/>
        </p:nvSpPr>
        <p:spPr>
          <a:xfrm>
            <a:off x="10881360" y="166420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7%</a:t>
            </a:r>
            <a:endParaRPr lang="en-US" sz="800" dirty="0"/>
          </a:p>
        </p:txBody>
      </p:sp>
      <p:sp>
        <p:nvSpPr>
          <p:cNvPr id="35" name="Text 33"/>
          <p:cNvSpPr txBox="1"/>
          <p:nvPr/>
        </p:nvSpPr>
        <p:spPr>
          <a:xfrm>
            <a:off x="6336792" y="1847088"/>
            <a:ext cx="1051560" cy="164592"/>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Office Agents</a:t>
            </a:r>
            <a:endParaRPr lang="en-US" sz="750" dirty="0"/>
          </a:p>
        </p:txBody>
      </p:sp>
      <p:sp>
        <p:nvSpPr>
          <p:cNvPr id="36" name="Shape 34"/>
          <p:cNvSpPr/>
          <p:nvPr/>
        </p:nvSpPr>
        <p:spPr>
          <a:xfrm>
            <a:off x="7498080" y="1883664"/>
            <a:ext cx="3291840" cy="91440"/>
          </a:xfrm>
          <a:prstGeom prst="roundRect">
            <a:avLst>
              <a:gd name="adj" fmla="val 40000"/>
            </a:avLst>
          </a:prstGeom>
          <a:solidFill>
            <a:srgbClr val="E2EAEE"/>
          </a:solidFill>
          <a:ln/>
        </p:spPr>
      </p:sp>
      <p:sp>
        <p:nvSpPr>
          <p:cNvPr id="37" name="Shape 35"/>
          <p:cNvSpPr/>
          <p:nvPr/>
        </p:nvSpPr>
        <p:spPr>
          <a:xfrm>
            <a:off x="7498080" y="1883664"/>
            <a:ext cx="45720" cy="91440"/>
          </a:xfrm>
          <a:prstGeom prst="roundRect">
            <a:avLst>
              <a:gd name="adj" fmla="val 80000"/>
            </a:avLst>
          </a:prstGeom>
          <a:solidFill>
            <a:srgbClr val="2C8394"/>
          </a:solidFill>
          <a:ln/>
        </p:spPr>
      </p:sp>
      <p:sp>
        <p:nvSpPr>
          <p:cNvPr id="38" name="Text 36"/>
          <p:cNvSpPr txBox="1"/>
          <p:nvPr/>
        </p:nvSpPr>
        <p:spPr>
          <a:xfrm>
            <a:off x="10881360" y="1847088"/>
            <a:ext cx="685800" cy="164592"/>
          </a:xfrm>
          <a:prstGeom prst="rect">
            <a:avLst/>
          </a:prstGeom>
          <a:noFill/>
          <a:ln/>
        </p:spPr>
        <p:txBody>
          <a:bodyPr wrap="square" lIns="0" tIns="0" rIns="0" bIns="0" rtlCol="0" anchor="ctr"/>
          <a:lstStyle/>
          <a:p>
            <a:pPr algn="r" indent="0" marL="0">
              <a:buNone/>
            </a:pPr>
            <a:r>
              <a:rPr lang="en-US" sz="800" b="1" dirty="0">
                <a:solidFill>
                  <a:srgbClr val="2C8394"/>
                </a:solidFill>
                <a:latin typeface="Poppins" pitchFamily="34" charset="0"/>
                <a:ea typeface="Poppins" pitchFamily="34" charset="-122"/>
                <a:cs typeface="Poppins" pitchFamily="34" charset="-120"/>
              </a:rPr>
              <a:t>0%</a:t>
            </a:r>
            <a:endParaRPr lang="en-US" sz="800" dirty="0"/>
          </a:p>
        </p:txBody>
      </p:sp>
      <p:sp>
        <p:nvSpPr>
          <p:cNvPr id="39" name="Shape 37"/>
          <p:cNvSpPr/>
          <p:nvPr/>
        </p:nvSpPr>
        <p:spPr>
          <a:xfrm>
            <a:off x="411480" y="2212848"/>
            <a:ext cx="7498080"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40" name="Text 38"/>
          <p:cNvSpPr txBox="1"/>
          <p:nvPr/>
        </p:nvSpPr>
        <p:spPr>
          <a:xfrm>
            <a:off x="612648" y="2322576"/>
            <a:ext cx="69494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THE CODE PICTURE — WHO, BY MONTH · AND THE WEEKLY RHYTHM BENEATH IT</a:t>
            </a:r>
            <a:endParaRPr lang="en-US" sz="1200" dirty="0"/>
          </a:p>
        </p:txBody>
      </p:sp>
      <p:sp>
        <p:nvSpPr>
          <p:cNvPr id="41" name="Text 39"/>
          <p:cNvSpPr txBox="1"/>
          <p:nvPr/>
        </p:nvSpPr>
        <p:spPr>
          <a:xfrm>
            <a:off x="2057400"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Jul</a:t>
            </a:r>
            <a:endParaRPr lang="en-US" sz="800" dirty="0"/>
          </a:p>
        </p:txBody>
      </p:sp>
      <p:sp>
        <p:nvSpPr>
          <p:cNvPr id="42" name="Text 40"/>
          <p:cNvSpPr txBox="1"/>
          <p:nvPr/>
        </p:nvSpPr>
        <p:spPr>
          <a:xfrm>
            <a:off x="3136392"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Aug</a:t>
            </a:r>
            <a:endParaRPr lang="en-US" sz="800" dirty="0"/>
          </a:p>
        </p:txBody>
      </p:sp>
      <p:sp>
        <p:nvSpPr>
          <p:cNvPr id="43" name="Text 41"/>
          <p:cNvSpPr txBox="1"/>
          <p:nvPr/>
        </p:nvSpPr>
        <p:spPr>
          <a:xfrm>
            <a:off x="4215384"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Sep</a:t>
            </a:r>
            <a:endParaRPr lang="en-US" sz="800" dirty="0"/>
          </a:p>
        </p:txBody>
      </p:sp>
      <p:sp>
        <p:nvSpPr>
          <p:cNvPr id="44" name="Text 42"/>
          <p:cNvSpPr txBox="1"/>
          <p:nvPr/>
        </p:nvSpPr>
        <p:spPr>
          <a:xfrm>
            <a:off x="5294376" y="2596896"/>
            <a:ext cx="1051560" cy="182880"/>
          </a:xfrm>
          <a:prstGeom prst="rect">
            <a:avLst/>
          </a:prstGeom>
          <a:noFill/>
          <a:ln/>
        </p:spPr>
        <p:txBody>
          <a:bodyPr wrap="square" lIns="0" tIns="0" rIns="0" bIns="0" rtlCol="0" anchor="ctr"/>
          <a:lstStyle/>
          <a:p>
            <a:pPr algn="ctr" indent="0" marL="0">
              <a:buNone/>
            </a:pPr>
            <a:r>
              <a:rPr lang="en-US" sz="800" b="1" dirty="0">
                <a:solidFill>
                  <a:srgbClr val="12293A"/>
                </a:solidFill>
                <a:latin typeface="Poppins" pitchFamily="34" charset="0"/>
                <a:ea typeface="Poppins" pitchFamily="34" charset="-122"/>
                <a:cs typeface="Poppins" pitchFamily="34" charset="-120"/>
              </a:rPr>
              <a:t>Oct</a:t>
            </a:r>
            <a:endParaRPr lang="en-US" sz="800" dirty="0"/>
          </a:p>
        </p:txBody>
      </p:sp>
      <p:sp>
        <p:nvSpPr>
          <p:cNvPr id="45" name="Text 43"/>
          <p:cNvSpPr txBox="1"/>
          <p:nvPr/>
        </p:nvSpPr>
        <p:spPr>
          <a:xfrm>
            <a:off x="6400800" y="2596896"/>
            <a:ext cx="1280160" cy="182880"/>
          </a:xfrm>
          <a:prstGeom prst="rect">
            <a:avLst/>
          </a:prstGeom>
          <a:noFill/>
          <a:ln/>
        </p:spPr>
        <p:txBody>
          <a:bodyPr wrap="square" lIns="0" tIns="0" rIns="0" bIns="0" rtlCol="0" anchor="ctr"/>
          <a:lstStyle/>
          <a:p>
            <a:pPr algn="r" indent="0" marL="0">
              <a:buNone/>
            </a:pPr>
            <a:r>
              <a:rPr lang="en-US" sz="800" b="1" dirty="0">
                <a:solidFill>
                  <a:srgbClr val="12293A"/>
                </a:solidFill>
                <a:latin typeface="Poppins" pitchFamily="34" charset="0"/>
                <a:ea typeface="Poppins" pitchFamily="34" charset="-122"/>
                <a:cs typeface="Poppins" pitchFamily="34" charset="-120"/>
              </a:rPr>
              <a:t>TOTAL</a:t>
            </a:r>
            <a:endParaRPr lang="en-US" sz="800" dirty="0"/>
          </a:p>
        </p:txBody>
      </p:sp>
      <p:sp>
        <p:nvSpPr>
          <p:cNvPr id="46" name="Text 44"/>
          <p:cNvSpPr txBox="1"/>
          <p:nvPr/>
        </p:nvSpPr>
        <p:spPr>
          <a:xfrm>
            <a:off x="594360" y="2816352"/>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Brad Smith</a:t>
            </a:r>
            <a:endParaRPr lang="en-US" sz="720" dirty="0"/>
          </a:p>
        </p:txBody>
      </p:sp>
      <p:sp>
        <p:nvSpPr>
          <p:cNvPr id="47" name="Shape 45"/>
          <p:cNvSpPr/>
          <p:nvPr/>
        </p:nvSpPr>
        <p:spPr>
          <a:xfrm>
            <a:off x="2084832" y="2823667"/>
            <a:ext cx="996696" cy="150876"/>
          </a:xfrm>
          <a:prstGeom prst="rect">
            <a:avLst/>
          </a:prstGeom>
          <a:solidFill>
            <a:srgbClr val="D4E9ED"/>
          </a:solidFill>
          <a:ln/>
        </p:spPr>
      </p:sp>
      <p:sp>
        <p:nvSpPr>
          <p:cNvPr id="48" name="Text 46"/>
          <p:cNvSpPr txBox="1"/>
          <p:nvPr/>
        </p:nvSpPr>
        <p:spPr>
          <a:xfrm>
            <a:off x="2057400"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39,579</a:t>
            </a:r>
            <a:endParaRPr lang="en-US" sz="680" dirty="0"/>
          </a:p>
        </p:txBody>
      </p:sp>
      <p:sp>
        <p:nvSpPr>
          <p:cNvPr id="49" name="Shape 47"/>
          <p:cNvSpPr/>
          <p:nvPr/>
        </p:nvSpPr>
        <p:spPr>
          <a:xfrm>
            <a:off x="3163824" y="2823667"/>
            <a:ext cx="996696" cy="150876"/>
          </a:xfrm>
          <a:prstGeom prst="rect">
            <a:avLst/>
          </a:prstGeom>
          <a:solidFill>
            <a:srgbClr val="D4E9ED"/>
          </a:solidFill>
          <a:ln/>
        </p:spPr>
      </p:sp>
      <p:sp>
        <p:nvSpPr>
          <p:cNvPr id="50" name="Text 48"/>
          <p:cNvSpPr txBox="1"/>
          <p:nvPr/>
        </p:nvSpPr>
        <p:spPr>
          <a:xfrm>
            <a:off x="3136392"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41,244</a:t>
            </a:r>
            <a:endParaRPr lang="en-US" sz="680" dirty="0"/>
          </a:p>
        </p:txBody>
      </p:sp>
      <p:sp>
        <p:nvSpPr>
          <p:cNvPr id="51" name="Shape 49"/>
          <p:cNvSpPr/>
          <p:nvPr/>
        </p:nvSpPr>
        <p:spPr>
          <a:xfrm>
            <a:off x="4242816" y="2823667"/>
            <a:ext cx="996696" cy="150876"/>
          </a:xfrm>
          <a:prstGeom prst="rect">
            <a:avLst/>
          </a:prstGeom>
          <a:solidFill>
            <a:srgbClr val="EDF5F7"/>
          </a:solidFill>
          <a:ln/>
        </p:spPr>
      </p:sp>
      <p:sp>
        <p:nvSpPr>
          <p:cNvPr id="52" name="Text 50"/>
          <p:cNvSpPr txBox="1"/>
          <p:nvPr/>
        </p:nvSpPr>
        <p:spPr>
          <a:xfrm>
            <a:off x="4215384" y="281635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15,821</a:t>
            </a:r>
            <a:endParaRPr lang="en-US" sz="680" dirty="0"/>
          </a:p>
        </p:txBody>
      </p:sp>
      <p:sp>
        <p:nvSpPr>
          <p:cNvPr id="53" name="Text 51"/>
          <p:cNvSpPr txBox="1"/>
          <p:nvPr/>
        </p:nvSpPr>
        <p:spPr>
          <a:xfrm>
            <a:off x="5294376" y="2816352"/>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54" name="Text 52"/>
          <p:cNvSpPr txBox="1"/>
          <p:nvPr/>
        </p:nvSpPr>
        <p:spPr>
          <a:xfrm>
            <a:off x="6400800" y="2816352"/>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96,644</a:t>
            </a:r>
            <a:endParaRPr lang="en-US" sz="700" dirty="0"/>
          </a:p>
        </p:txBody>
      </p:sp>
      <p:sp>
        <p:nvSpPr>
          <p:cNvPr id="55" name="Text 53"/>
          <p:cNvSpPr txBox="1"/>
          <p:nvPr/>
        </p:nvSpPr>
        <p:spPr>
          <a:xfrm>
            <a:off x="594360" y="2990088"/>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Nicolas Ibrahim</a:t>
            </a:r>
            <a:endParaRPr lang="en-US" sz="720" dirty="0"/>
          </a:p>
        </p:txBody>
      </p:sp>
      <p:sp>
        <p:nvSpPr>
          <p:cNvPr id="56" name="Shape 54"/>
          <p:cNvSpPr/>
          <p:nvPr/>
        </p:nvSpPr>
        <p:spPr>
          <a:xfrm>
            <a:off x="2084832" y="2997403"/>
            <a:ext cx="996696" cy="150876"/>
          </a:xfrm>
          <a:prstGeom prst="rect">
            <a:avLst/>
          </a:prstGeom>
          <a:solidFill>
            <a:srgbClr val="EDF5F7"/>
          </a:solidFill>
          <a:ln/>
        </p:spPr>
      </p:sp>
      <p:sp>
        <p:nvSpPr>
          <p:cNvPr id="57" name="Text 55"/>
          <p:cNvSpPr txBox="1"/>
          <p:nvPr/>
        </p:nvSpPr>
        <p:spPr>
          <a:xfrm>
            <a:off x="2057400"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15,834</a:t>
            </a:r>
            <a:endParaRPr lang="en-US" sz="680" dirty="0"/>
          </a:p>
        </p:txBody>
      </p:sp>
      <p:sp>
        <p:nvSpPr>
          <p:cNvPr id="58" name="Shape 56"/>
          <p:cNvSpPr/>
          <p:nvPr/>
        </p:nvSpPr>
        <p:spPr>
          <a:xfrm>
            <a:off x="3163824" y="2997403"/>
            <a:ext cx="996696" cy="150876"/>
          </a:xfrm>
          <a:prstGeom prst="rect">
            <a:avLst/>
          </a:prstGeom>
          <a:solidFill>
            <a:srgbClr val="D4E9ED"/>
          </a:solidFill>
          <a:ln/>
        </p:spPr>
      </p:sp>
      <p:sp>
        <p:nvSpPr>
          <p:cNvPr id="59" name="Text 57"/>
          <p:cNvSpPr txBox="1"/>
          <p:nvPr/>
        </p:nvSpPr>
        <p:spPr>
          <a:xfrm>
            <a:off x="3136392"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38,142</a:t>
            </a:r>
            <a:endParaRPr lang="en-US" sz="680" dirty="0"/>
          </a:p>
        </p:txBody>
      </p:sp>
      <p:sp>
        <p:nvSpPr>
          <p:cNvPr id="60" name="Shape 58"/>
          <p:cNvSpPr/>
          <p:nvPr/>
        </p:nvSpPr>
        <p:spPr>
          <a:xfrm>
            <a:off x="4242816" y="2997403"/>
            <a:ext cx="996696" cy="150876"/>
          </a:xfrm>
          <a:prstGeom prst="rect">
            <a:avLst/>
          </a:prstGeom>
          <a:solidFill>
            <a:srgbClr val="8FC3CC"/>
          </a:solidFill>
          <a:ln/>
        </p:spPr>
      </p:sp>
      <p:sp>
        <p:nvSpPr>
          <p:cNvPr id="61" name="Text 59"/>
          <p:cNvSpPr txBox="1"/>
          <p:nvPr/>
        </p:nvSpPr>
        <p:spPr>
          <a:xfrm>
            <a:off x="4215384"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99,693</a:t>
            </a:r>
            <a:endParaRPr lang="en-US" sz="680" dirty="0"/>
          </a:p>
        </p:txBody>
      </p:sp>
      <p:sp>
        <p:nvSpPr>
          <p:cNvPr id="62" name="Shape 60"/>
          <p:cNvSpPr/>
          <p:nvPr/>
        </p:nvSpPr>
        <p:spPr>
          <a:xfrm>
            <a:off x="5321808" y="2997403"/>
            <a:ext cx="996696" cy="150876"/>
          </a:xfrm>
          <a:prstGeom prst="rect">
            <a:avLst/>
          </a:prstGeom>
          <a:solidFill>
            <a:srgbClr val="8FC3CC"/>
          </a:solidFill>
          <a:ln/>
        </p:spPr>
      </p:sp>
      <p:sp>
        <p:nvSpPr>
          <p:cNvPr id="63" name="Text 61"/>
          <p:cNvSpPr txBox="1"/>
          <p:nvPr/>
        </p:nvSpPr>
        <p:spPr>
          <a:xfrm>
            <a:off x="5294376" y="299008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77,260</a:t>
            </a:r>
            <a:endParaRPr lang="en-US" sz="680" dirty="0"/>
          </a:p>
        </p:txBody>
      </p:sp>
      <p:sp>
        <p:nvSpPr>
          <p:cNvPr id="64" name="Text 62"/>
          <p:cNvSpPr txBox="1"/>
          <p:nvPr/>
        </p:nvSpPr>
        <p:spPr>
          <a:xfrm>
            <a:off x="6400800" y="2990088"/>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230,929</a:t>
            </a:r>
            <a:endParaRPr lang="en-US" sz="700" dirty="0"/>
          </a:p>
        </p:txBody>
      </p:sp>
      <p:sp>
        <p:nvSpPr>
          <p:cNvPr id="65" name="Text 63"/>
          <p:cNvSpPr txBox="1"/>
          <p:nvPr/>
        </p:nvSpPr>
        <p:spPr>
          <a:xfrm>
            <a:off x="594360" y="3163824"/>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Hawraa Khalil</a:t>
            </a:r>
            <a:endParaRPr lang="en-US" sz="720" dirty="0"/>
          </a:p>
        </p:txBody>
      </p:sp>
      <p:sp>
        <p:nvSpPr>
          <p:cNvPr id="66" name="Shape 64"/>
          <p:cNvSpPr/>
          <p:nvPr/>
        </p:nvSpPr>
        <p:spPr>
          <a:xfrm>
            <a:off x="2084832" y="3171139"/>
            <a:ext cx="996696" cy="150876"/>
          </a:xfrm>
          <a:prstGeom prst="rect">
            <a:avLst/>
          </a:prstGeom>
          <a:solidFill>
            <a:srgbClr val="D4E9ED"/>
          </a:solidFill>
          <a:ln/>
        </p:spPr>
      </p:sp>
      <p:sp>
        <p:nvSpPr>
          <p:cNvPr id="67" name="Text 65"/>
          <p:cNvSpPr txBox="1"/>
          <p:nvPr/>
        </p:nvSpPr>
        <p:spPr>
          <a:xfrm>
            <a:off x="2057400"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28,536</a:t>
            </a:r>
            <a:endParaRPr lang="en-US" sz="680" dirty="0"/>
          </a:p>
        </p:txBody>
      </p:sp>
      <p:sp>
        <p:nvSpPr>
          <p:cNvPr id="68" name="Shape 66"/>
          <p:cNvSpPr/>
          <p:nvPr/>
        </p:nvSpPr>
        <p:spPr>
          <a:xfrm>
            <a:off x="3163824" y="3171139"/>
            <a:ext cx="996696" cy="150876"/>
          </a:xfrm>
          <a:prstGeom prst="rect">
            <a:avLst/>
          </a:prstGeom>
          <a:solidFill>
            <a:srgbClr val="D4E9ED"/>
          </a:solidFill>
          <a:ln/>
        </p:spPr>
      </p:sp>
      <p:sp>
        <p:nvSpPr>
          <p:cNvPr id="69" name="Text 67"/>
          <p:cNvSpPr txBox="1"/>
          <p:nvPr/>
        </p:nvSpPr>
        <p:spPr>
          <a:xfrm>
            <a:off x="3136392"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23,285</a:t>
            </a:r>
            <a:endParaRPr lang="en-US" sz="680" dirty="0"/>
          </a:p>
        </p:txBody>
      </p:sp>
      <p:sp>
        <p:nvSpPr>
          <p:cNvPr id="70" name="Shape 68"/>
          <p:cNvSpPr/>
          <p:nvPr/>
        </p:nvSpPr>
        <p:spPr>
          <a:xfrm>
            <a:off x="4242816" y="3171139"/>
            <a:ext cx="996696" cy="150876"/>
          </a:xfrm>
          <a:prstGeom prst="rect">
            <a:avLst/>
          </a:prstGeom>
          <a:solidFill>
            <a:srgbClr val="EDF5F7"/>
          </a:solidFill>
          <a:ln/>
        </p:spPr>
      </p:sp>
      <p:sp>
        <p:nvSpPr>
          <p:cNvPr id="71" name="Text 69"/>
          <p:cNvSpPr txBox="1"/>
          <p:nvPr/>
        </p:nvSpPr>
        <p:spPr>
          <a:xfrm>
            <a:off x="4215384" y="316382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19,047</a:t>
            </a:r>
            <a:endParaRPr lang="en-US" sz="680" dirty="0"/>
          </a:p>
        </p:txBody>
      </p:sp>
      <p:sp>
        <p:nvSpPr>
          <p:cNvPr id="72" name="Text 70"/>
          <p:cNvSpPr txBox="1"/>
          <p:nvPr/>
        </p:nvSpPr>
        <p:spPr>
          <a:xfrm>
            <a:off x="5294376" y="3163824"/>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73" name="Text 71"/>
          <p:cNvSpPr txBox="1"/>
          <p:nvPr/>
        </p:nvSpPr>
        <p:spPr>
          <a:xfrm>
            <a:off x="6400800" y="3163824"/>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70,868</a:t>
            </a:r>
            <a:endParaRPr lang="en-US" sz="700" dirty="0"/>
          </a:p>
        </p:txBody>
      </p:sp>
      <p:sp>
        <p:nvSpPr>
          <p:cNvPr id="74" name="Text 72"/>
          <p:cNvSpPr txBox="1"/>
          <p:nvPr/>
        </p:nvSpPr>
        <p:spPr>
          <a:xfrm>
            <a:off x="594360" y="3337560"/>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Ciaran Dempsey</a:t>
            </a:r>
            <a:endParaRPr lang="en-US" sz="720" dirty="0"/>
          </a:p>
        </p:txBody>
      </p:sp>
      <p:sp>
        <p:nvSpPr>
          <p:cNvPr id="75" name="Shape 73"/>
          <p:cNvSpPr/>
          <p:nvPr/>
        </p:nvSpPr>
        <p:spPr>
          <a:xfrm>
            <a:off x="2084832" y="3344875"/>
            <a:ext cx="996696" cy="150876"/>
          </a:xfrm>
          <a:prstGeom prst="rect">
            <a:avLst/>
          </a:prstGeom>
          <a:solidFill>
            <a:srgbClr val="EDF5F7"/>
          </a:solidFill>
          <a:ln/>
        </p:spPr>
      </p:sp>
      <p:sp>
        <p:nvSpPr>
          <p:cNvPr id="76" name="Text 74"/>
          <p:cNvSpPr txBox="1"/>
          <p:nvPr/>
        </p:nvSpPr>
        <p:spPr>
          <a:xfrm>
            <a:off x="2057400"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18,918</a:t>
            </a:r>
            <a:endParaRPr lang="en-US" sz="680" dirty="0"/>
          </a:p>
        </p:txBody>
      </p:sp>
      <p:sp>
        <p:nvSpPr>
          <p:cNvPr id="77" name="Shape 75"/>
          <p:cNvSpPr/>
          <p:nvPr/>
        </p:nvSpPr>
        <p:spPr>
          <a:xfrm>
            <a:off x="3163824" y="3344875"/>
            <a:ext cx="996696" cy="150876"/>
          </a:xfrm>
          <a:prstGeom prst="rect">
            <a:avLst/>
          </a:prstGeom>
          <a:solidFill>
            <a:srgbClr val="D4E9ED"/>
          </a:solidFill>
          <a:ln/>
        </p:spPr>
      </p:sp>
      <p:sp>
        <p:nvSpPr>
          <p:cNvPr id="78" name="Text 76"/>
          <p:cNvSpPr txBox="1"/>
          <p:nvPr/>
        </p:nvSpPr>
        <p:spPr>
          <a:xfrm>
            <a:off x="3136392"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23,650</a:t>
            </a:r>
            <a:endParaRPr lang="en-US" sz="680" dirty="0"/>
          </a:p>
        </p:txBody>
      </p:sp>
      <p:sp>
        <p:nvSpPr>
          <p:cNvPr id="79" name="Shape 77"/>
          <p:cNvSpPr/>
          <p:nvPr/>
        </p:nvSpPr>
        <p:spPr>
          <a:xfrm>
            <a:off x="4242816" y="3344875"/>
            <a:ext cx="996696" cy="150876"/>
          </a:xfrm>
          <a:prstGeom prst="rect">
            <a:avLst/>
          </a:prstGeom>
          <a:solidFill>
            <a:srgbClr val="D4E9ED"/>
          </a:solidFill>
          <a:ln/>
        </p:spPr>
      </p:sp>
      <p:sp>
        <p:nvSpPr>
          <p:cNvPr id="80" name="Text 78"/>
          <p:cNvSpPr txBox="1"/>
          <p:nvPr/>
        </p:nvSpPr>
        <p:spPr>
          <a:xfrm>
            <a:off x="4215384"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24,443</a:t>
            </a:r>
            <a:endParaRPr lang="en-US" sz="680" dirty="0"/>
          </a:p>
        </p:txBody>
      </p:sp>
      <p:sp>
        <p:nvSpPr>
          <p:cNvPr id="81" name="Shape 79"/>
          <p:cNvSpPr/>
          <p:nvPr/>
        </p:nvSpPr>
        <p:spPr>
          <a:xfrm>
            <a:off x="5321808" y="3344875"/>
            <a:ext cx="996696" cy="150876"/>
          </a:xfrm>
          <a:prstGeom prst="rect">
            <a:avLst/>
          </a:prstGeom>
          <a:solidFill>
            <a:srgbClr val="EDF5F7"/>
          </a:solidFill>
          <a:ln/>
        </p:spPr>
      </p:sp>
      <p:sp>
        <p:nvSpPr>
          <p:cNvPr id="82" name="Text 80"/>
          <p:cNvSpPr txBox="1"/>
          <p:nvPr/>
        </p:nvSpPr>
        <p:spPr>
          <a:xfrm>
            <a:off x="5294376" y="333756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1,321</a:t>
            </a:r>
            <a:endParaRPr lang="en-US" sz="680" dirty="0"/>
          </a:p>
        </p:txBody>
      </p:sp>
      <p:sp>
        <p:nvSpPr>
          <p:cNvPr id="83" name="Text 81"/>
          <p:cNvSpPr txBox="1"/>
          <p:nvPr/>
        </p:nvSpPr>
        <p:spPr>
          <a:xfrm>
            <a:off x="6400800" y="3337560"/>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68,332</a:t>
            </a:r>
            <a:endParaRPr lang="en-US" sz="700" dirty="0"/>
          </a:p>
        </p:txBody>
      </p:sp>
      <p:sp>
        <p:nvSpPr>
          <p:cNvPr id="84" name="Text 82"/>
          <p:cNvSpPr txBox="1"/>
          <p:nvPr/>
        </p:nvSpPr>
        <p:spPr>
          <a:xfrm>
            <a:off x="594360" y="3511296"/>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David Corbett</a:t>
            </a:r>
            <a:endParaRPr lang="en-US" sz="720" dirty="0"/>
          </a:p>
        </p:txBody>
      </p:sp>
      <p:sp>
        <p:nvSpPr>
          <p:cNvPr id="85" name="Shape 83"/>
          <p:cNvSpPr/>
          <p:nvPr/>
        </p:nvSpPr>
        <p:spPr>
          <a:xfrm>
            <a:off x="2084832" y="3518611"/>
            <a:ext cx="996696" cy="150876"/>
          </a:xfrm>
          <a:prstGeom prst="rect">
            <a:avLst/>
          </a:prstGeom>
          <a:solidFill>
            <a:srgbClr val="D4E9ED"/>
          </a:solidFill>
          <a:ln/>
        </p:spPr>
      </p:sp>
      <p:sp>
        <p:nvSpPr>
          <p:cNvPr id="86" name="Text 84"/>
          <p:cNvSpPr txBox="1"/>
          <p:nvPr/>
        </p:nvSpPr>
        <p:spPr>
          <a:xfrm>
            <a:off x="2057400"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27,031</a:t>
            </a:r>
            <a:endParaRPr lang="en-US" sz="680" dirty="0"/>
          </a:p>
        </p:txBody>
      </p:sp>
      <p:sp>
        <p:nvSpPr>
          <p:cNvPr id="87" name="Shape 85"/>
          <p:cNvSpPr/>
          <p:nvPr/>
        </p:nvSpPr>
        <p:spPr>
          <a:xfrm>
            <a:off x="3163824" y="3518611"/>
            <a:ext cx="996696" cy="150876"/>
          </a:xfrm>
          <a:prstGeom prst="rect">
            <a:avLst/>
          </a:prstGeom>
          <a:solidFill>
            <a:srgbClr val="EDF5F7"/>
          </a:solidFill>
          <a:ln/>
        </p:spPr>
      </p:sp>
      <p:sp>
        <p:nvSpPr>
          <p:cNvPr id="88" name="Text 86"/>
          <p:cNvSpPr txBox="1"/>
          <p:nvPr/>
        </p:nvSpPr>
        <p:spPr>
          <a:xfrm>
            <a:off x="3136392"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10,145</a:t>
            </a:r>
            <a:endParaRPr lang="en-US" sz="680" dirty="0"/>
          </a:p>
        </p:txBody>
      </p:sp>
      <p:sp>
        <p:nvSpPr>
          <p:cNvPr id="89" name="Shape 87"/>
          <p:cNvSpPr/>
          <p:nvPr/>
        </p:nvSpPr>
        <p:spPr>
          <a:xfrm>
            <a:off x="4242816" y="3518611"/>
            <a:ext cx="996696" cy="150876"/>
          </a:xfrm>
          <a:prstGeom prst="rect">
            <a:avLst/>
          </a:prstGeom>
          <a:solidFill>
            <a:srgbClr val="D4E9ED"/>
          </a:solidFill>
          <a:ln/>
        </p:spPr>
      </p:sp>
      <p:sp>
        <p:nvSpPr>
          <p:cNvPr id="90" name="Text 88"/>
          <p:cNvSpPr txBox="1"/>
          <p:nvPr/>
        </p:nvSpPr>
        <p:spPr>
          <a:xfrm>
            <a:off x="4215384"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30,828</a:t>
            </a:r>
            <a:endParaRPr lang="en-US" sz="680" dirty="0"/>
          </a:p>
        </p:txBody>
      </p:sp>
      <p:sp>
        <p:nvSpPr>
          <p:cNvPr id="91" name="Shape 89"/>
          <p:cNvSpPr/>
          <p:nvPr/>
        </p:nvSpPr>
        <p:spPr>
          <a:xfrm>
            <a:off x="5321808" y="3518611"/>
            <a:ext cx="996696" cy="150876"/>
          </a:xfrm>
          <a:prstGeom prst="rect">
            <a:avLst/>
          </a:prstGeom>
          <a:solidFill>
            <a:srgbClr val="EDF5F7"/>
          </a:solidFill>
          <a:ln/>
        </p:spPr>
      </p:sp>
      <p:sp>
        <p:nvSpPr>
          <p:cNvPr id="92" name="Text 90"/>
          <p:cNvSpPr txBox="1"/>
          <p:nvPr/>
        </p:nvSpPr>
        <p:spPr>
          <a:xfrm>
            <a:off x="5294376" y="351129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6,988</a:t>
            </a:r>
            <a:endParaRPr lang="en-US" sz="680" dirty="0"/>
          </a:p>
        </p:txBody>
      </p:sp>
      <p:sp>
        <p:nvSpPr>
          <p:cNvPr id="93" name="Text 91"/>
          <p:cNvSpPr txBox="1"/>
          <p:nvPr/>
        </p:nvSpPr>
        <p:spPr>
          <a:xfrm>
            <a:off x="6400800" y="3511296"/>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74,992</a:t>
            </a:r>
            <a:endParaRPr lang="en-US" sz="700" dirty="0"/>
          </a:p>
        </p:txBody>
      </p:sp>
      <p:sp>
        <p:nvSpPr>
          <p:cNvPr id="94" name="Text 92"/>
          <p:cNvSpPr txBox="1"/>
          <p:nvPr/>
        </p:nvSpPr>
        <p:spPr>
          <a:xfrm>
            <a:off x="594360" y="3685032"/>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Chris Huang</a:t>
            </a:r>
            <a:endParaRPr lang="en-US" sz="720" dirty="0"/>
          </a:p>
        </p:txBody>
      </p:sp>
      <p:sp>
        <p:nvSpPr>
          <p:cNvPr id="95" name="Shape 93"/>
          <p:cNvSpPr/>
          <p:nvPr/>
        </p:nvSpPr>
        <p:spPr>
          <a:xfrm>
            <a:off x="2084832" y="3692347"/>
            <a:ext cx="996696" cy="150876"/>
          </a:xfrm>
          <a:prstGeom prst="rect">
            <a:avLst/>
          </a:prstGeom>
          <a:solidFill>
            <a:srgbClr val="EDF5F7"/>
          </a:solidFill>
          <a:ln/>
        </p:spPr>
      </p:sp>
      <p:sp>
        <p:nvSpPr>
          <p:cNvPr id="96" name="Text 94"/>
          <p:cNvSpPr txBox="1"/>
          <p:nvPr/>
        </p:nvSpPr>
        <p:spPr>
          <a:xfrm>
            <a:off x="2057400"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19,535</a:t>
            </a:r>
            <a:endParaRPr lang="en-US" sz="680" dirty="0"/>
          </a:p>
        </p:txBody>
      </p:sp>
      <p:sp>
        <p:nvSpPr>
          <p:cNvPr id="97" name="Shape 95"/>
          <p:cNvSpPr/>
          <p:nvPr/>
        </p:nvSpPr>
        <p:spPr>
          <a:xfrm>
            <a:off x="3163824" y="3692347"/>
            <a:ext cx="996696" cy="150876"/>
          </a:xfrm>
          <a:prstGeom prst="rect">
            <a:avLst/>
          </a:prstGeom>
          <a:solidFill>
            <a:srgbClr val="EDF5F7"/>
          </a:solidFill>
          <a:ln/>
        </p:spPr>
      </p:sp>
      <p:sp>
        <p:nvSpPr>
          <p:cNvPr id="98" name="Text 96"/>
          <p:cNvSpPr txBox="1"/>
          <p:nvPr/>
        </p:nvSpPr>
        <p:spPr>
          <a:xfrm>
            <a:off x="3136392"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12,856</a:t>
            </a:r>
            <a:endParaRPr lang="en-US" sz="680" dirty="0"/>
          </a:p>
        </p:txBody>
      </p:sp>
      <p:sp>
        <p:nvSpPr>
          <p:cNvPr id="99" name="Shape 97"/>
          <p:cNvSpPr/>
          <p:nvPr/>
        </p:nvSpPr>
        <p:spPr>
          <a:xfrm>
            <a:off x="4242816" y="3692347"/>
            <a:ext cx="996696" cy="150876"/>
          </a:xfrm>
          <a:prstGeom prst="rect">
            <a:avLst/>
          </a:prstGeom>
          <a:solidFill>
            <a:srgbClr val="EDF5F7"/>
          </a:solidFill>
          <a:ln/>
        </p:spPr>
      </p:sp>
      <p:sp>
        <p:nvSpPr>
          <p:cNvPr id="100" name="Text 98"/>
          <p:cNvSpPr txBox="1"/>
          <p:nvPr/>
        </p:nvSpPr>
        <p:spPr>
          <a:xfrm>
            <a:off x="4215384"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17,516</a:t>
            </a:r>
            <a:endParaRPr lang="en-US" sz="680" dirty="0"/>
          </a:p>
        </p:txBody>
      </p:sp>
      <p:sp>
        <p:nvSpPr>
          <p:cNvPr id="101" name="Shape 99"/>
          <p:cNvSpPr/>
          <p:nvPr/>
        </p:nvSpPr>
        <p:spPr>
          <a:xfrm>
            <a:off x="5321808" y="3692347"/>
            <a:ext cx="996696" cy="150876"/>
          </a:xfrm>
          <a:prstGeom prst="rect">
            <a:avLst/>
          </a:prstGeom>
          <a:solidFill>
            <a:srgbClr val="EDF5F7"/>
          </a:solidFill>
          <a:ln/>
        </p:spPr>
      </p:sp>
      <p:sp>
        <p:nvSpPr>
          <p:cNvPr id="102" name="Text 100"/>
          <p:cNvSpPr txBox="1"/>
          <p:nvPr/>
        </p:nvSpPr>
        <p:spPr>
          <a:xfrm>
            <a:off x="5294376" y="3685032"/>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3,013</a:t>
            </a:r>
            <a:endParaRPr lang="en-US" sz="680" dirty="0"/>
          </a:p>
        </p:txBody>
      </p:sp>
      <p:sp>
        <p:nvSpPr>
          <p:cNvPr id="103" name="Text 101"/>
          <p:cNvSpPr txBox="1"/>
          <p:nvPr/>
        </p:nvSpPr>
        <p:spPr>
          <a:xfrm>
            <a:off x="6400800" y="3685032"/>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52,920</a:t>
            </a:r>
            <a:endParaRPr lang="en-US" sz="700" dirty="0"/>
          </a:p>
        </p:txBody>
      </p:sp>
      <p:sp>
        <p:nvSpPr>
          <p:cNvPr id="104" name="Text 102"/>
          <p:cNvSpPr txBox="1"/>
          <p:nvPr/>
        </p:nvSpPr>
        <p:spPr>
          <a:xfrm>
            <a:off x="594360" y="3858768"/>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Rahul Kumar</a:t>
            </a:r>
            <a:endParaRPr lang="en-US" sz="720" dirty="0"/>
          </a:p>
        </p:txBody>
      </p:sp>
      <p:sp>
        <p:nvSpPr>
          <p:cNvPr id="105" name="Text 103"/>
          <p:cNvSpPr txBox="1"/>
          <p:nvPr/>
        </p:nvSpPr>
        <p:spPr>
          <a:xfrm>
            <a:off x="2057400" y="3858768"/>
            <a:ext cx="1051560" cy="164592"/>
          </a:xfrm>
          <a:prstGeom prst="rect">
            <a:avLst/>
          </a:prstGeom>
          <a:noFill/>
          <a:ln/>
        </p:spPr>
        <p:txBody>
          <a:bodyPr wrap="square" lIns="0" tIns="0" rIns="0" bIns="0" rtlCol="0" anchor="ctr"/>
          <a:lstStyle/>
          <a:p>
            <a:pPr algn="ctr" indent="0" marL="0">
              <a:buNone/>
            </a:pPr>
            <a:r>
              <a:rPr lang="en-US" sz="680" dirty="0">
                <a:solidFill>
                  <a:srgbClr val="8FA1AC"/>
                </a:solidFill>
                <a:latin typeface="Poppins" pitchFamily="34" charset="0"/>
                <a:ea typeface="Poppins" pitchFamily="34" charset="-122"/>
                <a:cs typeface="Poppins" pitchFamily="34" charset="-120"/>
              </a:rPr>
              <a:t>—</a:t>
            </a:r>
            <a:endParaRPr lang="en-US" sz="680" dirty="0"/>
          </a:p>
        </p:txBody>
      </p:sp>
      <p:sp>
        <p:nvSpPr>
          <p:cNvPr id="106" name="Shape 104"/>
          <p:cNvSpPr/>
          <p:nvPr/>
        </p:nvSpPr>
        <p:spPr>
          <a:xfrm>
            <a:off x="3163824" y="3866083"/>
            <a:ext cx="996696" cy="150876"/>
          </a:xfrm>
          <a:prstGeom prst="rect">
            <a:avLst/>
          </a:prstGeom>
          <a:solidFill>
            <a:srgbClr val="D4E9ED"/>
          </a:solidFill>
          <a:ln/>
        </p:spPr>
      </p:sp>
      <p:sp>
        <p:nvSpPr>
          <p:cNvPr id="107" name="Text 105"/>
          <p:cNvSpPr txBox="1"/>
          <p:nvPr/>
        </p:nvSpPr>
        <p:spPr>
          <a:xfrm>
            <a:off x="3136392"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42,859</a:t>
            </a:r>
            <a:endParaRPr lang="en-US" sz="680" dirty="0"/>
          </a:p>
        </p:txBody>
      </p:sp>
      <p:sp>
        <p:nvSpPr>
          <p:cNvPr id="108" name="Shape 106"/>
          <p:cNvSpPr/>
          <p:nvPr/>
        </p:nvSpPr>
        <p:spPr>
          <a:xfrm>
            <a:off x="4242816" y="3866083"/>
            <a:ext cx="996696" cy="150876"/>
          </a:xfrm>
          <a:prstGeom prst="rect">
            <a:avLst/>
          </a:prstGeom>
          <a:solidFill>
            <a:srgbClr val="D4E9ED"/>
          </a:solidFill>
          <a:ln/>
        </p:spPr>
      </p:sp>
      <p:sp>
        <p:nvSpPr>
          <p:cNvPr id="109" name="Text 107"/>
          <p:cNvSpPr txBox="1"/>
          <p:nvPr/>
        </p:nvSpPr>
        <p:spPr>
          <a:xfrm>
            <a:off x="4215384"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23,286</a:t>
            </a:r>
            <a:endParaRPr lang="en-US" sz="680" dirty="0"/>
          </a:p>
        </p:txBody>
      </p:sp>
      <p:sp>
        <p:nvSpPr>
          <p:cNvPr id="110" name="Shape 108"/>
          <p:cNvSpPr/>
          <p:nvPr/>
        </p:nvSpPr>
        <p:spPr>
          <a:xfrm>
            <a:off x="5321808" y="3866083"/>
            <a:ext cx="996696" cy="150876"/>
          </a:xfrm>
          <a:prstGeom prst="rect">
            <a:avLst/>
          </a:prstGeom>
          <a:solidFill>
            <a:srgbClr val="EDF5F7"/>
          </a:solidFill>
          <a:ln/>
        </p:spPr>
      </p:sp>
      <p:sp>
        <p:nvSpPr>
          <p:cNvPr id="111" name="Text 109"/>
          <p:cNvSpPr txBox="1"/>
          <p:nvPr/>
        </p:nvSpPr>
        <p:spPr>
          <a:xfrm>
            <a:off x="5294376" y="3858768"/>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1,642</a:t>
            </a:r>
            <a:endParaRPr lang="en-US" sz="680" dirty="0"/>
          </a:p>
        </p:txBody>
      </p:sp>
      <p:sp>
        <p:nvSpPr>
          <p:cNvPr id="112" name="Text 110"/>
          <p:cNvSpPr txBox="1"/>
          <p:nvPr/>
        </p:nvSpPr>
        <p:spPr>
          <a:xfrm>
            <a:off x="6400800" y="3858768"/>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67,787</a:t>
            </a:r>
            <a:endParaRPr lang="en-US" sz="700" dirty="0"/>
          </a:p>
        </p:txBody>
      </p:sp>
      <p:sp>
        <p:nvSpPr>
          <p:cNvPr id="113" name="Text 111"/>
          <p:cNvSpPr txBox="1"/>
          <p:nvPr/>
        </p:nvSpPr>
        <p:spPr>
          <a:xfrm>
            <a:off x="594360" y="4032504"/>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Mohamed Ammar</a:t>
            </a:r>
            <a:endParaRPr lang="en-US" sz="720" dirty="0"/>
          </a:p>
        </p:txBody>
      </p:sp>
      <p:sp>
        <p:nvSpPr>
          <p:cNvPr id="114" name="Shape 112"/>
          <p:cNvSpPr/>
          <p:nvPr/>
        </p:nvSpPr>
        <p:spPr>
          <a:xfrm>
            <a:off x="2084832" y="4039819"/>
            <a:ext cx="996696" cy="150876"/>
          </a:xfrm>
          <a:prstGeom prst="rect">
            <a:avLst/>
          </a:prstGeom>
          <a:solidFill>
            <a:srgbClr val="EDF5F7"/>
          </a:solidFill>
          <a:ln/>
        </p:spPr>
      </p:sp>
      <p:sp>
        <p:nvSpPr>
          <p:cNvPr id="115" name="Text 113"/>
          <p:cNvSpPr txBox="1"/>
          <p:nvPr/>
        </p:nvSpPr>
        <p:spPr>
          <a:xfrm>
            <a:off x="2057400"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6,582</a:t>
            </a:r>
            <a:endParaRPr lang="en-US" sz="680" dirty="0"/>
          </a:p>
        </p:txBody>
      </p:sp>
      <p:sp>
        <p:nvSpPr>
          <p:cNvPr id="116" name="Shape 114"/>
          <p:cNvSpPr/>
          <p:nvPr/>
        </p:nvSpPr>
        <p:spPr>
          <a:xfrm>
            <a:off x="3163824" y="4039819"/>
            <a:ext cx="996696" cy="150876"/>
          </a:xfrm>
          <a:prstGeom prst="rect">
            <a:avLst/>
          </a:prstGeom>
          <a:solidFill>
            <a:srgbClr val="D4E9ED"/>
          </a:solidFill>
          <a:ln/>
        </p:spPr>
      </p:sp>
      <p:sp>
        <p:nvSpPr>
          <p:cNvPr id="117" name="Text 115"/>
          <p:cNvSpPr txBox="1"/>
          <p:nvPr/>
        </p:nvSpPr>
        <p:spPr>
          <a:xfrm>
            <a:off x="3136392"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23,266</a:t>
            </a:r>
            <a:endParaRPr lang="en-US" sz="680" dirty="0"/>
          </a:p>
        </p:txBody>
      </p:sp>
      <p:sp>
        <p:nvSpPr>
          <p:cNvPr id="118" name="Shape 116"/>
          <p:cNvSpPr/>
          <p:nvPr/>
        </p:nvSpPr>
        <p:spPr>
          <a:xfrm>
            <a:off x="4242816" y="4039819"/>
            <a:ext cx="996696" cy="150876"/>
          </a:xfrm>
          <a:prstGeom prst="rect">
            <a:avLst/>
          </a:prstGeom>
          <a:solidFill>
            <a:srgbClr val="EDF5F7"/>
          </a:solidFill>
          <a:ln/>
        </p:spPr>
      </p:sp>
      <p:sp>
        <p:nvSpPr>
          <p:cNvPr id="119" name="Text 117"/>
          <p:cNvSpPr txBox="1"/>
          <p:nvPr/>
        </p:nvSpPr>
        <p:spPr>
          <a:xfrm>
            <a:off x="4215384"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4,322</a:t>
            </a:r>
            <a:endParaRPr lang="en-US" sz="680" dirty="0"/>
          </a:p>
        </p:txBody>
      </p:sp>
      <p:sp>
        <p:nvSpPr>
          <p:cNvPr id="120" name="Shape 118"/>
          <p:cNvSpPr/>
          <p:nvPr/>
        </p:nvSpPr>
        <p:spPr>
          <a:xfrm>
            <a:off x="5321808" y="4039819"/>
            <a:ext cx="996696" cy="150876"/>
          </a:xfrm>
          <a:prstGeom prst="rect">
            <a:avLst/>
          </a:prstGeom>
          <a:solidFill>
            <a:srgbClr val="EDF5F7"/>
          </a:solidFill>
          <a:ln/>
        </p:spPr>
      </p:sp>
      <p:sp>
        <p:nvSpPr>
          <p:cNvPr id="121" name="Text 119"/>
          <p:cNvSpPr txBox="1"/>
          <p:nvPr/>
        </p:nvSpPr>
        <p:spPr>
          <a:xfrm>
            <a:off x="5294376" y="4032504"/>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2,939</a:t>
            </a:r>
            <a:endParaRPr lang="en-US" sz="680" dirty="0"/>
          </a:p>
        </p:txBody>
      </p:sp>
      <p:sp>
        <p:nvSpPr>
          <p:cNvPr id="122" name="Text 120"/>
          <p:cNvSpPr txBox="1"/>
          <p:nvPr/>
        </p:nvSpPr>
        <p:spPr>
          <a:xfrm>
            <a:off x="6400800" y="4032504"/>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37,109</a:t>
            </a:r>
            <a:endParaRPr lang="en-US" sz="700" dirty="0"/>
          </a:p>
        </p:txBody>
      </p:sp>
      <p:sp>
        <p:nvSpPr>
          <p:cNvPr id="123" name="Text 121"/>
          <p:cNvSpPr txBox="1"/>
          <p:nvPr/>
        </p:nvSpPr>
        <p:spPr>
          <a:xfrm>
            <a:off x="594360" y="4206240"/>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Tony Ghoussein</a:t>
            </a:r>
            <a:endParaRPr lang="en-US" sz="720" dirty="0"/>
          </a:p>
        </p:txBody>
      </p:sp>
      <p:sp>
        <p:nvSpPr>
          <p:cNvPr id="124" name="Shape 122"/>
          <p:cNvSpPr/>
          <p:nvPr/>
        </p:nvSpPr>
        <p:spPr>
          <a:xfrm>
            <a:off x="2084832" y="4213555"/>
            <a:ext cx="996696" cy="150876"/>
          </a:xfrm>
          <a:prstGeom prst="rect">
            <a:avLst/>
          </a:prstGeom>
          <a:solidFill>
            <a:srgbClr val="EDF5F7"/>
          </a:solidFill>
          <a:ln/>
        </p:spPr>
      </p:sp>
      <p:sp>
        <p:nvSpPr>
          <p:cNvPr id="125" name="Text 123"/>
          <p:cNvSpPr txBox="1"/>
          <p:nvPr/>
        </p:nvSpPr>
        <p:spPr>
          <a:xfrm>
            <a:off x="2057400"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6,208</a:t>
            </a:r>
            <a:endParaRPr lang="en-US" sz="680" dirty="0"/>
          </a:p>
        </p:txBody>
      </p:sp>
      <p:sp>
        <p:nvSpPr>
          <p:cNvPr id="126" name="Shape 124"/>
          <p:cNvSpPr/>
          <p:nvPr/>
        </p:nvSpPr>
        <p:spPr>
          <a:xfrm>
            <a:off x="3163824" y="4213555"/>
            <a:ext cx="996696" cy="150876"/>
          </a:xfrm>
          <a:prstGeom prst="rect">
            <a:avLst/>
          </a:prstGeom>
          <a:solidFill>
            <a:srgbClr val="EDF5F7"/>
          </a:solidFill>
          <a:ln/>
        </p:spPr>
      </p:sp>
      <p:sp>
        <p:nvSpPr>
          <p:cNvPr id="127" name="Text 125"/>
          <p:cNvSpPr txBox="1"/>
          <p:nvPr/>
        </p:nvSpPr>
        <p:spPr>
          <a:xfrm>
            <a:off x="3136392"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10,369</a:t>
            </a:r>
            <a:endParaRPr lang="en-US" sz="680" dirty="0"/>
          </a:p>
        </p:txBody>
      </p:sp>
      <p:sp>
        <p:nvSpPr>
          <p:cNvPr id="128" name="Shape 126"/>
          <p:cNvSpPr/>
          <p:nvPr/>
        </p:nvSpPr>
        <p:spPr>
          <a:xfrm>
            <a:off x="4242816" y="4213555"/>
            <a:ext cx="996696" cy="150876"/>
          </a:xfrm>
          <a:prstGeom prst="rect">
            <a:avLst/>
          </a:prstGeom>
          <a:solidFill>
            <a:srgbClr val="EDF5F7"/>
          </a:solidFill>
          <a:ln/>
        </p:spPr>
      </p:sp>
      <p:sp>
        <p:nvSpPr>
          <p:cNvPr id="129" name="Text 127"/>
          <p:cNvSpPr txBox="1"/>
          <p:nvPr/>
        </p:nvSpPr>
        <p:spPr>
          <a:xfrm>
            <a:off x="4215384"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11,891</a:t>
            </a:r>
            <a:endParaRPr lang="en-US" sz="680" dirty="0"/>
          </a:p>
        </p:txBody>
      </p:sp>
      <p:sp>
        <p:nvSpPr>
          <p:cNvPr id="130" name="Shape 128"/>
          <p:cNvSpPr/>
          <p:nvPr/>
        </p:nvSpPr>
        <p:spPr>
          <a:xfrm>
            <a:off x="5321808" y="4213555"/>
            <a:ext cx="996696" cy="150876"/>
          </a:xfrm>
          <a:prstGeom prst="rect">
            <a:avLst/>
          </a:prstGeom>
          <a:solidFill>
            <a:srgbClr val="EDF5F7"/>
          </a:solidFill>
          <a:ln/>
        </p:spPr>
      </p:sp>
      <p:sp>
        <p:nvSpPr>
          <p:cNvPr id="131" name="Text 129"/>
          <p:cNvSpPr txBox="1"/>
          <p:nvPr/>
        </p:nvSpPr>
        <p:spPr>
          <a:xfrm>
            <a:off x="5294376" y="4206240"/>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7,422</a:t>
            </a:r>
            <a:endParaRPr lang="en-US" sz="680" dirty="0"/>
          </a:p>
        </p:txBody>
      </p:sp>
      <p:sp>
        <p:nvSpPr>
          <p:cNvPr id="132" name="Text 130"/>
          <p:cNvSpPr txBox="1"/>
          <p:nvPr/>
        </p:nvSpPr>
        <p:spPr>
          <a:xfrm>
            <a:off x="6400800" y="4206240"/>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35,890</a:t>
            </a:r>
            <a:endParaRPr lang="en-US" sz="700" dirty="0"/>
          </a:p>
        </p:txBody>
      </p:sp>
      <p:sp>
        <p:nvSpPr>
          <p:cNvPr id="133" name="Text 131"/>
          <p:cNvSpPr txBox="1"/>
          <p:nvPr/>
        </p:nvSpPr>
        <p:spPr>
          <a:xfrm>
            <a:off x="594360" y="4379976"/>
            <a:ext cx="1417320" cy="164592"/>
          </a:xfrm>
          <a:prstGeom prst="rect">
            <a:avLst/>
          </a:prstGeom>
          <a:noFill/>
          <a:ln/>
        </p:spPr>
        <p:txBody>
          <a:bodyPr wrap="square" lIns="0" tIns="0" rIns="0" bIns="0" rtlCol="0" anchor="ctr"/>
          <a:lstStyle/>
          <a:p>
            <a:pPr indent="0" marL="0">
              <a:buNone/>
            </a:pPr>
            <a:r>
              <a:rPr lang="en-US" sz="720" b="1" dirty="0">
                <a:solidFill>
                  <a:srgbClr val="12293A"/>
                </a:solidFill>
                <a:latin typeface="Poppins" pitchFamily="34" charset="0"/>
                <a:ea typeface="Poppins" pitchFamily="34" charset="-122"/>
                <a:cs typeface="Poppins" pitchFamily="34" charset="-120"/>
              </a:rPr>
              <a:t>Eric Cruz</a:t>
            </a:r>
            <a:endParaRPr lang="en-US" sz="720" dirty="0"/>
          </a:p>
        </p:txBody>
      </p:sp>
      <p:sp>
        <p:nvSpPr>
          <p:cNvPr id="134" name="Shape 132"/>
          <p:cNvSpPr/>
          <p:nvPr/>
        </p:nvSpPr>
        <p:spPr>
          <a:xfrm>
            <a:off x="2084832" y="4387291"/>
            <a:ext cx="996696" cy="150876"/>
          </a:xfrm>
          <a:prstGeom prst="rect">
            <a:avLst/>
          </a:prstGeom>
          <a:solidFill>
            <a:srgbClr val="EDF5F7"/>
          </a:solidFill>
          <a:ln/>
        </p:spPr>
      </p:sp>
      <p:sp>
        <p:nvSpPr>
          <p:cNvPr id="135" name="Text 133"/>
          <p:cNvSpPr txBox="1"/>
          <p:nvPr/>
        </p:nvSpPr>
        <p:spPr>
          <a:xfrm>
            <a:off x="2057400"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2,970</a:t>
            </a:r>
            <a:endParaRPr lang="en-US" sz="680" dirty="0"/>
          </a:p>
        </p:txBody>
      </p:sp>
      <p:sp>
        <p:nvSpPr>
          <p:cNvPr id="136" name="Shape 134"/>
          <p:cNvSpPr/>
          <p:nvPr/>
        </p:nvSpPr>
        <p:spPr>
          <a:xfrm>
            <a:off x="3163824" y="4387291"/>
            <a:ext cx="996696" cy="150876"/>
          </a:xfrm>
          <a:prstGeom prst="rect">
            <a:avLst/>
          </a:prstGeom>
          <a:solidFill>
            <a:srgbClr val="EDF5F7"/>
          </a:solidFill>
          <a:ln/>
        </p:spPr>
      </p:sp>
      <p:sp>
        <p:nvSpPr>
          <p:cNvPr id="137" name="Text 135"/>
          <p:cNvSpPr txBox="1"/>
          <p:nvPr/>
        </p:nvSpPr>
        <p:spPr>
          <a:xfrm>
            <a:off x="3136392"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7,237</a:t>
            </a:r>
            <a:endParaRPr lang="en-US" sz="680" dirty="0"/>
          </a:p>
        </p:txBody>
      </p:sp>
      <p:sp>
        <p:nvSpPr>
          <p:cNvPr id="138" name="Shape 136"/>
          <p:cNvSpPr/>
          <p:nvPr/>
        </p:nvSpPr>
        <p:spPr>
          <a:xfrm>
            <a:off x="4242816" y="4387291"/>
            <a:ext cx="996696" cy="150876"/>
          </a:xfrm>
          <a:prstGeom prst="rect">
            <a:avLst/>
          </a:prstGeom>
          <a:solidFill>
            <a:srgbClr val="EDF5F7"/>
          </a:solidFill>
          <a:ln/>
        </p:spPr>
      </p:sp>
      <p:sp>
        <p:nvSpPr>
          <p:cNvPr id="139" name="Text 137"/>
          <p:cNvSpPr txBox="1"/>
          <p:nvPr/>
        </p:nvSpPr>
        <p:spPr>
          <a:xfrm>
            <a:off x="4215384"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19,289</a:t>
            </a:r>
            <a:endParaRPr lang="en-US" sz="680" dirty="0"/>
          </a:p>
        </p:txBody>
      </p:sp>
      <p:sp>
        <p:nvSpPr>
          <p:cNvPr id="140" name="Shape 138"/>
          <p:cNvSpPr/>
          <p:nvPr/>
        </p:nvSpPr>
        <p:spPr>
          <a:xfrm>
            <a:off x="5321808" y="4387291"/>
            <a:ext cx="996696" cy="150876"/>
          </a:xfrm>
          <a:prstGeom prst="rect">
            <a:avLst/>
          </a:prstGeom>
          <a:solidFill>
            <a:srgbClr val="EDF5F7"/>
          </a:solidFill>
          <a:ln/>
        </p:spPr>
      </p:sp>
      <p:sp>
        <p:nvSpPr>
          <p:cNvPr id="141" name="Text 139"/>
          <p:cNvSpPr txBox="1"/>
          <p:nvPr/>
        </p:nvSpPr>
        <p:spPr>
          <a:xfrm>
            <a:off x="5294376" y="4379976"/>
            <a:ext cx="1051560" cy="164592"/>
          </a:xfrm>
          <a:prstGeom prst="rect">
            <a:avLst/>
          </a:prstGeom>
          <a:noFill/>
          <a:ln/>
        </p:spPr>
        <p:txBody>
          <a:bodyPr wrap="square" lIns="0" tIns="0" rIns="0" bIns="0" rtlCol="0" anchor="ctr"/>
          <a:lstStyle/>
          <a:p>
            <a:pPr algn="ctr" indent="0" marL="0">
              <a:buNone/>
            </a:pPr>
            <a:r>
              <a:rPr lang="en-US" sz="680" dirty="0">
                <a:solidFill>
                  <a:srgbClr val="12293A"/>
                </a:solidFill>
                <a:latin typeface="Poppins" pitchFamily="34" charset="0"/>
                <a:ea typeface="Poppins" pitchFamily="34" charset="-122"/>
                <a:cs typeface="Poppins" pitchFamily="34" charset="-120"/>
              </a:rPr>
              <a:t>1,904</a:t>
            </a:r>
            <a:endParaRPr lang="en-US" sz="680" dirty="0"/>
          </a:p>
        </p:txBody>
      </p:sp>
      <p:sp>
        <p:nvSpPr>
          <p:cNvPr id="142" name="Text 140"/>
          <p:cNvSpPr txBox="1"/>
          <p:nvPr/>
        </p:nvSpPr>
        <p:spPr>
          <a:xfrm>
            <a:off x="6400800" y="4379976"/>
            <a:ext cx="1280160" cy="164592"/>
          </a:xfrm>
          <a:prstGeom prst="rect">
            <a:avLst/>
          </a:prstGeom>
          <a:noFill/>
          <a:ln/>
        </p:spPr>
        <p:txBody>
          <a:bodyPr wrap="square" lIns="0" tIns="0" rIns="0" bIns="0" rtlCol="0" anchor="ctr"/>
          <a:lstStyle/>
          <a:p>
            <a:pPr algn="r" indent="0" marL="0">
              <a:buNone/>
            </a:pPr>
            <a:r>
              <a:rPr lang="en-US" sz="700" b="1" dirty="0">
                <a:solidFill>
                  <a:srgbClr val="5E7280"/>
                </a:solidFill>
                <a:latin typeface="Poppins" pitchFamily="34" charset="0"/>
                <a:ea typeface="Poppins" pitchFamily="34" charset="-122"/>
                <a:cs typeface="Poppins" pitchFamily="34" charset="-120"/>
              </a:rPr>
              <a:t>31,400</a:t>
            </a:r>
            <a:endParaRPr lang="en-US" sz="700" dirty="0"/>
          </a:p>
        </p:txBody>
      </p:sp>
      <p:sp>
        <p:nvSpPr>
          <p:cNvPr id="143" name="Shape 141"/>
          <p:cNvSpPr/>
          <p:nvPr/>
        </p:nvSpPr>
        <p:spPr>
          <a:xfrm>
            <a:off x="594360" y="4553712"/>
            <a:ext cx="7132320" cy="10973"/>
          </a:xfrm>
          <a:prstGeom prst="rect">
            <a:avLst/>
          </a:prstGeom>
          <a:solidFill>
            <a:srgbClr val="12293A"/>
          </a:solidFill>
          <a:ln/>
        </p:spPr>
      </p:sp>
      <p:sp>
        <p:nvSpPr>
          <p:cNvPr id="144" name="Text 142"/>
          <p:cNvSpPr txBox="1"/>
          <p:nvPr/>
        </p:nvSpPr>
        <p:spPr>
          <a:xfrm>
            <a:off x="594360" y="4581144"/>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ALL DEVELOPERS</a:t>
            </a:r>
            <a:endParaRPr lang="en-US" sz="750" dirty="0"/>
          </a:p>
        </p:txBody>
      </p:sp>
      <p:sp>
        <p:nvSpPr>
          <p:cNvPr id="145" name="Text 143"/>
          <p:cNvSpPr txBox="1"/>
          <p:nvPr/>
        </p:nvSpPr>
        <p:spPr>
          <a:xfrm>
            <a:off x="2057400"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228,132</a:t>
            </a:r>
            <a:endParaRPr lang="en-US" sz="750" dirty="0"/>
          </a:p>
        </p:txBody>
      </p:sp>
      <p:sp>
        <p:nvSpPr>
          <p:cNvPr id="146" name="Text 144"/>
          <p:cNvSpPr txBox="1"/>
          <p:nvPr/>
        </p:nvSpPr>
        <p:spPr>
          <a:xfrm>
            <a:off x="3136392"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293,419</a:t>
            </a:r>
            <a:endParaRPr lang="en-US" sz="750" dirty="0"/>
          </a:p>
        </p:txBody>
      </p:sp>
      <p:sp>
        <p:nvSpPr>
          <p:cNvPr id="147" name="Text 145"/>
          <p:cNvSpPr txBox="1"/>
          <p:nvPr/>
        </p:nvSpPr>
        <p:spPr>
          <a:xfrm>
            <a:off x="4215384"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277,261</a:t>
            </a:r>
            <a:endParaRPr lang="en-US" sz="750" dirty="0"/>
          </a:p>
        </p:txBody>
      </p:sp>
      <p:sp>
        <p:nvSpPr>
          <p:cNvPr id="148" name="Text 146"/>
          <p:cNvSpPr txBox="1"/>
          <p:nvPr/>
        </p:nvSpPr>
        <p:spPr>
          <a:xfrm>
            <a:off x="5294376" y="4581144"/>
            <a:ext cx="1051560" cy="201168"/>
          </a:xfrm>
          <a:prstGeom prst="rect">
            <a:avLst/>
          </a:prstGeom>
          <a:noFill/>
          <a:ln/>
        </p:spPr>
        <p:txBody>
          <a:bodyPr wrap="square" lIns="0" tIns="0" rIns="0" bIns="0" rtlCol="0" anchor="ctr"/>
          <a:lstStyle/>
          <a:p>
            <a:pPr algn="ctr" indent="0" marL="0">
              <a:buNone/>
            </a:pPr>
            <a:r>
              <a:rPr lang="en-US" sz="750" b="1" dirty="0">
                <a:solidFill>
                  <a:srgbClr val="2C8394"/>
                </a:solidFill>
                <a:latin typeface="Poppins" pitchFamily="34" charset="0"/>
                <a:ea typeface="Poppins" pitchFamily="34" charset="-122"/>
                <a:cs typeface="Poppins" pitchFamily="34" charset="-120"/>
              </a:rPr>
              <a:t>111,689</a:t>
            </a:r>
            <a:endParaRPr lang="en-US" sz="750" dirty="0"/>
          </a:p>
        </p:txBody>
      </p:sp>
      <p:sp>
        <p:nvSpPr>
          <p:cNvPr id="149" name="Text 147"/>
          <p:cNvSpPr txBox="1"/>
          <p:nvPr/>
        </p:nvSpPr>
        <p:spPr>
          <a:xfrm>
            <a:off x="6400800" y="4581144"/>
            <a:ext cx="1280160"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910,501</a:t>
            </a:r>
            <a:endParaRPr lang="en-US" sz="750" dirty="0"/>
          </a:p>
        </p:txBody>
      </p:sp>
      <p:sp>
        <p:nvSpPr>
          <p:cNvPr id="150" name="Text 148"/>
          <p:cNvSpPr txBox="1"/>
          <p:nvPr/>
        </p:nvSpPr>
        <p:spPr>
          <a:xfrm>
            <a:off x="594360" y="4892040"/>
            <a:ext cx="141732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BY WEEK  </a:t>
            </a:r>
            <a:pPr indent="0" marL="0">
              <a:buNone/>
            </a:pPr>
            <a:r>
              <a:rPr lang="en-US" sz="600" dirty="0">
                <a:solidFill>
                  <a:srgbClr val="8FA1AC"/>
                </a:solidFill>
                <a:latin typeface="Poppins" pitchFamily="34" charset="0"/>
                <a:ea typeface="Poppins" pitchFamily="34" charset="-122"/>
                <a:cs typeface="Poppins" pitchFamily="34" charset="-120"/>
              </a:rPr>
              <a:t>cell = one week</a:t>
            </a:r>
            <a:endParaRPr lang="en-US" sz="750" dirty="0"/>
          </a:p>
        </p:txBody>
      </p:sp>
      <p:sp>
        <p:nvSpPr>
          <p:cNvPr id="151" name="Shape 149"/>
          <p:cNvSpPr/>
          <p:nvPr/>
        </p:nvSpPr>
        <p:spPr>
          <a:xfrm>
            <a:off x="2075688" y="4892040"/>
            <a:ext cx="365107" cy="219456"/>
          </a:xfrm>
          <a:prstGeom prst="rect">
            <a:avLst/>
          </a:prstGeom>
          <a:solidFill>
            <a:srgbClr val="D4E9ED"/>
          </a:solidFill>
          <a:ln/>
        </p:spPr>
      </p:sp>
      <p:sp>
        <p:nvSpPr>
          <p:cNvPr id="152" name="Text 150"/>
          <p:cNvSpPr txBox="1"/>
          <p:nvPr/>
        </p:nvSpPr>
        <p:spPr>
          <a:xfrm>
            <a:off x="2057400"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3" name="Text 151"/>
          <p:cNvSpPr txBox="1"/>
          <p:nvPr/>
        </p:nvSpPr>
        <p:spPr>
          <a:xfrm>
            <a:off x="2057400"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07</a:t>
            </a:r>
            <a:endParaRPr lang="en-US" sz="550" dirty="0"/>
          </a:p>
        </p:txBody>
      </p:sp>
      <p:sp>
        <p:nvSpPr>
          <p:cNvPr id="154" name="Shape 152"/>
          <p:cNvSpPr/>
          <p:nvPr/>
        </p:nvSpPr>
        <p:spPr>
          <a:xfrm>
            <a:off x="2477371" y="4892040"/>
            <a:ext cx="365107" cy="219456"/>
          </a:xfrm>
          <a:prstGeom prst="rect">
            <a:avLst/>
          </a:prstGeom>
          <a:solidFill>
            <a:srgbClr val="D4E9ED"/>
          </a:solidFill>
          <a:ln/>
        </p:spPr>
      </p:sp>
      <p:sp>
        <p:nvSpPr>
          <p:cNvPr id="155" name="Text 153"/>
          <p:cNvSpPr txBox="1"/>
          <p:nvPr/>
        </p:nvSpPr>
        <p:spPr>
          <a:xfrm>
            <a:off x="2459083"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6" name="Text 154"/>
          <p:cNvSpPr txBox="1"/>
          <p:nvPr/>
        </p:nvSpPr>
        <p:spPr>
          <a:xfrm>
            <a:off x="2459083"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14</a:t>
            </a:r>
            <a:endParaRPr lang="en-US" sz="550" dirty="0"/>
          </a:p>
        </p:txBody>
      </p:sp>
      <p:sp>
        <p:nvSpPr>
          <p:cNvPr id="157" name="Shape 155"/>
          <p:cNvSpPr/>
          <p:nvPr/>
        </p:nvSpPr>
        <p:spPr>
          <a:xfrm>
            <a:off x="2879054" y="4892040"/>
            <a:ext cx="365107" cy="219456"/>
          </a:xfrm>
          <a:prstGeom prst="rect">
            <a:avLst/>
          </a:prstGeom>
          <a:solidFill>
            <a:srgbClr val="D4E9ED"/>
          </a:solidFill>
          <a:ln/>
        </p:spPr>
      </p:sp>
      <p:sp>
        <p:nvSpPr>
          <p:cNvPr id="158" name="Text 156"/>
          <p:cNvSpPr txBox="1"/>
          <p:nvPr/>
        </p:nvSpPr>
        <p:spPr>
          <a:xfrm>
            <a:off x="2860766"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59" name="Text 157"/>
          <p:cNvSpPr txBox="1"/>
          <p:nvPr/>
        </p:nvSpPr>
        <p:spPr>
          <a:xfrm>
            <a:off x="2860766"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21</a:t>
            </a:r>
            <a:endParaRPr lang="en-US" sz="550" dirty="0"/>
          </a:p>
        </p:txBody>
      </p:sp>
      <p:sp>
        <p:nvSpPr>
          <p:cNvPr id="160" name="Shape 158"/>
          <p:cNvSpPr/>
          <p:nvPr/>
        </p:nvSpPr>
        <p:spPr>
          <a:xfrm>
            <a:off x="3280737" y="4892040"/>
            <a:ext cx="365107" cy="219456"/>
          </a:xfrm>
          <a:prstGeom prst="rect">
            <a:avLst/>
          </a:prstGeom>
          <a:solidFill>
            <a:srgbClr val="B5D9E0"/>
          </a:solidFill>
          <a:ln/>
        </p:spPr>
      </p:sp>
      <p:sp>
        <p:nvSpPr>
          <p:cNvPr id="161" name="Text 159"/>
          <p:cNvSpPr txBox="1"/>
          <p:nvPr/>
        </p:nvSpPr>
        <p:spPr>
          <a:xfrm>
            <a:off x="3262449"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41k</a:t>
            </a:r>
            <a:endParaRPr lang="en-US" sz="620" dirty="0"/>
          </a:p>
        </p:txBody>
      </p:sp>
      <p:sp>
        <p:nvSpPr>
          <p:cNvPr id="162" name="Text 160"/>
          <p:cNvSpPr txBox="1"/>
          <p:nvPr/>
        </p:nvSpPr>
        <p:spPr>
          <a:xfrm>
            <a:off x="3262449"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28</a:t>
            </a:r>
            <a:endParaRPr lang="en-US" sz="550" dirty="0"/>
          </a:p>
        </p:txBody>
      </p:sp>
      <p:sp>
        <p:nvSpPr>
          <p:cNvPr id="163" name="Shape 161"/>
          <p:cNvSpPr/>
          <p:nvPr/>
        </p:nvSpPr>
        <p:spPr>
          <a:xfrm>
            <a:off x="3682419" y="4892040"/>
            <a:ext cx="365107" cy="219456"/>
          </a:xfrm>
          <a:prstGeom prst="rect">
            <a:avLst/>
          </a:prstGeom>
          <a:solidFill>
            <a:srgbClr val="B5D9E0"/>
          </a:solidFill>
          <a:ln/>
        </p:spPr>
      </p:sp>
      <p:sp>
        <p:nvSpPr>
          <p:cNvPr id="164" name="Text 162"/>
          <p:cNvSpPr txBox="1"/>
          <p:nvPr/>
        </p:nvSpPr>
        <p:spPr>
          <a:xfrm>
            <a:off x="3664131"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65" name="Text 163"/>
          <p:cNvSpPr txBox="1"/>
          <p:nvPr/>
        </p:nvSpPr>
        <p:spPr>
          <a:xfrm>
            <a:off x="3664131"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05</a:t>
            </a:r>
            <a:endParaRPr lang="en-US" sz="550" dirty="0"/>
          </a:p>
        </p:txBody>
      </p:sp>
      <p:sp>
        <p:nvSpPr>
          <p:cNvPr id="166" name="Shape 164"/>
          <p:cNvSpPr/>
          <p:nvPr/>
        </p:nvSpPr>
        <p:spPr>
          <a:xfrm>
            <a:off x="4084102" y="4892040"/>
            <a:ext cx="365107" cy="219456"/>
          </a:xfrm>
          <a:prstGeom prst="rect">
            <a:avLst/>
          </a:prstGeom>
          <a:solidFill>
            <a:srgbClr val="B5D9E0"/>
          </a:solidFill>
          <a:ln/>
        </p:spPr>
      </p:sp>
      <p:sp>
        <p:nvSpPr>
          <p:cNvPr id="167" name="Text 165"/>
          <p:cNvSpPr txBox="1"/>
          <p:nvPr/>
        </p:nvSpPr>
        <p:spPr>
          <a:xfrm>
            <a:off x="4065814"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68" name="Text 166"/>
          <p:cNvSpPr txBox="1"/>
          <p:nvPr/>
        </p:nvSpPr>
        <p:spPr>
          <a:xfrm>
            <a:off x="4065814"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12</a:t>
            </a:r>
            <a:endParaRPr lang="en-US" sz="550" dirty="0"/>
          </a:p>
        </p:txBody>
      </p:sp>
      <p:sp>
        <p:nvSpPr>
          <p:cNvPr id="169" name="Shape 167"/>
          <p:cNvSpPr/>
          <p:nvPr/>
        </p:nvSpPr>
        <p:spPr>
          <a:xfrm>
            <a:off x="4485785" y="4892040"/>
            <a:ext cx="365107" cy="219456"/>
          </a:xfrm>
          <a:prstGeom prst="rect">
            <a:avLst/>
          </a:prstGeom>
          <a:solidFill>
            <a:srgbClr val="B5D9E0"/>
          </a:solidFill>
          <a:ln/>
        </p:spPr>
      </p:sp>
      <p:sp>
        <p:nvSpPr>
          <p:cNvPr id="170" name="Text 168"/>
          <p:cNvSpPr txBox="1"/>
          <p:nvPr/>
        </p:nvSpPr>
        <p:spPr>
          <a:xfrm>
            <a:off x="4467497"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52k</a:t>
            </a:r>
            <a:endParaRPr lang="en-US" sz="620" dirty="0"/>
          </a:p>
        </p:txBody>
      </p:sp>
      <p:sp>
        <p:nvSpPr>
          <p:cNvPr id="171" name="Text 169"/>
          <p:cNvSpPr txBox="1"/>
          <p:nvPr/>
        </p:nvSpPr>
        <p:spPr>
          <a:xfrm>
            <a:off x="4467497"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19</a:t>
            </a:r>
            <a:endParaRPr lang="en-US" sz="550" dirty="0"/>
          </a:p>
        </p:txBody>
      </p:sp>
      <p:sp>
        <p:nvSpPr>
          <p:cNvPr id="172" name="Shape 170"/>
          <p:cNvSpPr/>
          <p:nvPr/>
        </p:nvSpPr>
        <p:spPr>
          <a:xfrm>
            <a:off x="4887468" y="4892040"/>
            <a:ext cx="365107" cy="219456"/>
          </a:xfrm>
          <a:prstGeom prst="rect">
            <a:avLst/>
          </a:prstGeom>
          <a:solidFill>
            <a:srgbClr val="B5D9E0"/>
          </a:solidFill>
          <a:ln/>
        </p:spPr>
      </p:sp>
      <p:sp>
        <p:nvSpPr>
          <p:cNvPr id="173" name="Text 171"/>
          <p:cNvSpPr txBox="1"/>
          <p:nvPr/>
        </p:nvSpPr>
        <p:spPr>
          <a:xfrm>
            <a:off x="4869180"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48k</a:t>
            </a:r>
            <a:endParaRPr lang="en-US" sz="620" dirty="0"/>
          </a:p>
        </p:txBody>
      </p:sp>
      <p:sp>
        <p:nvSpPr>
          <p:cNvPr id="174" name="Text 172"/>
          <p:cNvSpPr txBox="1"/>
          <p:nvPr/>
        </p:nvSpPr>
        <p:spPr>
          <a:xfrm>
            <a:off x="4869180"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26</a:t>
            </a:r>
            <a:endParaRPr lang="en-US" sz="550" dirty="0"/>
          </a:p>
        </p:txBody>
      </p:sp>
      <p:sp>
        <p:nvSpPr>
          <p:cNvPr id="175" name="Shape 173"/>
          <p:cNvSpPr/>
          <p:nvPr/>
        </p:nvSpPr>
        <p:spPr>
          <a:xfrm>
            <a:off x="5289151" y="4892040"/>
            <a:ext cx="365107" cy="219456"/>
          </a:xfrm>
          <a:prstGeom prst="rect">
            <a:avLst/>
          </a:prstGeom>
          <a:solidFill>
            <a:srgbClr val="D4E9ED"/>
          </a:solidFill>
          <a:ln/>
        </p:spPr>
      </p:sp>
      <p:sp>
        <p:nvSpPr>
          <p:cNvPr id="176" name="Text 174"/>
          <p:cNvSpPr txBox="1"/>
          <p:nvPr/>
        </p:nvSpPr>
        <p:spPr>
          <a:xfrm>
            <a:off x="5270863"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28k</a:t>
            </a:r>
            <a:endParaRPr lang="en-US" sz="620" dirty="0"/>
          </a:p>
        </p:txBody>
      </p:sp>
      <p:sp>
        <p:nvSpPr>
          <p:cNvPr id="177" name="Text 175"/>
          <p:cNvSpPr txBox="1"/>
          <p:nvPr/>
        </p:nvSpPr>
        <p:spPr>
          <a:xfrm>
            <a:off x="5270863"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02</a:t>
            </a:r>
            <a:endParaRPr lang="en-US" sz="550" dirty="0"/>
          </a:p>
        </p:txBody>
      </p:sp>
      <p:sp>
        <p:nvSpPr>
          <p:cNvPr id="178" name="Shape 176"/>
          <p:cNvSpPr/>
          <p:nvPr/>
        </p:nvSpPr>
        <p:spPr>
          <a:xfrm>
            <a:off x="5690834" y="4892040"/>
            <a:ext cx="365107" cy="219456"/>
          </a:xfrm>
          <a:prstGeom prst="rect">
            <a:avLst/>
          </a:prstGeom>
          <a:solidFill>
            <a:srgbClr val="2C8394"/>
          </a:solidFill>
          <a:ln/>
        </p:spPr>
      </p:sp>
      <p:sp>
        <p:nvSpPr>
          <p:cNvPr id="179" name="Text 177"/>
          <p:cNvSpPr txBox="1"/>
          <p:nvPr/>
        </p:nvSpPr>
        <p:spPr>
          <a:xfrm>
            <a:off x="5672546" y="4892040"/>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78k</a:t>
            </a:r>
            <a:endParaRPr lang="en-US" sz="620" dirty="0"/>
          </a:p>
        </p:txBody>
      </p:sp>
      <p:sp>
        <p:nvSpPr>
          <p:cNvPr id="180" name="Text 178"/>
          <p:cNvSpPr txBox="1"/>
          <p:nvPr/>
        </p:nvSpPr>
        <p:spPr>
          <a:xfrm>
            <a:off x="5672546"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09</a:t>
            </a:r>
            <a:endParaRPr lang="en-US" sz="550" dirty="0"/>
          </a:p>
        </p:txBody>
      </p:sp>
      <p:sp>
        <p:nvSpPr>
          <p:cNvPr id="181" name="Shape 179"/>
          <p:cNvSpPr/>
          <p:nvPr/>
        </p:nvSpPr>
        <p:spPr>
          <a:xfrm>
            <a:off x="6092517" y="4892040"/>
            <a:ext cx="365107" cy="219456"/>
          </a:xfrm>
          <a:prstGeom prst="rect">
            <a:avLst/>
          </a:prstGeom>
          <a:solidFill>
            <a:srgbClr val="2C8394"/>
          </a:solidFill>
          <a:ln/>
        </p:spPr>
      </p:sp>
      <p:sp>
        <p:nvSpPr>
          <p:cNvPr id="182" name="Text 180"/>
          <p:cNvSpPr txBox="1"/>
          <p:nvPr/>
        </p:nvSpPr>
        <p:spPr>
          <a:xfrm>
            <a:off x="6074229" y="4892040"/>
            <a:ext cx="401683" cy="219456"/>
          </a:xfrm>
          <a:prstGeom prst="rect">
            <a:avLst/>
          </a:prstGeom>
          <a:noFill/>
          <a:ln/>
        </p:spPr>
        <p:txBody>
          <a:bodyPr wrap="square" lIns="0" tIns="0" rIns="0" bIns="0" rtlCol="0" anchor="ctr"/>
          <a:lstStyle/>
          <a:p>
            <a:pPr algn="ctr" indent="0" marL="0">
              <a:buNone/>
            </a:pPr>
            <a:r>
              <a:rPr lang="en-US" sz="620" b="1" dirty="0">
                <a:solidFill>
                  <a:srgbClr val="FFFFFF"/>
                </a:solidFill>
                <a:latin typeface="Poppins" pitchFamily="34" charset="0"/>
                <a:ea typeface="Poppins" pitchFamily="34" charset="-122"/>
                <a:cs typeface="Poppins" pitchFamily="34" charset="-120"/>
              </a:rPr>
              <a:t>87k</a:t>
            </a:r>
            <a:endParaRPr lang="en-US" sz="620" dirty="0"/>
          </a:p>
        </p:txBody>
      </p:sp>
      <p:sp>
        <p:nvSpPr>
          <p:cNvPr id="183" name="Text 181"/>
          <p:cNvSpPr txBox="1"/>
          <p:nvPr/>
        </p:nvSpPr>
        <p:spPr>
          <a:xfrm>
            <a:off x="6074229"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16</a:t>
            </a:r>
            <a:endParaRPr lang="en-US" sz="550" dirty="0"/>
          </a:p>
        </p:txBody>
      </p:sp>
      <p:sp>
        <p:nvSpPr>
          <p:cNvPr id="184" name="Shape 182"/>
          <p:cNvSpPr/>
          <p:nvPr/>
        </p:nvSpPr>
        <p:spPr>
          <a:xfrm>
            <a:off x="6494199" y="4892040"/>
            <a:ext cx="365107" cy="219456"/>
          </a:xfrm>
          <a:prstGeom prst="rect">
            <a:avLst/>
          </a:prstGeom>
          <a:solidFill>
            <a:srgbClr val="8FC3CC"/>
          </a:solidFill>
          <a:ln/>
        </p:spPr>
      </p:sp>
      <p:sp>
        <p:nvSpPr>
          <p:cNvPr id="185" name="Text 183"/>
          <p:cNvSpPr txBox="1"/>
          <p:nvPr/>
        </p:nvSpPr>
        <p:spPr>
          <a:xfrm>
            <a:off x="6475911"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68k</a:t>
            </a:r>
            <a:endParaRPr lang="en-US" sz="620" dirty="0"/>
          </a:p>
        </p:txBody>
      </p:sp>
      <p:sp>
        <p:nvSpPr>
          <p:cNvPr id="186" name="Text 184"/>
          <p:cNvSpPr txBox="1"/>
          <p:nvPr/>
        </p:nvSpPr>
        <p:spPr>
          <a:xfrm>
            <a:off x="6475911"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23</a:t>
            </a:r>
            <a:endParaRPr lang="en-US" sz="550" dirty="0"/>
          </a:p>
        </p:txBody>
      </p:sp>
      <p:sp>
        <p:nvSpPr>
          <p:cNvPr id="187" name="Shape 185"/>
          <p:cNvSpPr/>
          <p:nvPr/>
        </p:nvSpPr>
        <p:spPr>
          <a:xfrm>
            <a:off x="6895882" y="4892040"/>
            <a:ext cx="365107" cy="219456"/>
          </a:xfrm>
          <a:prstGeom prst="rect">
            <a:avLst/>
          </a:prstGeom>
          <a:solidFill>
            <a:srgbClr val="8FC3CC"/>
          </a:solidFill>
          <a:ln/>
        </p:spPr>
      </p:sp>
      <p:sp>
        <p:nvSpPr>
          <p:cNvPr id="188" name="Text 186"/>
          <p:cNvSpPr txBox="1"/>
          <p:nvPr/>
        </p:nvSpPr>
        <p:spPr>
          <a:xfrm>
            <a:off x="6877594"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60k</a:t>
            </a:r>
            <a:endParaRPr lang="en-US" sz="620" dirty="0"/>
          </a:p>
        </p:txBody>
      </p:sp>
      <p:sp>
        <p:nvSpPr>
          <p:cNvPr id="189" name="Text 187"/>
          <p:cNvSpPr txBox="1"/>
          <p:nvPr/>
        </p:nvSpPr>
        <p:spPr>
          <a:xfrm>
            <a:off x="6877594"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30</a:t>
            </a:r>
            <a:endParaRPr lang="en-US" sz="550" dirty="0"/>
          </a:p>
        </p:txBody>
      </p:sp>
      <p:sp>
        <p:nvSpPr>
          <p:cNvPr id="190" name="Shape 188"/>
          <p:cNvSpPr/>
          <p:nvPr/>
        </p:nvSpPr>
        <p:spPr>
          <a:xfrm>
            <a:off x="7297565" y="4892040"/>
            <a:ext cx="365107" cy="219456"/>
          </a:xfrm>
          <a:prstGeom prst="rect">
            <a:avLst/>
          </a:prstGeom>
          <a:solidFill>
            <a:srgbClr val="8FC3CC"/>
          </a:solidFill>
          <a:ln/>
        </p:spPr>
      </p:sp>
      <p:sp>
        <p:nvSpPr>
          <p:cNvPr id="191" name="Text 189"/>
          <p:cNvSpPr txBox="1"/>
          <p:nvPr/>
        </p:nvSpPr>
        <p:spPr>
          <a:xfrm>
            <a:off x="7279277" y="4892040"/>
            <a:ext cx="401683" cy="219456"/>
          </a:xfrm>
          <a:prstGeom prst="rect">
            <a:avLst/>
          </a:prstGeom>
          <a:noFill/>
          <a:ln/>
        </p:spPr>
        <p:txBody>
          <a:bodyPr wrap="square" lIns="0" tIns="0" rIns="0" bIns="0" rtlCol="0" anchor="ctr"/>
          <a:lstStyle/>
          <a:p>
            <a:pPr algn="ctr" indent="0" marL="0">
              <a:buNone/>
            </a:pPr>
            <a:r>
              <a:rPr lang="en-US" sz="620" dirty="0">
                <a:solidFill>
                  <a:srgbClr val="12293A"/>
                </a:solidFill>
                <a:latin typeface="Poppins" pitchFamily="34" charset="0"/>
                <a:ea typeface="Poppins" pitchFamily="34" charset="-122"/>
                <a:cs typeface="Poppins" pitchFamily="34" charset="-120"/>
              </a:rPr>
              <a:t>66k</a:t>
            </a:r>
            <a:endParaRPr lang="en-US" sz="620" dirty="0"/>
          </a:p>
        </p:txBody>
      </p:sp>
      <p:sp>
        <p:nvSpPr>
          <p:cNvPr id="192" name="Text 190"/>
          <p:cNvSpPr txBox="1"/>
          <p:nvPr/>
        </p:nvSpPr>
        <p:spPr>
          <a:xfrm>
            <a:off x="7279277" y="5120640"/>
            <a:ext cx="401683" cy="146304"/>
          </a:xfrm>
          <a:prstGeom prst="rect">
            <a:avLst/>
          </a:prstGeom>
          <a:noFill/>
          <a:ln/>
        </p:spPr>
        <p:txBody>
          <a:bodyPr wrap="square" lIns="0" tIns="0" rIns="0" bIns="0" rtlCol="0" anchor="ctr"/>
          <a:lstStyle/>
          <a:p>
            <a:pPr algn="ctr" indent="0" marL="0">
              <a:buNone/>
            </a:pPr>
            <a:r>
              <a:rPr lang="en-US" sz="550" dirty="0">
                <a:solidFill>
                  <a:srgbClr val="8FA1AC"/>
                </a:solidFill>
                <a:latin typeface="Poppins" pitchFamily="34" charset="0"/>
                <a:ea typeface="Poppins" pitchFamily="34" charset="-122"/>
                <a:cs typeface="Poppins" pitchFamily="34" charset="-120"/>
              </a:rPr>
              <a:t>06</a:t>
            </a:r>
            <a:endParaRPr lang="en-US" sz="550" dirty="0"/>
          </a:p>
        </p:txBody>
      </p:sp>
      <p:sp>
        <p:nvSpPr>
          <p:cNvPr id="193" name="Text 191"/>
          <p:cNvSpPr txBox="1"/>
          <p:nvPr/>
        </p:nvSpPr>
        <p:spPr>
          <a:xfrm>
            <a:off x="594360" y="5340096"/>
            <a:ext cx="7132320" cy="201168"/>
          </a:xfrm>
          <a:prstGeom prst="rect">
            <a:avLst/>
          </a:prstGeom>
          <a:noFill/>
          <a:ln/>
        </p:spPr>
        <p:txBody>
          <a:bodyPr wrap="square" lIns="0" tIns="0" rIns="0" bIns="0" rtlCol="0" anchor="ctr"/>
          <a:lstStyle/>
          <a:p>
            <a:pPr indent="0" marL="0">
              <a:buNone/>
            </a:pPr>
            <a:r>
              <a:rPr lang="en-US" sz="600" dirty="0">
                <a:solidFill>
                  <a:srgbClr val="8FA1AC"/>
                </a:solidFill>
                <a:latin typeface="Poppins" pitchFamily="34" charset="0"/>
                <a:ea typeface="Poppins" pitchFamily="34" charset="-122"/>
                <a:cs typeface="Poppins" pitchFamily="34" charset="-120"/>
              </a:rPr>
              <a:t>cell = one week · series ends w/c 06 Sep — later captures give month-to-date only</a:t>
            </a:r>
            <a:endParaRPr lang="en-US" sz="600" dirty="0"/>
          </a:p>
        </p:txBody>
      </p:sp>
      <p:sp>
        <p:nvSpPr>
          <p:cNvPr id="194" name="Shape 192"/>
          <p:cNvSpPr/>
          <p:nvPr/>
        </p:nvSpPr>
        <p:spPr>
          <a:xfrm>
            <a:off x="8092440" y="2212848"/>
            <a:ext cx="3685032" cy="3383280"/>
          </a:xfrm>
          <a:prstGeom prst="roundRect">
            <a:avLst>
              <a:gd name="adj" fmla="val 1892"/>
            </a:avLst>
          </a:prstGeom>
          <a:solidFill>
            <a:srgbClr val="FFFFFF"/>
          </a:solidFill>
          <a:ln/>
          <a:effectLst>
            <a:outerShdw sx="100000" sy="100000" kx="0" ky="0" algn="bl" rotWithShape="0" blurRad="76200" dist="25400" dir="5400000">
              <a:srgbClr val="9AAAB5">
                <a:alpha val="35000"/>
              </a:srgbClr>
            </a:outerShdw>
          </a:effectLst>
        </p:spPr>
      </p:sp>
      <p:sp>
        <p:nvSpPr>
          <p:cNvPr id="195" name="Text 193"/>
          <p:cNvSpPr txBox="1"/>
          <p:nvPr/>
        </p:nvSpPr>
        <p:spPr>
          <a:xfrm>
            <a:off x="8293608" y="2322576"/>
            <a:ext cx="3291840"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COWORK — SESSIONS PER WEEK</a:t>
            </a:r>
            <a:endParaRPr lang="en-US" sz="1200" dirty="0"/>
          </a:p>
        </p:txBody>
      </p:sp>
      <p:sp>
        <p:nvSpPr>
          <p:cNvPr id="196" name="Text 194"/>
          <p:cNvSpPr txBox="1"/>
          <p:nvPr/>
        </p:nvSpPr>
        <p:spPr>
          <a:xfrm>
            <a:off x="8275320" y="2596896"/>
            <a:ext cx="1481328" cy="548640"/>
          </a:xfrm>
          <a:prstGeom prst="rect">
            <a:avLst/>
          </a:prstGeom>
          <a:noFill/>
          <a:ln/>
        </p:spPr>
        <p:txBody>
          <a:bodyPr wrap="square" lIns="0" tIns="0" rIns="0" bIns="0" rtlCol="0" anchor="ctr"/>
          <a:lstStyle/>
          <a:p>
            <a:pPr indent="0" marL="0">
              <a:buNone/>
            </a:pPr>
            <a:r>
              <a:rPr lang="en-US" sz="2600" b="1" dirty="0">
                <a:solidFill>
                  <a:srgbClr val="2C8394"/>
                </a:solidFill>
                <a:latin typeface="Poppins" pitchFamily="34" charset="0"/>
                <a:ea typeface="Poppins" pitchFamily="34" charset="-122"/>
                <a:cs typeface="Poppins" pitchFamily="34" charset="-120"/>
              </a:rPr>
              <a:t>~1012</a:t>
            </a:r>
            <a:endParaRPr lang="en-US" sz="2600" dirty="0"/>
          </a:p>
        </p:txBody>
      </p:sp>
      <p:sp>
        <p:nvSpPr>
          <p:cNvPr id="197" name="Text 195"/>
          <p:cNvSpPr txBox="1"/>
          <p:nvPr/>
        </p:nvSpPr>
        <p:spPr>
          <a:xfrm>
            <a:off x="9811512" y="2624328"/>
            <a:ext cx="1783080" cy="502920"/>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team total / wk
</a:t>
            </a:r>
            <a:pPr indent="0" marL="0">
              <a:buNone/>
            </a:pPr>
            <a:r>
              <a:rPr lang="en-US" sz="700" dirty="0">
                <a:solidFill>
                  <a:srgbClr val="8FA1AC"/>
                </a:solidFill>
                <a:latin typeface="Poppins" pitchFamily="34" charset="0"/>
                <a:ea typeface="Poppins" pitchFamily="34" charset="-122"/>
                <a:cs typeface="Poppins" pitchFamily="34" charset="-120"/>
              </a:rPr>
              <a:t>~770 baseline</a:t>
            </a:r>
            <a:endParaRPr lang="en-US" sz="750" dirty="0"/>
          </a:p>
        </p:txBody>
      </p:sp>
      <p:sp>
        <p:nvSpPr>
          <p:cNvPr id="198" name="Text 196"/>
          <p:cNvSpPr txBox="1"/>
          <p:nvPr/>
        </p:nvSpPr>
        <p:spPr>
          <a:xfrm>
            <a:off x="8275320" y="3236976"/>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Bjorn Magabo</a:t>
            </a:r>
            <a:endParaRPr lang="en-US" sz="750" dirty="0"/>
          </a:p>
        </p:txBody>
      </p:sp>
      <p:sp>
        <p:nvSpPr>
          <p:cNvPr id="199" name="Text 197"/>
          <p:cNvSpPr txBox="1"/>
          <p:nvPr/>
        </p:nvSpPr>
        <p:spPr>
          <a:xfrm>
            <a:off x="10058400" y="3236976"/>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+211</a:t>
            </a:r>
            <a:endParaRPr lang="en-US" sz="680" dirty="0"/>
          </a:p>
        </p:txBody>
      </p:sp>
      <p:sp>
        <p:nvSpPr>
          <p:cNvPr id="200" name="Text 198"/>
          <p:cNvSpPr txBox="1"/>
          <p:nvPr/>
        </p:nvSpPr>
        <p:spPr>
          <a:xfrm>
            <a:off x="10835640" y="323697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~696/wk</a:t>
            </a:r>
            <a:endParaRPr lang="en-US" sz="750" dirty="0"/>
          </a:p>
        </p:txBody>
      </p:sp>
      <p:sp>
        <p:nvSpPr>
          <p:cNvPr id="201" name="Text 199"/>
          <p:cNvSpPr txBox="1"/>
          <p:nvPr/>
        </p:nvSpPr>
        <p:spPr>
          <a:xfrm>
            <a:off x="8275320" y="3429000"/>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Phuong Ho</a:t>
            </a:r>
            <a:endParaRPr lang="en-US" sz="750" dirty="0"/>
          </a:p>
        </p:txBody>
      </p:sp>
      <p:sp>
        <p:nvSpPr>
          <p:cNvPr id="202" name="Text 200"/>
          <p:cNvSpPr txBox="1"/>
          <p:nvPr/>
        </p:nvSpPr>
        <p:spPr>
          <a:xfrm>
            <a:off x="10058400" y="3429000"/>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+32</a:t>
            </a:r>
            <a:endParaRPr lang="en-US" sz="680" dirty="0"/>
          </a:p>
        </p:txBody>
      </p:sp>
      <p:sp>
        <p:nvSpPr>
          <p:cNvPr id="203" name="Text 201"/>
          <p:cNvSpPr txBox="1"/>
          <p:nvPr/>
        </p:nvSpPr>
        <p:spPr>
          <a:xfrm>
            <a:off x="10835640" y="342900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~168/wk</a:t>
            </a:r>
            <a:endParaRPr lang="en-US" sz="750" dirty="0"/>
          </a:p>
        </p:txBody>
      </p:sp>
      <p:sp>
        <p:nvSpPr>
          <p:cNvPr id="204" name="Text 202"/>
          <p:cNvSpPr txBox="1"/>
          <p:nvPr/>
        </p:nvSpPr>
        <p:spPr>
          <a:xfrm>
            <a:off x="8275320" y="3621024"/>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Bradford Young</a:t>
            </a:r>
            <a:endParaRPr lang="en-US" sz="750" dirty="0"/>
          </a:p>
        </p:txBody>
      </p:sp>
      <p:sp>
        <p:nvSpPr>
          <p:cNvPr id="205" name="Text 203"/>
          <p:cNvSpPr txBox="1"/>
          <p:nvPr/>
        </p:nvSpPr>
        <p:spPr>
          <a:xfrm>
            <a:off x="10058400" y="3621024"/>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a:t>
            </a:r>
            <a:endParaRPr lang="en-US" sz="680" dirty="0"/>
          </a:p>
        </p:txBody>
      </p:sp>
      <p:sp>
        <p:nvSpPr>
          <p:cNvPr id="206" name="Text 204"/>
          <p:cNvSpPr txBox="1"/>
          <p:nvPr/>
        </p:nvSpPr>
        <p:spPr>
          <a:xfrm>
            <a:off x="10835640" y="362102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~21/wk</a:t>
            </a:r>
            <a:endParaRPr lang="en-US" sz="750" dirty="0"/>
          </a:p>
        </p:txBody>
      </p:sp>
      <p:sp>
        <p:nvSpPr>
          <p:cNvPr id="207" name="Text 205"/>
          <p:cNvSpPr txBox="1"/>
          <p:nvPr/>
        </p:nvSpPr>
        <p:spPr>
          <a:xfrm>
            <a:off x="8275320" y="3813048"/>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Dave Corbett</a:t>
            </a:r>
            <a:endParaRPr lang="en-US" sz="750" dirty="0"/>
          </a:p>
        </p:txBody>
      </p:sp>
      <p:sp>
        <p:nvSpPr>
          <p:cNvPr id="208" name="Text 206"/>
          <p:cNvSpPr txBox="1"/>
          <p:nvPr/>
        </p:nvSpPr>
        <p:spPr>
          <a:xfrm>
            <a:off x="10058400" y="3813048"/>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09" name="Text 207"/>
          <p:cNvSpPr txBox="1"/>
          <p:nvPr/>
        </p:nvSpPr>
        <p:spPr>
          <a:xfrm>
            <a:off x="10835640" y="381304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~21/wk</a:t>
            </a:r>
            <a:endParaRPr lang="en-US" sz="750" dirty="0"/>
          </a:p>
        </p:txBody>
      </p:sp>
      <p:sp>
        <p:nvSpPr>
          <p:cNvPr id="210" name="Text 208"/>
          <p:cNvSpPr txBox="1"/>
          <p:nvPr/>
        </p:nvSpPr>
        <p:spPr>
          <a:xfrm>
            <a:off x="8275320" y="4005072"/>
            <a:ext cx="1737360" cy="201168"/>
          </a:xfrm>
          <a:prstGeom prst="rect">
            <a:avLst/>
          </a:prstGeom>
          <a:noFill/>
          <a:ln/>
        </p:spPr>
        <p:txBody>
          <a:bodyPr wrap="square" lIns="0" tIns="0" rIns="0" bIns="0" rtlCol="0" anchor="ctr"/>
          <a:lstStyle/>
          <a:p>
            <a:pPr indent="0" marL="0">
              <a:buNone/>
            </a:pPr>
            <a:r>
              <a:rPr lang="en-US" sz="750" b="1" dirty="0">
                <a:solidFill>
                  <a:srgbClr val="12293A"/>
                </a:solidFill>
                <a:latin typeface="Poppins" pitchFamily="34" charset="0"/>
                <a:ea typeface="Poppins" pitchFamily="34" charset="-122"/>
                <a:cs typeface="Poppins" pitchFamily="34" charset="-120"/>
              </a:rPr>
              <a:t>Matt Freeman</a:t>
            </a:r>
            <a:endParaRPr lang="en-US" sz="750" dirty="0"/>
          </a:p>
        </p:txBody>
      </p:sp>
      <p:sp>
        <p:nvSpPr>
          <p:cNvPr id="211" name="Text 209"/>
          <p:cNvSpPr txBox="1"/>
          <p:nvPr/>
        </p:nvSpPr>
        <p:spPr>
          <a:xfrm>
            <a:off x="10058400" y="4005072"/>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+2</a:t>
            </a:r>
            <a:endParaRPr lang="en-US" sz="680" dirty="0"/>
          </a:p>
        </p:txBody>
      </p:sp>
      <p:sp>
        <p:nvSpPr>
          <p:cNvPr id="212" name="Text 210"/>
          <p:cNvSpPr txBox="1"/>
          <p:nvPr/>
        </p:nvSpPr>
        <p:spPr>
          <a:xfrm>
            <a:off x="10835640" y="400507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~15/wk</a:t>
            </a:r>
            <a:endParaRPr lang="en-US" sz="750" dirty="0"/>
          </a:p>
        </p:txBody>
      </p:sp>
      <p:sp>
        <p:nvSpPr>
          <p:cNvPr id="213" name="Text 211"/>
          <p:cNvSpPr txBox="1"/>
          <p:nvPr/>
        </p:nvSpPr>
        <p:spPr>
          <a:xfrm>
            <a:off x="8275320" y="4197096"/>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Katherine Fenwick</a:t>
            </a:r>
            <a:endParaRPr lang="en-US" sz="750" dirty="0"/>
          </a:p>
        </p:txBody>
      </p:sp>
      <p:sp>
        <p:nvSpPr>
          <p:cNvPr id="214" name="Text 212"/>
          <p:cNvSpPr txBox="1"/>
          <p:nvPr/>
        </p:nvSpPr>
        <p:spPr>
          <a:xfrm>
            <a:off x="10058400" y="4197096"/>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15" name="Text 213"/>
          <p:cNvSpPr txBox="1"/>
          <p:nvPr/>
        </p:nvSpPr>
        <p:spPr>
          <a:xfrm>
            <a:off x="10835640" y="4197096"/>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~13/wk</a:t>
            </a:r>
            <a:endParaRPr lang="en-US" sz="750" dirty="0"/>
          </a:p>
        </p:txBody>
      </p:sp>
      <p:sp>
        <p:nvSpPr>
          <p:cNvPr id="216" name="Text 214"/>
          <p:cNvSpPr txBox="1"/>
          <p:nvPr/>
        </p:nvSpPr>
        <p:spPr>
          <a:xfrm>
            <a:off x="8275320" y="4389120"/>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Harjeet Sammi</a:t>
            </a:r>
            <a:endParaRPr lang="en-US" sz="750" dirty="0"/>
          </a:p>
        </p:txBody>
      </p:sp>
      <p:sp>
        <p:nvSpPr>
          <p:cNvPr id="217" name="Text 215"/>
          <p:cNvSpPr txBox="1"/>
          <p:nvPr/>
        </p:nvSpPr>
        <p:spPr>
          <a:xfrm>
            <a:off x="10058400" y="4389120"/>
            <a:ext cx="685800" cy="201168"/>
          </a:xfrm>
          <a:prstGeom prst="rect">
            <a:avLst/>
          </a:prstGeom>
          <a:noFill/>
          <a:ln/>
        </p:spPr>
        <p:txBody>
          <a:bodyPr wrap="square" lIns="0" tIns="0" rIns="0" bIns="0" rtlCol="0" anchor="ctr"/>
          <a:lstStyle/>
          <a:p>
            <a:pPr algn="r" indent="0" marL="0">
              <a:buNone/>
            </a:pPr>
            <a:r>
              <a:rPr lang="en-US" sz="680" b="1" dirty="0">
                <a:solidFill>
                  <a:srgbClr val="B4552D"/>
                </a:solidFill>
                <a:latin typeface="Poppins" pitchFamily="34" charset="0"/>
                <a:ea typeface="Poppins" pitchFamily="34" charset="-122"/>
                <a:cs typeface="Poppins" pitchFamily="34" charset="-120"/>
              </a:rPr>
              <a:t>▼ -1</a:t>
            </a:r>
            <a:endParaRPr lang="en-US" sz="680" dirty="0"/>
          </a:p>
        </p:txBody>
      </p:sp>
      <p:sp>
        <p:nvSpPr>
          <p:cNvPr id="218" name="Text 216"/>
          <p:cNvSpPr txBox="1"/>
          <p:nvPr/>
        </p:nvSpPr>
        <p:spPr>
          <a:xfrm>
            <a:off x="10835640" y="4389120"/>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~12/wk</a:t>
            </a:r>
            <a:endParaRPr lang="en-US" sz="750" dirty="0"/>
          </a:p>
        </p:txBody>
      </p:sp>
      <p:sp>
        <p:nvSpPr>
          <p:cNvPr id="219" name="Text 217"/>
          <p:cNvSpPr txBox="1"/>
          <p:nvPr/>
        </p:nvSpPr>
        <p:spPr>
          <a:xfrm>
            <a:off x="8275320" y="4581144"/>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Glynn Johnson</a:t>
            </a:r>
            <a:endParaRPr lang="en-US" sz="750" dirty="0"/>
          </a:p>
        </p:txBody>
      </p:sp>
      <p:sp>
        <p:nvSpPr>
          <p:cNvPr id="220" name="Text 218"/>
          <p:cNvSpPr txBox="1"/>
          <p:nvPr/>
        </p:nvSpPr>
        <p:spPr>
          <a:xfrm>
            <a:off x="10058400" y="4581144"/>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a:t>
            </a:r>
            <a:endParaRPr lang="en-US" sz="680" dirty="0"/>
          </a:p>
        </p:txBody>
      </p:sp>
      <p:sp>
        <p:nvSpPr>
          <p:cNvPr id="221" name="Text 219"/>
          <p:cNvSpPr txBox="1"/>
          <p:nvPr/>
        </p:nvSpPr>
        <p:spPr>
          <a:xfrm>
            <a:off x="10835640" y="4581144"/>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~11/wk</a:t>
            </a:r>
            <a:endParaRPr lang="en-US" sz="750" dirty="0"/>
          </a:p>
        </p:txBody>
      </p:sp>
      <p:sp>
        <p:nvSpPr>
          <p:cNvPr id="222" name="Text 220"/>
          <p:cNvSpPr txBox="1"/>
          <p:nvPr/>
        </p:nvSpPr>
        <p:spPr>
          <a:xfrm>
            <a:off x="8275320" y="4773168"/>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Isayah Kuhlmann</a:t>
            </a:r>
            <a:endParaRPr lang="en-US" sz="750" dirty="0"/>
          </a:p>
        </p:txBody>
      </p:sp>
      <p:sp>
        <p:nvSpPr>
          <p:cNvPr id="223" name="Text 221"/>
          <p:cNvSpPr txBox="1"/>
          <p:nvPr/>
        </p:nvSpPr>
        <p:spPr>
          <a:xfrm>
            <a:off x="10058400" y="4773168"/>
            <a:ext cx="685800" cy="201168"/>
          </a:xfrm>
          <a:prstGeom prst="rect">
            <a:avLst/>
          </a:prstGeom>
          <a:noFill/>
          <a:ln/>
        </p:spPr>
        <p:txBody>
          <a:bodyPr wrap="square" lIns="0" tIns="0" rIns="0" bIns="0" rtlCol="0" anchor="ctr"/>
          <a:lstStyle/>
          <a:p>
            <a:pPr algn="r" indent="0" marL="0">
              <a:buNone/>
            </a:pPr>
            <a:r>
              <a:rPr lang="en-US" sz="680" b="1" dirty="0">
                <a:solidFill>
                  <a:srgbClr val="3D8F5F"/>
                </a:solidFill>
                <a:latin typeface="Poppins" pitchFamily="34" charset="0"/>
                <a:ea typeface="Poppins" pitchFamily="34" charset="-122"/>
                <a:cs typeface="Poppins" pitchFamily="34" charset="-120"/>
              </a:rPr>
              <a:t>▲ +1</a:t>
            </a:r>
            <a:endParaRPr lang="en-US" sz="680" dirty="0"/>
          </a:p>
        </p:txBody>
      </p:sp>
      <p:sp>
        <p:nvSpPr>
          <p:cNvPr id="224" name="Text 222"/>
          <p:cNvSpPr txBox="1"/>
          <p:nvPr/>
        </p:nvSpPr>
        <p:spPr>
          <a:xfrm>
            <a:off x="10835640" y="4773168"/>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~8/wk</a:t>
            </a:r>
            <a:endParaRPr lang="en-US" sz="750" dirty="0"/>
          </a:p>
        </p:txBody>
      </p:sp>
      <p:sp>
        <p:nvSpPr>
          <p:cNvPr id="225" name="Text 223"/>
          <p:cNvSpPr txBox="1"/>
          <p:nvPr/>
        </p:nvSpPr>
        <p:spPr>
          <a:xfrm>
            <a:off x="8275320" y="4965192"/>
            <a:ext cx="1737360" cy="201168"/>
          </a:xfrm>
          <a:prstGeom prst="rect">
            <a:avLst/>
          </a:prstGeom>
          <a:noFill/>
          <a:ln/>
        </p:spPr>
        <p:txBody>
          <a:bodyPr wrap="square" lIns="0" tIns="0" rIns="0" bIns="0" rtlCol="0" anchor="ctr"/>
          <a:lstStyle/>
          <a:p>
            <a:pPr indent="0" marL="0">
              <a:buNone/>
            </a:pPr>
            <a:r>
              <a:rPr lang="en-US" sz="750" dirty="0">
                <a:solidFill>
                  <a:srgbClr val="5E7280"/>
                </a:solidFill>
                <a:latin typeface="Poppins" pitchFamily="34" charset="0"/>
                <a:ea typeface="Poppins" pitchFamily="34" charset="-122"/>
                <a:cs typeface="Poppins" pitchFamily="34" charset="-120"/>
              </a:rPr>
              <a:t>Rhys Woolcock</a:t>
            </a:r>
            <a:endParaRPr lang="en-US" sz="750" dirty="0"/>
          </a:p>
        </p:txBody>
      </p:sp>
      <p:sp>
        <p:nvSpPr>
          <p:cNvPr id="226" name="Text 224"/>
          <p:cNvSpPr txBox="1"/>
          <p:nvPr/>
        </p:nvSpPr>
        <p:spPr>
          <a:xfrm>
            <a:off x="10058400" y="4965192"/>
            <a:ext cx="685800" cy="201168"/>
          </a:xfrm>
          <a:prstGeom prst="rect">
            <a:avLst/>
          </a:prstGeom>
          <a:noFill/>
          <a:ln/>
        </p:spPr>
        <p:txBody>
          <a:bodyPr wrap="square" lIns="0" tIns="0" rIns="0" bIns="0" rtlCol="0" anchor="ctr"/>
          <a:lstStyle/>
          <a:p>
            <a:pPr algn="r" indent="0" marL="0">
              <a:buNone/>
            </a:pPr>
            <a:r>
              <a:rPr lang="en-US" sz="680" b="1" dirty="0">
                <a:solidFill>
                  <a:srgbClr val="8FA1AC"/>
                </a:solidFill>
                <a:latin typeface="Poppins" pitchFamily="34" charset="0"/>
                <a:ea typeface="Poppins" pitchFamily="34" charset="-122"/>
                <a:cs typeface="Poppins" pitchFamily="34" charset="-120"/>
              </a:rPr>
              <a:t>new</a:t>
            </a:r>
            <a:endParaRPr lang="en-US" sz="680" dirty="0"/>
          </a:p>
        </p:txBody>
      </p:sp>
      <p:sp>
        <p:nvSpPr>
          <p:cNvPr id="227" name="Text 225"/>
          <p:cNvSpPr txBox="1"/>
          <p:nvPr/>
        </p:nvSpPr>
        <p:spPr>
          <a:xfrm>
            <a:off x="10835640" y="4965192"/>
            <a:ext cx="758952" cy="201168"/>
          </a:xfrm>
          <a:prstGeom prst="rect">
            <a:avLst/>
          </a:prstGeom>
          <a:noFill/>
          <a:ln/>
        </p:spPr>
        <p:txBody>
          <a:bodyPr wrap="square" lIns="0" tIns="0" rIns="0" bIns="0" rtlCol="0" anchor="ctr"/>
          <a:lstStyle/>
          <a:p>
            <a:pPr algn="r" indent="0" marL="0">
              <a:buNone/>
            </a:pPr>
            <a:r>
              <a:rPr lang="en-US" sz="750" b="1" dirty="0">
                <a:solidFill>
                  <a:srgbClr val="2C8394"/>
                </a:solidFill>
                <a:latin typeface="Poppins" pitchFamily="34" charset="0"/>
                <a:ea typeface="Poppins" pitchFamily="34" charset="-122"/>
                <a:cs typeface="Poppins" pitchFamily="34" charset="-120"/>
              </a:rPr>
              <a:t>~8/wk</a:t>
            </a:r>
            <a:endParaRPr lang="en-US" sz="750" dirty="0"/>
          </a:p>
        </p:txBody>
      </p:sp>
      <p:sp>
        <p:nvSpPr>
          <p:cNvPr id="228" name="Text 226"/>
          <p:cNvSpPr txBox="1"/>
          <p:nvPr/>
        </p:nvSpPr>
        <p:spPr>
          <a:xfrm>
            <a:off x="8275320" y="5321808"/>
            <a:ext cx="3319272" cy="237744"/>
          </a:xfrm>
          <a:prstGeom prst="rect">
            <a:avLst/>
          </a:prstGeom>
          <a:noFill/>
          <a:ln/>
        </p:spPr>
        <p:txBody>
          <a:bodyPr wrap="square" lIns="0" tIns="0" rIns="0" bIns="0" rtlCol="0" anchor="t"/>
          <a:lstStyle/>
          <a:p>
            <a:pPr indent="0" marL="0">
              <a:buNone/>
            </a:pPr>
            <a:r>
              <a:rPr lang="en-US" sz="600" dirty="0">
                <a:solidFill>
                  <a:srgbClr val="8FA1AC"/>
                </a:solidFill>
                <a:latin typeface="Poppins" pitchFamily="34" charset="0"/>
                <a:ea typeface="Poppins" pitchFamily="34" charset="-122"/>
                <a:cs typeface="Poppins" pitchFamily="34" charset="-120"/>
              </a:rPr>
              <a:t>rate = 30-day sessions ÷ 4.3 · arrow = change vs the 5 Oct capture · new = first capture</a:t>
            </a:r>
            <a:endParaRPr lang="en-US" sz="600" dirty="0"/>
          </a:p>
        </p:txBody>
      </p:sp>
      <p:sp>
        <p:nvSpPr>
          <p:cNvPr id="229" name="Shape 227"/>
          <p:cNvSpPr/>
          <p:nvPr/>
        </p:nvSpPr>
        <p:spPr>
          <a:xfrm>
            <a:off x="411480" y="5669280"/>
            <a:ext cx="11365992" cy="786384"/>
          </a:xfrm>
          <a:prstGeom prst="roundRect">
            <a:avLst>
              <a:gd name="adj" fmla="val 8140"/>
            </a:avLst>
          </a:prstGeom>
          <a:solidFill>
            <a:srgbClr val="FFFFFF"/>
          </a:solidFill>
          <a:ln/>
          <a:effectLst>
            <a:outerShdw sx="100000" sy="100000" kx="0" ky="0" algn="bl" rotWithShape="0" blurRad="76200" dist="25400" dir="5400000">
              <a:srgbClr val="9AAAB5">
                <a:alpha val="35000"/>
              </a:srgbClr>
            </a:outerShdw>
          </a:effectLst>
        </p:spPr>
      </p:sp>
      <p:sp>
        <p:nvSpPr>
          <p:cNvPr id="230" name="Text 228"/>
          <p:cNvSpPr txBox="1"/>
          <p:nvPr/>
        </p:nvSpPr>
        <p:spPr>
          <a:xfrm>
            <a:off x="612648" y="5779008"/>
            <a:ext cx="11000232" cy="274320"/>
          </a:xfrm>
          <a:prstGeom prst="rect">
            <a:avLst/>
          </a:prstGeom>
          <a:noFill/>
          <a:ln/>
        </p:spPr>
        <p:txBody>
          <a:bodyPr wrap="square" lIns="0" tIns="0" rIns="0" bIns="0" rtlCol="0" anchor="ctr"/>
          <a:lstStyle/>
          <a:p>
            <a:pPr indent="0" marL="0">
              <a:buNone/>
            </a:pPr>
            <a:r>
              <a:rPr lang="en-US" sz="1200" b="1" dirty="0">
                <a:solidFill>
                  <a:srgbClr val="2C8394"/>
                </a:solidFill>
                <a:latin typeface="Poppins" pitchFamily="34" charset="0"/>
                <a:ea typeface="Poppins" pitchFamily="34" charset="-122"/>
                <a:cs typeface="Poppins" pitchFamily="34" charset="-120"/>
              </a:rPr>
              <a:t>AI SUMMARY</a:t>
            </a:r>
            <a:endParaRPr lang="en-US" sz="1200" dirty="0"/>
          </a:p>
        </p:txBody>
      </p:sp>
      <p:sp>
        <p:nvSpPr>
          <p:cNvPr id="231" name="Text 229"/>
          <p:cNvSpPr txBox="1"/>
          <p:nvPr/>
        </p:nvSpPr>
        <p:spPr>
          <a:xfrm>
            <a:off x="612648" y="6089904"/>
            <a:ext cx="10954512" cy="237744"/>
          </a:xfrm>
          <a:prstGeom prst="rect">
            <a:avLst/>
          </a:prstGeom>
          <a:noFill/>
          <a:ln/>
        </p:spPr>
        <p:txBody>
          <a:bodyPr wrap="square" lIns="0" tIns="0" rIns="0" bIns="0" rtlCol="0" anchor="t"/>
          <a:lstStyle/>
          <a:p>
            <a:pPr indent="0" marL="0">
              <a:buNone/>
            </a:pPr>
            <a:r>
              <a:rPr lang="en-US" sz="900" b="1" dirty="0">
                <a:solidFill>
                  <a:srgbClr val="2C8394"/>
                </a:solidFill>
                <a:latin typeface="Poppins" pitchFamily="34" charset="0"/>
                <a:ea typeface="Poppins" pitchFamily="34" charset="-122"/>
                <a:cs typeface="Poppins" pitchFamily="34" charset="-120"/>
              </a:rPr>
              <a:t>•  </a:t>
            </a:r>
            <a:pPr indent="0" marL="0">
              <a:buNone/>
            </a:pPr>
            <a:r>
              <a:rPr lang="en-US" sz="900" b="1" dirty="0">
                <a:solidFill>
                  <a:srgbClr val="12293A"/>
                </a:solidFill>
                <a:latin typeface="Poppins" pitchFamily="34" charset="0"/>
                <a:ea typeface="Poppins" pitchFamily="34" charset="-122"/>
                <a:cs typeface="Poppins" pitchFamily="34" charset="-120"/>
              </a:rPr>
              <a:t>39 of 47 active weekly, but daily use went backwards </a:t>
            </a:r>
            <a:pPr indent="0" marL="0">
              <a:spcAft>
                <a:spcPts val="800"/>
              </a:spcAft>
              <a:buNone/>
            </a:pPr>
            <a:r>
              <a:rPr lang="en-US" sz="900" dirty="0">
                <a:solidFill>
                  <a:srgbClr val="3A4B57"/>
                </a:solidFill>
                <a:latin typeface="Poppins" pitchFamily="34" charset="0"/>
                <a:ea typeface="Poppins" pitchFamily="34" charset="-122"/>
                <a:cs typeface="Poppins" pitchFamily="34" charset="-120"/>
              </a:rPr>
              <a:t>— 12 daily against 19 a week ago, and stickiness fell on every surface but Claude Code: Cowork 33% → 24% DAU/MAU, Claude.ai 29% → 7%, Office Agents 11% → 0%, Claude Code 18% → 26%. Breadth is holding, depth is not. Code output runs the other way: 111,689 lines in twelve October days against 50,453 at the 5 Oct capture — but 77,260 of them, 69%, are Nicolas Ibrahim, and four of the ten named developers logged nothing in October.</a:t>
            </a:r>
            <a:endParaRPr lang="en-US" sz="900" dirty="0"/>
          </a:p>
        </p:txBody>
      </p:sp>
      <p:sp>
        <p:nvSpPr>
          <p:cNvPr id="232" name="Shape 230"/>
          <p:cNvSpPr/>
          <p:nvPr/>
        </p:nvSpPr>
        <p:spPr>
          <a:xfrm>
            <a:off x="8332013" y="6510528"/>
            <a:ext cx="3445459" cy="256032"/>
          </a:xfrm>
          <a:prstGeom prst="roundRect">
            <a:avLst>
              <a:gd name="adj" fmla="val 46429"/>
            </a:avLst>
          </a:prstGeom>
          <a:solidFill>
            <a:srgbClr val="12293A"/>
          </a:solidFill>
          <a:ln/>
        </p:spPr>
      </p:sp>
      <p:sp>
        <p:nvSpPr>
          <p:cNvPr id="233" name="Text 231"/>
          <p:cNvSpPr txBox="1"/>
          <p:nvPr/>
        </p:nvSpPr>
        <p:spPr>
          <a:xfrm>
            <a:off x="8332013" y="6510528"/>
            <a:ext cx="3445459" cy="256032"/>
          </a:xfrm>
          <a:prstGeom prst="rect">
            <a:avLst/>
          </a:prstGeom>
          <a:noFill/>
          <a:ln/>
        </p:spPr>
        <p:txBody>
          <a:bodyPr wrap="square" lIns="0" tIns="0" rIns="0" bIns="0" rtlCol="0" anchor="ctr"/>
          <a:lstStyle/>
          <a:p>
            <a:pPr algn="ctr" indent="0" marL="0">
              <a:buNone/>
            </a:pPr>
            <a:r>
              <a:rPr lang="en-US" sz="700" b="1" dirty="0">
                <a:solidFill>
                  <a:srgbClr val="FFFFFF"/>
                </a:solidFill>
                <a:latin typeface="Poppins" pitchFamily="34" charset="0"/>
                <a:ea typeface="Poppins" pitchFamily="34" charset="-122"/>
                <a:cs typeface="Poppins" pitchFamily="34" charset="-120"/>
              </a:rPr>
              <a:t>Source: Claude Admin weekly capture (30d to 12 Oct)</a:t>
            </a:r>
            <a:endParaRPr lang="en-US" sz="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8"/>
        </a:solidFill>
      </p:bgPr>
    </p:bg>
    <p:spTree>
      <p:nvGrpSpPr>
        <p:cNvPr id="1" name=""/>
        <p:cNvGrpSpPr/>
        <p:nvPr/>
      </p:nvGrpSpPr>
      <p:grpSpPr>
        <a:xfrm>
          <a:off x="0" y="0"/>
          <a:ext cx="0" cy="0"/>
          <a:chOff x="0" y="0"/>
          <a:chExt cx="0" cy="0"/>
        </a:xfrm>
      </p:grpSpPr>
      <p:sp>
        <p:nvSpPr>
          <p:cNvPr id="2" name="Shape 0"/>
          <p:cNvSpPr/>
          <p:nvPr/>
        </p:nvSpPr>
        <p:spPr>
          <a:xfrm>
            <a:off x="0" y="0"/>
            <a:ext cx="12188952" cy="841248"/>
          </a:xfrm>
          <a:prstGeom prst="rect">
            <a:avLst/>
          </a:prstGeom>
          <a:solidFill>
            <a:srgbClr val="12293A"/>
          </a:solidFill>
          <a:ln/>
        </p:spPr>
      </p:sp>
      <p:sp>
        <p:nvSpPr>
          <p:cNvPr id="3" name="Shape 1"/>
          <p:cNvSpPr/>
          <p:nvPr/>
        </p:nvSpPr>
        <p:spPr>
          <a:xfrm>
            <a:off x="384048" y="155448"/>
            <a:ext cx="731520" cy="530352"/>
          </a:xfrm>
          <a:prstGeom prst="roundRect">
            <a:avLst>
              <a:gd name="adj" fmla="val 15517"/>
            </a:avLst>
          </a:prstGeom>
          <a:solidFill>
            <a:srgbClr val="FFFFFF"/>
          </a:solidFill>
          <a:ln/>
        </p:spPr>
      </p:sp>
      <p:sp>
        <p:nvSpPr>
          <p:cNvPr id="4" name="Text 2"/>
          <p:cNvSpPr txBox="1"/>
          <p:nvPr/>
        </p:nvSpPr>
        <p:spPr>
          <a:xfrm>
            <a:off x="384048" y="155448"/>
            <a:ext cx="731520" cy="530352"/>
          </a:xfrm>
          <a:prstGeom prst="rect">
            <a:avLst/>
          </a:prstGeom>
          <a:noFill/>
          <a:ln/>
        </p:spPr>
        <p:txBody>
          <a:bodyPr wrap="square" lIns="0" tIns="0" rIns="0" bIns="0" rtlCol="0" anchor="ctr"/>
          <a:lstStyle/>
          <a:p>
            <a:pPr algn="ctr" indent="0" marL="0">
              <a:buNone/>
            </a:pPr>
            <a:r>
              <a:rPr lang="en-US" sz="1500" b="1" dirty="0">
                <a:solidFill>
                  <a:srgbClr val="12293A"/>
                </a:solidFill>
                <a:latin typeface="Poppins" pitchFamily="34" charset="0"/>
                <a:ea typeface="Poppins" pitchFamily="34" charset="-122"/>
                <a:cs typeface="Poppins" pitchFamily="34" charset="-120"/>
              </a:rPr>
              <a:t>H&amp;L</a:t>
            </a:r>
            <a:endParaRPr lang="en-US" sz="1500" dirty="0"/>
          </a:p>
        </p:txBody>
      </p:sp>
      <p:sp>
        <p:nvSpPr>
          <p:cNvPr id="5" name="Text 3"/>
          <p:cNvSpPr txBox="1"/>
          <p:nvPr/>
        </p:nvSpPr>
        <p:spPr>
          <a:xfrm>
            <a:off x="1298448" y="54864"/>
            <a:ext cx="7223760" cy="475488"/>
          </a:xfrm>
          <a:prstGeom prst="rect">
            <a:avLst/>
          </a:prstGeom>
          <a:noFill/>
          <a:ln/>
        </p:spPr>
        <p:txBody>
          <a:bodyPr wrap="square" lIns="0" tIns="0" rIns="0" bIns="0" rtlCol="0" anchor="ctr"/>
          <a:lstStyle/>
          <a:p>
            <a:pPr indent="0" marL="0">
              <a:buNone/>
            </a:pPr>
            <a:r>
              <a:rPr lang="en-US" sz="2300" b="1" dirty="0">
                <a:solidFill>
                  <a:srgbClr val="FFFFFF"/>
                </a:solidFill>
                <a:latin typeface="Poppins" pitchFamily="34" charset="0"/>
                <a:ea typeface="Poppins" pitchFamily="34" charset="-122"/>
                <a:cs typeface="Poppins" pitchFamily="34" charset="-120"/>
              </a:rPr>
              <a:t>Projects — Portfolio Status</a:t>
            </a:r>
            <a:endParaRPr lang="en-US" sz="2300" dirty="0"/>
          </a:p>
        </p:txBody>
      </p:sp>
      <p:sp>
        <p:nvSpPr>
          <p:cNvPr id="6" name="Shape 4"/>
          <p:cNvSpPr/>
          <p:nvPr/>
        </p:nvSpPr>
        <p:spPr>
          <a:xfrm>
            <a:off x="8686800" y="246888"/>
            <a:ext cx="1965960" cy="347472"/>
          </a:xfrm>
          <a:prstGeom prst="roundRect">
            <a:avLst>
              <a:gd name="adj" fmla="val 50000"/>
            </a:avLst>
          </a:prstGeom>
          <a:solidFill>
            <a:srgbClr val="24435C"/>
          </a:solidFill>
          <a:ln w="9525">
            <a:solidFill>
              <a:srgbClr val="FFFFFF">
                <a:alpha val="45000"/>
              </a:srgbClr>
            </a:solidFill>
            <a:prstDash val="solid"/>
          </a:ln>
        </p:spPr>
      </p:sp>
      <p:sp>
        <p:nvSpPr>
          <p:cNvPr id="7" name="Text 5"/>
          <p:cNvSpPr txBox="1"/>
          <p:nvPr/>
        </p:nvSpPr>
        <p:spPr>
          <a:xfrm>
            <a:off x="8686800" y="246888"/>
            <a:ext cx="196596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4  ·  BUILDING THE FUTURE?</a:t>
            </a:r>
            <a:endParaRPr lang="en-US" sz="850" dirty="0"/>
          </a:p>
        </p:txBody>
      </p:sp>
      <p:sp>
        <p:nvSpPr>
          <p:cNvPr id="8" name="Shape 6"/>
          <p:cNvSpPr/>
          <p:nvPr/>
        </p:nvSpPr>
        <p:spPr>
          <a:xfrm>
            <a:off x="10872216" y="0"/>
            <a:ext cx="841248" cy="841248"/>
          </a:xfrm>
          <a:prstGeom prst="ellipse">
            <a:avLst/>
          </a:prstGeom>
          <a:solidFill>
            <a:srgbClr val="1C5765"/>
          </a:solidFill>
          <a:ln/>
        </p:spPr>
      </p:sp>
      <p:sp>
        <p:nvSpPr>
          <p:cNvPr id="9" name="Shape 7"/>
          <p:cNvSpPr/>
          <p:nvPr/>
        </p:nvSpPr>
        <p:spPr>
          <a:xfrm>
            <a:off x="10968228" y="96012"/>
            <a:ext cx="649224" cy="649224"/>
          </a:xfrm>
          <a:prstGeom prst="ellipse">
            <a:avLst/>
          </a:prstGeom>
          <a:solidFill>
            <a:srgbClr val="2C8394"/>
          </a:solidFill>
          <a:ln/>
        </p:spPr>
      </p:sp>
      <p:sp>
        <p:nvSpPr>
          <p:cNvPr id="10" name="Shape 8"/>
          <p:cNvSpPr/>
          <p:nvPr/>
        </p:nvSpPr>
        <p:spPr>
          <a:xfrm>
            <a:off x="11064240" y="192024"/>
            <a:ext cx="457200" cy="457200"/>
          </a:xfrm>
          <a:prstGeom prst="ellipse">
            <a:avLst/>
          </a:prstGeom>
          <a:solidFill>
            <a:srgbClr val="6FAEBB"/>
          </a:solidFill>
          <a:ln/>
        </p:spPr>
      </p:sp>
      <p:sp>
        <p:nvSpPr>
          <p:cNvPr id="11" name="Shape 9"/>
          <p:cNvSpPr/>
          <p:nvPr/>
        </p:nvSpPr>
        <p:spPr>
          <a:xfrm>
            <a:off x="11160252" y="288036"/>
            <a:ext cx="265176" cy="265176"/>
          </a:xfrm>
          <a:prstGeom prst="ellipse">
            <a:avLst/>
          </a:prstGeom>
          <a:solidFill>
            <a:srgbClr val="E4F1F4"/>
          </a:solidFill>
          <a:ln/>
        </p:spPr>
      </p:sp>
      <p:sp>
        <p:nvSpPr>
          <p:cNvPr id="12" name="Text 10"/>
          <p:cNvSpPr txBox="1"/>
          <p:nvPr/>
        </p:nvSpPr>
        <p:spPr>
          <a:xfrm>
            <a:off x="7772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PROJECT</a:t>
            </a:r>
            <a:endParaRPr lang="en-US" sz="900" dirty="0"/>
          </a:p>
        </p:txBody>
      </p:sp>
      <p:sp>
        <p:nvSpPr>
          <p:cNvPr id="13" name="Text 11"/>
          <p:cNvSpPr txBox="1"/>
          <p:nvPr/>
        </p:nvSpPr>
        <p:spPr>
          <a:xfrm>
            <a:off x="452628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STATUS</a:t>
            </a:r>
            <a:endParaRPr lang="en-US" sz="900" dirty="0"/>
          </a:p>
        </p:txBody>
      </p:sp>
      <p:sp>
        <p:nvSpPr>
          <p:cNvPr id="14" name="Text 12"/>
          <p:cNvSpPr txBox="1"/>
          <p:nvPr/>
        </p:nvSpPr>
        <p:spPr>
          <a:xfrm>
            <a:off x="580644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CURRENT STATE</a:t>
            </a:r>
            <a:endParaRPr lang="en-US" sz="900" dirty="0"/>
          </a:p>
        </p:txBody>
      </p:sp>
      <p:sp>
        <p:nvSpPr>
          <p:cNvPr id="15" name="Text 13"/>
          <p:cNvSpPr txBox="1"/>
          <p:nvPr/>
        </p:nvSpPr>
        <p:spPr>
          <a:xfrm>
            <a:off x="8915400" y="960120"/>
            <a:ext cx="2743200" cy="237744"/>
          </a:xfrm>
          <a:prstGeom prst="rect">
            <a:avLst/>
          </a:prstGeom>
          <a:noFill/>
          <a:ln/>
        </p:spPr>
        <p:txBody>
          <a:bodyPr wrap="square" lIns="0" tIns="0" rIns="0" bIns="0" rtlCol="0" anchor="ctr"/>
          <a:lstStyle/>
          <a:p>
            <a:pPr indent="0" marL="0">
              <a:buNone/>
            </a:pPr>
            <a:r>
              <a:rPr lang="en-US" sz="900" b="1" dirty="0">
                <a:solidFill>
                  <a:srgbClr val="2C8394"/>
                </a:solidFill>
                <a:latin typeface="Poppins" pitchFamily="34" charset="0"/>
                <a:ea typeface="Poppins" pitchFamily="34" charset="-122"/>
                <a:cs typeface="Poppins" pitchFamily="34" charset="-120"/>
              </a:rPr>
              <a:t>ROADBLOCK</a:t>
            </a:r>
            <a:endParaRPr lang="en-US" sz="900" dirty="0"/>
          </a:p>
        </p:txBody>
      </p:sp>
      <p:sp>
        <p:nvSpPr>
          <p:cNvPr id="16" name="Shape 14"/>
          <p:cNvSpPr/>
          <p:nvPr/>
        </p:nvSpPr>
        <p:spPr>
          <a:xfrm>
            <a:off x="548640" y="1298448"/>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17" name="Text 15"/>
          <p:cNvSpPr txBox="1"/>
          <p:nvPr/>
        </p:nvSpPr>
        <p:spPr>
          <a:xfrm>
            <a:off x="777240" y="1408176"/>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HubSpot Migration</a:t>
            </a:r>
            <a:endParaRPr lang="en-US" sz="1300" dirty="0"/>
          </a:p>
        </p:txBody>
      </p:sp>
      <p:sp>
        <p:nvSpPr>
          <p:cNvPr id="18" name="Text 16"/>
          <p:cNvSpPr txBox="1"/>
          <p:nvPr/>
        </p:nvSpPr>
        <p:spPr>
          <a:xfrm>
            <a:off x="777240" y="1755648"/>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Shipped · live 2026-09-08</a:t>
            </a:r>
            <a:endParaRPr lang="en-US" sz="850" dirty="0"/>
          </a:p>
        </p:txBody>
      </p:sp>
      <p:sp>
        <p:nvSpPr>
          <p:cNvPr id="19" name="Text 17"/>
          <p:cNvSpPr txBox="1"/>
          <p:nvPr/>
        </p:nvSpPr>
        <p:spPr>
          <a:xfrm>
            <a:off x="777240" y="2048256"/>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20" name="Shape 18"/>
          <p:cNvSpPr/>
          <p:nvPr/>
        </p:nvSpPr>
        <p:spPr>
          <a:xfrm>
            <a:off x="4526280" y="1591056"/>
            <a:ext cx="1143000" cy="292608"/>
          </a:xfrm>
          <a:prstGeom prst="roundRect">
            <a:avLst>
              <a:gd name="adj" fmla="val 50000"/>
            </a:avLst>
          </a:prstGeom>
          <a:solidFill>
            <a:srgbClr val="2C8394"/>
          </a:solidFill>
          <a:ln/>
          <a:effectLst>
            <a:outerShdw sx="100000" sy="100000" kx="0" ky="0" algn="bl" rotWithShape="0" blurRad="76200" dist="25400" dir="5400000">
              <a:srgbClr val="9AAAB5">
                <a:alpha val="35000"/>
              </a:srgbClr>
            </a:outerShdw>
          </a:effectLst>
        </p:spPr>
      </p:sp>
      <p:sp>
        <p:nvSpPr>
          <p:cNvPr id="21" name="Text 19"/>
          <p:cNvSpPr txBox="1"/>
          <p:nvPr/>
        </p:nvSpPr>
        <p:spPr>
          <a:xfrm>
            <a:off x="4526280" y="1591056"/>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DONE</a:t>
            </a:r>
            <a:endParaRPr lang="en-US" sz="850" dirty="0"/>
          </a:p>
        </p:txBody>
      </p:sp>
      <p:sp>
        <p:nvSpPr>
          <p:cNvPr id="22" name="Text 20"/>
          <p:cNvSpPr txBox="1"/>
          <p:nvPr/>
        </p:nvSpPr>
        <p:spPr>
          <a:xfrm>
            <a:off x="5806440" y="1408176"/>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complete</a:t>
            </a:r>
            <a:endParaRPr lang="en-US" sz="850" dirty="0"/>
          </a:p>
        </p:txBody>
      </p:sp>
      <p:sp>
        <p:nvSpPr>
          <p:cNvPr id="23" name="Text 21"/>
          <p:cNvSpPr txBox="1"/>
          <p:nvPr/>
        </p:nvSpPr>
        <p:spPr>
          <a:xfrm>
            <a:off x="8915400" y="1408176"/>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24" name="Shape 22"/>
          <p:cNvSpPr/>
          <p:nvPr/>
        </p:nvSpPr>
        <p:spPr>
          <a:xfrm>
            <a:off x="548640" y="2542032"/>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25" name="Text 23"/>
          <p:cNvSpPr txBox="1"/>
          <p:nvPr/>
        </p:nvSpPr>
        <p:spPr>
          <a:xfrm>
            <a:off x="777240" y="2651760"/>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AI Support Agents — Email + Voice</a:t>
            </a:r>
            <a:endParaRPr lang="en-US" sz="1300" dirty="0"/>
          </a:p>
        </p:txBody>
      </p:sp>
      <p:sp>
        <p:nvSpPr>
          <p:cNvPr id="26" name="Text 24"/>
          <p:cNvSpPr txBox="1"/>
          <p:nvPr/>
        </p:nvSpPr>
        <p:spPr>
          <a:xfrm>
            <a:off x="777240" y="2999232"/>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Rollout</a:t>
            </a:r>
            <a:endParaRPr lang="en-US" sz="850" dirty="0"/>
          </a:p>
        </p:txBody>
      </p:sp>
      <p:sp>
        <p:nvSpPr>
          <p:cNvPr id="27" name="Text 25"/>
          <p:cNvSpPr txBox="1"/>
          <p:nvPr/>
        </p:nvSpPr>
        <p:spPr>
          <a:xfrm>
            <a:off x="777240" y="3291840"/>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 / Nicolas Ibrahim</a:t>
            </a:r>
            <a:endParaRPr lang="en-US" sz="800" dirty="0"/>
          </a:p>
        </p:txBody>
      </p:sp>
      <p:sp>
        <p:nvSpPr>
          <p:cNvPr id="28" name="Shape 26"/>
          <p:cNvSpPr/>
          <p:nvPr/>
        </p:nvSpPr>
        <p:spPr>
          <a:xfrm>
            <a:off x="4526280" y="2834640"/>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29" name="Text 27"/>
          <p:cNvSpPr txBox="1"/>
          <p:nvPr/>
        </p:nvSpPr>
        <p:spPr>
          <a:xfrm>
            <a:off x="4526280" y="2834640"/>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0" name="Text 28"/>
          <p:cNvSpPr txBox="1"/>
          <p:nvPr/>
        </p:nvSpPr>
        <p:spPr>
          <a:xfrm>
            <a:off x="5806440" y="2651760"/>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Live in HubSpot with drafts and voice triage handover, Autonomous launching on Sysnet and Exceed and gates will start to open progressively.</a:t>
            </a:r>
            <a:endParaRPr lang="en-US" sz="850" dirty="0"/>
          </a:p>
        </p:txBody>
      </p:sp>
      <p:sp>
        <p:nvSpPr>
          <p:cNvPr id="31" name="Text 29"/>
          <p:cNvSpPr txBox="1"/>
          <p:nvPr/>
        </p:nvSpPr>
        <p:spPr>
          <a:xfrm>
            <a:off x="8915400" y="2651760"/>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 – just cautiously rolling out.</a:t>
            </a:r>
            <a:endParaRPr lang="en-US" sz="800" dirty="0"/>
          </a:p>
        </p:txBody>
      </p:sp>
      <p:sp>
        <p:nvSpPr>
          <p:cNvPr id="32" name="Shape 30"/>
          <p:cNvSpPr/>
          <p:nvPr/>
        </p:nvSpPr>
        <p:spPr>
          <a:xfrm>
            <a:off x="548640" y="3785616"/>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33" name="Text 31"/>
          <p:cNvSpPr txBox="1"/>
          <p:nvPr/>
        </p:nvSpPr>
        <p:spPr>
          <a:xfrm>
            <a:off x="777240" y="3895344"/>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Leadership Reporting &amp; Hosting</a:t>
            </a:r>
            <a:endParaRPr lang="en-US" sz="1300" dirty="0"/>
          </a:p>
        </p:txBody>
      </p:sp>
      <p:sp>
        <p:nvSpPr>
          <p:cNvPr id="34" name="Text 32"/>
          <p:cNvSpPr txBox="1"/>
          <p:nvPr/>
        </p:nvSpPr>
        <p:spPr>
          <a:xfrm>
            <a:off x="777240" y="4242816"/>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Ship</a:t>
            </a:r>
            <a:endParaRPr lang="en-US" sz="850" dirty="0"/>
          </a:p>
        </p:txBody>
      </p:sp>
      <p:sp>
        <p:nvSpPr>
          <p:cNvPr id="35" name="Text 33"/>
          <p:cNvSpPr txBox="1"/>
          <p:nvPr/>
        </p:nvSpPr>
        <p:spPr>
          <a:xfrm>
            <a:off x="777240" y="4535424"/>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Izaak Horner</a:t>
            </a:r>
            <a:endParaRPr lang="en-US" sz="800" dirty="0"/>
          </a:p>
        </p:txBody>
      </p:sp>
      <p:sp>
        <p:nvSpPr>
          <p:cNvPr id="36" name="Shape 34"/>
          <p:cNvSpPr/>
          <p:nvPr/>
        </p:nvSpPr>
        <p:spPr>
          <a:xfrm>
            <a:off x="4526280" y="4078224"/>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37" name="Text 35"/>
          <p:cNvSpPr txBox="1"/>
          <p:nvPr/>
        </p:nvSpPr>
        <p:spPr>
          <a:xfrm>
            <a:off x="4526280" y="4078224"/>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38" name="Text 36"/>
          <p:cNvSpPr txBox="1"/>
          <p:nvPr/>
        </p:nvSpPr>
        <p:spPr>
          <a:xfrm>
            <a:off x="5806440" y="3895344"/>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Cutover complete on the data side; the deck now builds end-to-end from HubSpot plus the finance and tooling file drops. Hosting still to do.</a:t>
            </a:r>
            <a:endParaRPr lang="en-US" sz="850" dirty="0"/>
          </a:p>
        </p:txBody>
      </p:sp>
      <p:sp>
        <p:nvSpPr>
          <p:cNvPr id="39" name="Text 37"/>
          <p:cNvSpPr txBox="1"/>
          <p:nvPr/>
        </p:nvSpPr>
        <p:spPr>
          <a:xfrm>
            <a:off x="8915400" y="3895344"/>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Time to build out reporting. The reporting scope from Anicca was limited.</a:t>
            </a:r>
            <a:endParaRPr lang="en-US" sz="800" dirty="0"/>
          </a:p>
        </p:txBody>
      </p:sp>
      <p:sp>
        <p:nvSpPr>
          <p:cNvPr id="40" name="Shape 38"/>
          <p:cNvSpPr/>
          <p:nvPr/>
        </p:nvSpPr>
        <p:spPr>
          <a:xfrm>
            <a:off x="548640" y="5029200"/>
            <a:ext cx="11091672" cy="1115568"/>
          </a:xfrm>
          <a:prstGeom prst="roundRect">
            <a:avLst>
              <a:gd name="adj" fmla="val 5738"/>
            </a:avLst>
          </a:prstGeom>
          <a:solidFill>
            <a:srgbClr val="FFFFFF"/>
          </a:solidFill>
          <a:ln/>
          <a:effectLst>
            <a:outerShdw sx="100000" sy="100000" kx="0" ky="0" algn="bl" rotWithShape="0" blurRad="76200" dist="25400" dir="5400000">
              <a:srgbClr val="9AAAB5">
                <a:alpha val="35000"/>
              </a:srgbClr>
            </a:outerShdw>
          </a:effectLst>
        </p:spPr>
      </p:sp>
      <p:sp>
        <p:nvSpPr>
          <p:cNvPr id="41" name="Text 39"/>
          <p:cNvSpPr txBox="1"/>
          <p:nvPr/>
        </p:nvSpPr>
        <p:spPr>
          <a:xfrm>
            <a:off x="777240" y="5138928"/>
            <a:ext cx="3566160" cy="310896"/>
          </a:xfrm>
          <a:prstGeom prst="rect">
            <a:avLst/>
          </a:prstGeom>
          <a:noFill/>
          <a:ln/>
        </p:spPr>
        <p:txBody>
          <a:bodyPr wrap="square" lIns="0" tIns="0" rIns="0" bIns="0" rtlCol="0" anchor="ctr"/>
          <a:lstStyle/>
          <a:p>
            <a:pPr indent="0" marL="0">
              <a:buNone/>
            </a:pPr>
            <a:r>
              <a:rPr lang="en-US" sz="1300" b="1" dirty="0">
                <a:solidFill>
                  <a:srgbClr val="12293A"/>
                </a:solidFill>
                <a:latin typeface="Poppins" pitchFamily="34" charset="0"/>
                <a:ea typeface="Poppins" pitchFamily="34" charset="-122"/>
                <a:cs typeface="Poppins" pitchFamily="34" charset="-120"/>
              </a:rPr>
              <a:t>ALH RFP</a:t>
            </a:r>
            <a:endParaRPr lang="en-US" sz="1300" dirty="0"/>
          </a:p>
        </p:txBody>
      </p:sp>
      <p:sp>
        <p:nvSpPr>
          <p:cNvPr id="42" name="Text 40"/>
          <p:cNvSpPr txBox="1"/>
          <p:nvPr/>
        </p:nvSpPr>
        <p:spPr>
          <a:xfrm>
            <a:off x="777240" y="5486400"/>
            <a:ext cx="3566160" cy="237744"/>
          </a:xfrm>
          <a:prstGeom prst="rect">
            <a:avLst/>
          </a:prstGeom>
          <a:noFill/>
          <a:ln/>
        </p:spPr>
        <p:txBody>
          <a:bodyPr wrap="square" lIns="0" tIns="0" rIns="0" bIns="0" rtlCol="0" anchor="ctr"/>
          <a:lstStyle/>
          <a:p>
            <a:pPr indent="0" marL="0">
              <a:buNone/>
            </a:pPr>
            <a:r>
              <a:rPr lang="en-US" sz="850" dirty="0">
                <a:solidFill>
                  <a:srgbClr val="8FA1AC"/>
                </a:solidFill>
                <a:latin typeface="Poppins" pitchFamily="34" charset="0"/>
                <a:ea typeface="Poppins" pitchFamily="34" charset="-122"/>
                <a:cs typeface="Poppins" pitchFamily="34" charset="-120"/>
              </a:rPr>
              <a:t>Response</a:t>
            </a:r>
            <a:endParaRPr lang="en-US" sz="850" dirty="0"/>
          </a:p>
        </p:txBody>
      </p:sp>
      <p:sp>
        <p:nvSpPr>
          <p:cNvPr id="43" name="Text 41"/>
          <p:cNvSpPr txBox="1"/>
          <p:nvPr/>
        </p:nvSpPr>
        <p:spPr>
          <a:xfrm>
            <a:off x="777240" y="5779008"/>
            <a:ext cx="3566160" cy="237744"/>
          </a:xfrm>
          <a:prstGeom prst="rect">
            <a:avLst/>
          </a:prstGeom>
          <a:noFill/>
          <a:ln/>
        </p:spPr>
        <p:txBody>
          <a:bodyPr wrap="square" lIns="0" tIns="0" rIns="0" bIns="0" rtlCol="0" anchor="ctr"/>
          <a:lstStyle/>
          <a:p>
            <a:pPr indent="0" marL="0">
              <a:buNone/>
            </a:pPr>
            <a:r>
              <a:rPr lang="en-US" sz="800" dirty="0">
                <a:solidFill>
                  <a:srgbClr val="8FA1AC"/>
                </a:solidFill>
                <a:latin typeface="Poppins" pitchFamily="34" charset="0"/>
                <a:ea typeface="Poppins" pitchFamily="34" charset="-122"/>
                <a:cs typeface="Poppins" pitchFamily="34" charset="-120"/>
              </a:rPr>
              <a:t>Owner Luke Plunkett</a:t>
            </a:r>
            <a:endParaRPr lang="en-US" sz="800" dirty="0"/>
          </a:p>
        </p:txBody>
      </p:sp>
      <p:sp>
        <p:nvSpPr>
          <p:cNvPr id="44" name="Shape 42"/>
          <p:cNvSpPr/>
          <p:nvPr/>
        </p:nvSpPr>
        <p:spPr>
          <a:xfrm>
            <a:off x="4526280" y="5321808"/>
            <a:ext cx="1143000" cy="292608"/>
          </a:xfrm>
          <a:prstGeom prst="roundRect">
            <a:avLst>
              <a:gd name="adj" fmla="val 50000"/>
            </a:avLst>
          </a:prstGeom>
          <a:solidFill>
            <a:srgbClr val="3D8F5F"/>
          </a:solidFill>
          <a:ln/>
          <a:effectLst>
            <a:outerShdw sx="100000" sy="100000" kx="0" ky="0" algn="bl" rotWithShape="0" blurRad="76200" dist="25400" dir="5400000">
              <a:srgbClr val="9AAAB5">
                <a:alpha val="35000"/>
              </a:srgbClr>
            </a:outerShdw>
          </a:effectLst>
        </p:spPr>
      </p:sp>
      <p:sp>
        <p:nvSpPr>
          <p:cNvPr id="45" name="Text 43"/>
          <p:cNvSpPr txBox="1"/>
          <p:nvPr/>
        </p:nvSpPr>
        <p:spPr>
          <a:xfrm>
            <a:off x="4526280" y="5321808"/>
            <a:ext cx="1143000" cy="292608"/>
          </a:xfrm>
          <a:prstGeom prst="rect">
            <a:avLst/>
          </a:prstGeom>
          <a:noFill/>
          <a:ln/>
        </p:spPr>
        <p:txBody>
          <a:bodyPr wrap="square" lIns="0" tIns="0" rIns="0" bIns="0" rtlCol="0" anchor="ctr"/>
          <a:lstStyle/>
          <a:p>
            <a:pPr algn="ctr" indent="0" marL="0">
              <a:buNone/>
            </a:pPr>
            <a:r>
              <a:rPr lang="en-US" sz="850" b="1" dirty="0">
                <a:solidFill>
                  <a:srgbClr val="FFFFFF"/>
                </a:solidFill>
                <a:latin typeface="Poppins" pitchFamily="34" charset="0"/>
                <a:ea typeface="Poppins" pitchFamily="34" charset="-122"/>
                <a:cs typeface="Poppins" pitchFamily="34" charset="-120"/>
              </a:rPr>
              <a:t>ON TRACK</a:t>
            </a:r>
            <a:endParaRPr lang="en-US" sz="850" dirty="0"/>
          </a:p>
        </p:txBody>
      </p:sp>
      <p:sp>
        <p:nvSpPr>
          <p:cNvPr id="46" name="Text 44"/>
          <p:cNvSpPr txBox="1"/>
          <p:nvPr/>
        </p:nvSpPr>
        <p:spPr>
          <a:xfrm>
            <a:off x="5806440" y="5138928"/>
            <a:ext cx="2971800" cy="914400"/>
          </a:xfrm>
          <a:prstGeom prst="rect">
            <a:avLst/>
          </a:prstGeom>
          <a:noFill/>
          <a:ln/>
        </p:spPr>
        <p:txBody>
          <a:bodyPr wrap="square" lIns="0" tIns="0" rIns="0" bIns="0" rtlCol="0" anchor="t"/>
          <a:lstStyle/>
          <a:p>
            <a:pPr indent="0" marL="0">
              <a:buNone/>
            </a:pPr>
            <a:r>
              <a:rPr lang="en-US" sz="850" dirty="0">
                <a:solidFill>
                  <a:srgbClr val="3A4B57"/>
                </a:solidFill>
                <a:latin typeface="Poppins" pitchFamily="34" charset="0"/>
                <a:ea typeface="Poppins" pitchFamily="34" charset="-122"/>
                <a:cs typeface="Poppins" pitchFamily="34" charset="-120"/>
              </a:rPr>
              <a:t>Waiting on outcome.</a:t>
            </a:r>
            <a:endParaRPr lang="en-US" sz="850" dirty="0"/>
          </a:p>
        </p:txBody>
      </p:sp>
      <p:sp>
        <p:nvSpPr>
          <p:cNvPr id="47" name="Text 45"/>
          <p:cNvSpPr txBox="1"/>
          <p:nvPr/>
        </p:nvSpPr>
        <p:spPr>
          <a:xfrm>
            <a:off x="8915400" y="5138928"/>
            <a:ext cx="2606040" cy="914400"/>
          </a:xfrm>
          <a:prstGeom prst="rect">
            <a:avLst/>
          </a:prstGeom>
          <a:noFill/>
          <a:ln/>
        </p:spPr>
        <p:txBody>
          <a:bodyPr wrap="square" lIns="0" tIns="0" rIns="0" bIns="0" rtlCol="0" anchor="t"/>
          <a:lstStyle/>
          <a:p>
            <a:pPr indent="0" marL="0">
              <a:buNone/>
            </a:pPr>
            <a:r>
              <a:rPr lang="en-US" sz="800" dirty="0">
                <a:solidFill>
                  <a:srgbClr val="B4552D"/>
                </a:solidFill>
                <a:latin typeface="Poppins" pitchFamily="34" charset="0"/>
                <a:ea typeface="Poppins" pitchFamily="34" charset="-122"/>
                <a:cs typeface="Poppins" pitchFamily="34" charset="-120"/>
              </a:rPr>
              <a:t>N/A</a:t>
            </a:r>
            <a:endParaRPr lang="en-US" sz="800" dirty="0"/>
          </a:p>
        </p:txBody>
      </p:sp>
      <p:sp>
        <p:nvSpPr>
          <p:cNvPr id="48" name="Text 46"/>
          <p:cNvSpPr txBox="1"/>
          <p:nvPr/>
        </p:nvSpPr>
        <p:spPr>
          <a:xfrm>
            <a:off x="411480" y="6400800"/>
            <a:ext cx="7589520" cy="256032"/>
          </a:xfrm>
          <a:prstGeom prst="rect">
            <a:avLst/>
          </a:prstGeom>
          <a:noFill/>
          <a:ln/>
        </p:spPr>
        <p:txBody>
          <a:bodyPr wrap="square" lIns="0" tIns="0" rIns="0" bIns="0" rtlCol="0" anchor="ctr"/>
          <a:lstStyle/>
          <a:p>
            <a:pPr indent="0" marL="0">
              <a:buNone/>
            </a:pPr>
            <a:r>
              <a:rPr lang="en-US" sz="750" dirty="0">
                <a:solidFill>
                  <a:srgbClr val="8FA1AC"/>
                </a:solidFill>
                <a:latin typeface="Poppins" pitchFamily="34" charset="0"/>
                <a:ea typeface="Poppins" pitchFamily="34" charset="-122"/>
                <a:cs typeface="Poppins" pitchFamily="34" charset="-120"/>
              </a:rPr>
              <a:t>Current state = next action from the weekly meeting record · roadblock = flagged risks · Operating Model Update not yet a tracked project — add it to the record to appear here.</a:t>
            </a:r>
            <a:endParaRPr lang="en-US" sz="7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Poppi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Poppi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2026-10-12T00:31:24Z</dcterms:created>
  <dcterms:modified xsi:type="dcterms:W3CDTF">2026-10-12T00:31:24Z</dcterms:modified>
</cp:coreProperties>
</file>