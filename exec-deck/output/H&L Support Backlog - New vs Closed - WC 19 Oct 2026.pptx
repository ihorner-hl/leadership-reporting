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14 Sep</c:v>
                  </c:pt>
                  <c:pt idx="1">
                    <c:v>21 Sep</c:v>
                  </c:pt>
                  <c:pt idx="2">
                    <c:v>28 Sep</c:v>
                  </c:pt>
                  <c:pt idx="3">
                    <c:v>5 Oct</c:v>
                  </c:pt>
                  <c:pt idx="4">
                    <c:v>12 Oct</c:v>
                  </c:pt>
                  <c:pt idx="5">
                    <c:v>19 Oct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492</c:v>
                </c:pt>
                <c:pt idx="1">
                  <c:v>490</c:v>
                </c:pt>
                <c:pt idx="2">
                  <c:v>450</c:v>
                </c:pt>
                <c:pt idx="3">
                  <c:v>417</c:v>
                </c:pt>
                <c:pt idx="4">
                  <c:v>561</c:v>
                </c:pt>
                <c:pt idx="5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1C57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14 Sep</c:v>
                  </c:pt>
                  <c:pt idx="1">
                    <c:v>21 Sep</c:v>
                  </c:pt>
                  <c:pt idx="2">
                    <c:v>28 Sep</c:v>
                  </c:pt>
                  <c:pt idx="3">
                    <c:v>5 Oct</c:v>
                  </c:pt>
                  <c:pt idx="4">
                    <c:v>12 Oct</c:v>
                  </c:pt>
                  <c:pt idx="5">
                    <c:v>19 Oct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607</c:v>
                </c:pt>
                <c:pt idx="1">
                  <c:v>419</c:v>
                </c:pt>
                <c:pt idx="2">
                  <c:v>431</c:v>
                </c:pt>
                <c:pt idx="3">
                  <c:v>426</c:v>
                </c:pt>
                <c:pt idx="4">
                  <c:v>608</c:v>
                </c:pt>
                <c:pt idx="5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-5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B4552D"/>
            </a:solidFill>
            <a:ln w="28575" cap="flat">
              <a:solidFill>
                <a:srgbClr val="B455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4552D"/>
              </a:solidFill>
              <a:ln w="9525" cap="flat">
                <a:solidFill>
                  <a:srgbClr val="B455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14 Sep</c:v>
                  </c:pt>
                  <c:pt idx="1">
                    <c:v>21 Sep</c:v>
                  </c:pt>
                  <c:pt idx="2">
                    <c:v>28 Sep</c:v>
                  </c:pt>
                  <c:pt idx="3">
                    <c:v>5 Oct</c:v>
                  </c:pt>
                  <c:pt idx="4">
                    <c:v>12 Oct</c:v>
                  </c:pt>
                  <c:pt idx="5">
                    <c:v>19 Oct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-115</c:v>
                </c:pt>
                <c:pt idx="1">
                  <c:v>71</c:v>
                </c:pt>
                <c:pt idx="2">
                  <c:v>19</c:v>
                </c:pt>
                <c:pt idx="3">
                  <c:v>-9</c:v>
                </c:pt>
                <c:pt idx="4">
                  <c:v>-47</c:v>
                </c:pt>
                <c:pt idx="5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8FA1AC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8FA1AC"/>
                    </a:solidFill>
                    <a:latin typeface="Arial"/>
                  </a:rPr>
                  <a:t>Tickets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valAx>
        <c:axId val="2094734553"/>
        <c:scaling>
          <c:orientation val="minMax"/>
          <c:max val="300"/>
          <c:min val="-300"/>
        </c:scaling>
        <c:delete val="0"/>
        <c:axPos val="r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B4552D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B4552D"/>
                    </a:solidFill>
                    <a:latin typeface="Arial"/>
                  </a:rPr>
                  <a:t>Net movement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B4552D"/>
                </a:solidFill>
                <a:latin typeface="Poppins"/>
              </a:defRPr>
            </a:pPr>
            <a:endParaRPr lang="en-US"/>
          </a:p>
        </c:txPr>
        <c:crossAx val="2094734555"/>
        <c:crosses val="max"/>
        <c:crossBetween val="between"/>
        <c:majorUnit val="150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at Sun 25 Oct · 588 a week ago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open tickets · median created 24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FIRST RESPONSE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Hours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12.1h · 55 of 396 new tickets have an email reply so far · last week 46.8h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2.1 days · all 597 closed this week · lifted by old tickets cleared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548640" y="2807208"/>
          <a:ext cx="6309360" cy="30449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Text 29"/>
          <p:cNvSpPr txBox="1"/>
          <p:nvPr/>
        </p:nvSpPr>
        <p:spPr>
          <a:xfrm>
            <a:off x="612648" y="5888736"/>
            <a:ext cx="6181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pipeline only · weeks run Mon–Sun, Sydney time · 19 Oct is read to Sunday evening · line = new − closed, right axis: below zero means the backlog shrank. Starts 14 Sep, the first full week after the migration week, whose 1,249 closes were cleanup.</a:t>
            </a:r>
            <a:endParaRPr lang="en-US" sz="620" dirty="0"/>
          </a:p>
        </p:txBody>
      </p:sp>
      <p:sp>
        <p:nvSpPr>
          <p:cNvPr id="33" name="Shape 30"/>
          <p:cNvSpPr/>
          <p:nvPr/>
        </p:nvSpPr>
        <p:spPr>
          <a:xfrm>
            <a:off x="7178040" y="2395728"/>
            <a:ext cx="4599432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379208" y="2816352"/>
            <a:ext cx="41879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fall since cutover, after −9 and −47.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of that fall is cleanup.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 evening. Clearing old tickets is also why the average close is 14.0 days while the median is 2.1.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14.7h on average against 46.8h last week — but only tickets answered by email carry a response time, 14% of new tickets,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 time = HubSpot time to first agent email reply; phone and AI-agent tickets have none. Close time = created to closed.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178040" y="5303520"/>
            <a:ext cx="4599432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7379208" y="5394960"/>
            <a:ext cx="4197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   </a:t>
            </a:r>
            <a:pPr indent="0" marL="0">
              <a:buNone/>
            </a:pPr>
            <a:r>
              <a:rPr lang="en-US" sz="6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two pending states are counted in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7379208" y="5632704"/>
            <a:ext cx="1001268" cy="42062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7470648" y="5660136"/>
            <a:ext cx="81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406640" y="5879592"/>
            <a:ext cx="9464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20" dirty="0"/>
          </a:p>
        </p:txBody>
      </p:sp>
      <p:sp>
        <p:nvSpPr>
          <p:cNvPr id="41" name="Shape 38"/>
          <p:cNvSpPr/>
          <p:nvPr/>
        </p:nvSpPr>
        <p:spPr>
          <a:xfrm>
            <a:off x="8444484" y="5632704"/>
            <a:ext cx="1001268" cy="42062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535924" y="5660136"/>
            <a:ext cx="81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471916" y="5879592"/>
            <a:ext cx="9464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620" dirty="0"/>
          </a:p>
        </p:txBody>
      </p:sp>
      <p:sp>
        <p:nvSpPr>
          <p:cNvPr id="44" name="Shape 41"/>
          <p:cNvSpPr/>
          <p:nvPr/>
        </p:nvSpPr>
        <p:spPr>
          <a:xfrm>
            <a:off x="9509760" y="5632704"/>
            <a:ext cx="1001268" cy="420624"/>
          </a:xfrm>
          <a:prstGeom prst="rect">
            <a:avLst/>
          </a:prstGeom>
          <a:solidFill>
            <a:srgbClr val="F7EEDF"/>
          </a:solidFill>
          <a:ln/>
        </p:spPr>
      </p:sp>
      <p:sp>
        <p:nvSpPr>
          <p:cNvPr id="45" name="Shape 42"/>
          <p:cNvSpPr/>
          <p:nvPr/>
        </p:nvSpPr>
        <p:spPr>
          <a:xfrm>
            <a:off x="9509760" y="5632704"/>
            <a:ext cx="32004" cy="4206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601200" y="5660136"/>
            <a:ext cx="81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537192" y="5879592"/>
            <a:ext cx="9464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40" dirty="0"/>
          </a:p>
        </p:txBody>
      </p:sp>
      <p:sp>
        <p:nvSpPr>
          <p:cNvPr id="48" name="Shape 45"/>
          <p:cNvSpPr/>
          <p:nvPr/>
        </p:nvSpPr>
        <p:spPr>
          <a:xfrm>
            <a:off x="10575036" y="5632704"/>
            <a:ext cx="1001268" cy="420624"/>
          </a:xfrm>
          <a:prstGeom prst="rect">
            <a:avLst/>
          </a:prstGeom>
          <a:solidFill>
            <a:srgbClr val="F7EEDF"/>
          </a:solidFill>
          <a:ln/>
        </p:spPr>
      </p:sp>
      <p:sp>
        <p:nvSpPr>
          <p:cNvPr id="49" name="Shape 46"/>
          <p:cNvSpPr/>
          <p:nvPr/>
        </p:nvSpPr>
        <p:spPr>
          <a:xfrm>
            <a:off x="10575036" y="5632704"/>
            <a:ext cx="32004" cy="4206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0666476" y="5660136"/>
            <a:ext cx="81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10602468" y="5879592"/>
            <a:ext cx="9464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40" dirty="0"/>
          </a:p>
        </p:txBody>
      </p:sp>
      <p:sp>
        <p:nvSpPr>
          <p:cNvPr id="52" name="Text 49"/>
          <p:cNvSpPr txBox="1"/>
          <p:nvPr/>
        </p:nvSpPr>
        <p:spPr>
          <a:xfrm>
            <a:off x="7379208" y="6099048"/>
            <a:ext cx="4197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 and Pending External are inside the 389 — 49 tickets, 13% of it. New is 280, 72% of everything open.</a:t>
            </a:r>
            <a:endParaRPr lang="en-US" sz="640" dirty="0"/>
          </a:p>
        </p:txBody>
      </p:sp>
      <p:sp>
        <p:nvSpPr>
          <p:cNvPr id="53" name="Shape 50"/>
          <p:cNvSpPr/>
          <p:nvPr/>
        </p:nvSpPr>
        <p:spPr>
          <a:xfrm>
            <a:off x="7958938" y="6510528"/>
            <a:ext cx="381853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958938" y="6510528"/>
            <a:ext cx="3818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 (live, read 25 Oct)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2026-10-25T12:27:45Z</dcterms:created>
  <dcterms:modified xsi:type="dcterms:W3CDTF">2026-10-25T12:27:45Z</dcterms:modified>
</cp:coreProperties>
</file>