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1B8D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4B57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27 Apr</c:v>
                  </c:pt>
                  <c:pt idx="1">
                    <c:v>4 May</c:v>
                  </c:pt>
                  <c:pt idx="2">
                    <c:v>11 May</c:v>
                  </c:pt>
                  <c:pt idx="3">
                    <c:v>18 May</c:v>
                  </c:pt>
                  <c:pt idx="4">
                    <c:v>25 May</c:v>
                  </c:pt>
                  <c:pt idx="5">
                    <c:v>1 Jun</c:v>
                  </c:pt>
                  <c:pt idx="6">
                    <c:v>8 Jun</c:v>
                  </c:pt>
                  <c:pt idx="7">
                    <c:v>15 Jun</c:v>
                  </c:pt>
                  <c:pt idx="8">
                    <c:v>22 Jun</c:v>
                  </c:pt>
                  <c:pt idx="9">
                    <c:v>29 Jun</c:v>
                  </c:pt>
                  <c:pt idx="10">
                    <c:v>6 Jul</c:v>
                  </c:pt>
                  <c:pt idx="11">
                    <c:v>13 Jul</c:v>
                  </c:pt>
                  <c:pt idx="12">
                    <c:v>20 Jul</c:v>
                  </c:pt>
                  <c:pt idx="13">
                    <c:v>27 Jul</c:v>
                  </c:pt>
                  <c:pt idx="14">
                    <c:v>3 Aug</c:v>
                  </c:pt>
                  <c:pt idx="15">
                    <c:v>10 Aug</c:v>
                  </c:pt>
                  <c:pt idx="16">
                    <c:v>17 Aug</c:v>
                  </c:pt>
                  <c:pt idx="17">
                    <c:v>24 Aug</c:v>
                  </c:pt>
                  <c:pt idx="18">
                    <c:v>31 Aug</c:v>
                  </c:pt>
                  <c:pt idx="19">
                    <c:v>14 Sep</c:v>
                  </c:pt>
                  <c:pt idx="20">
                    <c:v>21 Sep</c:v>
                  </c:pt>
                  <c:pt idx="21">
                    <c:v>28 Sep</c:v>
                  </c:pt>
                  <c:pt idx="22">
                    <c:v>5 Oct</c:v>
                  </c:pt>
                  <c:pt idx="23">
                    <c:v>12 Oct</c:v>
                  </c:pt>
                  <c:pt idx="24">
                    <c:v>19 Oct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329</c:v>
                </c:pt>
                <c:pt idx="1">
                  <c:v>332</c:v>
                </c:pt>
                <c:pt idx="2">
                  <c:v>391</c:v>
                </c:pt>
                <c:pt idx="3">
                  <c:v>362</c:v>
                </c:pt>
                <c:pt idx="4">
                  <c:v>322</c:v>
                </c:pt>
                <c:pt idx="5">
                  <c:v>325</c:v>
                </c:pt>
                <c:pt idx="6">
                  <c:v>355</c:v>
                </c:pt>
                <c:pt idx="7">
                  <c:v>384</c:v>
                </c:pt>
                <c:pt idx="8">
                  <c:v>324</c:v>
                </c:pt>
                <c:pt idx="9">
                  <c:v>372</c:v>
                </c:pt>
                <c:pt idx="10">
                  <c:v>331</c:v>
                </c:pt>
                <c:pt idx="11">
                  <c:v>333</c:v>
                </c:pt>
                <c:pt idx="12">
                  <c:v>306</c:v>
                </c:pt>
                <c:pt idx="13">
                  <c:v>425</c:v>
                </c:pt>
                <c:pt idx="14">
                  <c:v>432</c:v>
                </c:pt>
                <c:pt idx="15">
                  <c:v>644</c:v>
                </c:pt>
                <c:pt idx="16">
                  <c:v>466</c:v>
                </c:pt>
                <c:pt idx="17">
                  <c:v>412</c:v>
                </c:pt>
                <c:pt idx="18">
                  <c:v>451</c:v>
                </c:pt>
                <c:pt idx="19">
                  <c:v>492</c:v>
                </c:pt>
                <c:pt idx="20">
                  <c:v>490</c:v>
                </c:pt>
                <c:pt idx="21">
                  <c:v>450</c:v>
                </c:pt>
                <c:pt idx="22">
                  <c:v>417</c:v>
                </c:pt>
                <c:pt idx="23">
                  <c:v>561</c:v>
                </c:pt>
                <c:pt idx="24">
                  <c:v>396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4B57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27 Apr</c:v>
                  </c:pt>
                  <c:pt idx="1">
                    <c:v>4 May</c:v>
                  </c:pt>
                  <c:pt idx="2">
                    <c:v>11 May</c:v>
                  </c:pt>
                  <c:pt idx="3">
                    <c:v>18 May</c:v>
                  </c:pt>
                  <c:pt idx="4">
                    <c:v>25 May</c:v>
                  </c:pt>
                  <c:pt idx="5">
                    <c:v>1 Jun</c:v>
                  </c:pt>
                  <c:pt idx="6">
                    <c:v>8 Jun</c:v>
                  </c:pt>
                  <c:pt idx="7">
                    <c:v>15 Jun</c:v>
                  </c:pt>
                  <c:pt idx="8">
                    <c:v>22 Jun</c:v>
                  </c:pt>
                  <c:pt idx="9">
                    <c:v>29 Jun</c:v>
                  </c:pt>
                  <c:pt idx="10">
                    <c:v>6 Jul</c:v>
                  </c:pt>
                  <c:pt idx="11">
                    <c:v>13 Jul</c:v>
                  </c:pt>
                  <c:pt idx="12">
                    <c:v>20 Jul</c:v>
                  </c:pt>
                  <c:pt idx="13">
                    <c:v>27 Jul</c:v>
                  </c:pt>
                  <c:pt idx="14">
                    <c:v>3 Aug</c:v>
                  </c:pt>
                  <c:pt idx="15">
                    <c:v>10 Aug</c:v>
                  </c:pt>
                  <c:pt idx="16">
                    <c:v>17 Aug</c:v>
                  </c:pt>
                  <c:pt idx="17">
                    <c:v>24 Aug</c:v>
                  </c:pt>
                  <c:pt idx="18">
                    <c:v>31 Aug</c:v>
                  </c:pt>
                  <c:pt idx="19">
                    <c:v>14 Sep</c:v>
                  </c:pt>
                  <c:pt idx="20">
                    <c:v>21 Sep</c:v>
                  </c:pt>
                  <c:pt idx="21">
                    <c:v>28 Sep</c:v>
                  </c:pt>
                  <c:pt idx="22">
                    <c:v>5 Oct</c:v>
                  </c:pt>
                  <c:pt idx="23">
                    <c:v>12 Oct</c:v>
                  </c:pt>
                  <c:pt idx="24">
                    <c:v>19 Oct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281</c:v>
                </c:pt>
                <c:pt idx="1">
                  <c:v>298</c:v>
                </c:pt>
                <c:pt idx="2">
                  <c:v>319</c:v>
                </c:pt>
                <c:pt idx="3">
                  <c:v>287</c:v>
                </c:pt>
                <c:pt idx="4">
                  <c:v>406</c:v>
                </c:pt>
                <c:pt idx="5">
                  <c:v>292</c:v>
                </c:pt>
                <c:pt idx="6">
                  <c:v>371</c:v>
                </c:pt>
                <c:pt idx="7">
                  <c:v>402</c:v>
                </c:pt>
                <c:pt idx="8">
                  <c:v>266</c:v>
                </c:pt>
                <c:pt idx="9">
                  <c:v>315</c:v>
                </c:pt>
                <c:pt idx="10">
                  <c:v>487</c:v>
                </c:pt>
                <c:pt idx="11">
                  <c:v>524</c:v>
                </c:pt>
                <c:pt idx="12">
                  <c:v>329</c:v>
                </c:pt>
                <c:pt idx="13">
                  <c:v>359</c:v>
                </c:pt>
                <c:pt idx="14">
                  <c:v>292</c:v>
                </c:pt>
                <c:pt idx="15">
                  <c:v>465</c:v>
                </c:pt>
                <c:pt idx="16">
                  <c:v>454</c:v>
                </c:pt>
                <c:pt idx="17">
                  <c:v>343</c:v>
                </c:pt>
                <c:pt idx="18">
                  <c:v>347</c:v>
                </c:pt>
                <c:pt idx="19">
                  <c:v>607</c:v>
                </c:pt>
                <c:pt idx="20">
                  <c:v>419</c:v>
                </c:pt>
                <c:pt idx="21">
                  <c:v>431</c:v>
                </c:pt>
                <c:pt idx="22">
                  <c:v>426</c:v>
                </c:pt>
                <c:pt idx="23">
                  <c:v>608</c:v>
                </c:pt>
                <c:pt idx="24">
                  <c:v>597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A4B57"/>
                  </a:solidFill>
                  <a:latin typeface="Poppi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Net movement (new − closed)</c:v>
                </c:pt>
              </c:strCache>
            </c:strRef>
          </c:tx>
          <c:spPr>
            <a:solidFill>
              <a:srgbClr val="C2562A"/>
            </a:solidFill>
            <a:ln w="31750" cap="flat">
              <a:solidFill>
                <a:srgbClr val="C256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4B57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2562A"/>
              </a:solidFill>
              <a:ln w="9525" cap="flat">
                <a:solidFill>
                  <a:srgbClr val="C256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27 Apr</c:v>
                  </c:pt>
                  <c:pt idx="1">
                    <c:v>4 May</c:v>
                  </c:pt>
                  <c:pt idx="2">
                    <c:v>11 May</c:v>
                  </c:pt>
                  <c:pt idx="3">
                    <c:v>18 May</c:v>
                  </c:pt>
                  <c:pt idx="4">
                    <c:v>25 May</c:v>
                  </c:pt>
                  <c:pt idx="5">
                    <c:v>1 Jun</c:v>
                  </c:pt>
                  <c:pt idx="6">
                    <c:v>8 Jun</c:v>
                  </c:pt>
                  <c:pt idx="7">
                    <c:v>15 Jun</c:v>
                  </c:pt>
                  <c:pt idx="8">
                    <c:v>22 Jun</c:v>
                  </c:pt>
                  <c:pt idx="9">
                    <c:v>29 Jun</c:v>
                  </c:pt>
                  <c:pt idx="10">
                    <c:v>6 Jul</c:v>
                  </c:pt>
                  <c:pt idx="11">
                    <c:v>13 Jul</c:v>
                  </c:pt>
                  <c:pt idx="12">
                    <c:v>20 Jul</c:v>
                  </c:pt>
                  <c:pt idx="13">
                    <c:v>27 Jul</c:v>
                  </c:pt>
                  <c:pt idx="14">
                    <c:v>3 Aug</c:v>
                  </c:pt>
                  <c:pt idx="15">
                    <c:v>10 Aug</c:v>
                  </c:pt>
                  <c:pt idx="16">
                    <c:v>17 Aug</c:v>
                  </c:pt>
                  <c:pt idx="17">
                    <c:v>24 Aug</c:v>
                  </c:pt>
                  <c:pt idx="18">
                    <c:v>31 Aug</c:v>
                  </c:pt>
                  <c:pt idx="19">
                    <c:v>14 Sep</c:v>
                  </c:pt>
                  <c:pt idx="20">
                    <c:v>21 Sep</c:v>
                  </c:pt>
                  <c:pt idx="21">
                    <c:v>28 Sep</c:v>
                  </c:pt>
                  <c:pt idx="22">
                    <c:v>5 Oct</c:v>
                  </c:pt>
                  <c:pt idx="23">
                    <c:v>12 Oct</c:v>
                  </c:pt>
                  <c:pt idx="24">
                    <c:v>19 Oct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48</c:v>
                </c:pt>
                <c:pt idx="1">
                  <c:v>34</c:v>
                </c:pt>
                <c:pt idx="2">
                  <c:v>72</c:v>
                </c:pt>
                <c:pt idx="3">
                  <c:v>75</c:v>
                </c:pt>
                <c:pt idx="4">
                  <c:v>-84</c:v>
                </c:pt>
                <c:pt idx="5">
                  <c:v>33</c:v>
                </c:pt>
                <c:pt idx="6">
                  <c:v>-16</c:v>
                </c:pt>
                <c:pt idx="7">
                  <c:v>-18</c:v>
                </c:pt>
                <c:pt idx="8">
                  <c:v>58</c:v>
                </c:pt>
                <c:pt idx="9">
                  <c:v>57</c:v>
                </c:pt>
                <c:pt idx="10">
                  <c:v>-156</c:v>
                </c:pt>
                <c:pt idx="11">
                  <c:v>-191</c:v>
                </c:pt>
                <c:pt idx="12">
                  <c:v>-23</c:v>
                </c:pt>
                <c:pt idx="13">
                  <c:v>66</c:v>
                </c:pt>
                <c:pt idx="14">
                  <c:v>140</c:v>
                </c:pt>
                <c:pt idx="15">
                  <c:v>179</c:v>
                </c:pt>
                <c:pt idx="16">
                  <c:v>12</c:v>
                </c:pt>
                <c:pt idx="17">
                  <c:v>69</c:v>
                </c:pt>
                <c:pt idx="18">
                  <c:v>104</c:v>
                </c:pt>
                <c:pt idx="19">
                  <c:v>-115</c:v>
                </c:pt>
                <c:pt idx="20">
                  <c:v>71</c:v>
                </c:pt>
                <c:pt idx="21">
                  <c:v>19</c:v>
                </c:pt>
                <c:pt idx="22">
                  <c:v>-9</c:v>
                </c:pt>
                <c:pt idx="23">
                  <c:v>-47</c:v>
                </c:pt>
                <c:pt idx="24">
                  <c:v>-201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A4B57"/>
                  </a:solidFill>
                  <a:latin typeface="Poppi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800"/>
          <c:min val="-300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3A4B57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Backlog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·  DID WE KEEP THEM?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BACKLOG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389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588 last week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21254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85846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85846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 : EMAIL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867558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2.2 : 1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885846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3.2 : 1 last week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31029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5621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95621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 TICKET AGE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177333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Days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from 27 days last week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40803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05395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05395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AVG FIRST RESPONSE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87107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14.7 Hrs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505395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46.8 hrs last week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650578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15170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815170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AVG TIME TO CLOSE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796882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14.0 Days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9815170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from 8.6 days last week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480" y="2240280"/>
            <a:ext cx="65836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12648" y="23500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vs CLOSED — WEEKLY, WITH NET MOVEMENT</a:t>
            </a:r>
            <a:endParaRPr lang="en-US" sz="12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48640" y="2624328"/>
          <a:ext cx="6309360" cy="3364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 txBox="1"/>
          <p:nvPr/>
        </p:nvSpPr>
        <p:spPr>
          <a:xfrm>
            <a:off x="612648" y="6025896"/>
            <a:ext cx="618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pipeline · Mon–Sun weeks, Sydney time · before 8 Sep = history migrated from Creatio · 7 Sep migration week (1,249 cleanup closes) left out · net = new − closed, below zero = backlog shrank</a:t>
            </a:r>
            <a:endParaRPr lang="en-US" sz="630" dirty="0"/>
          </a:p>
        </p:txBody>
      </p:sp>
      <p:sp>
        <p:nvSpPr>
          <p:cNvPr id="42" name="Shape 39"/>
          <p:cNvSpPr/>
          <p:nvPr/>
        </p:nvSpPr>
        <p:spPr>
          <a:xfrm>
            <a:off x="7178040" y="2240280"/>
            <a:ext cx="459943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7379208" y="233172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389 OPEN SIT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379208" y="2624328"/>
            <a:ext cx="3002758" cy="10972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45" name="Shape 42"/>
          <p:cNvSpPr/>
          <p:nvPr/>
        </p:nvSpPr>
        <p:spPr>
          <a:xfrm>
            <a:off x="10400254" y="2624328"/>
            <a:ext cx="629079" cy="109728"/>
          </a:xfrm>
          <a:prstGeom prst="rect">
            <a:avLst/>
          </a:prstGeom>
          <a:solidFill>
            <a:srgbClr val="5B7C8A"/>
          </a:solidFill>
          <a:ln/>
        </p:spPr>
      </p:sp>
      <p:sp>
        <p:nvSpPr>
          <p:cNvPr id="46" name="Shape 43"/>
          <p:cNvSpPr/>
          <p:nvPr/>
        </p:nvSpPr>
        <p:spPr>
          <a:xfrm>
            <a:off x="11047621" y="2624328"/>
            <a:ext cx="89606" cy="1097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7" name="Shape 44"/>
          <p:cNvSpPr/>
          <p:nvPr/>
        </p:nvSpPr>
        <p:spPr>
          <a:xfrm>
            <a:off x="11155515" y="2624328"/>
            <a:ext cx="402501" cy="109728"/>
          </a:xfrm>
          <a:prstGeom prst="rect">
            <a:avLst/>
          </a:prstGeom>
          <a:solidFill>
            <a:srgbClr val="C2562A"/>
          </a:solidFill>
          <a:ln/>
        </p:spPr>
      </p:sp>
      <p:sp>
        <p:nvSpPr>
          <p:cNvPr id="48" name="Shape 45"/>
          <p:cNvSpPr/>
          <p:nvPr/>
        </p:nvSpPr>
        <p:spPr>
          <a:xfrm>
            <a:off x="7379208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49" name="Shape 46"/>
          <p:cNvSpPr/>
          <p:nvPr/>
        </p:nvSpPr>
        <p:spPr>
          <a:xfrm>
            <a:off x="7379208" y="2843784"/>
            <a:ext cx="994410" cy="45720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379208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280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7406640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580" dirty="0"/>
          </a:p>
        </p:txBody>
      </p:sp>
      <p:sp>
        <p:nvSpPr>
          <p:cNvPr id="52" name="Shape 49"/>
          <p:cNvSpPr/>
          <p:nvPr/>
        </p:nvSpPr>
        <p:spPr>
          <a:xfrm>
            <a:off x="8446770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3" name="Shape 50"/>
          <p:cNvSpPr/>
          <p:nvPr/>
        </p:nvSpPr>
        <p:spPr>
          <a:xfrm>
            <a:off x="8446770" y="2843784"/>
            <a:ext cx="994410" cy="45720"/>
          </a:xfrm>
          <a:prstGeom prst="rect">
            <a:avLst/>
          </a:prstGeom>
          <a:solidFill>
            <a:srgbClr val="5B7C8A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446770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8474202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15%</a:t>
            </a:r>
            <a:endParaRPr lang="en-US" sz="580" dirty="0"/>
          </a:p>
        </p:txBody>
      </p:sp>
      <p:sp>
        <p:nvSpPr>
          <p:cNvPr id="56" name="Shape 53"/>
          <p:cNvSpPr/>
          <p:nvPr/>
        </p:nvSpPr>
        <p:spPr>
          <a:xfrm>
            <a:off x="9514332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7" name="Shape 54"/>
          <p:cNvSpPr/>
          <p:nvPr/>
        </p:nvSpPr>
        <p:spPr>
          <a:xfrm>
            <a:off x="9514332" y="2843784"/>
            <a:ext cx="994410" cy="4572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9514332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9541764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 INTERNAL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3%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10581894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61" name="Shape 58"/>
          <p:cNvSpPr/>
          <p:nvPr/>
        </p:nvSpPr>
        <p:spPr>
          <a:xfrm>
            <a:off x="10581894" y="2843784"/>
            <a:ext cx="994410" cy="45720"/>
          </a:xfrm>
          <a:prstGeom prst="rect">
            <a:avLst/>
          </a:prstGeom>
          <a:solidFill>
            <a:srgbClr val="C2562A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10581894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10609326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 EXTERNAL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580" dirty="0"/>
          </a:p>
        </p:txBody>
      </p:sp>
      <p:sp>
        <p:nvSpPr>
          <p:cNvPr id="64" name="Shape 61"/>
          <p:cNvSpPr/>
          <p:nvPr/>
        </p:nvSpPr>
        <p:spPr>
          <a:xfrm>
            <a:off x="7178040" y="3776472"/>
            <a:ext cx="4599432" cy="2578608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5" name="Text 62"/>
          <p:cNvSpPr txBox="1"/>
          <p:nvPr/>
        </p:nvSpPr>
        <p:spPr>
          <a:xfrm>
            <a:off x="7379208" y="388620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7379208" y="4197096"/>
            <a:ext cx="418795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8D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has beaten new three weeks running.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597 closed against 396 new this week — net −201, the biggest weekly fall in six months. Open is 389, down from 588.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256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Clearing old tickets pushed the averages up.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 old voice tickets were bulk-closed on Monday, so average time to close rose from 8.6 to 14.0 days. What's left open is older too: median age 27 → 31 days.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response looks faster, on a thin base.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14.7 hrs against 46.8 hrs last week — but only email-answered tickets carry a response time (14% of new tickets), and ones still waiting aren't counted yet.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 : email = new tickets by Source, phone vs email. First response = time to first agent email reply; phone and AI-agent tickets have none.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7958938" y="6510528"/>
            <a:ext cx="3818534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7958938" y="6510528"/>
            <a:ext cx="3818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Support pipeline only (live, read 25 Oct)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2026-10-25T13:06:40Z</dcterms:created>
  <dcterms:modified xsi:type="dcterms:W3CDTF">2026-10-25T13:06:40Z</dcterms:modified>
</cp:coreProperties>
</file>