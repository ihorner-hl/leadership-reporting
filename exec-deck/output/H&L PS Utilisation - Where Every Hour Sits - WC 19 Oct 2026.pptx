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&amp; Delivery Hours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270433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1106424"/>
            <a:ext cx="292608" cy="41148"/>
          </a:xfrm>
          <a:prstGeom prst="rect">
            <a:avLst/>
          </a:prstGeom>
          <a:solidFill>
            <a:srgbClr val="17B3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" y="1170432"/>
            <a:ext cx="2430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" y="1371600"/>
            <a:ext cx="2430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10.8%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1719072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3.7% · utilised ÷ available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3298698" y="987552"/>
            <a:ext cx="270433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63290" y="1106424"/>
            <a:ext cx="292608" cy="41148"/>
          </a:xfrm>
          <a:prstGeom prst="rect">
            <a:avLst/>
          </a:prstGeom>
          <a:solidFill>
            <a:srgbClr val="17B3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63290" y="1170432"/>
            <a:ext cx="2430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UTILISATION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45002" y="1371600"/>
            <a:ext cx="2430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10.8%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463290" y="1719072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50% · this week 3.7%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185916" y="987552"/>
            <a:ext cx="270433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0508" y="1106424"/>
            <a:ext cx="292608" cy="41148"/>
          </a:xfrm>
          <a:prstGeom prst="rect">
            <a:avLst/>
          </a:prstGeom>
          <a:solidFill>
            <a:srgbClr val="17B3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0508" y="1170432"/>
            <a:ext cx="2430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CHARGED RATE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32220" y="1371600"/>
            <a:ext cx="2430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350508" y="1719072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chargeable ÷ billable · flag new this week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9073134" y="987552"/>
            <a:ext cx="270433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37726" y="1106424"/>
            <a:ext cx="292608" cy="41148"/>
          </a:xfrm>
          <a:prstGeom prst="rect">
            <a:avLst/>
          </a:prstGeom>
          <a:solidFill>
            <a:srgbClr val="17B3A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37726" y="1170432"/>
            <a:ext cx="2430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CHARGED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219438" y="1371600"/>
            <a:ext cx="2430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 Hrs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7726" y="1719072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non-chargeable · reason not captured yet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411480" y="2103120"/>
            <a:ext cx="1136599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A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9496" y="2103120"/>
            <a:ext cx="9628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PS time   </a:t>
            </a:r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hour, logged in HubSpot · available = PS staff × 7.6h a day, less leave · hours by ticket create date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085832" y="210312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115.1h of 1,064h available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2523744"/>
            <a:ext cx="850163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A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9496" y="2523744"/>
            <a:ext cx="6764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Utilised   </a:t>
            </a:r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productive PS work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221474" y="25237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115.1h · 10.8%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2944368"/>
            <a:ext cx="563727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A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9496" y="2944368"/>
            <a:ext cx="3899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  </a:t>
            </a:r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 client or partner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357116" y="29443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115.1h · 10.8%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3364992"/>
            <a:ext cx="2772918" cy="1307592"/>
          </a:xfrm>
          <a:prstGeom prst="roundRect">
            <a:avLst>
              <a:gd name="adj" fmla="val 4196"/>
            </a:avLst>
          </a:prstGeom>
          <a:solidFill>
            <a:srgbClr val="15233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39496" y="34838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7B3A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39496" y="34838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539496" y="3767328"/>
            <a:ext cx="2516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Chargeable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39496" y="4005072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9D3E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is invoiced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39496" y="4169664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35.0h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539496" y="4462272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3E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3.5h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75838" y="3364992"/>
            <a:ext cx="2772918" cy="1307592"/>
          </a:xfrm>
          <a:prstGeom prst="roundRect">
            <a:avLst>
              <a:gd name="adj" fmla="val 4196"/>
            </a:avLst>
          </a:prstGeom>
          <a:solidFill>
            <a:srgbClr val="2B4170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403854" y="34838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403854" y="34838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3403854" y="3767328"/>
            <a:ext cx="2516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Non-chargeable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3403854" y="4005072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9D3E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Logged, not invoiced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3403854" y="4169664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3403854" y="4462272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3E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1.0h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1480" y="4764024"/>
            <a:ext cx="5637276" cy="384048"/>
          </a:xfrm>
          <a:prstGeom prst="roundRect">
            <a:avLst>
              <a:gd name="adj" fmla="val 11905"/>
            </a:avLst>
          </a:prstGeom>
          <a:solidFill>
            <a:srgbClr val="F7EEDF"/>
          </a:solidFill>
          <a:ln w="9525">
            <a:solidFill>
              <a:srgbClr val="C88A2E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539496" y="4764024"/>
            <a:ext cx="3442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yet flagged   </a:t>
            </a:r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pre-dates Is Chargeable, or not flagged yet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3899916" y="476402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78.1h · 68% of billable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40196" y="2944368"/>
            <a:ext cx="2772918" cy="2203704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9525">
            <a:solidFill>
              <a:srgbClr val="E2EA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40196" y="2944368"/>
            <a:ext cx="2772918" cy="2203704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268212" y="306324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9F2E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68212" y="3063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0E8A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INVESTMENT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6268212" y="3346704"/>
            <a:ext cx="2516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Non-billable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268212" y="3584448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Approved, no single client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6268212" y="3749040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0.0h</a:t>
            </a:r>
            <a:endParaRPr lang="en-US" sz="2000" dirty="0"/>
          </a:p>
        </p:txBody>
      </p:sp>
      <p:sp>
        <p:nvSpPr>
          <p:cNvPr id="66" name="Text 64"/>
          <p:cNvSpPr txBox="1"/>
          <p:nvPr/>
        </p:nvSpPr>
        <p:spPr>
          <a:xfrm>
            <a:off x="6268212" y="4041648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Non-billable records per person, per quarter not set up yet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004554" y="2523744"/>
            <a:ext cx="2772918" cy="2624328"/>
          </a:xfrm>
          <a:prstGeom prst="roundRect">
            <a:avLst>
              <a:gd name="adj" fmla="val 2091"/>
            </a:avLst>
          </a:prstGeom>
          <a:solidFill>
            <a:srgbClr val="DCE3EC"/>
          </a:solidFill>
          <a:ln/>
        </p:spPr>
      </p:sp>
      <p:sp>
        <p:nvSpPr>
          <p:cNvPr id="68" name="Shape 66"/>
          <p:cNvSpPr/>
          <p:nvPr/>
        </p:nvSpPr>
        <p:spPr>
          <a:xfrm>
            <a:off x="9132570" y="264261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132570" y="2642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OVERHEAD</a:t>
            </a:r>
            <a:endParaRPr lang="en-US" sz="650" dirty="0"/>
          </a:p>
        </p:txBody>
      </p:sp>
      <p:sp>
        <p:nvSpPr>
          <p:cNvPr id="70" name="Text 68"/>
          <p:cNvSpPr txBox="1"/>
          <p:nvPr/>
        </p:nvSpPr>
        <p:spPr>
          <a:xfrm>
            <a:off x="9132570" y="2926080"/>
            <a:ext cx="2516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Non-utilised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9132570" y="3163824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productive PS work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9132570" y="3328416"/>
            <a:ext cx="2516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logged yet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9132570" y="3621024"/>
            <a:ext cx="25168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meetings, own training and leave are not logged in HubSpot yet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11480" y="5276088"/>
            <a:ext cx="11365992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612648" y="53858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12648" y="5696712"/>
            <a:ext cx="10954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Chargeable went live this week, so most Q4 hours pre-date it.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35.0h chargeable, 2.0h non-chargeable; 78.1h (68%) not flagged. This week 4.5 of 11.5h are flagged, so the charged rate firms up as coverage builds.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and billable utilisation read the same.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non-billable or non-utilised is logged yet, so all 115.1h is client work: 10.8% of 1,064h against the 50% target.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Still to set up: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non-billable records per person, a non-chargeable reason field, and leave logging.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83296" y="6510528"/>
            <a:ext cx="3694176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8083296" y="651052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PS-pipeline tickets (live, read 25 Oct)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2026-10-25T13:13:54Z</dcterms:created>
  <dcterms:modified xsi:type="dcterms:W3CDTF">2026-10-25T13:13:54Z</dcterms:modified>
</cp:coreProperties>
</file>