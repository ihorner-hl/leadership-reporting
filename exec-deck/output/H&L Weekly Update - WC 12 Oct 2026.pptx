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Sheet1!$B$2:$B$11</c:f>
              <c:numCache>
                <c:formatCode>General</c:formatCode>
                <c:ptCount val="10"/>
                <c:pt idx="0">
                  <c:v>4077</c:v>
                </c:pt>
                <c:pt idx="1">
                  <c:v>7481</c:v>
                </c:pt>
                <c:pt idx="2">
                  <c:v>16726</c:v>
                </c:pt>
                <c:pt idx="3">
                  <c:v>3839</c:v>
                </c:pt>
                <c:pt idx="4">
                  <c:v>2327</c:v>
                </c:pt>
                <c:pt idx="5">
                  <c:v>17288</c:v>
                </c:pt>
                <c:pt idx="6">
                  <c:v>969</c:v>
                </c:pt>
                <c:pt idx="7">
                  <c:v>2685</c:v>
                </c:pt>
                <c:pt idx="8">
                  <c:v>10950</c:v>
                </c:pt>
                <c:pt idx="9">
                  <c:v>5021</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Sheet1!$C$2:$C$11</c:f>
              <c:numCache>
                <c:formatCode>General</c:formatCode>
                <c:ptCount val="10"/>
                <c:pt idx="0">
                  <c:v>2829</c:v>
                </c:pt>
                <c:pt idx="1">
                  <c:v>5205</c:v>
                </c:pt>
                <c:pt idx="2">
                  <c:v>5883</c:v>
                </c:pt>
                <c:pt idx="3">
                  <c:v>3463</c:v>
                </c:pt>
                <c:pt idx="4">
                  <c:v>5482</c:v>
                </c:pt>
                <c:pt idx="5">
                  <c:v>7087</c:v>
                </c:pt>
                <c:pt idx="6">
                  <c:v>4860</c:v>
                </c:pt>
                <c:pt idx="7">
                  <c:v>3700</c:v>
                </c:pt>
                <c:pt idx="8">
                  <c:v>6853</c:v>
                </c:pt>
                <c:pt idx="9">
                  <c:v>3817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12 October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19 Oct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Q4 — TARGETS CARRIED FORWARD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hardware $99k = 14% of the $715k OKR2 — best week of the quarter at $70.9k, Ho and Jasmine 87%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new MRR $3.8k = 14% of OKR2; the week nets −$181 and Q4 net MRR is −$7.7k</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13.0% — 39.5h of 304h with Isayah out; last week restated 21.3h → 30.3h, so this is a floor again</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inflow 564 vs resolved 611 — backlog 657 → 588, second straight fall, and the 90+ tail is down to 10</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now five weeks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40 of 51 active weekly, 14 daily — both up; October code output 329,436 lines, already a record month, 52% of it one developer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Q4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$4k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B4552D"/>
                </a:solidFill>
                <a:latin typeface="Poppins" pitchFamily="34" charset="0"/>
                <a:ea typeface="Poppins" pitchFamily="34" charset="-122"/>
                <a:cs typeface="Poppins" pitchFamily="34" charset="-120"/>
              </a:rPr>
              <a:t>▼ −$181 net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588874" cy="100584"/>
          </a:xfrm>
          <a:prstGeom prst="roundRect">
            <a:avLst>
              <a:gd name="adj" fmla="val 45455"/>
            </a:avLst>
          </a:prstGeom>
          <a:solidFill>
            <a:srgbClr val="B4552D"/>
          </a:solidFill>
          <a:ln/>
        </p:spPr>
      </p:sp>
      <p:sp>
        <p:nvSpPr>
          <p:cNvPr id="19" name="Shape 17"/>
          <p:cNvSpPr/>
          <p:nvPr/>
        </p:nvSpPr>
        <p:spPr>
          <a:xfrm>
            <a:off x="1425550"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20%</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Q4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$99k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+$71k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588874" cy="100584"/>
          </a:xfrm>
          <a:prstGeom prst="roundRect">
            <a:avLst>
              <a:gd name="adj" fmla="val 45455"/>
            </a:avLst>
          </a:prstGeom>
          <a:solidFill>
            <a:srgbClr val="B4552D"/>
          </a:solidFill>
          <a:ln/>
        </p:spPr>
      </p:sp>
      <p:sp>
        <p:nvSpPr>
          <p:cNvPr id="27" name="Shape 25"/>
          <p:cNvSpPr/>
          <p:nvPr/>
        </p:nvSpPr>
        <p:spPr>
          <a:xfrm>
            <a:off x="7259422"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20%</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Q4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(20%)</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18 Oct</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$421</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54864" cy="100584"/>
          </a:xfrm>
          <a:prstGeom prst="roundRect">
            <a:avLst>
              <a:gd name="adj" fmla="val 83333"/>
            </a:avLst>
          </a:prstGeom>
          <a:solidFill>
            <a:srgbClr val="B4552D"/>
          </a:solidFill>
          <a:ln/>
        </p:spPr>
      </p:sp>
      <p:sp>
        <p:nvSpPr>
          <p:cNvPr id="48" name="Shape 46"/>
          <p:cNvSpPr/>
          <p:nvPr/>
        </p:nvSpPr>
        <p:spPr>
          <a:xfrm>
            <a:off x="3181198"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54864" cy="100584"/>
          </a:xfrm>
          <a:prstGeom prst="roundRect">
            <a:avLst>
              <a:gd name="adj" fmla="val 83333"/>
            </a:avLst>
          </a:prstGeom>
          <a:solidFill>
            <a:srgbClr val="B4552D"/>
          </a:solidFill>
          <a:ln/>
        </p:spPr>
      </p:sp>
      <p:sp>
        <p:nvSpPr>
          <p:cNvPr id="55" name="Shape 53"/>
          <p:cNvSpPr/>
          <p:nvPr/>
        </p:nvSpPr>
        <p:spPr>
          <a:xfrm>
            <a:off x="5982919"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$658</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71323" cy="100584"/>
          </a:xfrm>
          <a:prstGeom prst="roundRect">
            <a:avLst>
              <a:gd name="adj" fmla="val 64103"/>
            </a:avLst>
          </a:prstGeom>
          <a:solidFill>
            <a:srgbClr val="B4552D"/>
          </a:solidFill>
          <a:ln/>
        </p:spPr>
      </p:sp>
      <p:sp>
        <p:nvSpPr>
          <p:cNvPr id="64" name="Shape 62"/>
          <p:cNvSpPr/>
          <p:nvPr/>
        </p:nvSpPr>
        <p:spPr>
          <a:xfrm>
            <a:off x="3181198"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13%</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−288</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$16k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62362" cy="100584"/>
          </a:xfrm>
          <a:prstGeom prst="roundRect">
            <a:avLst>
              <a:gd name="adj" fmla="val 73314"/>
            </a:avLst>
          </a:prstGeom>
          <a:solidFill>
            <a:srgbClr val="B4552D"/>
          </a:solidFill>
          <a:ln/>
        </p:spPr>
      </p:sp>
      <p:sp>
        <p:nvSpPr>
          <p:cNvPr id="71" name="Shape 69"/>
          <p:cNvSpPr/>
          <p:nvPr/>
        </p:nvSpPr>
        <p:spPr>
          <a:xfrm>
            <a:off x="5982919"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+1k</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$177</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54864" cy="100584"/>
          </a:xfrm>
          <a:prstGeom prst="roundRect">
            <a:avLst>
              <a:gd name="adj" fmla="val 83333"/>
            </a:avLst>
          </a:prstGeom>
          <a:solidFill>
            <a:srgbClr val="B4552D"/>
          </a:solidFill>
          <a:ln/>
        </p:spPr>
      </p:sp>
      <p:sp>
        <p:nvSpPr>
          <p:cNvPr id="80" name="Shape 78"/>
          <p:cNvSpPr/>
          <p:nvPr/>
        </p:nvSpPr>
        <p:spPr>
          <a:xfrm>
            <a:off x="3181198"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+142</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54864" cy="100584"/>
          </a:xfrm>
          <a:prstGeom prst="roundRect">
            <a:avLst>
              <a:gd name="adj" fmla="val 83333"/>
            </a:avLst>
          </a:prstGeom>
          <a:solidFill>
            <a:srgbClr val="B4552D"/>
          </a:solidFill>
          <a:ln/>
        </p:spPr>
      </p:sp>
      <p:sp>
        <p:nvSpPr>
          <p:cNvPr id="87" name="Shape 85"/>
          <p:cNvSpPr/>
          <p:nvPr/>
        </p:nvSpPr>
        <p:spPr>
          <a:xfrm>
            <a:off x="5982919"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+8k</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197510" cy="100584"/>
          </a:xfrm>
          <a:prstGeom prst="roundRect">
            <a:avLst>
              <a:gd name="adj" fmla="val 45455"/>
            </a:avLst>
          </a:prstGeom>
          <a:solidFill>
            <a:srgbClr val="B4552D"/>
          </a:solidFill>
          <a:ln/>
        </p:spPr>
      </p:sp>
      <p:sp>
        <p:nvSpPr>
          <p:cNvPr id="96" name="Shape 94"/>
          <p:cNvSpPr/>
          <p:nvPr/>
        </p:nvSpPr>
        <p:spPr>
          <a:xfrm>
            <a:off x="3181198"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36%</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−35</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$32k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85039" cy="100584"/>
          </a:xfrm>
          <a:prstGeom prst="roundRect">
            <a:avLst>
              <a:gd name="adj" fmla="val 53764"/>
            </a:avLst>
          </a:prstGeom>
          <a:solidFill>
            <a:srgbClr val="B4552D"/>
          </a:solidFill>
          <a:ln/>
        </p:spPr>
      </p:sp>
      <p:sp>
        <p:nvSpPr>
          <p:cNvPr id="103" name="Shape 101"/>
          <p:cNvSpPr/>
          <p:nvPr/>
        </p:nvSpPr>
        <p:spPr>
          <a:xfrm>
            <a:off x="5982919"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15%</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+30k</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$98</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54864" cy="100584"/>
          </a:xfrm>
          <a:prstGeom prst="roundRect">
            <a:avLst>
              <a:gd name="adj" fmla="val 83333"/>
            </a:avLst>
          </a:prstGeom>
          <a:solidFill>
            <a:srgbClr val="B4552D"/>
          </a:solidFill>
          <a:ln/>
        </p:spPr>
      </p:sp>
      <p:sp>
        <p:nvSpPr>
          <p:cNvPr id="112" name="Shape 110"/>
          <p:cNvSpPr/>
          <p:nvPr/>
        </p:nvSpPr>
        <p:spPr>
          <a:xfrm>
            <a:off x="3181198"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$37k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385511" cy="100584"/>
          </a:xfrm>
          <a:prstGeom prst="roundRect">
            <a:avLst>
              <a:gd name="adj" fmla="val 45455"/>
            </a:avLst>
          </a:prstGeom>
          <a:solidFill>
            <a:srgbClr val="B4552D"/>
          </a:solidFill>
          <a:ln/>
        </p:spPr>
      </p:sp>
      <p:sp>
        <p:nvSpPr>
          <p:cNvPr id="119" name="Shape 117"/>
          <p:cNvSpPr/>
          <p:nvPr/>
        </p:nvSpPr>
        <p:spPr>
          <a:xfrm>
            <a:off x="5982919"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68%</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+32k</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181198"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$294</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181198"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7%</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−181</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$99k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13%</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+71k</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Q4 (movement register, live 18 Oct) · H&amp;L Pay net new $0/mo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had its best week of the quarter — $70,874.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Q4 to date now $98,973, 14% of the $715k OKR2 against a 20% pace mark. Ho booked $32.0k and Jasmine $29.6k between them, 87% of the week. Two weeks of Q4 extract; the 1–4 Oct straddle is still unallocated.</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MRR went backwards again, by $181.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$1,026 invoiced against $1,172 of churn and $35 of contraction. Q4 stands at $3,817 — 14% of the $28k OKR2 against a 20% pace mark, and the register is now five weeks into the quarter with net MRR negative every one of them.</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Targets are still the Q3 numbers carried forward.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No Q4 OKR2 or team target has been set, so every attainment percentage on this slide is measured against last quarter's bar.</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Q4 (Oct–Dec) · 18 of 92 days elapsed.</a:t>
            </a:r>
            <a:endParaRPr lang="en-US" sz="900" dirty="0"/>
          </a:p>
        </p:txBody>
      </p:sp>
      <p:sp>
        <p:nvSpPr>
          <p:cNvPr id="161" name="Shape 159"/>
          <p:cNvSpPr/>
          <p:nvPr/>
        </p:nvSpPr>
        <p:spPr>
          <a:xfrm>
            <a:off x="7088429" y="6510528"/>
            <a:ext cx="4689043" cy="256032"/>
          </a:xfrm>
          <a:prstGeom prst="roundRect">
            <a:avLst>
              <a:gd name="adj" fmla="val 46429"/>
            </a:avLst>
          </a:prstGeom>
          <a:solidFill>
            <a:srgbClr val="12293A"/>
          </a:solidFill>
          <a:ln/>
        </p:spPr>
      </p:sp>
      <p:sp>
        <p:nvSpPr>
          <p:cNvPr id="162" name="Text 160"/>
          <p:cNvSpPr txBox="1"/>
          <p:nvPr/>
        </p:nvSpPr>
        <p:spPr>
          <a:xfrm>
            <a:off x="7088429" y="6510528"/>
            <a:ext cx="468904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12–18 Oct + MRR movement register (live, 19 Oct)</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US$464</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A$651 · 9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US$360</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A$506 · 7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56%</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placed / 7 lost by count · 56%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77878"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US$1,153</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18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811201"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US$865</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1507489"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US$464</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11717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US$360</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753145" cy="164592"/>
          </a:xfrm>
          <a:prstGeom prst="rect">
            <a:avLst/>
          </a:prstGeom>
          <a:solidFill>
            <a:srgbClr val="3D8F5F"/>
          </a:solidFill>
          <a:ln/>
        </p:spPr>
      </p:sp>
      <p:sp>
        <p:nvSpPr>
          <p:cNvPr id="59" name="Text 57"/>
          <p:cNvSpPr txBox="1"/>
          <p:nvPr/>
        </p:nvSpPr>
        <p:spPr>
          <a:xfrm>
            <a:off x="1828800" y="4782312"/>
            <a:ext cx="753145"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16%</a:t>
            </a:r>
            <a:endParaRPr lang="en-US" sz="650" dirty="0"/>
          </a:p>
        </p:txBody>
      </p:sp>
      <p:sp>
        <p:nvSpPr>
          <p:cNvPr id="60" name="Shape 58"/>
          <p:cNvSpPr/>
          <p:nvPr/>
        </p:nvSpPr>
        <p:spPr>
          <a:xfrm>
            <a:off x="2600233" y="4800600"/>
            <a:ext cx="3416341" cy="164592"/>
          </a:xfrm>
          <a:prstGeom prst="rect">
            <a:avLst/>
          </a:prstGeom>
          <a:solidFill>
            <a:srgbClr val="2C8394"/>
          </a:solidFill>
          <a:ln/>
        </p:spPr>
      </p:sp>
      <p:sp>
        <p:nvSpPr>
          <p:cNvPr id="61" name="Text 59"/>
          <p:cNvSpPr txBox="1"/>
          <p:nvPr/>
        </p:nvSpPr>
        <p:spPr>
          <a:xfrm>
            <a:off x="2600233" y="4782312"/>
            <a:ext cx="341634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72%</a:t>
            </a:r>
            <a:endParaRPr lang="en-US" sz="650" dirty="0"/>
          </a:p>
        </p:txBody>
      </p:sp>
      <p:sp>
        <p:nvSpPr>
          <p:cNvPr id="62" name="Shape 60"/>
          <p:cNvSpPr/>
          <p:nvPr/>
        </p:nvSpPr>
        <p:spPr>
          <a:xfrm>
            <a:off x="6034862" y="4800600"/>
            <a:ext cx="585394" cy="164592"/>
          </a:xfrm>
          <a:prstGeom prst="rect">
            <a:avLst/>
          </a:prstGeom>
          <a:solidFill>
            <a:srgbClr val="B4552D"/>
          </a:solidFill>
          <a:ln/>
        </p:spPr>
      </p:sp>
      <p:sp>
        <p:nvSpPr>
          <p:cNvPr id="63" name="Text 61"/>
          <p:cNvSpPr txBox="1"/>
          <p:nvPr/>
        </p:nvSpPr>
        <p:spPr>
          <a:xfrm>
            <a:off x="6034862" y="4782312"/>
            <a:ext cx="585394"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12%</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891540" cy="164592"/>
          </a:xfrm>
          <a:prstGeom prst="rect">
            <a:avLst/>
          </a:prstGeom>
          <a:solidFill>
            <a:srgbClr val="3D8F5F"/>
          </a:solidFill>
          <a:ln/>
        </p:spPr>
      </p:sp>
      <p:sp>
        <p:nvSpPr>
          <p:cNvPr id="66" name="Text 64"/>
          <p:cNvSpPr txBox="1"/>
          <p:nvPr/>
        </p:nvSpPr>
        <p:spPr>
          <a:xfrm>
            <a:off x="1828800" y="5093208"/>
            <a:ext cx="89154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19%</a:t>
            </a:r>
            <a:endParaRPr lang="en-US" sz="650" dirty="0"/>
          </a:p>
        </p:txBody>
      </p:sp>
      <p:sp>
        <p:nvSpPr>
          <p:cNvPr id="67" name="Shape 65"/>
          <p:cNvSpPr/>
          <p:nvPr/>
        </p:nvSpPr>
        <p:spPr>
          <a:xfrm>
            <a:off x="2738628" y="5111496"/>
            <a:ext cx="3169920" cy="164592"/>
          </a:xfrm>
          <a:prstGeom prst="rect">
            <a:avLst/>
          </a:prstGeom>
          <a:solidFill>
            <a:srgbClr val="2C8394"/>
          </a:solidFill>
          <a:ln/>
        </p:spPr>
      </p:sp>
      <p:sp>
        <p:nvSpPr>
          <p:cNvPr id="68" name="Text 66"/>
          <p:cNvSpPr txBox="1"/>
          <p:nvPr/>
        </p:nvSpPr>
        <p:spPr>
          <a:xfrm>
            <a:off x="2738628" y="5093208"/>
            <a:ext cx="316992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67%</a:t>
            </a:r>
            <a:endParaRPr lang="en-US" sz="650" dirty="0"/>
          </a:p>
        </p:txBody>
      </p:sp>
      <p:sp>
        <p:nvSpPr>
          <p:cNvPr id="69" name="Shape 67"/>
          <p:cNvSpPr/>
          <p:nvPr/>
        </p:nvSpPr>
        <p:spPr>
          <a:xfrm>
            <a:off x="5926836" y="5111496"/>
            <a:ext cx="693420" cy="164592"/>
          </a:xfrm>
          <a:prstGeom prst="rect">
            <a:avLst/>
          </a:prstGeom>
          <a:solidFill>
            <a:srgbClr val="B4552D"/>
          </a:solidFill>
          <a:ln/>
        </p:spPr>
      </p:sp>
      <p:sp>
        <p:nvSpPr>
          <p:cNvPr id="70" name="Text 68"/>
          <p:cNvSpPr txBox="1"/>
          <p:nvPr/>
        </p:nvSpPr>
        <p:spPr>
          <a:xfrm>
            <a:off x="5926836" y="5093208"/>
            <a:ext cx="69342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all the order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US$464</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US$147</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still no orders</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9 lines, every one priced $0</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three weeks stale; HubSpot holds no USD field</a:t>
            </a:r>
            <a:endParaRPr lang="en-US" sz="580" dirty="0"/>
          </a:p>
        </p:txBody>
      </p:sp>
      <p:sp>
        <p:nvSpPr>
          <p:cNvPr id="108" name="Shape 106"/>
          <p:cNvSpPr/>
          <p:nvPr/>
        </p:nvSpPr>
        <p:spPr>
          <a:xfrm>
            <a:off x="411480" y="5413248"/>
            <a:ext cx="11365992" cy="1042416"/>
          </a:xfrm>
          <a:prstGeom prst="roundRect">
            <a:avLst>
              <a:gd name="adj" fmla="val 6140"/>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52297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833872"/>
            <a:ext cx="10954512" cy="493776"/>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9 orders placed since 1 Jul (US$464) against 7 lost — 56% by count, 56%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25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Six new deals entered Discovery, five of them QR Ordering priced $0 · no AI-infused order placed for a second week, Order Placed unchanged at A$651 · 27 ROAM lines worth A$2,046 sit on no deal and are excluded.</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19 Oct workbook is byte-identical to the 6 and 12 Oct drops: no new identifications, referrals or wins for a fifth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19 Oct</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13%</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39.45h billed of 304h available · target 50% · Rhys logged half of it</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304h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8 available × 38h · Isayah Kuhlmann on leave</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25%</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 of 109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23136"/>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23136"/>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23136"/>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23136"/>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23136"/>
          </a:xfrm>
          <a:prstGeom prst="rect">
            <a:avLst/>
          </a:prstGeom>
          <a:solidFill>
            <a:srgbClr val="E2EAEE"/>
          </a:solidFill>
          <a:ln/>
        </p:spPr>
      </p:sp>
      <p:sp>
        <p:nvSpPr>
          <p:cNvPr id="43" name="Text 41"/>
          <p:cNvSpPr txBox="1"/>
          <p:nvPr/>
        </p:nvSpPr>
        <p:spPr>
          <a:xfrm>
            <a:off x="640080" y="3054096"/>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32074"/>
            <a:ext cx="2377440" cy="59436"/>
          </a:xfrm>
          <a:prstGeom prst="roundRect">
            <a:avLst>
              <a:gd name="adj" fmla="val 49231"/>
            </a:avLst>
          </a:prstGeom>
          <a:solidFill>
            <a:srgbClr val="E2EAEE"/>
          </a:solidFill>
          <a:ln/>
        </p:spPr>
      </p:sp>
      <p:sp>
        <p:nvSpPr>
          <p:cNvPr id="45" name="Shape 43"/>
          <p:cNvSpPr/>
          <p:nvPr/>
        </p:nvSpPr>
        <p:spPr>
          <a:xfrm>
            <a:off x="2468880" y="3132074"/>
            <a:ext cx="1219627" cy="59436"/>
          </a:xfrm>
          <a:prstGeom prst="roundRect">
            <a:avLst>
              <a:gd name="adj" fmla="val 49231"/>
            </a:avLst>
          </a:prstGeom>
          <a:solidFill>
            <a:srgbClr val="2C8394"/>
          </a:solidFill>
          <a:ln/>
        </p:spPr>
      </p:sp>
      <p:sp>
        <p:nvSpPr>
          <p:cNvPr id="46" name="Text 44"/>
          <p:cNvSpPr txBox="1"/>
          <p:nvPr/>
        </p:nvSpPr>
        <p:spPr>
          <a:xfrm>
            <a:off x="5029200" y="3054096"/>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19.50h</a:t>
            </a:r>
            <a:endParaRPr lang="en-US" sz="800" dirty="0"/>
          </a:p>
        </p:txBody>
      </p:sp>
      <p:sp>
        <p:nvSpPr>
          <p:cNvPr id="47" name="Text 45"/>
          <p:cNvSpPr txBox="1"/>
          <p:nvPr/>
        </p:nvSpPr>
        <p:spPr>
          <a:xfrm>
            <a:off x="5943600" y="3054096"/>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51.3%</a:t>
            </a:r>
            <a:endParaRPr lang="en-US" sz="800" dirty="0"/>
          </a:p>
        </p:txBody>
      </p:sp>
      <p:sp>
        <p:nvSpPr>
          <p:cNvPr id="48" name="Text 46"/>
          <p:cNvSpPr txBox="1"/>
          <p:nvPr/>
        </p:nvSpPr>
        <p:spPr>
          <a:xfrm>
            <a:off x="640080" y="3269488"/>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47466"/>
            <a:ext cx="2377440" cy="59436"/>
          </a:xfrm>
          <a:prstGeom prst="roundRect">
            <a:avLst>
              <a:gd name="adj" fmla="val 49231"/>
            </a:avLst>
          </a:prstGeom>
          <a:solidFill>
            <a:srgbClr val="E2EAEE"/>
          </a:solidFill>
          <a:ln/>
        </p:spPr>
      </p:sp>
      <p:sp>
        <p:nvSpPr>
          <p:cNvPr id="50" name="Shape 48"/>
          <p:cNvSpPr/>
          <p:nvPr/>
        </p:nvSpPr>
        <p:spPr>
          <a:xfrm>
            <a:off x="2468880" y="3347466"/>
            <a:ext cx="406542" cy="59436"/>
          </a:xfrm>
          <a:prstGeom prst="roundRect">
            <a:avLst>
              <a:gd name="adj" fmla="val 49231"/>
            </a:avLst>
          </a:prstGeom>
          <a:solidFill>
            <a:srgbClr val="2C8394"/>
          </a:solidFill>
          <a:ln/>
        </p:spPr>
      </p:sp>
      <p:sp>
        <p:nvSpPr>
          <p:cNvPr id="51" name="Text 49"/>
          <p:cNvSpPr txBox="1"/>
          <p:nvPr/>
        </p:nvSpPr>
        <p:spPr>
          <a:xfrm>
            <a:off x="5029200" y="3269488"/>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6.50h</a:t>
            </a:r>
            <a:endParaRPr lang="en-US" sz="800" dirty="0"/>
          </a:p>
        </p:txBody>
      </p:sp>
      <p:sp>
        <p:nvSpPr>
          <p:cNvPr id="52" name="Text 50"/>
          <p:cNvSpPr txBox="1"/>
          <p:nvPr/>
        </p:nvSpPr>
        <p:spPr>
          <a:xfrm>
            <a:off x="5943600" y="3269488"/>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17.1%</a:t>
            </a:r>
            <a:endParaRPr lang="en-US" sz="800" dirty="0"/>
          </a:p>
        </p:txBody>
      </p:sp>
      <p:sp>
        <p:nvSpPr>
          <p:cNvPr id="53" name="Text 51"/>
          <p:cNvSpPr txBox="1"/>
          <p:nvPr/>
        </p:nvSpPr>
        <p:spPr>
          <a:xfrm>
            <a:off x="640080" y="3484880"/>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Rodney Nolan</a:t>
            </a:r>
            <a:endParaRPr lang="en-US" sz="800" dirty="0"/>
          </a:p>
        </p:txBody>
      </p:sp>
      <p:sp>
        <p:nvSpPr>
          <p:cNvPr id="54" name="Shape 52"/>
          <p:cNvSpPr/>
          <p:nvPr/>
        </p:nvSpPr>
        <p:spPr>
          <a:xfrm>
            <a:off x="2468880" y="3562858"/>
            <a:ext cx="2377440" cy="59436"/>
          </a:xfrm>
          <a:prstGeom prst="roundRect">
            <a:avLst>
              <a:gd name="adj" fmla="val 49231"/>
            </a:avLst>
          </a:prstGeom>
          <a:solidFill>
            <a:srgbClr val="E2EAEE"/>
          </a:solidFill>
          <a:ln/>
        </p:spPr>
      </p:sp>
      <p:sp>
        <p:nvSpPr>
          <p:cNvPr id="55" name="Shape 53"/>
          <p:cNvSpPr/>
          <p:nvPr/>
        </p:nvSpPr>
        <p:spPr>
          <a:xfrm>
            <a:off x="2468880" y="3562858"/>
            <a:ext cx="358993" cy="59436"/>
          </a:xfrm>
          <a:prstGeom prst="roundRect">
            <a:avLst>
              <a:gd name="adj" fmla="val 49231"/>
            </a:avLst>
          </a:prstGeom>
          <a:solidFill>
            <a:srgbClr val="2C8394"/>
          </a:solidFill>
          <a:ln/>
        </p:spPr>
      </p:sp>
      <p:sp>
        <p:nvSpPr>
          <p:cNvPr id="56" name="Text 54"/>
          <p:cNvSpPr txBox="1"/>
          <p:nvPr/>
        </p:nvSpPr>
        <p:spPr>
          <a:xfrm>
            <a:off x="5029200" y="3484880"/>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5.75h</a:t>
            </a:r>
            <a:endParaRPr lang="en-US" sz="800" dirty="0"/>
          </a:p>
        </p:txBody>
      </p:sp>
      <p:sp>
        <p:nvSpPr>
          <p:cNvPr id="57" name="Text 55"/>
          <p:cNvSpPr txBox="1"/>
          <p:nvPr/>
        </p:nvSpPr>
        <p:spPr>
          <a:xfrm>
            <a:off x="5943600" y="3484880"/>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15.1%</a:t>
            </a:r>
            <a:endParaRPr lang="en-US" sz="800" dirty="0"/>
          </a:p>
        </p:txBody>
      </p:sp>
      <p:sp>
        <p:nvSpPr>
          <p:cNvPr id="58" name="Text 56"/>
          <p:cNvSpPr txBox="1"/>
          <p:nvPr/>
        </p:nvSpPr>
        <p:spPr>
          <a:xfrm>
            <a:off x="640080" y="3700272"/>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Gregory St Clare-Hobbs</a:t>
            </a:r>
            <a:endParaRPr lang="en-US" sz="800" dirty="0"/>
          </a:p>
        </p:txBody>
      </p:sp>
      <p:sp>
        <p:nvSpPr>
          <p:cNvPr id="59" name="Shape 57"/>
          <p:cNvSpPr/>
          <p:nvPr/>
        </p:nvSpPr>
        <p:spPr>
          <a:xfrm>
            <a:off x="2468880" y="3778250"/>
            <a:ext cx="2377440" cy="59436"/>
          </a:xfrm>
          <a:prstGeom prst="roundRect">
            <a:avLst>
              <a:gd name="adj" fmla="val 49231"/>
            </a:avLst>
          </a:prstGeom>
          <a:solidFill>
            <a:srgbClr val="E2EAEE"/>
          </a:solidFill>
          <a:ln/>
        </p:spPr>
      </p:sp>
      <p:sp>
        <p:nvSpPr>
          <p:cNvPr id="60" name="Shape 58"/>
          <p:cNvSpPr/>
          <p:nvPr/>
        </p:nvSpPr>
        <p:spPr>
          <a:xfrm>
            <a:off x="2468880" y="3778250"/>
            <a:ext cx="280538" cy="59436"/>
          </a:xfrm>
          <a:prstGeom prst="roundRect">
            <a:avLst>
              <a:gd name="adj" fmla="val 49231"/>
            </a:avLst>
          </a:prstGeom>
          <a:solidFill>
            <a:srgbClr val="2C8394"/>
          </a:solidFill>
          <a:ln/>
        </p:spPr>
      </p:sp>
      <p:sp>
        <p:nvSpPr>
          <p:cNvPr id="61" name="Text 59"/>
          <p:cNvSpPr txBox="1"/>
          <p:nvPr/>
        </p:nvSpPr>
        <p:spPr>
          <a:xfrm>
            <a:off x="5029200" y="3700272"/>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4.50h</a:t>
            </a:r>
            <a:endParaRPr lang="en-US" sz="800" dirty="0"/>
          </a:p>
        </p:txBody>
      </p:sp>
      <p:sp>
        <p:nvSpPr>
          <p:cNvPr id="62" name="Text 60"/>
          <p:cNvSpPr txBox="1"/>
          <p:nvPr/>
        </p:nvSpPr>
        <p:spPr>
          <a:xfrm>
            <a:off x="5943600" y="3700272"/>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11.8%</a:t>
            </a:r>
            <a:endParaRPr lang="en-US" sz="800" dirty="0"/>
          </a:p>
        </p:txBody>
      </p:sp>
      <p:sp>
        <p:nvSpPr>
          <p:cNvPr id="63" name="Text 61"/>
          <p:cNvSpPr txBox="1"/>
          <p:nvPr/>
        </p:nvSpPr>
        <p:spPr>
          <a:xfrm>
            <a:off x="640080" y="3915664"/>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Isaac Mercado</a:t>
            </a:r>
            <a:endParaRPr lang="en-US" sz="800" dirty="0"/>
          </a:p>
        </p:txBody>
      </p:sp>
      <p:sp>
        <p:nvSpPr>
          <p:cNvPr id="64" name="Shape 62"/>
          <p:cNvSpPr/>
          <p:nvPr/>
        </p:nvSpPr>
        <p:spPr>
          <a:xfrm>
            <a:off x="2468880" y="3993642"/>
            <a:ext cx="2377440" cy="59436"/>
          </a:xfrm>
          <a:prstGeom prst="roundRect">
            <a:avLst>
              <a:gd name="adj" fmla="val 49231"/>
            </a:avLst>
          </a:prstGeom>
          <a:solidFill>
            <a:srgbClr val="E2EAEE"/>
          </a:solidFill>
          <a:ln/>
        </p:spPr>
      </p:sp>
      <p:sp>
        <p:nvSpPr>
          <p:cNvPr id="65" name="Shape 63"/>
          <p:cNvSpPr/>
          <p:nvPr/>
        </p:nvSpPr>
        <p:spPr>
          <a:xfrm>
            <a:off x="2468880" y="3993642"/>
            <a:ext cx="92720" cy="59436"/>
          </a:xfrm>
          <a:prstGeom prst="roundRect">
            <a:avLst>
              <a:gd name="adj" fmla="val 49231"/>
            </a:avLst>
          </a:prstGeom>
          <a:solidFill>
            <a:srgbClr val="2C8394"/>
          </a:solidFill>
          <a:ln/>
        </p:spPr>
      </p:sp>
      <p:sp>
        <p:nvSpPr>
          <p:cNvPr id="66" name="Text 64"/>
          <p:cNvSpPr txBox="1"/>
          <p:nvPr/>
        </p:nvSpPr>
        <p:spPr>
          <a:xfrm>
            <a:off x="5029200" y="3915664"/>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1.50h</a:t>
            </a:r>
            <a:endParaRPr lang="en-US" sz="800" dirty="0"/>
          </a:p>
        </p:txBody>
      </p:sp>
      <p:sp>
        <p:nvSpPr>
          <p:cNvPr id="67" name="Text 65"/>
          <p:cNvSpPr txBox="1"/>
          <p:nvPr/>
        </p:nvSpPr>
        <p:spPr>
          <a:xfrm>
            <a:off x="5943600" y="3915664"/>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3.9%</a:t>
            </a:r>
            <a:endParaRPr lang="en-US" sz="800" dirty="0"/>
          </a:p>
        </p:txBody>
      </p:sp>
      <p:sp>
        <p:nvSpPr>
          <p:cNvPr id="68" name="Text 66"/>
          <p:cNvSpPr txBox="1"/>
          <p:nvPr/>
        </p:nvSpPr>
        <p:spPr>
          <a:xfrm>
            <a:off x="640080" y="4131056"/>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Ryan Neil Orande</a:t>
            </a:r>
            <a:endParaRPr lang="en-US" sz="800" dirty="0"/>
          </a:p>
        </p:txBody>
      </p:sp>
      <p:sp>
        <p:nvSpPr>
          <p:cNvPr id="69" name="Shape 67"/>
          <p:cNvSpPr/>
          <p:nvPr/>
        </p:nvSpPr>
        <p:spPr>
          <a:xfrm>
            <a:off x="2468880" y="4209034"/>
            <a:ext cx="2377440" cy="59436"/>
          </a:xfrm>
          <a:prstGeom prst="roundRect">
            <a:avLst>
              <a:gd name="adj" fmla="val 49231"/>
            </a:avLst>
          </a:prstGeom>
          <a:solidFill>
            <a:srgbClr val="E2EAEE"/>
          </a:solidFill>
          <a:ln/>
        </p:spPr>
      </p:sp>
      <p:sp>
        <p:nvSpPr>
          <p:cNvPr id="70" name="Shape 68"/>
          <p:cNvSpPr/>
          <p:nvPr/>
        </p:nvSpPr>
        <p:spPr>
          <a:xfrm>
            <a:off x="2468880" y="4209034"/>
            <a:ext cx="68946" cy="59436"/>
          </a:xfrm>
          <a:prstGeom prst="roundRect">
            <a:avLst>
              <a:gd name="adj" fmla="val 49231"/>
            </a:avLst>
          </a:prstGeom>
          <a:solidFill>
            <a:srgbClr val="2C8394"/>
          </a:solidFill>
          <a:ln/>
        </p:spPr>
      </p:sp>
      <p:sp>
        <p:nvSpPr>
          <p:cNvPr id="71" name="Text 69"/>
          <p:cNvSpPr txBox="1"/>
          <p:nvPr/>
        </p:nvSpPr>
        <p:spPr>
          <a:xfrm>
            <a:off x="5029200" y="4131056"/>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1.11h</a:t>
            </a:r>
            <a:endParaRPr lang="en-US" sz="800" dirty="0"/>
          </a:p>
        </p:txBody>
      </p:sp>
      <p:sp>
        <p:nvSpPr>
          <p:cNvPr id="72" name="Text 70"/>
          <p:cNvSpPr txBox="1"/>
          <p:nvPr/>
        </p:nvSpPr>
        <p:spPr>
          <a:xfrm>
            <a:off x="5943600" y="4131056"/>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2.9%</a:t>
            </a:r>
            <a:endParaRPr lang="en-US" sz="800" dirty="0"/>
          </a:p>
        </p:txBody>
      </p:sp>
      <p:sp>
        <p:nvSpPr>
          <p:cNvPr id="73" name="Text 71"/>
          <p:cNvSpPr txBox="1"/>
          <p:nvPr/>
        </p:nvSpPr>
        <p:spPr>
          <a:xfrm>
            <a:off x="640080" y="4346448"/>
            <a:ext cx="1783080" cy="215392"/>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74" name="Shape 72"/>
          <p:cNvSpPr/>
          <p:nvPr/>
        </p:nvSpPr>
        <p:spPr>
          <a:xfrm>
            <a:off x="2468880" y="4424426"/>
            <a:ext cx="2377440" cy="59436"/>
          </a:xfrm>
          <a:prstGeom prst="roundRect">
            <a:avLst>
              <a:gd name="adj" fmla="val 49231"/>
            </a:avLst>
          </a:prstGeom>
          <a:solidFill>
            <a:srgbClr val="E2EAEE"/>
          </a:solidFill>
          <a:ln/>
        </p:spPr>
      </p:sp>
      <p:sp>
        <p:nvSpPr>
          <p:cNvPr id="75" name="Shape 73"/>
          <p:cNvSpPr/>
          <p:nvPr/>
        </p:nvSpPr>
        <p:spPr>
          <a:xfrm>
            <a:off x="2468880" y="4424426"/>
            <a:ext cx="45720" cy="59436"/>
          </a:xfrm>
          <a:prstGeom prst="roundRect">
            <a:avLst>
              <a:gd name="adj" fmla="val 64000"/>
            </a:avLst>
          </a:prstGeom>
          <a:solidFill>
            <a:srgbClr val="2C8394"/>
          </a:solidFill>
          <a:ln/>
        </p:spPr>
      </p:sp>
      <p:sp>
        <p:nvSpPr>
          <p:cNvPr id="76" name="Text 74"/>
          <p:cNvSpPr txBox="1"/>
          <p:nvPr/>
        </p:nvSpPr>
        <p:spPr>
          <a:xfrm>
            <a:off x="5029200" y="4346448"/>
            <a:ext cx="822960" cy="2153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0.59h</a:t>
            </a:r>
            <a:endParaRPr lang="en-US" sz="800" dirty="0"/>
          </a:p>
        </p:txBody>
      </p:sp>
      <p:sp>
        <p:nvSpPr>
          <p:cNvPr id="77" name="Text 75"/>
          <p:cNvSpPr txBox="1"/>
          <p:nvPr/>
        </p:nvSpPr>
        <p:spPr>
          <a:xfrm>
            <a:off x="5943600" y="4346448"/>
            <a:ext cx="822960" cy="215392"/>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1.6%</a:t>
            </a:r>
            <a:endParaRPr lang="en-US" sz="800" dirty="0"/>
          </a:p>
        </p:txBody>
      </p:sp>
      <p:sp>
        <p:nvSpPr>
          <p:cNvPr id="78" name="Text 76"/>
          <p:cNvSpPr txBox="1"/>
          <p:nvPr/>
        </p:nvSpPr>
        <p:spPr>
          <a:xfrm>
            <a:off x="640080" y="4561840"/>
            <a:ext cx="1783080" cy="215392"/>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9" name="Shape 77"/>
          <p:cNvSpPr/>
          <p:nvPr/>
        </p:nvSpPr>
        <p:spPr>
          <a:xfrm>
            <a:off x="2468880" y="4639818"/>
            <a:ext cx="2377440" cy="59436"/>
          </a:xfrm>
          <a:prstGeom prst="roundRect">
            <a:avLst>
              <a:gd name="adj" fmla="val 49231"/>
            </a:avLst>
          </a:prstGeom>
          <a:solidFill>
            <a:srgbClr val="E2EAEE"/>
          </a:solidFill>
          <a:ln/>
        </p:spPr>
      </p:sp>
      <p:sp>
        <p:nvSpPr>
          <p:cNvPr id="80" name="Text 78"/>
          <p:cNvSpPr txBox="1"/>
          <p:nvPr/>
        </p:nvSpPr>
        <p:spPr>
          <a:xfrm>
            <a:off x="5029200" y="4561840"/>
            <a:ext cx="822960" cy="215392"/>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1" name="Text 79"/>
          <p:cNvSpPr txBox="1"/>
          <p:nvPr/>
        </p:nvSpPr>
        <p:spPr>
          <a:xfrm>
            <a:off x="5943600" y="4561840"/>
            <a:ext cx="822960" cy="2153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2" name="Shape 80"/>
          <p:cNvSpPr/>
          <p:nvPr/>
        </p:nvSpPr>
        <p:spPr>
          <a:xfrm>
            <a:off x="640080" y="4795520"/>
            <a:ext cx="6126480" cy="10973"/>
          </a:xfrm>
          <a:prstGeom prst="rect">
            <a:avLst/>
          </a:prstGeom>
          <a:solidFill>
            <a:srgbClr val="12293A"/>
          </a:solidFill>
          <a:ln/>
        </p:spPr>
      </p:sp>
      <p:sp>
        <p:nvSpPr>
          <p:cNvPr id="83" name="Text 81"/>
          <p:cNvSpPr txBox="1"/>
          <p:nvPr/>
        </p:nvSpPr>
        <p:spPr>
          <a:xfrm>
            <a:off x="640080" y="4822952"/>
            <a:ext cx="1783080" cy="21539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4" name="Text 82"/>
          <p:cNvSpPr txBox="1"/>
          <p:nvPr/>
        </p:nvSpPr>
        <p:spPr>
          <a:xfrm>
            <a:off x="2468880" y="4822952"/>
            <a:ext cx="2377440" cy="2153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8 PS people × 38h = 304h available</a:t>
            </a:r>
            <a:endParaRPr lang="en-US" sz="700" dirty="0"/>
          </a:p>
        </p:txBody>
      </p:sp>
      <p:sp>
        <p:nvSpPr>
          <p:cNvPr id="85" name="Text 83"/>
          <p:cNvSpPr txBox="1"/>
          <p:nvPr/>
        </p:nvSpPr>
        <p:spPr>
          <a:xfrm>
            <a:off x="5029200" y="4822952"/>
            <a:ext cx="822960" cy="215392"/>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39.45h</a:t>
            </a:r>
            <a:endParaRPr lang="en-US" sz="950" dirty="0"/>
          </a:p>
        </p:txBody>
      </p:sp>
      <p:sp>
        <p:nvSpPr>
          <p:cNvPr id="86" name="Text 84"/>
          <p:cNvSpPr txBox="1"/>
          <p:nvPr/>
        </p:nvSpPr>
        <p:spPr>
          <a:xfrm>
            <a:off x="5943600" y="4822952"/>
            <a:ext cx="822960" cy="215392"/>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13.0%</a:t>
            </a:r>
            <a:endParaRPr lang="en-US" sz="950" dirty="0"/>
          </a:p>
        </p:txBody>
      </p:sp>
      <p:sp>
        <p:nvSpPr>
          <p:cNvPr id="87" name="Text 85"/>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8 Professional Services people holding PS-pipeline tickets this week and not on leave, at 38h each. Isayah Kuhlmann was on leave and is out of the base. Lopez, Hikuroa, Magabo, Ho, Fenwick and Hettiarachchy hold PS tickets but are not PS staff — they and their hours are excluded; none carried hours this week.</a:t>
            </a:r>
            <a:endParaRPr lang="en-US" sz="580" dirty="0"/>
          </a:p>
        </p:txBody>
      </p:sp>
      <p:sp>
        <p:nvSpPr>
          <p:cNvPr id="88" name="Shape 86"/>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89" name="Text 87"/>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0" name="Text 88"/>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1" name="Text 89"/>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2" name="Text 90"/>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3" name="Text 91"/>
          <p:cNvSpPr txBox="1"/>
          <p:nvPr/>
        </p:nvSpPr>
        <p:spPr>
          <a:xfrm>
            <a:off x="7379208" y="288036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4" name="Shape 92"/>
          <p:cNvSpPr/>
          <p:nvPr/>
        </p:nvSpPr>
        <p:spPr>
          <a:xfrm>
            <a:off x="8823960" y="2928823"/>
            <a:ext cx="1371600" cy="54864"/>
          </a:xfrm>
          <a:prstGeom prst="roundRect">
            <a:avLst>
              <a:gd name="adj" fmla="val 50000"/>
            </a:avLst>
          </a:prstGeom>
          <a:solidFill>
            <a:srgbClr val="E2EAEE"/>
          </a:solidFill>
          <a:ln/>
        </p:spPr>
      </p:sp>
      <p:sp>
        <p:nvSpPr>
          <p:cNvPr id="95" name="Shape 93"/>
          <p:cNvSpPr/>
          <p:nvPr/>
        </p:nvSpPr>
        <p:spPr>
          <a:xfrm>
            <a:off x="8823960" y="2928823"/>
            <a:ext cx="1371600" cy="54864"/>
          </a:xfrm>
          <a:prstGeom prst="roundRect">
            <a:avLst>
              <a:gd name="adj" fmla="val 50000"/>
            </a:avLst>
          </a:prstGeom>
          <a:solidFill>
            <a:srgbClr val="2C8394"/>
          </a:solidFill>
          <a:ln/>
        </p:spPr>
      </p:sp>
      <p:sp>
        <p:nvSpPr>
          <p:cNvPr id="96" name="Text 94"/>
          <p:cNvSpPr txBox="1"/>
          <p:nvPr/>
        </p:nvSpPr>
        <p:spPr>
          <a:xfrm>
            <a:off x="10287000" y="288036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23.09h</a:t>
            </a:r>
            <a:endParaRPr lang="en-US" sz="750" dirty="0"/>
          </a:p>
        </p:txBody>
      </p:sp>
      <p:sp>
        <p:nvSpPr>
          <p:cNvPr id="97" name="Text 95"/>
          <p:cNvSpPr txBox="1"/>
          <p:nvPr/>
        </p:nvSpPr>
        <p:spPr>
          <a:xfrm>
            <a:off x="10972800" y="288036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58.5%</a:t>
            </a:r>
            <a:endParaRPr lang="en-US" sz="750" dirty="0"/>
          </a:p>
        </p:txBody>
      </p:sp>
      <p:sp>
        <p:nvSpPr>
          <p:cNvPr id="98" name="Text 96"/>
          <p:cNvSpPr txBox="1"/>
          <p:nvPr/>
        </p:nvSpPr>
        <p:spPr>
          <a:xfrm>
            <a:off x="7379208" y="303215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Onboarding</a:t>
            </a:r>
            <a:endParaRPr lang="en-US" sz="700" dirty="0"/>
          </a:p>
        </p:txBody>
      </p:sp>
      <p:sp>
        <p:nvSpPr>
          <p:cNvPr id="99" name="Shape 97"/>
          <p:cNvSpPr/>
          <p:nvPr/>
        </p:nvSpPr>
        <p:spPr>
          <a:xfrm>
            <a:off x="8823960" y="3080614"/>
            <a:ext cx="1371600" cy="54864"/>
          </a:xfrm>
          <a:prstGeom prst="roundRect">
            <a:avLst>
              <a:gd name="adj" fmla="val 50000"/>
            </a:avLst>
          </a:prstGeom>
          <a:solidFill>
            <a:srgbClr val="E2EAEE"/>
          </a:solidFill>
          <a:ln/>
        </p:spPr>
      </p:sp>
      <p:sp>
        <p:nvSpPr>
          <p:cNvPr id="100" name="Shape 98"/>
          <p:cNvSpPr/>
          <p:nvPr/>
        </p:nvSpPr>
        <p:spPr>
          <a:xfrm>
            <a:off x="8823960" y="3080614"/>
            <a:ext cx="386115" cy="54864"/>
          </a:xfrm>
          <a:prstGeom prst="roundRect">
            <a:avLst>
              <a:gd name="adj" fmla="val 50000"/>
            </a:avLst>
          </a:prstGeom>
          <a:solidFill>
            <a:srgbClr val="2C8394"/>
          </a:solidFill>
          <a:ln/>
        </p:spPr>
      </p:sp>
      <p:sp>
        <p:nvSpPr>
          <p:cNvPr id="101" name="Text 99"/>
          <p:cNvSpPr txBox="1"/>
          <p:nvPr/>
        </p:nvSpPr>
        <p:spPr>
          <a:xfrm>
            <a:off x="10287000" y="303215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6.50h</a:t>
            </a:r>
            <a:endParaRPr lang="en-US" sz="750" dirty="0"/>
          </a:p>
        </p:txBody>
      </p:sp>
      <p:sp>
        <p:nvSpPr>
          <p:cNvPr id="102" name="Text 100"/>
          <p:cNvSpPr txBox="1"/>
          <p:nvPr/>
        </p:nvSpPr>
        <p:spPr>
          <a:xfrm>
            <a:off x="10972800" y="303215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16.5%</a:t>
            </a:r>
            <a:endParaRPr lang="en-US" sz="750" dirty="0"/>
          </a:p>
        </p:txBody>
      </p:sp>
      <p:sp>
        <p:nvSpPr>
          <p:cNvPr id="103" name="Text 101"/>
          <p:cNvSpPr txBox="1"/>
          <p:nvPr/>
        </p:nvSpPr>
        <p:spPr>
          <a:xfrm>
            <a:off x="7379208" y="3183941"/>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Training</a:t>
            </a:r>
            <a:endParaRPr lang="en-US" sz="700" dirty="0"/>
          </a:p>
        </p:txBody>
      </p:sp>
      <p:sp>
        <p:nvSpPr>
          <p:cNvPr id="104" name="Shape 102"/>
          <p:cNvSpPr/>
          <p:nvPr/>
        </p:nvSpPr>
        <p:spPr>
          <a:xfrm>
            <a:off x="8823960" y="3232404"/>
            <a:ext cx="1371600" cy="54864"/>
          </a:xfrm>
          <a:prstGeom prst="roundRect">
            <a:avLst>
              <a:gd name="adj" fmla="val 50000"/>
            </a:avLst>
          </a:prstGeom>
          <a:solidFill>
            <a:srgbClr val="E2EAEE"/>
          </a:solidFill>
          <a:ln/>
        </p:spPr>
      </p:sp>
      <p:sp>
        <p:nvSpPr>
          <p:cNvPr id="105" name="Shape 103"/>
          <p:cNvSpPr/>
          <p:nvPr/>
        </p:nvSpPr>
        <p:spPr>
          <a:xfrm>
            <a:off x="8823960" y="3232404"/>
            <a:ext cx="386115" cy="54864"/>
          </a:xfrm>
          <a:prstGeom prst="roundRect">
            <a:avLst>
              <a:gd name="adj" fmla="val 50000"/>
            </a:avLst>
          </a:prstGeom>
          <a:solidFill>
            <a:srgbClr val="2C8394"/>
          </a:solidFill>
          <a:ln/>
        </p:spPr>
      </p:sp>
      <p:sp>
        <p:nvSpPr>
          <p:cNvPr id="106" name="Text 104"/>
          <p:cNvSpPr txBox="1"/>
          <p:nvPr/>
        </p:nvSpPr>
        <p:spPr>
          <a:xfrm>
            <a:off x="10287000" y="3183941"/>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6.50h</a:t>
            </a:r>
            <a:endParaRPr lang="en-US" sz="750" dirty="0"/>
          </a:p>
        </p:txBody>
      </p:sp>
      <p:sp>
        <p:nvSpPr>
          <p:cNvPr id="107" name="Text 105"/>
          <p:cNvSpPr txBox="1"/>
          <p:nvPr/>
        </p:nvSpPr>
        <p:spPr>
          <a:xfrm>
            <a:off x="10972800" y="3183941"/>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16.5%</a:t>
            </a:r>
            <a:endParaRPr lang="en-US" sz="750" dirty="0"/>
          </a:p>
        </p:txBody>
      </p:sp>
      <p:sp>
        <p:nvSpPr>
          <p:cNvPr id="108" name="Text 106"/>
          <p:cNvSpPr txBox="1"/>
          <p:nvPr/>
        </p:nvSpPr>
        <p:spPr>
          <a:xfrm>
            <a:off x="7379208" y="3335731"/>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9" name="Shape 107"/>
          <p:cNvSpPr/>
          <p:nvPr/>
        </p:nvSpPr>
        <p:spPr>
          <a:xfrm>
            <a:off x="8823960" y="3384194"/>
            <a:ext cx="1371600" cy="54864"/>
          </a:xfrm>
          <a:prstGeom prst="roundRect">
            <a:avLst>
              <a:gd name="adj" fmla="val 50000"/>
            </a:avLst>
          </a:prstGeom>
          <a:solidFill>
            <a:srgbClr val="E2EAEE"/>
          </a:solidFill>
          <a:ln/>
        </p:spPr>
      </p:sp>
      <p:sp>
        <p:nvSpPr>
          <p:cNvPr id="110" name="Shape 108"/>
          <p:cNvSpPr/>
          <p:nvPr/>
        </p:nvSpPr>
        <p:spPr>
          <a:xfrm>
            <a:off x="8823960" y="3384194"/>
            <a:ext cx="199592" cy="54864"/>
          </a:xfrm>
          <a:prstGeom prst="roundRect">
            <a:avLst>
              <a:gd name="adj" fmla="val 50000"/>
            </a:avLst>
          </a:prstGeom>
          <a:solidFill>
            <a:srgbClr val="2C8394"/>
          </a:solidFill>
          <a:ln/>
        </p:spPr>
      </p:sp>
      <p:sp>
        <p:nvSpPr>
          <p:cNvPr id="111" name="Text 109"/>
          <p:cNvSpPr txBox="1"/>
          <p:nvPr/>
        </p:nvSpPr>
        <p:spPr>
          <a:xfrm>
            <a:off x="10287000" y="3335731"/>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3.36h</a:t>
            </a:r>
            <a:endParaRPr lang="en-US" sz="750" dirty="0"/>
          </a:p>
        </p:txBody>
      </p:sp>
      <p:sp>
        <p:nvSpPr>
          <p:cNvPr id="112" name="Text 110"/>
          <p:cNvSpPr txBox="1"/>
          <p:nvPr/>
        </p:nvSpPr>
        <p:spPr>
          <a:xfrm>
            <a:off x="10972800" y="3335731"/>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8.5%</a:t>
            </a:r>
            <a:endParaRPr lang="en-US" sz="750" dirty="0"/>
          </a:p>
        </p:txBody>
      </p:sp>
      <p:sp>
        <p:nvSpPr>
          <p:cNvPr id="113" name="Text 111"/>
          <p:cNvSpPr txBox="1"/>
          <p:nvPr/>
        </p:nvSpPr>
        <p:spPr>
          <a:xfrm>
            <a:off x="7379208" y="3487522"/>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Warranty</a:t>
            </a:r>
            <a:endParaRPr lang="en-US" sz="700" dirty="0"/>
          </a:p>
        </p:txBody>
      </p:sp>
      <p:sp>
        <p:nvSpPr>
          <p:cNvPr id="114" name="Shape 112"/>
          <p:cNvSpPr/>
          <p:nvPr/>
        </p:nvSpPr>
        <p:spPr>
          <a:xfrm>
            <a:off x="8823960" y="3535985"/>
            <a:ext cx="1371600" cy="54864"/>
          </a:xfrm>
          <a:prstGeom prst="roundRect">
            <a:avLst>
              <a:gd name="adj" fmla="val 50000"/>
            </a:avLst>
          </a:prstGeom>
          <a:solidFill>
            <a:srgbClr val="E2EAEE"/>
          </a:solidFill>
          <a:ln/>
        </p:spPr>
      </p:sp>
      <p:sp>
        <p:nvSpPr>
          <p:cNvPr id="115" name="Text 113"/>
          <p:cNvSpPr txBox="1"/>
          <p:nvPr/>
        </p:nvSpPr>
        <p:spPr>
          <a:xfrm>
            <a:off x="10287000" y="3487522"/>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6" name="Text 114"/>
          <p:cNvSpPr txBox="1"/>
          <p:nvPr/>
        </p:nvSpPr>
        <p:spPr>
          <a:xfrm>
            <a:off x="10972800" y="3487522"/>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7" name="Shape 115"/>
          <p:cNvSpPr/>
          <p:nvPr/>
        </p:nvSpPr>
        <p:spPr>
          <a:xfrm>
            <a:off x="7379208" y="3657600"/>
            <a:ext cx="4197096" cy="10973"/>
          </a:xfrm>
          <a:prstGeom prst="rect">
            <a:avLst/>
          </a:prstGeom>
          <a:solidFill>
            <a:srgbClr val="12293A"/>
          </a:solidFill>
          <a:ln/>
        </p:spPr>
      </p:sp>
      <p:sp>
        <p:nvSpPr>
          <p:cNvPr id="118" name="Text 116"/>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19" name="Text 117"/>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27 PS items carry time</a:t>
            </a:r>
            <a:endParaRPr lang="en-US" sz="630" dirty="0"/>
          </a:p>
        </p:txBody>
      </p:sp>
      <p:sp>
        <p:nvSpPr>
          <p:cNvPr id="120" name="Text 118"/>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39.45h</a:t>
            </a:r>
            <a:endParaRPr lang="en-US" sz="850" dirty="0"/>
          </a:p>
        </p:txBody>
      </p:sp>
      <p:sp>
        <p:nvSpPr>
          <p:cNvPr id="121" name="Text 119"/>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2" name="Shape 120"/>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3" name="Text 121"/>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4" name="Text 122"/>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25" name="Text 123"/>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26" name="Text 124"/>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27" name="Text 125"/>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28" name="Text 126"/>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29" name="Shape 127"/>
          <p:cNvSpPr/>
          <p:nvPr/>
        </p:nvSpPr>
        <p:spPr>
          <a:xfrm>
            <a:off x="7379208" y="4585716"/>
            <a:ext cx="4197096" cy="5486"/>
          </a:xfrm>
          <a:prstGeom prst="rect">
            <a:avLst/>
          </a:prstGeom>
          <a:solidFill>
            <a:srgbClr val="E2EAEE"/>
          </a:solidFill>
          <a:ln/>
        </p:spPr>
      </p:sp>
      <p:sp>
        <p:nvSpPr>
          <p:cNvPr id="130" name="Text 128"/>
          <p:cNvSpPr txBox="1"/>
          <p:nvPr/>
        </p:nvSpPr>
        <p:spPr>
          <a:xfrm>
            <a:off x="7379208" y="4443984"/>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21–27 Sep</a:t>
            </a:r>
            <a:endParaRPr lang="en-US" sz="700" dirty="0"/>
          </a:p>
        </p:txBody>
      </p:sp>
      <p:sp>
        <p:nvSpPr>
          <p:cNvPr id="131" name="Text 129"/>
          <p:cNvSpPr txBox="1"/>
          <p:nvPr/>
        </p:nvSpPr>
        <p:spPr>
          <a:xfrm>
            <a:off x="8385048" y="4443984"/>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27</a:t>
            </a:r>
            <a:endParaRPr lang="en-US" sz="700" dirty="0"/>
          </a:p>
        </p:txBody>
      </p:sp>
      <p:sp>
        <p:nvSpPr>
          <p:cNvPr id="132" name="Text 130"/>
          <p:cNvSpPr txBox="1"/>
          <p:nvPr/>
        </p:nvSpPr>
        <p:spPr>
          <a:xfrm>
            <a:off x="8897112" y="4443984"/>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44.50h</a:t>
            </a:r>
            <a:endParaRPr lang="en-US" sz="750" dirty="0"/>
          </a:p>
        </p:txBody>
      </p:sp>
      <p:sp>
        <p:nvSpPr>
          <p:cNvPr id="133" name="Text 131"/>
          <p:cNvSpPr txBox="1"/>
          <p:nvPr/>
        </p:nvSpPr>
        <p:spPr>
          <a:xfrm>
            <a:off x="9729216" y="4443984"/>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13.0%</a:t>
            </a:r>
            <a:endParaRPr lang="en-US" sz="750" dirty="0"/>
          </a:p>
        </p:txBody>
      </p:sp>
      <p:sp>
        <p:nvSpPr>
          <p:cNvPr id="134" name="Text 132"/>
          <p:cNvSpPr txBox="1"/>
          <p:nvPr/>
        </p:nvSpPr>
        <p:spPr>
          <a:xfrm>
            <a:off x="10241280" y="4443984"/>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20.75h · 6.1%   ▲ +23.75h</a:t>
            </a:r>
            <a:endParaRPr lang="en-US" sz="610" dirty="0"/>
          </a:p>
        </p:txBody>
      </p:sp>
      <p:sp>
        <p:nvSpPr>
          <p:cNvPr id="135" name="Shape 133"/>
          <p:cNvSpPr/>
          <p:nvPr/>
        </p:nvSpPr>
        <p:spPr>
          <a:xfrm>
            <a:off x="7379208" y="4736592"/>
            <a:ext cx="4197096" cy="5486"/>
          </a:xfrm>
          <a:prstGeom prst="rect">
            <a:avLst/>
          </a:prstGeom>
          <a:solidFill>
            <a:srgbClr val="E2EAEE"/>
          </a:solidFill>
          <a:ln/>
        </p:spPr>
      </p:sp>
      <p:sp>
        <p:nvSpPr>
          <p:cNvPr id="136" name="Text 134"/>
          <p:cNvSpPr txBox="1"/>
          <p:nvPr/>
        </p:nvSpPr>
        <p:spPr>
          <a:xfrm>
            <a:off x="7379208" y="4594860"/>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28 Sep–4 Oct</a:t>
            </a:r>
            <a:endParaRPr lang="en-US" sz="700" dirty="0"/>
          </a:p>
        </p:txBody>
      </p:sp>
      <p:sp>
        <p:nvSpPr>
          <p:cNvPr id="137" name="Text 135"/>
          <p:cNvSpPr txBox="1"/>
          <p:nvPr/>
        </p:nvSpPr>
        <p:spPr>
          <a:xfrm>
            <a:off x="8385048" y="4594860"/>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30</a:t>
            </a:r>
            <a:endParaRPr lang="en-US" sz="700" dirty="0"/>
          </a:p>
        </p:txBody>
      </p:sp>
      <p:sp>
        <p:nvSpPr>
          <p:cNvPr id="138" name="Text 136"/>
          <p:cNvSpPr txBox="1"/>
          <p:nvPr/>
        </p:nvSpPr>
        <p:spPr>
          <a:xfrm>
            <a:off x="8897112" y="4594860"/>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81.96h</a:t>
            </a:r>
            <a:endParaRPr lang="en-US" sz="750" dirty="0"/>
          </a:p>
        </p:txBody>
      </p:sp>
      <p:sp>
        <p:nvSpPr>
          <p:cNvPr id="139" name="Text 137"/>
          <p:cNvSpPr txBox="1"/>
          <p:nvPr/>
        </p:nvSpPr>
        <p:spPr>
          <a:xfrm>
            <a:off x="9729216" y="4594860"/>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30.8%</a:t>
            </a:r>
            <a:endParaRPr lang="en-US" sz="750" dirty="0"/>
          </a:p>
        </p:txBody>
      </p:sp>
      <p:sp>
        <p:nvSpPr>
          <p:cNvPr id="140" name="Text 138"/>
          <p:cNvSpPr txBox="1"/>
          <p:nvPr/>
        </p:nvSpPr>
        <p:spPr>
          <a:xfrm>
            <a:off x="10241280" y="4594860"/>
            <a:ext cx="1335024" cy="150876"/>
          </a:xfrm>
          <a:prstGeom prst="rect">
            <a:avLst/>
          </a:prstGeom>
          <a:noFill/>
          <a:ln/>
        </p:spPr>
        <p:txBody>
          <a:bodyPr wrap="square" lIns="0" tIns="0" rIns="0" bIns="0" rtlCol="0" anchor="ctr"/>
          <a:lstStyle/>
          <a:p>
            <a:pPr algn="r" indent="0" marL="0">
              <a:buNone/>
            </a:pPr>
            <a:r>
              <a:rPr lang="en-US" sz="610" b="1" dirty="0">
                <a:solidFill>
                  <a:srgbClr val="C88A2E"/>
                </a:solidFill>
                <a:latin typeface="Poppins" pitchFamily="34" charset="0"/>
                <a:ea typeface="Poppins" pitchFamily="34" charset="-122"/>
                <a:cs typeface="Poppins" pitchFamily="34" charset="-120"/>
              </a:rPr>
              <a:t>88.87h · 33.4%   ▼ −6.91h</a:t>
            </a:r>
            <a:endParaRPr lang="en-US" sz="610" dirty="0"/>
          </a:p>
        </p:txBody>
      </p:sp>
      <p:sp>
        <p:nvSpPr>
          <p:cNvPr id="141" name="Shape 139"/>
          <p:cNvSpPr/>
          <p:nvPr/>
        </p:nvSpPr>
        <p:spPr>
          <a:xfrm>
            <a:off x="7379208" y="4887468"/>
            <a:ext cx="4197096" cy="5486"/>
          </a:xfrm>
          <a:prstGeom prst="rect">
            <a:avLst/>
          </a:prstGeom>
          <a:solidFill>
            <a:srgbClr val="E2EAEE"/>
          </a:solidFill>
          <a:ln/>
        </p:spPr>
      </p:sp>
      <p:sp>
        <p:nvSpPr>
          <p:cNvPr id="142" name="Text 140"/>
          <p:cNvSpPr txBox="1"/>
          <p:nvPr/>
        </p:nvSpPr>
        <p:spPr>
          <a:xfrm>
            <a:off x="7379208" y="4745736"/>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5–11 Oct</a:t>
            </a:r>
            <a:endParaRPr lang="en-US" sz="700" dirty="0"/>
          </a:p>
        </p:txBody>
      </p:sp>
      <p:sp>
        <p:nvSpPr>
          <p:cNvPr id="143" name="Text 141"/>
          <p:cNvSpPr txBox="1"/>
          <p:nvPr/>
        </p:nvSpPr>
        <p:spPr>
          <a:xfrm>
            <a:off x="8385048" y="4745736"/>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19</a:t>
            </a:r>
            <a:endParaRPr lang="en-US" sz="700" dirty="0"/>
          </a:p>
        </p:txBody>
      </p:sp>
      <p:sp>
        <p:nvSpPr>
          <p:cNvPr id="144" name="Text 142"/>
          <p:cNvSpPr txBox="1"/>
          <p:nvPr/>
        </p:nvSpPr>
        <p:spPr>
          <a:xfrm>
            <a:off x="8897112" y="4745736"/>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30.25h</a:t>
            </a:r>
            <a:endParaRPr lang="en-US" sz="750" dirty="0"/>
          </a:p>
        </p:txBody>
      </p:sp>
      <p:sp>
        <p:nvSpPr>
          <p:cNvPr id="145" name="Text 143"/>
          <p:cNvSpPr txBox="1"/>
          <p:nvPr/>
        </p:nvSpPr>
        <p:spPr>
          <a:xfrm>
            <a:off x="9729216" y="4745736"/>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8.8%</a:t>
            </a:r>
            <a:endParaRPr lang="en-US" sz="750" dirty="0"/>
          </a:p>
        </p:txBody>
      </p:sp>
      <p:sp>
        <p:nvSpPr>
          <p:cNvPr id="146" name="Text 144"/>
          <p:cNvSpPr txBox="1"/>
          <p:nvPr/>
        </p:nvSpPr>
        <p:spPr>
          <a:xfrm>
            <a:off x="10241280" y="4745736"/>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21.25h · 6.2%   ▲ +9.00h</a:t>
            </a:r>
            <a:endParaRPr lang="en-US" sz="610" dirty="0"/>
          </a:p>
        </p:txBody>
      </p:sp>
      <p:sp>
        <p:nvSpPr>
          <p:cNvPr id="147" name="Shape 145"/>
          <p:cNvSpPr/>
          <p:nvPr/>
        </p:nvSpPr>
        <p:spPr>
          <a:xfrm>
            <a:off x="7379208" y="5038344"/>
            <a:ext cx="4197096" cy="5486"/>
          </a:xfrm>
          <a:prstGeom prst="rect">
            <a:avLst/>
          </a:prstGeom>
          <a:solidFill>
            <a:srgbClr val="E2EAEE"/>
          </a:solidFill>
          <a:ln/>
        </p:spPr>
      </p:sp>
      <p:sp>
        <p:nvSpPr>
          <p:cNvPr id="148" name="Text 146"/>
          <p:cNvSpPr txBox="1"/>
          <p:nvPr/>
        </p:nvSpPr>
        <p:spPr>
          <a:xfrm>
            <a:off x="7379208" y="4896612"/>
            <a:ext cx="960120" cy="150876"/>
          </a:xfrm>
          <a:prstGeom prst="rect">
            <a:avLst/>
          </a:prstGeom>
          <a:noFill/>
          <a:ln/>
        </p:spPr>
        <p:txBody>
          <a:bodyPr wrap="square" lIns="0" tIns="0" rIns="0" bIns="0" rtlCol="0" anchor="ctr"/>
          <a:lstStyle/>
          <a:p>
            <a:pPr indent="0" marL="0">
              <a:buNone/>
            </a:pPr>
            <a:r>
              <a:rPr lang="en-US" sz="700" b="1" dirty="0">
                <a:solidFill>
                  <a:srgbClr val="2C8394"/>
                </a:solidFill>
                <a:latin typeface="Poppins" pitchFamily="34" charset="0"/>
                <a:ea typeface="Poppins" pitchFamily="34" charset="-122"/>
                <a:cs typeface="Poppins" pitchFamily="34" charset="-120"/>
              </a:rPr>
              <a:t>12–18 Oct  ●</a:t>
            </a:r>
            <a:endParaRPr lang="en-US" sz="700" dirty="0"/>
          </a:p>
        </p:txBody>
      </p:sp>
      <p:sp>
        <p:nvSpPr>
          <p:cNvPr id="149" name="Text 147"/>
          <p:cNvSpPr txBox="1"/>
          <p:nvPr/>
        </p:nvSpPr>
        <p:spPr>
          <a:xfrm>
            <a:off x="8385048" y="4896612"/>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27</a:t>
            </a:r>
            <a:endParaRPr lang="en-US" sz="700" dirty="0"/>
          </a:p>
        </p:txBody>
      </p:sp>
      <p:sp>
        <p:nvSpPr>
          <p:cNvPr id="150" name="Text 148"/>
          <p:cNvSpPr txBox="1"/>
          <p:nvPr/>
        </p:nvSpPr>
        <p:spPr>
          <a:xfrm>
            <a:off x="8897112" y="4896612"/>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39.45h</a:t>
            </a:r>
            <a:endParaRPr lang="en-US" sz="750" dirty="0"/>
          </a:p>
        </p:txBody>
      </p:sp>
      <p:sp>
        <p:nvSpPr>
          <p:cNvPr id="151" name="Text 149"/>
          <p:cNvSpPr txBox="1"/>
          <p:nvPr/>
        </p:nvSpPr>
        <p:spPr>
          <a:xfrm>
            <a:off x="9729216" y="4896612"/>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13.0%</a:t>
            </a:r>
            <a:endParaRPr lang="en-US" sz="750" dirty="0"/>
          </a:p>
        </p:txBody>
      </p:sp>
      <p:sp>
        <p:nvSpPr>
          <p:cNvPr id="152" name="Text 150"/>
          <p:cNvSpPr txBox="1"/>
          <p:nvPr/>
        </p:nvSpPr>
        <p:spPr>
          <a:xfrm>
            <a:off x="10241280" y="4896612"/>
            <a:ext cx="1335024" cy="150876"/>
          </a:xfrm>
          <a:prstGeom prst="rect">
            <a:avLst/>
          </a:prstGeom>
          <a:noFill/>
          <a:ln/>
        </p:spPr>
        <p:txBody>
          <a:bodyPr wrap="square" lIns="0" tIns="0" rIns="0" bIns="0" rtlCol="0" anchor="ctr"/>
          <a:lstStyle/>
          <a:p>
            <a:pPr algn="r" indent="0" marL="0">
              <a:buNone/>
            </a:pPr>
            <a:r>
              <a:rPr lang="en-US" sz="630" dirty="0">
                <a:solidFill>
                  <a:srgbClr val="8FA1AC"/>
                </a:solidFill>
                <a:latin typeface="Poppins" pitchFamily="34" charset="0"/>
                <a:ea typeface="Poppins" pitchFamily="34" charset="-122"/>
                <a:cs typeface="Poppins" pitchFamily="34" charset="-120"/>
              </a:rPr>
              <a:t>first report</a:t>
            </a:r>
            <a:endParaRPr lang="en-US" sz="630" dirty="0"/>
          </a:p>
        </p:txBody>
      </p:sp>
      <p:sp>
        <p:nvSpPr>
          <p:cNvPr id="153" name="Text 151"/>
          <p:cNvSpPr txBox="1"/>
          <p:nvPr/>
        </p:nvSpPr>
        <p:spPr>
          <a:xfrm>
            <a:off x="7379208" y="5084064"/>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Base is available staff × 38h: 9 for the September weeks, 7 for 28 Sep–4 Oct (Rhys and Rodney on leave) and 8 for 12–18 Oct (Isayah on leave). PS-pipeline tickets by Sydney week.</a:t>
            </a:r>
            <a:endParaRPr lang="en-US" sz="580" dirty="0"/>
          </a:p>
        </p:txBody>
      </p:sp>
      <p:sp>
        <p:nvSpPr>
          <p:cNvPr id="154" name="Shape 152"/>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5" name="Text 153"/>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6" name="Text 154"/>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 restated up 42% in seven days.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5–11 Oct went out at 21.25h (6.2%) and now reads 30.25h (8.8%); 21–27 Sep has grown again to 44.50h from the 20.75h first published. Only 28 Sep–4 Oct sits below its first number, and that is the attribution fix from last week. Treat 13.0% as a floor.</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manager logged more than the team.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19.50h — half the week — against Joshua Casey 6.50h and Rodney Nolan 5.75h; Karim AlRifaii logged nothing. Strip Rhys out and utilisation is 6.6%.</a:t>
            </a:r>
            <a:endParaRPr lang="en-US" sz="900" dirty="0"/>
          </a:p>
        </p:txBody>
      </p:sp>
      <p:sp>
        <p:nvSpPr>
          <p:cNvPr id="157" name="Shape 155"/>
          <p:cNvSpPr/>
          <p:nvPr/>
        </p:nvSpPr>
        <p:spPr>
          <a:xfrm>
            <a:off x="5925312" y="6510528"/>
            <a:ext cx="5852160" cy="256032"/>
          </a:xfrm>
          <a:prstGeom prst="roundRect">
            <a:avLst>
              <a:gd name="adj" fmla="val 46429"/>
            </a:avLst>
          </a:prstGeom>
          <a:solidFill>
            <a:srgbClr val="12293A"/>
          </a:solidFill>
          <a:ln/>
        </p:spPr>
      </p:sp>
      <p:sp>
        <p:nvSpPr>
          <p:cNvPr id="158" name="Text 156"/>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PS-pipeline tickets · actual_hours + training_actual_hours, Sydney weeks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Closed Won — Not Yet Live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78892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45973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WON, NOT YET BILLING</a:t>
            </a:r>
            <a:endParaRPr lang="en-US" sz="950" dirty="0"/>
          </a:p>
        </p:txBody>
      </p:sp>
      <p:sp>
        <p:nvSpPr>
          <p:cNvPr id="15" name="Text 13"/>
          <p:cNvSpPr txBox="1"/>
          <p:nvPr/>
        </p:nvSpPr>
        <p:spPr>
          <a:xfrm>
            <a:off x="557784" y="1261872"/>
            <a:ext cx="2496312" cy="31089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a:t>
            </a:r>
            <a:endParaRPr lang="en-US" sz="2600" dirty="0"/>
          </a:p>
        </p:txBody>
      </p:sp>
      <p:sp>
        <p:nvSpPr>
          <p:cNvPr id="16" name="Text 14"/>
          <p:cNvSpPr txBox="1"/>
          <p:nvPr/>
        </p:nvSpPr>
        <p:spPr>
          <a:xfrm>
            <a:off x="576072" y="1609344"/>
            <a:ext cx="245973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of the 95 deals won with recurring revenue in 2026</a:t>
            </a:r>
            <a:endParaRPr lang="en-US" sz="780" dirty="0"/>
          </a:p>
        </p:txBody>
      </p:sp>
      <p:sp>
        <p:nvSpPr>
          <p:cNvPr id="17" name="Shape 15"/>
          <p:cNvSpPr/>
          <p:nvPr/>
        </p:nvSpPr>
        <p:spPr>
          <a:xfrm>
            <a:off x="3383280" y="987552"/>
            <a:ext cx="278892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547872" y="1078992"/>
            <a:ext cx="245973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ARR AT STAKE</a:t>
            </a:r>
            <a:endParaRPr lang="en-US" sz="950" dirty="0"/>
          </a:p>
        </p:txBody>
      </p:sp>
      <p:sp>
        <p:nvSpPr>
          <p:cNvPr id="19" name="Text 17"/>
          <p:cNvSpPr txBox="1"/>
          <p:nvPr/>
        </p:nvSpPr>
        <p:spPr>
          <a:xfrm>
            <a:off x="3529584" y="1261872"/>
            <a:ext cx="2496312" cy="31089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$240k</a:t>
            </a:r>
            <a:endParaRPr lang="en-US" sz="2600" dirty="0"/>
          </a:p>
        </p:txBody>
      </p:sp>
      <p:sp>
        <p:nvSpPr>
          <p:cNvPr id="20" name="Text 18"/>
          <p:cNvSpPr txBox="1"/>
          <p:nvPr/>
        </p:nvSpPr>
        <p:spPr>
          <a:xfrm>
            <a:off x="3547872" y="1609344"/>
            <a:ext cx="245973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$20,038/mo signed and not invoiced</a:t>
            </a:r>
            <a:endParaRPr lang="en-US" sz="780" dirty="0"/>
          </a:p>
        </p:txBody>
      </p:sp>
      <p:sp>
        <p:nvSpPr>
          <p:cNvPr id="21" name="Shape 19"/>
          <p:cNvSpPr/>
          <p:nvPr/>
        </p:nvSpPr>
        <p:spPr>
          <a:xfrm>
            <a:off x="6355080" y="987552"/>
            <a:ext cx="278892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519672" y="1078992"/>
            <a:ext cx="245973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OLDEST</a:t>
            </a:r>
            <a:endParaRPr lang="en-US" sz="950" dirty="0"/>
          </a:p>
        </p:txBody>
      </p:sp>
      <p:sp>
        <p:nvSpPr>
          <p:cNvPr id="23" name="Text 21"/>
          <p:cNvSpPr txBox="1"/>
          <p:nvPr/>
        </p:nvSpPr>
        <p:spPr>
          <a:xfrm>
            <a:off x="6501384" y="1261872"/>
            <a:ext cx="2496312" cy="31089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209 Days</a:t>
            </a:r>
            <a:endParaRPr lang="en-US" sz="2600" dirty="0"/>
          </a:p>
        </p:txBody>
      </p:sp>
      <p:sp>
        <p:nvSpPr>
          <p:cNvPr id="24" name="Text 22"/>
          <p:cNvSpPr txBox="1"/>
          <p:nvPr/>
        </p:nvSpPr>
        <p:spPr>
          <a:xfrm>
            <a:off x="6519672" y="1609344"/>
            <a:ext cx="245973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The Berrigan — closed 23 March</a:t>
            </a:r>
            <a:endParaRPr lang="en-US" sz="780" dirty="0"/>
          </a:p>
        </p:txBody>
      </p:sp>
      <p:sp>
        <p:nvSpPr>
          <p:cNvPr id="25" name="Shape 23"/>
          <p:cNvSpPr/>
          <p:nvPr/>
        </p:nvSpPr>
        <p:spPr>
          <a:xfrm>
            <a:off x="9326880" y="987552"/>
            <a:ext cx="245059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9491472" y="1078992"/>
            <a:ext cx="2121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AGE</a:t>
            </a:r>
            <a:endParaRPr lang="en-US" sz="950" dirty="0"/>
          </a:p>
        </p:txBody>
      </p:sp>
      <p:sp>
        <p:nvSpPr>
          <p:cNvPr id="27" name="Text 25"/>
          <p:cNvSpPr txBox="1"/>
          <p:nvPr/>
        </p:nvSpPr>
        <p:spPr>
          <a:xfrm>
            <a:off x="9473184" y="1261872"/>
            <a:ext cx="2157984"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31 Days</a:t>
            </a:r>
            <a:endParaRPr lang="en-US" sz="2600" dirty="0"/>
          </a:p>
        </p:txBody>
      </p:sp>
      <p:sp>
        <p:nvSpPr>
          <p:cNvPr id="28" name="Text 26"/>
          <p:cNvSpPr txBox="1"/>
          <p:nvPr/>
        </p:nvSpPr>
        <p:spPr>
          <a:xfrm>
            <a:off x="9491472" y="1609344"/>
            <a:ext cx="212140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since close</a:t>
            </a:r>
            <a:endParaRPr lang="en-US" sz="780" dirty="0"/>
          </a:p>
        </p:txBody>
      </p:sp>
      <p:sp>
        <p:nvSpPr>
          <p:cNvPr id="29" name="Shape 27"/>
          <p:cNvSpPr/>
          <p:nvPr/>
        </p:nvSpPr>
        <p:spPr>
          <a:xfrm>
            <a:off x="411480" y="2212848"/>
            <a:ext cx="6675120" cy="4096512"/>
          </a:xfrm>
          <a:prstGeom prst="roundRect">
            <a:avLst>
              <a:gd name="adj" fmla="val 1563"/>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322576"/>
            <a:ext cx="6272784"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WON WITH RECURRING REVENUE, NO INVOICE RAISED   </a:t>
            </a:r>
            <a:pPr indent="0" marL="0">
              <a:buNone/>
            </a:pPr>
            <a:r>
              <a:rPr lang="en-US" sz="650" dirty="0">
                <a:solidFill>
                  <a:srgbClr val="8FA1AC"/>
                </a:solidFill>
                <a:latin typeface="Poppins" pitchFamily="34" charset="0"/>
                <a:ea typeface="Poppins" pitchFamily="34" charset="-122"/>
                <a:cs typeface="Poppins" pitchFamily="34" charset="-120"/>
              </a:rPr>
              <a:t>matched on debtor ID and venue name</a:t>
            </a:r>
            <a:endParaRPr lang="en-US" sz="1100" dirty="0"/>
          </a:p>
        </p:txBody>
      </p:sp>
      <p:sp>
        <p:nvSpPr>
          <p:cNvPr id="31" name="Text 29"/>
          <p:cNvSpPr txBox="1"/>
          <p:nvPr/>
        </p:nvSpPr>
        <p:spPr>
          <a:xfrm>
            <a:off x="612648" y="2615184"/>
            <a:ext cx="2743200" cy="182880"/>
          </a:xfrm>
          <a:prstGeom prst="rect">
            <a:avLst/>
          </a:prstGeom>
          <a:noFill/>
          <a:ln/>
        </p:spPr>
        <p:txBody>
          <a:bodyPr wrap="square" lIns="0" tIns="0" rIns="0" bIns="0" rtlCol="0" anchor="ctr"/>
          <a:lstStyle/>
          <a:p>
            <a:pPr algn="l" indent="0" marL="0">
              <a:buNone/>
            </a:pPr>
            <a:r>
              <a:rPr lang="en-US" sz="680" b="1" dirty="0">
                <a:solidFill>
                  <a:srgbClr val="5E7280"/>
                </a:solidFill>
                <a:latin typeface="Poppins" pitchFamily="34" charset="0"/>
                <a:ea typeface="Poppins" pitchFamily="34" charset="-122"/>
                <a:cs typeface="Poppins" pitchFamily="34" charset="-120"/>
              </a:rPr>
              <a:t>VENUE</a:t>
            </a:r>
            <a:endParaRPr lang="en-US" sz="680" dirty="0"/>
          </a:p>
        </p:txBody>
      </p:sp>
      <p:sp>
        <p:nvSpPr>
          <p:cNvPr id="32" name="Text 30"/>
          <p:cNvSpPr txBox="1"/>
          <p:nvPr/>
        </p:nvSpPr>
        <p:spPr>
          <a:xfrm>
            <a:off x="3374136" y="2615184"/>
            <a:ext cx="1371600" cy="182880"/>
          </a:xfrm>
          <a:prstGeom prst="rect">
            <a:avLst/>
          </a:prstGeom>
          <a:noFill/>
          <a:ln/>
        </p:spPr>
        <p:txBody>
          <a:bodyPr wrap="square" lIns="0" tIns="0" rIns="0" bIns="0" rtlCol="0" anchor="ctr"/>
          <a:lstStyle/>
          <a:p>
            <a:pPr algn="l" indent="0" marL="0">
              <a:buNone/>
            </a:pPr>
            <a:r>
              <a:rPr lang="en-US" sz="680" b="1" dirty="0">
                <a:solidFill>
                  <a:srgbClr val="5E7280"/>
                </a:solidFill>
                <a:latin typeface="Poppins" pitchFamily="34" charset="0"/>
                <a:ea typeface="Poppins" pitchFamily="34" charset="-122"/>
                <a:cs typeface="Poppins" pitchFamily="34" charset="-120"/>
              </a:rPr>
              <a:t>ACCOUNT MANAGER</a:t>
            </a:r>
            <a:endParaRPr lang="en-US" sz="680" dirty="0"/>
          </a:p>
        </p:txBody>
      </p:sp>
      <p:sp>
        <p:nvSpPr>
          <p:cNvPr id="33" name="Text 31"/>
          <p:cNvSpPr txBox="1"/>
          <p:nvPr/>
        </p:nvSpPr>
        <p:spPr>
          <a:xfrm>
            <a:off x="4782312" y="2615184"/>
            <a:ext cx="731520" cy="182880"/>
          </a:xfrm>
          <a:prstGeom prst="rect">
            <a:avLst/>
          </a:prstGeom>
          <a:noFill/>
          <a:ln/>
        </p:spPr>
        <p:txBody>
          <a:bodyPr wrap="square" lIns="0" tIns="0" rIns="0" bIns="0" rtlCol="0" anchor="ctr"/>
          <a:lstStyle/>
          <a:p>
            <a:pPr algn="l" indent="0" marL="0">
              <a:buNone/>
            </a:pPr>
            <a:r>
              <a:rPr lang="en-US" sz="680" b="1" dirty="0">
                <a:solidFill>
                  <a:srgbClr val="5E7280"/>
                </a:solidFill>
                <a:latin typeface="Poppins" pitchFamily="34" charset="0"/>
                <a:ea typeface="Poppins" pitchFamily="34" charset="-122"/>
                <a:cs typeface="Poppins" pitchFamily="34" charset="-120"/>
              </a:rPr>
              <a:t>CLOSED</a:t>
            </a:r>
            <a:endParaRPr lang="en-US" sz="680" dirty="0"/>
          </a:p>
        </p:txBody>
      </p:sp>
      <p:sp>
        <p:nvSpPr>
          <p:cNvPr id="34" name="Text 32"/>
          <p:cNvSpPr txBox="1"/>
          <p:nvPr/>
        </p:nvSpPr>
        <p:spPr>
          <a:xfrm>
            <a:off x="5532120" y="2615184"/>
            <a:ext cx="457200" cy="182880"/>
          </a:xfrm>
          <a:prstGeom prst="rect">
            <a:avLst/>
          </a:prstGeom>
          <a:noFill/>
          <a:ln/>
        </p:spPr>
        <p:txBody>
          <a:bodyPr wrap="square" lIns="0" tIns="0" rIns="0" bIns="0" rtlCol="0" anchor="ctr"/>
          <a:lstStyle/>
          <a:p>
            <a:pPr algn="r" indent="0" marL="0">
              <a:buNone/>
            </a:pPr>
            <a:r>
              <a:rPr lang="en-US" sz="680" b="1" dirty="0">
                <a:solidFill>
                  <a:srgbClr val="5E7280"/>
                </a:solidFill>
                <a:latin typeface="Poppins" pitchFamily="34" charset="0"/>
                <a:ea typeface="Poppins" pitchFamily="34" charset="-122"/>
                <a:cs typeface="Poppins" pitchFamily="34" charset="-120"/>
              </a:rPr>
              <a:t>DAYS</a:t>
            </a:r>
            <a:endParaRPr lang="en-US" sz="680" dirty="0"/>
          </a:p>
        </p:txBody>
      </p:sp>
      <p:sp>
        <p:nvSpPr>
          <p:cNvPr id="35" name="Text 33"/>
          <p:cNvSpPr txBox="1"/>
          <p:nvPr/>
        </p:nvSpPr>
        <p:spPr>
          <a:xfrm>
            <a:off x="6025896" y="2615184"/>
            <a:ext cx="768096" cy="182880"/>
          </a:xfrm>
          <a:prstGeom prst="rect">
            <a:avLst/>
          </a:prstGeom>
          <a:noFill/>
          <a:ln/>
        </p:spPr>
        <p:txBody>
          <a:bodyPr wrap="square" lIns="0" tIns="0" rIns="0" bIns="0" rtlCol="0" anchor="ctr"/>
          <a:lstStyle/>
          <a:p>
            <a:pPr algn="r" indent="0" marL="0">
              <a:buNone/>
            </a:pPr>
            <a:r>
              <a:rPr lang="en-US" sz="680" b="1" dirty="0">
                <a:solidFill>
                  <a:srgbClr val="5E7280"/>
                </a:solidFill>
                <a:latin typeface="Poppins" pitchFamily="34" charset="0"/>
                <a:ea typeface="Poppins" pitchFamily="34" charset="-122"/>
                <a:cs typeface="Poppins" pitchFamily="34" charset="-120"/>
              </a:rPr>
              <a:t>MRR/MO</a:t>
            </a:r>
            <a:endParaRPr lang="en-US" sz="680" dirty="0"/>
          </a:p>
        </p:txBody>
      </p:sp>
      <p:sp>
        <p:nvSpPr>
          <p:cNvPr id="36" name="Text 34"/>
          <p:cNvSpPr txBox="1"/>
          <p:nvPr/>
        </p:nvSpPr>
        <p:spPr>
          <a:xfrm>
            <a:off x="612648" y="2834640"/>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Oscars Hotels</a:t>
            </a:r>
            <a:endParaRPr lang="en-US" sz="720" dirty="0"/>
          </a:p>
        </p:txBody>
      </p:sp>
      <p:sp>
        <p:nvSpPr>
          <p:cNvPr id="37" name="Text 35"/>
          <p:cNvSpPr txBox="1"/>
          <p:nvPr/>
        </p:nvSpPr>
        <p:spPr>
          <a:xfrm>
            <a:off x="3374136" y="2834640"/>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38" name="Text 36"/>
          <p:cNvSpPr txBox="1"/>
          <p:nvPr/>
        </p:nvSpPr>
        <p:spPr>
          <a:xfrm>
            <a:off x="4782312" y="2834640"/>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31 Mar</a:t>
            </a:r>
            <a:endParaRPr lang="en-US" sz="700" dirty="0"/>
          </a:p>
        </p:txBody>
      </p:sp>
      <p:sp>
        <p:nvSpPr>
          <p:cNvPr id="39" name="Text 37"/>
          <p:cNvSpPr txBox="1"/>
          <p:nvPr/>
        </p:nvSpPr>
        <p:spPr>
          <a:xfrm>
            <a:off x="5532120" y="2834640"/>
            <a:ext cx="457200" cy="154534"/>
          </a:xfrm>
          <a:prstGeom prst="rect">
            <a:avLst/>
          </a:prstGeom>
          <a:noFill/>
          <a:ln/>
        </p:spPr>
        <p:txBody>
          <a:bodyPr wrap="square" lIns="0" tIns="0" rIns="0" bIns="0" rtlCol="0" anchor="ctr"/>
          <a:lstStyle/>
          <a:p>
            <a:pPr algn="r" indent="0" marL="0">
              <a:buNone/>
            </a:pPr>
            <a:r>
              <a:rPr lang="en-US" sz="720" b="1" dirty="0">
                <a:solidFill>
                  <a:srgbClr val="B4552D"/>
                </a:solidFill>
                <a:latin typeface="Poppins" pitchFamily="34" charset="0"/>
                <a:ea typeface="Poppins" pitchFamily="34" charset="-122"/>
                <a:cs typeface="Poppins" pitchFamily="34" charset="-120"/>
              </a:rPr>
              <a:t>201</a:t>
            </a:r>
            <a:endParaRPr lang="en-US" sz="720" dirty="0"/>
          </a:p>
        </p:txBody>
      </p:sp>
      <p:sp>
        <p:nvSpPr>
          <p:cNvPr id="40" name="Text 38"/>
          <p:cNvSpPr txBox="1"/>
          <p:nvPr/>
        </p:nvSpPr>
        <p:spPr>
          <a:xfrm>
            <a:off x="6025896" y="2834640"/>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$12,880</a:t>
            </a:r>
            <a:endParaRPr lang="en-US" sz="720" dirty="0"/>
          </a:p>
        </p:txBody>
      </p:sp>
      <p:sp>
        <p:nvSpPr>
          <p:cNvPr id="41" name="Shape 39"/>
          <p:cNvSpPr/>
          <p:nvPr/>
        </p:nvSpPr>
        <p:spPr>
          <a:xfrm>
            <a:off x="539496" y="2989174"/>
            <a:ext cx="6419088" cy="154534"/>
          </a:xfrm>
          <a:prstGeom prst="rect">
            <a:avLst/>
          </a:prstGeom>
          <a:solidFill>
            <a:srgbClr val="F2F6F8"/>
          </a:solidFill>
          <a:ln/>
        </p:spPr>
      </p:sp>
      <p:sp>
        <p:nvSpPr>
          <p:cNvPr id="42" name="Text 40"/>
          <p:cNvSpPr txBox="1"/>
          <p:nvPr/>
        </p:nvSpPr>
        <p:spPr>
          <a:xfrm>
            <a:off x="612648" y="2989174"/>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Mt Henry Tavern</a:t>
            </a:r>
            <a:endParaRPr lang="en-US" sz="720" dirty="0"/>
          </a:p>
        </p:txBody>
      </p:sp>
      <p:sp>
        <p:nvSpPr>
          <p:cNvPr id="43" name="Text 41"/>
          <p:cNvSpPr txBox="1"/>
          <p:nvPr/>
        </p:nvSpPr>
        <p:spPr>
          <a:xfrm>
            <a:off x="3374136" y="2989174"/>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44" name="Text 42"/>
          <p:cNvSpPr txBox="1"/>
          <p:nvPr/>
        </p:nvSpPr>
        <p:spPr>
          <a:xfrm>
            <a:off x="4782312" y="2989174"/>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 Oct</a:t>
            </a:r>
            <a:endParaRPr lang="en-US" sz="700" dirty="0"/>
          </a:p>
        </p:txBody>
      </p:sp>
      <p:sp>
        <p:nvSpPr>
          <p:cNvPr id="45" name="Text 43"/>
          <p:cNvSpPr txBox="1"/>
          <p:nvPr/>
        </p:nvSpPr>
        <p:spPr>
          <a:xfrm>
            <a:off x="5532120" y="2989174"/>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17</a:t>
            </a:r>
            <a:endParaRPr lang="en-US" sz="720" dirty="0"/>
          </a:p>
        </p:txBody>
      </p:sp>
      <p:sp>
        <p:nvSpPr>
          <p:cNvPr id="46" name="Text 44"/>
          <p:cNvSpPr txBox="1"/>
          <p:nvPr/>
        </p:nvSpPr>
        <p:spPr>
          <a:xfrm>
            <a:off x="6025896" y="2989174"/>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$905</a:t>
            </a:r>
            <a:endParaRPr lang="en-US" sz="720" dirty="0"/>
          </a:p>
        </p:txBody>
      </p:sp>
      <p:sp>
        <p:nvSpPr>
          <p:cNvPr id="47" name="Text 45"/>
          <p:cNvSpPr txBox="1"/>
          <p:nvPr/>
        </p:nvSpPr>
        <p:spPr>
          <a:xfrm>
            <a:off x="612648" y="3143707"/>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Caves House Hotel</a:t>
            </a:r>
            <a:endParaRPr lang="en-US" sz="720" dirty="0"/>
          </a:p>
        </p:txBody>
      </p:sp>
      <p:sp>
        <p:nvSpPr>
          <p:cNvPr id="48" name="Text 46"/>
          <p:cNvSpPr txBox="1"/>
          <p:nvPr/>
        </p:nvSpPr>
        <p:spPr>
          <a:xfrm>
            <a:off x="3374136" y="3143707"/>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49" name="Text 47"/>
          <p:cNvSpPr txBox="1"/>
          <p:nvPr/>
        </p:nvSpPr>
        <p:spPr>
          <a:xfrm>
            <a:off x="4782312" y="3143707"/>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11 Aug</a:t>
            </a:r>
            <a:endParaRPr lang="en-US" sz="700" dirty="0"/>
          </a:p>
        </p:txBody>
      </p:sp>
      <p:sp>
        <p:nvSpPr>
          <p:cNvPr id="50" name="Text 48"/>
          <p:cNvSpPr txBox="1"/>
          <p:nvPr/>
        </p:nvSpPr>
        <p:spPr>
          <a:xfrm>
            <a:off x="5532120" y="3143707"/>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68</a:t>
            </a:r>
            <a:endParaRPr lang="en-US" sz="720" dirty="0"/>
          </a:p>
        </p:txBody>
      </p:sp>
      <p:sp>
        <p:nvSpPr>
          <p:cNvPr id="51" name="Text 49"/>
          <p:cNvSpPr txBox="1"/>
          <p:nvPr/>
        </p:nvSpPr>
        <p:spPr>
          <a:xfrm>
            <a:off x="6025896" y="3143707"/>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$669</a:t>
            </a:r>
            <a:endParaRPr lang="en-US" sz="720" dirty="0"/>
          </a:p>
        </p:txBody>
      </p:sp>
      <p:sp>
        <p:nvSpPr>
          <p:cNvPr id="52" name="Shape 50"/>
          <p:cNvSpPr/>
          <p:nvPr/>
        </p:nvSpPr>
        <p:spPr>
          <a:xfrm>
            <a:off x="539496" y="3298241"/>
            <a:ext cx="6419088" cy="154534"/>
          </a:xfrm>
          <a:prstGeom prst="rect">
            <a:avLst/>
          </a:prstGeom>
          <a:solidFill>
            <a:srgbClr val="F2F6F8"/>
          </a:solidFill>
          <a:ln/>
        </p:spPr>
      </p:sp>
      <p:sp>
        <p:nvSpPr>
          <p:cNvPr id="53" name="Text 51"/>
          <p:cNvSpPr txBox="1"/>
          <p:nvPr/>
        </p:nvSpPr>
        <p:spPr>
          <a:xfrm>
            <a:off x="612648" y="3298241"/>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Pier Hotel - Pt Lincoln</a:t>
            </a:r>
            <a:endParaRPr lang="en-US" sz="720" dirty="0"/>
          </a:p>
        </p:txBody>
      </p:sp>
      <p:sp>
        <p:nvSpPr>
          <p:cNvPr id="54" name="Text 52"/>
          <p:cNvSpPr txBox="1"/>
          <p:nvPr/>
        </p:nvSpPr>
        <p:spPr>
          <a:xfrm>
            <a:off x="3374136" y="3298241"/>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55" name="Text 53"/>
          <p:cNvSpPr txBox="1"/>
          <p:nvPr/>
        </p:nvSpPr>
        <p:spPr>
          <a:xfrm>
            <a:off x="4782312" y="3298241"/>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30 Sep</a:t>
            </a:r>
            <a:endParaRPr lang="en-US" sz="700" dirty="0"/>
          </a:p>
        </p:txBody>
      </p:sp>
      <p:sp>
        <p:nvSpPr>
          <p:cNvPr id="56" name="Text 54"/>
          <p:cNvSpPr txBox="1"/>
          <p:nvPr/>
        </p:nvSpPr>
        <p:spPr>
          <a:xfrm>
            <a:off x="5532120" y="3298241"/>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18</a:t>
            </a:r>
            <a:endParaRPr lang="en-US" sz="720" dirty="0"/>
          </a:p>
        </p:txBody>
      </p:sp>
      <p:sp>
        <p:nvSpPr>
          <p:cNvPr id="57" name="Text 55"/>
          <p:cNvSpPr txBox="1"/>
          <p:nvPr/>
        </p:nvSpPr>
        <p:spPr>
          <a:xfrm>
            <a:off x="6025896" y="3298241"/>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$648</a:t>
            </a:r>
            <a:endParaRPr lang="en-US" sz="720" dirty="0"/>
          </a:p>
        </p:txBody>
      </p:sp>
      <p:sp>
        <p:nvSpPr>
          <p:cNvPr id="58" name="Text 56"/>
          <p:cNvSpPr txBox="1"/>
          <p:nvPr/>
        </p:nvSpPr>
        <p:spPr>
          <a:xfrm>
            <a:off x="612648" y="3452774"/>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The Iris Pavilion</a:t>
            </a:r>
            <a:endParaRPr lang="en-US" sz="720" dirty="0"/>
          </a:p>
        </p:txBody>
      </p:sp>
      <p:sp>
        <p:nvSpPr>
          <p:cNvPr id="59" name="Text 57"/>
          <p:cNvSpPr txBox="1"/>
          <p:nvPr/>
        </p:nvSpPr>
        <p:spPr>
          <a:xfrm>
            <a:off x="3374136" y="3452774"/>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60" name="Text 58"/>
          <p:cNvSpPr txBox="1"/>
          <p:nvPr/>
        </p:nvSpPr>
        <p:spPr>
          <a:xfrm>
            <a:off x="4782312" y="3452774"/>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30 Sep</a:t>
            </a:r>
            <a:endParaRPr lang="en-US" sz="700" dirty="0"/>
          </a:p>
        </p:txBody>
      </p:sp>
      <p:sp>
        <p:nvSpPr>
          <p:cNvPr id="61" name="Text 59"/>
          <p:cNvSpPr txBox="1"/>
          <p:nvPr/>
        </p:nvSpPr>
        <p:spPr>
          <a:xfrm>
            <a:off x="5532120" y="3452774"/>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18</a:t>
            </a:r>
            <a:endParaRPr lang="en-US" sz="720" dirty="0"/>
          </a:p>
        </p:txBody>
      </p:sp>
      <p:sp>
        <p:nvSpPr>
          <p:cNvPr id="62" name="Text 60"/>
          <p:cNvSpPr txBox="1"/>
          <p:nvPr/>
        </p:nvSpPr>
        <p:spPr>
          <a:xfrm>
            <a:off x="6025896" y="3452774"/>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$623</a:t>
            </a:r>
            <a:endParaRPr lang="en-US" sz="720" dirty="0"/>
          </a:p>
        </p:txBody>
      </p:sp>
      <p:sp>
        <p:nvSpPr>
          <p:cNvPr id="63" name="Shape 61"/>
          <p:cNvSpPr/>
          <p:nvPr/>
        </p:nvSpPr>
        <p:spPr>
          <a:xfrm>
            <a:off x="539496" y="3607308"/>
            <a:ext cx="6419088" cy="154534"/>
          </a:xfrm>
          <a:prstGeom prst="rect">
            <a:avLst/>
          </a:prstGeom>
          <a:solidFill>
            <a:srgbClr val="F2F6F8"/>
          </a:solidFill>
          <a:ln/>
        </p:spPr>
      </p:sp>
      <p:sp>
        <p:nvSpPr>
          <p:cNvPr id="64" name="Text 62"/>
          <p:cNvSpPr txBox="1"/>
          <p:nvPr/>
        </p:nvSpPr>
        <p:spPr>
          <a:xfrm>
            <a:off x="612648" y="3607308"/>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The Berrigan</a:t>
            </a:r>
            <a:endParaRPr lang="en-US" sz="720" dirty="0"/>
          </a:p>
        </p:txBody>
      </p:sp>
      <p:sp>
        <p:nvSpPr>
          <p:cNvPr id="65" name="Text 63"/>
          <p:cNvSpPr txBox="1"/>
          <p:nvPr/>
        </p:nvSpPr>
        <p:spPr>
          <a:xfrm>
            <a:off x="3374136" y="3607308"/>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66" name="Text 64"/>
          <p:cNvSpPr txBox="1"/>
          <p:nvPr/>
        </p:nvSpPr>
        <p:spPr>
          <a:xfrm>
            <a:off x="4782312" y="3607308"/>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23 Mar</a:t>
            </a:r>
            <a:endParaRPr lang="en-US" sz="700" dirty="0"/>
          </a:p>
        </p:txBody>
      </p:sp>
      <p:sp>
        <p:nvSpPr>
          <p:cNvPr id="67" name="Text 65"/>
          <p:cNvSpPr txBox="1"/>
          <p:nvPr/>
        </p:nvSpPr>
        <p:spPr>
          <a:xfrm>
            <a:off x="5532120" y="3607308"/>
            <a:ext cx="457200" cy="154534"/>
          </a:xfrm>
          <a:prstGeom prst="rect">
            <a:avLst/>
          </a:prstGeom>
          <a:noFill/>
          <a:ln/>
        </p:spPr>
        <p:txBody>
          <a:bodyPr wrap="square" lIns="0" tIns="0" rIns="0" bIns="0" rtlCol="0" anchor="ctr"/>
          <a:lstStyle/>
          <a:p>
            <a:pPr algn="r" indent="0" marL="0">
              <a:buNone/>
            </a:pPr>
            <a:r>
              <a:rPr lang="en-US" sz="720" b="1" dirty="0">
                <a:solidFill>
                  <a:srgbClr val="B4552D"/>
                </a:solidFill>
                <a:latin typeface="Poppins" pitchFamily="34" charset="0"/>
                <a:ea typeface="Poppins" pitchFamily="34" charset="-122"/>
                <a:cs typeface="Poppins" pitchFamily="34" charset="-120"/>
              </a:rPr>
              <a:t>209</a:t>
            </a:r>
            <a:endParaRPr lang="en-US" sz="720" dirty="0"/>
          </a:p>
        </p:txBody>
      </p:sp>
      <p:sp>
        <p:nvSpPr>
          <p:cNvPr id="68" name="Text 66"/>
          <p:cNvSpPr txBox="1"/>
          <p:nvPr/>
        </p:nvSpPr>
        <p:spPr>
          <a:xfrm>
            <a:off x="6025896" y="3607308"/>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$475</a:t>
            </a:r>
            <a:endParaRPr lang="en-US" sz="720" dirty="0"/>
          </a:p>
        </p:txBody>
      </p:sp>
      <p:sp>
        <p:nvSpPr>
          <p:cNvPr id="69" name="Text 67"/>
          <p:cNvSpPr txBox="1"/>
          <p:nvPr/>
        </p:nvSpPr>
        <p:spPr>
          <a:xfrm>
            <a:off x="612648" y="3761842"/>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Bar Carolina</a:t>
            </a:r>
            <a:endParaRPr lang="en-US" sz="720" dirty="0"/>
          </a:p>
        </p:txBody>
      </p:sp>
      <p:sp>
        <p:nvSpPr>
          <p:cNvPr id="70" name="Text 68"/>
          <p:cNvSpPr txBox="1"/>
          <p:nvPr/>
        </p:nvSpPr>
        <p:spPr>
          <a:xfrm>
            <a:off x="3374136" y="3761842"/>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Phuong Ho</a:t>
            </a:r>
            <a:endParaRPr lang="en-US" sz="700" dirty="0"/>
          </a:p>
        </p:txBody>
      </p:sp>
      <p:sp>
        <p:nvSpPr>
          <p:cNvPr id="71" name="Text 69"/>
          <p:cNvSpPr txBox="1"/>
          <p:nvPr/>
        </p:nvSpPr>
        <p:spPr>
          <a:xfrm>
            <a:off x="4782312" y="3761842"/>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 Oct</a:t>
            </a:r>
            <a:endParaRPr lang="en-US" sz="700" dirty="0"/>
          </a:p>
        </p:txBody>
      </p:sp>
      <p:sp>
        <p:nvSpPr>
          <p:cNvPr id="72" name="Text 70"/>
          <p:cNvSpPr txBox="1"/>
          <p:nvPr/>
        </p:nvSpPr>
        <p:spPr>
          <a:xfrm>
            <a:off x="5532120" y="3761842"/>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11</a:t>
            </a:r>
            <a:endParaRPr lang="en-US" sz="720" dirty="0"/>
          </a:p>
        </p:txBody>
      </p:sp>
      <p:sp>
        <p:nvSpPr>
          <p:cNvPr id="73" name="Text 71"/>
          <p:cNvSpPr txBox="1"/>
          <p:nvPr/>
        </p:nvSpPr>
        <p:spPr>
          <a:xfrm>
            <a:off x="6025896" y="3761842"/>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$474</a:t>
            </a:r>
            <a:endParaRPr lang="en-US" sz="720" dirty="0"/>
          </a:p>
        </p:txBody>
      </p:sp>
      <p:sp>
        <p:nvSpPr>
          <p:cNvPr id="74" name="Shape 72"/>
          <p:cNvSpPr/>
          <p:nvPr/>
        </p:nvSpPr>
        <p:spPr>
          <a:xfrm>
            <a:off x="539496" y="3916375"/>
            <a:ext cx="6419088" cy="154534"/>
          </a:xfrm>
          <a:prstGeom prst="rect">
            <a:avLst/>
          </a:prstGeom>
          <a:solidFill>
            <a:srgbClr val="F2F6F8"/>
          </a:solidFill>
          <a:ln/>
        </p:spPr>
      </p:sp>
      <p:sp>
        <p:nvSpPr>
          <p:cNvPr id="75" name="Text 73"/>
          <p:cNvSpPr txBox="1"/>
          <p:nvPr/>
        </p:nvSpPr>
        <p:spPr>
          <a:xfrm>
            <a:off x="612648" y="3916375"/>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Hotel Augusta</a:t>
            </a:r>
            <a:endParaRPr lang="en-US" sz="720" dirty="0"/>
          </a:p>
        </p:txBody>
      </p:sp>
      <p:sp>
        <p:nvSpPr>
          <p:cNvPr id="76" name="Text 74"/>
          <p:cNvSpPr txBox="1"/>
          <p:nvPr/>
        </p:nvSpPr>
        <p:spPr>
          <a:xfrm>
            <a:off x="3374136" y="3916375"/>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77" name="Text 75"/>
          <p:cNvSpPr txBox="1"/>
          <p:nvPr/>
        </p:nvSpPr>
        <p:spPr>
          <a:xfrm>
            <a:off x="4782312" y="3916375"/>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18 Jun</a:t>
            </a:r>
            <a:endParaRPr lang="en-US" sz="700" dirty="0"/>
          </a:p>
        </p:txBody>
      </p:sp>
      <p:sp>
        <p:nvSpPr>
          <p:cNvPr id="78" name="Text 76"/>
          <p:cNvSpPr txBox="1"/>
          <p:nvPr/>
        </p:nvSpPr>
        <p:spPr>
          <a:xfrm>
            <a:off x="5532120" y="3916375"/>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122</a:t>
            </a:r>
            <a:endParaRPr lang="en-US" sz="720" dirty="0"/>
          </a:p>
        </p:txBody>
      </p:sp>
      <p:sp>
        <p:nvSpPr>
          <p:cNvPr id="79" name="Text 77"/>
          <p:cNvSpPr txBox="1"/>
          <p:nvPr/>
        </p:nvSpPr>
        <p:spPr>
          <a:xfrm>
            <a:off x="6025896" y="3916375"/>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$410</a:t>
            </a:r>
            <a:endParaRPr lang="en-US" sz="720" dirty="0"/>
          </a:p>
        </p:txBody>
      </p:sp>
      <p:sp>
        <p:nvSpPr>
          <p:cNvPr id="80" name="Text 78"/>
          <p:cNvSpPr txBox="1"/>
          <p:nvPr/>
        </p:nvSpPr>
        <p:spPr>
          <a:xfrm>
            <a:off x="612648" y="4070909"/>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The Star Hotel (Milton)</a:t>
            </a:r>
            <a:endParaRPr lang="en-US" sz="720" dirty="0"/>
          </a:p>
        </p:txBody>
      </p:sp>
      <p:sp>
        <p:nvSpPr>
          <p:cNvPr id="81" name="Text 79"/>
          <p:cNvSpPr txBox="1"/>
          <p:nvPr/>
        </p:nvSpPr>
        <p:spPr>
          <a:xfrm>
            <a:off x="3374136" y="4070909"/>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Brett Gorman</a:t>
            </a:r>
            <a:endParaRPr lang="en-US" sz="700" dirty="0"/>
          </a:p>
        </p:txBody>
      </p:sp>
      <p:sp>
        <p:nvSpPr>
          <p:cNvPr id="82" name="Text 80"/>
          <p:cNvSpPr txBox="1"/>
          <p:nvPr/>
        </p:nvSpPr>
        <p:spPr>
          <a:xfrm>
            <a:off x="4782312" y="4070909"/>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12 Oct</a:t>
            </a:r>
            <a:endParaRPr lang="en-US" sz="700" dirty="0"/>
          </a:p>
        </p:txBody>
      </p:sp>
      <p:sp>
        <p:nvSpPr>
          <p:cNvPr id="83" name="Text 81"/>
          <p:cNvSpPr txBox="1"/>
          <p:nvPr/>
        </p:nvSpPr>
        <p:spPr>
          <a:xfrm>
            <a:off x="5532120" y="4070909"/>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6</a:t>
            </a:r>
            <a:endParaRPr lang="en-US" sz="720" dirty="0"/>
          </a:p>
        </p:txBody>
      </p:sp>
      <p:sp>
        <p:nvSpPr>
          <p:cNvPr id="84" name="Text 82"/>
          <p:cNvSpPr txBox="1"/>
          <p:nvPr/>
        </p:nvSpPr>
        <p:spPr>
          <a:xfrm>
            <a:off x="6025896" y="4070909"/>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$392</a:t>
            </a:r>
            <a:endParaRPr lang="en-US" sz="720" dirty="0"/>
          </a:p>
        </p:txBody>
      </p:sp>
      <p:sp>
        <p:nvSpPr>
          <p:cNvPr id="85" name="Shape 83"/>
          <p:cNvSpPr/>
          <p:nvPr/>
        </p:nvSpPr>
        <p:spPr>
          <a:xfrm>
            <a:off x="539496" y="4225442"/>
            <a:ext cx="6419088" cy="154534"/>
          </a:xfrm>
          <a:prstGeom prst="rect">
            <a:avLst/>
          </a:prstGeom>
          <a:solidFill>
            <a:srgbClr val="F2F6F8"/>
          </a:solidFill>
          <a:ln/>
        </p:spPr>
      </p:sp>
      <p:sp>
        <p:nvSpPr>
          <p:cNvPr id="86" name="Text 84"/>
          <p:cNvSpPr txBox="1"/>
          <p:nvPr/>
        </p:nvSpPr>
        <p:spPr>
          <a:xfrm>
            <a:off x="612648" y="4225442"/>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Bar Orient</a:t>
            </a:r>
            <a:endParaRPr lang="en-US" sz="720" dirty="0"/>
          </a:p>
        </p:txBody>
      </p:sp>
      <p:sp>
        <p:nvSpPr>
          <p:cNvPr id="87" name="Text 85"/>
          <p:cNvSpPr txBox="1"/>
          <p:nvPr/>
        </p:nvSpPr>
        <p:spPr>
          <a:xfrm>
            <a:off x="3374136" y="4225442"/>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88" name="Text 86"/>
          <p:cNvSpPr txBox="1"/>
          <p:nvPr/>
        </p:nvSpPr>
        <p:spPr>
          <a:xfrm>
            <a:off x="4782312" y="4225442"/>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17 Sep</a:t>
            </a:r>
            <a:endParaRPr lang="en-US" sz="700" dirty="0"/>
          </a:p>
        </p:txBody>
      </p:sp>
      <p:sp>
        <p:nvSpPr>
          <p:cNvPr id="89" name="Text 87"/>
          <p:cNvSpPr txBox="1"/>
          <p:nvPr/>
        </p:nvSpPr>
        <p:spPr>
          <a:xfrm>
            <a:off x="5532120" y="4225442"/>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31</a:t>
            </a:r>
            <a:endParaRPr lang="en-US" sz="720" dirty="0"/>
          </a:p>
        </p:txBody>
      </p:sp>
      <p:sp>
        <p:nvSpPr>
          <p:cNvPr id="90" name="Text 88"/>
          <p:cNvSpPr txBox="1"/>
          <p:nvPr/>
        </p:nvSpPr>
        <p:spPr>
          <a:xfrm>
            <a:off x="6025896" y="4225442"/>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$377</a:t>
            </a:r>
            <a:endParaRPr lang="en-US" sz="720" dirty="0"/>
          </a:p>
        </p:txBody>
      </p:sp>
      <p:sp>
        <p:nvSpPr>
          <p:cNvPr id="91" name="Text 89"/>
          <p:cNvSpPr txBox="1"/>
          <p:nvPr/>
        </p:nvSpPr>
        <p:spPr>
          <a:xfrm>
            <a:off x="612648" y="4379976"/>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The Rusty Gurnard</a:t>
            </a:r>
            <a:endParaRPr lang="en-US" sz="720" dirty="0"/>
          </a:p>
        </p:txBody>
      </p:sp>
      <p:sp>
        <p:nvSpPr>
          <p:cNvPr id="92" name="Text 90"/>
          <p:cNvSpPr txBox="1"/>
          <p:nvPr/>
        </p:nvSpPr>
        <p:spPr>
          <a:xfrm>
            <a:off x="3374136" y="4379976"/>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Phuong Ho</a:t>
            </a:r>
            <a:endParaRPr lang="en-US" sz="700" dirty="0"/>
          </a:p>
        </p:txBody>
      </p:sp>
      <p:sp>
        <p:nvSpPr>
          <p:cNvPr id="93" name="Text 91"/>
          <p:cNvSpPr txBox="1"/>
          <p:nvPr/>
        </p:nvSpPr>
        <p:spPr>
          <a:xfrm>
            <a:off x="4782312" y="4379976"/>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26 Jun</a:t>
            </a:r>
            <a:endParaRPr lang="en-US" sz="700" dirty="0"/>
          </a:p>
        </p:txBody>
      </p:sp>
      <p:sp>
        <p:nvSpPr>
          <p:cNvPr id="94" name="Text 92"/>
          <p:cNvSpPr txBox="1"/>
          <p:nvPr/>
        </p:nvSpPr>
        <p:spPr>
          <a:xfrm>
            <a:off x="5532120" y="4379976"/>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114</a:t>
            </a:r>
            <a:endParaRPr lang="en-US" sz="720" dirty="0"/>
          </a:p>
        </p:txBody>
      </p:sp>
      <p:sp>
        <p:nvSpPr>
          <p:cNvPr id="95" name="Text 93"/>
          <p:cNvSpPr txBox="1"/>
          <p:nvPr/>
        </p:nvSpPr>
        <p:spPr>
          <a:xfrm>
            <a:off x="6025896" y="4379976"/>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$377</a:t>
            </a:r>
            <a:endParaRPr lang="en-US" sz="720" dirty="0"/>
          </a:p>
        </p:txBody>
      </p:sp>
      <p:sp>
        <p:nvSpPr>
          <p:cNvPr id="96" name="Shape 94"/>
          <p:cNvSpPr/>
          <p:nvPr/>
        </p:nvSpPr>
        <p:spPr>
          <a:xfrm>
            <a:off x="539496" y="4534510"/>
            <a:ext cx="6419088" cy="154534"/>
          </a:xfrm>
          <a:prstGeom prst="rect">
            <a:avLst/>
          </a:prstGeom>
          <a:solidFill>
            <a:srgbClr val="F2F6F8"/>
          </a:solidFill>
          <a:ln/>
        </p:spPr>
      </p:sp>
      <p:sp>
        <p:nvSpPr>
          <p:cNvPr id="97" name="Text 95"/>
          <p:cNvSpPr txBox="1"/>
          <p:nvPr/>
        </p:nvSpPr>
        <p:spPr>
          <a:xfrm>
            <a:off x="612648" y="4534510"/>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Riverton Hotel</a:t>
            </a:r>
            <a:endParaRPr lang="en-US" sz="720" dirty="0"/>
          </a:p>
        </p:txBody>
      </p:sp>
      <p:sp>
        <p:nvSpPr>
          <p:cNvPr id="98" name="Text 96"/>
          <p:cNvSpPr txBox="1"/>
          <p:nvPr/>
        </p:nvSpPr>
        <p:spPr>
          <a:xfrm>
            <a:off x="3374136" y="4534510"/>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99" name="Text 97"/>
          <p:cNvSpPr txBox="1"/>
          <p:nvPr/>
        </p:nvSpPr>
        <p:spPr>
          <a:xfrm>
            <a:off x="4782312" y="4534510"/>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17 Apr</a:t>
            </a:r>
            <a:endParaRPr lang="en-US" sz="700" dirty="0"/>
          </a:p>
        </p:txBody>
      </p:sp>
      <p:sp>
        <p:nvSpPr>
          <p:cNvPr id="100" name="Text 98"/>
          <p:cNvSpPr txBox="1"/>
          <p:nvPr/>
        </p:nvSpPr>
        <p:spPr>
          <a:xfrm>
            <a:off x="5532120" y="4534510"/>
            <a:ext cx="457200" cy="154534"/>
          </a:xfrm>
          <a:prstGeom prst="rect">
            <a:avLst/>
          </a:prstGeom>
          <a:noFill/>
          <a:ln/>
        </p:spPr>
        <p:txBody>
          <a:bodyPr wrap="square" lIns="0" tIns="0" rIns="0" bIns="0" rtlCol="0" anchor="ctr"/>
          <a:lstStyle/>
          <a:p>
            <a:pPr algn="r" indent="0" marL="0">
              <a:buNone/>
            </a:pPr>
            <a:r>
              <a:rPr lang="en-US" sz="720" b="1" dirty="0">
                <a:solidFill>
                  <a:srgbClr val="B4552D"/>
                </a:solidFill>
                <a:latin typeface="Poppins" pitchFamily="34" charset="0"/>
                <a:ea typeface="Poppins" pitchFamily="34" charset="-122"/>
                <a:cs typeface="Poppins" pitchFamily="34" charset="-120"/>
              </a:rPr>
              <a:t>184</a:t>
            </a:r>
            <a:endParaRPr lang="en-US" sz="720" dirty="0"/>
          </a:p>
        </p:txBody>
      </p:sp>
      <p:sp>
        <p:nvSpPr>
          <p:cNvPr id="101" name="Text 99"/>
          <p:cNvSpPr txBox="1"/>
          <p:nvPr/>
        </p:nvSpPr>
        <p:spPr>
          <a:xfrm>
            <a:off x="6025896" y="4534510"/>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$315</a:t>
            </a:r>
            <a:endParaRPr lang="en-US" sz="720" dirty="0"/>
          </a:p>
        </p:txBody>
      </p:sp>
      <p:sp>
        <p:nvSpPr>
          <p:cNvPr id="102" name="Text 100"/>
          <p:cNvSpPr txBox="1"/>
          <p:nvPr/>
        </p:nvSpPr>
        <p:spPr>
          <a:xfrm>
            <a:off x="612648" y="4689043"/>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AVC - Bellevue Bar &amp; Terrace</a:t>
            </a:r>
            <a:endParaRPr lang="en-US" sz="720" dirty="0"/>
          </a:p>
        </p:txBody>
      </p:sp>
      <p:sp>
        <p:nvSpPr>
          <p:cNvPr id="103" name="Text 101"/>
          <p:cNvSpPr txBox="1"/>
          <p:nvPr/>
        </p:nvSpPr>
        <p:spPr>
          <a:xfrm>
            <a:off x="3374136" y="4689043"/>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Jasmine Hikuroa</a:t>
            </a:r>
            <a:endParaRPr lang="en-US" sz="700" dirty="0"/>
          </a:p>
        </p:txBody>
      </p:sp>
      <p:sp>
        <p:nvSpPr>
          <p:cNvPr id="104" name="Text 102"/>
          <p:cNvSpPr txBox="1"/>
          <p:nvPr/>
        </p:nvSpPr>
        <p:spPr>
          <a:xfrm>
            <a:off x="4782312" y="4689043"/>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15 Oct</a:t>
            </a:r>
            <a:endParaRPr lang="en-US" sz="700" dirty="0"/>
          </a:p>
        </p:txBody>
      </p:sp>
      <p:sp>
        <p:nvSpPr>
          <p:cNvPr id="105" name="Text 103"/>
          <p:cNvSpPr txBox="1"/>
          <p:nvPr/>
        </p:nvSpPr>
        <p:spPr>
          <a:xfrm>
            <a:off x="5532120" y="4689043"/>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a:t>
            </a:r>
            <a:endParaRPr lang="en-US" sz="720" dirty="0"/>
          </a:p>
        </p:txBody>
      </p:sp>
      <p:sp>
        <p:nvSpPr>
          <p:cNvPr id="106" name="Text 104"/>
          <p:cNvSpPr txBox="1"/>
          <p:nvPr/>
        </p:nvSpPr>
        <p:spPr>
          <a:xfrm>
            <a:off x="6025896" y="4689043"/>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$294</a:t>
            </a:r>
            <a:endParaRPr lang="en-US" sz="720" dirty="0"/>
          </a:p>
        </p:txBody>
      </p:sp>
      <p:sp>
        <p:nvSpPr>
          <p:cNvPr id="107" name="Shape 105"/>
          <p:cNvSpPr/>
          <p:nvPr/>
        </p:nvSpPr>
        <p:spPr>
          <a:xfrm>
            <a:off x="539496" y="4843577"/>
            <a:ext cx="6419088" cy="154534"/>
          </a:xfrm>
          <a:prstGeom prst="rect">
            <a:avLst/>
          </a:prstGeom>
          <a:solidFill>
            <a:srgbClr val="F2F6F8"/>
          </a:solidFill>
          <a:ln/>
        </p:spPr>
      </p:sp>
      <p:sp>
        <p:nvSpPr>
          <p:cNvPr id="108" name="Text 106"/>
          <p:cNvSpPr txBox="1"/>
          <p:nvPr/>
        </p:nvSpPr>
        <p:spPr>
          <a:xfrm>
            <a:off x="612648" y="4843577"/>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AVC - Carson</a:t>
            </a:r>
            <a:endParaRPr lang="en-US" sz="720" dirty="0"/>
          </a:p>
        </p:txBody>
      </p:sp>
      <p:sp>
        <p:nvSpPr>
          <p:cNvPr id="109" name="Text 107"/>
          <p:cNvSpPr txBox="1"/>
          <p:nvPr/>
        </p:nvSpPr>
        <p:spPr>
          <a:xfrm>
            <a:off x="3374136" y="4843577"/>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Jasmine Hikuroa</a:t>
            </a:r>
            <a:endParaRPr lang="en-US" sz="700" dirty="0"/>
          </a:p>
        </p:txBody>
      </p:sp>
      <p:sp>
        <p:nvSpPr>
          <p:cNvPr id="110" name="Text 108"/>
          <p:cNvSpPr txBox="1"/>
          <p:nvPr/>
        </p:nvSpPr>
        <p:spPr>
          <a:xfrm>
            <a:off x="4782312" y="4843577"/>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15 Oct</a:t>
            </a:r>
            <a:endParaRPr lang="en-US" sz="700" dirty="0"/>
          </a:p>
        </p:txBody>
      </p:sp>
      <p:sp>
        <p:nvSpPr>
          <p:cNvPr id="111" name="Text 109"/>
          <p:cNvSpPr txBox="1"/>
          <p:nvPr/>
        </p:nvSpPr>
        <p:spPr>
          <a:xfrm>
            <a:off x="5532120" y="4843577"/>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a:t>
            </a:r>
            <a:endParaRPr lang="en-US" sz="720" dirty="0"/>
          </a:p>
        </p:txBody>
      </p:sp>
      <p:sp>
        <p:nvSpPr>
          <p:cNvPr id="112" name="Text 110"/>
          <p:cNvSpPr txBox="1"/>
          <p:nvPr/>
        </p:nvSpPr>
        <p:spPr>
          <a:xfrm>
            <a:off x="6025896" y="4843577"/>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$294</a:t>
            </a:r>
            <a:endParaRPr lang="en-US" sz="720" dirty="0"/>
          </a:p>
        </p:txBody>
      </p:sp>
      <p:sp>
        <p:nvSpPr>
          <p:cNvPr id="113" name="Text 111"/>
          <p:cNvSpPr txBox="1"/>
          <p:nvPr/>
        </p:nvSpPr>
        <p:spPr>
          <a:xfrm>
            <a:off x="612648" y="4998110"/>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Wayi Restaurant</a:t>
            </a:r>
            <a:endParaRPr lang="en-US" sz="720" dirty="0"/>
          </a:p>
        </p:txBody>
      </p:sp>
      <p:sp>
        <p:nvSpPr>
          <p:cNvPr id="114" name="Text 112"/>
          <p:cNvSpPr txBox="1"/>
          <p:nvPr/>
        </p:nvSpPr>
        <p:spPr>
          <a:xfrm>
            <a:off x="3374136" y="4998110"/>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Jasmine Hikuroa</a:t>
            </a:r>
            <a:endParaRPr lang="en-US" sz="700" dirty="0"/>
          </a:p>
        </p:txBody>
      </p:sp>
      <p:sp>
        <p:nvSpPr>
          <p:cNvPr id="115" name="Text 113"/>
          <p:cNvSpPr txBox="1"/>
          <p:nvPr/>
        </p:nvSpPr>
        <p:spPr>
          <a:xfrm>
            <a:off x="4782312" y="4998110"/>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17 Sep</a:t>
            </a:r>
            <a:endParaRPr lang="en-US" sz="700" dirty="0"/>
          </a:p>
        </p:txBody>
      </p:sp>
      <p:sp>
        <p:nvSpPr>
          <p:cNvPr id="116" name="Text 114"/>
          <p:cNvSpPr txBox="1"/>
          <p:nvPr/>
        </p:nvSpPr>
        <p:spPr>
          <a:xfrm>
            <a:off x="5532120" y="4998110"/>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31</a:t>
            </a:r>
            <a:endParaRPr lang="en-US" sz="720" dirty="0"/>
          </a:p>
        </p:txBody>
      </p:sp>
      <p:sp>
        <p:nvSpPr>
          <p:cNvPr id="117" name="Text 115"/>
          <p:cNvSpPr txBox="1"/>
          <p:nvPr/>
        </p:nvSpPr>
        <p:spPr>
          <a:xfrm>
            <a:off x="6025896" y="4998110"/>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$250</a:t>
            </a:r>
            <a:endParaRPr lang="en-US" sz="720" dirty="0"/>
          </a:p>
        </p:txBody>
      </p:sp>
      <p:sp>
        <p:nvSpPr>
          <p:cNvPr id="118" name="Shape 116"/>
          <p:cNvSpPr/>
          <p:nvPr/>
        </p:nvSpPr>
        <p:spPr>
          <a:xfrm>
            <a:off x="539496" y="5152644"/>
            <a:ext cx="6419088" cy="154534"/>
          </a:xfrm>
          <a:prstGeom prst="rect">
            <a:avLst/>
          </a:prstGeom>
          <a:solidFill>
            <a:srgbClr val="F2F6F8"/>
          </a:solidFill>
          <a:ln/>
        </p:spPr>
      </p:sp>
      <p:sp>
        <p:nvSpPr>
          <p:cNvPr id="119" name="Text 117"/>
          <p:cNvSpPr txBox="1"/>
          <p:nvPr/>
        </p:nvSpPr>
        <p:spPr>
          <a:xfrm>
            <a:off x="612648" y="5152644"/>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Kirra Beach House</a:t>
            </a:r>
            <a:endParaRPr lang="en-US" sz="720" dirty="0"/>
          </a:p>
        </p:txBody>
      </p:sp>
      <p:sp>
        <p:nvSpPr>
          <p:cNvPr id="120" name="Text 118"/>
          <p:cNvSpPr txBox="1"/>
          <p:nvPr/>
        </p:nvSpPr>
        <p:spPr>
          <a:xfrm>
            <a:off x="3374136" y="5152644"/>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Brett Gorman</a:t>
            </a:r>
            <a:endParaRPr lang="en-US" sz="700" dirty="0"/>
          </a:p>
        </p:txBody>
      </p:sp>
      <p:sp>
        <p:nvSpPr>
          <p:cNvPr id="121" name="Text 119"/>
          <p:cNvSpPr txBox="1"/>
          <p:nvPr/>
        </p:nvSpPr>
        <p:spPr>
          <a:xfrm>
            <a:off x="4782312" y="5152644"/>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 Jun</a:t>
            </a:r>
            <a:endParaRPr lang="en-US" sz="700" dirty="0"/>
          </a:p>
        </p:txBody>
      </p:sp>
      <p:sp>
        <p:nvSpPr>
          <p:cNvPr id="122" name="Text 120"/>
          <p:cNvSpPr txBox="1"/>
          <p:nvPr/>
        </p:nvSpPr>
        <p:spPr>
          <a:xfrm>
            <a:off x="5532120" y="5152644"/>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132</a:t>
            </a:r>
            <a:endParaRPr lang="en-US" sz="720" dirty="0"/>
          </a:p>
        </p:txBody>
      </p:sp>
      <p:sp>
        <p:nvSpPr>
          <p:cNvPr id="123" name="Text 121"/>
          <p:cNvSpPr txBox="1"/>
          <p:nvPr/>
        </p:nvSpPr>
        <p:spPr>
          <a:xfrm>
            <a:off x="6025896" y="5152644"/>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$180</a:t>
            </a:r>
            <a:endParaRPr lang="en-US" sz="720" dirty="0"/>
          </a:p>
        </p:txBody>
      </p:sp>
      <p:sp>
        <p:nvSpPr>
          <p:cNvPr id="124" name="Text 122"/>
          <p:cNvSpPr txBox="1"/>
          <p:nvPr/>
        </p:nvSpPr>
        <p:spPr>
          <a:xfrm>
            <a:off x="612648" y="5307178"/>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Irymple Hotel</a:t>
            </a:r>
            <a:endParaRPr lang="en-US" sz="720" dirty="0"/>
          </a:p>
        </p:txBody>
      </p:sp>
      <p:sp>
        <p:nvSpPr>
          <p:cNvPr id="125" name="Text 123"/>
          <p:cNvSpPr txBox="1"/>
          <p:nvPr/>
        </p:nvSpPr>
        <p:spPr>
          <a:xfrm>
            <a:off x="3374136" y="5307178"/>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Phuong Ho</a:t>
            </a:r>
            <a:endParaRPr lang="en-US" sz="700" dirty="0"/>
          </a:p>
        </p:txBody>
      </p:sp>
      <p:sp>
        <p:nvSpPr>
          <p:cNvPr id="126" name="Text 124"/>
          <p:cNvSpPr txBox="1"/>
          <p:nvPr/>
        </p:nvSpPr>
        <p:spPr>
          <a:xfrm>
            <a:off x="4782312" y="5307178"/>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 Oct</a:t>
            </a:r>
            <a:endParaRPr lang="en-US" sz="700" dirty="0"/>
          </a:p>
        </p:txBody>
      </p:sp>
      <p:sp>
        <p:nvSpPr>
          <p:cNvPr id="127" name="Text 125"/>
          <p:cNvSpPr txBox="1"/>
          <p:nvPr/>
        </p:nvSpPr>
        <p:spPr>
          <a:xfrm>
            <a:off x="5532120" y="5307178"/>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16</a:t>
            </a:r>
            <a:endParaRPr lang="en-US" sz="720" dirty="0"/>
          </a:p>
        </p:txBody>
      </p:sp>
      <p:sp>
        <p:nvSpPr>
          <p:cNvPr id="128" name="Text 126"/>
          <p:cNvSpPr txBox="1"/>
          <p:nvPr/>
        </p:nvSpPr>
        <p:spPr>
          <a:xfrm>
            <a:off x="6025896" y="5307178"/>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$147</a:t>
            </a:r>
            <a:endParaRPr lang="en-US" sz="720" dirty="0"/>
          </a:p>
        </p:txBody>
      </p:sp>
      <p:sp>
        <p:nvSpPr>
          <p:cNvPr id="129" name="Shape 127"/>
          <p:cNvSpPr/>
          <p:nvPr/>
        </p:nvSpPr>
        <p:spPr>
          <a:xfrm>
            <a:off x="539496" y="5461711"/>
            <a:ext cx="6419088" cy="154534"/>
          </a:xfrm>
          <a:prstGeom prst="rect">
            <a:avLst/>
          </a:prstGeom>
          <a:solidFill>
            <a:srgbClr val="F2F6F8"/>
          </a:solidFill>
          <a:ln/>
        </p:spPr>
      </p:sp>
      <p:sp>
        <p:nvSpPr>
          <p:cNvPr id="130" name="Text 128"/>
          <p:cNvSpPr txBox="1"/>
          <p:nvPr/>
        </p:nvSpPr>
        <p:spPr>
          <a:xfrm>
            <a:off x="612648" y="5461711"/>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Little Ship Club</a:t>
            </a:r>
            <a:endParaRPr lang="en-US" sz="720" dirty="0"/>
          </a:p>
        </p:txBody>
      </p:sp>
      <p:sp>
        <p:nvSpPr>
          <p:cNvPr id="131" name="Text 129"/>
          <p:cNvSpPr txBox="1"/>
          <p:nvPr/>
        </p:nvSpPr>
        <p:spPr>
          <a:xfrm>
            <a:off x="3374136" y="5461711"/>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Brett Gorman</a:t>
            </a:r>
            <a:endParaRPr lang="en-US" sz="700" dirty="0"/>
          </a:p>
        </p:txBody>
      </p:sp>
      <p:sp>
        <p:nvSpPr>
          <p:cNvPr id="132" name="Text 130"/>
          <p:cNvSpPr txBox="1"/>
          <p:nvPr/>
        </p:nvSpPr>
        <p:spPr>
          <a:xfrm>
            <a:off x="4782312" y="5461711"/>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26 May</a:t>
            </a:r>
            <a:endParaRPr lang="en-US" sz="700" dirty="0"/>
          </a:p>
        </p:txBody>
      </p:sp>
      <p:sp>
        <p:nvSpPr>
          <p:cNvPr id="133" name="Text 131"/>
          <p:cNvSpPr txBox="1"/>
          <p:nvPr/>
        </p:nvSpPr>
        <p:spPr>
          <a:xfrm>
            <a:off x="5532120" y="5461711"/>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145</a:t>
            </a:r>
            <a:endParaRPr lang="en-US" sz="720" dirty="0"/>
          </a:p>
        </p:txBody>
      </p:sp>
      <p:sp>
        <p:nvSpPr>
          <p:cNvPr id="134" name="Text 132"/>
          <p:cNvSpPr txBox="1"/>
          <p:nvPr/>
        </p:nvSpPr>
        <p:spPr>
          <a:xfrm>
            <a:off x="6025896" y="5461711"/>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$116</a:t>
            </a:r>
            <a:endParaRPr lang="en-US" sz="720" dirty="0"/>
          </a:p>
        </p:txBody>
      </p:sp>
      <p:sp>
        <p:nvSpPr>
          <p:cNvPr id="135" name="Text 133"/>
          <p:cNvSpPr txBox="1"/>
          <p:nvPr/>
        </p:nvSpPr>
        <p:spPr>
          <a:xfrm>
            <a:off x="612648" y="5616245"/>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Crossing Inn - Leedal</a:t>
            </a:r>
            <a:endParaRPr lang="en-US" sz="720" dirty="0"/>
          </a:p>
        </p:txBody>
      </p:sp>
      <p:sp>
        <p:nvSpPr>
          <p:cNvPr id="136" name="Text 134"/>
          <p:cNvSpPr txBox="1"/>
          <p:nvPr/>
        </p:nvSpPr>
        <p:spPr>
          <a:xfrm>
            <a:off x="3374136" y="5616245"/>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137" name="Text 135"/>
          <p:cNvSpPr txBox="1"/>
          <p:nvPr/>
        </p:nvSpPr>
        <p:spPr>
          <a:xfrm>
            <a:off x="4782312" y="5616245"/>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 Oct</a:t>
            </a:r>
            <a:endParaRPr lang="en-US" sz="700" dirty="0"/>
          </a:p>
        </p:txBody>
      </p:sp>
      <p:sp>
        <p:nvSpPr>
          <p:cNvPr id="138" name="Text 136"/>
          <p:cNvSpPr txBox="1"/>
          <p:nvPr/>
        </p:nvSpPr>
        <p:spPr>
          <a:xfrm>
            <a:off x="5532120" y="5616245"/>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17</a:t>
            </a:r>
            <a:endParaRPr lang="en-US" sz="720" dirty="0"/>
          </a:p>
        </p:txBody>
      </p:sp>
      <p:sp>
        <p:nvSpPr>
          <p:cNvPr id="139" name="Text 137"/>
          <p:cNvSpPr txBox="1"/>
          <p:nvPr/>
        </p:nvSpPr>
        <p:spPr>
          <a:xfrm>
            <a:off x="6025896" y="5616245"/>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$106</a:t>
            </a:r>
            <a:endParaRPr lang="en-US" sz="720" dirty="0"/>
          </a:p>
        </p:txBody>
      </p:sp>
      <p:sp>
        <p:nvSpPr>
          <p:cNvPr id="140" name="Shape 138"/>
          <p:cNvSpPr/>
          <p:nvPr/>
        </p:nvSpPr>
        <p:spPr>
          <a:xfrm>
            <a:off x="539496" y="5770778"/>
            <a:ext cx="6419088" cy="154534"/>
          </a:xfrm>
          <a:prstGeom prst="rect">
            <a:avLst/>
          </a:prstGeom>
          <a:solidFill>
            <a:srgbClr val="F2F6F8"/>
          </a:solidFill>
          <a:ln/>
        </p:spPr>
      </p:sp>
      <p:sp>
        <p:nvSpPr>
          <p:cNvPr id="141" name="Text 139"/>
          <p:cNvSpPr txBox="1"/>
          <p:nvPr/>
        </p:nvSpPr>
        <p:spPr>
          <a:xfrm>
            <a:off x="612648" y="5770778"/>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Jabiru Golf Club</a:t>
            </a:r>
            <a:endParaRPr lang="en-US" sz="720" dirty="0"/>
          </a:p>
        </p:txBody>
      </p:sp>
      <p:sp>
        <p:nvSpPr>
          <p:cNvPr id="142" name="Text 140"/>
          <p:cNvSpPr txBox="1"/>
          <p:nvPr/>
        </p:nvSpPr>
        <p:spPr>
          <a:xfrm>
            <a:off x="3374136" y="5770778"/>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143" name="Text 141"/>
          <p:cNvSpPr txBox="1"/>
          <p:nvPr/>
        </p:nvSpPr>
        <p:spPr>
          <a:xfrm>
            <a:off x="4782312" y="5770778"/>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18 Sep</a:t>
            </a:r>
            <a:endParaRPr lang="en-US" sz="700" dirty="0"/>
          </a:p>
        </p:txBody>
      </p:sp>
      <p:sp>
        <p:nvSpPr>
          <p:cNvPr id="144" name="Text 142"/>
          <p:cNvSpPr txBox="1"/>
          <p:nvPr/>
        </p:nvSpPr>
        <p:spPr>
          <a:xfrm>
            <a:off x="5532120" y="5770778"/>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30</a:t>
            </a:r>
            <a:endParaRPr lang="en-US" sz="720" dirty="0"/>
          </a:p>
        </p:txBody>
      </p:sp>
      <p:sp>
        <p:nvSpPr>
          <p:cNvPr id="145" name="Text 143"/>
          <p:cNvSpPr txBox="1"/>
          <p:nvPr/>
        </p:nvSpPr>
        <p:spPr>
          <a:xfrm>
            <a:off x="6025896" y="5770778"/>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$106</a:t>
            </a:r>
            <a:endParaRPr lang="en-US" sz="720" dirty="0"/>
          </a:p>
        </p:txBody>
      </p:sp>
      <p:sp>
        <p:nvSpPr>
          <p:cNvPr id="146" name="Shape 144"/>
          <p:cNvSpPr/>
          <p:nvPr/>
        </p:nvSpPr>
        <p:spPr>
          <a:xfrm>
            <a:off x="612648" y="5961888"/>
            <a:ext cx="6272784" cy="10973"/>
          </a:xfrm>
          <a:prstGeom prst="rect">
            <a:avLst/>
          </a:prstGeom>
          <a:solidFill>
            <a:srgbClr val="12293A"/>
          </a:solidFill>
          <a:ln/>
        </p:spPr>
      </p:sp>
      <p:sp>
        <p:nvSpPr>
          <p:cNvPr id="147" name="Text 145"/>
          <p:cNvSpPr txBox="1"/>
          <p:nvPr/>
        </p:nvSpPr>
        <p:spPr>
          <a:xfrm>
            <a:off x="612648" y="5998464"/>
            <a:ext cx="1828800" cy="219456"/>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48" name="Text 146"/>
          <p:cNvSpPr txBox="1"/>
          <p:nvPr/>
        </p:nvSpPr>
        <p:spPr>
          <a:xfrm>
            <a:off x="5257800" y="5998464"/>
            <a:ext cx="1536192" cy="219456"/>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$20,038/mo</a:t>
            </a:r>
            <a:endParaRPr lang="en-US" sz="800" dirty="0"/>
          </a:p>
        </p:txBody>
      </p:sp>
      <p:sp>
        <p:nvSpPr>
          <p:cNvPr id="149" name="Shape 147"/>
          <p:cNvSpPr/>
          <p:nvPr/>
        </p:nvSpPr>
        <p:spPr>
          <a:xfrm>
            <a:off x="7269480" y="2212848"/>
            <a:ext cx="4507992" cy="1325880"/>
          </a:xfrm>
          <a:prstGeom prst="roundRect">
            <a:avLst>
              <a:gd name="adj" fmla="val 4828"/>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7470648" y="2322576"/>
            <a:ext cx="40233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AGEING — DAYS SINCE CLOSE</a:t>
            </a:r>
            <a:endParaRPr lang="en-US" sz="1200" dirty="0"/>
          </a:p>
        </p:txBody>
      </p:sp>
      <p:sp>
        <p:nvSpPr>
          <p:cNvPr id="151" name="Text 149"/>
          <p:cNvSpPr txBox="1"/>
          <p:nvPr/>
        </p:nvSpPr>
        <p:spPr>
          <a:xfrm>
            <a:off x="7470648" y="2633472"/>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0–30 days</a:t>
            </a:r>
            <a:endParaRPr lang="en-US" sz="680" dirty="0"/>
          </a:p>
        </p:txBody>
      </p:sp>
      <p:sp>
        <p:nvSpPr>
          <p:cNvPr id="152" name="Shape 150"/>
          <p:cNvSpPr/>
          <p:nvPr/>
        </p:nvSpPr>
        <p:spPr>
          <a:xfrm>
            <a:off x="8458200" y="2674620"/>
            <a:ext cx="1600200" cy="100584"/>
          </a:xfrm>
          <a:prstGeom prst="rect">
            <a:avLst/>
          </a:prstGeom>
          <a:solidFill>
            <a:srgbClr val="3D8F5F"/>
          </a:solidFill>
          <a:ln/>
        </p:spPr>
      </p:sp>
      <p:sp>
        <p:nvSpPr>
          <p:cNvPr id="153" name="Text 151"/>
          <p:cNvSpPr txBox="1"/>
          <p:nvPr/>
        </p:nvSpPr>
        <p:spPr>
          <a:xfrm>
            <a:off x="10122408" y="2633472"/>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10 deals</a:t>
            </a:r>
            <a:endParaRPr lang="en-US" sz="680" dirty="0"/>
          </a:p>
        </p:txBody>
      </p:sp>
      <p:sp>
        <p:nvSpPr>
          <p:cNvPr id="154" name="Text 152"/>
          <p:cNvSpPr txBox="1"/>
          <p:nvPr/>
        </p:nvSpPr>
        <p:spPr>
          <a:xfrm>
            <a:off x="10835640" y="2633472"/>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$3,989/mo</a:t>
            </a:r>
            <a:endParaRPr lang="en-US" sz="700" dirty="0"/>
          </a:p>
        </p:txBody>
      </p:sp>
      <p:sp>
        <p:nvSpPr>
          <p:cNvPr id="155" name="Text 153"/>
          <p:cNvSpPr txBox="1"/>
          <p:nvPr/>
        </p:nvSpPr>
        <p:spPr>
          <a:xfrm>
            <a:off x="7470648" y="2834640"/>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31–90 days</a:t>
            </a:r>
            <a:endParaRPr lang="en-US" sz="680" dirty="0"/>
          </a:p>
        </p:txBody>
      </p:sp>
      <p:sp>
        <p:nvSpPr>
          <p:cNvPr id="156" name="Shape 154"/>
          <p:cNvSpPr/>
          <p:nvPr/>
        </p:nvSpPr>
        <p:spPr>
          <a:xfrm>
            <a:off x="8458200" y="2875788"/>
            <a:ext cx="480060" cy="100584"/>
          </a:xfrm>
          <a:prstGeom prst="rect">
            <a:avLst/>
          </a:prstGeom>
          <a:solidFill>
            <a:srgbClr val="C88A2E"/>
          </a:solidFill>
          <a:ln/>
        </p:spPr>
      </p:sp>
      <p:sp>
        <p:nvSpPr>
          <p:cNvPr id="157" name="Text 155"/>
          <p:cNvSpPr txBox="1"/>
          <p:nvPr/>
        </p:nvSpPr>
        <p:spPr>
          <a:xfrm>
            <a:off x="10122408" y="2834640"/>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3 deals</a:t>
            </a:r>
            <a:endParaRPr lang="en-US" sz="680" dirty="0"/>
          </a:p>
        </p:txBody>
      </p:sp>
      <p:sp>
        <p:nvSpPr>
          <p:cNvPr id="158" name="Text 156"/>
          <p:cNvSpPr txBox="1"/>
          <p:nvPr/>
        </p:nvSpPr>
        <p:spPr>
          <a:xfrm>
            <a:off x="10835640" y="2834640"/>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$1,296/mo</a:t>
            </a:r>
            <a:endParaRPr lang="en-US" sz="700" dirty="0"/>
          </a:p>
        </p:txBody>
      </p:sp>
      <p:sp>
        <p:nvSpPr>
          <p:cNvPr id="159" name="Text 157"/>
          <p:cNvSpPr txBox="1"/>
          <p:nvPr/>
        </p:nvSpPr>
        <p:spPr>
          <a:xfrm>
            <a:off x="7470648" y="3035808"/>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91–180 days</a:t>
            </a:r>
            <a:endParaRPr lang="en-US" sz="680" dirty="0"/>
          </a:p>
        </p:txBody>
      </p:sp>
      <p:sp>
        <p:nvSpPr>
          <p:cNvPr id="160" name="Shape 158"/>
          <p:cNvSpPr/>
          <p:nvPr/>
        </p:nvSpPr>
        <p:spPr>
          <a:xfrm>
            <a:off x="8458200" y="3076956"/>
            <a:ext cx="640080" cy="100584"/>
          </a:xfrm>
          <a:prstGeom prst="rect">
            <a:avLst/>
          </a:prstGeom>
          <a:solidFill>
            <a:srgbClr val="B4552D"/>
          </a:solidFill>
          <a:ln/>
        </p:spPr>
      </p:sp>
      <p:sp>
        <p:nvSpPr>
          <p:cNvPr id="161" name="Text 159"/>
          <p:cNvSpPr txBox="1"/>
          <p:nvPr/>
        </p:nvSpPr>
        <p:spPr>
          <a:xfrm>
            <a:off x="10122408" y="3035808"/>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4 deals</a:t>
            </a:r>
            <a:endParaRPr lang="en-US" sz="680" dirty="0"/>
          </a:p>
        </p:txBody>
      </p:sp>
      <p:sp>
        <p:nvSpPr>
          <p:cNvPr id="162" name="Text 160"/>
          <p:cNvSpPr txBox="1"/>
          <p:nvPr/>
        </p:nvSpPr>
        <p:spPr>
          <a:xfrm>
            <a:off x="10835640" y="3035808"/>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$1,083/mo</a:t>
            </a:r>
            <a:endParaRPr lang="en-US" sz="700" dirty="0"/>
          </a:p>
        </p:txBody>
      </p:sp>
      <p:sp>
        <p:nvSpPr>
          <p:cNvPr id="163" name="Text 161"/>
          <p:cNvSpPr txBox="1"/>
          <p:nvPr/>
        </p:nvSpPr>
        <p:spPr>
          <a:xfrm>
            <a:off x="7470648" y="3236976"/>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180+ days</a:t>
            </a:r>
            <a:endParaRPr lang="en-US" sz="680" dirty="0"/>
          </a:p>
        </p:txBody>
      </p:sp>
      <p:sp>
        <p:nvSpPr>
          <p:cNvPr id="164" name="Shape 162"/>
          <p:cNvSpPr/>
          <p:nvPr/>
        </p:nvSpPr>
        <p:spPr>
          <a:xfrm>
            <a:off x="8458200" y="3278124"/>
            <a:ext cx="480060" cy="100584"/>
          </a:xfrm>
          <a:prstGeom prst="rect">
            <a:avLst/>
          </a:prstGeom>
          <a:solidFill>
            <a:srgbClr val="7A3B21"/>
          </a:solidFill>
          <a:ln/>
        </p:spPr>
      </p:sp>
      <p:sp>
        <p:nvSpPr>
          <p:cNvPr id="165" name="Text 163"/>
          <p:cNvSpPr txBox="1"/>
          <p:nvPr/>
        </p:nvSpPr>
        <p:spPr>
          <a:xfrm>
            <a:off x="10122408" y="3236976"/>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3 deals</a:t>
            </a:r>
            <a:endParaRPr lang="en-US" sz="680" dirty="0"/>
          </a:p>
        </p:txBody>
      </p:sp>
      <p:sp>
        <p:nvSpPr>
          <p:cNvPr id="166" name="Text 164"/>
          <p:cNvSpPr txBox="1"/>
          <p:nvPr/>
        </p:nvSpPr>
        <p:spPr>
          <a:xfrm>
            <a:off x="10835640" y="3236976"/>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$13,670/mo</a:t>
            </a:r>
            <a:endParaRPr lang="en-US" sz="700" dirty="0"/>
          </a:p>
        </p:txBody>
      </p:sp>
      <p:sp>
        <p:nvSpPr>
          <p:cNvPr id="167" name="Shape 165"/>
          <p:cNvSpPr/>
          <p:nvPr/>
        </p:nvSpPr>
        <p:spPr>
          <a:xfrm>
            <a:off x="7269480" y="3657600"/>
            <a:ext cx="4507992" cy="1298448"/>
          </a:xfrm>
          <a:prstGeom prst="roundRect">
            <a:avLst>
              <a:gd name="adj" fmla="val 4930"/>
            </a:avLst>
          </a:prstGeom>
          <a:solidFill>
            <a:srgbClr val="FFFFFF"/>
          </a:solidFill>
          <a:ln/>
          <a:effectLst>
            <a:outerShdw sx="100000" sy="100000" kx="0" ky="0" algn="bl" rotWithShape="0" blurRad="76200" dist="25400" dir="5400000">
              <a:srgbClr val="9AAAB5">
                <a:alpha val="35000"/>
              </a:srgbClr>
            </a:outerShdw>
          </a:effectLst>
        </p:spPr>
      </p:sp>
      <p:sp>
        <p:nvSpPr>
          <p:cNvPr id="168" name="Text 166"/>
          <p:cNvSpPr txBox="1"/>
          <p:nvPr/>
        </p:nvSpPr>
        <p:spPr>
          <a:xfrm>
            <a:off x="7470648" y="3767328"/>
            <a:ext cx="40233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ONBOARDING PIPELINE — OPEN</a:t>
            </a:r>
            <a:endParaRPr lang="en-US" sz="1200" dirty="0"/>
          </a:p>
        </p:txBody>
      </p:sp>
      <p:sp>
        <p:nvSpPr>
          <p:cNvPr id="169" name="Shape 167"/>
          <p:cNvSpPr/>
          <p:nvPr/>
        </p:nvSpPr>
        <p:spPr>
          <a:xfrm>
            <a:off x="7470648" y="4078224"/>
            <a:ext cx="1774743" cy="310896"/>
          </a:xfrm>
          <a:prstGeom prst="rect">
            <a:avLst/>
          </a:prstGeom>
          <a:solidFill>
            <a:srgbClr val="1C5765"/>
          </a:solidFill>
          <a:ln/>
        </p:spPr>
      </p:sp>
      <p:sp>
        <p:nvSpPr>
          <p:cNvPr id="170" name="Text 168"/>
          <p:cNvSpPr txBox="1"/>
          <p:nvPr/>
        </p:nvSpPr>
        <p:spPr>
          <a:xfrm>
            <a:off x="7470648" y="4078224"/>
            <a:ext cx="1774743"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30</a:t>
            </a:r>
            <a:endParaRPr lang="en-US" sz="1100" dirty="0"/>
          </a:p>
        </p:txBody>
      </p:sp>
      <p:sp>
        <p:nvSpPr>
          <p:cNvPr id="171" name="Text 169"/>
          <p:cNvSpPr txBox="1"/>
          <p:nvPr/>
        </p:nvSpPr>
        <p:spPr>
          <a:xfrm>
            <a:off x="7342632" y="4425696"/>
            <a:ext cx="2030775" cy="182880"/>
          </a:xfrm>
          <a:prstGeom prst="rect">
            <a:avLst/>
          </a:prstGeom>
          <a:noFill/>
          <a:ln/>
        </p:spPr>
        <p:txBody>
          <a:bodyPr wrap="square" lIns="0" tIns="0" rIns="0" bIns="0" rtlCol="0" anchor="ctr"/>
          <a:lstStyle/>
          <a:p>
            <a:pPr algn="ctr" indent="0" marL="0">
              <a:buNone/>
            </a:pPr>
            <a:r>
              <a:rPr lang="en-US" sz="550" b="1" dirty="0">
                <a:solidFill>
                  <a:srgbClr val="5E7280"/>
                </a:solidFill>
                <a:latin typeface="Poppins" pitchFamily="34" charset="0"/>
                <a:ea typeface="Poppins" pitchFamily="34" charset="-122"/>
                <a:cs typeface="Poppins" pitchFamily="34" charset="-120"/>
              </a:rPr>
              <a:t>DISCOVERY</a:t>
            </a:r>
            <a:endParaRPr lang="en-US" sz="550" dirty="0"/>
          </a:p>
        </p:txBody>
      </p:sp>
      <p:sp>
        <p:nvSpPr>
          <p:cNvPr id="172" name="Shape 170"/>
          <p:cNvSpPr/>
          <p:nvPr/>
        </p:nvSpPr>
        <p:spPr>
          <a:xfrm>
            <a:off x="9281967" y="4078224"/>
            <a:ext cx="1835120" cy="310896"/>
          </a:xfrm>
          <a:prstGeom prst="rect">
            <a:avLst/>
          </a:prstGeom>
          <a:solidFill>
            <a:srgbClr val="2C8394"/>
          </a:solidFill>
          <a:ln/>
        </p:spPr>
      </p:sp>
      <p:sp>
        <p:nvSpPr>
          <p:cNvPr id="173" name="Text 171"/>
          <p:cNvSpPr txBox="1"/>
          <p:nvPr/>
        </p:nvSpPr>
        <p:spPr>
          <a:xfrm>
            <a:off x="9281967" y="4078224"/>
            <a:ext cx="183512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31</a:t>
            </a:r>
            <a:endParaRPr lang="en-US" sz="1100" dirty="0"/>
          </a:p>
        </p:txBody>
      </p:sp>
      <p:sp>
        <p:nvSpPr>
          <p:cNvPr id="174" name="Text 172"/>
          <p:cNvSpPr txBox="1"/>
          <p:nvPr/>
        </p:nvSpPr>
        <p:spPr>
          <a:xfrm>
            <a:off x="9153951" y="4425696"/>
            <a:ext cx="2091152" cy="182880"/>
          </a:xfrm>
          <a:prstGeom prst="rect">
            <a:avLst/>
          </a:prstGeom>
          <a:noFill/>
          <a:ln/>
        </p:spPr>
        <p:txBody>
          <a:bodyPr wrap="square" lIns="0" tIns="0" rIns="0" bIns="0" rtlCol="0" anchor="ctr"/>
          <a:lstStyle/>
          <a:p>
            <a:pPr algn="ctr" indent="0" marL="0">
              <a:buNone/>
            </a:pPr>
            <a:r>
              <a:rPr lang="en-US" sz="550" b="1" dirty="0">
                <a:solidFill>
                  <a:srgbClr val="5E7280"/>
                </a:solidFill>
                <a:latin typeface="Poppins" pitchFamily="34" charset="0"/>
                <a:ea typeface="Poppins" pitchFamily="34" charset="-122"/>
                <a:cs typeface="Poppins" pitchFamily="34" charset="-120"/>
              </a:rPr>
              <a:t>DB BUILD</a:t>
            </a:r>
            <a:endParaRPr lang="en-US" sz="550" dirty="0"/>
          </a:p>
        </p:txBody>
      </p:sp>
      <p:sp>
        <p:nvSpPr>
          <p:cNvPr id="175" name="Shape 173"/>
          <p:cNvSpPr/>
          <p:nvPr/>
        </p:nvSpPr>
        <p:spPr>
          <a:xfrm>
            <a:off x="11153663" y="4078224"/>
            <a:ext cx="386065" cy="310896"/>
          </a:xfrm>
          <a:prstGeom prst="rect">
            <a:avLst/>
          </a:prstGeom>
          <a:solidFill>
            <a:srgbClr val="6FAEBB"/>
          </a:solidFill>
          <a:ln/>
        </p:spPr>
      </p:sp>
      <p:sp>
        <p:nvSpPr>
          <p:cNvPr id="176" name="Text 174"/>
          <p:cNvSpPr txBox="1"/>
          <p:nvPr/>
        </p:nvSpPr>
        <p:spPr>
          <a:xfrm>
            <a:off x="11153663" y="4078224"/>
            <a:ext cx="386065"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177" name="Text 175"/>
          <p:cNvSpPr txBox="1"/>
          <p:nvPr/>
        </p:nvSpPr>
        <p:spPr>
          <a:xfrm>
            <a:off x="11025647" y="4425696"/>
            <a:ext cx="642097" cy="182880"/>
          </a:xfrm>
          <a:prstGeom prst="rect">
            <a:avLst/>
          </a:prstGeom>
          <a:noFill/>
          <a:ln/>
        </p:spPr>
        <p:txBody>
          <a:bodyPr wrap="square" lIns="0" tIns="0" rIns="0" bIns="0" rtlCol="0" anchor="ctr"/>
          <a:lstStyle/>
          <a:p>
            <a:pPr algn="ctr" indent="0" marL="0">
              <a:buNone/>
            </a:pPr>
            <a:r>
              <a:rPr lang="en-US" sz="550" b="1" dirty="0">
                <a:solidFill>
                  <a:srgbClr val="5E7280"/>
                </a:solidFill>
                <a:latin typeface="Poppins" pitchFamily="34" charset="0"/>
                <a:ea typeface="Poppins" pitchFamily="34" charset="-122"/>
                <a:cs typeface="Poppins" pitchFamily="34" charset="-120"/>
              </a:rPr>
              <a:t>READY FOR GO LIVE</a:t>
            </a:r>
            <a:endParaRPr lang="en-US" sz="550" dirty="0"/>
          </a:p>
        </p:txBody>
      </p:sp>
      <p:sp>
        <p:nvSpPr>
          <p:cNvPr id="178" name="Text 176"/>
          <p:cNvSpPr txBox="1"/>
          <p:nvPr/>
        </p:nvSpPr>
        <p:spPr>
          <a:xfrm>
            <a:off x="7470648" y="4645152"/>
            <a:ext cx="4105656" cy="256032"/>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68 open, up from 62 a fortnight ago. One carries a go-live date, so none of this can be forecast.</a:t>
            </a:r>
            <a:endParaRPr lang="en-US" sz="620" dirty="0"/>
          </a:p>
        </p:txBody>
      </p:sp>
      <p:sp>
        <p:nvSpPr>
          <p:cNvPr id="179" name="Shape 177"/>
          <p:cNvSpPr/>
          <p:nvPr/>
        </p:nvSpPr>
        <p:spPr>
          <a:xfrm>
            <a:off x="7269480" y="5074920"/>
            <a:ext cx="4507992" cy="1234440"/>
          </a:xfrm>
          <a:prstGeom prst="roundRect">
            <a:avLst>
              <a:gd name="adj" fmla="val 5185"/>
            </a:avLst>
          </a:prstGeom>
          <a:solidFill>
            <a:srgbClr val="FFFFFF"/>
          </a:solidFill>
          <a:ln/>
          <a:effectLst>
            <a:outerShdw sx="100000" sy="100000" kx="0" ky="0" algn="bl" rotWithShape="0" blurRad="76200" dist="25400" dir="5400000">
              <a:srgbClr val="9AAAB5">
                <a:alpha val="35000"/>
              </a:srgbClr>
            </a:outerShdw>
          </a:effectLst>
        </p:spPr>
      </p:sp>
      <p:sp>
        <p:nvSpPr>
          <p:cNvPr id="180" name="Text 178"/>
          <p:cNvSpPr txBox="1"/>
          <p:nvPr/>
        </p:nvSpPr>
        <p:spPr>
          <a:xfrm>
            <a:off x="7470648" y="5184648"/>
            <a:ext cx="4142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81" name="Text 179"/>
          <p:cNvSpPr txBox="1"/>
          <p:nvPr/>
        </p:nvSpPr>
        <p:spPr>
          <a:xfrm>
            <a:off x="7470648" y="5495544"/>
            <a:ext cx="4096512" cy="68580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Three deals over six months old carry 68% of the value.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Oscars Group ($12,880/mo, 201 days), The Berrigan ($475, 209) and Riverton ($315, 184). Oscars alone is $155k of the $240k.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Strip those three and the rest is $6,368/mo across 17 venues, median 31 days.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 normal delivery queue — but ten of the seventeen closed inside the last month, so it fills faster than it clears.</a:t>
            </a:r>
            <a:endParaRPr lang="en-US" sz="900" dirty="0"/>
          </a:p>
        </p:txBody>
      </p:sp>
      <p:sp>
        <p:nvSpPr>
          <p:cNvPr id="182" name="Text 180"/>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Not yet billing = won with recurring revenue in 2026, no row on the register. A live venue is billing.</a:t>
            </a:r>
            <a:endParaRPr lang="en-US" sz="750" dirty="0"/>
          </a:p>
        </p:txBody>
      </p:sp>
      <p:sp>
        <p:nvSpPr>
          <p:cNvPr id="183" name="Shape 181"/>
          <p:cNvSpPr/>
          <p:nvPr/>
        </p:nvSpPr>
        <p:spPr>
          <a:xfrm>
            <a:off x="5925312" y="6510528"/>
            <a:ext cx="5852160" cy="256032"/>
          </a:xfrm>
          <a:prstGeom prst="roundRect">
            <a:avLst>
              <a:gd name="adj" fmla="val 46429"/>
            </a:avLst>
          </a:prstGeom>
          <a:solidFill>
            <a:srgbClr val="12293A"/>
          </a:solidFill>
          <a:ln/>
        </p:spPr>
      </p:sp>
      <p:sp>
        <p:nvSpPr>
          <p:cNvPr id="184" name="Text 182"/>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deals (total_software_cost) vs MRR movement register (live, 19 Oct) · as at 18 Oct</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$240k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 of the 95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$1.28M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271 logos · MRR movement register, live · HubSpot churn object stopped being maintained after February</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Q4</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-$7.7k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Q4 to 18 Oct · new $3.8k − churn $9.4k − contraction $2.1k − credits $0</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Mt Henry Tavern</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$905</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Caves House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$669</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Pier Hotel - Pt Lincoln</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$648</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Iris Pavilion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$623</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Carolina</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$474</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Star Hotel (Milton)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Orient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$377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October has won more than it has invoiced, for the first time since June.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$5,021 won against $3,817 invoiced. Ten months of both series read live from HubSpot and the register.</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is still the whole story: $1.28M of ARR across 271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Q4 is −$7.7k net — $3.8k in against $9.4k of churn and $2.1k of contraction, eighteen days in. Two more logos went this week: Solotel Sackville divested, Zig Zag Lithgow to a competitor.</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$240k of ARR is won with no row on the register.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20 of the 95 deals that carried software MRR in 2026. Oscars Group is $155k of it — 64%. The new PS slide breaks the whole list down by age.</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excluded where they are parked licences. Ten more sit below the cut, together worth $2.2k/mo. The full list is on the Closed Won — Not Yet Live slide.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5925312" y="6510528"/>
            <a:ext cx="5852160" cy="256032"/>
          </a:xfrm>
          <a:prstGeom prst="roundRect">
            <a:avLst>
              <a:gd name="adj" fmla="val 46429"/>
            </a:avLst>
          </a:prstGeom>
          <a:solidFill>
            <a:srgbClr val="12293A"/>
          </a:solidFill>
          <a:ln/>
        </p:spPr>
      </p:sp>
      <p:sp>
        <p:nvSpPr>
          <p:cNvPr id="101" name="Text 98"/>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deals (total_software_cost) + MRR movement register (live, 19 Oct) — all series live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588</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18 Oct</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277</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15,022</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18 Oct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58521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vs CLOSED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53896" y="2807208"/>
            <a:ext cx="109728" cy="109728"/>
          </a:xfrm>
          <a:prstGeom prst="rect">
            <a:avLst/>
          </a:prstGeom>
          <a:solidFill>
            <a:srgbClr val="6FAEBB"/>
          </a:solidFill>
          <a:ln/>
        </p:spPr>
      </p:sp>
      <p:sp>
        <p:nvSpPr>
          <p:cNvPr id="36" name="Text 34"/>
          <p:cNvSpPr txBox="1"/>
          <p:nvPr/>
        </p:nvSpPr>
        <p:spPr>
          <a:xfrm>
            <a:off x="159105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276856" y="2807208"/>
            <a:ext cx="109728" cy="109728"/>
          </a:xfrm>
          <a:prstGeom prst="rect">
            <a:avLst/>
          </a:prstGeom>
          <a:solidFill>
            <a:srgbClr val="C88A2E"/>
          </a:solidFill>
          <a:ln/>
        </p:spPr>
      </p:sp>
      <p:sp>
        <p:nvSpPr>
          <p:cNvPr id="38" name="Text 36"/>
          <p:cNvSpPr txBox="1"/>
          <p:nvPr/>
        </p:nvSpPr>
        <p:spPr>
          <a:xfrm>
            <a:off x="241401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099816" y="2807208"/>
            <a:ext cx="109728" cy="109728"/>
          </a:xfrm>
          <a:prstGeom prst="rect">
            <a:avLst/>
          </a:prstGeom>
          <a:solidFill>
            <a:srgbClr val="7A3B21"/>
          </a:solidFill>
          <a:ln/>
        </p:spPr>
      </p:sp>
      <p:sp>
        <p:nvSpPr>
          <p:cNvPr id="40" name="Text 38"/>
          <p:cNvSpPr txBox="1"/>
          <p:nvPr/>
        </p:nvSpPr>
        <p:spPr>
          <a:xfrm>
            <a:off x="323697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sp>
        <p:nvSpPr>
          <p:cNvPr id="41" name="Shape 39"/>
          <p:cNvSpPr/>
          <p:nvPr/>
        </p:nvSpPr>
        <p:spPr>
          <a:xfrm>
            <a:off x="3922776" y="2807208"/>
            <a:ext cx="109728" cy="109728"/>
          </a:xfrm>
          <a:prstGeom prst="rect">
            <a:avLst/>
          </a:prstGeom>
          <a:solidFill>
            <a:srgbClr val="1C5765"/>
          </a:solidFill>
          <a:ln/>
        </p:spPr>
      </p:sp>
      <p:sp>
        <p:nvSpPr>
          <p:cNvPr id="42" name="Text 40"/>
          <p:cNvSpPr txBox="1"/>
          <p:nvPr/>
        </p:nvSpPr>
        <p:spPr>
          <a:xfrm>
            <a:off x="4059936" y="2761488"/>
            <a:ext cx="914400" cy="201168"/>
          </a:xfrm>
          <a:prstGeom prst="rect">
            <a:avLst/>
          </a:prstGeom>
          <a:noFill/>
          <a:ln/>
        </p:spPr>
        <p:txBody>
          <a:bodyPr wrap="square" lIns="0" tIns="0" rIns="0" bIns="0" rtlCol="0" anchor="ctr"/>
          <a:lstStyle/>
          <a:p>
            <a:pPr indent="0" marL="0">
              <a:buNone/>
            </a:pPr>
            <a:r>
              <a:rPr lang="en-US" sz="680" b="1" dirty="0">
                <a:solidFill>
                  <a:srgbClr val="1C5765"/>
                </a:solidFill>
                <a:latin typeface="Poppins" pitchFamily="34" charset="0"/>
                <a:ea typeface="Poppins" pitchFamily="34" charset="-122"/>
                <a:cs typeface="Poppins" pitchFamily="34" charset="-120"/>
              </a:rPr>
              <a:t>closed in week</a:t>
            </a:r>
            <a:endParaRPr lang="en-US" sz="680" dirty="0"/>
          </a:p>
        </p:txBody>
      </p:sp>
      <p:sp>
        <p:nvSpPr>
          <p:cNvPr id="43" name="Shape 41"/>
          <p:cNvSpPr/>
          <p:nvPr/>
        </p:nvSpPr>
        <p:spPr>
          <a:xfrm>
            <a:off x="923544" y="5477256"/>
            <a:ext cx="5852160" cy="5486"/>
          </a:xfrm>
          <a:prstGeom prst="rect">
            <a:avLst/>
          </a:prstGeom>
          <a:solidFill>
            <a:srgbClr val="E2EAEE"/>
          </a:solidFill>
          <a:ln/>
        </p:spPr>
      </p:sp>
      <p:sp>
        <p:nvSpPr>
          <p:cNvPr id="44" name="Text 42"/>
          <p:cNvSpPr txBox="1"/>
          <p:nvPr/>
        </p:nvSpPr>
        <p:spPr>
          <a:xfrm>
            <a:off x="539496" y="5404104"/>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0</a:t>
            </a:r>
            <a:endParaRPr lang="en-US" sz="620" dirty="0"/>
          </a:p>
        </p:txBody>
      </p:sp>
      <p:sp>
        <p:nvSpPr>
          <p:cNvPr id="45" name="Shape 43"/>
          <p:cNvSpPr/>
          <p:nvPr/>
        </p:nvSpPr>
        <p:spPr>
          <a:xfrm>
            <a:off x="923544" y="4924044"/>
            <a:ext cx="5852160" cy="5486"/>
          </a:xfrm>
          <a:prstGeom prst="rect">
            <a:avLst/>
          </a:prstGeom>
          <a:solidFill>
            <a:srgbClr val="E2EAEE"/>
          </a:solidFill>
          <a:ln/>
        </p:spPr>
      </p:sp>
      <p:sp>
        <p:nvSpPr>
          <p:cNvPr id="46" name="Text 44"/>
          <p:cNvSpPr txBox="1"/>
          <p:nvPr/>
        </p:nvSpPr>
        <p:spPr>
          <a:xfrm>
            <a:off x="539496" y="4850892"/>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200</a:t>
            </a:r>
            <a:endParaRPr lang="en-US" sz="620" dirty="0"/>
          </a:p>
        </p:txBody>
      </p:sp>
      <p:sp>
        <p:nvSpPr>
          <p:cNvPr id="47" name="Shape 45"/>
          <p:cNvSpPr/>
          <p:nvPr/>
        </p:nvSpPr>
        <p:spPr>
          <a:xfrm>
            <a:off x="923544" y="4370832"/>
            <a:ext cx="5852160" cy="5486"/>
          </a:xfrm>
          <a:prstGeom prst="rect">
            <a:avLst/>
          </a:prstGeom>
          <a:solidFill>
            <a:srgbClr val="E2EAEE"/>
          </a:solidFill>
          <a:ln/>
        </p:spPr>
      </p:sp>
      <p:sp>
        <p:nvSpPr>
          <p:cNvPr id="48" name="Text 46"/>
          <p:cNvSpPr txBox="1"/>
          <p:nvPr/>
        </p:nvSpPr>
        <p:spPr>
          <a:xfrm>
            <a:off x="539496" y="4297680"/>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400</a:t>
            </a:r>
            <a:endParaRPr lang="en-US" sz="620" dirty="0"/>
          </a:p>
        </p:txBody>
      </p:sp>
      <p:sp>
        <p:nvSpPr>
          <p:cNvPr id="49" name="Shape 47"/>
          <p:cNvSpPr/>
          <p:nvPr/>
        </p:nvSpPr>
        <p:spPr>
          <a:xfrm>
            <a:off x="923544" y="3817620"/>
            <a:ext cx="5852160" cy="5486"/>
          </a:xfrm>
          <a:prstGeom prst="rect">
            <a:avLst/>
          </a:prstGeom>
          <a:solidFill>
            <a:srgbClr val="E2EAEE"/>
          </a:solidFill>
          <a:ln/>
        </p:spPr>
      </p:sp>
      <p:sp>
        <p:nvSpPr>
          <p:cNvPr id="50" name="Text 48"/>
          <p:cNvSpPr txBox="1"/>
          <p:nvPr/>
        </p:nvSpPr>
        <p:spPr>
          <a:xfrm>
            <a:off x="539496" y="3744468"/>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600</a:t>
            </a:r>
            <a:endParaRPr lang="en-US" sz="620" dirty="0"/>
          </a:p>
        </p:txBody>
      </p:sp>
      <p:sp>
        <p:nvSpPr>
          <p:cNvPr id="51" name="Shape 49"/>
          <p:cNvSpPr/>
          <p:nvPr/>
        </p:nvSpPr>
        <p:spPr>
          <a:xfrm>
            <a:off x="923544" y="3264408"/>
            <a:ext cx="5852160" cy="5486"/>
          </a:xfrm>
          <a:prstGeom prst="rect">
            <a:avLst/>
          </a:prstGeom>
          <a:solidFill>
            <a:srgbClr val="E2EAEE"/>
          </a:solidFill>
          <a:ln/>
        </p:spPr>
      </p:sp>
      <p:sp>
        <p:nvSpPr>
          <p:cNvPr id="52" name="Text 50"/>
          <p:cNvSpPr txBox="1"/>
          <p:nvPr/>
        </p:nvSpPr>
        <p:spPr>
          <a:xfrm>
            <a:off x="539496" y="3191256"/>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800</a:t>
            </a:r>
            <a:endParaRPr lang="en-US" sz="620" dirty="0"/>
          </a:p>
        </p:txBody>
      </p:sp>
      <p:sp>
        <p:nvSpPr>
          <p:cNvPr id="53" name="Shape 51"/>
          <p:cNvSpPr/>
          <p:nvPr/>
        </p:nvSpPr>
        <p:spPr>
          <a:xfrm>
            <a:off x="1034328" y="5037452"/>
            <a:ext cx="184942" cy="439804"/>
          </a:xfrm>
          <a:prstGeom prst="rect">
            <a:avLst/>
          </a:prstGeom>
          <a:solidFill>
            <a:srgbClr val="3D8F5F"/>
          </a:solidFill>
          <a:ln/>
        </p:spPr>
      </p:sp>
      <p:sp>
        <p:nvSpPr>
          <p:cNvPr id="54" name="Text 52"/>
          <p:cNvSpPr txBox="1"/>
          <p:nvPr/>
        </p:nvSpPr>
        <p:spPr>
          <a:xfrm>
            <a:off x="1034328" y="519334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159</a:t>
            </a:r>
            <a:endParaRPr lang="en-US" sz="600" dirty="0"/>
          </a:p>
        </p:txBody>
      </p:sp>
      <p:sp>
        <p:nvSpPr>
          <p:cNvPr id="55" name="Shape 53"/>
          <p:cNvSpPr/>
          <p:nvPr/>
        </p:nvSpPr>
        <p:spPr>
          <a:xfrm>
            <a:off x="1034328" y="4437217"/>
            <a:ext cx="184942" cy="600235"/>
          </a:xfrm>
          <a:prstGeom prst="rect">
            <a:avLst/>
          </a:prstGeom>
          <a:solidFill>
            <a:srgbClr val="6FAEBB"/>
          </a:solidFill>
          <a:ln/>
        </p:spPr>
      </p:sp>
      <p:sp>
        <p:nvSpPr>
          <p:cNvPr id="56" name="Text 54"/>
          <p:cNvSpPr txBox="1"/>
          <p:nvPr/>
        </p:nvSpPr>
        <p:spPr>
          <a:xfrm>
            <a:off x="1034328" y="467332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217</a:t>
            </a:r>
            <a:endParaRPr lang="en-US" sz="600" dirty="0"/>
          </a:p>
        </p:txBody>
      </p:sp>
      <p:sp>
        <p:nvSpPr>
          <p:cNvPr id="57" name="Shape 55"/>
          <p:cNvSpPr/>
          <p:nvPr/>
        </p:nvSpPr>
        <p:spPr>
          <a:xfrm>
            <a:off x="1034328" y="3781661"/>
            <a:ext cx="184942" cy="655556"/>
          </a:xfrm>
          <a:prstGeom prst="rect">
            <a:avLst/>
          </a:prstGeom>
          <a:solidFill>
            <a:srgbClr val="C88A2E"/>
          </a:solidFill>
          <a:ln/>
        </p:spPr>
      </p:sp>
      <p:sp>
        <p:nvSpPr>
          <p:cNvPr id="58" name="Text 56"/>
          <p:cNvSpPr txBox="1"/>
          <p:nvPr/>
        </p:nvSpPr>
        <p:spPr>
          <a:xfrm>
            <a:off x="1034328" y="404543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237</a:t>
            </a:r>
            <a:endParaRPr lang="en-US" sz="600" dirty="0"/>
          </a:p>
        </p:txBody>
      </p:sp>
      <p:sp>
        <p:nvSpPr>
          <p:cNvPr id="59" name="Shape 57"/>
          <p:cNvSpPr/>
          <p:nvPr/>
        </p:nvSpPr>
        <p:spPr>
          <a:xfrm>
            <a:off x="1034328" y="3579739"/>
            <a:ext cx="184942" cy="201922"/>
          </a:xfrm>
          <a:prstGeom prst="rect">
            <a:avLst/>
          </a:prstGeom>
          <a:solidFill>
            <a:srgbClr val="7A3B21"/>
          </a:solidFill>
          <a:ln/>
        </p:spPr>
      </p:sp>
      <p:sp>
        <p:nvSpPr>
          <p:cNvPr id="60" name="Text 58"/>
          <p:cNvSpPr txBox="1"/>
          <p:nvPr/>
        </p:nvSpPr>
        <p:spPr>
          <a:xfrm>
            <a:off x="1034328" y="361669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73</a:t>
            </a:r>
            <a:endParaRPr lang="en-US" sz="600" dirty="0"/>
          </a:p>
        </p:txBody>
      </p:sp>
      <p:sp>
        <p:nvSpPr>
          <p:cNvPr id="61" name="Text 59"/>
          <p:cNvSpPr txBox="1"/>
          <p:nvPr/>
        </p:nvSpPr>
        <p:spPr>
          <a:xfrm>
            <a:off x="988608" y="342429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686</a:t>
            </a:r>
            <a:endParaRPr lang="en-US" sz="620" dirty="0"/>
          </a:p>
        </p:txBody>
      </p:sp>
      <p:sp>
        <p:nvSpPr>
          <p:cNvPr id="62" name="Text 60"/>
          <p:cNvSpPr txBox="1"/>
          <p:nvPr/>
        </p:nvSpPr>
        <p:spPr>
          <a:xfrm>
            <a:off x="1251273"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63" name="Text 61"/>
          <p:cNvSpPr txBox="1"/>
          <p:nvPr/>
        </p:nvSpPr>
        <p:spPr>
          <a:xfrm>
            <a:off x="97840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08-02</a:t>
            </a:r>
            <a:endParaRPr lang="en-US" sz="650" dirty="0"/>
          </a:p>
        </p:txBody>
      </p:sp>
      <p:sp>
        <p:nvSpPr>
          <p:cNvPr id="64" name="Shape 62"/>
          <p:cNvSpPr/>
          <p:nvPr/>
        </p:nvSpPr>
        <p:spPr>
          <a:xfrm>
            <a:off x="1548054" y="4771911"/>
            <a:ext cx="184942" cy="705345"/>
          </a:xfrm>
          <a:prstGeom prst="rect">
            <a:avLst/>
          </a:prstGeom>
          <a:solidFill>
            <a:srgbClr val="3D8F5F"/>
          </a:solidFill>
          <a:ln/>
        </p:spPr>
      </p:sp>
      <p:sp>
        <p:nvSpPr>
          <p:cNvPr id="65" name="Text 63"/>
          <p:cNvSpPr txBox="1"/>
          <p:nvPr/>
        </p:nvSpPr>
        <p:spPr>
          <a:xfrm>
            <a:off x="1548054" y="5060575"/>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255</a:t>
            </a:r>
            <a:endParaRPr lang="en-US" sz="600" dirty="0"/>
          </a:p>
        </p:txBody>
      </p:sp>
      <p:sp>
        <p:nvSpPr>
          <p:cNvPr id="66" name="Shape 64"/>
          <p:cNvSpPr/>
          <p:nvPr/>
        </p:nvSpPr>
        <p:spPr>
          <a:xfrm>
            <a:off x="1548054" y="4141249"/>
            <a:ext cx="184942" cy="630662"/>
          </a:xfrm>
          <a:prstGeom prst="rect">
            <a:avLst/>
          </a:prstGeom>
          <a:solidFill>
            <a:srgbClr val="6FAEBB"/>
          </a:solidFill>
          <a:ln/>
        </p:spPr>
      </p:sp>
      <p:sp>
        <p:nvSpPr>
          <p:cNvPr id="67" name="Text 65"/>
          <p:cNvSpPr txBox="1"/>
          <p:nvPr/>
        </p:nvSpPr>
        <p:spPr>
          <a:xfrm>
            <a:off x="1548054" y="439257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228</a:t>
            </a:r>
            <a:endParaRPr lang="en-US" sz="600" dirty="0"/>
          </a:p>
        </p:txBody>
      </p:sp>
      <p:sp>
        <p:nvSpPr>
          <p:cNvPr id="68" name="Shape 66"/>
          <p:cNvSpPr/>
          <p:nvPr/>
        </p:nvSpPr>
        <p:spPr>
          <a:xfrm>
            <a:off x="1548054" y="3906134"/>
            <a:ext cx="184942" cy="235115"/>
          </a:xfrm>
          <a:prstGeom prst="rect">
            <a:avLst/>
          </a:prstGeom>
          <a:solidFill>
            <a:srgbClr val="C88A2E"/>
          </a:solidFill>
          <a:ln/>
        </p:spPr>
      </p:sp>
      <p:sp>
        <p:nvSpPr>
          <p:cNvPr id="69" name="Text 67"/>
          <p:cNvSpPr txBox="1"/>
          <p:nvPr/>
        </p:nvSpPr>
        <p:spPr>
          <a:xfrm>
            <a:off x="1548054" y="395968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85</a:t>
            </a:r>
            <a:endParaRPr lang="en-US" sz="600" dirty="0"/>
          </a:p>
        </p:txBody>
      </p:sp>
      <p:sp>
        <p:nvSpPr>
          <p:cNvPr id="70" name="Shape 68"/>
          <p:cNvSpPr/>
          <p:nvPr/>
        </p:nvSpPr>
        <p:spPr>
          <a:xfrm>
            <a:off x="1548054" y="3748469"/>
            <a:ext cx="184942" cy="157665"/>
          </a:xfrm>
          <a:prstGeom prst="rect">
            <a:avLst/>
          </a:prstGeom>
          <a:solidFill>
            <a:srgbClr val="7A3B21"/>
          </a:solidFill>
          <a:ln/>
        </p:spPr>
      </p:sp>
      <p:sp>
        <p:nvSpPr>
          <p:cNvPr id="71" name="Text 69"/>
          <p:cNvSpPr txBox="1"/>
          <p:nvPr/>
        </p:nvSpPr>
        <p:spPr>
          <a:xfrm>
            <a:off x="1548054" y="376329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57</a:t>
            </a:r>
            <a:endParaRPr lang="en-US" sz="600" dirty="0"/>
          </a:p>
        </p:txBody>
      </p:sp>
      <p:sp>
        <p:nvSpPr>
          <p:cNvPr id="72" name="Text 70"/>
          <p:cNvSpPr txBox="1"/>
          <p:nvPr/>
        </p:nvSpPr>
        <p:spPr>
          <a:xfrm>
            <a:off x="1502334" y="359302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625</a:t>
            </a:r>
            <a:endParaRPr lang="en-US" sz="620" dirty="0"/>
          </a:p>
        </p:txBody>
      </p:sp>
      <p:sp>
        <p:nvSpPr>
          <p:cNvPr id="73" name="Text 71"/>
          <p:cNvSpPr txBox="1"/>
          <p:nvPr/>
        </p:nvSpPr>
        <p:spPr>
          <a:xfrm>
            <a:off x="1765000"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74" name="Text 72"/>
          <p:cNvSpPr txBox="1"/>
          <p:nvPr/>
        </p:nvSpPr>
        <p:spPr>
          <a:xfrm>
            <a:off x="1492135"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08-09</a:t>
            </a:r>
            <a:endParaRPr lang="en-US" sz="650" dirty="0"/>
          </a:p>
        </p:txBody>
      </p:sp>
      <p:sp>
        <p:nvSpPr>
          <p:cNvPr id="75" name="Shape 73"/>
          <p:cNvSpPr/>
          <p:nvPr/>
        </p:nvSpPr>
        <p:spPr>
          <a:xfrm>
            <a:off x="2061781" y="5001494"/>
            <a:ext cx="184942" cy="475762"/>
          </a:xfrm>
          <a:prstGeom prst="rect">
            <a:avLst/>
          </a:prstGeom>
          <a:solidFill>
            <a:srgbClr val="3D8F5F"/>
          </a:solidFill>
          <a:ln/>
        </p:spPr>
      </p:sp>
      <p:sp>
        <p:nvSpPr>
          <p:cNvPr id="76" name="Text 74"/>
          <p:cNvSpPr txBox="1"/>
          <p:nvPr/>
        </p:nvSpPr>
        <p:spPr>
          <a:xfrm>
            <a:off x="2061781" y="517536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172</a:t>
            </a:r>
            <a:endParaRPr lang="en-US" sz="600" dirty="0"/>
          </a:p>
        </p:txBody>
      </p:sp>
      <p:sp>
        <p:nvSpPr>
          <p:cNvPr id="77" name="Shape 75"/>
          <p:cNvSpPr/>
          <p:nvPr/>
        </p:nvSpPr>
        <p:spPr>
          <a:xfrm>
            <a:off x="2061781" y="4254657"/>
            <a:ext cx="184942" cy="746836"/>
          </a:xfrm>
          <a:prstGeom prst="rect">
            <a:avLst/>
          </a:prstGeom>
          <a:solidFill>
            <a:srgbClr val="6FAEBB"/>
          </a:solidFill>
          <a:ln/>
        </p:spPr>
      </p:sp>
      <p:sp>
        <p:nvSpPr>
          <p:cNvPr id="78" name="Text 76"/>
          <p:cNvSpPr txBox="1"/>
          <p:nvPr/>
        </p:nvSpPr>
        <p:spPr>
          <a:xfrm>
            <a:off x="2061781" y="456406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270</a:t>
            </a:r>
            <a:endParaRPr lang="en-US" sz="600" dirty="0"/>
          </a:p>
        </p:txBody>
      </p:sp>
      <p:sp>
        <p:nvSpPr>
          <p:cNvPr id="79" name="Shape 77"/>
          <p:cNvSpPr/>
          <p:nvPr/>
        </p:nvSpPr>
        <p:spPr>
          <a:xfrm>
            <a:off x="2061781" y="4005712"/>
            <a:ext cx="184942" cy="248945"/>
          </a:xfrm>
          <a:prstGeom prst="rect">
            <a:avLst/>
          </a:prstGeom>
          <a:solidFill>
            <a:srgbClr val="C88A2E"/>
          </a:solidFill>
          <a:ln/>
        </p:spPr>
      </p:sp>
      <p:sp>
        <p:nvSpPr>
          <p:cNvPr id="80" name="Text 78"/>
          <p:cNvSpPr txBox="1"/>
          <p:nvPr/>
        </p:nvSpPr>
        <p:spPr>
          <a:xfrm>
            <a:off x="2061781" y="406617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90</a:t>
            </a:r>
            <a:endParaRPr lang="en-US" sz="600" dirty="0"/>
          </a:p>
        </p:txBody>
      </p:sp>
      <p:sp>
        <p:nvSpPr>
          <p:cNvPr id="81" name="Shape 79"/>
          <p:cNvSpPr/>
          <p:nvPr/>
        </p:nvSpPr>
        <p:spPr>
          <a:xfrm>
            <a:off x="2061781" y="3861877"/>
            <a:ext cx="184942" cy="143835"/>
          </a:xfrm>
          <a:prstGeom prst="rect">
            <a:avLst/>
          </a:prstGeom>
          <a:solidFill>
            <a:srgbClr val="7A3B21"/>
          </a:solidFill>
          <a:ln/>
        </p:spPr>
      </p:sp>
      <p:sp>
        <p:nvSpPr>
          <p:cNvPr id="82" name="Text 80"/>
          <p:cNvSpPr txBox="1"/>
          <p:nvPr/>
        </p:nvSpPr>
        <p:spPr>
          <a:xfrm>
            <a:off x="2061781" y="386978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52</a:t>
            </a:r>
            <a:endParaRPr lang="en-US" sz="600" dirty="0"/>
          </a:p>
        </p:txBody>
      </p:sp>
      <p:sp>
        <p:nvSpPr>
          <p:cNvPr id="83" name="Text 81"/>
          <p:cNvSpPr txBox="1"/>
          <p:nvPr/>
        </p:nvSpPr>
        <p:spPr>
          <a:xfrm>
            <a:off x="2016061" y="3706429"/>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584</a:t>
            </a:r>
            <a:endParaRPr lang="en-US" sz="620" dirty="0"/>
          </a:p>
        </p:txBody>
      </p:sp>
      <p:sp>
        <p:nvSpPr>
          <p:cNvPr id="84" name="Shape 82"/>
          <p:cNvSpPr/>
          <p:nvPr/>
        </p:nvSpPr>
        <p:spPr>
          <a:xfrm>
            <a:off x="2278726" y="4191038"/>
            <a:ext cx="184942" cy="1286218"/>
          </a:xfrm>
          <a:prstGeom prst="rect">
            <a:avLst/>
          </a:prstGeom>
          <a:solidFill>
            <a:srgbClr val="1C5765"/>
          </a:solidFill>
          <a:ln/>
        </p:spPr>
      </p:sp>
      <p:sp>
        <p:nvSpPr>
          <p:cNvPr id="85" name="Text 83"/>
          <p:cNvSpPr txBox="1"/>
          <p:nvPr/>
        </p:nvSpPr>
        <p:spPr>
          <a:xfrm>
            <a:off x="2233006" y="403559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465</a:t>
            </a:r>
            <a:endParaRPr lang="en-US" sz="620" dirty="0"/>
          </a:p>
        </p:txBody>
      </p:sp>
      <p:sp>
        <p:nvSpPr>
          <p:cNvPr id="86" name="Text 84"/>
          <p:cNvSpPr txBox="1"/>
          <p:nvPr/>
        </p:nvSpPr>
        <p:spPr>
          <a:xfrm>
            <a:off x="200586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08-16</a:t>
            </a:r>
            <a:endParaRPr lang="en-US" sz="650" dirty="0"/>
          </a:p>
        </p:txBody>
      </p:sp>
      <p:sp>
        <p:nvSpPr>
          <p:cNvPr id="87" name="Shape 85"/>
          <p:cNvSpPr/>
          <p:nvPr/>
        </p:nvSpPr>
        <p:spPr>
          <a:xfrm>
            <a:off x="2575507" y="5023622"/>
            <a:ext cx="184942" cy="453634"/>
          </a:xfrm>
          <a:prstGeom prst="rect">
            <a:avLst/>
          </a:prstGeom>
          <a:solidFill>
            <a:srgbClr val="3D8F5F"/>
          </a:solidFill>
          <a:ln/>
        </p:spPr>
      </p:sp>
      <p:sp>
        <p:nvSpPr>
          <p:cNvPr id="88" name="Text 86"/>
          <p:cNvSpPr txBox="1"/>
          <p:nvPr/>
        </p:nvSpPr>
        <p:spPr>
          <a:xfrm>
            <a:off x="2575507" y="518643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164</a:t>
            </a:r>
            <a:endParaRPr lang="en-US" sz="600" dirty="0"/>
          </a:p>
        </p:txBody>
      </p:sp>
      <p:sp>
        <p:nvSpPr>
          <p:cNvPr id="89" name="Shape 87"/>
          <p:cNvSpPr/>
          <p:nvPr/>
        </p:nvSpPr>
        <p:spPr>
          <a:xfrm>
            <a:off x="2575507" y="4196570"/>
            <a:ext cx="184942" cy="827052"/>
          </a:xfrm>
          <a:prstGeom prst="rect">
            <a:avLst/>
          </a:prstGeom>
          <a:solidFill>
            <a:srgbClr val="6FAEBB"/>
          </a:solidFill>
          <a:ln/>
        </p:spPr>
      </p:sp>
      <p:sp>
        <p:nvSpPr>
          <p:cNvPr id="90" name="Text 88"/>
          <p:cNvSpPr txBox="1"/>
          <p:nvPr/>
        </p:nvSpPr>
        <p:spPr>
          <a:xfrm>
            <a:off x="2575507" y="454608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299</a:t>
            </a:r>
            <a:endParaRPr lang="en-US" sz="600" dirty="0"/>
          </a:p>
        </p:txBody>
      </p:sp>
      <p:sp>
        <p:nvSpPr>
          <p:cNvPr id="91" name="Shape 89"/>
          <p:cNvSpPr/>
          <p:nvPr/>
        </p:nvSpPr>
        <p:spPr>
          <a:xfrm>
            <a:off x="2575507" y="3889538"/>
            <a:ext cx="184942" cy="307033"/>
          </a:xfrm>
          <a:prstGeom prst="rect">
            <a:avLst/>
          </a:prstGeom>
          <a:solidFill>
            <a:srgbClr val="C88A2E"/>
          </a:solidFill>
          <a:ln/>
        </p:spPr>
      </p:sp>
      <p:sp>
        <p:nvSpPr>
          <p:cNvPr id="92" name="Text 90"/>
          <p:cNvSpPr txBox="1"/>
          <p:nvPr/>
        </p:nvSpPr>
        <p:spPr>
          <a:xfrm>
            <a:off x="2575507" y="397904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93" name="Shape 91"/>
          <p:cNvSpPr/>
          <p:nvPr/>
        </p:nvSpPr>
        <p:spPr>
          <a:xfrm>
            <a:off x="2575507" y="3729106"/>
            <a:ext cx="184942" cy="160431"/>
          </a:xfrm>
          <a:prstGeom prst="rect">
            <a:avLst/>
          </a:prstGeom>
          <a:solidFill>
            <a:srgbClr val="7A3B21"/>
          </a:solidFill>
          <a:ln/>
        </p:spPr>
      </p:sp>
      <p:sp>
        <p:nvSpPr>
          <p:cNvPr id="94" name="Text 92"/>
          <p:cNvSpPr txBox="1"/>
          <p:nvPr/>
        </p:nvSpPr>
        <p:spPr>
          <a:xfrm>
            <a:off x="2575507" y="374531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58</a:t>
            </a:r>
            <a:endParaRPr lang="en-US" sz="600" dirty="0"/>
          </a:p>
        </p:txBody>
      </p:sp>
      <p:sp>
        <p:nvSpPr>
          <p:cNvPr id="95" name="Text 93"/>
          <p:cNvSpPr txBox="1"/>
          <p:nvPr/>
        </p:nvSpPr>
        <p:spPr>
          <a:xfrm>
            <a:off x="2529787" y="357365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632</a:t>
            </a:r>
            <a:endParaRPr lang="en-US" sz="620" dirty="0"/>
          </a:p>
        </p:txBody>
      </p:sp>
      <p:sp>
        <p:nvSpPr>
          <p:cNvPr id="96" name="Shape 94"/>
          <p:cNvSpPr/>
          <p:nvPr/>
        </p:nvSpPr>
        <p:spPr>
          <a:xfrm>
            <a:off x="2792453" y="4215933"/>
            <a:ext cx="184942" cy="1261323"/>
          </a:xfrm>
          <a:prstGeom prst="rect">
            <a:avLst/>
          </a:prstGeom>
          <a:solidFill>
            <a:srgbClr val="1C5765"/>
          </a:solidFill>
          <a:ln/>
        </p:spPr>
      </p:sp>
      <p:sp>
        <p:nvSpPr>
          <p:cNvPr id="97" name="Text 95"/>
          <p:cNvSpPr txBox="1"/>
          <p:nvPr/>
        </p:nvSpPr>
        <p:spPr>
          <a:xfrm>
            <a:off x="2746733" y="4060485"/>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456</a:t>
            </a:r>
            <a:endParaRPr lang="en-US" sz="620" dirty="0"/>
          </a:p>
        </p:txBody>
      </p:sp>
      <p:sp>
        <p:nvSpPr>
          <p:cNvPr id="98" name="Text 96"/>
          <p:cNvSpPr txBox="1"/>
          <p:nvPr/>
        </p:nvSpPr>
        <p:spPr>
          <a:xfrm>
            <a:off x="251958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08-23</a:t>
            </a:r>
            <a:endParaRPr lang="en-US" sz="650" dirty="0"/>
          </a:p>
        </p:txBody>
      </p:sp>
      <p:sp>
        <p:nvSpPr>
          <p:cNvPr id="99" name="Shape 97"/>
          <p:cNvSpPr/>
          <p:nvPr/>
        </p:nvSpPr>
        <p:spPr>
          <a:xfrm>
            <a:off x="3089234" y="5059581"/>
            <a:ext cx="184942" cy="417675"/>
          </a:xfrm>
          <a:prstGeom prst="rect">
            <a:avLst/>
          </a:prstGeom>
          <a:solidFill>
            <a:srgbClr val="3D8F5F"/>
          </a:solidFill>
          <a:ln/>
        </p:spPr>
      </p:sp>
      <p:sp>
        <p:nvSpPr>
          <p:cNvPr id="100" name="Text 98"/>
          <p:cNvSpPr txBox="1"/>
          <p:nvPr/>
        </p:nvSpPr>
        <p:spPr>
          <a:xfrm>
            <a:off x="3089234" y="520441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01" name="Shape 99"/>
          <p:cNvSpPr/>
          <p:nvPr/>
        </p:nvSpPr>
        <p:spPr>
          <a:xfrm>
            <a:off x="3089234" y="4238061"/>
            <a:ext cx="184942" cy="821520"/>
          </a:xfrm>
          <a:prstGeom prst="rect">
            <a:avLst/>
          </a:prstGeom>
          <a:solidFill>
            <a:srgbClr val="6FAEBB"/>
          </a:solidFill>
          <a:ln/>
        </p:spPr>
      </p:sp>
      <p:sp>
        <p:nvSpPr>
          <p:cNvPr id="102" name="Text 100"/>
          <p:cNvSpPr txBox="1"/>
          <p:nvPr/>
        </p:nvSpPr>
        <p:spPr>
          <a:xfrm>
            <a:off x="3089234" y="458481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297</a:t>
            </a:r>
            <a:endParaRPr lang="en-US" sz="600" dirty="0"/>
          </a:p>
        </p:txBody>
      </p:sp>
      <p:sp>
        <p:nvSpPr>
          <p:cNvPr id="103" name="Shape 101"/>
          <p:cNvSpPr/>
          <p:nvPr/>
        </p:nvSpPr>
        <p:spPr>
          <a:xfrm>
            <a:off x="3089234" y="4019542"/>
            <a:ext cx="184942" cy="218519"/>
          </a:xfrm>
          <a:prstGeom prst="rect">
            <a:avLst/>
          </a:prstGeom>
          <a:solidFill>
            <a:srgbClr val="C88A2E"/>
          </a:solidFill>
          <a:ln/>
        </p:spPr>
      </p:sp>
      <p:sp>
        <p:nvSpPr>
          <p:cNvPr id="104" name="Text 102"/>
          <p:cNvSpPr txBox="1"/>
          <p:nvPr/>
        </p:nvSpPr>
        <p:spPr>
          <a:xfrm>
            <a:off x="3089234" y="406479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79</a:t>
            </a:r>
            <a:endParaRPr lang="en-US" sz="600" dirty="0"/>
          </a:p>
        </p:txBody>
      </p:sp>
      <p:sp>
        <p:nvSpPr>
          <p:cNvPr id="105" name="Shape 103"/>
          <p:cNvSpPr/>
          <p:nvPr/>
        </p:nvSpPr>
        <p:spPr>
          <a:xfrm>
            <a:off x="3089234" y="3856345"/>
            <a:ext cx="184942" cy="163198"/>
          </a:xfrm>
          <a:prstGeom prst="rect">
            <a:avLst/>
          </a:prstGeom>
          <a:solidFill>
            <a:srgbClr val="7A3B21"/>
          </a:solidFill>
          <a:ln/>
        </p:spPr>
      </p:sp>
      <p:sp>
        <p:nvSpPr>
          <p:cNvPr id="106" name="Text 104"/>
          <p:cNvSpPr txBox="1"/>
          <p:nvPr/>
        </p:nvSpPr>
        <p:spPr>
          <a:xfrm>
            <a:off x="3089234" y="387393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59</a:t>
            </a:r>
            <a:endParaRPr lang="en-US" sz="600" dirty="0"/>
          </a:p>
        </p:txBody>
      </p:sp>
      <p:sp>
        <p:nvSpPr>
          <p:cNvPr id="107" name="Text 105"/>
          <p:cNvSpPr txBox="1"/>
          <p:nvPr/>
        </p:nvSpPr>
        <p:spPr>
          <a:xfrm>
            <a:off x="3043514" y="3700897"/>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586</a:t>
            </a:r>
            <a:endParaRPr lang="en-US" sz="620" dirty="0"/>
          </a:p>
        </p:txBody>
      </p:sp>
      <p:sp>
        <p:nvSpPr>
          <p:cNvPr id="108" name="Shape 106"/>
          <p:cNvSpPr/>
          <p:nvPr/>
        </p:nvSpPr>
        <p:spPr>
          <a:xfrm>
            <a:off x="3306179" y="4528497"/>
            <a:ext cx="184942" cy="948759"/>
          </a:xfrm>
          <a:prstGeom prst="rect">
            <a:avLst/>
          </a:prstGeom>
          <a:solidFill>
            <a:srgbClr val="1C5765"/>
          </a:solidFill>
          <a:ln/>
        </p:spPr>
      </p:sp>
      <p:sp>
        <p:nvSpPr>
          <p:cNvPr id="109" name="Text 107"/>
          <p:cNvSpPr txBox="1"/>
          <p:nvPr/>
        </p:nvSpPr>
        <p:spPr>
          <a:xfrm>
            <a:off x="3260459" y="4373049"/>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343</a:t>
            </a:r>
            <a:endParaRPr lang="en-US" sz="620" dirty="0"/>
          </a:p>
        </p:txBody>
      </p:sp>
      <p:sp>
        <p:nvSpPr>
          <p:cNvPr id="110" name="Text 108"/>
          <p:cNvSpPr txBox="1"/>
          <p:nvPr/>
        </p:nvSpPr>
        <p:spPr>
          <a:xfrm>
            <a:off x="3033314"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08-30</a:t>
            </a:r>
            <a:endParaRPr lang="en-US" sz="650" dirty="0"/>
          </a:p>
        </p:txBody>
      </p:sp>
      <p:sp>
        <p:nvSpPr>
          <p:cNvPr id="111" name="Shape 109"/>
          <p:cNvSpPr/>
          <p:nvPr/>
        </p:nvSpPr>
        <p:spPr>
          <a:xfrm>
            <a:off x="3749264" y="4824466"/>
            <a:ext cx="184942" cy="652790"/>
          </a:xfrm>
          <a:prstGeom prst="rect">
            <a:avLst/>
          </a:prstGeom>
          <a:solidFill>
            <a:srgbClr val="3D8F5F"/>
          </a:solidFill>
          <a:ln/>
        </p:spPr>
      </p:sp>
      <p:sp>
        <p:nvSpPr>
          <p:cNvPr id="112" name="Text 110"/>
          <p:cNvSpPr txBox="1"/>
          <p:nvPr/>
        </p:nvSpPr>
        <p:spPr>
          <a:xfrm>
            <a:off x="3749264" y="508685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236</a:t>
            </a:r>
            <a:endParaRPr lang="en-US" sz="600" dirty="0"/>
          </a:p>
        </p:txBody>
      </p:sp>
      <p:sp>
        <p:nvSpPr>
          <p:cNvPr id="113" name="Shape 111"/>
          <p:cNvSpPr/>
          <p:nvPr/>
        </p:nvSpPr>
        <p:spPr>
          <a:xfrm>
            <a:off x="3749264" y="4108056"/>
            <a:ext cx="184942" cy="716410"/>
          </a:xfrm>
          <a:prstGeom prst="rect">
            <a:avLst/>
          </a:prstGeom>
          <a:solidFill>
            <a:srgbClr val="6FAEBB"/>
          </a:solidFill>
          <a:ln/>
        </p:spPr>
      </p:sp>
      <p:sp>
        <p:nvSpPr>
          <p:cNvPr id="114" name="Text 112"/>
          <p:cNvSpPr txBox="1"/>
          <p:nvPr/>
        </p:nvSpPr>
        <p:spPr>
          <a:xfrm>
            <a:off x="3749264" y="440225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259</a:t>
            </a:r>
            <a:endParaRPr lang="en-US" sz="600" dirty="0"/>
          </a:p>
        </p:txBody>
      </p:sp>
      <p:sp>
        <p:nvSpPr>
          <p:cNvPr id="115" name="Shape 113"/>
          <p:cNvSpPr/>
          <p:nvPr/>
        </p:nvSpPr>
        <p:spPr>
          <a:xfrm>
            <a:off x="3749264" y="3690381"/>
            <a:ext cx="184942" cy="417675"/>
          </a:xfrm>
          <a:prstGeom prst="rect">
            <a:avLst/>
          </a:prstGeom>
          <a:solidFill>
            <a:srgbClr val="C88A2E"/>
          </a:solidFill>
          <a:ln/>
        </p:spPr>
      </p:sp>
      <p:sp>
        <p:nvSpPr>
          <p:cNvPr id="116" name="Text 114"/>
          <p:cNvSpPr txBox="1"/>
          <p:nvPr/>
        </p:nvSpPr>
        <p:spPr>
          <a:xfrm>
            <a:off x="3749264" y="383521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17" name="Shape 115"/>
          <p:cNvSpPr/>
          <p:nvPr/>
        </p:nvSpPr>
        <p:spPr>
          <a:xfrm>
            <a:off x="3749264" y="3593569"/>
            <a:ext cx="184942" cy="96812"/>
          </a:xfrm>
          <a:prstGeom prst="rect">
            <a:avLst/>
          </a:prstGeom>
          <a:solidFill>
            <a:srgbClr val="7A3B21"/>
          </a:solidFill>
          <a:ln/>
        </p:spPr>
      </p:sp>
      <p:sp>
        <p:nvSpPr>
          <p:cNvPr id="118" name="Text 116"/>
          <p:cNvSpPr txBox="1"/>
          <p:nvPr/>
        </p:nvSpPr>
        <p:spPr>
          <a:xfrm>
            <a:off x="3703544" y="343812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681</a:t>
            </a:r>
            <a:endParaRPr lang="en-US" sz="620" dirty="0"/>
          </a:p>
        </p:txBody>
      </p:sp>
      <p:sp>
        <p:nvSpPr>
          <p:cNvPr id="119" name="Text 117"/>
          <p:cNvSpPr txBox="1"/>
          <p:nvPr/>
        </p:nvSpPr>
        <p:spPr>
          <a:xfrm>
            <a:off x="3966210"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120" name="Text 118"/>
          <p:cNvSpPr txBox="1"/>
          <p:nvPr/>
        </p:nvSpPr>
        <p:spPr>
          <a:xfrm>
            <a:off x="3693345"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09-13</a:t>
            </a:r>
            <a:endParaRPr lang="en-US" sz="650" dirty="0"/>
          </a:p>
        </p:txBody>
      </p:sp>
      <p:sp>
        <p:nvSpPr>
          <p:cNvPr id="121" name="Shape 119"/>
          <p:cNvSpPr/>
          <p:nvPr/>
        </p:nvSpPr>
        <p:spPr>
          <a:xfrm>
            <a:off x="4262991" y="4968301"/>
            <a:ext cx="184942" cy="508955"/>
          </a:xfrm>
          <a:prstGeom prst="rect">
            <a:avLst/>
          </a:prstGeom>
          <a:solidFill>
            <a:srgbClr val="3D8F5F"/>
          </a:solidFill>
          <a:ln/>
        </p:spPr>
      </p:sp>
      <p:sp>
        <p:nvSpPr>
          <p:cNvPr id="122" name="Text 120"/>
          <p:cNvSpPr txBox="1"/>
          <p:nvPr/>
        </p:nvSpPr>
        <p:spPr>
          <a:xfrm>
            <a:off x="4262991" y="515877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184</a:t>
            </a:r>
            <a:endParaRPr lang="en-US" sz="600" dirty="0"/>
          </a:p>
        </p:txBody>
      </p:sp>
      <p:sp>
        <p:nvSpPr>
          <p:cNvPr id="123" name="Shape 121"/>
          <p:cNvSpPr/>
          <p:nvPr/>
        </p:nvSpPr>
        <p:spPr>
          <a:xfrm>
            <a:off x="4262991" y="4279552"/>
            <a:ext cx="184942" cy="688749"/>
          </a:xfrm>
          <a:prstGeom prst="rect">
            <a:avLst/>
          </a:prstGeom>
          <a:solidFill>
            <a:srgbClr val="6FAEBB"/>
          </a:solidFill>
          <a:ln/>
        </p:spPr>
      </p:sp>
      <p:sp>
        <p:nvSpPr>
          <p:cNvPr id="124" name="Text 122"/>
          <p:cNvSpPr txBox="1"/>
          <p:nvPr/>
        </p:nvSpPr>
        <p:spPr>
          <a:xfrm>
            <a:off x="4262991" y="455991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249</a:t>
            </a:r>
            <a:endParaRPr lang="en-US" sz="600" dirty="0"/>
          </a:p>
        </p:txBody>
      </p:sp>
      <p:sp>
        <p:nvSpPr>
          <p:cNvPr id="125" name="Shape 123"/>
          <p:cNvSpPr/>
          <p:nvPr/>
        </p:nvSpPr>
        <p:spPr>
          <a:xfrm>
            <a:off x="4262991" y="3914432"/>
            <a:ext cx="184942" cy="365120"/>
          </a:xfrm>
          <a:prstGeom prst="rect">
            <a:avLst/>
          </a:prstGeom>
          <a:solidFill>
            <a:srgbClr val="C88A2E"/>
          </a:solidFill>
          <a:ln/>
        </p:spPr>
      </p:sp>
      <p:sp>
        <p:nvSpPr>
          <p:cNvPr id="126" name="Text 124"/>
          <p:cNvSpPr txBox="1"/>
          <p:nvPr/>
        </p:nvSpPr>
        <p:spPr>
          <a:xfrm>
            <a:off x="4262991" y="403298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132</a:t>
            </a:r>
            <a:endParaRPr lang="en-US" sz="600" dirty="0"/>
          </a:p>
        </p:txBody>
      </p:sp>
      <p:sp>
        <p:nvSpPr>
          <p:cNvPr id="127" name="Shape 125"/>
          <p:cNvSpPr/>
          <p:nvPr/>
        </p:nvSpPr>
        <p:spPr>
          <a:xfrm>
            <a:off x="4262991" y="3886772"/>
            <a:ext cx="184942" cy="27661"/>
          </a:xfrm>
          <a:prstGeom prst="rect">
            <a:avLst/>
          </a:prstGeom>
          <a:solidFill>
            <a:srgbClr val="7A3B21"/>
          </a:solidFill>
          <a:ln/>
        </p:spPr>
      </p:sp>
      <p:sp>
        <p:nvSpPr>
          <p:cNvPr id="128" name="Text 126"/>
          <p:cNvSpPr txBox="1"/>
          <p:nvPr/>
        </p:nvSpPr>
        <p:spPr>
          <a:xfrm>
            <a:off x="4217271" y="3731324"/>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575</a:t>
            </a:r>
            <a:endParaRPr lang="en-US" sz="620" dirty="0"/>
          </a:p>
        </p:txBody>
      </p:sp>
      <p:sp>
        <p:nvSpPr>
          <p:cNvPr id="129" name="Shape 127"/>
          <p:cNvSpPr/>
          <p:nvPr/>
        </p:nvSpPr>
        <p:spPr>
          <a:xfrm>
            <a:off x="4479937" y="3798258"/>
            <a:ext cx="184942" cy="1678998"/>
          </a:xfrm>
          <a:prstGeom prst="rect">
            <a:avLst/>
          </a:prstGeom>
          <a:solidFill>
            <a:srgbClr val="1C5765"/>
          </a:solidFill>
          <a:ln/>
        </p:spPr>
      </p:sp>
      <p:sp>
        <p:nvSpPr>
          <p:cNvPr id="130" name="Text 128"/>
          <p:cNvSpPr txBox="1"/>
          <p:nvPr/>
        </p:nvSpPr>
        <p:spPr>
          <a:xfrm>
            <a:off x="4434217" y="364281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607</a:t>
            </a:r>
            <a:endParaRPr lang="en-US" sz="620" dirty="0"/>
          </a:p>
        </p:txBody>
      </p:sp>
      <p:sp>
        <p:nvSpPr>
          <p:cNvPr id="131" name="Text 129"/>
          <p:cNvSpPr txBox="1"/>
          <p:nvPr/>
        </p:nvSpPr>
        <p:spPr>
          <a:xfrm>
            <a:off x="420707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09-20</a:t>
            </a:r>
            <a:endParaRPr lang="en-US" sz="650" dirty="0"/>
          </a:p>
        </p:txBody>
      </p:sp>
      <p:sp>
        <p:nvSpPr>
          <p:cNvPr id="132" name="Shape 130"/>
          <p:cNvSpPr/>
          <p:nvPr/>
        </p:nvSpPr>
        <p:spPr>
          <a:xfrm>
            <a:off x="4776718" y="4940640"/>
            <a:ext cx="184942" cy="536616"/>
          </a:xfrm>
          <a:prstGeom prst="rect">
            <a:avLst/>
          </a:prstGeom>
          <a:solidFill>
            <a:srgbClr val="3D8F5F"/>
          </a:solidFill>
          <a:ln/>
        </p:spPr>
      </p:sp>
      <p:sp>
        <p:nvSpPr>
          <p:cNvPr id="133" name="Text 131"/>
          <p:cNvSpPr txBox="1"/>
          <p:nvPr/>
        </p:nvSpPr>
        <p:spPr>
          <a:xfrm>
            <a:off x="4776718" y="514494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194</a:t>
            </a:r>
            <a:endParaRPr lang="en-US" sz="600" dirty="0"/>
          </a:p>
        </p:txBody>
      </p:sp>
      <p:sp>
        <p:nvSpPr>
          <p:cNvPr id="134" name="Shape 132"/>
          <p:cNvSpPr/>
          <p:nvPr/>
        </p:nvSpPr>
        <p:spPr>
          <a:xfrm>
            <a:off x="4776718" y="4105290"/>
            <a:ext cx="184942" cy="835350"/>
          </a:xfrm>
          <a:prstGeom prst="rect">
            <a:avLst/>
          </a:prstGeom>
          <a:solidFill>
            <a:srgbClr val="6FAEBB"/>
          </a:solidFill>
          <a:ln/>
        </p:spPr>
      </p:sp>
      <p:sp>
        <p:nvSpPr>
          <p:cNvPr id="135" name="Text 133"/>
          <p:cNvSpPr txBox="1"/>
          <p:nvPr/>
        </p:nvSpPr>
        <p:spPr>
          <a:xfrm>
            <a:off x="4776718" y="445895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302</a:t>
            </a:r>
            <a:endParaRPr lang="en-US" sz="600" dirty="0"/>
          </a:p>
        </p:txBody>
      </p:sp>
      <p:sp>
        <p:nvSpPr>
          <p:cNvPr id="136" name="Shape 134"/>
          <p:cNvSpPr/>
          <p:nvPr/>
        </p:nvSpPr>
        <p:spPr>
          <a:xfrm>
            <a:off x="4776718" y="3640592"/>
            <a:ext cx="184942" cy="464698"/>
          </a:xfrm>
          <a:prstGeom prst="rect">
            <a:avLst/>
          </a:prstGeom>
          <a:solidFill>
            <a:srgbClr val="C88A2E"/>
          </a:solidFill>
          <a:ln/>
        </p:spPr>
      </p:sp>
      <p:sp>
        <p:nvSpPr>
          <p:cNvPr id="137" name="Text 135"/>
          <p:cNvSpPr txBox="1"/>
          <p:nvPr/>
        </p:nvSpPr>
        <p:spPr>
          <a:xfrm>
            <a:off x="4776718" y="380893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168</a:t>
            </a:r>
            <a:endParaRPr lang="en-US" sz="600" dirty="0"/>
          </a:p>
        </p:txBody>
      </p:sp>
      <p:sp>
        <p:nvSpPr>
          <p:cNvPr id="138" name="Shape 136"/>
          <p:cNvSpPr/>
          <p:nvPr/>
        </p:nvSpPr>
        <p:spPr>
          <a:xfrm>
            <a:off x="4776718" y="3610166"/>
            <a:ext cx="184942" cy="30427"/>
          </a:xfrm>
          <a:prstGeom prst="rect">
            <a:avLst/>
          </a:prstGeom>
          <a:solidFill>
            <a:srgbClr val="7A3B21"/>
          </a:solidFill>
          <a:ln/>
        </p:spPr>
      </p:sp>
      <p:sp>
        <p:nvSpPr>
          <p:cNvPr id="139" name="Text 137"/>
          <p:cNvSpPr txBox="1"/>
          <p:nvPr/>
        </p:nvSpPr>
        <p:spPr>
          <a:xfrm>
            <a:off x="4730998" y="345471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675</a:t>
            </a:r>
            <a:endParaRPr lang="en-US" sz="620" dirty="0"/>
          </a:p>
        </p:txBody>
      </p:sp>
      <p:sp>
        <p:nvSpPr>
          <p:cNvPr id="140" name="Shape 138"/>
          <p:cNvSpPr/>
          <p:nvPr/>
        </p:nvSpPr>
        <p:spPr>
          <a:xfrm>
            <a:off x="4993663" y="4318277"/>
            <a:ext cx="184942" cy="1158979"/>
          </a:xfrm>
          <a:prstGeom prst="rect">
            <a:avLst/>
          </a:prstGeom>
          <a:solidFill>
            <a:srgbClr val="1C5765"/>
          </a:solidFill>
          <a:ln/>
        </p:spPr>
      </p:sp>
      <p:sp>
        <p:nvSpPr>
          <p:cNvPr id="141" name="Text 139"/>
          <p:cNvSpPr txBox="1"/>
          <p:nvPr/>
        </p:nvSpPr>
        <p:spPr>
          <a:xfrm>
            <a:off x="4947943" y="4162829"/>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419</a:t>
            </a:r>
            <a:endParaRPr lang="en-US" sz="620" dirty="0"/>
          </a:p>
        </p:txBody>
      </p:sp>
      <p:sp>
        <p:nvSpPr>
          <p:cNvPr id="142" name="Text 140"/>
          <p:cNvSpPr txBox="1"/>
          <p:nvPr/>
        </p:nvSpPr>
        <p:spPr>
          <a:xfrm>
            <a:off x="472079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09-27</a:t>
            </a:r>
            <a:endParaRPr lang="en-US" sz="650" dirty="0"/>
          </a:p>
        </p:txBody>
      </p:sp>
      <p:sp>
        <p:nvSpPr>
          <p:cNvPr id="143" name="Shape 141"/>
          <p:cNvSpPr/>
          <p:nvPr/>
        </p:nvSpPr>
        <p:spPr>
          <a:xfrm>
            <a:off x="5290444" y="5015324"/>
            <a:ext cx="184942" cy="461932"/>
          </a:xfrm>
          <a:prstGeom prst="rect">
            <a:avLst/>
          </a:prstGeom>
          <a:solidFill>
            <a:srgbClr val="3D8F5F"/>
          </a:solidFill>
          <a:ln/>
        </p:spPr>
      </p:sp>
      <p:sp>
        <p:nvSpPr>
          <p:cNvPr id="144" name="Text 142"/>
          <p:cNvSpPr txBox="1"/>
          <p:nvPr/>
        </p:nvSpPr>
        <p:spPr>
          <a:xfrm>
            <a:off x="5290444" y="518228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167</a:t>
            </a:r>
            <a:endParaRPr lang="en-US" sz="600" dirty="0"/>
          </a:p>
        </p:txBody>
      </p:sp>
      <p:sp>
        <p:nvSpPr>
          <p:cNvPr id="145" name="Shape 143"/>
          <p:cNvSpPr/>
          <p:nvPr/>
        </p:nvSpPr>
        <p:spPr>
          <a:xfrm>
            <a:off x="5290444" y="4110822"/>
            <a:ext cx="184942" cy="904502"/>
          </a:xfrm>
          <a:prstGeom prst="rect">
            <a:avLst/>
          </a:prstGeom>
          <a:solidFill>
            <a:srgbClr val="6FAEBB"/>
          </a:solidFill>
          <a:ln/>
        </p:spPr>
      </p:sp>
      <p:sp>
        <p:nvSpPr>
          <p:cNvPr id="146" name="Text 144"/>
          <p:cNvSpPr txBox="1"/>
          <p:nvPr/>
        </p:nvSpPr>
        <p:spPr>
          <a:xfrm>
            <a:off x="5290444" y="4499065"/>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327</a:t>
            </a:r>
            <a:endParaRPr lang="en-US" sz="600" dirty="0"/>
          </a:p>
        </p:txBody>
      </p:sp>
      <p:sp>
        <p:nvSpPr>
          <p:cNvPr id="147" name="Shape 145"/>
          <p:cNvSpPr/>
          <p:nvPr/>
        </p:nvSpPr>
        <p:spPr>
          <a:xfrm>
            <a:off x="5290444" y="3579739"/>
            <a:ext cx="184942" cy="531084"/>
          </a:xfrm>
          <a:prstGeom prst="rect">
            <a:avLst/>
          </a:prstGeom>
          <a:solidFill>
            <a:srgbClr val="C88A2E"/>
          </a:solidFill>
          <a:ln/>
        </p:spPr>
      </p:sp>
      <p:sp>
        <p:nvSpPr>
          <p:cNvPr id="148" name="Text 146"/>
          <p:cNvSpPr txBox="1"/>
          <p:nvPr/>
        </p:nvSpPr>
        <p:spPr>
          <a:xfrm>
            <a:off x="5290444" y="378127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192</a:t>
            </a:r>
            <a:endParaRPr lang="en-US" sz="600" dirty="0"/>
          </a:p>
        </p:txBody>
      </p:sp>
      <p:sp>
        <p:nvSpPr>
          <p:cNvPr id="149" name="Shape 147"/>
          <p:cNvSpPr/>
          <p:nvPr/>
        </p:nvSpPr>
        <p:spPr>
          <a:xfrm>
            <a:off x="5290444" y="3546546"/>
            <a:ext cx="184942" cy="33193"/>
          </a:xfrm>
          <a:prstGeom prst="rect">
            <a:avLst/>
          </a:prstGeom>
          <a:solidFill>
            <a:srgbClr val="7A3B21"/>
          </a:solidFill>
          <a:ln/>
        </p:spPr>
      </p:sp>
      <p:sp>
        <p:nvSpPr>
          <p:cNvPr id="150" name="Text 148"/>
          <p:cNvSpPr txBox="1"/>
          <p:nvPr/>
        </p:nvSpPr>
        <p:spPr>
          <a:xfrm>
            <a:off x="5244724" y="339109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698</a:t>
            </a:r>
            <a:endParaRPr lang="en-US" sz="620" dirty="0"/>
          </a:p>
        </p:txBody>
      </p:sp>
      <p:sp>
        <p:nvSpPr>
          <p:cNvPr id="151" name="Shape 149"/>
          <p:cNvSpPr/>
          <p:nvPr/>
        </p:nvSpPr>
        <p:spPr>
          <a:xfrm>
            <a:off x="5507390" y="4282318"/>
            <a:ext cx="184942" cy="1194938"/>
          </a:xfrm>
          <a:prstGeom prst="rect">
            <a:avLst/>
          </a:prstGeom>
          <a:solidFill>
            <a:srgbClr val="1C5765"/>
          </a:solidFill>
          <a:ln/>
        </p:spPr>
      </p:sp>
      <p:sp>
        <p:nvSpPr>
          <p:cNvPr id="152" name="Text 150"/>
          <p:cNvSpPr txBox="1"/>
          <p:nvPr/>
        </p:nvSpPr>
        <p:spPr>
          <a:xfrm>
            <a:off x="5461670" y="412687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432</a:t>
            </a:r>
            <a:endParaRPr lang="en-US" sz="620" dirty="0"/>
          </a:p>
        </p:txBody>
      </p:sp>
      <p:sp>
        <p:nvSpPr>
          <p:cNvPr id="153" name="Text 151"/>
          <p:cNvSpPr txBox="1"/>
          <p:nvPr/>
        </p:nvSpPr>
        <p:spPr>
          <a:xfrm>
            <a:off x="5234524"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10-04</a:t>
            </a:r>
            <a:endParaRPr lang="en-US" sz="650" dirty="0"/>
          </a:p>
        </p:txBody>
      </p:sp>
      <p:sp>
        <p:nvSpPr>
          <p:cNvPr id="154" name="Shape 152"/>
          <p:cNvSpPr/>
          <p:nvPr/>
        </p:nvSpPr>
        <p:spPr>
          <a:xfrm>
            <a:off x="5804171" y="5092774"/>
            <a:ext cx="184942" cy="384482"/>
          </a:xfrm>
          <a:prstGeom prst="rect">
            <a:avLst/>
          </a:prstGeom>
          <a:solidFill>
            <a:srgbClr val="3D8F5F"/>
          </a:solidFill>
          <a:ln/>
        </p:spPr>
      </p:sp>
      <p:sp>
        <p:nvSpPr>
          <p:cNvPr id="155" name="Text 153"/>
          <p:cNvSpPr txBox="1"/>
          <p:nvPr/>
        </p:nvSpPr>
        <p:spPr>
          <a:xfrm>
            <a:off x="5804171" y="522100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139</a:t>
            </a:r>
            <a:endParaRPr lang="en-US" sz="600" dirty="0"/>
          </a:p>
        </p:txBody>
      </p:sp>
      <p:sp>
        <p:nvSpPr>
          <p:cNvPr id="156" name="Shape 154"/>
          <p:cNvSpPr/>
          <p:nvPr/>
        </p:nvSpPr>
        <p:spPr>
          <a:xfrm>
            <a:off x="5804171" y="4409557"/>
            <a:ext cx="184942" cy="683217"/>
          </a:xfrm>
          <a:prstGeom prst="rect">
            <a:avLst/>
          </a:prstGeom>
          <a:solidFill>
            <a:srgbClr val="6FAEBB"/>
          </a:solidFill>
          <a:ln/>
        </p:spPr>
      </p:sp>
      <p:sp>
        <p:nvSpPr>
          <p:cNvPr id="157" name="Text 155"/>
          <p:cNvSpPr txBox="1"/>
          <p:nvPr/>
        </p:nvSpPr>
        <p:spPr>
          <a:xfrm>
            <a:off x="5804171" y="468715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247</a:t>
            </a:r>
            <a:endParaRPr lang="en-US" sz="600" dirty="0"/>
          </a:p>
        </p:txBody>
      </p:sp>
      <p:sp>
        <p:nvSpPr>
          <p:cNvPr id="158" name="Shape 156"/>
          <p:cNvSpPr/>
          <p:nvPr/>
        </p:nvSpPr>
        <p:spPr>
          <a:xfrm>
            <a:off x="5804171" y="3701445"/>
            <a:ext cx="184942" cy="708111"/>
          </a:xfrm>
          <a:prstGeom prst="rect">
            <a:avLst/>
          </a:prstGeom>
          <a:solidFill>
            <a:srgbClr val="C88A2E"/>
          </a:solidFill>
          <a:ln/>
        </p:spPr>
      </p:sp>
      <p:sp>
        <p:nvSpPr>
          <p:cNvPr id="159" name="Text 157"/>
          <p:cNvSpPr txBox="1"/>
          <p:nvPr/>
        </p:nvSpPr>
        <p:spPr>
          <a:xfrm>
            <a:off x="5804171" y="399149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256</a:t>
            </a:r>
            <a:endParaRPr lang="en-US" sz="600" dirty="0"/>
          </a:p>
        </p:txBody>
      </p:sp>
      <p:sp>
        <p:nvSpPr>
          <p:cNvPr id="160" name="Shape 158"/>
          <p:cNvSpPr/>
          <p:nvPr/>
        </p:nvSpPr>
        <p:spPr>
          <a:xfrm>
            <a:off x="5804171" y="3659955"/>
            <a:ext cx="184942" cy="41491"/>
          </a:xfrm>
          <a:prstGeom prst="rect">
            <a:avLst/>
          </a:prstGeom>
          <a:solidFill>
            <a:srgbClr val="7A3B21"/>
          </a:solidFill>
          <a:ln/>
        </p:spPr>
      </p:sp>
      <p:sp>
        <p:nvSpPr>
          <p:cNvPr id="161" name="Text 159"/>
          <p:cNvSpPr txBox="1"/>
          <p:nvPr/>
        </p:nvSpPr>
        <p:spPr>
          <a:xfrm>
            <a:off x="5758451" y="3504507"/>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657</a:t>
            </a:r>
            <a:endParaRPr lang="en-US" sz="620" dirty="0"/>
          </a:p>
        </p:txBody>
      </p:sp>
      <p:sp>
        <p:nvSpPr>
          <p:cNvPr id="162" name="Shape 160"/>
          <p:cNvSpPr/>
          <p:nvPr/>
        </p:nvSpPr>
        <p:spPr>
          <a:xfrm>
            <a:off x="6021116" y="4285084"/>
            <a:ext cx="184942" cy="1192172"/>
          </a:xfrm>
          <a:prstGeom prst="rect">
            <a:avLst/>
          </a:prstGeom>
          <a:solidFill>
            <a:srgbClr val="1C5765"/>
          </a:solidFill>
          <a:ln/>
        </p:spPr>
      </p:sp>
      <p:sp>
        <p:nvSpPr>
          <p:cNvPr id="163" name="Text 161"/>
          <p:cNvSpPr txBox="1"/>
          <p:nvPr/>
        </p:nvSpPr>
        <p:spPr>
          <a:xfrm>
            <a:off x="5975396" y="4129636"/>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431</a:t>
            </a:r>
            <a:endParaRPr lang="en-US" sz="620" dirty="0"/>
          </a:p>
        </p:txBody>
      </p:sp>
      <p:sp>
        <p:nvSpPr>
          <p:cNvPr id="164" name="Text 162"/>
          <p:cNvSpPr txBox="1"/>
          <p:nvPr/>
        </p:nvSpPr>
        <p:spPr>
          <a:xfrm>
            <a:off x="574825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10-11</a:t>
            </a:r>
            <a:endParaRPr lang="en-US" sz="650" dirty="0"/>
          </a:p>
        </p:txBody>
      </p:sp>
      <p:sp>
        <p:nvSpPr>
          <p:cNvPr id="165" name="Shape 163"/>
          <p:cNvSpPr/>
          <p:nvPr/>
        </p:nvSpPr>
        <p:spPr>
          <a:xfrm>
            <a:off x="6317897" y="5020856"/>
            <a:ext cx="184942" cy="456400"/>
          </a:xfrm>
          <a:prstGeom prst="rect">
            <a:avLst/>
          </a:prstGeom>
          <a:solidFill>
            <a:srgbClr val="3D8F5F"/>
          </a:solidFill>
          <a:ln/>
        </p:spPr>
      </p:sp>
      <p:sp>
        <p:nvSpPr>
          <p:cNvPr id="166" name="Text 164"/>
          <p:cNvSpPr txBox="1"/>
          <p:nvPr/>
        </p:nvSpPr>
        <p:spPr>
          <a:xfrm>
            <a:off x="6317897" y="518504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165</a:t>
            </a:r>
            <a:endParaRPr lang="en-US" sz="600" dirty="0"/>
          </a:p>
        </p:txBody>
      </p:sp>
      <p:sp>
        <p:nvSpPr>
          <p:cNvPr id="167" name="Shape 165"/>
          <p:cNvSpPr/>
          <p:nvPr/>
        </p:nvSpPr>
        <p:spPr>
          <a:xfrm>
            <a:off x="6317897" y="4617011"/>
            <a:ext cx="184942" cy="403845"/>
          </a:xfrm>
          <a:prstGeom prst="rect">
            <a:avLst/>
          </a:prstGeom>
          <a:solidFill>
            <a:srgbClr val="6FAEBB"/>
          </a:solidFill>
          <a:ln/>
        </p:spPr>
      </p:sp>
      <p:sp>
        <p:nvSpPr>
          <p:cNvPr id="168" name="Text 166"/>
          <p:cNvSpPr txBox="1"/>
          <p:nvPr/>
        </p:nvSpPr>
        <p:spPr>
          <a:xfrm>
            <a:off x="6317897" y="475492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146</a:t>
            </a:r>
            <a:endParaRPr lang="en-US" sz="600" dirty="0"/>
          </a:p>
        </p:txBody>
      </p:sp>
      <p:sp>
        <p:nvSpPr>
          <p:cNvPr id="169" name="Shape 167"/>
          <p:cNvSpPr/>
          <p:nvPr/>
        </p:nvSpPr>
        <p:spPr>
          <a:xfrm>
            <a:off x="6317897" y="3878473"/>
            <a:ext cx="184942" cy="738538"/>
          </a:xfrm>
          <a:prstGeom prst="rect">
            <a:avLst/>
          </a:prstGeom>
          <a:solidFill>
            <a:srgbClr val="C88A2E"/>
          </a:solidFill>
          <a:ln/>
        </p:spPr>
      </p:sp>
      <p:sp>
        <p:nvSpPr>
          <p:cNvPr id="170" name="Text 168"/>
          <p:cNvSpPr txBox="1"/>
          <p:nvPr/>
        </p:nvSpPr>
        <p:spPr>
          <a:xfrm>
            <a:off x="6317897" y="418373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267</a:t>
            </a:r>
            <a:endParaRPr lang="en-US" sz="600" dirty="0"/>
          </a:p>
        </p:txBody>
      </p:sp>
      <p:sp>
        <p:nvSpPr>
          <p:cNvPr id="171" name="Shape 169"/>
          <p:cNvSpPr/>
          <p:nvPr/>
        </p:nvSpPr>
        <p:spPr>
          <a:xfrm>
            <a:off x="6317897" y="3850813"/>
            <a:ext cx="184942" cy="27661"/>
          </a:xfrm>
          <a:prstGeom prst="rect">
            <a:avLst/>
          </a:prstGeom>
          <a:solidFill>
            <a:srgbClr val="7A3B21"/>
          </a:solidFill>
          <a:ln/>
        </p:spPr>
      </p:sp>
      <p:sp>
        <p:nvSpPr>
          <p:cNvPr id="172" name="Text 170"/>
          <p:cNvSpPr txBox="1"/>
          <p:nvPr/>
        </p:nvSpPr>
        <p:spPr>
          <a:xfrm>
            <a:off x="6272177" y="3695365"/>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588</a:t>
            </a:r>
            <a:endParaRPr lang="en-US" sz="620" dirty="0"/>
          </a:p>
        </p:txBody>
      </p:sp>
      <p:sp>
        <p:nvSpPr>
          <p:cNvPr id="173" name="Shape 171"/>
          <p:cNvSpPr/>
          <p:nvPr/>
        </p:nvSpPr>
        <p:spPr>
          <a:xfrm>
            <a:off x="6534843" y="3787193"/>
            <a:ext cx="184942" cy="1690063"/>
          </a:xfrm>
          <a:prstGeom prst="rect">
            <a:avLst/>
          </a:prstGeom>
          <a:solidFill>
            <a:srgbClr val="1C5765"/>
          </a:solidFill>
          <a:ln/>
        </p:spPr>
      </p:sp>
      <p:sp>
        <p:nvSpPr>
          <p:cNvPr id="174" name="Text 172"/>
          <p:cNvSpPr txBox="1"/>
          <p:nvPr/>
        </p:nvSpPr>
        <p:spPr>
          <a:xfrm>
            <a:off x="6489123" y="3631745"/>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611</a:t>
            </a:r>
            <a:endParaRPr lang="en-US" sz="620" dirty="0"/>
          </a:p>
        </p:txBody>
      </p:sp>
      <p:sp>
        <p:nvSpPr>
          <p:cNvPr id="175" name="Text 173"/>
          <p:cNvSpPr txBox="1"/>
          <p:nvPr/>
        </p:nvSpPr>
        <p:spPr>
          <a:xfrm>
            <a:off x="6261977"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10-18</a:t>
            </a:r>
            <a:endParaRPr lang="en-US" sz="650" dirty="0"/>
          </a:p>
        </p:txBody>
      </p:sp>
      <p:sp>
        <p:nvSpPr>
          <p:cNvPr id="176" name="Shape 174"/>
          <p:cNvSpPr/>
          <p:nvPr/>
        </p:nvSpPr>
        <p:spPr>
          <a:xfrm>
            <a:off x="923544" y="5477256"/>
            <a:ext cx="5852160" cy="10973"/>
          </a:xfrm>
          <a:prstGeom prst="rect">
            <a:avLst/>
          </a:prstGeom>
          <a:solidFill>
            <a:srgbClr val="12293A"/>
          </a:solidFill>
          <a:ln/>
        </p:spPr>
      </p:sp>
      <p:sp>
        <p:nvSpPr>
          <p:cNvPr id="177" name="Shape 175"/>
          <p:cNvSpPr/>
          <p:nvPr/>
        </p:nvSpPr>
        <p:spPr>
          <a:xfrm>
            <a:off x="3610134" y="3209544"/>
            <a:ext cx="20117" cy="2267712"/>
          </a:xfrm>
          <a:prstGeom prst="rect">
            <a:avLst/>
          </a:prstGeom>
          <a:solidFill>
            <a:srgbClr val="B4552D"/>
          </a:solidFill>
          <a:ln/>
        </p:spPr>
      </p:sp>
      <p:sp>
        <p:nvSpPr>
          <p:cNvPr id="178" name="Shape 176"/>
          <p:cNvSpPr/>
          <p:nvPr/>
        </p:nvSpPr>
        <p:spPr>
          <a:xfrm>
            <a:off x="3152934" y="3017520"/>
            <a:ext cx="960120" cy="201168"/>
          </a:xfrm>
          <a:prstGeom prst="roundRect">
            <a:avLst>
              <a:gd name="adj" fmla="val 50000"/>
            </a:avLst>
          </a:prstGeom>
          <a:solidFill>
            <a:srgbClr val="B4552D"/>
          </a:solidFill>
          <a:ln/>
        </p:spPr>
      </p:sp>
      <p:sp>
        <p:nvSpPr>
          <p:cNvPr id="179" name="Text 177"/>
          <p:cNvSpPr txBox="1"/>
          <p:nvPr/>
        </p:nvSpPr>
        <p:spPr>
          <a:xfrm>
            <a:off x="3152934" y="3017520"/>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180" name="Text 178"/>
          <p:cNvSpPr txBox="1"/>
          <p:nvPr/>
        </p:nvSpPr>
        <p:spPr>
          <a:xfrm>
            <a:off x="978408" y="5687568"/>
            <a:ext cx="2568633"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181" name="Text 179"/>
          <p:cNvSpPr txBox="1"/>
          <p:nvPr/>
        </p:nvSpPr>
        <p:spPr>
          <a:xfrm>
            <a:off x="3693345" y="5687568"/>
            <a:ext cx="3082359"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182" name="Text 180"/>
          <p:cNvSpPr txBox="1"/>
          <p:nvPr/>
        </p:nvSpPr>
        <p:spPr>
          <a:xfrm>
            <a:off x="612648" y="5888736"/>
            <a:ext cx="6181344" cy="38404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Weeks to 30 Aug are the frozen Creatio series (extracts ended 4 Sep); 13 Sep onward read live from HubSpot. Closed bars are tickets resolved in the week ending that date — the 7 Sep migration week is omitted because its 1,249 closes are cleanup, not throughput.</a:t>
            </a:r>
            <a:endParaRPr lang="en-US" sz="620" dirty="0"/>
          </a:p>
        </p:txBody>
      </p:sp>
      <p:sp>
        <p:nvSpPr>
          <p:cNvPr id="183" name="Shape 181"/>
          <p:cNvSpPr/>
          <p:nvPr/>
        </p:nvSpPr>
        <p:spPr>
          <a:xfrm>
            <a:off x="7178040" y="2395728"/>
            <a:ext cx="4599432" cy="2788920"/>
          </a:xfrm>
          <a:prstGeom prst="roundRect">
            <a:avLst>
              <a:gd name="adj" fmla="val 2295"/>
            </a:avLst>
          </a:prstGeom>
          <a:solidFill>
            <a:srgbClr val="FFFFFF"/>
          </a:solidFill>
          <a:ln/>
          <a:effectLst>
            <a:outerShdw sx="100000" sy="100000" kx="0" ky="0" algn="bl" rotWithShape="0" blurRad="76200" dist="25400" dir="5400000">
              <a:srgbClr val="9AAAB5">
                <a:alpha val="35000"/>
              </a:srgbClr>
            </a:outerShdw>
          </a:effectLst>
        </p:spPr>
      </p:sp>
      <p:sp>
        <p:nvSpPr>
          <p:cNvPr id="184" name="Text 182"/>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85" name="Text 183"/>
          <p:cNvSpPr txBox="1"/>
          <p:nvPr/>
        </p:nvSpPr>
        <p:spPr>
          <a:xfrm>
            <a:off x="7379208" y="2816352"/>
            <a:ext cx="4187952" cy="224028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Second straight fall, and this time throughput did it.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564 in against 611 resolved, so open went 657 → 588. Last week the backlog only fell because inflow was quiet; this week the closed bar cleared the stack outright.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8–30 band emptied — but a third of it aged rather than closed.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8–30 days went 247 → 146 while 31–90 went 256 → 267. 277 cases are now past 30 days against 271 a week ago, and the median open ticket is 27 days old.</a:t>
            </a:r>
            <a:endParaRPr lang="en-US" sz="900" dirty="0"/>
          </a:p>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90+ tail is the clean win.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10 against 15 last week and 73 at the start of August. Oldest work is genuinely being cleared.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186" name="Shape 184"/>
          <p:cNvSpPr/>
          <p:nvPr/>
        </p:nvSpPr>
        <p:spPr>
          <a:xfrm>
            <a:off x="7178040" y="5303520"/>
            <a:ext cx="4599432" cy="1005840"/>
          </a:xfrm>
          <a:prstGeom prst="roundRect">
            <a:avLst>
              <a:gd name="adj" fmla="val 6364"/>
            </a:avLst>
          </a:prstGeom>
          <a:solidFill>
            <a:srgbClr val="FFFFFF"/>
          </a:solidFill>
          <a:ln/>
          <a:effectLst>
            <a:outerShdw sx="100000" sy="100000" kx="0" ky="0" algn="bl" rotWithShape="0" blurRad="76200" dist="25400" dir="5400000">
              <a:srgbClr val="9AAAB5">
                <a:alpha val="35000"/>
              </a:srgbClr>
            </a:outerShdw>
          </a:effectLst>
        </p:spPr>
      </p:sp>
      <p:sp>
        <p:nvSpPr>
          <p:cNvPr id="187" name="Text 185"/>
          <p:cNvSpPr txBox="1"/>
          <p:nvPr/>
        </p:nvSpPr>
        <p:spPr>
          <a:xfrm>
            <a:off x="7379208" y="5394960"/>
            <a:ext cx="4197096" cy="201168"/>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WHERE THE 588 OPEN SIT   </a:t>
            </a:r>
            <a:pPr indent="0" marL="0">
              <a:buNone/>
            </a:pPr>
            <a:r>
              <a:rPr lang="en-US" sz="630" dirty="0">
                <a:solidFill>
                  <a:srgbClr val="8FA1AC"/>
                </a:solidFill>
                <a:latin typeface="Poppins" pitchFamily="34" charset="0"/>
                <a:ea typeface="Poppins" pitchFamily="34" charset="-122"/>
                <a:cs typeface="Poppins" pitchFamily="34" charset="-120"/>
              </a:rPr>
              <a:t>the two pending states are counted in</a:t>
            </a:r>
            <a:endParaRPr lang="en-US" sz="950" dirty="0"/>
          </a:p>
        </p:txBody>
      </p:sp>
      <p:sp>
        <p:nvSpPr>
          <p:cNvPr id="188" name="Shape 186"/>
          <p:cNvSpPr/>
          <p:nvPr/>
        </p:nvSpPr>
        <p:spPr>
          <a:xfrm>
            <a:off x="7379208" y="5632704"/>
            <a:ext cx="1001268" cy="420624"/>
          </a:xfrm>
          <a:prstGeom prst="rect">
            <a:avLst/>
          </a:prstGeom>
          <a:solidFill>
            <a:srgbClr val="F2F6F8"/>
          </a:solidFill>
          <a:ln/>
        </p:spPr>
      </p:sp>
      <p:sp>
        <p:nvSpPr>
          <p:cNvPr id="189" name="Text 187"/>
          <p:cNvSpPr txBox="1"/>
          <p:nvPr/>
        </p:nvSpPr>
        <p:spPr>
          <a:xfrm>
            <a:off x="7470648"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443</a:t>
            </a:r>
            <a:endParaRPr lang="en-US" sz="1400" dirty="0"/>
          </a:p>
        </p:txBody>
      </p:sp>
      <p:sp>
        <p:nvSpPr>
          <p:cNvPr id="190" name="Text 188"/>
          <p:cNvSpPr txBox="1"/>
          <p:nvPr/>
        </p:nvSpPr>
        <p:spPr>
          <a:xfrm>
            <a:off x="7406640"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NEW</a:t>
            </a:r>
            <a:endParaRPr lang="en-US" sz="620" dirty="0"/>
          </a:p>
        </p:txBody>
      </p:sp>
      <p:sp>
        <p:nvSpPr>
          <p:cNvPr id="191" name="Shape 189"/>
          <p:cNvSpPr/>
          <p:nvPr/>
        </p:nvSpPr>
        <p:spPr>
          <a:xfrm>
            <a:off x="8444484" y="5632704"/>
            <a:ext cx="1001268" cy="420624"/>
          </a:xfrm>
          <a:prstGeom prst="rect">
            <a:avLst/>
          </a:prstGeom>
          <a:solidFill>
            <a:srgbClr val="F2F6F8"/>
          </a:solidFill>
          <a:ln/>
        </p:spPr>
      </p:sp>
      <p:sp>
        <p:nvSpPr>
          <p:cNvPr id="192" name="Text 190"/>
          <p:cNvSpPr txBox="1"/>
          <p:nvPr/>
        </p:nvSpPr>
        <p:spPr>
          <a:xfrm>
            <a:off x="8535924"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87</a:t>
            </a:r>
            <a:endParaRPr lang="en-US" sz="1400" dirty="0"/>
          </a:p>
        </p:txBody>
      </p:sp>
      <p:sp>
        <p:nvSpPr>
          <p:cNvPr id="193" name="Text 191"/>
          <p:cNvSpPr txBox="1"/>
          <p:nvPr/>
        </p:nvSpPr>
        <p:spPr>
          <a:xfrm>
            <a:off x="8471916"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IN PROGRESS</a:t>
            </a:r>
            <a:endParaRPr lang="en-US" sz="620" dirty="0"/>
          </a:p>
        </p:txBody>
      </p:sp>
      <p:sp>
        <p:nvSpPr>
          <p:cNvPr id="194" name="Shape 192"/>
          <p:cNvSpPr/>
          <p:nvPr/>
        </p:nvSpPr>
        <p:spPr>
          <a:xfrm>
            <a:off x="9509760" y="5632704"/>
            <a:ext cx="1001268" cy="420624"/>
          </a:xfrm>
          <a:prstGeom prst="rect">
            <a:avLst/>
          </a:prstGeom>
          <a:solidFill>
            <a:srgbClr val="F7EEDF"/>
          </a:solidFill>
          <a:ln/>
        </p:spPr>
      </p:sp>
      <p:sp>
        <p:nvSpPr>
          <p:cNvPr id="195" name="Shape 193"/>
          <p:cNvSpPr/>
          <p:nvPr/>
        </p:nvSpPr>
        <p:spPr>
          <a:xfrm>
            <a:off x="9509760" y="5632704"/>
            <a:ext cx="32004" cy="420624"/>
          </a:xfrm>
          <a:prstGeom prst="rect">
            <a:avLst/>
          </a:prstGeom>
          <a:solidFill>
            <a:srgbClr val="C88A2E"/>
          </a:solidFill>
          <a:ln/>
        </p:spPr>
      </p:sp>
      <p:sp>
        <p:nvSpPr>
          <p:cNvPr id="196" name="Text 194"/>
          <p:cNvSpPr txBox="1"/>
          <p:nvPr/>
        </p:nvSpPr>
        <p:spPr>
          <a:xfrm>
            <a:off x="9601200"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29</a:t>
            </a:r>
            <a:endParaRPr lang="en-US" sz="1400" dirty="0"/>
          </a:p>
        </p:txBody>
      </p:sp>
      <p:sp>
        <p:nvSpPr>
          <p:cNvPr id="197" name="Text 195"/>
          <p:cNvSpPr txBox="1"/>
          <p:nvPr/>
        </p:nvSpPr>
        <p:spPr>
          <a:xfrm>
            <a:off x="9537192"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INTERNAL</a:t>
            </a:r>
            <a:endParaRPr lang="en-US" sz="540" dirty="0"/>
          </a:p>
        </p:txBody>
      </p:sp>
      <p:sp>
        <p:nvSpPr>
          <p:cNvPr id="198" name="Shape 196"/>
          <p:cNvSpPr/>
          <p:nvPr/>
        </p:nvSpPr>
        <p:spPr>
          <a:xfrm>
            <a:off x="10575036" y="5632704"/>
            <a:ext cx="1001268" cy="420624"/>
          </a:xfrm>
          <a:prstGeom prst="rect">
            <a:avLst/>
          </a:prstGeom>
          <a:solidFill>
            <a:srgbClr val="F7EEDF"/>
          </a:solidFill>
          <a:ln/>
        </p:spPr>
      </p:sp>
      <p:sp>
        <p:nvSpPr>
          <p:cNvPr id="199" name="Shape 197"/>
          <p:cNvSpPr/>
          <p:nvPr/>
        </p:nvSpPr>
        <p:spPr>
          <a:xfrm>
            <a:off x="10575036" y="5632704"/>
            <a:ext cx="32004" cy="420624"/>
          </a:xfrm>
          <a:prstGeom prst="rect">
            <a:avLst/>
          </a:prstGeom>
          <a:solidFill>
            <a:srgbClr val="C88A2E"/>
          </a:solidFill>
          <a:ln/>
        </p:spPr>
      </p:sp>
      <p:sp>
        <p:nvSpPr>
          <p:cNvPr id="200" name="Text 198"/>
          <p:cNvSpPr txBox="1"/>
          <p:nvPr/>
        </p:nvSpPr>
        <p:spPr>
          <a:xfrm>
            <a:off x="10666476"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29</a:t>
            </a:r>
            <a:endParaRPr lang="en-US" sz="1400" dirty="0"/>
          </a:p>
        </p:txBody>
      </p:sp>
      <p:sp>
        <p:nvSpPr>
          <p:cNvPr id="201" name="Text 199"/>
          <p:cNvSpPr txBox="1"/>
          <p:nvPr/>
        </p:nvSpPr>
        <p:spPr>
          <a:xfrm>
            <a:off x="10602468"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EXTERNAL</a:t>
            </a:r>
            <a:endParaRPr lang="en-US" sz="540" dirty="0"/>
          </a:p>
        </p:txBody>
      </p:sp>
      <p:sp>
        <p:nvSpPr>
          <p:cNvPr id="202" name="Text 200"/>
          <p:cNvSpPr txBox="1"/>
          <p:nvPr/>
        </p:nvSpPr>
        <p:spPr>
          <a:xfrm>
            <a:off x="7379208" y="6099048"/>
            <a:ext cx="4197096" cy="274320"/>
          </a:xfrm>
          <a:prstGeom prst="rect">
            <a:avLst/>
          </a:prstGeom>
          <a:noFill/>
          <a:ln/>
        </p:spPr>
        <p:txBody>
          <a:bodyPr wrap="square" lIns="0" tIns="0" rIns="0" bIns="0" rtlCol="0" anchor="t"/>
          <a:lstStyle/>
          <a:p>
            <a:pPr indent="0" marL="0">
              <a:buNone/>
            </a:pPr>
            <a:r>
              <a:rPr lang="en-US" sz="640" dirty="0">
                <a:solidFill>
                  <a:srgbClr val="5E7280"/>
                </a:solidFill>
                <a:latin typeface="Poppins" pitchFamily="34" charset="0"/>
                <a:ea typeface="Poppins" pitchFamily="34" charset="-122"/>
                <a:cs typeface="Poppins" pitchFamily="34" charset="-120"/>
              </a:rPr>
              <a:t>Pending Internal and Pending External are inside the 588 — 58 tickets, 10% of it. New is down 529 → 443, the first fall, but still 75% of everything open.</a:t>
            </a:r>
            <a:endParaRPr lang="en-US" sz="640" dirty="0"/>
          </a:p>
        </p:txBody>
      </p:sp>
      <p:sp>
        <p:nvSpPr>
          <p:cNvPr id="203" name="Shape 201"/>
          <p:cNvSpPr/>
          <p:nvPr/>
        </p:nvSpPr>
        <p:spPr>
          <a:xfrm>
            <a:off x="8642909" y="6510528"/>
            <a:ext cx="3134563" cy="256032"/>
          </a:xfrm>
          <a:prstGeom prst="roundRect">
            <a:avLst>
              <a:gd name="adj" fmla="val 46429"/>
            </a:avLst>
          </a:prstGeom>
          <a:solidFill>
            <a:srgbClr val="12293A"/>
          </a:solidFill>
          <a:ln/>
        </p:spPr>
      </p:sp>
      <p:sp>
        <p:nvSpPr>
          <p:cNvPr id="204" name="Text 202"/>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6342278" y="6510528"/>
            <a:ext cx="5435194" cy="256032"/>
          </a:xfrm>
          <a:prstGeom prst="roundRect">
            <a:avLst>
              <a:gd name="adj" fmla="val 46429"/>
            </a:avLst>
          </a:prstGeom>
          <a:solidFill>
            <a:srgbClr val="12293A"/>
          </a:solidFill>
          <a:ln/>
        </p:spPr>
      </p:sp>
      <p:sp>
        <p:nvSpPr>
          <p:cNvPr id="286" name="Text 284"/>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fifth week</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6342278" y="6510528"/>
            <a:ext cx="5435194" cy="256032"/>
          </a:xfrm>
          <a:prstGeom prst="roundRect">
            <a:avLst>
              <a:gd name="adj" fmla="val 46429"/>
            </a:avLst>
          </a:prstGeom>
          <a:solidFill>
            <a:srgbClr val="12293A"/>
          </a:solidFill>
          <a:ln/>
        </p:spPr>
      </p:sp>
      <p:sp>
        <p:nvSpPr>
          <p:cNvPr id="91" name="Text 89"/>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fifth week</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40 of 51</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14 daily · 45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OCT MTD</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329,436</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1–18 Oct · October month-to-date at the 19 Oct capture, up from 111,689 a week ago; the admin capture gives month totals only, so there is no weekly split</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921715"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28%</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559613"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Oct</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36744"/>
          </a:xfrm>
          <a:prstGeom prst="rect">
            <a:avLst/>
          </a:prstGeom>
          <a:solidFill>
            <a:srgbClr val="D4E9ED"/>
          </a:solidFill>
          <a:ln/>
        </p:spPr>
      </p:sp>
      <p:sp>
        <p:nvSpPr>
          <p:cNvPr id="48" name="Text 46"/>
          <p:cNvSpPr txBox="1"/>
          <p:nvPr/>
        </p:nvSpPr>
        <p:spPr>
          <a:xfrm>
            <a:off x="2057400"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49" name="Shape 47"/>
          <p:cNvSpPr/>
          <p:nvPr/>
        </p:nvSpPr>
        <p:spPr>
          <a:xfrm>
            <a:off x="3163824" y="2823667"/>
            <a:ext cx="996696" cy="136744"/>
          </a:xfrm>
          <a:prstGeom prst="rect">
            <a:avLst/>
          </a:prstGeom>
          <a:solidFill>
            <a:srgbClr val="D4E9ED"/>
          </a:solidFill>
          <a:ln/>
        </p:spPr>
      </p:sp>
      <p:sp>
        <p:nvSpPr>
          <p:cNvPr id="50" name="Text 48"/>
          <p:cNvSpPr txBox="1"/>
          <p:nvPr/>
        </p:nvSpPr>
        <p:spPr>
          <a:xfrm>
            <a:off x="3136392"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1" name="Shape 49"/>
          <p:cNvSpPr/>
          <p:nvPr/>
        </p:nvSpPr>
        <p:spPr>
          <a:xfrm>
            <a:off x="4242816" y="2823667"/>
            <a:ext cx="996696" cy="136744"/>
          </a:xfrm>
          <a:prstGeom prst="rect">
            <a:avLst/>
          </a:prstGeom>
          <a:solidFill>
            <a:srgbClr val="EDF5F7"/>
          </a:solidFill>
          <a:ln/>
        </p:spPr>
      </p:sp>
      <p:sp>
        <p:nvSpPr>
          <p:cNvPr id="52" name="Text 50"/>
          <p:cNvSpPr txBox="1"/>
          <p:nvPr/>
        </p:nvSpPr>
        <p:spPr>
          <a:xfrm>
            <a:off x="4215384"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3" name="Text 51"/>
          <p:cNvSpPr txBox="1"/>
          <p:nvPr/>
        </p:nvSpPr>
        <p:spPr>
          <a:xfrm>
            <a:off x="5294376" y="2816352"/>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54" name="Text 52"/>
          <p:cNvSpPr txBox="1"/>
          <p:nvPr/>
        </p:nvSpPr>
        <p:spPr>
          <a:xfrm>
            <a:off x="6400800" y="2816352"/>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96,644</a:t>
            </a:r>
            <a:endParaRPr lang="en-US" sz="700" dirty="0"/>
          </a:p>
        </p:txBody>
      </p:sp>
      <p:sp>
        <p:nvSpPr>
          <p:cNvPr id="55" name="Text 53"/>
          <p:cNvSpPr txBox="1"/>
          <p:nvPr/>
        </p:nvSpPr>
        <p:spPr>
          <a:xfrm>
            <a:off x="594360" y="2975956"/>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6" name="Shape 54"/>
          <p:cNvSpPr/>
          <p:nvPr/>
        </p:nvSpPr>
        <p:spPr>
          <a:xfrm>
            <a:off x="2084832" y="2983272"/>
            <a:ext cx="996696" cy="136744"/>
          </a:xfrm>
          <a:prstGeom prst="rect">
            <a:avLst/>
          </a:prstGeom>
          <a:solidFill>
            <a:srgbClr val="EDF5F7"/>
          </a:solidFill>
          <a:ln/>
        </p:spPr>
      </p:sp>
      <p:sp>
        <p:nvSpPr>
          <p:cNvPr id="57" name="Text 55"/>
          <p:cNvSpPr txBox="1"/>
          <p:nvPr/>
        </p:nvSpPr>
        <p:spPr>
          <a:xfrm>
            <a:off x="2057400"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58" name="Shape 56"/>
          <p:cNvSpPr/>
          <p:nvPr/>
        </p:nvSpPr>
        <p:spPr>
          <a:xfrm>
            <a:off x="3163824" y="2983272"/>
            <a:ext cx="996696" cy="136744"/>
          </a:xfrm>
          <a:prstGeom prst="rect">
            <a:avLst/>
          </a:prstGeom>
          <a:solidFill>
            <a:srgbClr val="D4E9ED"/>
          </a:solidFill>
          <a:ln/>
        </p:spPr>
      </p:sp>
      <p:sp>
        <p:nvSpPr>
          <p:cNvPr id="59" name="Text 57"/>
          <p:cNvSpPr txBox="1"/>
          <p:nvPr/>
        </p:nvSpPr>
        <p:spPr>
          <a:xfrm>
            <a:off x="3136392"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0" name="Shape 58"/>
          <p:cNvSpPr/>
          <p:nvPr/>
        </p:nvSpPr>
        <p:spPr>
          <a:xfrm>
            <a:off x="4242816" y="2983272"/>
            <a:ext cx="996696" cy="136744"/>
          </a:xfrm>
          <a:prstGeom prst="rect">
            <a:avLst/>
          </a:prstGeom>
          <a:solidFill>
            <a:srgbClr val="B5D9E0"/>
          </a:solidFill>
          <a:ln/>
        </p:spPr>
      </p:sp>
      <p:sp>
        <p:nvSpPr>
          <p:cNvPr id="61" name="Text 59"/>
          <p:cNvSpPr txBox="1"/>
          <p:nvPr/>
        </p:nvSpPr>
        <p:spPr>
          <a:xfrm>
            <a:off x="4215384"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2" name="Shape 60"/>
          <p:cNvSpPr/>
          <p:nvPr/>
        </p:nvSpPr>
        <p:spPr>
          <a:xfrm>
            <a:off x="5321808" y="2983272"/>
            <a:ext cx="996696" cy="136744"/>
          </a:xfrm>
          <a:prstGeom prst="rect">
            <a:avLst/>
          </a:prstGeom>
          <a:solidFill>
            <a:srgbClr val="8FC3CC"/>
          </a:solidFill>
          <a:ln/>
        </p:spPr>
      </p:sp>
      <p:sp>
        <p:nvSpPr>
          <p:cNvPr id="63" name="Text 61"/>
          <p:cNvSpPr txBox="1"/>
          <p:nvPr/>
        </p:nvSpPr>
        <p:spPr>
          <a:xfrm>
            <a:off x="5294376"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170,962</a:t>
            </a:r>
            <a:endParaRPr lang="en-US" sz="680" dirty="0"/>
          </a:p>
        </p:txBody>
      </p:sp>
      <p:sp>
        <p:nvSpPr>
          <p:cNvPr id="64" name="Text 62"/>
          <p:cNvSpPr txBox="1"/>
          <p:nvPr/>
        </p:nvSpPr>
        <p:spPr>
          <a:xfrm>
            <a:off x="6400800" y="2975956"/>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324,631</a:t>
            </a:r>
            <a:endParaRPr lang="en-US" sz="700" dirty="0"/>
          </a:p>
        </p:txBody>
      </p:sp>
      <p:sp>
        <p:nvSpPr>
          <p:cNvPr id="65" name="Text 63"/>
          <p:cNvSpPr txBox="1"/>
          <p:nvPr/>
        </p:nvSpPr>
        <p:spPr>
          <a:xfrm>
            <a:off x="594360" y="3135561"/>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Daniel Maddern</a:t>
            </a:r>
            <a:endParaRPr lang="en-US" sz="720" dirty="0"/>
          </a:p>
        </p:txBody>
      </p:sp>
      <p:sp>
        <p:nvSpPr>
          <p:cNvPr id="66" name="Text 64"/>
          <p:cNvSpPr txBox="1"/>
          <p:nvPr/>
        </p:nvSpPr>
        <p:spPr>
          <a:xfrm>
            <a:off x="2057400"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7" name="Text 65"/>
          <p:cNvSpPr txBox="1"/>
          <p:nvPr/>
        </p:nvSpPr>
        <p:spPr>
          <a:xfrm>
            <a:off x="3136392"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8" name="Text 66"/>
          <p:cNvSpPr txBox="1"/>
          <p:nvPr/>
        </p:nvSpPr>
        <p:spPr>
          <a:xfrm>
            <a:off x="4215384"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9" name="Shape 67"/>
          <p:cNvSpPr/>
          <p:nvPr/>
        </p:nvSpPr>
        <p:spPr>
          <a:xfrm>
            <a:off x="5321808" y="3142876"/>
            <a:ext cx="996696" cy="136744"/>
          </a:xfrm>
          <a:prstGeom prst="rect">
            <a:avLst/>
          </a:prstGeom>
          <a:solidFill>
            <a:srgbClr val="D4E9ED"/>
          </a:solidFill>
          <a:ln/>
        </p:spPr>
      </p:sp>
      <p:sp>
        <p:nvSpPr>
          <p:cNvPr id="70" name="Text 68"/>
          <p:cNvSpPr txBox="1"/>
          <p:nvPr/>
        </p:nvSpPr>
        <p:spPr>
          <a:xfrm>
            <a:off x="5294376" y="313556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43,288</a:t>
            </a:r>
            <a:endParaRPr lang="en-US" sz="680" dirty="0"/>
          </a:p>
        </p:txBody>
      </p:sp>
      <p:sp>
        <p:nvSpPr>
          <p:cNvPr id="71" name="Text 69"/>
          <p:cNvSpPr txBox="1"/>
          <p:nvPr/>
        </p:nvSpPr>
        <p:spPr>
          <a:xfrm>
            <a:off x="6400800" y="3135561"/>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43,288</a:t>
            </a:r>
            <a:endParaRPr lang="en-US" sz="700" dirty="0"/>
          </a:p>
        </p:txBody>
      </p:sp>
      <p:sp>
        <p:nvSpPr>
          <p:cNvPr id="72" name="Text 70"/>
          <p:cNvSpPr txBox="1"/>
          <p:nvPr/>
        </p:nvSpPr>
        <p:spPr>
          <a:xfrm>
            <a:off x="594360" y="3295165"/>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73" name="Shape 71"/>
          <p:cNvSpPr/>
          <p:nvPr/>
        </p:nvSpPr>
        <p:spPr>
          <a:xfrm>
            <a:off x="2084832" y="3302480"/>
            <a:ext cx="996696" cy="136744"/>
          </a:xfrm>
          <a:prstGeom prst="rect">
            <a:avLst/>
          </a:prstGeom>
          <a:solidFill>
            <a:srgbClr val="EDF5F7"/>
          </a:solidFill>
          <a:ln/>
        </p:spPr>
      </p:sp>
      <p:sp>
        <p:nvSpPr>
          <p:cNvPr id="74" name="Text 72"/>
          <p:cNvSpPr txBox="1"/>
          <p:nvPr/>
        </p:nvSpPr>
        <p:spPr>
          <a:xfrm>
            <a:off x="2057400"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5" name="Shape 73"/>
          <p:cNvSpPr/>
          <p:nvPr/>
        </p:nvSpPr>
        <p:spPr>
          <a:xfrm>
            <a:off x="3163824" y="3302480"/>
            <a:ext cx="996696" cy="136744"/>
          </a:xfrm>
          <a:prstGeom prst="rect">
            <a:avLst/>
          </a:prstGeom>
          <a:solidFill>
            <a:srgbClr val="EDF5F7"/>
          </a:solidFill>
          <a:ln/>
        </p:spPr>
      </p:sp>
      <p:sp>
        <p:nvSpPr>
          <p:cNvPr id="76" name="Text 74"/>
          <p:cNvSpPr txBox="1"/>
          <p:nvPr/>
        </p:nvSpPr>
        <p:spPr>
          <a:xfrm>
            <a:off x="3136392"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7" name="Shape 75"/>
          <p:cNvSpPr/>
          <p:nvPr/>
        </p:nvSpPr>
        <p:spPr>
          <a:xfrm>
            <a:off x="4242816" y="3302480"/>
            <a:ext cx="996696" cy="136744"/>
          </a:xfrm>
          <a:prstGeom prst="rect">
            <a:avLst/>
          </a:prstGeom>
          <a:solidFill>
            <a:srgbClr val="EDF5F7"/>
          </a:solidFill>
          <a:ln/>
        </p:spPr>
      </p:sp>
      <p:sp>
        <p:nvSpPr>
          <p:cNvPr id="78" name="Text 76"/>
          <p:cNvSpPr txBox="1"/>
          <p:nvPr/>
        </p:nvSpPr>
        <p:spPr>
          <a:xfrm>
            <a:off x="4215384"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9" name="Text 77"/>
          <p:cNvSpPr txBox="1"/>
          <p:nvPr/>
        </p:nvSpPr>
        <p:spPr>
          <a:xfrm>
            <a:off x="5294376" y="3295165"/>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80" name="Text 78"/>
          <p:cNvSpPr txBox="1"/>
          <p:nvPr/>
        </p:nvSpPr>
        <p:spPr>
          <a:xfrm>
            <a:off x="6400800" y="3295165"/>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70,868</a:t>
            </a:r>
            <a:endParaRPr lang="en-US" sz="700" dirty="0"/>
          </a:p>
        </p:txBody>
      </p:sp>
      <p:sp>
        <p:nvSpPr>
          <p:cNvPr id="81" name="Text 79"/>
          <p:cNvSpPr txBox="1"/>
          <p:nvPr/>
        </p:nvSpPr>
        <p:spPr>
          <a:xfrm>
            <a:off x="594360" y="3454769"/>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82" name="Shape 80"/>
          <p:cNvSpPr/>
          <p:nvPr/>
        </p:nvSpPr>
        <p:spPr>
          <a:xfrm>
            <a:off x="2084832" y="3462085"/>
            <a:ext cx="996696" cy="136744"/>
          </a:xfrm>
          <a:prstGeom prst="rect">
            <a:avLst/>
          </a:prstGeom>
          <a:solidFill>
            <a:srgbClr val="EDF5F7"/>
          </a:solidFill>
          <a:ln/>
        </p:spPr>
      </p:sp>
      <p:sp>
        <p:nvSpPr>
          <p:cNvPr id="83" name="Text 81"/>
          <p:cNvSpPr txBox="1"/>
          <p:nvPr/>
        </p:nvSpPr>
        <p:spPr>
          <a:xfrm>
            <a:off x="2057400"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4" name="Shape 82"/>
          <p:cNvSpPr/>
          <p:nvPr/>
        </p:nvSpPr>
        <p:spPr>
          <a:xfrm>
            <a:off x="3163824" y="3462085"/>
            <a:ext cx="996696" cy="136744"/>
          </a:xfrm>
          <a:prstGeom prst="rect">
            <a:avLst/>
          </a:prstGeom>
          <a:solidFill>
            <a:srgbClr val="EDF5F7"/>
          </a:solidFill>
          <a:ln/>
        </p:spPr>
      </p:sp>
      <p:sp>
        <p:nvSpPr>
          <p:cNvPr id="85" name="Text 83"/>
          <p:cNvSpPr txBox="1"/>
          <p:nvPr/>
        </p:nvSpPr>
        <p:spPr>
          <a:xfrm>
            <a:off x="3136392"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6" name="Shape 84"/>
          <p:cNvSpPr/>
          <p:nvPr/>
        </p:nvSpPr>
        <p:spPr>
          <a:xfrm>
            <a:off x="4242816" y="3462085"/>
            <a:ext cx="996696" cy="136744"/>
          </a:xfrm>
          <a:prstGeom prst="rect">
            <a:avLst/>
          </a:prstGeom>
          <a:solidFill>
            <a:srgbClr val="EDF5F7"/>
          </a:solidFill>
          <a:ln/>
        </p:spPr>
      </p:sp>
      <p:sp>
        <p:nvSpPr>
          <p:cNvPr id="87" name="Text 85"/>
          <p:cNvSpPr txBox="1"/>
          <p:nvPr/>
        </p:nvSpPr>
        <p:spPr>
          <a:xfrm>
            <a:off x="4215384"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8" name="Shape 86"/>
          <p:cNvSpPr/>
          <p:nvPr/>
        </p:nvSpPr>
        <p:spPr>
          <a:xfrm>
            <a:off x="5321808" y="3462085"/>
            <a:ext cx="996696" cy="136744"/>
          </a:xfrm>
          <a:prstGeom prst="rect">
            <a:avLst/>
          </a:prstGeom>
          <a:solidFill>
            <a:srgbClr val="EDF5F7"/>
          </a:solidFill>
          <a:ln/>
        </p:spPr>
      </p:sp>
      <p:sp>
        <p:nvSpPr>
          <p:cNvPr id="89" name="Text 87"/>
          <p:cNvSpPr txBox="1"/>
          <p:nvPr/>
        </p:nvSpPr>
        <p:spPr>
          <a:xfrm>
            <a:off x="5294376"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2,971</a:t>
            </a:r>
            <a:endParaRPr lang="en-US" sz="680" dirty="0"/>
          </a:p>
        </p:txBody>
      </p:sp>
      <p:sp>
        <p:nvSpPr>
          <p:cNvPr id="90" name="Text 88"/>
          <p:cNvSpPr txBox="1"/>
          <p:nvPr/>
        </p:nvSpPr>
        <p:spPr>
          <a:xfrm>
            <a:off x="6400800" y="3454769"/>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69,982</a:t>
            </a:r>
            <a:endParaRPr lang="en-US" sz="700" dirty="0"/>
          </a:p>
        </p:txBody>
      </p:sp>
      <p:sp>
        <p:nvSpPr>
          <p:cNvPr id="91" name="Text 89"/>
          <p:cNvSpPr txBox="1"/>
          <p:nvPr/>
        </p:nvSpPr>
        <p:spPr>
          <a:xfrm>
            <a:off x="594360" y="3614374"/>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92" name="Shape 90"/>
          <p:cNvSpPr/>
          <p:nvPr/>
        </p:nvSpPr>
        <p:spPr>
          <a:xfrm>
            <a:off x="2084832" y="3621689"/>
            <a:ext cx="996696" cy="136744"/>
          </a:xfrm>
          <a:prstGeom prst="rect">
            <a:avLst/>
          </a:prstGeom>
          <a:solidFill>
            <a:srgbClr val="EDF5F7"/>
          </a:solidFill>
          <a:ln/>
        </p:spPr>
      </p:sp>
      <p:sp>
        <p:nvSpPr>
          <p:cNvPr id="93" name="Text 91"/>
          <p:cNvSpPr txBox="1"/>
          <p:nvPr/>
        </p:nvSpPr>
        <p:spPr>
          <a:xfrm>
            <a:off x="2057400"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4" name="Shape 92"/>
          <p:cNvSpPr/>
          <p:nvPr/>
        </p:nvSpPr>
        <p:spPr>
          <a:xfrm>
            <a:off x="3163824" y="3621689"/>
            <a:ext cx="996696" cy="136744"/>
          </a:xfrm>
          <a:prstGeom prst="rect">
            <a:avLst/>
          </a:prstGeom>
          <a:solidFill>
            <a:srgbClr val="EDF5F7"/>
          </a:solidFill>
          <a:ln/>
        </p:spPr>
      </p:sp>
      <p:sp>
        <p:nvSpPr>
          <p:cNvPr id="95" name="Text 93"/>
          <p:cNvSpPr txBox="1"/>
          <p:nvPr/>
        </p:nvSpPr>
        <p:spPr>
          <a:xfrm>
            <a:off x="3136392"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6" name="Shape 94"/>
          <p:cNvSpPr/>
          <p:nvPr/>
        </p:nvSpPr>
        <p:spPr>
          <a:xfrm>
            <a:off x="4242816" y="3621689"/>
            <a:ext cx="996696" cy="136744"/>
          </a:xfrm>
          <a:prstGeom prst="rect">
            <a:avLst/>
          </a:prstGeom>
          <a:solidFill>
            <a:srgbClr val="EDF5F7"/>
          </a:solidFill>
          <a:ln/>
        </p:spPr>
      </p:sp>
      <p:sp>
        <p:nvSpPr>
          <p:cNvPr id="97" name="Text 95"/>
          <p:cNvSpPr txBox="1"/>
          <p:nvPr/>
        </p:nvSpPr>
        <p:spPr>
          <a:xfrm>
            <a:off x="4215384"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8" name="Shape 96"/>
          <p:cNvSpPr/>
          <p:nvPr/>
        </p:nvSpPr>
        <p:spPr>
          <a:xfrm>
            <a:off x="5321808" y="3621689"/>
            <a:ext cx="996696" cy="136744"/>
          </a:xfrm>
          <a:prstGeom prst="rect">
            <a:avLst/>
          </a:prstGeom>
          <a:solidFill>
            <a:srgbClr val="EDF5F7"/>
          </a:solidFill>
          <a:ln/>
        </p:spPr>
      </p:sp>
      <p:sp>
        <p:nvSpPr>
          <p:cNvPr id="99" name="Text 97"/>
          <p:cNvSpPr txBox="1"/>
          <p:nvPr/>
        </p:nvSpPr>
        <p:spPr>
          <a:xfrm>
            <a:off x="5294376"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21,999</a:t>
            </a:r>
            <a:endParaRPr lang="en-US" sz="680" dirty="0"/>
          </a:p>
        </p:txBody>
      </p:sp>
      <p:sp>
        <p:nvSpPr>
          <p:cNvPr id="100" name="Text 98"/>
          <p:cNvSpPr txBox="1"/>
          <p:nvPr/>
        </p:nvSpPr>
        <p:spPr>
          <a:xfrm>
            <a:off x="6400800" y="3614374"/>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90,003</a:t>
            </a:r>
            <a:endParaRPr lang="en-US" sz="700" dirty="0"/>
          </a:p>
        </p:txBody>
      </p:sp>
      <p:sp>
        <p:nvSpPr>
          <p:cNvPr id="101" name="Text 99"/>
          <p:cNvSpPr txBox="1"/>
          <p:nvPr/>
        </p:nvSpPr>
        <p:spPr>
          <a:xfrm>
            <a:off x="594360" y="3773978"/>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102" name="Shape 100"/>
          <p:cNvSpPr/>
          <p:nvPr/>
        </p:nvSpPr>
        <p:spPr>
          <a:xfrm>
            <a:off x="2084832" y="3781293"/>
            <a:ext cx="996696" cy="136744"/>
          </a:xfrm>
          <a:prstGeom prst="rect">
            <a:avLst/>
          </a:prstGeom>
          <a:solidFill>
            <a:srgbClr val="EDF5F7"/>
          </a:solidFill>
          <a:ln/>
        </p:spPr>
      </p:sp>
      <p:sp>
        <p:nvSpPr>
          <p:cNvPr id="103" name="Text 101"/>
          <p:cNvSpPr txBox="1"/>
          <p:nvPr/>
        </p:nvSpPr>
        <p:spPr>
          <a:xfrm>
            <a:off x="2057400"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4" name="Shape 102"/>
          <p:cNvSpPr/>
          <p:nvPr/>
        </p:nvSpPr>
        <p:spPr>
          <a:xfrm>
            <a:off x="3163824" y="3781293"/>
            <a:ext cx="996696" cy="136744"/>
          </a:xfrm>
          <a:prstGeom prst="rect">
            <a:avLst/>
          </a:prstGeom>
          <a:solidFill>
            <a:srgbClr val="EDF5F7"/>
          </a:solidFill>
          <a:ln/>
        </p:spPr>
      </p:sp>
      <p:sp>
        <p:nvSpPr>
          <p:cNvPr id="105" name="Text 103"/>
          <p:cNvSpPr txBox="1"/>
          <p:nvPr/>
        </p:nvSpPr>
        <p:spPr>
          <a:xfrm>
            <a:off x="3136392"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6" name="Shape 104"/>
          <p:cNvSpPr/>
          <p:nvPr/>
        </p:nvSpPr>
        <p:spPr>
          <a:xfrm>
            <a:off x="4242816" y="3781293"/>
            <a:ext cx="996696" cy="136744"/>
          </a:xfrm>
          <a:prstGeom prst="rect">
            <a:avLst/>
          </a:prstGeom>
          <a:solidFill>
            <a:srgbClr val="EDF5F7"/>
          </a:solidFill>
          <a:ln/>
        </p:spPr>
      </p:sp>
      <p:sp>
        <p:nvSpPr>
          <p:cNvPr id="107" name="Text 105"/>
          <p:cNvSpPr txBox="1"/>
          <p:nvPr/>
        </p:nvSpPr>
        <p:spPr>
          <a:xfrm>
            <a:off x="4215384"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8" name="Shape 106"/>
          <p:cNvSpPr/>
          <p:nvPr/>
        </p:nvSpPr>
        <p:spPr>
          <a:xfrm>
            <a:off x="5321808" y="3781293"/>
            <a:ext cx="996696" cy="136744"/>
          </a:xfrm>
          <a:prstGeom prst="rect">
            <a:avLst/>
          </a:prstGeom>
          <a:solidFill>
            <a:srgbClr val="EDF5F7"/>
          </a:solidFill>
          <a:ln/>
        </p:spPr>
      </p:sp>
      <p:sp>
        <p:nvSpPr>
          <p:cNvPr id="109" name="Text 107"/>
          <p:cNvSpPr txBox="1"/>
          <p:nvPr/>
        </p:nvSpPr>
        <p:spPr>
          <a:xfrm>
            <a:off x="5294376"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5,907</a:t>
            </a:r>
            <a:endParaRPr lang="en-US" sz="680" dirty="0"/>
          </a:p>
        </p:txBody>
      </p:sp>
      <p:sp>
        <p:nvSpPr>
          <p:cNvPr id="110" name="Text 108"/>
          <p:cNvSpPr txBox="1"/>
          <p:nvPr/>
        </p:nvSpPr>
        <p:spPr>
          <a:xfrm>
            <a:off x="6400800" y="3773978"/>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55,814</a:t>
            </a:r>
            <a:endParaRPr lang="en-US" sz="700" dirty="0"/>
          </a:p>
        </p:txBody>
      </p:sp>
      <p:sp>
        <p:nvSpPr>
          <p:cNvPr id="111" name="Text 109"/>
          <p:cNvSpPr txBox="1"/>
          <p:nvPr/>
        </p:nvSpPr>
        <p:spPr>
          <a:xfrm>
            <a:off x="594360" y="3933583"/>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12" name="Text 110"/>
          <p:cNvSpPr txBox="1"/>
          <p:nvPr/>
        </p:nvSpPr>
        <p:spPr>
          <a:xfrm>
            <a:off x="2057400" y="3933583"/>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13" name="Shape 111"/>
          <p:cNvSpPr/>
          <p:nvPr/>
        </p:nvSpPr>
        <p:spPr>
          <a:xfrm>
            <a:off x="3163824" y="3940898"/>
            <a:ext cx="996696" cy="136744"/>
          </a:xfrm>
          <a:prstGeom prst="rect">
            <a:avLst/>
          </a:prstGeom>
          <a:solidFill>
            <a:srgbClr val="D4E9ED"/>
          </a:solidFill>
          <a:ln/>
        </p:spPr>
      </p:sp>
      <p:sp>
        <p:nvSpPr>
          <p:cNvPr id="114" name="Text 112"/>
          <p:cNvSpPr txBox="1"/>
          <p:nvPr/>
        </p:nvSpPr>
        <p:spPr>
          <a:xfrm>
            <a:off x="3136392"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5" name="Shape 113"/>
          <p:cNvSpPr/>
          <p:nvPr/>
        </p:nvSpPr>
        <p:spPr>
          <a:xfrm>
            <a:off x="4242816" y="3940898"/>
            <a:ext cx="996696" cy="136744"/>
          </a:xfrm>
          <a:prstGeom prst="rect">
            <a:avLst/>
          </a:prstGeom>
          <a:solidFill>
            <a:srgbClr val="EDF5F7"/>
          </a:solidFill>
          <a:ln/>
        </p:spPr>
      </p:sp>
      <p:sp>
        <p:nvSpPr>
          <p:cNvPr id="116" name="Text 114"/>
          <p:cNvSpPr txBox="1"/>
          <p:nvPr/>
        </p:nvSpPr>
        <p:spPr>
          <a:xfrm>
            <a:off x="4215384"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7" name="Shape 115"/>
          <p:cNvSpPr/>
          <p:nvPr/>
        </p:nvSpPr>
        <p:spPr>
          <a:xfrm>
            <a:off x="5321808" y="3940898"/>
            <a:ext cx="996696" cy="136744"/>
          </a:xfrm>
          <a:prstGeom prst="rect">
            <a:avLst/>
          </a:prstGeom>
          <a:solidFill>
            <a:srgbClr val="EDF5F7"/>
          </a:solidFill>
          <a:ln/>
        </p:spPr>
      </p:sp>
      <p:sp>
        <p:nvSpPr>
          <p:cNvPr id="118" name="Text 116"/>
          <p:cNvSpPr txBox="1"/>
          <p:nvPr/>
        </p:nvSpPr>
        <p:spPr>
          <a:xfrm>
            <a:off x="5294376"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17,140</a:t>
            </a:r>
            <a:endParaRPr lang="en-US" sz="680" dirty="0"/>
          </a:p>
        </p:txBody>
      </p:sp>
      <p:sp>
        <p:nvSpPr>
          <p:cNvPr id="119" name="Text 117"/>
          <p:cNvSpPr txBox="1"/>
          <p:nvPr/>
        </p:nvSpPr>
        <p:spPr>
          <a:xfrm>
            <a:off x="6400800" y="3933583"/>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83,285</a:t>
            </a:r>
            <a:endParaRPr lang="en-US" sz="700" dirty="0"/>
          </a:p>
        </p:txBody>
      </p:sp>
      <p:sp>
        <p:nvSpPr>
          <p:cNvPr id="120" name="Text 118"/>
          <p:cNvSpPr txBox="1"/>
          <p:nvPr/>
        </p:nvSpPr>
        <p:spPr>
          <a:xfrm>
            <a:off x="594360" y="4093187"/>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21" name="Shape 119"/>
          <p:cNvSpPr/>
          <p:nvPr/>
        </p:nvSpPr>
        <p:spPr>
          <a:xfrm>
            <a:off x="2084832" y="4100502"/>
            <a:ext cx="996696" cy="136744"/>
          </a:xfrm>
          <a:prstGeom prst="rect">
            <a:avLst/>
          </a:prstGeom>
          <a:solidFill>
            <a:srgbClr val="EDF5F7"/>
          </a:solidFill>
          <a:ln/>
        </p:spPr>
      </p:sp>
      <p:sp>
        <p:nvSpPr>
          <p:cNvPr id="122" name="Text 120"/>
          <p:cNvSpPr txBox="1"/>
          <p:nvPr/>
        </p:nvSpPr>
        <p:spPr>
          <a:xfrm>
            <a:off x="2057400"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23" name="Shape 121"/>
          <p:cNvSpPr/>
          <p:nvPr/>
        </p:nvSpPr>
        <p:spPr>
          <a:xfrm>
            <a:off x="3163824" y="4100502"/>
            <a:ext cx="996696" cy="136744"/>
          </a:xfrm>
          <a:prstGeom prst="rect">
            <a:avLst/>
          </a:prstGeom>
          <a:solidFill>
            <a:srgbClr val="EDF5F7"/>
          </a:solidFill>
          <a:ln/>
        </p:spPr>
      </p:sp>
      <p:sp>
        <p:nvSpPr>
          <p:cNvPr id="124" name="Text 122"/>
          <p:cNvSpPr txBox="1"/>
          <p:nvPr/>
        </p:nvSpPr>
        <p:spPr>
          <a:xfrm>
            <a:off x="3136392"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5" name="Shape 123"/>
          <p:cNvSpPr/>
          <p:nvPr/>
        </p:nvSpPr>
        <p:spPr>
          <a:xfrm>
            <a:off x="4242816" y="4100502"/>
            <a:ext cx="996696" cy="136744"/>
          </a:xfrm>
          <a:prstGeom prst="rect">
            <a:avLst/>
          </a:prstGeom>
          <a:solidFill>
            <a:srgbClr val="EDF5F7"/>
          </a:solidFill>
          <a:ln/>
        </p:spPr>
      </p:sp>
      <p:sp>
        <p:nvSpPr>
          <p:cNvPr id="126" name="Text 124"/>
          <p:cNvSpPr txBox="1"/>
          <p:nvPr/>
        </p:nvSpPr>
        <p:spPr>
          <a:xfrm>
            <a:off x="4215384"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7" name="Shape 125"/>
          <p:cNvSpPr/>
          <p:nvPr/>
        </p:nvSpPr>
        <p:spPr>
          <a:xfrm>
            <a:off x="5321808" y="4100502"/>
            <a:ext cx="996696" cy="136744"/>
          </a:xfrm>
          <a:prstGeom prst="rect">
            <a:avLst/>
          </a:prstGeom>
          <a:solidFill>
            <a:srgbClr val="EDF5F7"/>
          </a:solidFill>
          <a:ln/>
        </p:spPr>
      </p:sp>
      <p:sp>
        <p:nvSpPr>
          <p:cNvPr id="128" name="Text 126"/>
          <p:cNvSpPr txBox="1"/>
          <p:nvPr/>
        </p:nvSpPr>
        <p:spPr>
          <a:xfrm>
            <a:off x="5294376"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5,548</a:t>
            </a:r>
            <a:endParaRPr lang="en-US" sz="680" dirty="0"/>
          </a:p>
        </p:txBody>
      </p:sp>
      <p:sp>
        <p:nvSpPr>
          <p:cNvPr id="129" name="Text 127"/>
          <p:cNvSpPr txBox="1"/>
          <p:nvPr/>
        </p:nvSpPr>
        <p:spPr>
          <a:xfrm>
            <a:off x="6400800" y="4093187"/>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39,718</a:t>
            </a:r>
            <a:endParaRPr lang="en-US" sz="700" dirty="0"/>
          </a:p>
        </p:txBody>
      </p:sp>
      <p:sp>
        <p:nvSpPr>
          <p:cNvPr id="130" name="Text 128"/>
          <p:cNvSpPr txBox="1"/>
          <p:nvPr/>
        </p:nvSpPr>
        <p:spPr>
          <a:xfrm>
            <a:off x="594360" y="4252791"/>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31" name="Shape 129"/>
          <p:cNvSpPr/>
          <p:nvPr/>
        </p:nvSpPr>
        <p:spPr>
          <a:xfrm>
            <a:off x="2084832" y="4260106"/>
            <a:ext cx="996696" cy="136744"/>
          </a:xfrm>
          <a:prstGeom prst="rect">
            <a:avLst/>
          </a:prstGeom>
          <a:solidFill>
            <a:srgbClr val="EDF5F7"/>
          </a:solidFill>
          <a:ln/>
        </p:spPr>
      </p:sp>
      <p:sp>
        <p:nvSpPr>
          <p:cNvPr id="132" name="Text 130"/>
          <p:cNvSpPr txBox="1"/>
          <p:nvPr/>
        </p:nvSpPr>
        <p:spPr>
          <a:xfrm>
            <a:off x="2057400"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33" name="Shape 131"/>
          <p:cNvSpPr/>
          <p:nvPr/>
        </p:nvSpPr>
        <p:spPr>
          <a:xfrm>
            <a:off x="3163824" y="4260106"/>
            <a:ext cx="996696" cy="136744"/>
          </a:xfrm>
          <a:prstGeom prst="rect">
            <a:avLst/>
          </a:prstGeom>
          <a:solidFill>
            <a:srgbClr val="EDF5F7"/>
          </a:solidFill>
          <a:ln/>
        </p:spPr>
      </p:sp>
      <p:sp>
        <p:nvSpPr>
          <p:cNvPr id="134" name="Text 132"/>
          <p:cNvSpPr txBox="1"/>
          <p:nvPr/>
        </p:nvSpPr>
        <p:spPr>
          <a:xfrm>
            <a:off x="3136392"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5" name="Shape 133"/>
          <p:cNvSpPr/>
          <p:nvPr/>
        </p:nvSpPr>
        <p:spPr>
          <a:xfrm>
            <a:off x="4242816" y="4260106"/>
            <a:ext cx="996696" cy="136744"/>
          </a:xfrm>
          <a:prstGeom prst="rect">
            <a:avLst/>
          </a:prstGeom>
          <a:solidFill>
            <a:srgbClr val="EDF5F7"/>
          </a:solidFill>
          <a:ln/>
        </p:spPr>
      </p:sp>
      <p:sp>
        <p:nvSpPr>
          <p:cNvPr id="136" name="Text 134"/>
          <p:cNvSpPr txBox="1"/>
          <p:nvPr/>
        </p:nvSpPr>
        <p:spPr>
          <a:xfrm>
            <a:off x="4215384"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7" name="Shape 135"/>
          <p:cNvSpPr/>
          <p:nvPr/>
        </p:nvSpPr>
        <p:spPr>
          <a:xfrm>
            <a:off x="5321808" y="4260106"/>
            <a:ext cx="996696" cy="136744"/>
          </a:xfrm>
          <a:prstGeom prst="rect">
            <a:avLst/>
          </a:prstGeom>
          <a:solidFill>
            <a:srgbClr val="EDF5F7"/>
          </a:solidFill>
          <a:ln/>
        </p:spPr>
      </p:sp>
      <p:sp>
        <p:nvSpPr>
          <p:cNvPr id="138" name="Text 136"/>
          <p:cNvSpPr txBox="1"/>
          <p:nvPr/>
        </p:nvSpPr>
        <p:spPr>
          <a:xfrm>
            <a:off x="5294376"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26,261</a:t>
            </a:r>
            <a:endParaRPr lang="en-US" sz="680" dirty="0"/>
          </a:p>
        </p:txBody>
      </p:sp>
      <p:sp>
        <p:nvSpPr>
          <p:cNvPr id="139" name="Text 137"/>
          <p:cNvSpPr txBox="1"/>
          <p:nvPr/>
        </p:nvSpPr>
        <p:spPr>
          <a:xfrm>
            <a:off x="6400800" y="4252791"/>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54,729</a:t>
            </a:r>
            <a:endParaRPr lang="en-US" sz="700" dirty="0"/>
          </a:p>
        </p:txBody>
      </p:sp>
      <p:sp>
        <p:nvSpPr>
          <p:cNvPr id="140" name="Text 138"/>
          <p:cNvSpPr txBox="1"/>
          <p:nvPr/>
        </p:nvSpPr>
        <p:spPr>
          <a:xfrm>
            <a:off x="594360" y="4412396"/>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41" name="Shape 139"/>
          <p:cNvSpPr/>
          <p:nvPr/>
        </p:nvSpPr>
        <p:spPr>
          <a:xfrm>
            <a:off x="2084832" y="4419711"/>
            <a:ext cx="996696" cy="136744"/>
          </a:xfrm>
          <a:prstGeom prst="rect">
            <a:avLst/>
          </a:prstGeom>
          <a:solidFill>
            <a:srgbClr val="EDF5F7"/>
          </a:solidFill>
          <a:ln/>
        </p:spPr>
      </p:sp>
      <p:sp>
        <p:nvSpPr>
          <p:cNvPr id="142" name="Text 140"/>
          <p:cNvSpPr txBox="1"/>
          <p:nvPr/>
        </p:nvSpPr>
        <p:spPr>
          <a:xfrm>
            <a:off x="2057400"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43" name="Shape 141"/>
          <p:cNvSpPr/>
          <p:nvPr/>
        </p:nvSpPr>
        <p:spPr>
          <a:xfrm>
            <a:off x="3163824" y="4419711"/>
            <a:ext cx="996696" cy="136744"/>
          </a:xfrm>
          <a:prstGeom prst="rect">
            <a:avLst/>
          </a:prstGeom>
          <a:solidFill>
            <a:srgbClr val="EDF5F7"/>
          </a:solidFill>
          <a:ln/>
        </p:spPr>
      </p:sp>
      <p:sp>
        <p:nvSpPr>
          <p:cNvPr id="144" name="Text 142"/>
          <p:cNvSpPr txBox="1"/>
          <p:nvPr/>
        </p:nvSpPr>
        <p:spPr>
          <a:xfrm>
            <a:off x="3136392"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5" name="Shape 143"/>
          <p:cNvSpPr/>
          <p:nvPr/>
        </p:nvSpPr>
        <p:spPr>
          <a:xfrm>
            <a:off x="4242816" y="4419711"/>
            <a:ext cx="996696" cy="136744"/>
          </a:xfrm>
          <a:prstGeom prst="rect">
            <a:avLst/>
          </a:prstGeom>
          <a:solidFill>
            <a:srgbClr val="EDF5F7"/>
          </a:solidFill>
          <a:ln/>
        </p:spPr>
      </p:sp>
      <p:sp>
        <p:nvSpPr>
          <p:cNvPr id="146" name="Text 144"/>
          <p:cNvSpPr txBox="1"/>
          <p:nvPr/>
        </p:nvSpPr>
        <p:spPr>
          <a:xfrm>
            <a:off x="4215384"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7" name="Shape 145"/>
          <p:cNvSpPr/>
          <p:nvPr/>
        </p:nvSpPr>
        <p:spPr>
          <a:xfrm>
            <a:off x="5321808" y="4419711"/>
            <a:ext cx="996696" cy="136744"/>
          </a:xfrm>
          <a:prstGeom prst="rect">
            <a:avLst/>
          </a:prstGeom>
          <a:solidFill>
            <a:srgbClr val="EDF5F7"/>
          </a:solidFill>
          <a:ln/>
        </p:spPr>
      </p:sp>
      <p:sp>
        <p:nvSpPr>
          <p:cNvPr id="148" name="Text 146"/>
          <p:cNvSpPr txBox="1"/>
          <p:nvPr/>
        </p:nvSpPr>
        <p:spPr>
          <a:xfrm>
            <a:off x="5294376"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3,890</a:t>
            </a:r>
            <a:endParaRPr lang="en-US" sz="680" dirty="0"/>
          </a:p>
        </p:txBody>
      </p:sp>
      <p:sp>
        <p:nvSpPr>
          <p:cNvPr id="149" name="Text 147"/>
          <p:cNvSpPr txBox="1"/>
          <p:nvPr/>
        </p:nvSpPr>
        <p:spPr>
          <a:xfrm>
            <a:off x="6400800" y="4412396"/>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33,386</a:t>
            </a:r>
            <a:endParaRPr lang="en-US" sz="700" dirty="0"/>
          </a:p>
        </p:txBody>
      </p:sp>
      <p:sp>
        <p:nvSpPr>
          <p:cNvPr id="150" name="Shape 148"/>
          <p:cNvSpPr/>
          <p:nvPr/>
        </p:nvSpPr>
        <p:spPr>
          <a:xfrm>
            <a:off x="594360" y="4572000"/>
            <a:ext cx="7132320" cy="10973"/>
          </a:xfrm>
          <a:prstGeom prst="rect">
            <a:avLst/>
          </a:prstGeom>
          <a:solidFill>
            <a:srgbClr val="12293A"/>
          </a:solidFill>
          <a:ln/>
        </p:spPr>
      </p:sp>
      <p:sp>
        <p:nvSpPr>
          <p:cNvPr id="151" name="Text 149"/>
          <p:cNvSpPr txBox="1"/>
          <p:nvPr/>
        </p:nvSpPr>
        <p:spPr>
          <a:xfrm>
            <a:off x="594360" y="4599432"/>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52" name="Text 150"/>
          <p:cNvSpPr txBox="1"/>
          <p:nvPr/>
        </p:nvSpPr>
        <p:spPr>
          <a:xfrm>
            <a:off x="2057400"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53" name="Text 151"/>
          <p:cNvSpPr txBox="1"/>
          <p:nvPr/>
        </p:nvSpPr>
        <p:spPr>
          <a:xfrm>
            <a:off x="3136392"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54" name="Text 152"/>
          <p:cNvSpPr txBox="1"/>
          <p:nvPr/>
        </p:nvSpPr>
        <p:spPr>
          <a:xfrm>
            <a:off x="4215384"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5" name="Text 153"/>
          <p:cNvSpPr txBox="1"/>
          <p:nvPr/>
        </p:nvSpPr>
        <p:spPr>
          <a:xfrm>
            <a:off x="5294376"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329,436</a:t>
            </a:r>
            <a:endParaRPr lang="en-US" sz="750" dirty="0"/>
          </a:p>
        </p:txBody>
      </p:sp>
      <p:sp>
        <p:nvSpPr>
          <p:cNvPr id="156" name="Text 154"/>
          <p:cNvSpPr txBox="1"/>
          <p:nvPr/>
        </p:nvSpPr>
        <p:spPr>
          <a:xfrm>
            <a:off x="6400800" y="4599432"/>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1,128,248</a:t>
            </a:r>
            <a:endParaRPr lang="en-US" sz="750" dirty="0"/>
          </a:p>
        </p:txBody>
      </p:sp>
      <p:sp>
        <p:nvSpPr>
          <p:cNvPr id="157" name="Text 155"/>
          <p:cNvSpPr txBox="1"/>
          <p:nvPr/>
        </p:nvSpPr>
        <p:spPr>
          <a:xfrm>
            <a:off x="594360" y="4910328"/>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8" name="Shape 156"/>
          <p:cNvSpPr/>
          <p:nvPr/>
        </p:nvSpPr>
        <p:spPr>
          <a:xfrm>
            <a:off x="2075688" y="4910328"/>
            <a:ext cx="365107" cy="219456"/>
          </a:xfrm>
          <a:prstGeom prst="rect">
            <a:avLst/>
          </a:prstGeom>
          <a:solidFill>
            <a:srgbClr val="D4E9ED"/>
          </a:solidFill>
          <a:ln/>
        </p:spPr>
      </p:sp>
      <p:sp>
        <p:nvSpPr>
          <p:cNvPr id="159" name="Text 157"/>
          <p:cNvSpPr txBox="1"/>
          <p:nvPr/>
        </p:nvSpPr>
        <p:spPr>
          <a:xfrm>
            <a:off x="2057400"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057400"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61" name="Shape 159"/>
          <p:cNvSpPr/>
          <p:nvPr/>
        </p:nvSpPr>
        <p:spPr>
          <a:xfrm>
            <a:off x="2477371" y="4910328"/>
            <a:ext cx="365107" cy="219456"/>
          </a:xfrm>
          <a:prstGeom prst="rect">
            <a:avLst/>
          </a:prstGeom>
          <a:solidFill>
            <a:srgbClr val="D4E9ED"/>
          </a:solidFill>
          <a:ln/>
        </p:spPr>
      </p:sp>
      <p:sp>
        <p:nvSpPr>
          <p:cNvPr id="162" name="Text 160"/>
          <p:cNvSpPr txBox="1"/>
          <p:nvPr/>
        </p:nvSpPr>
        <p:spPr>
          <a:xfrm>
            <a:off x="2459083"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3" name="Text 161"/>
          <p:cNvSpPr txBox="1"/>
          <p:nvPr/>
        </p:nvSpPr>
        <p:spPr>
          <a:xfrm>
            <a:off x="2459083"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64" name="Shape 162"/>
          <p:cNvSpPr/>
          <p:nvPr/>
        </p:nvSpPr>
        <p:spPr>
          <a:xfrm>
            <a:off x="2879054" y="4910328"/>
            <a:ext cx="365107" cy="219456"/>
          </a:xfrm>
          <a:prstGeom prst="rect">
            <a:avLst/>
          </a:prstGeom>
          <a:solidFill>
            <a:srgbClr val="D4E9ED"/>
          </a:solidFill>
          <a:ln/>
        </p:spPr>
      </p:sp>
      <p:sp>
        <p:nvSpPr>
          <p:cNvPr id="165" name="Text 163"/>
          <p:cNvSpPr txBox="1"/>
          <p:nvPr/>
        </p:nvSpPr>
        <p:spPr>
          <a:xfrm>
            <a:off x="2860766"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6" name="Text 164"/>
          <p:cNvSpPr txBox="1"/>
          <p:nvPr/>
        </p:nvSpPr>
        <p:spPr>
          <a:xfrm>
            <a:off x="2860766"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7" name="Shape 165"/>
          <p:cNvSpPr/>
          <p:nvPr/>
        </p:nvSpPr>
        <p:spPr>
          <a:xfrm>
            <a:off x="3280737" y="4910328"/>
            <a:ext cx="365107" cy="219456"/>
          </a:xfrm>
          <a:prstGeom prst="rect">
            <a:avLst/>
          </a:prstGeom>
          <a:solidFill>
            <a:srgbClr val="B5D9E0"/>
          </a:solidFill>
          <a:ln/>
        </p:spPr>
      </p:sp>
      <p:sp>
        <p:nvSpPr>
          <p:cNvPr id="168" name="Text 166"/>
          <p:cNvSpPr txBox="1"/>
          <p:nvPr/>
        </p:nvSpPr>
        <p:spPr>
          <a:xfrm>
            <a:off x="3262449"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9" name="Text 167"/>
          <p:cNvSpPr txBox="1"/>
          <p:nvPr/>
        </p:nvSpPr>
        <p:spPr>
          <a:xfrm>
            <a:off x="3262449"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70" name="Shape 168"/>
          <p:cNvSpPr/>
          <p:nvPr/>
        </p:nvSpPr>
        <p:spPr>
          <a:xfrm>
            <a:off x="3682419" y="4910328"/>
            <a:ext cx="365107" cy="219456"/>
          </a:xfrm>
          <a:prstGeom prst="rect">
            <a:avLst/>
          </a:prstGeom>
          <a:solidFill>
            <a:srgbClr val="B5D9E0"/>
          </a:solidFill>
          <a:ln/>
        </p:spPr>
      </p:sp>
      <p:sp>
        <p:nvSpPr>
          <p:cNvPr id="171" name="Text 169"/>
          <p:cNvSpPr txBox="1"/>
          <p:nvPr/>
        </p:nvSpPr>
        <p:spPr>
          <a:xfrm>
            <a:off x="3664131"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3664131"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73" name="Shape 171"/>
          <p:cNvSpPr/>
          <p:nvPr/>
        </p:nvSpPr>
        <p:spPr>
          <a:xfrm>
            <a:off x="4084102" y="4910328"/>
            <a:ext cx="365107" cy="219456"/>
          </a:xfrm>
          <a:prstGeom prst="rect">
            <a:avLst/>
          </a:prstGeom>
          <a:solidFill>
            <a:srgbClr val="B5D9E0"/>
          </a:solidFill>
          <a:ln/>
        </p:spPr>
      </p:sp>
      <p:sp>
        <p:nvSpPr>
          <p:cNvPr id="174" name="Text 172"/>
          <p:cNvSpPr txBox="1"/>
          <p:nvPr/>
        </p:nvSpPr>
        <p:spPr>
          <a:xfrm>
            <a:off x="4065814"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5" name="Text 173"/>
          <p:cNvSpPr txBox="1"/>
          <p:nvPr/>
        </p:nvSpPr>
        <p:spPr>
          <a:xfrm>
            <a:off x="4065814"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6" name="Shape 174"/>
          <p:cNvSpPr/>
          <p:nvPr/>
        </p:nvSpPr>
        <p:spPr>
          <a:xfrm>
            <a:off x="4485785" y="4910328"/>
            <a:ext cx="365107" cy="219456"/>
          </a:xfrm>
          <a:prstGeom prst="rect">
            <a:avLst/>
          </a:prstGeom>
          <a:solidFill>
            <a:srgbClr val="B5D9E0"/>
          </a:solidFill>
          <a:ln/>
        </p:spPr>
      </p:sp>
      <p:sp>
        <p:nvSpPr>
          <p:cNvPr id="177" name="Text 175"/>
          <p:cNvSpPr txBox="1"/>
          <p:nvPr/>
        </p:nvSpPr>
        <p:spPr>
          <a:xfrm>
            <a:off x="4467497"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8" name="Text 176"/>
          <p:cNvSpPr txBox="1"/>
          <p:nvPr/>
        </p:nvSpPr>
        <p:spPr>
          <a:xfrm>
            <a:off x="4467497"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9" name="Shape 177"/>
          <p:cNvSpPr/>
          <p:nvPr/>
        </p:nvSpPr>
        <p:spPr>
          <a:xfrm>
            <a:off x="4887468" y="4910328"/>
            <a:ext cx="365107" cy="219456"/>
          </a:xfrm>
          <a:prstGeom prst="rect">
            <a:avLst/>
          </a:prstGeom>
          <a:solidFill>
            <a:srgbClr val="B5D9E0"/>
          </a:solidFill>
          <a:ln/>
        </p:spPr>
      </p:sp>
      <p:sp>
        <p:nvSpPr>
          <p:cNvPr id="180" name="Text 178"/>
          <p:cNvSpPr txBox="1"/>
          <p:nvPr/>
        </p:nvSpPr>
        <p:spPr>
          <a:xfrm>
            <a:off x="4869180"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81" name="Text 179"/>
          <p:cNvSpPr txBox="1"/>
          <p:nvPr/>
        </p:nvSpPr>
        <p:spPr>
          <a:xfrm>
            <a:off x="4869180"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82" name="Shape 180"/>
          <p:cNvSpPr/>
          <p:nvPr/>
        </p:nvSpPr>
        <p:spPr>
          <a:xfrm>
            <a:off x="5289151" y="4910328"/>
            <a:ext cx="365107" cy="219456"/>
          </a:xfrm>
          <a:prstGeom prst="rect">
            <a:avLst/>
          </a:prstGeom>
          <a:solidFill>
            <a:srgbClr val="D4E9ED"/>
          </a:solidFill>
          <a:ln/>
        </p:spPr>
      </p:sp>
      <p:sp>
        <p:nvSpPr>
          <p:cNvPr id="183" name="Text 181"/>
          <p:cNvSpPr txBox="1"/>
          <p:nvPr/>
        </p:nvSpPr>
        <p:spPr>
          <a:xfrm>
            <a:off x="5270863"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84" name="Text 182"/>
          <p:cNvSpPr txBox="1"/>
          <p:nvPr/>
        </p:nvSpPr>
        <p:spPr>
          <a:xfrm>
            <a:off x="5270863"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85" name="Shape 183"/>
          <p:cNvSpPr/>
          <p:nvPr/>
        </p:nvSpPr>
        <p:spPr>
          <a:xfrm>
            <a:off x="5690834" y="4910328"/>
            <a:ext cx="365107" cy="219456"/>
          </a:xfrm>
          <a:prstGeom prst="rect">
            <a:avLst/>
          </a:prstGeom>
          <a:solidFill>
            <a:srgbClr val="2C8394"/>
          </a:solidFill>
          <a:ln/>
        </p:spPr>
      </p:sp>
      <p:sp>
        <p:nvSpPr>
          <p:cNvPr id="186" name="Text 184"/>
          <p:cNvSpPr txBox="1"/>
          <p:nvPr/>
        </p:nvSpPr>
        <p:spPr>
          <a:xfrm>
            <a:off x="5672546" y="4910328"/>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7" name="Text 185"/>
          <p:cNvSpPr txBox="1"/>
          <p:nvPr/>
        </p:nvSpPr>
        <p:spPr>
          <a:xfrm>
            <a:off x="5672546"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8" name="Shape 186"/>
          <p:cNvSpPr/>
          <p:nvPr/>
        </p:nvSpPr>
        <p:spPr>
          <a:xfrm>
            <a:off x="6092517" y="4910328"/>
            <a:ext cx="365107" cy="219456"/>
          </a:xfrm>
          <a:prstGeom prst="rect">
            <a:avLst/>
          </a:prstGeom>
          <a:solidFill>
            <a:srgbClr val="2C8394"/>
          </a:solidFill>
          <a:ln/>
        </p:spPr>
      </p:sp>
      <p:sp>
        <p:nvSpPr>
          <p:cNvPr id="189" name="Text 187"/>
          <p:cNvSpPr txBox="1"/>
          <p:nvPr/>
        </p:nvSpPr>
        <p:spPr>
          <a:xfrm>
            <a:off x="6074229" y="4910328"/>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90" name="Text 188"/>
          <p:cNvSpPr txBox="1"/>
          <p:nvPr/>
        </p:nvSpPr>
        <p:spPr>
          <a:xfrm>
            <a:off x="6074229"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91" name="Shape 189"/>
          <p:cNvSpPr/>
          <p:nvPr/>
        </p:nvSpPr>
        <p:spPr>
          <a:xfrm>
            <a:off x="6494199" y="4910328"/>
            <a:ext cx="365107" cy="219456"/>
          </a:xfrm>
          <a:prstGeom prst="rect">
            <a:avLst/>
          </a:prstGeom>
          <a:solidFill>
            <a:srgbClr val="8FC3CC"/>
          </a:solidFill>
          <a:ln/>
        </p:spPr>
      </p:sp>
      <p:sp>
        <p:nvSpPr>
          <p:cNvPr id="192" name="Text 190"/>
          <p:cNvSpPr txBox="1"/>
          <p:nvPr/>
        </p:nvSpPr>
        <p:spPr>
          <a:xfrm>
            <a:off x="6475911"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93" name="Text 191"/>
          <p:cNvSpPr txBox="1"/>
          <p:nvPr/>
        </p:nvSpPr>
        <p:spPr>
          <a:xfrm>
            <a:off x="6475911"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94" name="Shape 192"/>
          <p:cNvSpPr/>
          <p:nvPr/>
        </p:nvSpPr>
        <p:spPr>
          <a:xfrm>
            <a:off x="6895882" y="4910328"/>
            <a:ext cx="365107" cy="219456"/>
          </a:xfrm>
          <a:prstGeom prst="rect">
            <a:avLst/>
          </a:prstGeom>
          <a:solidFill>
            <a:srgbClr val="8FC3CC"/>
          </a:solidFill>
          <a:ln/>
        </p:spPr>
      </p:sp>
      <p:sp>
        <p:nvSpPr>
          <p:cNvPr id="195" name="Text 193"/>
          <p:cNvSpPr txBox="1"/>
          <p:nvPr/>
        </p:nvSpPr>
        <p:spPr>
          <a:xfrm>
            <a:off x="6877594"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6" name="Text 194"/>
          <p:cNvSpPr txBox="1"/>
          <p:nvPr/>
        </p:nvSpPr>
        <p:spPr>
          <a:xfrm>
            <a:off x="6877594"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7" name="Shape 195"/>
          <p:cNvSpPr/>
          <p:nvPr/>
        </p:nvSpPr>
        <p:spPr>
          <a:xfrm>
            <a:off x="7297565" y="4910328"/>
            <a:ext cx="365107" cy="219456"/>
          </a:xfrm>
          <a:prstGeom prst="rect">
            <a:avLst/>
          </a:prstGeom>
          <a:solidFill>
            <a:srgbClr val="8FC3CC"/>
          </a:solidFill>
          <a:ln/>
        </p:spPr>
      </p:sp>
      <p:sp>
        <p:nvSpPr>
          <p:cNvPr id="198" name="Text 196"/>
          <p:cNvSpPr txBox="1"/>
          <p:nvPr/>
        </p:nvSpPr>
        <p:spPr>
          <a:xfrm>
            <a:off x="7279277"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9" name="Text 197"/>
          <p:cNvSpPr txBox="1"/>
          <p:nvPr/>
        </p:nvSpPr>
        <p:spPr>
          <a:xfrm>
            <a:off x="7279277"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200" name="Text 198"/>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 · Nicolas Ibrahim and Daniel Maddern each have two accounts, combined here; Daniel Maddern is new to the capture, so Jul–Sep are unavailable for him, not zero</a:t>
            </a:r>
            <a:endParaRPr lang="en-US" sz="600" dirty="0"/>
          </a:p>
        </p:txBody>
      </p:sp>
      <p:sp>
        <p:nvSpPr>
          <p:cNvPr id="201" name="Shape 199"/>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202" name="Text 200"/>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203" name="Text 201"/>
          <p:cNvSpPr txBox="1"/>
          <p:nvPr/>
        </p:nvSpPr>
        <p:spPr>
          <a:xfrm>
            <a:off x="8275320" y="2596896"/>
            <a:ext cx="1481328" cy="548640"/>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~1070</a:t>
            </a:r>
            <a:endParaRPr lang="en-US" sz="2600" dirty="0"/>
          </a:p>
        </p:txBody>
      </p:sp>
      <p:sp>
        <p:nvSpPr>
          <p:cNvPr id="204" name="Text 202"/>
          <p:cNvSpPr txBox="1"/>
          <p:nvPr/>
        </p:nvSpPr>
        <p:spPr>
          <a:xfrm>
            <a:off x="9811512" y="2624328"/>
            <a:ext cx="17830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~1012 baseline</a:t>
            </a:r>
            <a:endParaRPr lang="en-US" sz="750" dirty="0"/>
          </a:p>
        </p:txBody>
      </p:sp>
      <p:sp>
        <p:nvSpPr>
          <p:cNvPr id="205" name="Text 203"/>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6" name="Text 204"/>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+69</a:t>
            </a:r>
            <a:endParaRPr lang="en-US" sz="680" dirty="0"/>
          </a:p>
        </p:txBody>
      </p:sp>
      <p:sp>
        <p:nvSpPr>
          <p:cNvPr id="207" name="Text 205"/>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~765/wk</a:t>
            </a:r>
            <a:endParaRPr lang="en-US" sz="750" dirty="0"/>
          </a:p>
        </p:txBody>
      </p:sp>
      <p:sp>
        <p:nvSpPr>
          <p:cNvPr id="208" name="Text 206"/>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9" name="Text 207"/>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0" name="Text 208"/>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~163/wk</a:t>
            </a:r>
            <a:endParaRPr lang="en-US" sz="750" dirty="0"/>
          </a:p>
        </p:txBody>
      </p:sp>
      <p:sp>
        <p:nvSpPr>
          <p:cNvPr id="211" name="Text 209"/>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12" name="Text 210"/>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13" name="Text 211"/>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~23/wk</a:t>
            </a:r>
            <a:endParaRPr lang="en-US" sz="750" dirty="0"/>
          </a:p>
        </p:txBody>
      </p:sp>
      <p:sp>
        <p:nvSpPr>
          <p:cNvPr id="214" name="Text 212"/>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15" name="Text 213"/>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6" name="Text 214"/>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~22/wk</a:t>
            </a:r>
            <a:endParaRPr lang="en-US" sz="750" dirty="0"/>
          </a:p>
        </p:txBody>
      </p:sp>
      <p:sp>
        <p:nvSpPr>
          <p:cNvPr id="217" name="Text 215"/>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9" name="Text 217"/>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20" name="Text 218"/>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Harjeet Sammi</a:t>
            </a:r>
            <a:endParaRPr lang="en-US" sz="750" dirty="0"/>
          </a:p>
        </p:txBody>
      </p:sp>
      <p:sp>
        <p:nvSpPr>
          <p:cNvPr id="221" name="Text 219"/>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22" name="Text 220"/>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~13/wk</a:t>
            </a:r>
            <a:endParaRPr lang="en-US" sz="750" dirty="0"/>
          </a:p>
        </p:txBody>
      </p:sp>
      <p:sp>
        <p:nvSpPr>
          <p:cNvPr id="223" name="Text 221"/>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24" name="Text 222"/>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25" name="Text 223"/>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~11/wk</a:t>
            </a:r>
            <a:endParaRPr lang="en-US" sz="750" dirty="0"/>
          </a:p>
        </p:txBody>
      </p:sp>
      <p:sp>
        <p:nvSpPr>
          <p:cNvPr id="226" name="Text 224"/>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7" name="Text 225"/>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28" name="Text 226"/>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9" name="Text 227"/>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Rhys Woolcock</a:t>
            </a:r>
            <a:endParaRPr lang="en-US" sz="750" dirty="0"/>
          </a:p>
        </p:txBody>
      </p:sp>
      <p:sp>
        <p:nvSpPr>
          <p:cNvPr id="230" name="Text 228"/>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31" name="Text 229"/>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32" name="Text 230"/>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33" name="Text 231"/>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34" name="Text 232"/>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35" name="Text 233"/>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the 12 Oct capture</a:t>
            </a:r>
            <a:endParaRPr lang="en-US" sz="600" dirty="0"/>
          </a:p>
        </p:txBody>
      </p:sp>
      <p:sp>
        <p:nvSpPr>
          <p:cNvPr id="236" name="Shape 234"/>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7" name="Text 235"/>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8" name="Text 236"/>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40 of 51 active weekly, 14 daily — breadth and depth both back up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after last week's dip. Claude.ai stickiness recovered 7% → 17% DAU/MAU and Claude Code rose to 28%; Cowork eased 24% → 23% and Office Agents are still at nil. The code number is the headline: 329,436 lines in October to date against 111,689 a week ago, already above any full month this year. Nicolas Ibrahim is 170,962 of it — 52% — and Daniel Maddern enters at 43,288.</a:t>
            </a:r>
            <a:endParaRPr lang="en-US" sz="900" dirty="0"/>
          </a:p>
        </p:txBody>
      </p:sp>
      <p:sp>
        <p:nvSpPr>
          <p:cNvPr id="239" name="Shape 237"/>
          <p:cNvSpPr/>
          <p:nvPr/>
        </p:nvSpPr>
        <p:spPr>
          <a:xfrm>
            <a:off x="8332013" y="6510528"/>
            <a:ext cx="3445459" cy="256032"/>
          </a:xfrm>
          <a:prstGeom prst="roundRect">
            <a:avLst>
              <a:gd name="adj" fmla="val 46429"/>
            </a:avLst>
          </a:prstGeom>
          <a:solidFill>
            <a:srgbClr val="12293A"/>
          </a:solidFill>
          <a:ln/>
        </p:spPr>
      </p:sp>
      <p:sp>
        <p:nvSpPr>
          <p:cNvPr id="240" name="Text 238"/>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19 Oct)</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 on the data side; the deck now builds end-to-end from HubSpot plus the finance and tooling file drops. Hosting still to do.</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2026-10-19T05:51:47Z</dcterms:created>
  <dcterms:modified xsi:type="dcterms:W3CDTF">2026-10-19T05:51:47Z</dcterms:modified>
</cp:coreProperties>
</file>