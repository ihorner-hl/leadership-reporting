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2.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88952" cy="6858000"/>
  <p:notesSz cx="6858000" cy="12188952"/>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identified</c:v>
                </c:pt>
              </c:strCache>
            </c:strRef>
          </c:tx>
          <c:spPr>
            <a:solidFill>
              <a:srgbClr val="24435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0</c:v>
                </c:pt>
                <c:pt idx="1">
                  <c:v>0</c:v>
                </c:pt>
                <c:pt idx="2">
                  <c:v>0</c:v>
                </c:pt>
                <c:pt idx="3">
                  <c:v>0</c:v>
                </c:pt>
                <c:pt idx="4">
                  <c:v>0</c:v>
                </c:pt>
                <c:pt idx="5">
                  <c:v>0</c:v>
                </c:pt>
                <c:pt idx="6">
                  <c:v>0</c:v>
                </c:pt>
                <c:pt idx="7">
                  <c:v>23</c:v>
                </c:pt>
                <c:pt idx="8">
                  <c:v>9</c:v>
                </c:pt>
              </c:numCache>
            </c:numRef>
          </c:val>
        </c:ser>
        <c:ser>
          <c:idx val="1"/>
          <c:order val="1"/>
          <c:tx>
            <c:strRef>
              <c:f>Sheet1!$C$1</c:f>
              <c:strCache>
                <c:ptCount val="1"/>
                <c:pt idx="0">
                  <c:v>referred</c:v>
                </c:pt>
              </c:strCache>
            </c:strRef>
          </c:tx>
          <c:spPr>
            <a:solidFill>
              <a:srgbClr val="2C8394"/>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3</c:v>
                </c:pt>
                <c:pt idx="1">
                  <c:v>2</c:v>
                </c:pt>
                <c:pt idx="2">
                  <c:v>4</c:v>
                </c:pt>
                <c:pt idx="3">
                  <c:v>3</c:v>
                </c:pt>
                <c:pt idx="4">
                  <c:v>2</c:v>
                </c:pt>
                <c:pt idx="5">
                  <c:v>6</c:v>
                </c:pt>
                <c:pt idx="6">
                  <c:v>2</c:v>
                </c:pt>
                <c:pt idx="7">
                  <c:v>5</c:v>
                </c:pt>
                <c:pt idx="8">
                  <c:v>0</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45"/>
        <c:overlap val="-10"/>
        <c:axId val="2094734554"/>
        <c:axId val="2094734552"/>
        <c:axId val="2094734556"/>
      </c:barChart>
      <c:lineChart>
        <c:varyColors val="0"/>
        <c:ser>
          <c:idx val="2"/>
          <c:order val="2"/>
          <c:tx>
            <c:strRef>
              <c:f>Sheet1!$D$1</c:f>
              <c:strCache>
                <c:ptCount val="1"/>
                <c:pt idx="0">
                  <c:v>cumulative referred</c:v>
                </c:pt>
              </c:strCache>
            </c:strRef>
          </c:tx>
          <c:spPr>
            <a:solidFill>
              <a:srgbClr val="C88A2E"/>
            </a:solidFill>
            <a:ln w="25400" cap="flat">
              <a:solidFill>
                <a:srgbClr val="C88A2E"/>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C88A2E"/>
              </a:solidFill>
              <a:ln w="9525" cap="flat">
                <a:solidFill>
                  <a:srgbClr val="C88A2E"/>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Sheet1!$D$2:$D$10</c:f>
              <c:numCache>
                <c:formatCode>General</c:formatCode>
                <c:ptCount val="9"/>
                <c:pt idx="0">
                  <c:v>3</c:v>
                </c:pt>
                <c:pt idx="1">
                  <c:v>5</c:v>
                </c:pt>
                <c:pt idx="2">
                  <c:v>9</c:v>
                </c:pt>
                <c:pt idx="3">
                  <c:v>12</c:v>
                </c:pt>
                <c:pt idx="4">
                  <c:v>14</c:v>
                </c:pt>
                <c:pt idx="5">
                  <c:v>20</c:v>
                </c:pt>
                <c:pt idx="6">
                  <c:v>22</c:v>
                </c:pt>
                <c:pt idx="7">
                  <c:v>27</c:v>
                </c:pt>
                <c:pt idx="8">
                  <c:v>27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700" b="0" i="0" u="none" strike="noStrike">
                <a:solidFill>
                  <a:srgbClr val="12293A"/>
                </a:solidFill>
                <a:latin typeface="Poppins"/>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A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600" b="0" i="0" u="none" strike="noStrike">
                <a:solidFill>
                  <a:srgbClr val="8FA1AC"/>
                </a:solidFill>
                <a:latin typeface="Poppins"/>
              </a:defRPr>
            </a:pPr>
            <a:endParaRPr lang="en-US"/>
          </a:p>
        </c:txPr>
        <c:crossAx val="2094734554"/>
        <c:crosses val="autoZero"/>
        <c:crossBetween val="between"/>
      </c:valAx>
      <c:spPr>
        <a:noFill/>
        <a:ln>
          <a:noFill/>
        </a:ln>
        <a:effectLst/>
      </c:spPr>
    </c:plotArea>
    <c:legend>
      <c:legendPos val="t"/>
      <c:overlay val="0"/>
      <c:txPr>
        <a:bodyPr/>
        <a:lstStyle/>
        <a:p>
          <a:pPr>
            <a:defRPr sz="650">
              <a:solidFill>
                <a:srgbClr val="5E7280"/>
              </a:solidFill>
              <a:latin typeface="Poppins"/>
              <a:cs typeface="Poppins"/>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Won (HubSpot)</c:v>
                </c:pt>
              </c:strCache>
            </c:strRef>
          </c:tx>
          <c:spPr>
            <a:solidFill>
              <a:srgbClr val="2C8394"/>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Sheet1!$A$2:$A$11</c:f>
              <c:multiLvlStrCache>
                <c:ptCount val="10"/>
                <c:lvl>
                  <c:pt idx="0">
                    <c:v>Jan</c:v>
                  </c:pt>
                  <c:pt idx="1">
                    <c:v>Feb</c:v>
                  </c:pt>
                  <c:pt idx="2">
                    <c:v>Mar</c:v>
                  </c:pt>
                  <c:pt idx="3">
                    <c:v>Apr</c:v>
                  </c:pt>
                  <c:pt idx="4">
                    <c:v>May</c:v>
                  </c:pt>
                  <c:pt idx="5">
                    <c:v>Jun</c:v>
                  </c:pt>
                  <c:pt idx="6">
                    <c:v>Jul</c:v>
                  </c:pt>
                  <c:pt idx="7">
                    <c:v>Aug</c:v>
                  </c:pt>
                  <c:pt idx="8">
                    <c:v>Sep</c:v>
                  </c:pt>
                  <c:pt idx="9">
                    <c:v>Oct</c:v>
                  </c:pt>
                </c:lvl>
              </c:multiLvlStrCache>
            </c:multiLvlStrRef>
          </c:cat>
          <c:val>
            <c:numRef>
              <c:f>Sheet1!$B$2:$B$11</c:f>
              <c:numCache>
                <c:formatCode>General</c:formatCode>
                <c:ptCount val="10"/>
                <c:pt idx="0">
                  <c:v>4077</c:v>
                </c:pt>
                <c:pt idx="1">
                  <c:v>7481</c:v>
                </c:pt>
                <c:pt idx="2">
                  <c:v>16726</c:v>
                </c:pt>
                <c:pt idx="3">
                  <c:v>3839</c:v>
                </c:pt>
                <c:pt idx="4">
                  <c:v>2327</c:v>
                </c:pt>
                <c:pt idx="5">
                  <c:v>17288</c:v>
                </c:pt>
                <c:pt idx="6">
                  <c:v>969</c:v>
                </c:pt>
                <c:pt idx="7">
                  <c:v>2685</c:v>
                </c:pt>
                <c:pt idx="8">
                  <c:v>10950</c:v>
                </c:pt>
                <c:pt idx="9">
                  <c:v>5021</c:v>
                </c:pt>
              </c:numCache>
            </c:numRef>
          </c:val>
        </c:ser>
        <c:ser>
          <c:idx val="1"/>
          <c:order val="1"/>
          <c:tx>
            <c:strRef>
              <c:f>Sheet1!$C$1</c:f>
              <c:strCache>
                <c:ptCount val="1"/>
                <c:pt idx="0">
                  <c:v>Invoiced (register)</c:v>
                </c:pt>
              </c:strCache>
            </c:strRef>
          </c:tx>
          <c:spPr>
            <a:solidFill>
              <a:srgbClr val="3D8F5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Sheet1!$A$2:$A$11</c:f>
              <c:multiLvlStrCache>
                <c:ptCount val="10"/>
                <c:lvl>
                  <c:pt idx="0">
                    <c:v>Jan</c:v>
                  </c:pt>
                  <c:pt idx="1">
                    <c:v>Feb</c:v>
                  </c:pt>
                  <c:pt idx="2">
                    <c:v>Mar</c:v>
                  </c:pt>
                  <c:pt idx="3">
                    <c:v>Apr</c:v>
                  </c:pt>
                  <c:pt idx="4">
                    <c:v>May</c:v>
                  </c:pt>
                  <c:pt idx="5">
                    <c:v>Jun</c:v>
                  </c:pt>
                  <c:pt idx="6">
                    <c:v>Jul</c:v>
                  </c:pt>
                  <c:pt idx="7">
                    <c:v>Aug</c:v>
                  </c:pt>
                  <c:pt idx="8">
                    <c:v>Sep</c:v>
                  </c:pt>
                  <c:pt idx="9">
                    <c:v>Oct</c:v>
                  </c:pt>
                </c:lvl>
              </c:multiLvlStrCache>
            </c:multiLvlStrRef>
          </c:cat>
          <c:val>
            <c:numRef>
              <c:f>Sheet1!$C$2:$C$11</c:f>
              <c:numCache>
                <c:formatCode>General</c:formatCode>
                <c:ptCount val="10"/>
                <c:pt idx="0">
                  <c:v>2829</c:v>
                </c:pt>
                <c:pt idx="1">
                  <c:v>5205</c:v>
                </c:pt>
                <c:pt idx="2">
                  <c:v>5883</c:v>
                </c:pt>
                <c:pt idx="3">
                  <c:v>3463</c:v>
                </c:pt>
                <c:pt idx="4">
                  <c:v>5482</c:v>
                </c:pt>
                <c:pt idx="5">
                  <c:v>7087</c:v>
                </c:pt>
                <c:pt idx="6">
                  <c:v>4860</c:v>
                </c:pt>
                <c:pt idx="7">
                  <c:v>3700</c:v>
                </c:pt>
                <c:pt idx="8">
                  <c:v>6853</c:v>
                </c:pt>
                <c:pt idx="9">
                  <c:v>3817</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45"/>
        <c:overlap val="-1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12293A"/>
                </a:solidFill>
                <a:latin typeface="Poppins"/>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A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650" b="0" i="0" u="none" strike="noStrike">
                <a:solidFill>
                  <a:srgbClr val="8FA1AC"/>
                </a:solidFill>
                <a:latin typeface="Poppins"/>
              </a:defRPr>
            </a:pPr>
            <a:endParaRPr lang="en-US"/>
          </a:p>
        </c:txPr>
        <c:crossAx val="2094734554"/>
        <c:crosses val="autoZero"/>
        <c:crossBetween val="between"/>
      </c:valAx>
      <c:spPr>
        <a:noFill/>
        <a:ln>
          <a:noFill/>
        </a:ln>
        <a:effectLst/>
      </c:spPr>
    </c:plotArea>
    <c:legend>
      <c:legendPos val="t"/>
      <c:overlay val="0"/>
      <c:txPr>
        <a:bodyPr/>
        <a:lstStyle/>
        <a:p>
          <a:pPr>
            <a:defRPr sz="750">
              <a:solidFill>
                <a:srgbClr val="5E7280"/>
              </a:solidFill>
              <a:latin typeface="Poppins"/>
              <a:cs typeface="Poppins"/>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weekly deck produced after the Creatio → HubSpot migration (live 8 Sep 2026). Slide 3 carries the cutover register; per-slide source pills carry the provenance.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293A"/>
        </a:solidFill>
      </p:bgPr>
    </p:bg>
    <p:spTree>
      <p:nvGrpSpPr>
        <p:cNvPr id="1" name=""/>
        <p:cNvGrpSpPr/>
        <p:nvPr/>
      </p:nvGrpSpPr>
      <p:grpSpPr>
        <a:xfrm>
          <a:off x="0" y="0"/>
          <a:ext cx="0" cy="0"/>
          <a:chOff x="0" y="0"/>
          <a:chExt cx="0" cy="0"/>
        </a:xfrm>
      </p:grpSpPr>
      <p:sp>
        <p:nvSpPr>
          <p:cNvPr id="2" name="Shape 0"/>
          <p:cNvSpPr/>
          <p:nvPr/>
        </p:nvSpPr>
        <p:spPr>
          <a:xfrm>
            <a:off x="9709099" y="-1263701"/>
            <a:ext cx="3533242" cy="3533242"/>
          </a:xfrm>
          <a:prstGeom prst="ellipse">
            <a:avLst/>
          </a:prstGeom>
          <a:solidFill>
            <a:srgbClr val="1C5765"/>
          </a:solidFill>
          <a:ln/>
        </p:spPr>
      </p:sp>
      <p:sp>
        <p:nvSpPr>
          <p:cNvPr id="3" name="Shape 1"/>
          <p:cNvSpPr/>
          <p:nvPr/>
        </p:nvSpPr>
        <p:spPr>
          <a:xfrm>
            <a:off x="10112350" y="-860450"/>
            <a:ext cx="2726741" cy="2726741"/>
          </a:xfrm>
          <a:prstGeom prst="ellipse">
            <a:avLst/>
          </a:prstGeom>
          <a:solidFill>
            <a:srgbClr val="2C8394"/>
          </a:solidFill>
          <a:ln/>
        </p:spPr>
      </p:sp>
      <p:sp>
        <p:nvSpPr>
          <p:cNvPr id="4" name="Shape 2"/>
          <p:cNvSpPr/>
          <p:nvPr/>
        </p:nvSpPr>
        <p:spPr>
          <a:xfrm>
            <a:off x="10515600" y="-457200"/>
            <a:ext cx="1920240" cy="1920240"/>
          </a:xfrm>
          <a:prstGeom prst="ellipse">
            <a:avLst/>
          </a:prstGeom>
          <a:solidFill>
            <a:srgbClr val="6FAEBB"/>
          </a:solidFill>
          <a:ln/>
        </p:spPr>
      </p:sp>
      <p:sp>
        <p:nvSpPr>
          <p:cNvPr id="5" name="Shape 3"/>
          <p:cNvSpPr/>
          <p:nvPr/>
        </p:nvSpPr>
        <p:spPr>
          <a:xfrm>
            <a:off x="10918850" y="-53950"/>
            <a:ext cx="1113739" cy="1113739"/>
          </a:xfrm>
          <a:prstGeom prst="ellipse">
            <a:avLst/>
          </a:prstGeom>
          <a:solidFill>
            <a:srgbClr val="E4F1F4"/>
          </a:solidFill>
          <a:ln/>
        </p:spPr>
      </p:sp>
      <p:sp>
        <p:nvSpPr>
          <p:cNvPr id="6" name="Shape 4"/>
          <p:cNvSpPr/>
          <p:nvPr/>
        </p:nvSpPr>
        <p:spPr>
          <a:xfrm>
            <a:off x="868680" y="777240"/>
            <a:ext cx="1051560" cy="1051560"/>
          </a:xfrm>
          <a:prstGeom prst="roundRect">
            <a:avLst>
              <a:gd name="adj" fmla="val 13913"/>
            </a:avLst>
          </a:prstGeom>
          <a:solidFill>
            <a:srgbClr val="FFFFFF"/>
          </a:solidFill>
          <a:ln/>
          <a:effectLst>
            <a:outerShdw sx="100000" sy="100000" kx="0" ky="0" algn="bl" rotWithShape="0" blurRad="76200" dist="25400" dir="5400000">
              <a:srgbClr val="9AAAB5">
                <a:alpha val="35000"/>
              </a:srgbClr>
            </a:outerShdw>
          </a:effectLst>
        </p:spPr>
      </p:sp>
      <p:sp>
        <p:nvSpPr>
          <p:cNvPr id="7" name="Text 5"/>
          <p:cNvSpPr txBox="1"/>
          <p:nvPr/>
        </p:nvSpPr>
        <p:spPr>
          <a:xfrm>
            <a:off x="868680" y="777240"/>
            <a:ext cx="1051560" cy="1051560"/>
          </a:xfrm>
          <a:prstGeom prst="rect">
            <a:avLst/>
          </a:prstGeom>
          <a:noFill/>
          <a:ln/>
        </p:spPr>
        <p:txBody>
          <a:bodyPr wrap="square" lIns="0" tIns="0" rIns="0" bIns="0" rtlCol="0" anchor="ctr"/>
          <a:lstStyle/>
          <a:p>
            <a:pPr algn="ctr" indent="0" marL="0">
              <a:buNone/>
            </a:pPr>
            <a:r>
              <a:rPr lang="en-US" sz="2400" b="1" dirty="0">
                <a:solidFill>
                  <a:srgbClr val="12293A"/>
                </a:solidFill>
                <a:latin typeface="Poppins" pitchFamily="34" charset="0"/>
                <a:ea typeface="Poppins" pitchFamily="34" charset="-122"/>
                <a:cs typeface="Poppins" pitchFamily="34" charset="-120"/>
              </a:rPr>
              <a:t>H&amp;L</a:t>
            </a:r>
            <a:endParaRPr lang="en-US" sz="2400" dirty="0"/>
          </a:p>
        </p:txBody>
      </p:sp>
      <p:sp>
        <p:nvSpPr>
          <p:cNvPr id="8" name="Text 6"/>
          <p:cNvSpPr txBox="1"/>
          <p:nvPr/>
        </p:nvSpPr>
        <p:spPr>
          <a:xfrm>
            <a:off x="868680" y="2743200"/>
            <a:ext cx="10424160" cy="1051560"/>
          </a:xfrm>
          <a:prstGeom prst="rect">
            <a:avLst/>
          </a:prstGeom>
          <a:noFill/>
          <a:ln/>
        </p:spPr>
        <p:txBody>
          <a:bodyPr wrap="square" lIns="0" tIns="0" rIns="0" bIns="0" rtlCol="0" anchor="ctr"/>
          <a:lstStyle/>
          <a:p>
            <a:pPr indent="0" marL="0">
              <a:buNone/>
            </a:pPr>
            <a:r>
              <a:rPr lang="en-US" sz="5400" b="1" dirty="0">
                <a:solidFill>
                  <a:srgbClr val="FFFFFF"/>
                </a:solidFill>
                <a:latin typeface="Poppins" pitchFamily="34" charset="0"/>
                <a:ea typeface="Poppins" pitchFamily="34" charset="-122"/>
                <a:cs typeface="Poppins" pitchFamily="34" charset="-120"/>
              </a:rPr>
              <a:t>H&amp;L Weekly Update</a:t>
            </a:r>
            <a:endParaRPr lang="en-US" sz="5400" dirty="0"/>
          </a:p>
        </p:txBody>
      </p:sp>
      <p:sp>
        <p:nvSpPr>
          <p:cNvPr id="9" name="Text 7"/>
          <p:cNvSpPr txBox="1"/>
          <p:nvPr/>
        </p:nvSpPr>
        <p:spPr>
          <a:xfrm>
            <a:off x="896112" y="3977640"/>
            <a:ext cx="8229600" cy="411480"/>
          </a:xfrm>
          <a:prstGeom prst="rect">
            <a:avLst/>
          </a:prstGeom>
          <a:noFill/>
          <a:ln/>
        </p:spPr>
        <p:txBody>
          <a:bodyPr wrap="square" lIns="0" tIns="0" rIns="0" bIns="0" rtlCol="0" anchor="ctr"/>
          <a:lstStyle/>
          <a:p>
            <a:pPr indent="0" marL="0">
              <a:buNone/>
            </a:pPr>
            <a:r>
              <a:rPr lang="en-US" sz="1800" b="1" dirty="0">
                <a:solidFill>
                  <a:srgbClr val="FFFFFF"/>
                </a:solidFill>
                <a:latin typeface="Poppins" pitchFamily="34" charset="0"/>
                <a:ea typeface="Poppins" pitchFamily="34" charset="-122"/>
                <a:cs typeface="Poppins" pitchFamily="34" charset="-120"/>
              </a:rPr>
              <a:t>Week commencing 12 October 2026</a:t>
            </a:r>
            <a:endParaRPr lang="en-US" sz="1800" dirty="0"/>
          </a:p>
        </p:txBody>
      </p:sp>
      <p:sp>
        <p:nvSpPr>
          <p:cNvPr id="10" name="Text 8"/>
          <p:cNvSpPr txBox="1"/>
          <p:nvPr/>
        </p:nvSpPr>
        <p:spPr>
          <a:xfrm>
            <a:off x="896112" y="4434840"/>
            <a:ext cx="8229600" cy="320040"/>
          </a:xfrm>
          <a:prstGeom prst="rect">
            <a:avLst/>
          </a:prstGeom>
          <a:noFill/>
          <a:ln/>
        </p:spPr>
        <p:txBody>
          <a:bodyPr wrap="square" lIns="0" tIns="0" rIns="0" bIns="0" rtlCol="0" anchor="ctr"/>
          <a:lstStyle/>
          <a:p>
            <a:pPr indent="0" marL="0">
              <a:buNone/>
            </a:pPr>
            <a:r>
              <a:rPr lang="en-US" sz="1100" dirty="0">
                <a:solidFill>
                  <a:srgbClr val="6FAEBB"/>
                </a:solidFill>
                <a:latin typeface="Poppins" pitchFamily="34" charset="0"/>
                <a:ea typeface="Poppins" pitchFamily="34" charset="-122"/>
                <a:cs typeface="Poppins" pitchFamily="34" charset="-120"/>
              </a:rPr>
              <a:t>Generated: 19 Oct 2026</a:t>
            </a:r>
            <a:endParaRPr lang="en-US" sz="1100" dirty="0"/>
          </a:p>
        </p:txBody>
      </p:sp>
      <p:sp>
        <p:nvSpPr>
          <p:cNvPr id="11" name="Shape 9"/>
          <p:cNvSpPr/>
          <p:nvPr/>
        </p:nvSpPr>
        <p:spPr>
          <a:xfrm>
            <a:off x="896112" y="5029200"/>
            <a:ext cx="4572000" cy="402336"/>
          </a:xfrm>
          <a:prstGeom prst="roundRect">
            <a:avLst>
              <a:gd name="adj" fmla="val 50000"/>
            </a:avLst>
          </a:prstGeom>
          <a:solidFill>
            <a:srgbClr val="B4552D"/>
          </a:solidFill>
          <a:ln/>
        </p:spPr>
      </p:sp>
      <p:sp>
        <p:nvSpPr>
          <p:cNvPr id="12" name="Text 10"/>
          <p:cNvSpPr txBox="1"/>
          <p:nvPr/>
        </p:nvSpPr>
        <p:spPr>
          <a:xfrm>
            <a:off x="896112" y="5029200"/>
            <a:ext cx="4572000" cy="402336"/>
          </a:xfrm>
          <a:prstGeom prst="rect">
            <a:avLst/>
          </a:prstGeom>
          <a:noFill/>
          <a:ln/>
        </p:spPr>
        <p:txBody>
          <a:bodyPr wrap="square" lIns="0" tIns="0" rIns="0" bIns="0" rtlCol="0" anchor="ctr"/>
          <a:lstStyle/>
          <a:p>
            <a:pPr algn="ctr" indent="0" marL="0">
              <a:buNone/>
            </a:pPr>
            <a:r>
              <a:rPr lang="en-US" sz="900" b="1" dirty="0">
                <a:solidFill>
                  <a:srgbClr val="FFFFFF"/>
                </a:solidFill>
                <a:latin typeface="Poppins" pitchFamily="34" charset="0"/>
                <a:ea typeface="Poppins" pitchFamily="34" charset="-122"/>
                <a:cs typeface="Poppins" pitchFamily="34" charset="-120"/>
              </a:rPr>
              <a:t>Q4 — TARGETS CARRIED FORWARD</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2F6F8"/>
        </a:solidFill>
      </p:bgPr>
    </p:bg>
    <p:spTree>
      <p:nvGrpSpPr>
        <p:cNvPr id="1" name=""/>
        <p:cNvGrpSpPr/>
        <p:nvPr/>
      </p:nvGrpSpPr>
      <p:grpSpPr>
        <a:xfrm>
          <a:off x="0" y="0"/>
          <a:ext cx="0" cy="0"/>
          <a:chOff x="0" y="0"/>
          <a:chExt cx="0" cy="0"/>
        </a:xfrm>
      </p:grpSpPr>
      <p:sp>
        <p:nvSpPr>
          <p:cNvPr id="2" name="Shape 0"/>
          <p:cNvSpPr/>
          <p:nvPr/>
        </p:nvSpPr>
        <p:spPr>
          <a:xfrm>
            <a:off x="0" y="0"/>
            <a:ext cx="12188952" cy="841248"/>
          </a:xfrm>
          <a:prstGeom prst="rect">
            <a:avLst/>
          </a:prstGeom>
          <a:solidFill>
            <a:srgbClr val="12293A"/>
          </a:solidFill>
          <a:ln/>
        </p:spPr>
      </p:sp>
      <p:sp>
        <p:nvSpPr>
          <p:cNvPr id="3" name="Shape 1"/>
          <p:cNvSpPr/>
          <p:nvPr/>
        </p:nvSpPr>
        <p:spPr>
          <a:xfrm>
            <a:off x="384048" y="155448"/>
            <a:ext cx="731520" cy="530352"/>
          </a:xfrm>
          <a:prstGeom prst="roundRect">
            <a:avLst>
              <a:gd name="adj" fmla="val 15517"/>
            </a:avLst>
          </a:prstGeom>
          <a:solidFill>
            <a:srgbClr val="FFFFFF"/>
          </a:solidFill>
          <a:ln/>
        </p:spPr>
      </p:sp>
      <p:sp>
        <p:nvSpPr>
          <p:cNvPr id="4" name="Text 2"/>
          <p:cNvSpPr txBox="1"/>
          <p:nvPr/>
        </p:nvSpPr>
        <p:spPr>
          <a:xfrm>
            <a:off x="384048" y="155448"/>
            <a:ext cx="731520" cy="530352"/>
          </a:xfrm>
          <a:prstGeom prst="rect">
            <a:avLst/>
          </a:prstGeom>
          <a:noFill/>
          <a:ln/>
        </p:spPr>
        <p:txBody>
          <a:bodyPr wrap="square" lIns="0" tIns="0" rIns="0" bIns="0" rtlCol="0" anchor="ctr"/>
          <a:lstStyle/>
          <a:p>
            <a:pPr algn="ctr" indent="0" marL="0">
              <a:buNone/>
            </a:pPr>
            <a:r>
              <a:rPr lang="en-US" sz="1500" b="1" dirty="0">
                <a:solidFill>
                  <a:srgbClr val="12293A"/>
                </a:solidFill>
                <a:latin typeface="Poppins" pitchFamily="34" charset="0"/>
                <a:ea typeface="Poppins" pitchFamily="34" charset="-122"/>
                <a:cs typeface="Poppins" pitchFamily="34" charset="-120"/>
              </a:rPr>
              <a:t>H&amp;L</a:t>
            </a:r>
            <a:endParaRPr lang="en-US" sz="1500" dirty="0"/>
          </a:p>
        </p:txBody>
      </p:sp>
      <p:sp>
        <p:nvSpPr>
          <p:cNvPr id="5" name="Text 3"/>
          <p:cNvSpPr txBox="1"/>
          <p:nvPr/>
        </p:nvSpPr>
        <p:spPr>
          <a:xfrm>
            <a:off x="1298448" y="54864"/>
            <a:ext cx="7223760" cy="475488"/>
          </a:xfrm>
          <a:prstGeom prst="rect">
            <a:avLst/>
          </a:prstGeom>
          <a:noFill/>
          <a:ln/>
        </p:spPr>
        <p:txBody>
          <a:bodyPr wrap="square" lIns="0" tIns="0" rIns="0" bIns="0" rtlCol="0" anchor="ctr"/>
          <a:lstStyle/>
          <a:p>
            <a:pPr indent="0" marL="0">
              <a:buNone/>
            </a:pPr>
            <a:r>
              <a:rPr lang="en-US" sz="2300" b="1" dirty="0">
                <a:solidFill>
                  <a:srgbClr val="FFFFFF"/>
                </a:solidFill>
                <a:latin typeface="Poppins" pitchFamily="34" charset="0"/>
                <a:ea typeface="Poppins" pitchFamily="34" charset="-122"/>
                <a:cs typeface="Poppins" pitchFamily="34" charset="-120"/>
              </a:rPr>
              <a:t>Agenda</a:t>
            </a:r>
            <a:endParaRPr lang="en-US" sz="2300" dirty="0"/>
          </a:p>
        </p:txBody>
      </p:sp>
      <p:sp>
        <p:nvSpPr>
          <p:cNvPr id="6" name="Shape 4"/>
          <p:cNvSpPr/>
          <p:nvPr/>
        </p:nvSpPr>
        <p:spPr>
          <a:xfrm>
            <a:off x="10872216" y="0"/>
            <a:ext cx="841248" cy="841248"/>
          </a:xfrm>
          <a:prstGeom prst="ellipse">
            <a:avLst/>
          </a:prstGeom>
          <a:solidFill>
            <a:srgbClr val="1C5765"/>
          </a:solidFill>
          <a:ln/>
        </p:spPr>
      </p:sp>
      <p:sp>
        <p:nvSpPr>
          <p:cNvPr id="7" name="Shape 5"/>
          <p:cNvSpPr/>
          <p:nvPr/>
        </p:nvSpPr>
        <p:spPr>
          <a:xfrm>
            <a:off x="10968228" y="96012"/>
            <a:ext cx="649224" cy="649224"/>
          </a:xfrm>
          <a:prstGeom prst="ellipse">
            <a:avLst/>
          </a:prstGeom>
          <a:solidFill>
            <a:srgbClr val="2C8394"/>
          </a:solidFill>
          <a:ln/>
        </p:spPr>
      </p:sp>
      <p:sp>
        <p:nvSpPr>
          <p:cNvPr id="8" name="Shape 6"/>
          <p:cNvSpPr/>
          <p:nvPr/>
        </p:nvSpPr>
        <p:spPr>
          <a:xfrm>
            <a:off x="11064240" y="192024"/>
            <a:ext cx="457200" cy="457200"/>
          </a:xfrm>
          <a:prstGeom prst="ellipse">
            <a:avLst/>
          </a:prstGeom>
          <a:solidFill>
            <a:srgbClr val="6FAEBB"/>
          </a:solidFill>
          <a:ln/>
        </p:spPr>
      </p:sp>
      <p:sp>
        <p:nvSpPr>
          <p:cNvPr id="9" name="Shape 7"/>
          <p:cNvSpPr/>
          <p:nvPr/>
        </p:nvSpPr>
        <p:spPr>
          <a:xfrm>
            <a:off x="11160252" y="288036"/>
            <a:ext cx="265176" cy="265176"/>
          </a:xfrm>
          <a:prstGeom prst="ellipse">
            <a:avLst/>
          </a:prstGeom>
          <a:solidFill>
            <a:srgbClr val="E4F1F4"/>
          </a:solidFill>
          <a:ln/>
        </p:spPr>
      </p:sp>
      <p:sp>
        <p:nvSpPr>
          <p:cNvPr id="10" name="Shape 8"/>
          <p:cNvSpPr/>
          <p:nvPr/>
        </p:nvSpPr>
        <p:spPr>
          <a:xfrm>
            <a:off x="411480" y="1371600"/>
            <a:ext cx="2670048" cy="82296"/>
          </a:xfrm>
          <a:prstGeom prst="rect">
            <a:avLst/>
          </a:prstGeom>
          <a:solidFill>
            <a:srgbClr val="2C8394"/>
          </a:solidFill>
          <a:ln/>
        </p:spPr>
      </p:sp>
      <p:sp>
        <p:nvSpPr>
          <p:cNvPr id="11" name="Shape 9"/>
          <p:cNvSpPr/>
          <p:nvPr/>
        </p:nvSpPr>
        <p:spPr>
          <a:xfrm>
            <a:off x="411480" y="1453896"/>
            <a:ext cx="2670048" cy="4398264"/>
          </a:xfrm>
          <a:prstGeom prst="roundRect">
            <a:avLst>
              <a:gd name="adj" fmla="val 2397"/>
            </a:avLst>
          </a:prstGeom>
          <a:solidFill>
            <a:srgbClr val="FFFFFF"/>
          </a:solidFill>
          <a:ln/>
          <a:effectLst>
            <a:outerShdw sx="100000" sy="100000" kx="0" ky="0" algn="bl" rotWithShape="0" blurRad="76200" dist="25400" dir="5400000">
              <a:srgbClr val="9AAAB5">
                <a:alpha val="35000"/>
              </a:srgbClr>
            </a:outerShdw>
          </a:effectLst>
        </p:spPr>
      </p:sp>
      <p:sp>
        <p:nvSpPr>
          <p:cNvPr id="12" name="Shape 10"/>
          <p:cNvSpPr/>
          <p:nvPr/>
        </p:nvSpPr>
        <p:spPr>
          <a:xfrm>
            <a:off x="1435608" y="1874520"/>
            <a:ext cx="621792" cy="621792"/>
          </a:xfrm>
          <a:prstGeom prst="ellipse">
            <a:avLst/>
          </a:prstGeom>
          <a:solidFill>
            <a:srgbClr val="2C8394"/>
          </a:solidFill>
          <a:ln/>
          <a:effectLst>
            <a:outerShdw sx="100000" sy="100000" kx="0" ky="0" algn="bl" rotWithShape="0" blurRad="76200" dist="25400" dir="5400000">
              <a:srgbClr val="9AAAB5">
                <a:alpha val="35000"/>
              </a:srgbClr>
            </a:outerShdw>
          </a:effectLst>
        </p:spPr>
      </p:sp>
      <p:sp>
        <p:nvSpPr>
          <p:cNvPr id="13" name="Text 11"/>
          <p:cNvSpPr txBox="1"/>
          <p:nvPr/>
        </p:nvSpPr>
        <p:spPr>
          <a:xfrm>
            <a:off x="1435608" y="1874520"/>
            <a:ext cx="621792" cy="621792"/>
          </a:xfrm>
          <a:prstGeom prst="rect">
            <a:avLst/>
          </a:prstGeom>
          <a:noFill/>
          <a:ln/>
        </p:spPr>
        <p:txBody>
          <a:bodyPr wrap="square" lIns="0" tIns="0" rIns="0" bIns="0" rtlCol="0" anchor="ctr"/>
          <a:lstStyle/>
          <a:p>
            <a:pPr algn="ctr" indent="0" marL="0">
              <a:buNone/>
            </a:pPr>
            <a:r>
              <a:rPr lang="en-US" sz="2200" b="1" dirty="0">
                <a:solidFill>
                  <a:srgbClr val="FFFFFF"/>
                </a:solidFill>
                <a:latin typeface="Poppins" pitchFamily="34" charset="0"/>
                <a:ea typeface="Poppins" pitchFamily="34" charset="-122"/>
                <a:cs typeface="Poppins" pitchFamily="34" charset="-120"/>
              </a:rPr>
              <a:t>1</a:t>
            </a:r>
            <a:endParaRPr lang="en-US" sz="2200" dirty="0"/>
          </a:p>
        </p:txBody>
      </p:sp>
      <p:sp>
        <p:nvSpPr>
          <p:cNvPr id="14" name="Text 12"/>
          <p:cNvSpPr txBox="1"/>
          <p:nvPr/>
        </p:nvSpPr>
        <p:spPr>
          <a:xfrm>
            <a:off x="502920" y="2651760"/>
            <a:ext cx="2487168" cy="320040"/>
          </a:xfrm>
          <a:prstGeom prst="rect">
            <a:avLst/>
          </a:prstGeom>
          <a:noFill/>
          <a:ln/>
        </p:spPr>
        <p:txBody>
          <a:bodyPr wrap="square" lIns="0" tIns="0" rIns="0" bIns="0" rtlCol="0" anchor="ctr"/>
          <a:lstStyle/>
          <a:p>
            <a:pPr algn="ctr" indent="0" marL="0">
              <a:buNone/>
            </a:pPr>
            <a:r>
              <a:rPr lang="en-US" sz="1350" b="1" dirty="0">
                <a:solidFill>
                  <a:srgbClr val="12293A"/>
                </a:solidFill>
                <a:latin typeface="Poppins" pitchFamily="34" charset="0"/>
                <a:ea typeface="Poppins" pitchFamily="34" charset="-122"/>
                <a:cs typeface="Poppins" pitchFamily="34" charset="-120"/>
              </a:rPr>
              <a:t>DID WE SELL?</a:t>
            </a:r>
            <a:endParaRPr lang="en-US" sz="1350" dirty="0"/>
          </a:p>
        </p:txBody>
      </p:sp>
      <p:sp>
        <p:nvSpPr>
          <p:cNvPr id="15" name="Text 13"/>
          <p:cNvSpPr txBox="1"/>
          <p:nvPr/>
        </p:nvSpPr>
        <p:spPr>
          <a:xfrm>
            <a:off x="502920" y="2971800"/>
            <a:ext cx="2487168" cy="274320"/>
          </a:xfrm>
          <a:prstGeom prst="rect">
            <a:avLst/>
          </a:prstGeom>
          <a:noFill/>
          <a:ln/>
        </p:spPr>
        <p:txBody>
          <a:bodyPr wrap="square" lIns="0" tIns="0" rIns="0" bIns="0" rtlCol="0" anchor="ctr"/>
          <a:lstStyle/>
          <a:p>
            <a:pPr algn="ctr" indent="0" marL="0">
              <a:buNone/>
            </a:pPr>
            <a:r>
              <a:rPr lang="en-US" sz="1000" b="1" dirty="0">
                <a:solidFill>
                  <a:srgbClr val="2C8394"/>
                </a:solidFill>
                <a:latin typeface="Poppins" pitchFamily="34" charset="0"/>
                <a:ea typeface="Poppins" pitchFamily="34" charset="-122"/>
                <a:cs typeface="Poppins" pitchFamily="34" charset="-120"/>
              </a:rPr>
              <a:t>Sales &amp; partner motion</a:t>
            </a:r>
            <a:endParaRPr lang="en-US" sz="1000" dirty="0"/>
          </a:p>
        </p:txBody>
      </p:sp>
      <p:sp>
        <p:nvSpPr>
          <p:cNvPr id="16" name="Shape 14"/>
          <p:cNvSpPr/>
          <p:nvPr/>
        </p:nvSpPr>
        <p:spPr>
          <a:xfrm>
            <a:off x="1426464" y="3310128"/>
            <a:ext cx="640080" cy="50292"/>
          </a:xfrm>
          <a:prstGeom prst="roundRect">
            <a:avLst>
              <a:gd name="adj" fmla="val 36364"/>
            </a:avLst>
          </a:prstGeom>
          <a:solidFill>
            <a:srgbClr val="E2EAEE"/>
          </a:solidFill>
          <a:ln/>
        </p:spPr>
      </p:sp>
      <p:sp>
        <p:nvSpPr>
          <p:cNvPr id="17" name="Text 15"/>
          <p:cNvSpPr txBox="1"/>
          <p:nvPr/>
        </p:nvSpPr>
        <p:spPr>
          <a:xfrm>
            <a:off x="612648" y="3520440"/>
            <a:ext cx="2267712" cy="2103120"/>
          </a:xfrm>
          <a:prstGeom prst="rect">
            <a:avLst/>
          </a:prstGeom>
          <a:noFill/>
          <a:ln/>
        </p:spPr>
        <p:txBody>
          <a:bodyPr wrap="square" lIns="0" tIns="0" rIns="0" bIns="0" rtlCol="0" anchor="t"/>
          <a:lstStyle/>
          <a:p>
            <a:pPr marL="342900" indent="-342900">
              <a:spcAft>
                <a:spcPts val="1000"/>
              </a:spcAft>
              <a:buSzPct val="100000"/>
              <a:buChar char="•"/>
            </a:pPr>
            <a:r>
              <a:rPr lang="en-US" sz="950" dirty="0">
                <a:solidFill>
                  <a:srgbClr val="3A4B57"/>
                </a:solidFill>
                <a:latin typeface="Poppins" pitchFamily="34" charset="0"/>
                <a:ea typeface="Poppins" pitchFamily="34" charset="-122"/>
                <a:cs typeface="Poppins" pitchFamily="34" charset="-120"/>
              </a:rPr>
              <a:t>Target vs Invoiced — sales team roll-up</a:t>
            </a:r>
            <a:endParaRPr lang="en-US" sz="950" dirty="0"/>
          </a:p>
          <a:p>
            <a:pPr marL="342900" indent="-342900">
              <a:spcAft>
                <a:spcPts val="1000"/>
              </a:spcAft>
              <a:buSzPct val="100000"/>
              <a:buChar char="•"/>
            </a:pPr>
            <a:r>
              <a:rPr lang="en-US" sz="950" dirty="0">
                <a:solidFill>
                  <a:srgbClr val="3A4B57"/>
                </a:solidFill>
                <a:latin typeface="Poppins" pitchFamily="34" charset="0"/>
                <a:ea typeface="Poppins" pitchFamily="34" charset="-122"/>
                <a:cs typeface="Poppins" pitchFamily="34" charset="-120"/>
              </a:rPr>
              <a:t>AI-Infused Products — pipeline &amp; conversion</a:t>
            </a:r>
            <a:endParaRPr lang="en-US" sz="950" dirty="0"/>
          </a:p>
          <a:p>
            <a:pPr marL="342900" indent="-342900">
              <a:spcAft>
                <a:spcPts val="1000"/>
              </a:spcAft>
              <a:buSzPct val="100000"/>
              <a:buChar char="•"/>
            </a:pPr>
            <a:r>
              <a:rPr lang="en-US" sz="950" dirty="0">
                <a:solidFill>
                  <a:srgbClr val="3A4B57"/>
                </a:solidFill>
                <a:latin typeface="Poppins" pitchFamily="34" charset="0"/>
                <a:ea typeface="Poppins" pitchFamily="34" charset="-122"/>
                <a:cs typeface="Poppins" pitchFamily="34" charset="-120"/>
              </a:rPr>
              <a:t>H&amp;L Pay — partner motion</a:t>
            </a:r>
            <a:endParaRPr lang="en-US" sz="950" dirty="0"/>
          </a:p>
        </p:txBody>
      </p:sp>
      <p:sp>
        <p:nvSpPr>
          <p:cNvPr id="18" name="Shape 16"/>
          <p:cNvSpPr/>
          <p:nvPr/>
        </p:nvSpPr>
        <p:spPr>
          <a:xfrm>
            <a:off x="3310128" y="1371600"/>
            <a:ext cx="2670048" cy="82296"/>
          </a:xfrm>
          <a:prstGeom prst="rect">
            <a:avLst/>
          </a:prstGeom>
          <a:solidFill>
            <a:srgbClr val="3D8F5F"/>
          </a:solidFill>
          <a:ln/>
        </p:spPr>
      </p:sp>
      <p:sp>
        <p:nvSpPr>
          <p:cNvPr id="19" name="Shape 17"/>
          <p:cNvSpPr/>
          <p:nvPr/>
        </p:nvSpPr>
        <p:spPr>
          <a:xfrm>
            <a:off x="3310128" y="1453896"/>
            <a:ext cx="2670048" cy="4398264"/>
          </a:xfrm>
          <a:prstGeom prst="roundRect">
            <a:avLst>
              <a:gd name="adj" fmla="val 2397"/>
            </a:avLst>
          </a:prstGeom>
          <a:solidFill>
            <a:srgbClr val="FFFFFF"/>
          </a:solidFill>
          <a:ln/>
          <a:effectLst>
            <a:outerShdw sx="100000" sy="100000" kx="0" ky="0" algn="bl" rotWithShape="0" blurRad="76200" dist="25400" dir="5400000">
              <a:srgbClr val="9AAAB5">
                <a:alpha val="35000"/>
              </a:srgbClr>
            </a:outerShdw>
          </a:effectLst>
        </p:spPr>
      </p:sp>
      <p:sp>
        <p:nvSpPr>
          <p:cNvPr id="20" name="Shape 18"/>
          <p:cNvSpPr/>
          <p:nvPr/>
        </p:nvSpPr>
        <p:spPr>
          <a:xfrm>
            <a:off x="4334256" y="1874520"/>
            <a:ext cx="621792" cy="621792"/>
          </a:xfrm>
          <a:prstGeom prst="ellipse">
            <a:avLst/>
          </a:prstGeom>
          <a:solidFill>
            <a:srgbClr val="3D8F5F"/>
          </a:solidFill>
          <a:ln/>
          <a:effectLst>
            <a:outerShdw sx="100000" sy="100000" kx="0" ky="0" algn="bl" rotWithShape="0" blurRad="76200" dist="25400" dir="5400000">
              <a:srgbClr val="9AAAB5">
                <a:alpha val="35000"/>
              </a:srgbClr>
            </a:outerShdw>
          </a:effectLst>
        </p:spPr>
      </p:sp>
      <p:sp>
        <p:nvSpPr>
          <p:cNvPr id="21" name="Text 19"/>
          <p:cNvSpPr txBox="1"/>
          <p:nvPr/>
        </p:nvSpPr>
        <p:spPr>
          <a:xfrm>
            <a:off x="4334256" y="1874520"/>
            <a:ext cx="621792" cy="621792"/>
          </a:xfrm>
          <a:prstGeom prst="rect">
            <a:avLst/>
          </a:prstGeom>
          <a:noFill/>
          <a:ln/>
        </p:spPr>
        <p:txBody>
          <a:bodyPr wrap="square" lIns="0" tIns="0" rIns="0" bIns="0" rtlCol="0" anchor="ctr"/>
          <a:lstStyle/>
          <a:p>
            <a:pPr algn="ctr" indent="0" marL="0">
              <a:buNone/>
            </a:pPr>
            <a:r>
              <a:rPr lang="en-US" sz="2200" b="1" dirty="0">
                <a:solidFill>
                  <a:srgbClr val="FFFFFF"/>
                </a:solidFill>
                <a:latin typeface="Poppins" pitchFamily="34" charset="0"/>
                <a:ea typeface="Poppins" pitchFamily="34" charset="-122"/>
                <a:cs typeface="Poppins" pitchFamily="34" charset="-120"/>
              </a:rPr>
              <a:t>2</a:t>
            </a:r>
            <a:endParaRPr lang="en-US" sz="2200" dirty="0"/>
          </a:p>
        </p:txBody>
      </p:sp>
      <p:sp>
        <p:nvSpPr>
          <p:cNvPr id="22" name="Text 20"/>
          <p:cNvSpPr txBox="1"/>
          <p:nvPr/>
        </p:nvSpPr>
        <p:spPr>
          <a:xfrm>
            <a:off x="3401568" y="2651760"/>
            <a:ext cx="2487168" cy="320040"/>
          </a:xfrm>
          <a:prstGeom prst="rect">
            <a:avLst/>
          </a:prstGeom>
          <a:noFill/>
          <a:ln/>
        </p:spPr>
        <p:txBody>
          <a:bodyPr wrap="square" lIns="0" tIns="0" rIns="0" bIns="0" rtlCol="0" anchor="ctr"/>
          <a:lstStyle/>
          <a:p>
            <a:pPr algn="ctr" indent="0" marL="0">
              <a:buNone/>
            </a:pPr>
            <a:r>
              <a:rPr lang="en-US" sz="1350" b="1" dirty="0">
                <a:solidFill>
                  <a:srgbClr val="12293A"/>
                </a:solidFill>
                <a:latin typeface="Poppins" pitchFamily="34" charset="0"/>
                <a:ea typeface="Poppins" pitchFamily="34" charset="-122"/>
                <a:cs typeface="Poppins" pitchFamily="34" charset="-120"/>
              </a:rPr>
              <a:t>DID WE DELIVER?</a:t>
            </a:r>
            <a:endParaRPr lang="en-US" sz="1350" dirty="0"/>
          </a:p>
        </p:txBody>
      </p:sp>
      <p:sp>
        <p:nvSpPr>
          <p:cNvPr id="23" name="Text 21"/>
          <p:cNvSpPr txBox="1"/>
          <p:nvPr/>
        </p:nvSpPr>
        <p:spPr>
          <a:xfrm>
            <a:off x="3401568" y="2971800"/>
            <a:ext cx="2487168" cy="274320"/>
          </a:xfrm>
          <a:prstGeom prst="rect">
            <a:avLst/>
          </a:prstGeom>
          <a:noFill/>
          <a:ln/>
        </p:spPr>
        <p:txBody>
          <a:bodyPr wrap="square" lIns="0" tIns="0" rIns="0" bIns="0" rtlCol="0" anchor="ctr"/>
          <a:lstStyle/>
          <a:p>
            <a:pPr algn="ctr" indent="0" marL="0">
              <a:buNone/>
            </a:pPr>
            <a:r>
              <a:rPr lang="en-US" sz="1000" b="1" dirty="0">
                <a:solidFill>
                  <a:srgbClr val="3D8F5F"/>
                </a:solidFill>
                <a:latin typeface="Poppins" pitchFamily="34" charset="0"/>
                <a:ea typeface="Poppins" pitchFamily="34" charset="-122"/>
                <a:cs typeface="Poppins" pitchFamily="34" charset="-120"/>
              </a:rPr>
              <a:t>From signed to billed</a:t>
            </a:r>
            <a:endParaRPr lang="en-US" sz="1000" dirty="0"/>
          </a:p>
        </p:txBody>
      </p:sp>
      <p:sp>
        <p:nvSpPr>
          <p:cNvPr id="24" name="Shape 22"/>
          <p:cNvSpPr/>
          <p:nvPr/>
        </p:nvSpPr>
        <p:spPr>
          <a:xfrm>
            <a:off x="4325112" y="3310128"/>
            <a:ext cx="640080" cy="50292"/>
          </a:xfrm>
          <a:prstGeom prst="roundRect">
            <a:avLst>
              <a:gd name="adj" fmla="val 36364"/>
            </a:avLst>
          </a:prstGeom>
          <a:solidFill>
            <a:srgbClr val="E2EAEE"/>
          </a:solidFill>
          <a:ln/>
        </p:spPr>
      </p:sp>
      <p:sp>
        <p:nvSpPr>
          <p:cNvPr id="25" name="Text 23"/>
          <p:cNvSpPr txBox="1"/>
          <p:nvPr/>
        </p:nvSpPr>
        <p:spPr>
          <a:xfrm>
            <a:off x="3511296" y="3520440"/>
            <a:ext cx="2267712" cy="2103120"/>
          </a:xfrm>
          <a:prstGeom prst="rect">
            <a:avLst/>
          </a:prstGeom>
          <a:noFill/>
          <a:ln/>
        </p:spPr>
        <p:txBody>
          <a:bodyPr wrap="square" lIns="0" tIns="0" rIns="0" bIns="0" rtlCol="0" anchor="t"/>
          <a:lstStyle/>
          <a:p>
            <a:pPr marL="342900" indent="-342900">
              <a:spcAft>
                <a:spcPts val="1000"/>
              </a:spcAft>
              <a:buSzPct val="100000"/>
              <a:buChar char="•"/>
            </a:pPr>
            <a:r>
              <a:rPr lang="en-US" sz="950" dirty="0">
                <a:solidFill>
                  <a:srgbClr val="3A4B57"/>
                </a:solidFill>
                <a:latin typeface="Poppins" pitchFamily="34" charset="0"/>
                <a:ea typeface="Poppins" pitchFamily="34" charset="-122"/>
                <a:cs typeface="Poppins" pitchFamily="34" charset="-120"/>
              </a:rPr>
              <a:t>Utilisation &amp; Delivery Hours</a:t>
            </a:r>
            <a:endParaRPr lang="en-US" sz="950" dirty="0"/>
          </a:p>
          <a:p>
            <a:pPr marL="342900" indent="-342900">
              <a:spcAft>
                <a:spcPts val="1000"/>
              </a:spcAft>
              <a:buSzPct val="100000"/>
              <a:buChar char="•"/>
            </a:pPr>
            <a:r>
              <a:rPr lang="en-US" sz="950" dirty="0">
                <a:solidFill>
                  <a:srgbClr val="3A4B57"/>
                </a:solidFill>
                <a:latin typeface="Poppins" pitchFamily="34" charset="0"/>
                <a:ea typeface="Poppins" pitchFamily="34" charset="-122"/>
                <a:cs typeface="Poppins" pitchFamily="34" charset="-120"/>
              </a:rPr>
              <a:t>Won vs Invoiced &amp; Retention</a:t>
            </a:r>
            <a:endParaRPr lang="en-US" sz="950" dirty="0"/>
          </a:p>
        </p:txBody>
      </p:sp>
      <p:sp>
        <p:nvSpPr>
          <p:cNvPr id="26" name="Shape 24"/>
          <p:cNvSpPr/>
          <p:nvPr/>
        </p:nvSpPr>
        <p:spPr>
          <a:xfrm>
            <a:off x="6208776" y="1371600"/>
            <a:ext cx="2670048" cy="82296"/>
          </a:xfrm>
          <a:prstGeom prst="rect">
            <a:avLst/>
          </a:prstGeom>
          <a:solidFill>
            <a:srgbClr val="C88A2E"/>
          </a:solidFill>
          <a:ln/>
        </p:spPr>
      </p:sp>
      <p:sp>
        <p:nvSpPr>
          <p:cNvPr id="27" name="Shape 25"/>
          <p:cNvSpPr/>
          <p:nvPr/>
        </p:nvSpPr>
        <p:spPr>
          <a:xfrm>
            <a:off x="6208776" y="1453896"/>
            <a:ext cx="2670048" cy="4398264"/>
          </a:xfrm>
          <a:prstGeom prst="roundRect">
            <a:avLst>
              <a:gd name="adj" fmla="val 2397"/>
            </a:avLst>
          </a:prstGeom>
          <a:solidFill>
            <a:srgbClr val="FFFFFF"/>
          </a:solidFill>
          <a:ln/>
          <a:effectLst>
            <a:outerShdw sx="100000" sy="100000" kx="0" ky="0" algn="bl" rotWithShape="0" blurRad="76200" dist="25400" dir="5400000">
              <a:srgbClr val="9AAAB5">
                <a:alpha val="35000"/>
              </a:srgbClr>
            </a:outerShdw>
          </a:effectLst>
        </p:spPr>
      </p:sp>
      <p:sp>
        <p:nvSpPr>
          <p:cNvPr id="28" name="Shape 26"/>
          <p:cNvSpPr/>
          <p:nvPr/>
        </p:nvSpPr>
        <p:spPr>
          <a:xfrm>
            <a:off x="7232904" y="1874520"/>
            <a:ext cx="621792" cy="621792"/>
          </a:xfrm>
          <a:prstGeom prst="ellipse">
            <a:avLst/>
          </a:prstGeom>
          <a:solidFill>
            <a:srgbClr val="C88A2E"/>
          </a:solidFill>
          <a:ln/>
          <a:effectLst>
            <a:outerShdw sx="100000" sy="100000" kx="0" ky="0" algn="bl" rotWithShape="0" blurRad="76200" dist="25400" dir="5400000">
              <a:srgbClr val="9AAAB5">
                <a:alpha val="35000"/>
              </a:srgbClr>
            </a:outerShdw>
          </a:effectLst>
        </p:spPr>
      </p:sp>
      <p:sp>
        <p:nvSpPr>
          <p:cNvPr id="29" name="Text 27"/>
          <p:cNvSpPr txBox="1"/>
          <p:nvPr/>
        </p:nvSpPr>
        <p:spPr>
          <a:xfrm>
            <a:off x="7232904" y="1874520"/>
            <a:ext cx="621792" cy="621792"/>
          </a:xfrm>
          <a:prstGeom prst="rect">
            <a:avLst/>
          </a:prstGeom>
          <a:noFill/>
          <a:ln/>
        </p:spPr>
        <p:txBody>
          <a:bodyPr wrap="square" lIns="0" tIns="0" rIns="0" bIns="0" rtlCol="0" anchor="ctr"/>
          <a:lstStyle/>
          <a:p>
            <a:pPr algn="ctr" indent="0" marL="0">
              <a:buNone/>
            </a:pPr>
            <a:r>
              <a:rPr lang="en-US" sz="2200" b="1" dirty="0">
                <a:solidFill>
                  <a:srgbClr val="FFFFFF"/>
                </a:solidFill>
                <a:latin typeface="Poppins" pitchFamily="34" charset="0"/>
                <a:ea typeface="Poppins" pitchFamily="34" charset="-122"/>
                <a:cs typeface="Poppins" pitchFamily="34" charset="-120"/>
              </a:rPr>
              <a:t>3</a:t>
            </a:r>
            <a:endParaRPr lang="en-US" sz="2200" dirty="0"/>
          </a:p>
        </p:txBody>
      </p:sp>
      <p:sp>
        <p:nvSpPr>
          <p:cNvPr id="30" name="Text 28"/>
          <p:cNvSpPr txBox="1"/>
          <p:nvPr/>
        </p:nvSpPr>
        <p:spPr>
          <a:xfrm>
            <a:off x="6300216" y="2651760"/>
            <a:ext cx="2487168" cy="320040"/>
          </a:xfrm>
          <a:prstGeom prst="rect">
            <a:avLst/>
          </a:prstGeom>
          <a:noFill/>
          <a:ln/>
        </p:spPr>
        <p:txBody>
          <a:bodyPr wrap="square" lIns="0" tIns="0" rIns="0" bIns="0" rtlCol="0" anchor="ctr"/>
          <a:lstStyle/>
          <a:p>
            <a:pPr algn="ctr" indent="0" marL="0">
              <a:buNone/>
            </a:pPr>
            <a:r>
              <a:rPr lang="en-US" sz="1350" b="1" dirty="0">
                <a:solidFill>
                  <a:srgbClr val="12293A"/>
                </a:solidFill>
                <a:latin typeface="Poppins" pitchFamily="34" charset="0"/>
                <a:ea typeface="Poppins" pitchFamily="34" charset="-122"/>
                <a:cs typeface="Poppins" pitchFamily="34" charset="-120"/>
              </a:rPr>
              <a:t>DID WE KEEP THEM?</a:t>
            </a:r>
            <a:endParaRPr lang="en-US" sz="1350" dirty="0"/>
          </a:p>
        </p:txBody>
      </p:sp>
      <p:sp>
        <p:nvSpPr>
          <p:cNvPr id="31" name="Text 29"/>
          <p:cNvSpPr txBox="1"/>
          <p:nvPr/>
        </p:nvSpPr>
        <p:spPr>
          <a:xfrm>
            <a:off x="6300216" y="2971800"/>
            <a:ext cx="2487168" cy="274320"/>
          </a:xfrm>
          <a:prstGeom prst="rect">
            <a:avLst/>
          </a:prstGeom>
          <a:noFill/>
          <a:ln/>
        </p:spPr>
        <p:txBody>
          <a:bodyPr wrap="square" lIns="0" tIns="0" rIns="0" bIns="0" rtlCol="0" anchor="ctr"/>
          <a:lstStyle/>
          <a:p>
            <a:pPr algn="ctr" indent="0" marL="0">
              <a:buNone/>
            </a:pPr>
            <a:r>
              <a:rPr lang="en-US" sz="1000" b="1" dirty="0">
                <a:solidFill>
                  <a:srgbClr val="C88A2E"/>
                </a:solidFill>
                <a:latin typeface="Poppins" pitchFamily="34" charset="0"/>
                <a:ea typeface="Poppins" pitchFamily="34" charset="-122"/>
                <a:cs typeface="Poppins" pitchFamily="34" charset="-120"/>
              </a:rPr>
              <a:t>Support health</a:t>
            </a:r>
            <a:endParaRPr lang="en-US" sz="1000" dirty="0"/>
          </a:p>
        </p:txBody>
      </p:sp>
      <p:sp>
        <p:nvSpPr>
          <p:cNvPr id="32" name="Shape 30"/>
          <p:cNvSpPr/>
          <p:nvPr/>
        </p:nvSpPr>
        <p:spPr>
          <a:xfrm>
            <a:off x="7223760" y="3310128"/>
            <a:ext cx="640080" cy="50292"/>
          </a:xfrm>
          <a:prstGeom prst="roundRect">
            <a:avLst>
              <a:gd name="adj" fmla="val 36364"/>
            </a:avLst>
          </a:prstGeom>
          <a:solidFill>
            <a:srgbClr val="E2EAEE"/>
          </a:solidFill>
          <a:ln/>
        </p:spPr>
      </p:sp>
      <p:sp>
        <p:nvSpPr>
          <p:cNvPr id="33" name="Text 31"/>
          <p:cNvSpPr txBox="1"/>
          <p:nvPr/>
        </p:nvSpPr>
        <p:spPr>
          <a:xfrm>
            <a:off x="6409944" y="3520440"/>
            <a:ext cx="2267712" cy="2103120"/>
          </a:xfrm>
          <a:prstGeom prst="rect">
            <a:avLst/>
          </a:prstGeom>
          <a:noFill/>
          <a:ln/>
        </p:spPr>
        <p:txBody>
          <a:bodyPr wrap="square" lIns="0" tIns="0" rIns="0" bIns="0" rtlCol="0" anchor="t"/>
          <a:lstStyle/>
          <a:p>
            <a:pPr marL="342900" indent="-342900">
              <a:spcAft>
                <a:spcPts val="1000"/>
              </a:spcAft>
              <a:buSzPct val="100000"/>
              <a:buChar char="•"/>
            </a:pPr>
            <a:r>
              <a:rPr lang="en-US" sz="950" dirty="0">
                <a:solidFill>
                  <a:srgbClr val="3A4B57"/>
                </a:solidFill>
                <a:latin typeface="Poppins" pitchFamily="34" charset="0"/>
                <a:ea typeface="Poppins" pitchFamily="34" charset="-122"/>
                <a:cs typeface="Poppins" pitchFamily="34" charset="-120"/>
              </a:rPr>
              <a:t>Backlog, ageing &amp; first response</a:t>
            </a:r>
            <a:endParaRPr lang="en-US" sz="950" dirty="0"/>
          </a:p>
        </p:txBody>
      </p:sp>
      <p:sp>
        <p:nvSpPr>
          <p:cNvPr id="34" name="Shape 32"/>
          <p:cNvSpPr/>
          <p:nvPr/>
        </p:nvSpPr>
        <p:spPr>
          <a:xfrm>
            <a:off x="9107424" y="1371600"/>
            <a:ext cx="2670048" cy="82296"/>
          </a:xfrm>
          <a:prstGeom prst="rect">
            <a:avLst/>
          </a:prstGeom>
          <a:solidFill>
            <a:srgbClr val="12293A"/>
          </a:solidFill>
          <a:ln/>
        </p:spPr>
      </p:sp>
      <p:sp>
        <p:nvSpPr>
          <p:cNvPr id="35" name="Shape 33"/>
          <p:cNvSpPr/>
          <p:nvPr/>
        </p:nvSpPr>
        <p:spPr>
          <a:xfrm>
            <a:off x="9107424" y="1453896"/>
            <a:ext cx="2670048" cy="4398264"/>
          </a:xfrm>
          <a:prstGeom prst="roundRect">
            <a:avLst>
              <a:gd name="adj" fmla="val 2397"/>
            </a:avLst>
          </a:prstGeom>
          <a:solidFill>
            <a:srgbClr val="FFFFFF"/>
          </a:solidFill>
          <a:ln/>
          <a:effectLst>
            <a:outerShdw sx="100000" sy="100000" kx="0" ky="0" algn="bl" rotWithShape="0" blurRad="76200" dist="25400" dir="5400000">
              <a:srgbClr val="9AAAB5">
                <a:alpha val="35000"/>
              </a:srgbClr>
            </a:outerShdw>
          </a:effectLst>
        </p:spPr>
      </p:sp>
      <p:sp>
        <p:nvSpPr>
          <p:cNvPr id="36" name="Shape 34"/>
          <p:cNvSpPr/>
          <p:nvPr/>
        </p:nvSpPr>
        <p:spPr>
          <a:xfrm>
            <a:off x="10131552" y="1874520"/>
            <a:ext cx="621792" cy="621792"/>
          </a:xfrm>
          <a:prstGeom prst="ellipse">
            <a:avLst/>
          </a:prstGeom>
          <a:solidFill>
            <a:srgbClr val="12293A"/>
          </a:solidFill>
          <a:ln/>
          <a:effectLst>
            <a:outerShdw sx="100000" sy="100000" kx="0" ky="0" algn="bl" rotWithShape="0" blurRad="76200" dist="25400" dir="5400000">
              <a:srgbClr val="9AAAB5">
                <a:alpha val="35000"/>
              </a:srgbClr>
            </a:outerShdw>
          </a:effectLst>
        </p:spPr>
      </p:sp>
      <p:sp>
        <p:nvSpPr>
          <p:cNvPr id="37" name="Text 35"/>
          <p:cNvSpPr txBox="1"/>
          <p:nvPr/>
        </p:nvSpPr>
        <p:spPr>
          <a:xfrm>
            <a:off x="10131552" y="1874520"/>
            <a:ext cx="621792" cy="621792"/>
          </a:xfrm>
          <a:prstGeom prst="rect">
            <a:avLst/>
          </a:prstGeom>
          <a:noFill/>
          <a:ln/>
        </p:spPr>
        <p:txBody>
          <a:bodyPr wrap="square" lIns="0" tIns="0" rIns="0" bIns="0" rtlCol="0" anchor="ctr"/>
          <a:lstStyle/>
          <a:p>
            <a:pPr algn="ctr" indent="0" marL="0">
              <a:buNone/>
            </a:pPr>
            <a:r>
              <a:rPr lang="en-US" sz="2200" b="1" dirty="0">
                <a:solidFill>
                  <a:srgbClr val="FFFFFF"/>
                </a:solidFill>
                <a:latin typeface="Poppins" pitchFamily="34" charset="0"/>
                <a:ea typeface="Poppins" pitchFamily="34" charset="-122"/>
                <a:cs typeface="Poppins" pitchFamily="34" charset="-120"/>
              </a:rPr>
              <a:t>4</a:t>
            </a:r>
            <a:endParaRPr lang="en-US" sz="2200" dirty="0"/>
          </a:p>
        </p:txBody>
      </p:sp>
      <p:sp>
        <p:nvSpPr>
          <p:cNvPr id="38" name="Text 36"/>
          <p:cNvSpPr txBox="1"/>
          <p:nvPr/>
        </p:nvSpPr>
        <p:spPr>
          <a:xfrm>
            <a:off x="9198864" y="2651760"/>
            <a:ext cx="2487168" cy="320040"/>
          </a:xfrm>
          <a:prstGeom prst="rect">
            <a:avLst/>
          </a:prstGeom>
          <a:noFill/>
          <a:ln/>
        </p:spPr>
        <p:txBody>
          <a:bodyPr wrap="square" lIns="0" tIns="0" rIns="0" bIns="0" rtlCol="0" anchor="ctr"/>
          <a:lstStyle/>
          <a:p>
            <a:pPr algn="ctr" indent="0" marL="0">
              <a:buNone/>
            </a:pPr>
            <a:r>
              <a:rPr lang="en-US" sz="1350" b="1" dirty="0">
                <a:solidFill>
                  <a:srgbClr val="12293A"/>
                </a:solidFill>
                <a:latin typeface="Poppins" pitchFamily="34" charset="0"/>
                <a:ea typeface="Poppins" pitchFamily="34" charset="-122"/>
                <a:cs typeface="Poppins" pitchFamily="34" charset="-120"/>
              </a:rPr>
              <a:t>BUILDING THE FUTURE?</a:t>
            </a:r>
            <a:endParaRPr lang="en-US" sz="1350" dirty="0"/>
          </a:p>
        </p:txBody>
      </p:sp>
      <p:sp>
        <p:nvSpPr>
          <p:cNvPr id="39" name="Text 37"/>
          <p:cNvSpPr txBox="1"/>
          <p:nvPr/>
        </p:nvSpPr>
        <p:spPr>
          <a:xfrm>
            <a:off x="9198864" y="2971800"/>
            <a:ext cx="2487168" cy="274320"/>
          </a:xfrm>
          <a:prstGeom prst="rect">
            <a:avLst/>
          </a:prstGeom>
          <a:noFill/>
          <a:ln/>
        </p:spPr>
        <p:txBody>
          <a:bodyPr wrap="square" lIns="0" tIns="0" rIns="0" bIns="0" rtlCol="0" anchor="ctr"/>
          <a:lstStyle/>
          <a:p>
            <a:pPr algn="ctr" indent="0" marL="0">
              <a:buNone/>
            </a:pPr>
            <a:r>
              <a:rPr lang="en-US" sz="1000" b="1" dirty="0">
                <a:solidFill>
                  <a:srgbClr val="8FA1AC"/>
                </a:solidFill>
                <a:latin typeface="Poppins" pitchFamily="34" charset="0"/>
                <a:ea typeface="Poppins" pitchFamily="34" charset="-122"/>
                <a:cs typeface="Poppins" pitchFamily="34" charset="-120"/>
              </a:rPr>
              <a:t>Product, AI &amp; projects</a:t>
            </a:r>
            <a:endParaRPr lang="en-US" sz="1000" dirty="0"/>
          </a:p>
        </p:txBody>
      </p:sp>
      <p:sp>
        <p:nvSpPr>
          <p:cNvPr id="40" name="Shape 38"/>
          <p:cNvSpPr/>
          <p:nvPr/>
        </p:nvSpPr>
        <p:spPr>
          <a:xfrm>
            <a:off x="10122408" y="3310128"/>
            <a:ext cx="640080" cy="50292"/>
          </a:xfrm>
          <a:prstGeom prst="roundRect">
            <a:avLst>
              <a:gd name="adj" fmla="val 36364"/>
            </a:avLst>
          </a:prstGeom>
          <a:solidFill>
            <a:srgbClr val="E2EAEE"/>
          </a:solidFill>
          <a:ln/>
        </p:spPr>
      </p:sp>
      <p:sp>
        <p:nvSpPr>
          <p:cNvPr id="41" name="Text 39"/>
          <p:cNvSpPr txBox="1"/>
          <p:nvPr/>
        </p:nvSpPr>
        <p:spPr>
          <a:xfrm>
            <a:off x="9308592" y="3520440"/>
            <a:ext cx="2267712" cy="2103120"/>
          </a:xfrm>
          <a:prstGeom prst="rect">
            <a:avLst/>
          </a:prstGeom>
          <a:noFill/>
          <a:ln/>
        </p:spPr>
        <p:txBody>
          <a:bodyPr wrap="square" lIns="0" tIns="0" rIns="0" bIns="0" rtlCol="0" anchor="t"/>
          <a:lstStyle/>
          <a:p>
            <a:pPr marL="342900" indent="-342900">
              <a:spcAft>
                <a:spcPts val="1000"/>
              </a:spcAft>
              <a:buSzPct val="100000"/>
              <a:buChar char="•"/>
            </a:pPr>
            <a:r>
              <a:rPr lang="en-US" sz="950" dirty="0">
                <a:solidFill>
                  <a:srgbClr val="3A4B57"/>
                </a:solidFill>
                <a:latin typeface="Poppins" pitchFamily="34" charset="0"/>
                <a:ea typeface="Poppins" pitchFamily="34" charset="-122"/>
                <a:cs typeface="Poppins" pitchFamily="34" charset="-120"/>
              </a:rPr>
              <a:t>Q3 Roadmap · GTM Readiness</a:t>
            </a:r>
            <a:endParaRPr lang="en-US" sz="950" dirty="0"/>
          </a:p>
          <a:p>
            <a:pPr marL="342900" indent="-342900">
              <a:spcAft>
                <a:spcPts val="1000"/>
              </a:spcAft>
              <a:buSzPct val="100000"/>
              <a:buChar char="•"/>
            </a:pPr>
            <a:r>
              <a:rPr lang="en-US" sz="950" dirty="0">
                <a:solidFill>
                  <a:srgbClr val="3A4B57"/>
                </a:solidFill>
                <a:latin typeface="Poppins" pitchFamily="34" charset="0"/>
                <a:ea typeface="Poppins" pitchFamily="34" charset="-122"/>
                <a:cs typeface="Poppins" pitchFamily="34" charset="-120"/>
              </a:rPr>
              <a:t>AI Usage — adoption &amp; activity</a:t>
            </a:r>
            <a:endParaRPr lang="en-US" sz="950" dirty="0"/>
          </a:p>
          <a:p>
            <a:pPr marL="342900" indent="-342900">
              <a:spcAft>
                <a:spcPts val="1000"/>
              </a:spcAft>
              <a:buSzPct val="100000"/>
              <a:buChar char="•"/>
            </a:pPr>
            <a:r>
              <a:rPr lang="en-US" sz="950" dirty="0">
                <a:solidFill>
                  <a:srgbClr val="3A4B57"/>
                </a:solidFill>
                <a:latin typeface="Poppins" pitchFamily="34" charset="0"/>
                <a:ea typeface="Poppins" pitchFamily="34" charset="-122"/>
                <a:cs typeface="Poppins" pitchFamily="34" charset="-120"/>
              </a:rPr>
              <a:t>Projects — portfolio status</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2F6F8"/>
        </a:solidFill>
      </p:bgPr>
    </p:bg>
    <p:spTree>
      <p:nvGrpSpPr>
        <p:cNvPr id="1" name=""/>
        <p:cNvGrpSpPr/>
        <p:nvPr/>
      </p:nvGrpSpPr>
      <p:grpSpPr>
        <a:xfrm>
          <a:off x="0" y="0"/>
          <a:ext cx="0" cy="0"/>
          <a:chOff x="0" y="0"/>
          <a:chExt cx="0" cy="0"/>
        </a:xfrm>
      </p:grpSpPr>
      <p:sp>
        <p:nvSpPr>
          <p:cNvPr id="2" name="Shape 0"/>
          <p:cNvSpPr/>
          <p:nvPr/>
        </p:nvSpPr>
        <p:spPr>
          <a:xfrm>
            <a:off x="0" y="0"/>
            <a:ext cx="12188952" cy="841248"/>
          </a:xfrm>
          <a:prstGeom prst="rect">
            <a:avLst/>
          </a:prstGeom>
          <a:solidFill>
            <a:srgbClr val="12293A"/>
          </a:solidFill>
          <a:ln/>
        </p:spPr>
      </p:sp>
      <p:sp>
        <p:nvSpPr>
          <p:cNvPr id="3" name="Shape 1"/>
          <p:cNvSpPr/>
          <p:nvPr/>
        </p:nvSpPr>
        <p:spPr>
          <a:xfrm>
            <a:off x="384048" y="155448"/>
            <a:ext cx="731520" cy="530352"/>
          </a:xfrm>
          <a:prstGeom prst="roundRect">
            <a:avLst>
              <a:gd name="adj" fmla="val 15517"/>
            </a:avLst>
          </a:prstGeom>
          <a:solidFill>
            <a:srgbClr val="FFFFFF"/>
          </a:solidFill>
          <a:ln/>
        </p:spPr>
      </p:sp>
      <p:sp>
        <p:nvSpPr>
          <p:cNvPr id="4" name="Text 2"/>
          <p:cNvSpPr txBox="1"/>
          <p:nvPr/>
        </p:nvSpPr>
        <p:spPr>
          <a:xfrm>
            <a:off x="384048" y="155448"/>
            <a:ext cx="731520" cy="530352"/>
          </a:xfrm>
          <a:prstGeom prst="rect">
            <a:avLst/>
          </a:prstGeom>
          <a:noFill/>
          <a:ln/>
        </p:spPr>
        <p:txBody>
          <a:bodyPr wrap="square" lIns="0" tIns="0" rIns="0" bIns="0" rtlCol="0" anchor="ctr"/>
          <a:lstStyle/>
          <a:p>
            <a:pPr algn="ctr" indent="0" marL="0">
              <a:buNone/>
            </a:pPr>
            <a:r>
              <a:rPr lang="en-US" sz="1500" b="1" dirty="0">
                <a:solidFill>
                  <a:srgbClr val="12293A"/>
                </a:solidFill>
                <a:latin typeface="Poppins" pitchFamily="34" charset="0"/>
                <a:ea typeface="Poppins" pitchFamily="34" charset="-122"/>
                <a:cs typeface="Poppins" pitchFamily="34" charset="-120"/>
              </a:rPr>
              <a:t>H&amp;L</a:t>
            </a:r>
            <a:endParaRPr lang="en-US" sz="1500" dirty="0"/>
          </a:p>
        </p:txBody>
      </p:sp>
      <p:sp>
        <p:nvSpPr>
          <p:cNvPr id="5" name="Text 3"/>
          <p:cNvSpPr txBox="1"/>
          <p:nvPr/>
        </p:nvSpPr>
        <p:spPr>
          <a:xfrm>
            <a:off x="1298448" y="54864"/>
            <a:ext cx="7223760" cy="475488"/>
          </a:xfrm>
          <a:prstGeom prst="rect">
            <a:avLst/>
          </a:prstGeom>
          <a:noFill/>
          <a:ln/>
        </p:spPr>
        <p:txBody>
          <a:bodyPr wrap="square" lIns="0" tIns="0" rIns="0" bIns="0" rtlCol="0" anchor="ctr"/>
          <a:lstStyle/>
          <a:p>
            <a:pPr indent="0" marL="0">
              <a:buNone/>
            </a:pPr>
            <a:r>
              <a:rPr lang="en-US" sz="2300" b="1" dirty="0">
                <a:solidFill>
                  <a:srgbClr val="FFFFFF"/>
                </a:solidFill>
                <a:latin typeface="Poppins" pitchFamily="34" charset="0"/>
                <a:ea typeface="Poppins" pitchFamily="34" charset="-122"/>
                <a:cs typeface="Poppins" pitchFamily="34" charset="-120"/>
              </a:rPr>
              <a:t>Executive Summary</a:t>
            </a:r>
            <a:endParaRPr lang="en-US" sz="2300" dirty="0"/>
          </a:p>
        </p:txBody>
      </p:sp>
      <p:sp>
        <p:nvSpPr>
          <p:cNvPr id="6" name="Shape 4"/>
          <p:cNvSpPr/>
          <p:nvPr/>
        </p:nvSpPr>
        <p:spPr>
          <a:xfrm>
            <a:off x="10872216" y="0"/>
            <a:ext cx="841248" cy="841248"/>
          </a:xfrm>
          <a:prstGeom prst="ellipse">
            <a:avLst/>
          </a:prstGeom>
          <a:solidFill>
            <a:srgbClr val="1C5765"/>
          </a:solidFill>
          <a:ln/>
        </p:spPr>
      </p:sp>
      <p:sp>
        <p:nvSpPr>
          <p:cNvPr id="7" name="Shape 5"/>
          <p:cNvSpPr/>
          <p:nvPr/>
        </p:nvSpPr>
        <p:spPr>
          <a:xfrm>
            <a:off x="10968228" y="96012"/>
            <a:ext cx="649224" cy="649224"/>
          </a:xfrm>
          <a:prstGeom prst="ellipse">
            <a:avLst/>
          </a:prstGeom>
          <a:solidFill>
            <a:srgbClr val="2C8394"/>
          </a:solidFill>
          <a:ln/>
        </p:spPr>
      </p:sp>
      <p:sp>
        <p:nvSpPr>
          <p:cNvPr id="8" name="Shape 6"/>
          <p:cNvSpPr/>
          <p:nvPr/>
        </p:nvSpPr>
        <p:spPr>
          <a:xfrm>
            <a:off x="11064240" y="192024"/>
            <a:ext cx="457200" cy="457200"/>
          </a:xfrm>
          <a:prstGeom prst="ellipse">
            <a:avLst/>
          </a:prstGeom>
          <a:solidFill>
            <a:srgbClr val="6FAEBB"/>
          </a:solidFill>
          <a:ln/>
        </p:spPr>
      </p:sp>
      <p:sp>
        <p:nvSpPr>
          <p:cNvPr id="9" name="Shape 7"/>
          <p:cNvSpPr/>
          <p:nvPr/>
        </p:nvSpPr>
        <p:spPr>
          <a:xfrm>
            <a:off x="11160252" y="288036"/>
            <a:ext cx="265176" cy="265176"/>
          </a:xfrm>
          <a:prstGeom prst="ellipse">
            <a:avLst/>
          </a:prstGeom>
          <a:solidFill>
            <a:srgbClr val="E4F1F4"/>
          </a:solidFill>
          <a:ln/>
        </p:spPr>
      </p:sp>
      <p:sp>
        <p:nvSpPr>
          <p:cNvPr id="10" name="Shape 8"/>
          <p:cNvSpPr/>
          <p:nvPr/>
        </p:nvSpPr>
        <p:spPr>
          <a:xfrm>
            <a:off x="411480" y="1143000"/>
            <a:ext cx="3639312" cy="2331720"/>
          </a:xfrm>
          <a:prstGeom prst="roundRect">
            <a:avLst>
              <a:gd name="adj" fmla="val 2745"/>
            </a:avLst>
          </a:prstGeom>
          <a:solidFill>
            <a:srgbClr val="FFFFFF"/>
          </a:solidFill>
          <a:ln/>
          <a:effectLst>
            <a:outerShdw sx="100000" sy="100000" kx="0" ky="0" algn="bl" rotWithShape="0" blurRad="76200" dist="25400" dir="5400000">
              <a:srgbClr val="9AAAB5">
                <a:alpha val="35000"/>
              </a:srgbClr>
            </a:outerShdw>
          </a:effectLst>
        </p:spPr>
      </p:sp>
      <p:sp>
        <p:nvSpPr>
          <p:cNvPr id="11" name="Text 9"/>
          <p:cNvSpPr txBox="1"/>
          <p:nvPr/>
        </p:nvSpPr>
        <p:spPr>
          <a:xfrm>
            <a:off x="594360" y="1271016"/>
            <a:ext cx="3273552" cy="384048"/>
          </a:xfrm>
          <a:prstGeom prst="rect">
            <a:avLst/>
          </a:prstGeom>
          <a:noFill/>
          <a:ln/>
        </p:spPr>
        <p:txBody>
          <a:bodyPr wrap="square" lIns="0" tIns="0" rIns="0" bIns="0" rtlCol="0" anchor="ctr"/>
          <a:lstStyle/>
          <a:p>
            <a:pPr indent="0" marL="0">
              <a:buNone/>
            </a:pPr>
            <a:r>
              <a:rPr lang="en-US" sz="1050" b="1" dirty="0">
                <a:solidFill>
                  <a:srgbClr val="2C8394"/>
                </a:solidFill>
                <a:latin typeface="Poppins" pitchFamily="34" charset="0"/>
                <a:ea typeface="Poppins" pitchFamily="34" charset="-122"/>
                <a:cs typeface="Poppins" pitchFamily="34" charset="-120"/>
              </a:rPr>
              <a:t>OVERALL PERFORMANCE &amp; FINANCE SUMMARY</a:t>
            </a:r>
            <a:endParaRPr lang="en-US" sz="1050" dirty="0"/>
          </a:p>
        </p:txBody>
      </p:sp>
      <p:sp>
        <p:nvSpPr>
          <p:cNvPr id="12" name="Text 10"/>
          <p:cNvSpPr txBox="1"/>
          <p:nvPr/>
        </p:nvSpPr>
        <p:spPr>
          <a:xfrm>
            <a:off x="594360" y="1691640"/>
            <a:ext cx="3273552" cy="1645920"/>
          </a:xfrm>
          <a:prstGeom prst="rect">
            <a:avLst/>
          </a:prstGeom>
          <a:noFill/>
          <a:ln/>
        </p:spPr>
        <p:txBody>
          <a:bodyPr wrap="square" lIns="0" tIns="0" rIns="0" bIns="0" rtlCol="0" anchor="t"/>
          <a:lstStyle/>
          <a:p>
            <a:pPr indent="0" marL="0">
              <a:buNone/>
            </a:pPr>
            <a:r>
              <a:rPr lang="en-US" sz="900" dirty="0">
                <a:solidFill>
                  <a:srgbClr val="2C8394"/>
                </a:solidFill>
                <a:latin typeface="Poppins" pitchFamily="34" charset="0"/>
                <a:ea typeface="Poppins" pitchFamily="34" charset="-122"/>
                <a:cs typeface="Poppins" pitchFamily="34" charset="-120"/>
              </a:rPr>
              <a:t>Team on track to target and why? </a:t>
            </a:r>
            <a:pPr indent="0" marL="0">
              <a:spcAft>
                <a:spcPts val="1000"/>
              </a:spcAft>
              <a:buNone/>
            </a:pPr>
            <a:r>
              <a:rPr lang="en-US" sz="900" dirty="0">
                <a:solidFill>
                  <a:srgbClr val="3A4B57"/>
                </a:solidFill>
                <a:latin typeface="Poppins" pitchFamily="34" charset="0"/>
                <a:ea typeface="Poppins" pitchFamily="34" charset="-122"/>
                <a:cs typeface="Poppins" pitchFamily="34" charset="-120"/>
              </a:rPr>
              <a:t>Q4 hardware $99k = 14% of the $715k OKR2 — best week of the quarter at $70.9k, Ho and Jasmine 87% of it</a:t>
            </a:r>
            <a:endParaRPr lang="en-US" sz="900" dirty="0"/>
          </a:p>
          <a:p>
            <a:pPr indent="0" marL="0">
              <a:buNone/>
            </a:pPr>
            <a:r>
              <a:rPr lang="en-US" sz="900" dirty="0">
                <a:solidFill>
                  <a:srgbClr val="2C8394"/>
                </a:solidFill>
                <a:latin typeface="Poppins" pitchFamily="34" charset="0"/>
                <a:ea typeface="Poppins" pitchFamily="34" charset="-122"/>
                <a:cs typeface="Poppins" pitchFamily="34" charset="-120"/>
              </a:rPr>
              <a:t>What's working well? </a:t>
            </a:r>
            <a:pPr indent="0" marL="0">
              <a:spcAft>
                <a:spcPts val="1000"/>
              </a:spcAft>
              <a:buNone/>
            </a:pPr>
            <a:r>
              <a:rPr lang="en-US" sz="900" dirty="0">
                <a:solidFill>
                  <a:srgbClr val="3A4B57"/>
                </a:solidFill>
                <a:latin typeface="Poppins" pitchFamily="34" charset="0"/>
                <a:ea typeface="Poppins" pitchFamily="34" charset="-122"/>
                <a:cs typeface="Poppins" pitchFamily="34" charset="-120"/>
              </a:rPr>
              <a:t>xx</a:t>
            </a:r>
            <a:endParaRPr lang="en-US" sz="900" dirty="0"/>
          </a:p>
          <a:p>
            <a:pPr indent="0" marL="0">
              <a:buNone/>
            </a:pPr>
            <a:r>
              <a:rPr lang="en-US" sz="900" dirty="0">
                <a:solidFill>
                  <a:srgbClr val="2C8394"/>
                </a:solidFill>
                <a:latin typeface="Poppins" pitchFamily="34" charset="0"/>
                <a:ea typeface="Poppins" pitchFamily="34" charset="-122"/>
                <a:cs typeface="Poppins" pitchFamily="34" charset="-120"/>
              </a:rPr>
              <a:t>What's not? </a:t>
            </a:r>
            <a:pPr indent="0" marL="0">
              <a:buNone/>
            </a:pPr>
            <a:r>
              <a:rPr lang="en-US" sz="900" dirty="0">
                <a:solidFill>
                  <a:srgbClr val="3A4B57"/>
                </a:solidFill>
                <a:latin typeface="Poppins" pitchFamily="34" charset="0"/>
                <a:ea typeface="Poppins" pitchFamily="34" charset="-122"/>
                <a:cs typeface="Poppins" pitchFamily="34" charset="-120"/>
              </a:rPr>
              <a:t>xx</a:t>
            </a:r>
            <a:endParaRPr lang="en-US" sz="900" dirty="0"/>
          </a:p>
        </p:txBody>
      </p:sp>
      <p:sp>
        <p:nvSpPr>
          <p:cNvPr id="13" name="Shape 11"/>
          <p:cNvSpPr/>
          <p:nvPr/>
        </p:nvSpPr>
        <p:spPr>
          <a:xfrm>
            <a:off x="4279392" y="1143000"/>
            <a:ext cx="3639312" cy="2331720"/>
          </a:xfrm>
          <a:prstGeom prst="roundRect">
            <a:avLst>
              <a:gd name="adj" fmla="val 2745"/>
            </a:avLst>
          </a:prstGeom>
          <a:solidFill>
            <a:srgbClr val="FFFFFF"/>
          </a:solidFill>
          <a:ln/>
          <a:effectLst>
            <a:outerShdw sx="100000" sy="100000" kx="0" ky="0" algn="bl" rotWithShape="0" blurRad="76200" dist="25400" dir="5400000">
              <a:srgbClr val="9AAAB5">
                <a:alpha val="35000"/>
              </a:srgbClr>
            </a:outerShdw>
          </a:effectLst>
        </p:spPr>
      </p:sp>
      <p:sp>
        <p:nvSpPr>
          <p:cNvPr id="14" name="Text 12"/>
          <p:cNvSpPr txBox="1"/>
          <p:nvPr/>
        </p:nvSpPr>
        <p:spPr>
          <a:xfrm>
            <a:off x="4462272" y="1271016"/>
            <a:ext cx="3273552" cy="384048"/>
          </a:xfrm>
          <a:prstGeom prst="rect">
            <a:avLst/>
          </a:prstGeom>
          <a:noFill/>
          <a:ln/>
        </p:spPr>
        <p:txBody>
          <a:bodyPr wrap="square" lIns="0" tIns="0" rIns="0" bIns="0" rtlCol="0" anchor="ctr"/>
          <a:lstStyle/>
          <a:p>
            <a:pPr indent="0" marL="0">
              <a:buNone/>
            </a:pPr>
            <a:r>
              <a:rPr lang="en-US" sz="1050" b="1" dirty="0">
                <a:solidFill>
                  <a:srgbClr val="2C8394"/>
                </a:solidFill>
                <a:latin typeface="Poppins" pitchFamily="34" charset="0"/>
                <a:ea typeface="Poppins" pitchFamily="34" charset="-122"/>
                <a:cs typeface="Poppins" pitchFamily="34" charset="-120"/>
              </a:rPr>
              <a:t>SALES &amp; ACCOUNT MANAGEMENT SUMMARY</a:t>
            </a:r>
            <a:endParaRPr lang="en-US" sz="1050" dirty="0"/>
          </a:p>
        </p:txBody>
      </p:sp>
      <p:sp>
        <p:nvSpPr>
          <p:cNvPr id="15" name="Text 13"/>
          <p:cNvSpPr txBox="1"/>
          <p:nvPr/>
        </p:nvSpPr>
        <p:spPr>
          <a:xfrm>
            <a:off x="4462272" y="1691640"/>
            <a:ext cx="3273552" cy="1645920"/>
          </a:xfrm>
          <a:prstGeom prst="rect">
            <a:avLst/>
          </a:prstGeom>
          <a:noFill/>
          <a:ln/>
        </p:spPr>
        <p:txBody>
          <a:bodyPr wrap="square" lIns="0" tIns="0" rIns="0" bIns="0" rtlCol="0" anchor="t"/>
          <a:lstStyle/>
          <a:p>
            <a:pPr indent="0" marL="0">
              <a:buNone/>
            </a:pPr>
            <a:r>
              <a:rPr lang="en-US" sz="900" dirty="0">
                <a:solidFill>
                  <a:srgbClr val="2C8394"/>
                </a:solidFill>
                <a:latin typeface="Poppins" pitchFamily="34" charset="0"/>
                <a:ea typeface="Poppins" pitchFamily="34" charset="-122"/>
                <a:cs typeface="Poppins" pitchFamily="34" charset="-120"/>
              </a:rPr>
              <a:t>Team on track to target and why? </a:t>
            </a:r>
            <a:pPr indent="0" marL="0">
              <a:spcAft>
                <a:spcPts val="1000"/>
              </a:spcAft>
              <a:buNone/>
            </a:pPr>
            <a:r>
              <a:rPr lang="en-US" sz="900" dirty="0">
                <a:solidFill>
                  <a:srgbClr val="3A4B57"/>
                </a:solidFill>
                <a:latin typeface="Poppins" pitchFamily="34" charset="0"/>
                <a:ea typeface="Poppins" pitchFamily="34" charset="-122"/>
                <a:cs typeface="Poppins" pitchFamily="34" charset="-120"/>
              </a:rPr>
              <a:t>Q4 new MRR $3.8k = 14% of OKR2; the week nets −$181 and Q4 net MRR is −$7.7k</a:t>
            </a:r>
            <a:endParaRPr lang="en-US" sz="900" dirty="0"/>
          </a:p>
          <a:p>
            <a:pPr indent="0" marL="0">
              <a:buNone/>
            </a:pPr>
            <a:r>
              <a:rPr lang="en-US" sz="900" dirty="0">
                <a:solidFill>
                  <a:srgbClr val="2C8394"/>
                </a:solidFill>
                <a:latin typeface="Poppins" pitchFamily="34" charset="0"/>
                <a:ea typeface="Poppins" pitchFamily="34" charset="-122"/>
                <a:cs typeface="Poppins" pitchFamily="34" charset="-120"/>
              </a:rPr>
              <a:t>What's working well? </a:t>
            </a:r>
            <a:pPr indent="0" marL="0">
              <a:spcAft>
                <a:spcPts val="1000"/>
              </a:spcAft>
              <a:buNone/>
            </a:pPr>
            <a:r>
              <a:rPr lang="en-US" sz="900" dirty="0">
                <a:solidFill>
                  <a:srgbClr val="3A4B57"/>
                </a:solidFill>
                <a:latin typeface="Poppins" pitchFamily="34" charset="0"/>
                <a:ea typeface="Poppins" pitchFamily="34" charset="-122"/>
                <a:cs typeface="Poppins" pitchFamily="34" charset="-120"/>
              </a:rPr>
              <a:t>xx</a:t>
            </a:r>
            <a:endParaRPr lang="en-US" sz="900" dirty="0"/>
          </a:p>
          <a:p>
            <a:pPr indent="0" marL="0">
              <a:buNone/>
            </a:pPr>
            <a:r>
              <a:rPr lang="en-US" sz="900" dirty="0">
                <a:solidFill>
                  <a:srgbClr val="2C8394"/>
                </a:solidFill>
                <a:latin typeface="Poppins" pitchFamily="34" charset="0"/>
                <a:ea typeface="Poppins" pitchFamily="34" charset="-122"/>
                <a:cs typeface="Poppins" pitchFamily="34" charset="-120"/>
              </a:rPr>
              <a:t>What's not? </a:t>
            </a:r>
            <a:pPr indent="0" marL="0">
              <a:buNone/>
            </a:pPr>
            <a:r>
              <a:rPr lang="en-US" sz="900" dirty="0">
                <a:solidFill>
                  <a:srgbClr val="3A4B57"/>
                </a:solidFill>
                <a:latin typeface="Poppins" pitchFamily="34" charset="0"/>
                <a:ea typeface="Poppins" pitchFamily="34" charset="-122"/>
                <a:cs typeface="Poppins" pitchFamily="34" charset="-120"/>
              </a:rPr>
              <a:t>xx</a:t>
            </a:r>
            <a:endParaRPr lang="en-US" sz="900" dirty="0"/>
          </a:p>
        </p:txBody>
      </p:sp>
      <p:sp>
        <p:nvSpPr>
          <p:cNvPr id="16" name="Shape 14"/>
          <p:cNvSpPr/>
          <p:nvPr/>
        </p:nvSpPr>
        <p:spPr>
          <a:xfrm>
            <a:off x="8147304" y="1143000"/>
            <a:ext cx="3639312" cy="2331720"/>
          </a:xfrm>
          <a:prstGeom prst="roundRect">
            <a:avLst>
              <a:gd name="adj" fmla="val 2745"/>
            </a:avLst>
          </a:prstGeom>
          <a:solidFill>
            <a:srgbClr val="FFFFFF"/>
          </a:solidFill>
          <a:ln/>
          <a:effectLst>
            <a:outerShdw sx="100000" sy="100000" kx="0" ky="0" algn="bl" rotWithShape="0" blurRad="76200" dist="25400" dir="5400000">
              <a:srgbClr val="9AAAB5">
                <a:alpha val="35000"/>
              </a:srgbClr>
            </a:outerShdw>
          </a:effectLst>
        </p:spPr>
      </p:sp>
      <p:sp>
        <p:nvSpPr>
          <p:cNvPr id="17" name="Text 15"/>
          <p:cNvSpPr txBox="1"/>
          <p:nvPr/>
        </p:nvSpPr>
        <p:spPr>
          <a:xfrm>
            <a:off x="8330184" y="1271016"/>
            <a:ext cx="3273552" cy="384048"/>
          </a:xfrm>
          <a:prstGeom prst="rect">
            <a:avLst/>
          </a:prstGeom>
          <a:noFill/>
          <a:ln/>
        </p:spPr>
        <p:txBody>
          <a:bodyPr wrap="square" lIns="0" tIns="0" rIns="0" bIns="0" rtlCol="0" anchor="ctr"/>
          <a:lstStyle/>
          <a:p>
            <a:pPr indent="0" marL="0">
              <a:buNone/>
            </a:pPr>
            <a:r>
              <a:rPr lang="en-US" sz="1050" b="1" dirty="0">
                <a:solidFill>
                  <a:srgbClr val="2C8394"/>
                </a:solidFill>
                <a:latin typeface="Poppins" pitchFamily="34" charset="0"/>
                <a:ea typeface="Poppins" pitchFamily="34" charset="-122"/>
                <a:cs typeface="Poppins" pitchFamily="34" charset="-120"/>
              </a:rPr>
              <a:t>PROFESSIONAL SERVICES SUMMARY</a:t>
            </a:r>
            <a:endParaRPr lang="en-US" sz="1050" dirty="0"/>
          </a:p>
        </p:txBody>
      </p:sp>
      <p:sp>
        <p:nvSpPr>
          <p:cNvPr id="18" name="Text 16"/>
          <p:cNvSpPr txBox="1"/>
          <p:nvPr/>
        </p:nvSpPr>
        <p:spPr>
          <a:xfrm>
            <a:off x="8330184" y="1691640"/>
            <a:ext cx="3273552" cy="1645920"/>
          </a:xfrm>
          <a:prstGeom prst="rect">
            <a:avLst/>
          </a:prstGeom>
          <a:noFill/>
          <a:ln/>
        </p:spPr>
        <p:txBody>
          <a:bodyPr wrap="square" lIns="0" tIns="0" rIns="0" bIns="0" rtlCol="0" anchor="t"/>
          <a:lstStyle/>
          <a:p>
            <a:pPr indent="0" marL="0">
              <a:buNone/>
            </a:pPr>
            <a:r>
              <a:rPr lang="en-US" sz="900" dirty="0">
                <a:solidFill>
                  <a:srgbClr val="2C8394"/>
                </a:solidFill>
                <a:latin typeface="Poppins" pitchFamily="34" charset="0"/>
                <a:ea typeface="Poppins" pitchFamily="34" charset="-122"/>
                <a:cs typeface="Poppins" pitchFamily="34" charset="-120"/>
              </a:rPr>
              <a:t>Team on track to target and why? </a:t>
            </a:r>
            <a:pPr indent="0" marL="0">
              <a:spcAft>
                <a:spcPts val="1000"/>
              </a:spcAft>
              <a:buNone/>
            </a:pPr>
            <a:r>
              <a:rPr lang="en-US" sz="900" dirty="0">
                <a:solidFill>
                  <a:srgbClr val="3A4B57"/>
                </a:solidFill>
                <a:latin typeface="Poppins" pitchFamily="34" charset="0"/>
                <a:ea typeface="Poppins" pitchFamily="34" charset="-122"/>
                <a:cs typeface="Poppins" pitchFamily="34" charset="-120"/>
              </a:rPr>
              <a:t>billable utilisation 11.5% — 39.5h of 342h; last week restated 21.3h → 30.3h, so this is a floor again</a:t>
            </a:r>
            <a:endParaRPr lang="en-US" sz="900" dirty="0"/>
          </a:p>
          <a:p>
            <a:pPr indent="0" marL="0">
              <a:buNone/>
            </a:pPr>
            <a:r>
              <a:rPr lang="en-US" sz="900" dirty="0">
                <a:solidFill>
                  <a:srgbClr val="2C8394"/>
                </a:solidFill>
                <a:latin typeface="Poppins" pitchFamily="34" charset="0"/>
                <a:ea typeface="Poppins" pitchFamily="34" charset="-122"/>
                <a:cs typeface="Poppins" pitchFamily="34" charset="-120"/>
              </a:rPr>
              <a:t>What's working well? </a:t>
            </a:r>
            <a:pPr indent="0" marL="0">
              <a:spcAft>
                <a:spcPts val="1000"/>
              </a:spcAft>
              <a:buNone/>
            </a:pPr>
            <a:r>
              <a:rPr lang="en-US" sz="900" dirty="0">
                <a:solidFill>
                  <a:srgbClr val="3A4B57"/>
                </a:solidFill>
                <a:latin typeface="Poppins" pitchFamily="34" charset="0"/>
                <a:ea typeface="Poppins" pitchFamily="34" charset="-122"/>
                <a:cs typeface="Poppins" pitchFamily="34" charset="-120"/>
              </a:rPr>
              <a:t>xx</a:t>
            </a:r>
            <a:endParaRPr lang="en-US" sz="900" dirty="0"/>
          </a:p>
          <a:p>
            <a:pPr indent="0" marL="0">
              <a:buNone/>
            </a:pPr>
            <a:r>
              <a:rPr lang="en-US" sz="900" dirty="0">
                <a:solidFill>
                  <a:srgbClr val="2C8394"/>
                </a:solidFill>
                <a:latin typeface="Poppins" pitchFamily="34" charset="0"/>
                <a:ea typeface="Poppins" pitchFamily="34" charset="-122"/>
                <a:cs typeface="Poppins" pitchFamily="34" charset="-120"/>
              </a:rPr>
              <a:t>What's not? </a:t>
            </a:r>
            <a:pPr indent="0" marL="0">
              <a:buNone/>
            </a:pPr>
            <a:r>
              <a:rPr lang="en-US" sz="900" dirty="0">
                <a:solidFill>
                  <a:srgbClr val="3A4B57"/>
                </a:solidFill>
                <a:latin typeface="Poppins" pitchFamily="34" charset="0"/>
                <a:ea typeface="Poppins" pitchFamily="34" charset="-122"/>
                <a:cs typeface="Poppins" pitchFamily="34" charset="-120"/>
              </a:rPr>
              <a:t>xx</a:t>
            </a:r>
            <a:endParaRPr lang="en-US" sz="900" dirty="0"/>
          </a:p>
        </p:txBody>
      </p:sp>
      <p:sp>
        <p:nvSpPr>
          <p:cNvPr id="19" name="Shape 17"/>
          <p:cNvSpPr/>
          <p:nvPr/>
        </p:nvSpPr>
        <p:spPr>
          <a:xfrm>
            <a:off x="411480" y="3657600"/>
            <a:ext cx="3639312" cy="2331720"/>
          </a:xfrm>
          <a:prstGeom prst="roundRect">
            <a:avLst>
              <a:gd name="adj" fmla="val 2745"/>
            </a:avLst>
          </a:prstGeom>
          <a:solidFill>
            <a:srgbClr val="FFFFFF"/>
          </a:solidFill>
          <a:ln/>
          <a:effectLst>
            <a:outerShdw sx="100000" sy="100000" kx="0" ky="0" algn="bl" rotWithShape="0" blurRad="76200" dist="25400" dir="5400000">
              <a:srgbClr val="9AAAB5">
                <a:alpha val="35000"/>
              </a:srgbClr>
            </a:outerShdw>
          </a:effectLst>
        </p:spPr>
      </p:sp>
      <p:sp>
        <p:nvSpPr>
          <p:cNvPr id="20" name="Text 18"/>
          <p:cNvSpPr txBox="1"/>
          <p:nvPr/>
        </p:nvSpPr>
        <p:spPr>
          <a:xfrm>
            <a:off x="594360" y="3785616"/>
            <a:ext cx="3273552" cy="384048"/>
          </a:xfrm>
          <a:prstGeom prst="rect">
            <a:avLst/>
          </a:prstGeom>
          <a:noFill/>
          <a:ln/>
        </p:spPr>
        <p:txBody>
          <a:bodyPr wrap="square" lIns="0" tIns="0" rIns="0" bIns="0" rtlCol="0" anchor="ctr"/>
          <a:lstStyle/>
          <a:p>
            <a:pPr indent="0" marL="0">
              <a:buNone/>
            </a:pPr>
            <a:r>
              <a:rPr lang="en-US" sz="1050" b="1" dirty="0">
                <a:solidFill>
                  <a:srgbClr val="2C8394"/>
                </a:solidFill>
                <a:latin typeface="Poppins" pitchFamily="34" charset="0"/>
                <a:ea typeface="Poppins" pitchFamily="34" charset="-122"/>
                <a:cs typeface="Poppins" pitchFamily="34" charset="-120"/>
              </a:rPr>
              <a:t>SUPPORT SUMMARY</a:t>
            </a:r>
            <a:endParaRPr lang="en-US" sz="1050" dirty="0"/>
          </a:p>
        </p:txBody>
      </p:sp>
      <p:sp>
        <p:nvSpPr>
          <p:cNvPr id="21" name="Text 19"/>
          <p:cNvSpPr txBox="1"/>
          <p:nvPr/>
        </p:nvSpPr>
        <p:spPr>
          <a:xfrm>
            <a:off x="594360" y="4206240"/>
            <a:ext cx="3273552" cy="1645920"/>
          </a:xfrm>
          <a:prstGeom prst="rect">
            <a:avLst/>
          </a:prstGeom>
          <a:noFill/>
          <a:ln/>
        </p:spPr>
        <p:txBody>
          <a:bodyPr wrap="square" lIns="0" tIns="0" rIns="0" bIns="0" rtlCol="0" anchor="t"/>
          <a:lstStyle/>
          <a:p>
            <a:pPr indent="0" marL="0">
              <a:buNone/>
            </a:pPr>
            <a:r>
              <a:rPr lang="en-US" sz="900" dirty="0">
                <a:solidFill>
                  <a:srgbClr val="2C8394"/>
                </a:solidFill>
                <a:latin typeface="Poppins" pitchFamily="34" charset="0"/>
                <a:ea typeface="Poppins" pitchFamily="34" charset="-122"/>
                <a:cs typeface="Poppins" pitchFamily="34" charset="-120"/>
              </a:rPr>
              <a:t>Team on track to target and why? </a:t>
            </a:r>
            <a:pPr indent="0" marL="0">
              <a:spcAft>
                <a:spcPts val="1000"/>
              </a:spcAft>
              <a:buNone/>
            </a:pPr>
            <a:r>
              <a:rPr lang="en-US" sz="900" dirty="0">
                <a:solidFill>
                  <a:srgbClr val="3A4B57"/>
                </a:solidFill>
                <a:latin typeface="Poppins" pitchFamily="34" charset="0"/>
                <a:ea typeface="Poppins" pitchFamily="34" charset="-122"/>
                <a:cs typeface="Poppins" pitchFamily="34" charset="-120"/>
              </a:rPr>
              <a:t>inflow 564 vs resolved 611 — backlog 657 → 588, second straight fall, and the 90+ tail is down to 10</a:t>
            </a:r>
            <a:endParaRPr lang="en-US" sz="900" dirty="0"/>
          </a:p>
          <a:p>
            <a:pPr indent="0" marL="0">
              <a:buNone/>
            </a:pPr>
            <a:r>
              <a:rPr lang="en-US" sz="900" dirty="0">
                <a:solidFill>
                  <a:srgbClr val="2C8394"/>
                </a:solidFill>
                <a:latin typeface="Poppins" pitchFamily="34" charset="0"/>
                <a:ea typeface="Poppins" pitchFamily="34" charset="-122"/>
                <a:cs typeface="Poppins" pitchFamily="34" charset="-120"/>
              </a:rPr>
              <a:t>What's working well? </a:t>
            </a:r>
            <a:pPr indent="0" marL="0">
              <a:spcAft>
                <a:spcPts val="1000"/>
              </a:spcAft>
              <a:buNone/>
            </a:pPr>
            <a:r>
              <a:rPr lang="en-US" sz="900" dirty="0">
                <a:solidFill>
                  <a:srgbClr val="3A4B57"/>
                </a:solidFill>
                <a:latin typeface="Poppins" pitchFamily="34" charset="0"/>
                <a:ea typeface="Poppins" pitchFamily="34" charset="-122"/>
                <a:cs typeface="Poppins" pitchFamily="34" charset="-120"/>
              </a:rPr>
              <a:t>xx</a:t>
            </a:r>
            <a:endParaRPr lang="en-US" sz="900" dirty="0"/>
          </a:p>
          <a:p>
            <a:pPr indent="0" marL="0">
              <a:buNone/>
            </a:pPr>
            <a:r>
              <a:rPr lang="en-US" sz="900" dirty="0">
                <a:solidFill>
                  <a:srgbClr val="2C8394"/>
                </a:solidFill>
                <a:latin typeface="Poppins" pitchFamily="34" charset="0"/>
                <a:ea typeface="Poppins" pitchFamily="34" charset="-122"/>
                <a:cs typeface="Poppins" pitchFamily="34" charset="-120"/>
              </a:rPr>
              <a:t>What's not? </a:t>
            </a:r>
            <a:pPr indent="0" marL="0">
              <a:buNone/>
            </a:pPr>
            <a:r>
              <a:rPr lang="en-US" sz="900" dirty="0">
                <a:solidFill>
                  <a:srgbClr val="3A4B57"/>
                </a:solidFill>
                <a:latin typeface="Poppins" pitchFamily="34" charset="0"/>
                <a:ea typeface="Poppins" pitchFamily="34" charset="-122"/>
                <a:cs typeface="Poppins" pitchFamily="34" charset="-120"/>
              </a:rPr>
              <a:t>xx</a:t>
            </a:r>
            <a:endParaRPr lang="en-US" sz="900" dirty="0"/>
          </a:p>
        </p:txBody>
      </p:sp>
      <p:sp>
        <p:nvSpPr>
          <p:cNvPr id="22" name="Shape 20"/>
          <p:cNvSpPr/>
          <p:nvPr/>
        </p:nvSpPr>
        <p:spPr>
          <a:xfrm>
            <a:off x="4279392" y="3657600"/>
            <a:ext cx="3639312" cy="2331720"/>
          </a:xfrm>
          <a:prstGeom prst="roundRect">
            <a:avLst>
              <a:gd name="adj" fmla="val 2745"/>
            </a:avLst>
          </a:prstGeom>
          <a:solidFill>
            <a:srgbClr val="FFFFFF"/>
          </a:solidFill>
          <a:ln/>
          <a:effectLst>
            <a:outerShdw sx="100000" sy="100000" kx="0" ky="0" algn="bl" rotWithShape="0" blurRad="76200" dist="25400" dir="5400000">
              <a:srgbClr val="9AAAB5">
                <a:alpha val="35000"/>
              </a:srgbClr>
            </a:outerShdw>
          </a:effectLst>
        </p:spPr>
      </p:sp>
      <p:sp>
        <p:nvSpPr>
          <p:cNvPr id="23" name="Text 21"/>
          <p:cNvSpPr txBox="1"/>
          <p:nvPr/>
        </p:nvSpPr>
        <p:spPr>
          <a:xfrm>
            <a:off x="4462272" y="3785616"/>
            <a:ext cx="3273552" cy="384048"/>
          </a:xfrm>
          <a:prstGeom prst="rect">
            <a:avLst/>
          </a:prstGeom>
          <a:noFill/>
          <a:ln/>
        </p:spPr>
        <p:txBody>
          <a:bodyPr wrap="square" lIns="0" tIns="0" rIns="0" bIns="0" rtlCol="0" anchor="ctr"/>
          <a:lstStyle/>
          <a:p>
            <a:pPr indent="0" marL="0">
              <a:buNone/>
            </a:pPr>
            <a:r>
              <a:rPr lang="en-US" sz="1050" b="1" dirty="0">
                <a:solidFill>
                  <a:srgbClr val="2C8394"/>
                </a:solidFill>
                <a:latin typeface="Poppins" pitchFamily="34" charset="0"/>
                <a:ea typeface="Poppins" pitchFamily="34" charset="-122"/>
                <a:cs typeface="Poppins" pitchFamily="34" charset="-120"/>
              </a:rPr>
              <a:t>PRODUCT</a:t>
            </a:r>
            <a:endParaRPr lang="en-US" sz="1050" dirty="0"/>
          </a:p>
        </p:txBody>
      </p:sp>
      <p:sp>
        <p:nvSpPr>
          <p:cNvPr id="24" name="Text 22"/>
          <p:cNvSpPr txBox="1"/>
          <p:nvPr/>
        </p:nvSpPr>
        <p:spPr>
          <a:xfrm>
            <a:off x="4462272" y="4206240"/>
            <a:ext cx="3273552" cy="1645920"/>
          </a:xfrm>
          <a:prstGeom prst="rect">
            <a:avLst/>
          </a:prstGeom>
          <a:noFill/>
          <a:ln/>
        </p:spPr>
        <p:txBody>
          <a:bodyPr wrap="square" lIns="0" tIns="0" rIns="0" bIns="0" rtlCol="0" anchor="t"/>
          <a:lstStyle/>
          <a:p>
            <a:pPr indent="0" marL="0">
              <a:buNone/>
            </a:pPr>
            <a:r>
              <a:rPr lang="en-US" sz="900" dirty="0">
                <a:solidFill>
                  <a:srgbClr val="2C8394"/>
                </a:solidFill>
                <a:latin typeface="Poppins" pitchFamily="34" charset="0"/>
                <a:ea typeface="Poppins" pitchFamily="34" charset="-122"/>
                <a:cs typeface="Poppins" pitchFamily="34" charset="-120"/>
              </a:rPr>
              <a:t>Team on track to target and why? </a:t>
            </a:r>
            <a:pPr indent="0" marL="0">
              <a:spcAft>
                <a:spcPts val="1000"/>
              </a:spcAft>
              <a:buNone/>
            </a:pPr>
            <a:r>
              <a:rPr lang="en-US" sz="900" dirty="0">
                <a:solidFill>
                  <a:srgbClr val="3A4B57"/>
                </a:solidFill>
                <a:latin typeface="Poppins" pitchFamily="34" charset="0"/>
                <a:ea typeface="Poppins" pitchFamily="34" charset="-122"/>
                <a:cs typeface="Poppins" pitchFamily="34" charset="-120"/>
              </a:rPr>
              <a:t>Q3 roadmap as at 19 Sep: 10 done · 12 on track · 3 not started · 2 at risk — tracker refresh now five weeks pending</a:t>
            </a:r>
            <a:endParaRPr lang="en-US" sz="900" dirty="0"/>
          </a:p>
          <a:p>
            <a:pPr indent="0" marL="0">
              <a:buNone/>
            </a:pPr>
            <a:r>
              <a:rPr lang="en-US" sz="900" dirty="0">
                <a:solidFill>
                  <a:srgbClr val="2C8394"/>
                </a:solidFill>
                <a:latin typeface="Poppins" pitchFamily="34" charset="0"/>
                <a:ea typeface="Poppins" pitchFamily="34" charset="-122"/>
                <a:cs typeface="Poppins" pitchFamily="34" charset="-120"/>
              </a:rPr>
              <a:t>What's working well? </a:t>
            </a:r>
            <a:pPr indent="0" marL="0">
              <a:spcAft>
                <a:spcPts val="1000"/>
              </a:spcAft>
              <a:buNone/>
            </a:pPr>
            <a:r>
              <a:rPr lang="en-US" sz="900" dirty="0">
                <a:solidFill>
                  <a:srgbClr val="3A4B57"/>
                </a:solidFill>
                <a:latin typeface="Poppins" pitchFamily="34" charset="0"/>
                <a:ea typeface="Poppins" pitchFamily="34" charset="-122"/>
                <a:cs typeface="Poppins" pitchFamily="34" charset="-120"/>
              </a:rPr>
              <a:t>xx</a:t>
            </a:r>
            <a:endParaRPr lang="en-US" sz="900" dirty="0"/>
          </a:p>
          <a:p>
            <a:pPr indent="0" marL="0">
              <a:buNone/>
            </a:pPr>
            <a:r>
              <a:rPr lang="en-US" sz="900" dirty="0">
                <a:solidFill>
                  <a:srgbClr val="2C8394"/>
                </a:solidFill>
                <a:latin typeface="Poppins" pitchFamily="34" charset="0"/>
                <a:ea typeface="Poppins" pitchFamily="34" charset="-122"/>
                <a:cs typeface="Poppins" pitchFamily="34" charset="-120"/>
              </a:rPr>
              <a:t>What's not? </a:t>
            </a:r>
            <a:pPr indent="0" marL="0">
              <a:buNone/>
            </a:pPr>
            <a:r>
              <a:rPr lang="en-US" sz="900" dirty="0">
                <a:solidFill>
                  <a:srgbClr val="3A4B57"/>
                </a:solidFill>
                <a:latin typeface="Poppins" pitchFamily="34" charset="0"/>
                <a:ea typeface="Poppins" pitchFamily="34" charset="-122"/>
                <a:cs typeface="Poppins" pitchFamily="34" charset="-120"/>
              </a:rPr>
              <a:t>xx</a:t>
            </a:r>
            <a:endParaRPr lang="en-US" sz="900" dirty="0"/>
          </a:p>
        </p:txBody>
      </p:sp>
      <p:sp>
        <p:nvSpPr>
          <p:cNvPr id="25" name="Shape 23"/>
          <p:cNvSpPr/>
          <p:nvPr/>
        </p:nvSpPr>
        <p:spPr>
          <a:xfrm>
            <a:off x="8147304" y="3657600"/>
            <a:ext cx="3639312" cy="2331720"/>
          </a:xfrm>
          <a:prstGeom prst="roundRect">
            <a:avLst>
              <a:gd name="adj" fmla="val 2745"/>
            </a:avLst>
          </a:prstGeom>
          <a:solidFill>
            <a:srgbClr val="FFFFFF"/>
          </a:solidFill>
          <a:ln/>
          <a:effectLst>
            <a:outerShdw sx="100000" sy="100000" kx="0" ky="0" algn="bl" rotWithShape="0" blurRad="76200" dist="25400" dir="5400000">
              <a:srgbClr val="9AAAB5">
                <a:alpha val="35000"/>
              </a:srgbClr>
            </a:outerShdw>
          </a:effectLst>
        </p:spPr>
      </p:sp>
      <p:sp>
        <p:nvSpPr>
          <p:cNvPr id="26" name="Text 24"/>
          <p:cNvSpPr txBox="1"/>
          <p:nvPr/>
        </p:nvSpPr>
        <p:spPr>
          <a:xfrm>
            <a:off x="8330184" y="3785616"/>
            <a:ext cx="3273552" cy="384048"/>
          </a:xfrm>
          <a:prstGeom prst="rect">
            <a:avLst/>
          </a:prstGeom>
          <a:noFill/>
          <a:ln/>
        </p:spPr>
        <p:txBody>
          <a:bodyPr wrap="square" lIns="0" tIns="0" rIns="0" bIns="0" rtlCol="0" anchor="ctr"/>
          <a:lstStyle/>
          <a:p>
            <a:pPr indent="0" marL="0">
              <a:buNone/>
            </a:pPr>
            <a:r>
              <a:rPr lang="en-US" sz="1050" b="1" dirty="0">
                <a:solidFill>
                  <a:srgbClr val="2C8394"/>
                </a:solidFill>
                <a:latin typeface="Poppins" pitchFamily="34" charset="0"/>
                <a:ea typeface="Poppins" pitchFamily="34" charset="-122"/>
                <a:cs typeface="Poppins" pitchFamily="34" charset="-120"/>
              </a:rPr>
              <a:t>AI USAGE SUMMARY</a:t>
            </a:r>
            <a:endParaRPr lang="en-US" sz="1050" dirty="0"/>
          </a:p>
        </p:txBody>
      </p:sp>
      <p:sp>
        <p:nvSpPr>
          <p:cNvPr id="27" name="Text 25"/>
          <p:cNvSpPr txBox="1"/>
          <p:nvPr/>
        </p:nvSpPr>
        <p:spPr>
          <a:xfrm>
            <a:off x="8330184" y="4206240"/>
            <a:ext cx="3273552" cy="1645920"/>
          </a:xfrm>
          <a:prstGeom prst="rect">
            <a:avLst/>
          </a:prstGeom>
          <a:noFill/>
          <a:ln/>
        </p:spPr>
        <p:txBody>
          <a:bodyPr wrap="square" lIns="0" tIns="0" rIns="0" bIns="0" rtlCol="0" anchor="t"/>
          <a:lstStyle/>
          <a:p>
            <a:pPr indent="0" marL="0">
              <a:buNone/>
            </a:pPr>
            <a:r>
              <a:rPr lang="en-US" sz="900" dirty="0">
                <a:solidFill>
                  <a:srgbClr val="2C8394"/>
                </a:solidFill>
                <a:latin typeface="Poppins" pitchFamily="34" charset="0"/>
                <a:ea typeface="Poppins" pitchFamily="34" charset="-122"/>
                <a:cs typeface="Poppins" pitchFamily="34" charset="-120"/>
              </a:rPr>
              <a:t>Team on track to target and why? </a:t>
            </a:r>
            <a:pPr indent="0" marL="0">
              <a:spcAft>
                <a:spcPts val="1000"/>
              </a:spcAft>
              <a:buNone/>
            </a:pPr>
            <a:r>
              <a:rPr lang="en-US" sz="900" dirty="0">
                <a:solidFill>
                  <a:srgbClr val="3A4B57"/>
                </a:solidFill>
                <a:latin typeface="Poppins" pitchFamily="34" charset="0"/>
                <a:ea typeface="Poppins" pitchFamily="34" charset="-122"/>
                <a:cs typeface="Poppins" pitchFamily="34" charset="-120"/>
              </a:rPr>
              <a:t>no new Claude Admin capture this week — slide holds the 12 Oct read: 39 of 47 weekly, 12 daily</a:t>
            </a:r>
            <a:endParaRPr lang="en-US" sz="900" dirty="0"/>
          </a:p>
          <a:p>
            <a:pPr indent="0" marL="0">
              <a:buNone/>
            </a:pPr>
            <a:r>
              <a:rPr lang="en-US" sz="900" dirty="0">
                <a:solidFill>
                  <a:srgbClr val="2C8394"/>
                </a:solidFill>
                <a:latin typeface="Poppins" pitchFamily="34" charset="0"/>
                <a:ea typeface="Poppins" pitchFamily="34" charset="-122"/>
                <a:cs typeface="Poppins" pitchFamily="34" charset="-120"/>
              </a:rPr>
              <a:t>What's working well? </a:t>
            </a:r>
            <a:pPr indent="0" marL="0">
              <a:spcAft>
                <a:spcPts val="1000"/>
              </a:spcAft>
              <a:buNone/>
            </a:pPr>
            <a:r>
              <a:rPr lang="en-US" sz="900" dirty="0">
                <a:solidFill>
                  <a:srgbClr val="3A4B57"/>
                </a:solidFill>
                <a:latin typeface="Poppins" pitchFamily="34" charset="0"/>
                <a:ea typeface="Poppins" pitchFamily="34" charset="-122"/>
                <a:cs typeface="Poppins" pitchFamily="34" charset="-120"/>
              </a:rPr>
              <a:t>xx</a:t>
            </a:r>
            <a:endParaRPr lang="en-US" sz="900" dirty="0"/>
          </a:p>
          <a:p>
            <a:pPr indent="0" marL="0">
              <a:buNone/>
            </a:pPr>
            <a:r>
              <a:rPr lang="en-US" sz="900" dirty="0">
                <a:solidFill>
                  <a:srgbClr val="2C8394"/>
                </a:solidFill>
                <a:latin typeface="Poppins" pitchFamily="34" charset="0"/>
                <a:ea typeface="Poppins" pitchFamily="34" charset="-122"/>
                <a:cs typeface="Poppins" pitchFamily="34" charset="-120"/>
              </a:rPr>
              <a:t>What's not? </a:t>
            </a:r>
            <a:pPr indent="0" marL="0">
              <a:buNone/>
            </a:pPr>
            <a:r>
              <a:rPr lang="en-US" sz="900" dirty="0">
                <a:solidFill>
                  <a:srgbClr val="3A4B57"/>
                </a:solidFill>
                <a:latin typeface="Poppins" pitchFamily="34" charset="0"/>
                <a:ea typeface="Poppins" pitchFamily="34" charset="-122"/>
                <a:cs typeface="Poppins" pitchFamily="34" charset="-120"/>
              </a:rPr>
              <a:t>xx</a:t>
            </a:r>
            <a:endParaRPr lang="en-US" sz="900" dirty="0"/>
          </a:p>
        </p:txBody>
      </p:sp>
      <p:sp>
        <p:nvSpPr>
          <p:cNvPr id="28" name="Text 26"/>
          <p:cNvSpPr txBox="1"/>
          <p:nvPr/>
        </p:nvSpPr>
        <p:spPr>
          <a:xfrm>
            <a:off x="411480" y="6510528"/>
            <a:ext cx="7589520" cy="256032"/>
          </a:xfrm>
          <a:prstGeom prst="rect">
            <a:avLst/>
          </a:prstGeom>
          <a:noFill/>
          <a:ln/>
        </p:spPr>
        <p:txBody>
          <a:bodyPr wrap="square" lIns="0" tIns="0" rIns="0" bIns="0" rtlCol="0" anchor="ctr"/>
          <a:lstStyle/>
          <a:p>
            <a:pPr indent="0" marL="0">
              <a:buNone/>
            </a:pPr>
            <a:r>
              <a:rPr lang="en-US" sz="750" dirty="0">
                <a:solidFill>
                  <a:srgbClr val="8FA1AC"/>
                </a:solidFill>
                <a:latin typeface="Poppins" pitchFamily="34" charset="0"/>
                <a:ea typeface="Poppins" pitchFamily="34" charset="-122"/>
                <a:cs typeface="Poppins" pitchFamily="34" charset="-120"/>
              </a:rPr>
              <a:t>Commentary is leadership-editable — pre-filled lines are computed from this week's sources; 'xx' needs an owner's input</a:t>
            </a:r>
            <a:endParaRPr lang="en-US" sz="7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2F6F8"/>
        </a:solidFill>
      </p:bgPr>
    </p:bg>
    <p:spTree>
      <p:nvGrpSpPr>
        <p:cNvPr id="1" name=""/>
        <p:cNvGrpSpPr/>
        <p:nvPr/>
      </p:nvGrpSpPr>
      <p:grpSpPr>
        <a:xfrm>
          <a:off x="0" y="0"/>
          <a:ext cx="0" cy="0"/>
          <a:chOff x="0" y="0"/>
          <a:chExt cx="0" cy="0"/>
        </a:xfrm>
      </p:grpSpPr>
      <p:sp>
        <p:nvSpPr>
          <p:cNvPr id="2" name="Shape 0"/>
          <p:cNvSpPr/>
          <p:nvPr/>
        </p:nvSpPr>
        <p:spPr>
          <a:xfrm>
            <a:off x="0" y="0"/>
            <a:ext cx="12188952" cy="841248"/>
          </a:xfrm>
          <a:prstGeom prst="rect">
            <a:avLst/>
          </a:prstGeom>
          <a:solidFill>
            <a:srgbClr val="12293A"/>
          </a:solidFill>
          <a:ln/>
        </p:spPr>
      </p:sp>
      <p:sp>
        <p:nvSpPr>
          <p:cNvPr id="3" name="Shape 1"/>
          <p:cNvSpPr/>
          <p:nvPr/>
        </p:nvSpPr>
        <p:spPr>
          <a:xfrm>
            <a:off x="384048" y="155448"/>
            <a:ext cx="731520" cy="530352"/>
          </a:xfrm>
          <a:prstGeom prst="roundRect">
            <a:avLst>
              <a:gd name="adj" fmla="val 15517"/>
            </a:avLst>
          </a:prstGeom>
          <a:solidFill>
            <a:srgbClr val="FFFFFF"/>
          </a:solidFill>
          <a:ln/>
        </p:spPr>
      </p:sp>
      <p:sp>
        <p:nvSpPr>
          <p:cNvPr id="4" name="Text 2"/>
          <p:cNvSpPr txBox="1"/>
          <p:nvPr/>
        </p:nvSpPr>
        <p:spPr>
          <a:xfrm>
            <a:off x="384048" y="155448"/>
            <a:ext cx="731520" cy="530352"/>
          </a:xfrm>
          <a:prstGeom prst="rect">
            <a:avLst/>
          </a:prstGeom>
          <a:noFill/>
          <a:ln/>
        </p:spPr>
        <p:txBody>
          <a:bodyPr wrap="square" lIns="0" tIns="0" rIns="0" bIns="0" rtlCol="0" anchor="ctr"/>
          <a:lstStyle/>
          <a:p>
            <a:pPr algn="ctr" indent="0" marL="0">
              <a:buNone/>
            </a:pPr>
            <a:r>
              <a:rPr lang="en-US" sz="1500" b="1" dirty="0">
                <a:solidFill>
                  <a:srgbClr val="12293A"/>
                </a:solidFill>
                <a:latin typeface="Poppins" pitchFamily="34" charset="0"/>
                <a:ea typeface="Poppins" pitchFamily="34" charset="-122"/>
                <a:cs typeface="Poppins" pitchFamily="34" charset="-120"/>
              </a:rPr>
              <a:t>H&amp;L</a:t>
            </a:r>
            <a:endParaRPr lang="en-US" sz="1500" dirty="0"/>
          </a:p>
        </p:txBody>
      </p:sp>
      <p:sp>
        <p:nvSpPr>
          <p:cNvPr id="5" name="Text 3"/>
          <p:cNvSpPr txBox="1"/>
          <p:nvPr/>
        </p:nvSpPr>
        <p:spPr>
          <a:xfrm>
            <a:off x="1298448" y="54864"/>
            <a:ext cx="7223760" cy="475488"/>
          </a:xfrm>
          <a:prstGeom prst="rect">
            <a:avLst/>
          </a:prstGeom>
          <a:noFill/>
          <a:ln/>
        </p:spPr>
        <p:txBody>
          <a:bodyPr wrap="square" lIns="0" tIns="0" rIns="0" bIns="0" rtlCol="0" anchor="ctr"/>
          <a:lstStyle/>
          <a:p>
            <a:pPr indent="0" marL="0">
              <a:buNone/>
            </a:pPr>
            <a:r>
              <a:rPr lang="en-US" sz="2300" b="1" dirty="0">
                <a:solidFill>
                  <a:srgbClr val="FFFFFF"/>
                </a:solidFill>
                <a:latin typeface="Poppins" pitchFamily="34" charset="0"/>
                <a:ea typeface="Poppins" pitchFamily="34" charset="-122"/>
                <a:cs typeface="Poppins" pitchFamily="34" charset="-120"/>
              </a:rPr>
              <a:t>Target vs Invoiced — Sales Team Roll-up</a:t>
            </a:r>
            <a:endParaRPr lang="en-US" sz="2300" dirty="0"/>
          </a:p>
        </p:txBody>
      </p:sp>
      <p:sp>
        <p:nvSpPr>
          <p:cNvPr id="6" name="Text 4"/>
          <p:cNvSpPr txBox="1"/>
          <p:nvPr/>
        </p:nvSpPr>
        <p:spPr>
          <a:xfrm>
            <a:off x="1316736" y="512064"/>
            <a:ext cx="7040880" cy="256032"/>
          </a:xfrm>
          <a:prstGeom prst="rect">
            <a:avLst/>
          </a:prstGeom>
          <a:noFill/>
          <a:ln/>
        </p:spPr>
        <p:txBody>
          <a:bodyPr wrap="square" lIns="0" tIns="0" rIns="0" bIns="0" rtlCol="0" anchor="ctr"/>
          <a:lstStyle/>
          <a:p>
            <a:pPr indent="0" marL="0">
              <a:buNone/>
            </a:pPr>
            <a:r>
              <a:rPr lang="en-US" sz="1050" dirty="0">
                <a:solidFill>
                  <a:srgbClr val="6FAEBB"/>
                </a:solidFill>
                <a:latin typeface="Poppins" pitchFamily="34" charset="0"/>
                <a:ea typeface="Poppins" pitchFamily="34" charset="-122"/>
                <a:cs typeface="Poppins" pitchFamily="34" charset="-120"/>
              </a:rPr>
              <a:t>Finance</a:t>
            </a:r>
            <a:endParaRPr lang="en-US" sz="1050" dirty="0"/>
          </a:p>
        </p:txBody>
      </p:sp>
      <p:sp>
        <p:nvSpPr>
          <p:cNvPr id="7" name="Shape 5"/>
          <p:cNvSpPr/>
          <p:nvPr/>
        </p:nvSpPr>
        <p:spPr>
          <a:xfrm>
            <a:off x="8686800" y="246888"/>
            <a:ext cx="1965960" cy="347472"/>
          </a:xfrm>
          <a:prstGeom prst="roundRect">
            <a:avLst>
              <a:gd name="adj" fmla="val 50000"/>
            </a:avLst>
          </a:prstGeom>
          <a:solidFill>
            <a:srgbClr val="2C8394"/>
          </a:solidFill>
          <a:ln w="9525">
            <a:solidFill>
              <a:srgbClr val="FFFFFF">
                <a:alpha val="45000"/>
              </a:srgbClr>
            </a:solidFill>
            <a:prstDash val="solid"/>
          </a:ln>
        </p:spPr>
      </p:sp>
      <p:sp>
        <p:nvSpPr>
          <p:cNvPr id="8" name="Text 6"/>
          <p:cNvSpPr txBox="1"/>
          <p:nvPr/>
        </p:nvSpPr>
        <p:spPr>
          <a:xfrm>
            <a:off x="8686800" y="246888"/>
            <a:ext cx="1965960" cy="347472"/>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1  ·  DID WE SELL?</a:t>
            </a:r>
            <a:endParaRPr lang="en-US" sz="850" dirty="0"/>
          </a:p>
        </p:txBody>
      </p:sp>
      <p:sp>
        <p:nvSpPr>
          <p:cNvPr id="9" name="Shape 7"/>
          <p:cNvSpPr/>
          <p:nvPr/>
        </p:nvSpPr>
        <p:spPr>
          <a:xfrm>
            <a:off x="10872216" y="0"/>
            <a:ext cx="841248" cy="841248"/>
          </a:xfrm>
          <a:prstGeom prst="ellipse">
            <a:avLst/>
          </a:prstGeom>
          <a:solidFill>
            <a:srgbClr val="1C5765"/>
          </a:solidFill>
          <a:ln/>
        </p:spPr>
      </p:sp>
      <p:sp>
        <p:nvSpPr>
          <p:cNvPr id="10" name="Shape 8"/>
          <p:cNvSpPr/>
          <p:nvPr/>
        </p:nvSpPr>
        <p:spPr>
          <a:xfrm>
            <a:off x="10968228" y="96012"/>
            <a:ext cx="649224" cy="649224"/>
          </a:xfrm>
          <a:prstGeom prst="ellipse">
            <a:avLst/>
          </a:prstGeom>
          <a:solidFill>
            <a:srgbClr val="2C8394"/>
          </a:solidFill>
          <a:ln/>
        </p:spPr>
      </p:sp>
      <p:sp>
        <p:nvSpPr>
          <p:cNvPr id="11" name="Shape 9"/>
          <p:cNvSpPr/>
          <p:nvPr/>
        </p:nvSpPr>
        <p:spPr>
          <a:xfrm>
            <a:off x="11064240" y="192024"/>
            <a:ext cx="457200" cy="457200"/>
          </a:xfrm>
          <a:prstGeom prst="ellipse">
            <a:avLst/>
          </a:prstGeom>
          <a:solidFill>
            <a:srgbClr val="6FAEBB"/>
          </a:solidFill>
          <a:ln/>
        </p:spPr>
      </p:sp>
      <p:sp>
        <p:nvSpPr>
          <p:cNvPr id="12" name="Shape 10"/>
          <p:cNvSpPr/>
          <p:nvPr/>
        </p:nvSpPr>
        <p:spPr>
          <a:xfrm>
            <a:off x="11160252" y="288036"/>
            <a:ext cx="265176" cy="265176"/>
          </a:xfrm>
          <a:prstGeom prst="ellipse">
            <a:avLst/>
          </a:prstGeom>
          <a:solidFill>
            <a:srgbClr val="E4F1F4"/>
          </a:solidFill>
          <a:ln/>
        </p:spPr>
      </p:sp>
      <p:sp>
        <p:nvSpPr>
          <p:cNvPr id="13" name="Shape 11"/>
          <p:cNvSpPr/>
          <p:nvPr/>
        </p:nvSpPr>
        <p:spPr>
          <a:xfrm>
            <a:off x="411480" y="1005840"/>
            <a:ext cx="5532120" cy="1170432"/>
          </a:xfrm>
          <a:prstGeom prst="roundRect">
            <a:avLst>
              <a:gd name="adj" fmla="val 5469"/>
            </a:avLst>
          </a:prstGeom>
          <a:solidFill>
            <a:srgbClr val="FFFFFF"/>
          </a:solidFill>
          <a:ln/>
          <a:effectLst>
            <a:outerShdw sx="100000" sy="100000" kx="0" ky="0" algn="bl" rotWithShape="0" blurRad="76200" dist="25400" dir="5400000">
              <a:srgbClr val="9AAAB5">
                <a:alpha val="35000"/>
              </a:srgbClr>
            </a:outerShdw>
          </a:effectLst>
        </p:spPr>
      </p:sp>
      <p:sp>
        <p:nvSpPr>
          <p:cNvPr id="14" name="Text 12"/>
          <p:cNvSpPr txBox="1"/>
          <p:nvPr/>
        </p:nvSpPr>
        <p:spPr>
          <a:xfrm>
            <a:off x="594360" y="1097280"/>
            <a:ext cx="5120640" cy="237744"/>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NEW MRR — Q4 · OKR2 $28k · team $30k</a:t>
            </a:r>
            <a:endParaRPr lang="en-US" sz="950" dirty="0"/>
          </a:p>
        </p:txBody>
      </p:sp>
      <p:sp>
        <p:nvSpPr>
          <p:cNvPr id="15" name="Text 13"/>
          <p:cNvSpPr txBox="1"/>
          <p:nvPr/>
        </p:nvSpPr>
        <p:spPr>
          <a:xfrm>
            <a:off x="594360" y="1335024"/>
            <a:ext cx="3566160" cy="384048"/>
          </a:xfrm>
          <a:prstGeom prst="rect">
            <a:avLst/>
          </a:prstGeom>
          <a:noFill/>
          <a:ln/>
        </p:spPr>
        <p:txBody>
          <a:bodyPr wrap="square" lIns="0" tIns="0" rIns="0" bIns="0" rtlCol="0" anchor="ctr"/>
          <a:lstStyle/>
          <a:p>
            <a:pPr indent="0" marL="0">
              <a:buNone/>
            </a:pPr>
            <a:r>
              <a:rPr lang="en-US" sz="2400" b="1" dirty="0">
                <a:solidFill>
                  <a:srgbClr val="B4552D"/>
                </a:solidFill>
                <a:latin typeface="Poppins" pitchFamily="34" charset="0"/>
                <a:ea typeface="Poppins" pitchFamily="34" charset="-122"/>
                <a:cs typeface="Poppins" pitchFamily="34" charset="-120"/>
              </a:rPr>
              <a:t>$4k</a:t>
            </a:r>
            <a:pPr indent="0" marL="0">
              <a:buNone/>
            </a:pPr>
            <a:r>
              <a:rPr lang="en-US" sz="950" dirty="0">
                <a:solidFill>
                  <a:srgbClr val="5E7280"/>
                </a:solidFill>
                <a:latin typeface="Poppins" pitchFamily="34" charset="0"/>
                <a:ea typeface="Poppins" pitchFamily="34" charset="-122"/>
                <a:cs typeface="Poppins" pitchFamily="34" charset="-120"/>
              </a:rPr>
              <a:t>  of $28k target · register live</a:t>
            </a:r>
            <a:endParaRPr lang="en-US" sz="2400" dirty="0"/>
          </a:p>
        </p:txBody>
      </p:sp>
      <p:sp>
        <p:nvSpPr>
          <p:cNvPr id="16" name="Text 14"/>
          <p:cNvSpPr txBox="1"/>
          <p:nvPr/>
        </p:nvSpPr>
        <p:spPr>
          <a:xfrm>
            <a:off x="3611880" y="1371600"/>
            <a:ext cx="2240280" cy="310896"/>
          </a:xfrm>
          <a:prstGeom prst="rect">
            <a:avLst/>
          </a:prstGeom>
          <a:noFill/>
          <a:ln/>
        </p:spPr>
        <p:txBody>
          <a:bodyPr wrap="square" lIns="0" tIns="0" rIns="0" bIns="0" rtlCol="0" anchor="ctr"/>
          <a:lstStyle/>
          <a:p>
            <a:pPr algn="r" indent="0" marL="0">
              <a:buNone/>
            </a:pPr>
            <a:r>
              <a:rPr lang="en-US" sz="950" b="1" dirty="0">
                <a:solidFill>
                  <a:srgbClr val="B4552D"/>
                </a:solidFill>
                <a:latin typeface="Poppins" pitchFamily="34" charset="0"/>
                <a:ea typeface="Poppins" pitchFamily="34" charset="-122"/>
                <a:cs typeface="Poppins" pitchFamily="34" charset="-120"/>
              </a:rPr>
              <a:t>▼ −$181 net this wk</a:t>
            </a:r>
            <a:endParaRPr lang="en-US" sz="950" dirty="0"/>
          </a:p>
        </p:txBody>
      </p:sp>
      <p:sp>
        <p:nvSpPr>
          <p:cNvPr id="17" name="Shape 15"/>
          <p:cNvSpPr/>
          <p:nvPr/>
        </p:nvSpPr>
        <p:spPr>
          <a:xfrm>
            <a:off x="594360" y="1901952"/>
            <a:ext cx="4206240" cy="100584"/>
          </a:xfrm>
          <a:prstGeom prst="roundRect">
            <a:avLst>
              <a:gd name="adj" fmla="val 45455"/>
            </a:avLst>
          </a:prstGeom>
          <a:solidFill>
            <a:srgbClr val="E2EAEE"/>
          </a:solidFill>
          <a:ln/>
        </p:spPr>
      </p:sp>
      <p:sp>
        <p:nvSpPr>
          <p:cNvPr id="18" name="Shape 16"/>
          <p:cNvSpPr/>
          <p:nvPr/>
        </p:nvSpPr>
        <p:spPr>
          <a:xfrm>
            <a:off x="594360" y="1901952"/>
            <a:ext cx="588874" cy="100584"/>
          </a:xfrm>
          <a:prstGeom prst="roundRect">
            <a:avLst>
              <a:gd name="adj" fmla="val 45455"/>
            </a:avLst>
          </a:prstGeom>
          <a:solidFill>
            <a:srgbClr val="B4552D"/>
          </a:solidFill>
          <a:ln/>
        </p:spPr>
      </p:sp>
      <p:sp>
        <p:nvSpPr>
          <p:cNvPr id="19" name="Shape 17"/>
          <p:cNvSpPr/>
          <p:nvPr/>
        </p:nvSpPr>
        <p:spPr>
          <a:xfrm>
            <a:off x="1425550" y="1856232"/>
            <a:ext cx="20117" cy="192024"/>
          </a:xfrm>
          <a:prstGeom prst="rect">
            <a:avLst/>
          </a:prstGeom>
          <a:solidFill>
            <a:srgbClr val="12293A"/>
          </a:solidFill>
          <a:ln/>
        </p:spPr>
      </p:sp>
      <p:sp>
        <p:nvSpPr>
          <p:cNvPr id="20" name="Text 18"/>
          <p:cNvSpPr txBox="1"/>
          <p:nvPr/>
        </p:nvSpPr>
        <p:spPr>
          <a:xfrm>
            <a:off x="4892040" y="1801368"/>
            <a:ext cx="1005840" cy="274320"/>
          </a:xfrm>
          <a:prstGeom prst="rect">
            <a:avLst/>
          </a:prstGeom>
          <a:noFill/>
          <a:ln/>
        </p:spPr>
        <p:txBody>
          <a:bodyPr wrap="square" lIns="0" tIns="0" rIns="0" bIns="0" rtlCol="0" anchor="ctr"/>
          <a:lstStyle/>
          <a:p>
            <a:pPr algn="r" indent="0" marL="0">
              <a:buNone/>
            </a:pPr>
            <a:r>
              <a:rPr lang="en-US" sz="1000" b="1" dirty="0">
                <a:solidFill>
                  <a:srgbClr val="B4552D"/>
                </a:solidFill>
                <a:latin typeface="Poppins" pitchFamily="34" charset="0"/>
                <a:ea typeface="Poppins" pitchFamily="34" charset="-122"/>
                <a:cs typeface="Poppins" pitchFamily="34" charset="-120"/>
              </a:rPr>
              <a:t>14%</a:t>
            </a:r>
            <a:pPr algn="r" indent="0" marL="0">
              <a:buNone/>
            </a:pPr>
            <a:r>
              <a:rPr lang="en-US" sz="800" dirty="0">
                <a:solidFill>
                  <a:srgbClr val="8FA1AC"/>
                </a:solidFill>
                <a:latin typeface="Poppins" pitchFamily="34" charset="0"/>
                <a:ea typeface="Poppins" pitchFamily="34" charset="-122"/>
                <a:cs typeface="Poppins" pitchFamily="34" charset="-120"/>
              </a:rPr>
              <a:t> · pace 20%</a:t>
            </a:r>
            <a:endParaRPr lang="en-US" sz="1000" dirty="0"/>
          </a:p>
        </p:txBody>
      </p:sp>
      <p:sp>
        <p:nvSpPr>
          <p:cNvPr id="21" name="Shape 19"/>
          <p:cNvSpPr/>
          <p:nvPr/>
        </p:nvSpPr>
        <p:spPr>
          <a:xfrm>
            <a:off x="6245352" y="1005840"/>
            <a:ext cx="5532120" cy="1170432"/>
          </a:xfrm>
          <a:prstGeom prst="roundRect">
            <a:avLst>
              <a:gd name="adj" fmla="val 5469"/>
            </a:avLst>
          </a:prstGeom>
          <a:solidFill>
            <a:srgbClr val="FFFFFF"/>
          </a:solidFill>
          <a:ln/>
          <a:effectLst>
            <a:outerShdw sx="100000" sy="100000" kx="0" ky="0" algn="bl" rotWithShape="0" blurRad="76200" dist="25400" dir="5400000">
              <a:srgbClr val="9AAAB5">
                <a:alpha val="35000"/>
              </a:srgbClr>
            </a:outerShdw>
          </a:effectLst>
        </p:spPr>
      </p:sp>
      <p:sp>
        <p:nvSpPr>
          <p:cNvPr id="22" name="Text 20"/>
          <p:cNvSpPr txBox="1"/>
          <p:nvPr/>
        </p:nvSpPr>
        <p:spPr>
          <a:xfrm>
            <a:off x="6428232" y="1097280"/>
            <a:ext cx="5120640" cy="237744"/>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HARDWARE — Q4 · OKR2 $715k · team $761k</a:t>
            </a:r>
            <a:endParaRPr lang="en-US" sz="950" dirty="0"/>
          </a:p>
        </p:txBody>
      </p:sp>
      <p:sp>
        <p:nvSpPr>
          <p:cNvPr id="23" name="Text 21"/>
          <p:cNvSpPr txBox="1"/>
          <p:nvPr/>
        </p:nvSpPr>
        <p:spPr>
          <a:xfrm>
            <a:off x="6428232" y="1335024"/>
            <a:ext cx="3566160" cy="384048"/>
          </a:xfrm>
          <a:prstGeom prst="rect">
            <a:avLst/>
          </a:prstGeom>
          <a:noFill/>
          <a:ln/>
        </p:spPr>
        <p:txBody>
          <a:bodyPr wrap="square" lIns="0" tIns="0" rIns="0" bIns="0" rtlCol="0" anchor="ctr"/>
          <a:lstStyle/>
          <a:p>
            <a:pPr indent="0" marL="0">
              <a:buNone/>
            </a:pPr>
            <a:r>
              <a:rPr lang="en-US" sz="2400" b="1" dirty="0">
                <a:solidFill>
                  <a:srgbClr val="B4552D"/>
                </a:solidFill>
                <a:latin typeface="Poppins" pitchFamily="34" charset="0"/>
                <a:ea typeface="Poppins" pitchFamily="34" charset="-122"/>
                <a:cs typeface="Poppins" pitchFamily="34" charset="-120"/>
              </a:rPr>
              <a:t>$99k</a:t>
            </a:r>
            <a:pPr indent="0" marL="0">
              <a:buNone/>
            </a:pPr>
            <a:r>
              <a:rPr lang="en-US" sz="950" dirty="0">
                <a:solidFill>
                  <a:srgbClr val="5E7280"/>
                </a:solidFill>
                <a:latin typeface="Poppins" pitchFamily="34" charset="0"/>
                <a:ea typeface="Poppins" pitchFamily="34" charset="-122"/>
                <a:cs typeface="Poppins" pitchFamily="34" charset="-120"/>
              </a:rPr>
              <a:t>  of $715k target</a:t>
            </a:r>
            <a:endParaRPr lang="en-US" sz="2400" dirty="0"/>
          </a:p>
        </p:txBody>
      </p:sp>
      <p:sp>
        <p:nvSpPr>
          <p:cNvPr id="24" name="Text 22"/>
          <p:cNvSpPr txBox="1"/>
          <p:nvPr/>
        </p:nvSpPr>
        <p:spPr>
          <a:xfrm>
            <a:off x="9509760" y="1371600"/>
            <a:ext cx="2057400" cy="310896"/>
          </a:xfrm>
          <a:prstGeom prst="rect">
            <a:avLst/>
          </a:prstGeom>
          <a:noFill/>
          <a:ln/>
        </p:spPr>
        <p:txBody>
          <a:bodyPr wrap="square" lIns="0" tIns="0" rIns="0" bIns="0" rtlCol="0" anchor="ctr"/>
          <a:lstStyle/>
          <a:p>
            <a:pPr algn="r" indent="0" marL="0">
              <a:buNone/>
            </a:pPr>
            <a:r>
              <a:rPr lang="en-US" sz="950" b="1" dirty="0">
                <a:solidFill>
                  <a:srgbClr val="3D8F5F"/>
                </a:solidFill>
                <a:latin typeface="Poppins" pitchFamily="34" charset="0"/>
                <a:ea typeface="Poppins" pitchFamily="34" charset="-122"/>
                <a:cs typeface="Poppins" pitchFamily="34" charset="-120"/>
              </a:rPr>
              <a:t>▲ +$71k this wk</a:t>
            </a:r>
            <a:endParaRPr lang="en-US" sz="950" dirty="0"/>
          </a:p>
        </p:txBody>
      </p:sp>
      <p:sp>
        <p:nvSpPr>
          <p:cNvPr id="25" name="Shape 23"/>
          <p:cNvSpPr/>
          <p:nvPr/>
        </p:nvSpPr>
        <p:spPr>
          <a:xfrm>
            <a:off x="6428232" y="1901952"/>
            <a:ext cx="4206240" cy="100584"/>
          </a:xfrm>
          <a:prstGeom prst="roundRect">
            <a:avLst>
              <a:gd name="adj" fmla="val 45455"/>
            </a:avLst>
          </a:prstGeom>
          <a:solidFill>
            <a:srgbClr val="E2EAEE"/>
          </a:solidFill>
          <a:ln/>
        </p:spPr>
      </p:sp>
      <p:sp>
        <p:nvSpPr>
          <p:cNvPr id="26" name="Shape 24"/>
          <p:cNvSpPr/>
          <p:nvPr/>
        </p:nvSpPr>
        <p:spPr>
          <a:xfrm>
            <a:off x="6428232" y="1901952"/>
            <a:ext cx="588874" cy="100584"/>
          </a:xfrm>
          <a:prstGeom prst="roundRect">
            <a:avLst>
              <a:gd name="adj" fmla="val 45455"/>
            </a:avLst>
          </a:prstGeom>
          <a:solidFill>
            <a:srgbClr val="B4552D"/>
          </a:solidFill>
          <a:ln/>
        </p:spPr>
      </p:sp>
      <p:sp>
        <p:nvSpPr>
          <p:cNvPr id="27" name="Shape 25"/>
          <p:cNvSpPr/>
          <p:nvPr/>
        </p:nvSpPr>
        <p:spPr>
          <a:xfrm>
            <a:off x="7259422" y="1856232"/>
            <a:ext cx="20117" cy="192024"/>
          </a:xfrm>
          <a:prstGeom prst="rect">
            <a:avLst/>
          </a:prstGeom>
          <a:solidFill>
            <a:srgbClr val="12293A"/>
          </a:solidFill>
          <a:ln/>
        </p:spPr>
      </p:sp>
      <p:sp>
        <p:nvSpPr>
          <p:cNvPr id="28" name="Text 26"/>
          <p:cNvSpPr txBox="1"/>
          <p:nvPr/>
        </p:nvSpPr>
        <p:spPr>
          <a:xfrm>
            <a:off x="10725912" y="1801368"/>
            <a:ext cx="1005840" cy="274320"/>
          </a:xfrm>
          <a:prstGeom prst="rect">
            <a:avLst/>
          </a:prstGeom>
          <a:noFill/>
          <a:ln/>
        </p:spPr>
        <p:txBody>
          <a:bodyPr wrap="square" lIns="0" tIns="0" rIns="0" bIns="0" rtlCol="0" anchor="ctr"/>
          <a:lstStyle/>
          <a:p>
            <a:pPr algn="r" indent="0" marL="0">
              <a:buNone/>
            </a:pPr>
            <a:r>
              <a:rPr lang="en-US" sz="1000" b="1" dirty="0">
                <a:solidFill>
                  <a:srgbClr val="B4552D"/>
                </a:solidFill>
                <a:latin typeface="Poppins" pitchFamily="34" charset="0"/>
                <a:ea typeface="Poppins" pitchFamily="34" charset="-122"/>
                <a:cs typeface="Poppins" pitchFamily="34" charset="-120"/>
              </a:rPr>
              <a:t>14%</a:t>
            </a:r>
            <a:pPr algn="r" indent="0" marL="0">
              <a:buNone/>
            </a:pPr>
            <a:r>
              <a:rPr lang="en-US" sz="800" dirty="0">
                <a:solidFill>
                  <a:srgbClr val="8FA1AC"/>
                </a:solidFill>
                <a:latin typeface="Poppins" pitchFamily="34" charset="0"/>
                <a:ea typeface="Poppins" pitchFamily="34" charset="-122"/>
                <a:cs typeface="Poppins" pitchFamily="34" charset="-120"/>
              </a:rPr>
              <a:t> · pace 20%</a:t>
            </a:r>
            <a:endParaRPr lang="en-US" sz="1000" dirty="0"/>
          </a:p>
        </p:txBody>
      </p:sp>
      <p:sp>
        <p:nvSpPr>
          <p:cNvPr id="29" name="Shape 27"/>
          <p:cNvSpPr/>
          <p:nvPr/>
        </p:nvSpPr>
        <p:spPr>
          <a:xfrm>
            <a:off x="411480" y="2340864"/>
            <a:ext cx="7635240" cy="4041648"/>
          </a:xfrm>
          <a:prstGeom prst="roundRect">
            <a:avLst>
              <a:gd name="adj" fmla="val 1584"/>
            </a:avLst>
          </a:prstGeom>
          <a:solidFill>
            <a:srgbClr val="FFFFFF"/>
          </a:solidFill>
          <a:ln/>
          <a:effectLst>
            <a:outerShdw sx="100000" sy="100000" kx="0" ky="0" algn="bl" rotWithShape="0" blurRad="76200" dist="25400" dir="5400000">
              <a:srgbClr val="9AAAB5">
                <a:alpha val="35000"/>
              </a:srgbClr>
            </a:outerShdw>
          </a:effectLst>
        </p:spPr>
      </p:sp>
      <p:sp>
        <p:nvSpPr>
          <p:cNvPr id="30" name="Text 28"/>
          <p:cNvSpPr txBox="1"/>
          <p:nvPr/>
        </p:nvSpPr>
        <p:spPr>
          <a:xfrm>
            <a:off x="612648" y="2450592"/>
            <a:ext cx="7232904"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Q4 BY MEMBER   </a:t>
            </a:r>
            <a:pPr indent="0" marL="0">
              <a:buNone/>
            </a:pPr>
            <a:r>
              <a:rPr lang="en-US" sz="800" dirty="0">
                <a:solidFill>
                  <a:srgbClr val="8FA1AC"/>
                </a:solidFill>
                <a:latin typeface="Poppins" pitchFamily="34" charset="0"/>
                <a:ea typeface="Poppins" pitchFamily="34" charset="-122"/>
                <a:cs typeface="Poppins" pitchFamily="34" charset="-120"/>
              </a:rPr>
              <a:t>▮ pace mark = share of quarter elapsed (20%)</a:t>
            </a:r>
            <a:endParaRPr lang="en-US" sz="1200" dirty="0"/>
          </a:p>
        </p:txBody>
      </p:sp>
      <p:sp>
        <p:nvSpPr>
          <p:cNvPr id="31" name="Text 29"/>
          <p:cNvSpPr txBox="1"/>
          <p:nvPr/>
        </p:nvSpPr>
        <p:spPr>
          <a:xfrm>
            <a:off x="2002536" y="2724912"/>
            <a:ext cx="2542032" cy="201168"/>
          </a:xfrm>
          <a:prstGeom prst="rect">
            <a:avLst/>
          </a:prstGeom>
          <a:noFill/>
          <a:ln/>
        </p:spPr>
        <p:txBody>
          <a:bodyPr wrap="square" lIns="0" tIns="0" rIns="0" bIns="0" rtlCol="0" anchor="ctr"/>
          <a:lstStyle/>
          <a:p>
            <a:pPr indent="0" marL="0">
              <a:buNone/>
            </a:pPr>
            <a:r>
              <a:rPr lang="en-US" sz="800" b="1" dirty="0">
                <a:solidFill>
                  <a:srgbClr val="2C8394"/>
                </a:solidFill>
                <a:latin typeface="Poppins" pitchFamily="34" charset="0"/>
                <a:ea typeface="Poppins" pitchFamily="34" charset="-122"/>
                <a:cs typeface="Poppins" pitchFamily="34" charset="-120"/>
              </a:rPr>
              <a:t>NEW MRR ($/qtr) · register live</a:t>
            </a:r>
            <a:endParaRPr lang="en-US" sz="800" dirty="0"/>
          </a:p>
        </p:txBody>
      </p:sp>
      <p:sp>
        <p:nvSpPr>
          <p:cNvPr id="32" name="Text 30"/>
          <p:cNvSpPr txBox="1"/>
          <p:nvPr/>
        </p:nvSpPr>
        <p:spPr>
          <a:xfrm>
            <a:off x="4599432" y="2724912"/>
            <a:ext cx="3200400" cy="201168"/>
          </a:xfrm>
          <a:prstGeom prst="rect">
            <a:avLst/>
          </a:prstGeom>
          <a:noFill/>
          <a:ln/>
        </p:spPr>
        <p:txBody>
          <a:bodyPr wrap="square" lIns="0" tIns="0" rIns="0" bIns="0" rtlCol="0" anchor="ctr"/>
          <a:lstStyle/>
          <a:p>
            <a:pPr indent="0" marL="0">
              <a:buNone/>
            </a:pPr>
            <a:r>
              <a:rPr lang="en-US" sz="800" b="1" dirty="0">
                <a:solidFill>
                  <a:srgbClr val="2C8394"/>
                </a:solidFill>
                <a:latin typeface="Poppins" pitchFamily="34" charset="0"/>
                <a:ea typeface="Poppins" pitchFamily="34" charset="-122"/>
                <a:cs typeface="Poppins" pitchFamily="34" charset="-120"/>
              </a:rPr>
              <a:t>HARDWARE ($/qtr) · extracts to 18 Oct</a:t>
            </a:r>
            <a:endParaRPr lang="en-US" sz="800" dirty="0"/>
          </a:p>
        </p:txBody>
      </p:sp>
      <p:sp>
        <p:nvSpPr>
          <p:cNvPr id="33" name="Text 31"/>
          <p:cNvSpPr txBox="1"/>
          <p:nvPr/>
        </p:nvSpPr>
        <p:spPr>
          <a:xfrm>
            <a:off x="612648" y="2944368"/>
            <a:ext cx="1371600" cy="182880"/>
          </a:xfrm>
          <a:prstGeom prst="rect">
            <a:avLst/>
          </a:prstGeom>
          <a:noFill/>
          <a:ln/>
        </p:spPr>
        <p:txBody>
          <a:bodyPr wrap="square" lIns="0" tIns="0" rIns="0" bIns="0" rtlCol="0" anchor="ctr"/>
          <a:lstStyle/>
          <a:p>
            <a:pPr algn="l" indent="0" marL="0">
              <a:buNone/>
            </a:pPr>
            <a:r>
              <a:rPr lang="en-US" sz="750" b="1" dirty="0">
                <a:solidFill>
                  <a:srgbClr val="8FA1AC"/>
                </a:solidFill>
                <a:latin typeface="Poppins" pitchFamily="34" charset="0"/>
                <a:ea typeface="Poppins" pitchFamily="34" charset="-122"/>
                <a:cs typeface="Poppins" pitchFamily="34" charset="-120"/>
              </a:rPr>
              <a:t>MEMBER</a:t>
            </a:r>
            <a:endParaRPr lang="en-US" sz="750" dirty="0"/>
          </a:p>
        </p:txBody>
      </p:sp>
      <p:sp>
        <p:nvSpPr>
          <p:cNvPr id="34" name="Text 32"/>
          <p:cNvSpPr txBox="1"/>
          <p:nvPr/>
        </p:nvSpPr>
        <p:spPr>
          <a:xfrm>
            <a:off x="2002536" y="2944368"/>
            <a:ext cx="475488" cy="182880"/>
          </a:xfrm>
          <a:prstGeom prst="rect">
            <a:avLst/>
          </a:prstGeom>
          <a:noFill/>
          <a:ln/>
        </p:spPr>
        <p:txBody>
          <a:bodyPr wrap="square" lIns="0" tIns="0" rIns="0" bIns="0" rtlCol="0" anchor="ctr"/>
          <a:lstStyle/>
          <a:p>
            <a:pPr algn="r" indent="0" marL="0">
              <a:buNone/>
            </a:pPr>
            <a:r>
              <a:rPr lang="en-US" sz="750" b="1" dirty="0">
                <a:solidFill>
                  <a:srgbClr val="8FA1AC"/>
                </a:solidFill>
                <a:latin typeface="Poppins" pitchFamily="34" charset="0"/>
                <a:ea typeface="Poppins" pitchFamily="34" charset="-122"/>
                <a:cs typeface="Poppins" pitchFamily="34" charset="-120"/>
              </a:rPr>
              <a:t>TGT</a:t>
            </a:r>
            <a:endParaRPr lang="en-US" sz="750" dirty="0"/>
          </a:p>
        </p:txBody>
      </p:sp>
      <p:sp>
        <p:nvSpPr>
          <p:cNvPr id="35" name="Text 33"/>
          <p:cNvSpPr txBox="1"/>
          <p:nvPr/>
        </p:nvSpPr>
        <p:spPr>
          <a:xfrm>
            <a:off x="2514600" y="2944368"/>
            <a:ext cx="475488" cy="182880"/>
          </a:xfrm>
          <a:prstGeom prst="rect">
            <a:avLst/>
          </a:prstGeom>
          <a:noFill/>
          <a:ln/>
        </p:spPr>
        <p:txBody>
          <a:bodyPr wrap="square" lIns="0" tIns="0" rIns="0" bIns="0" rtlCol="0" anchor="ctr"/>
          <a:lstStyle/>
          <a:p>
            <a:pPr algn="r" indent="0" marL="0">
              <a:buNone/>
            </a:pPr>
            <a:r>
              <a:rPr lang="en-US" sz="750" b="1" dirty="0">
                <a:solidFill>
                  <a:srgbClr val="8FA1AC"/>
                </a:solidFill>
                <a:latin typeface="Poppins" pitchFamily="34" charset="0"/>
                <a:ea typeface="Poppins" pitchFamily="34" charset="-122"/>
                <a:cs typeface="Poppins" pitchFamily="34" charset="-120"/>
              </a:rPr>
              <a:t>QTD</a:t>
            </a:r>
            <a:endParaRPr lang="en-US" sz="750" dirty="0"/>
          </a:p>
        </p:txBody>
      </p:sp>
      <p:sp>
        <p:nvSpPr>
          <p:cNvPr id="36" name="Text 34"/>
          <p:cNvSpPr txBox="1"/>
          <p:nvPr/>
        </p:nvSpPr>
        <p:spPr>
          <a:xfrm>
            <a:off x="3044952" y="2944368"/>
            <a:ext cx="914400" cy="182880"/>
          </a:xfrm>
          <a:prstGeom prst="rect">
            <a:avLst/>
          </a:prstGeom>
          <a:noFill/>
          <a:ln/>
        </p:spPr>
        <p:txBody>
          <a:bodyPr wrap="square" lIns="0" tIns="0" rIns="0" bIns="0" rtlCol="0" anchor="ctr"/>
          <a:lstStyle/>
          <a:p>
            <a:pPr algn="l" indent="0" marL="0">
              <a:buNone/>
            </a:pPr>
            <a:r>
              <a:rPr lang="en-US" sz="750" b="1" dirty="0">
                <a:solidFill>
                  <a:srgbClr val="8FA1AC"/>
                </a:solidFill>
                <a:latin typeface="Poppins" pitchFamily="34" charset="0"/>
                <a:ea typeface="Poppins" pitchFamily="34" charset="-122"/>
                <a:cs typeface="Poppins" pitchFamily="34" charset="-120"/>
              </a:rPr>
              <a:t>ATTAIN</a:t>
            </a:r>
            <a:endParaRPr lang="en-US" sz="750" dirty="0"/>
          </a:p>
        </p:txBody>
      </p:sp>
      <p:sp>
        <p:nvSpPr>
          <p:cNvPr id="37" name="Text 35"/>
          <p:cNvSpPr txBox="1"/>
          <p:nvPr/>
        </p:nvSpPr>
        <p:spPr>
          <a:xfrm>
            <a:off x="3904488" y="2944368"/>
            <a:ext cx="640080" cy="182880"/>
          </a:xfrm>
          <a:prstGeom prst="rect">
            <a:avLst/>
          </a:prstGeom>
          <a:noFill/>
          <a:ln/>
        </p:spPr>
        <p:txBody>
          <a:bodyPr wrap="square" lIns="0" tIns="0" rIns="0" bIns="0" rtlCol="0" anchor="ctr"/>
          <a:lstStyle/>
          <a:p>
            <a:pPr algn="r" indent="0" marL="0">
              <a:buNone/>
            </a:pPr>
            <a:r>
              <a:rPr lang="en-US" sz="750" b="1" dirty="0">
                <a:solidFill>
                  <a:srgbClr val="8FA1AC"/>
                </a:solidFill>
                <a:latin typeface="Poppins" pitchFamily="34" charset="0"/>
                <a:ea typeface="Poppins" pitchFamily="34" charset="-122"/>
                <a:cs typeface="Poppins" pitchFamily="34" charset="-120"/>
              </a:rPr>
              <a:t>NET Δ WK</a:t>
            </a:r>
            <a:endParaRPr lang="en-US" sz="750" dirty="0"/>
          </a:p>
        </p:txBody>
      </p:sp>
      <p:sp>
        <p:nvSpPr>
          <p:cNvPr id="38" name="Text 36"/>
          <p:cNvSpPr txBox="1"/>
          <p:nvPr/>
        </p:nvSpPr>
        <p:spPr>
          <a:xfrm>
            <a:off x="4599432" y="2944368"/>
            <a:ext cx="548640" cy="182880"/>
          </a:xfrm>
          <a:prstGeom prst="rect">
            <a:avLst/>
          </a:prstGeom>
          <a:noFill/>
          <a:ln/>
        </p:spPr>
        <p:txBody>
          <a:bodyPr wrap="square" lIns="0" tIns="0" rIns="0" bIns="0" rtlCol="0" anchor="ctr"/>
          <a:lstStyle/>
          <a:p>
            <a:pPr algn="r" indent="0" marL="0">
              <a:buNone/>
            </a:pPr>
            <a:r>
              <a:rPr lang="en-US" sz="750" b="1" dirty="0">
                <a:solidFill>
                  <a:srgbClr val="8FA1AC"/>
                </a:solidFill>
                <a:latin typeface="Poppins" pitchFamily="34" charset="0"/>
                <a:ea typeface="Poppins" pitchFamily="34" charset="-122"/>
                <a:cs typeface="Poppins" pitchFamily="34" charset="-120"/>
              </a:rPr>
              <a:t>TGT</a:t>
            </a:r>
            <a:endParaRPr lang="en-US" sz="750" dirty="0"/>
          </a:p>
        </p:txBody>
      </p:sp>
      <p:sp>
        <p:nvSpPr>
          <p:cNvPr id="39" name="Text 37"/>
          <p:cNvSpPr txBox="1"/>
          <p:nvPr/>
        </p:nvSpPr>
        <p:spPr>
          <a:xfrm>
            <a:off x="5184648" y="2944368"/>
            <a:ext cx="603504" cy="182880"/>
          </a:xfrm>
          <a:prstGeom prst="rect">
            <a:avLst/>
          </a:prstGeom>
          <a:noFill/>
          <a:ln/>
        </p:spPr>
        <p:txBody>
          <a:bodyPr wrap="square" lIns="0" tIns="0" rIns="0" bIns="0" rtlCol="0" anchor="ctr"/>
          <a:lstStyle/>
          <a:p>
            <a:pPr algn="r" indent="0" marL="0">
              <a:buNone/>
            </a:pPr>
            <a:r>
              <a:rPr lang="en-US" sz="750" b="1" dirty="0">
                <a:solidFill>
                  <a:srgbClr val="8FA1AC"/>
                </a:solidFill>
                <a:latin typeface="Poppins" pitchFamily="34" charset="0"/>
                <a:ea typeface="Poppins" pitchFamily="34" charset="-122"/>
                <a:cs typeface="Poppins" pitchFamily="34" charset="-120"/>
              </a:rPr>
              <a:t>QTD</a:t>
            </a:r>
            <a:endParaRPr lang="en-US" sz="750" dirty="0"/>
          </a:p>
        </p:txBody>
      </p:sp>
      <p:sp>
        <p:nvSpPr>
          <p:cNvPr id="40" name="Text 38"/>
          <p:cNvSpPr txBox="1"/>
          <p:nvPr/>
        </p:nvSpPr>
        <p:spPr>
          <a:xfrm>
            <a:off x="5843016" y="2944368"/>
            <a:ext cx="932688" cy="182880"/>
          </a:xfrm>
          <a:prstGeom prst="rect">
            <a:avLst/>
          </a:prstGeom>
          <a:noFill/>
          <a:ln/>
        </p:spPr>
        <p:txBody>
          <a:bodyPr wrap="square" lIns="0" tIns="0" rIns="0" bIns="0" rtlCol="0" anchor="ctr"/>
          <a:lstStyle/>
          <a:p>
            <a:pPr algn="l" indent="0" marL="0">
              <a:buNone/>
            </a:pPr>
            <a:r>
              <a:rPr lang="en-US" sz="750" b="1" dirty="0">
                <a:solidFill>
                  <a:srgbClr val="8FA1AC"/>
                </a:solidFill>
                <a:latin typeface="Poppins" pitchFamily="34" charset="0"/>
                <a:ea typeface="Poppins" pitchFamily="34" charset="-122"/>
                <a:cs typeface="Poppins" pitchFamily="34" charset="-120"/>
              </a:rPr>
              <a:t>ATTAIN</a:t>
            </a:r>
            <a:endParaRPr lang="en-US" sz="750" dirty="0"/>
          </a:p>
        </p:txBody>
      </p:sp>
      <p:sp>
        <p:nvSpPr>
          <p:cNvPr id="41" name="Text 39"/>
          <p:cNvSpPr txBox="1"/>
          <p:nvPr/>
        </p:nvSpPr>
        <p:spPr>
          <a:xfrm>
            <a:off x="6830568" y="2944368"/>
            <a:ext cx="987552" cy="182880"/>
          </a:xfrm>
          <a:prstGeom prst="rect">
            <a:avLst/>
          </a:prstGeom>
          <a:noFill/>
          <a:ln/>
        </p:spPr>
        <p:txBody>
          <a:bodyPr wrap="square" lIns="0" tIns="0" rIns="0" bIns="0" rtlCol="0" anchor="ctr"/>
          <a:lstStyle/>
          <a:p>
            <a:pPr algn="r" indent="0" marL="0">
              <a:buNone/>
            </a:pPr>
            <a:r>
              <a:rPr lang="en-US" sz="750" b="1" dirty="0">
                <a:solidFill>
                  <a:srgbClr val="8FA1AC"/>
                </a:solidFill>
                <a:latin typeface="Poppins" pitchFamily="34" charset="0"/>
                <a:ea typeface="Poppins" pitchFamily="34" charset="-122"/>
                <a:cs typeface="Poppins" pitchFamily="34" charset="-120"/>
              </a:rPr>
              <a:t>Δ WK</a:t>
            </a:r>
            <a:endParaRPr lang="en-US" sz="750" dirty="0"/>
          </a:p>
        </p:txBody>
      </p:sp>
      <p:sp>
        <p:nvSpPr>
          <p:cNvPr id="42" name="Shape 40"/>
          <p:cNvSpPr/>
          <p:nvPr/>
        </p:nvSpPr>
        <p:spPr>
          <a:xfrm>
            <a:off x="612648" y="3461004"/>
            <a:ext cx="7232904" cy="6401"/>
          </a:xfrm>
          <a:prstGeom prst="rect">
            <a:avLst/>
          </a:prstGeom>
          <a:solidFill>
            <a:srgbClr val="E2EAEE"/>
          </a:solidFill>
          <a:ln/>
        </p:spPr>
      </p:sp>
      <p:sp>
        <p:nvSpPr>
          <p:cNvPr id="43" name="Text 41"/>
          <p:cNvSpPr txBox="1"/>
          <p:nvPr/>
        </p:nvSpPr>
        <p:spPr>
          <a:xfrm>
            <a:off x="612648" y="3182112"/>
            <a:ext cx="1371600" cy="315468"/>
          </a:xfrm>
          <a:prstGeom prst="rect">
            <a:avLst/>
          </a:prstGeom>
          <a:noFill/>
          <a:ln/>
        </p:spPr>
        <p:txBody>
          <a:bodyPr wrap="square" lIns="0" tIns="0" rIns="0" bIns="0" rtlCol="0" anchor="ctr"/>
          <a:lstStyle/>
          <a:p>
            <a:pPr indent="0" marL="0">
              <a:buNone/>
            </a:pPr>
            <a:r>
              <a:rPr lang="en-US" sz="900" dirty="0">
                <a:solidFill>
                  <a:srgbClr val="12293A"/>
                </a:solidFill>
                <a:latin typeface="Poppins" pitchFamily="34" charset="0"/>
                <a:ea typeface="Poppins" pitchFamily="34" charset="-122"/>
                <a:cs typeface="Poppins" pitchFamily="34" charset="-120"/>
              </a:rPr>
              <a:t>Bjorn Magabo</a:t>
            </a:r>
            <a:endParaRPr lang="en-US" sz="900" dirty="0"/>
          </a:p>
        </p:txBody>
      </p:sp>
      <p:sp>
        <p:nvSpPr>
          <p:cNvPr id="44" name="Text 42"/>
          <p:cNvSpPr txBox="1"/>
          <p:nvPr/>
        </p:nvSpPr>
        <p:spPr>
          <a:xfrm>
            <a:off x="2002536" y="3182112"/>
            <a:ext cx="475488"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$5k</a:t>
            </a:r>
            <a:endParaRPr lang="en-US" sz="850" dirty="0"/>
          </a:p>
        </p:txBody>
      </p:sp>
      <p:sp>
        <p:nvSpPr>
          <p:cNvPr id="45" name="Text 43"/>
          <p:cNvSpPr txBox="1"/>
          <p:nvPr/>
        </p:nvSpPr>
        <p:spPr>
          <a:xfrm>
            <a:off x="2514600" y="3182112"/>
            <a:ext cx="475488"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$421</a:t>
            </a:r>
            <a:endParaRPr lang="en-US" sz="850" dirty="0"/>
          </a:p>
        </p:txBody>
      </p:sp>
      <p:sp>
        <p:nvSpPr>
          <p:cNvPr id="46" name="Shape 44"/>
          <p:cNvSpPr/>
          <p:nvPr/>
        </p:nvSpPr>
        <p:spPr>
          <a:xfrm>
            <a:off x="3081528" y="3294126"/>
            <a:ext cx="548640" cy="100584"/>
          </a:xfrm>
          <a:prstGeom prst="roundRect">
            <a:avLst>
              <a:gd name="adj" fmla="val 45455"/>
            </a:avLst>
          </a:prstGeom>
          <a:solidFill>
            <a:srgbClr val="E2EAEE"/>
          </a:solidFill>
          <a:ln/>
        </p:spPr>
      </p:sp>
      <p:sp>
        <p:nvSpPr>
          <p:cNvPr id="47" name="Shape 45"/>
          <p:cNvSpPr/>
          <p:nvPr/>
        </p:nvSpPr>
        <p:spPr>
          <a:xfrm>
            <a:off x="3081528" y="3294126"/>
            <a:ext cx="54864" cy="100584"/>
          </a:xfrm>
          <a:prstGeom prst="roundRect">
            <a:avLst>
              <a:gd name="adj" fmla="val 83333"/>
            </a:avLst>
          </a:prstGeom>
          <a:solidFill>
            <a:srgbClr val="B4552D"/>
          </a:solidFill>
          <a:ln/>
        </p:spPr>
      </p:sp>
      <p:sp>
        <p:nvSpPr>
          <p:cNvPr id="48" name="Shape 46"/>
          <p:cNvSpPr/>
          <p:nvPr/>
        </p:nvSpPr>
        <p:spPr>
          <a:xfrm>
            <a:off x="3181198" y="3248406"/>
            <a:ext cx="20117" cy="192024"/>
          </a:xfrm>
          <a:prstGeom prst="rect">
            <a:avLst/>
          </a:prstGeom>
          <a:solidFill>
            <a:srgbClr val="12293A"/>
          </a:solidFill>
          <a:ln/>
        </p:spPr>
      </p:sp>
      <p:sp>
        <p:nvSpPr>
          <p:cNvPr id="49" name="Text 47"/>
          <p:cNvSpPr txBox="1"/>
          <p:nvPr/>
        </p:nvSpPr>
        <p:spPr>
          <a:xfrm>
            <a:off x="3630168" y="3182112"/>
            <a:ext cx="329184" cy="315468"/>
          </a:xfrm>
          <a:prstGeom prst="rect">
            <a:avLst/>
          </a:prstGeom>
          <a:noFill/>
          <a:ln/>
        </p:spPr>
        <p:txBody>
          <a:bodyPr wrap="square" lIns="0" tIns="0" rIns="0" bIns="0" rtlCol="0" anchor="ctr"/>
          <a:lstStyle/>
          <a:p>
            <a:pPr algn="r" indent="0" marL="0">
              <a:buNone/>
            </a:pPr>
            <a:r>
              <a:rPr lang="en-US" sz="800" b="1" dirty="0">
                <a:solidFill>
                  <a:srgbClr val="B4552D"/>
                </a:solidFill>
                <a:latin typeface="Poppins" pitchFamily="34" charset="0"/>
                <a:ea typeface="Poppins" pitchFamily="34" charset="-122"/>
                <a:cs typeface="Poppins" pitchFamily="34" charset="-120"/>
              </a:rPr>
              <a:t>8%</a:t>
            </a:r>
            <a:endParaRPr lang="en-US" sz="800" dirty="0"/>
          </a:p>
        </p:txBody>
      </p:sp>
      <p:sp>
        <p:nvSpPr>
          <p:cNvPr id="50" name="Text 48"/>
          <p:cNvSpPr txBox="1"/>
          <p:nvPr/>
        </p:nvSpPr>
        <p:spPr>
          <a:xfrm>
            <a:off x="3904488" y="3182112"/>
            <a:ext cx="640080" cy="315468"/>
          </a:xfrm>
          <a:prstGeom prst="rect">
            <a:avLst/>
          </a:prstGeom>
          <a:noFill/>
          <a:ln/>
        </p:spPr>
        <p:txBody>
          <a:bodyPr wrap="square" lIns="0" tIns="0" rIns="0" bIns="0" rtlCol="0" anchor="ctr"/>
          <a:lstStyle/>
          <a:p>
            <a:pPr algn="r" indent="0" marL="0">
              <a:buNone/>
            </a:pPr>
            <a:r>
              <a:rPr lang="en-US" sz="850" dirty="0">
                <a:solidFill>
                  <a:srgbClr val="8FA1AC"/>
                </a:solidFill>
                <a:latin typeface="Poppins" pitchFamily="34" charset="0"/>
                <a:ea typeface="Poppins" pitchFamily="34" charset="-122"/>
                <a:cs typeface="Poppins" pitchFamily="34" charset="-120"/>
              </a:rPr>
              <a:t>—</a:t>
            </a:r>
            <a:endParaRPr lang="en-US" sz="850" dirty="0"/>
          </a:p>
        </p:txBody>
      </p:sp>
      <p:sp>
        <p:nvSpPr>
          <p:cNvPr id="51" name="Text 49"/>
          <p:cNvSpPr txBox="1"/>
          <p:nvPr/>
        </p:nvSpPr>
        <p:spPr>
          <a:xfrm>
            <a:off x="4599432" y="3182112"/>
            <a:ext cx="548640"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$140k</a:t>
            </a:r>
            <a:endParaRPr lang="en-US" sz="850" dirty="0"/>
          </a:p>
        </p:txBody>
      </p:sp>
      <p:sp>
        <p:nvSpPr>
          <p:cNvPr id="52" name="Text 50"/>
          <p:cNvSpPr txBox="1"/>
          <p:nvPr/>
        </p:nvSpPr>
        <p:spPr>
          <a:xfrm>
            <a:off x="5184648" y="3182112"/>
            <a:ext cx="603504"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$5k</a:t>
            </a:r>
            <a:endParaRPr lang="en-US" sz="850" dirty="0"/>
          </a:p>
        </p:txBody>
      </p:sp>
      <p:sp>
        <p:nvSpPr>
          <p:cNvPr id="53" name="Shape 51"/>
          <p:cNvSpPr/>
          <p:nvPr/>
        </p:nvSpPr>
        <p:spPr>
          <a:xfrm>
            <a:off x="5879592" y="3294126"/>
            <a:ext cx="566928" cy="100584"/>
          </a:xfrm>
          <a:prstGeom prst="roundRect">
            <a:avLst>
              <a:gd name="adj" fmla="val 45455"/>
            </a:avLst>
          </a:prstGeom>
          <a:solidFill>
            <a:srgbClr val="E2EAEE"/>
          </a:solidFill>
          <a:ln/>
        </p:spPr>
      </p:sp>
      <p:sp>
        <p:nvSpPr>
          <p:cNvPr id="54" name="Shape 52"/>
          <p:cNvSpPr/>
          <p:nvPr/>
        </p:nvSpPr>
        <p:spPr>
          <a:xfrm>
            <a:off x="5879592" y="3294126"/>
            <a:ext cx="54864" cy="100584"/>
          </a:xfrm>
          <a:prstGeom prst="roundRect">
            <a:avLst>
              <a:gd name="adj" fmla="val 83333"/>
            </a:avLst>
          </a:prstGeom>
          <a:solidFill>
            <a:srgbClr val="B4552D"/>
          </a:solidFill>
          <a:ln/>
        </p:spPr>
      </p:sp>
      <p:sp>
        <p:nvSpPr>
          <p:cNvPr id="55" name="Shape 53"/>
          <p:cNvSpPr/>
          <p:nvPr/>
        </p:nvSpPr>
        <p:spPr>
          <a:xfrm>
            <a:off x="5982919" y="3248406"/>
            <a:ext cx="20117" cy="192024"/>
          </a:xfrm>
          <a:prstGeom prst="rect">
            <a:avLst/>
          </a:prstGeom>
          <a:solidFill>
            <a:srgbClr val="12293A"/>
          </a:solidFill>
          <a:ln/>
        </p:spPr>
      </p:sp>
      <p:sp>
        <p:nvSpPr>
          <p:cNvPr id="56" name="Text 54"/>
          <p:cNvSpPr txBox="1"/>
          <p:nvPr/>
        </p:nvSpPr>
        <p:spPr>
          <a:xfrm>
            <a:off x="6464808" y="3182112"/>
            <a:ext cx="329184" cy="315468"/>
          </a:xfrm>
          <a:prstGeom prst="rect">
            <a:avLst/>
          </a:prstGeom>
          <a:noFill/>
          <a:ln/>
        </p:spPr>
        <p:txBody>
          <a:bodyPr wrap="square" lIns="0" tIns="0" rIns="0" bIns="0" rtlCol="0" anchor="ctr"/>
          <a:lstStyle/>
          <a:p>
            <a:pPr algn="r" indent="0" marL="0">
              <a:buNone/>
            </a:pPr>
            <a:r>
              <a:rPr lang="en-US" sz="800" b="1" dirty="0">
                <a:solidFill>
                  <a:srgbClr val="B4552D"/>
                </a:solidFill>
                <a:latin typeface="Poppins" pitchFamily="34" charset="0"/>
                <a:ea typeface="Poppins" pitchFamily="34" charset="-122"/>
                <a:cs typeface="Poppins" pitchFamily="34" charset="-120"/>
              </a:rPr>
              <a:t>4%</a:t>
            </a:r>
            <a:endParaRPr lang="en-US" sz="800" dirty="0"/>
          </a:p>
        </p:txBody>
      </p:sp>
      <p:sp>
        <p:nvSpPr>
          <p:cNvPr id="57" name="Text 55"/>
          <p:cNvSpPr txBox="1"/>
          <p:nvPr/>
        </p:nvSpPr>
        <p:spPr>
          <a:xfrm>
            <a:off x="6830568" y="3182112"/>
            <a:ext cx="987552" cy="315468"/>
          </a:xfrm>
          <a:prstGeom prst="rect">
            <a:avLst/>
          </a:prstGeom>
          <a:noFill/>
          <a:ln/>
        </p:spPr>
        <p:txBody>
          <a:bodyPr wrap="square" lIns="0" tIns="0" rIns="0" bIns="0" rtlCol="0" anchor="ctr"/>
          <a:lstStyle/>
          <a:p>
            <a:pPr algn="r" indent="0" marL="0">
              <a:buNone/>
            </a:pPr>
            <a:r>
              <a:rPr lang="en-US" sz="850" b="1" dirty="0">
                <a:solidFill>
                  <a:srgbClr val="8FA1AC"/>
                </a:solidFill>
                <a:latin typeface="Poppins" pitchFamily="34" charset="0"/>
                <a:ea typeface="Poppins" pitchFamily="34" charset="-122"/>
                <a:cs typeface="Poppins" pitchFamily="34" charset="-120"/>
              </a:rPr>
              <a:t>—</a:t>
            </a:r>
            <a:endParaRPr lang="en-US" sz="850" dirty="0"/>
          </a:p>
        </p:txBody>
      </p:sp>
      <p:sp>
        <p:nvSpPr>
          <p:cNvPr id="58" name="Shape 56"/>
          <p:cNvSpPr/>
          <p:nvPr/>
        </p:nvSpPr>
        <p:spPr>
          <a:xfrm>
            <a:off x="612648" y="3776472"/>
            <a:ext cx="7232904" cy="6401"/>
          </a:xfrm>
          <a:prstGeom prst="rect">
            <a:avLst/>
          </a:prstGeom>
          <a:solidFill>
            <a:srgbClr val="E2EAEE"/>
          </a:solidFill>
          <a:ln/>
        </p:spPr>
      </p:sp>
      <p:sp>
        <p:nvSpPr>
          <p:cNvPr id="59" name="Text 57"/>
          <p:cNvSpPr txBox="1"/>
          <p:nvPr/>
        </p:nvSpPr>
        <p:spPr>
          <a:xfrm>
            <a:off x="612648" y="3497580"/>
            <a:ext cx="1371600" cy="315468"/>
          </a:xfrm>
          <a:prstGeom prst="rect">
            <a:avLst/>
          </a:prstGeom>
          <a:noFill/>
          <a:ln/>
        </p:spPr>
        <p:txBody>
          <a:bodyPr wrap="square" lIns="0" tIns="0" rIns="0" bIns="0" rtlCol="0" anchor="ctr"/>
          <a:lstStyle/>
          <a:p>
            <a:pPr indent="0" marL="0">
              <a:buNone/>
            </a:pPr>
            <a:r>
              <a:rPr lang="en-US" sz="900" dirty="0">
                <a:solidFill>
                  <a:srgbClr val="12293A"/>
                </a:solidFill>
                <a:latin typeface="Poppins" pitchFamily="34" charset="0"/>
                <a:ea typeface="Poppins" pitchFamily="34" charset="-122"/>
                <a:cs typeface="Poppins" pitchFamily="34" charset="-120"/>
              </a:rPr>
              <a:t>Brett Gorman</a:t>
            </a:r>
            <a:endParaRPr lang="en-US" sz="900" dirty="0"/>
          </a:p>
        </p:txBody>
      </p:sp>
      <p:sp>
        <p:nvSpPr>
          <p:cNvPr id="60" name="Text 58"/>
          <p:cNvSpPr txBox="1"/>
          <p:nvPr/>
        </p:nvSpPr>
        <p:spPr>
          <a:xfrm>
            <a:off x="2002536" y="3497580"/>
            <a:ext cx="475488"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$5k</a:t>
            </a:r>
            <a:endParaRPr lang="en-US" sz="850" dirty="0"/>
          </a:p>
        </p:txBody>
      </p:sp>
      <p:sp>
        <p:nvSpPr>
          <p:cNvPr id="61" name="Text 59"/>
          <p:cNvSpPr txBox="1"/>
          <p:nvPr/>
        </p:nvSpPr>
        <p:spPr>
          <a:xfrm>
            <a:off x="2514600" y="3497580"/>
            <a:ext cx="475488"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$658</a:t>
            </a:r>
            <a:endParaRPr lang="en-US" sz="850" dirty="0"/>
          </a:p>
        </p:txBody>
      </p:sp>
      <p:sp>
        <p:nvSpPr>
          <p:cNvPr id="62" name="Shape 60"/>
          <p:cNvSpPr/>
          <p:nvPr/>
        </p:nvSpPr>
        <p:spPr>
          <a:xfrm>
            <a:off x="3081528" y="3609594"/>
            <a:ext cx="548640" cy="100584"/>
          </a:xfrm>
          <a:prstGeom prst="roundRect">
            <a:avLst>
              <a:gd name="adj" fmla="val 45455"/>
            </a:avLst>
          </a:prstGeom>
          <a:solidFill>
            <a:srgbClr val="E2EAEE"/>
          </a:solidFill>
          <a:ln/>
        </p:spPr>
      </p:sp>
      <p:sp>
        <p:nvSpPr>
          <p:cNvPr id="63" name="Shape 61"/>
          <p:cNvSpPr/>
          <p:nvPr/>
        </p:nvSpPr>
        <p:spPr>
          <a:xfrm>
            <a:off x="3081528" y="3609594"/>
            <a:ext cx="71323" cy="100584"/>
          </a:xfrm>
          <a:prstGeom prst="roundRect">
            <a:avLst>
              <a:gd name="adj" fmla="val 64103"/>
            </a:avLst>
          </a:prstGeom>
          <a:solidFill>
            <a:srgbClr val="B4552D"/>
          </a:solidFill>
          <a:ln/>
        </p:spPr>
      </p:sp>
      <p:sp>
        <p:nvSpPr>
          <p:cNvPr id="64" name="Shape 62"/>
          <p:cNvSpPr/>
          <p:nvPr/>
        </p:nvSpPr>
        <p:spPr>
          <a:xfrm>
            <a:off x="3181198" y="3563874"/>
            <a:ext cx="20117" cy="192024"/>
          </a:xfrm>
          <a:prstGeom prst="rect">
            <a:avLst/>
          </a:prstGeom>
          <a:solidFill>
            <a:srgbClr val="12293A"/>
          </a:solidFill>
          <a:ln/>
        </p:spPr>
      </p:sp>
      <p:sp>
        <p:nvSpPr>
          <p:cNvPr id="65" name="Text 63"/>
          <p:cNvSpPr txBox="1"/>
          <p:nvPr/>
        </p:nvSpPr>
        <p:spPr>
          <a:xfrm>
            <a:off x="3630168" y="3497580"/>
            <a:ext cx="329184" cy="315468"/>
          </a:xfrm>
          <a:prstGeom prst="rect">
            <a:avLst/>
          </a:prstGeom>
          <a:noFill/>
          <a:ln/>
        </p:spPr>
        <p:txBody>
          <a:bodyPr wrap="square" lIns="0" tIns="0" rIns="0" bIns="0" rtlCol="0" anchor="ctr"/>
          <a:lstStyle/>
          <a:p>
            <a:pPr algn="r" indent="0" marL="0">
              <a:buNone/>
            </a:pPr>
            <a:r>
              <a:rPr lang="en-US" sz="800" b="1" dirty="0">
                <a:solidFill>
                  <a:srgbClr val="B4552D"/>
                </a:solidFill>
                <a:latin typeface="Poppins" pitchFamily="34" charset="0"/>
                <a:ea typeface="Poppins" pitchFamily="34" charset="-122"/>
                <a:cs typeface="Poppins" pitchFamily="34" charset="-120"/>
              </a:rPr>
              <a:t>13%</a:t>
            </a:r>
            <a:endParaRPr lang="en-US" sz="800" dirty="0"/>
          </a:p>
        </p:txBody>
      </p:sp>
      <p:sp>
        <p:nvSpPr>
          <p:cNvPr id="66" name="Text 64"/>
          <p:cNvSpPr txBox="1"/>
          <p:nvPr/>
        </p:nvSpPr>
        <p:spPr>
          <a:xfrm>
            <a:off x="3904488" y="3497580"/>
            <a:ext cx="640080"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−288</a:t>
            </a:r>
            <a:endParaRPr lang="en-US" sz="850" dirty="0"/>
          </a:p>
        </p:txBody>
      </p:sp>
      <p:sp>
        <p:nvSpPr>
          <p:cNvPr id="67" name="Text 65"/>
          <p:cNvSpPr txBox="1"/>
          <p:nvPr/>
        </p:nvSpPr>
        <p:spPr>
          <a:xfrm>
            <a:off x="4599432" y="3497580"/>
            <a:ext cx="548640"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$143k</a:t>
            </a:r>
            <a:endParaRPr lang="en-US" sz="850" dirty="0"/>
          </a:p>
        </p:txBody>
      </p:sp>
      <p:sp>
        <p:nvSpPr>
          <p:cNvPr id="68" name="Text 66"/>
          <p:cNvSpPr txBox="1"/>
          <p:nvPr/>
        </p:nvSpPr>
        <p:spPr>
          <a:xfrm>
            <a:off x="5184648" y="3497580"/>
            <a:ext cx="603504"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$16k</a:t>
            </a:r>
            <a:endParaRPr lang="en-US" sz="850" dirty="0"/>
          </a:p>
        </p:txBody>
      </p:sp>
      <p:sp>
        <p:nvSpPr>
          <p:cNvPr id="69" name="Shape 67"/>
          <p:cNvSpPr/>
          <p:nvPr/>
        </p:nvSpPr>
        <p:spPr>
          <a:xfrm>
            <a:off x="5879592" y="3609594"/>
            <a:ext cx="566928" cy="100584"/>
          </a:xfrm>
          <a:prstGeom prst="roundRect">
            <a:avLst>
              <a:gd name="adj" fmla="val 45455"/>
            </a:avLst>
          </a:prstGeom>
          <a:solidFill>
            <a:srgbClr val="E2EAEE"/>
          </a:solidFill>
          <a:ln/>
        </p:spPr>
      </p:sp>
      <p:sp>
        <p:nvSpPr>
          <p:cNvPr id="70" name="Shape 68"/>
          <p:cNvSpPr/>
          <p:nvPr/>
        </p:nvSpPr>
        <p:spPr>
          <a:xfrm>
            <a:off x="5879592" y="3609594"/>
            <a:ext cx="62362" cy="100584"/>
          </a:xfrm>
          <a:prstGeom prst="roundRect">
            <a:avLst>
              <a:gd name="adj" fmla="val 73314"/>
            </a:avLst>
          </a:prstGeom>
          <a:solidFill>
            <a:srgbClr val="B4552D"/>
          </a:solidFill>
          <a:ln/>
        </p:spPr>
      </p:sp>
      <p:sp>
        <p:nvSpPr>
          <p:cNvPr id="71" name="Shape 69"/>
          <p:cNvSpPr/>
          <p:nvPr/>
        </p:nvSpPr>
        <p:spPr>
          <a:xfrm>
            <a:off x="5982919" y="3563874"/>
            <a:ext cx="20117" cy="192024"/>
          </a:xfrm>
          <a:prstGeom prst="rect">
            <a:avLst/>
          </a:prstGeom>
          <a:solidFill>
            <a:srgbClr val="12293A"/>
          </a:solidFill>
          <a:ln/>
        </p:spPr>
      </p:sp>
      <p:sp>
        <p:nvSpPr>
          <p:cNvPr id="72" name="Text 70"/>
          <p:cNvSpPr txBox="1"/>
          <p:nvPr/>
        </p:nvSpPr>
        <p:spPr>
          <a:xfrm>
            <a:off x="6464808" y="3497580"/>
            <a:ext cx="329184" cy="315468"/>
          </a:xfrm>
          <a:prstGeom prst="rect">
            <a:avLst/>
          </a:prstGeom>
          <a:noFill/>
          <a:ln/>
        </p:spPr>
        <p:txBody>
          <a:bodyPr wrap="square" lIns="0" tIns="0" rIns="0" bIns="0" rtlCol="0" anchor="ctr"/>
          <a:lstStyle/>
          <a:p>
            <a:pPr algn="r" indent="0" marL="0">
              <a:buNone/>
            </a:pPr>
            <a:r>
              <a:rPr lang="en-US" sz="800" b="1" dirty="0">
                <a:solidFill>
                  <a:srgbClr val="B4552D"/>
                </a:solidFill>
                <a:latin typeface="Poppins" pitchFamily="34" charset="0"/>
                <a:ea typeface="Poppins" pitchFamily="34" charset="-122"/>
                <a:cs typeface="Poppins" pitchFamily="34" charset="-120"/>
              </a:rPr>
              <a:t>11%</a:t>
            </a:r>
            <a:endParaRPr lang="en-US" sz="800" dirty="0"/>
          </a:p>
        </p:txBody>
      </p:sp>
      <p:sp>
        <p:nvSpPr>
          <p:cNvPr id="73" name="Text 71"/>
          <p:cNvSpPr txBox="1"/>
          <p:nvPr/>
        </p:nvSpPr>
        <p:spPr>
          <a:xfrm>
            <a:off x="6830568" y="3497580"/>
            <a:ext cx="987552" cy="315468"/>
          </a:xfrm>
          <a:prstGeom prst="rect">
            <a:avLst/>
          </a:prstGeom>
          <a:noFill/>
          <a:ln/>
        </p:spPr>
        <p:txBody>
          <a:bodyPr wrap="square" lIns="0" tIns="0" rIns="0" bIns="0" rtlCol="0" anchor="ctr"/>
          <a:lstStyle/>
          <a:p>
            <a:pPr algn="r" indent="0" marL="0">
              <a:buNone/>
            </a:pPr>
            <a:r>
              <a:rPr lang="en-US" sz="850" b="1" dirty="0">
                <a:solidFill>
                  <a:srgbClr val="3D8F5F"/>
                </a:solidFill>
                <a:latin typeface="Poppins" pitchFamily="34" charset="0"/>
                <a:ea typeface="Poppins" pitchFamily="34" charset="-122"/>
                <a:cs typeface="Poppins" pitchFamily="34" charset="-120"/>
              </a:rPr>
              <a:t>+1k</a:t>
            </a:r>
            <a:endParaRPr lang="en-US" sz="850" dirty="0"/>
          </a:p>
        </p:txBody>
      </p:sp>
      <p:sp>
        <p:nvSpPr>
          <p:cNvPr id="74" name="Shape 72"/>
          <p:cNvSpPr/>
          <p:nvPr/>
        </p:nvSpPr>
        <p:spPr>
          <a:xfrm>
            <a:off x="612648" y="4091940"/>
            <a:ext cx="7232904" cy="6401"/>
          </a:xfrm>
          <a:prstGeom prst="rect">
            <a:avLst/>
          </a:prstGeom>
          <a:solidFill>
            <a:srgbClr val="E2EAEE"/>
          </a:solidFill>
          <a:ln/>
        </p:spPr>
      </p:sp>
      <p:sp>
        <p:nvSpPr>
          <p:cNvPr id="75" name="Text 73"/>
          <p:cNvSpPr txBox="1"/>
          <p:nvPr/>
        </p:nvSpPr>
        <p:spPr>
          <a:xfrm>
            <a:off x="612648" y="3813048"/>
            <a:ext cx="1371600" cy="315468"/>
          </a:xfrm>
          <a:prstGeom prst="rect">
            <a:avLst/>
          </a:prstGeom>
          <a:noFill/>
          <a:ln/>
        </p:spPr>
        <p:txBody>
          <a:bodyPr wrap="square" lIns="0" tIns="0" rIns="0" bIns="0" rtlCol="0" anchor="ctr"/>
          <a:lstStyle/>
          <a:p>
            <a:pPr indent="0" marL="0">
              <a:buNone/>
            </a:pPr>
            <a:r>
              <a:rPr lang="en-US" sz="900" dirty="0">
                <a:solidFill>
                  <a:srgbClr val="12293A"/>
                </a:solidFill>
                <a:latin typeface="Poppins" pitchFamily="34" charset="0"/>
                <a:ea typeface="Poppins" pitchFamily="34" charset="-122"/>
                <a:cs typeface="Poppins" pitchFamily="34" charset="-120"/>
              </a:rPr>
              <a:t>Bradford Young</a:t>
            </a:r>
            <a:endParaRPr lang="en-US" sz="900" dirty="0"/>
          </a:p>
        </p:txBody>
      </p:sp>
      <p:sp>
        <p:nvSpPr>
          <p:cNvPr id="76" name="Text 74"/>
          <p:cNvSpPr txBox="1"/>
          <p:nvPr/>
        </p:nvSpPr>
        <p:spPr>
          <a:xfrm>
            <a:off x="2002536" y="3813048"/>
            <a:ext cx="475488"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$5k</a:t>
            </a:r>
            <a:endParaRPr lang="en-US" sz="850" dirty="0"/>
          </a:p>
        </p:txBody>
      </p:sp>
      <p:sp>
        <p:nvSpPr>
          <p:cNvPr id="77" name="Text 75"/>
          <p:cNvSpPr txBox="1"/>
          <p:nvPr/>
        </p:nvSpPr>
        <p:spPr>
          <a:xfrm>
            <a:off x="2514600" y="3813048"/>
            <a:ext cx="475488"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$177</a:t>
            </a:r>
            <a:endParaRPr lang="en-US" sz="850" dirty="0"/>
          </a:p>
        </p:txBody>
      </p:sp>
      <p:sp>
        <p:nvSpPr>
          <p:cNvPr id="78" name="Shape 76"/>
          <p:cNvSpPr/>
          <p:nvPr/>
        </p:nvSpPr>
        <p:spPr>
          <a:xfrm>
            <a:off x="3081528" y="3925062"/>
            <a:ext cx="548640" cy="100584"/>
          </a:xfrm>
          <a:prstGeom prst="roundRect">
            <a:avLst>
              <a:gd name="adj" fmla="val 45455"/>
            </a:avLst>
          </a:prstGeom>
          <a:solidFill>
            <a:srgbClr val="E2EAEE"/>
          </a:solidFill>
          <a:ln/>
        </p:spPr>
      </p:sp>
      <p:sp>
        <p:nvSpPr>
          <p:cNvPr id="79" name="Shape 77"/>
          <p:cNvSpPr/>
          <p:nvPr/>
        </p:nvSpPr>
        <p:spPr>
          <a:xfrm>
            <a:off x="3081528" y="3925062"/>
            <a:ext cx="54864" cy="100584"/>
          </a:xfrm>
          <a:prstGeom prst="roundRect">
            <a:avLst>
              <a:gd name="adj" fmla="val 83333"/>
            </a:avLst>
          </a:prstGeom>
          <a:solidFill>
            <a:srgbClr val="B4552D"/>
          </a:solidFill>
          <a:ln/>
        </p:spPr>
      </p:sp>
      <p:sp>
        <p:nvSpPr>
          <p:cNvPr id="80" name="Shape 78"/>
          <p:cNvSpPr/>
          <p:nvPr/>
        </p:nvSpPr>
        <p:spPr>
          <a:xfrm>
            <a:off x="3181198" y="3879342"/>
            <a:ext cx="20117" cy="192024"/>
          </a:xfrm>
          <a:prstGeom prst="rect">
            <a:avLst/>
          </a:prstGeom>
          <a:solidFill>
            <a:srgbClr val="12293A"/>
          </a:solidFill>
          <a:ln/>
        </p:spPr>
      </p:sp>
      <p:sp>
        <p:nvSpPr>
          <p:cNvPr id="81" name="Text 79"/>
          <p:cNvSpPr txBox="1"/>
          <p:nvPr/>
        </p:nvSpPr>
        <p:spPr>
          <a:xfrm>
            <a:off x="3630168" y="3813048"/>
            <a:ext cx="329184" cy="315468"/>
          </a:xfrm>
          <a:prstGeom prst="rect">
            <a:avLst/>
          </a:prstGeom>
          <a:noFill/>
          <a:ln/>
        </p:spPr>
        <p:txBody>
          <a:bodyPr wrap="square" lIns="0" tIns="0" rIns="0" bIns="0" rtlCol="0" anchor="ctr"/>
          <a:lstStyle/>
          <a:p>
            <a:pPr algn="r" indent="0" marL="0">
              <a:buNone/>
            </a:pPr>
            <a:r>
              <a:rPr lang="en-US" sz="800" b="1" dirty="0">
                <a:solidFill>
                  <a:srgbClr val="B4552D"/>
                </a:solidFill>
                <a:latin typeface="Poppins" pitchFamily="34" charset="0"/>
                <a:ea typeface="Poppins" pitchFamily="34" charset="-122"/>
                <a:cs typeface="Poppins" pitchFamily="34" charset="-120"/>
              </a:rPr>
              <a:t>4%</a:t>
            </a:r>
            <a:endParaRPr lang="en-US" sz="800" dirty="0"/>
          </a:p>
        </p:txBody>
      </p:sp>
      <p:sp>
        <p:nvSpPr>
          <p:cNvPr id="82" name="Text 80"/>
          <p:cNvSpPr txBox="1"/>
          <p:nvPr/>
        </p:nvSpPr>
        <p:spPr>
          <a:xfrm>
            <a:off x="3904488" y="3813048"/>
            <a:ext cx="640080" cy="315468"/>
          </a:xfrm>
          <a:prstGeom prst="rect">
            <a:avLst/>
          </a:prstGeom>
          <a:noFill/>
          <a:ln/>
        </p:spPr>
        <p:txBody>
          <a:bodyPr wrap="square" lIns="0" tIns="0" rIns="0" bIns="0" rtlCol="0" anchor="ctr"/>
          <a:lstStyle/>
          <a:p>
            <a:pPr algn="r" indent="0" marL="0">
              <a:buNone/>
            </a:pPr>
            <a:r>
              <a:rPr lang="en-US" sz="850" b="1" dirty="0">
                <a:solidFill>
                  <a:srgbClr val="3D8F5F"/>
                </a:solidFill>
                <a:latin typeface="Poppins" pitchFamily="34" charset="0"/>
                <a:ea typeface="Poppins" pitchFamily="34" charset="-122"/>
                <a:cs typeface="Poppins" pitchFamily="34" charset="-120"/>
              </a:rPr>
              <a:t>+142</a:t>
            </a:r>
            <a:endParaRPr lang="en-US" sz="850" dirty="0"/>
          </a:p>
        </p:txBody>
      </p:sp>
      <p:sp>
        <p:nvSpPr>
          <p:cNvPr id="83" name="Text 81"/>
          <p:cNvSpPr txBox="1"/>
          <p:nvPr/>
        </p:nvSpPr>
        <p:spPr>
          <a:xfrm>
            <a:off x="4599432" y="3813048"/>
            <a:ext cx="548640"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$163k</a:t>
            </a:r>
            <a:endParaRPr lang="en-US" sz="850" dirty="0"/>
          </a:p>
        </p:txBody>
      </p:sp>
      <p:sp>
        <p:nvSpPr>
          <p:cNvPr id="84" name="Text 82"/>
          <p:cNvSpPr txBox="1"/>
          <p:nvPr/>
        </p:nvSpPr>
        <p:spPr>
          <a:xfrm>
            <a:off x="5184648" y="3813048"/>
            <a:ext cx="603504"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$8k</a:t>
            </a:r>
            <a:endParaRPr lang="en-US" sz="850" dirty="0"/>
          </a:p>
        </p:txBody>
      </p:sp>
      <p:sp>
        <p:nvSpPr>
          <p:cNvPr id="85" name="Shape 83"/>
          <p:cNvSpPr/>
          <p:nvPr/>
        </p:nvSpPr>
        <p:spPr>
          <a:xfrm>
            <a:off x="5879592" y="3925062"/>
            <a:ext cx="566928" cy="100584"/>
          </a:xfrm>
          <a:prstGeom prst="roundRect">
            <a:avLst>
              <a:gd name="adj" fmla="val 45455"/>
            </a:avLst>
          </a:prstGeom>
          <a:solidFill>
            <a:srgbClr val="E2EAEE"/>
          </a:solidFill>
          <a:ln/>
        </p:spPr>
      </p:sp>
      <p:sp>
        <p:nvSpPr>
          <p:cNvPr id="86" name="Shape 84"/>
          <p:cNvSpPr/>
          <p:nvPr/>
        </p:nvSpPr>
        <p:spPr>
          <a:xfrm>
            <a:off x="5879592" y="3925062"/>
            <a:ext cx="54864" cy="100584"/>
          </a:xfrm>
          <a:prstGeom prst="roundRect">
            <a:avLst>
              <a:gd name="adj" fmla="val 83333"/>
            </a:avLst>
          </a:prstGeom>
          <a:solidFill>
            <a:srgbClr val="B4552D"/>
          </a:solidFill>
          <a:ln/>
        </p:spPr>
      </p:sp>
      <p:sp>
        <p:nvSpPr>
          <p:cNvPr id="87" name="Shape 85"/>
          <p:cNvSpPr/>
          <p:nvPr/>
        </p:nvSpPr>
        <p:spPr>
          <a:xfrm>
            <a:off x="5982919" y="3879342"/>
            <a:ext cx="20117" cy="192024"/>
          </a:xfrm>
          <a:prstGeom prst="rect">
            <a:avLst/>
          </a:prstGeom>
          <a:solidFill>
            <a:srgbClr val="12293A"/>
          </a:solidFill>
          <a:ln/>
        </p:spPr>
      </p:sp>
      <p:sp>
        <p:nvSpPr>
          <p:cNvPr id="88" name="Text 86"/>
          <p:cNvSpPr txBox="1"/>
          <p:nvPr/>
        </p:nvSpPr>
        <p:spPr>
          <a:xfrm>
            <a:off x="6464808" y="3813048"/>
            <a:ext cx="329184" cy="315468"/>
          </a:xfrm>
          <a:prstGeom prst="rect">
            <a:avLst/>
          </a:prstGeom>
          <a:noFill/>
          <a:ln/>
        </p:spPr>
        <p:txBody>
          <a:bodyPr wrap="square" lIns="0" tIns="0" rIns="0" bIns="0" rtlCol="0" anchor="ctr"/>
          <a:lstStyle/>
          <a:p>
            <a:pPr algn="r" indent="0" marL="0">
              <a:buNone/>
            </a:pPr>
            <a:r>
              <a:rPr lang="en-US" sz="800" b="1" dirty="0">
                <a:solidFill>
                  <a:srgbClr val="B4552D"/>
                </a:solidFill>
                <a:latin typeface="Poppins" pitchFamily="34" charset="0"/>
                <a:ea typeface="Poppins" pitchFamily="34" charset="-122"/>
                <a:cs typeface="Poppins" pitchFamily="34" charset="-120"/>
              </a:rPr>
              <a:t>5%</a:t>
            </a:r>
            <a:endParaRPr lang="en-US" sz="800" dirty="0"/>
          </a:p>
        </p:txBody>
      </p:sp>
      <p:sp>
        <p:nvSpPr>
          <p:cNvPr id="89" name="Text 87"/>
          <p:cNvSpPr txBox="1"/>
          <p:nvPr/>
        </p:nvSpPr>
        <p:spPr>
          <a:xfrm>
            <a:off x="6830568" y="3813048"/>
            <a:ext cx="987552" cy="315468"/>
          </a:xfrm>
          <a:prstGeom prst="rect">
            <a:avLst/>
          </a:prstGeom>
          <a:noFill/>
          <a:ln/>
        </p:spPr>
        <p:txBody>
          <a:bodyPr wrap="square" lIns="0" tIns="0" rIns="0" bIns="0" rtlCol="0" anchor="ctr"/>
          <a:lstStyle/>
          <a:p>
            <a:pPr algn="r" indent="0" marL="0">
              <a:buNone/>
            </a:pPr>
            <a:r>
              <a:rPr lang="en-US" sz="850" b="1" dirty="0">
                <a:solidFill>
                  <a:srgbClr val="3D8F5F"/>
                </a:solidFill>
                <a:latin typeface="Poppins" pitchFamily="34" charset="0"/>
                <a:ea typeface="Poppins" pitchFamily="34" charset="-122"/>
                <a:cs typeface="Poppins" pitchFamily="34" charset="-120"/>
              </a:rPr>
              <a:t>+8k</a:t>
            </a:r>
            <a:endParaRPr lang="en-US" sz="850" dirty="0"/>
          </a:p>
        </p:txBody>
      </p:sp>
      <p:sp>
        <p:nvSpPr>
          <p:cNvPr id="90" name="Shape 88"/>
          <p:cNvSpPr/>
          <p:nvPr/>
        </p:nvSpPr>
        <p:spPr>
          <a:xfrm>
            <a:off x="612648" y="4407408"/>
            <a:ext cx="7232904" cy="6401"/>
          </a:xfrm>
          <a:prstGeom prst="rect">
            <a:avLst/>
          </a:prstGeom>
          <a:solidFill>
            <a:srgbClr val="E2EAEE"/>
          </a:solidFill>
          <a:ln/>
        </p:spPr>
      </p:sp>
      <p:sp>
        <p:nvSpPr>
          <p:cNvPr id="91" name="Text 89"/>
          <p:cNvSpPr txBox="1"/>
          <p:nvPr/>
        </p:nvSpPr>
        <p:spPr>
          <a:xfrm>
            <a:off x="612648" y="4128516"/>
            <a:ext cx="1371600" cy="315468"/>
          </a:xfrm>
          <a:prstGeom prst="rect">
            <a:avLst/>
          </a:prstGeom>
          <a:noFill/>
          <a:ln/>
        </p:spPr>
        <p:txBody>
          <a:bodyPr wrap="square" lIns="0" tIns="0" rIns="0" bIns="0" rtlCol="0" anchor="ctr"/>
          <a:lstStyle/>
          <a:p>
            <a:pPr indent="0" marL="0">
              <a:buNone/>
            </a:pPr>
            <a:r>
              <a:rPr lang="en-US" sz="900" dirty="0">
                <a:solidFill>
                  <a:srgbClr val="12293A"/>
                </a:solidFill>
                <a:latin typeface="Poppins" pitchFamily="34" charset="0"/>
                <a:ea typeface="Poppins" pitchFamily="34" charset="-122"/>
                <a:cs typeface="Poppins" pitchFamily="34" charset="-120"/>
              </a:rPr>
              <a:t>Jasmine Hikuroa</a:t>
            </a:r>
            <a:endParaRPr lang="en-US" sz="900" dirty="0"/>
          </a:p>
        </p:txBody>
      </p:sp>
      <p:sp>
        <p:nvSpPr>
          <p:cNvPr id="92" name="Text 90"/>
          <p:cNvSpPr txBox="1"/>
          <p:nvPr/>
        </p:nvSpPr>
        <p:spPr>
          <a:xfrm>
            <a:off x="2002536" y="4128516"/>
            <a:ext cx="475488"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$6k</a:t>
            </a:r>
            <a:endParaRPr lang="en-US" sz="850" dirty="0"/>
          </a:p>
        </p:txBody>
      </p:sp>
      <p:sp>
        <p:nvSpPr>
          <p:cNvPr id="93" name="Text 91"/>
          <p:cNvSpPr txBox="1"/>
          <p:nvPr/>
        </p:nvSpPr>
        <p:spPr>
          <a:xfrm>
            <a:off x="2514600" y="4128516"/>
            <a:ext cx="475488"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$2k</a:t>
            </a:r>
            <a:endParaRPr lang="en-US" sz="850" dirty="0"/>
          </a:p>
        </p:txBody>
      </p:sp>
      <p:sp>
        <p:nvSpPr>
          <p:cNvPr id="94" name="Shape 92"/>
          <p:cNvSpPr/>
          <p:nvPr/>
        </p:nvSpPr>
        <p:spPr>
          <a:xfrm>
            <a:off x="3081528" y="4240530"/>
            <a:ext cx="548640" cy="100584"/>
          </a:xfrm>
          <a:prstGeom prst="roundRect">
            <a:avLst>
              <a:gd name="adj" fmla="val 45455"/>
            </a:avLst>
          </a:prstGeom>
          <a:solidFill>
            <a:srgbClr val="E2EAEE"/>
          </a:solidFill>
          <a:ln/>
        </p:spPr>
      </p:sp>
      <p:sp>
        <p:nvSpPr>
          <p:cNvPr id="95" name="Shape 93"/>
          <p:cNvSpPr/>
          <p:nvPr/>
        </p:nvSpPr>
        <p:spPr>
          <a:xfrm>
            <a:off x="3081528" y="4240530"/>
            <a:ext cx="197510" cy="100584"/>
          </a:xfrm>
          <a:prstGeom prst="roundRect">
            <a:avLst>
              <a:gd name="adj" fmla="val 45455"/>
            </a:avLst>
          </a:prstGeom>
          <a:solidFill>
            <a:srgbClr val="B4552D"/>
          </a:solidFill>
          <a:ln/>
        </p:spPr>
      </p:sp>
      <p:sp>
        <p:nvSpPr>
          <p:cNvPr id="96" name="Shape 94"/>
          <p:cNvSpPr/>
          <p:nvPr/>
        </p:nvSpPr>
        <p:spPr>
          <a:xfrm>
            <a:off x="3181198" y="4194810"/>
            <a:ext cx="20117" cy="192024"/>
          </a:xfrm>
          <a:prstGeom prst="rect">
            <a:avLst/>
          </a:prstGeom>
          <a:solidFill>
            <a:srgbClr val="12293A"/>
          </a:solidFill>
          <a:ln/>
        </p:spPr>
      </p:sp>
      <p:sp>
        <p:nvSpPr>
          <p:cNvPr id="97" name="Text 95"/>
          <p:cNvSpPr txBox="1"/>
          <p:nvPr/>
        </p:nvSpPr>
        <p:spPr>
          <a:xfrm>
            <a:off x="3630168" y="4128516"/>
            <a:ext cx="329184" cy="315468"/>
          </a:xfrm>
          <a:prstGeom prst="rect">
            <a:avLst/>
          </a:prstGeom>
          <a:noFill/>
          <a:ln/>
        </p:spPr>
        <p:txBody>
          <a:bodyPr wrap="square" lIns="0" tIns="0" rIns="0" bIns="0" rtlCol="0" anchor="ctr"/>
          <a:lstStyle/>
          <a:p>
            <a:pPr algn="r" indent="0" marL="0">
              <a:buNone/>
            </a:pPr>
            <a:r>
              <a:rPr lang="en-US" sz="800" b="1" dirty="0">
                <a:solidFill>
                  <a:srgbClr val="B4552D"/>
                </a:solidFill>
                <a:latin typeface="Poppins" pitchFamily="34" charset="0"/>
                <a:ea typeface="Poppins" pitchFamily="34" charset="-122"/>
                <a:cs typeface="Poppins" pitchFamily="34" charset="-120"/>
              </a:rPr>
              <a:t>36%</a:t>
            </a:r>
            <a:endParaRPr lang="en-US" sz="800" dirty="0"/>
          </a:p>
        </p:txBody>
      </p:sp>
      <p:sp>
        <p:nvSpPr>
          <p:cNvPr id="98" name="Text 96"/>
          <p:cNvSpPr txBox="1"/>
          <p:nvPr/>
        </p:nvSpPr>
        <p:spPr>
          <a:xfrm>
            <a:off x="3904488" y="4128516"/>
            <a:ext cx="640080"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−35</a:t>
            </a:r>
            <a:endParaRPr lang="en-US" sz="850" dirty="0"/>
          </a:p>
        </p:txBody>
      </p:sp>
      <p:sp>
        <p:nvSpPr>
          <p:cNvPr id="99" name="Text 97"/>
          <p:cNvSpPr txBox="1"/>
          <p:nvPr/>
        </p:nvSpPr>
        <p:spPr>
          <a:xfrm>
            <a:off x="4599432" y="4128516"/>
            <a:ext cx="548640"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$214k</a:t>
            </a:r>
            <a:endParaRPr lang="en-US" sz="850" dirty="0"/>
          </a:p>
        </p:txBody>
      </p:sp>
      <p:sp>
        <p:nvSpPr>
          <p:cNvPr id="100" name="Text 98"/>
          <p:cNvSpPr txBox="1"/>
          <p:nvPr/>
        </p:nvSpPr>
        <p:spPr>
          <a:xfrm>
            <a:off x="5184648" y="4128516"/>
            <a:ext cx="603504"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$32k</a:t>
            </a:r>
            <a:endParaRPr lang="en-US" sz="850" dirty="0"/>
          </a:p>
        </p:txBody>
      </p:sp>
      <p:sp>
        <p:nvSpPr>
          <p:cNvPr id="101" name="Shape 99"/>
          <p:cNvSpPr/>
          <p:nvPr/>
        </p:nvSpPr>
        <p:spPr>
          <a:xfrm>
            <a:off x="5879592" y="4240530"/>
            <a:ext cx="566928" cy="100584"/>
          </a:xfrm>
          <a:prstGeom prst="roundRect">
            <a:avLst>
              <a:gd name="adj" fmla="val 45455"/>
            </a:avLst>
          </a:prstGeom>
          <a:solidFill>
            <a:srgbClr val="E2EAEE"/>
          </a:solidFill>
          <a:ln/>
        </p:spPr>
      </p:sp>
      <p:sp>
        <p:nvSpPr>
          <p:cNvPr id="102" name="Shape 100"/>
          <p:cNvSpPr/>
          <p:nvPr/>
        </p:nvSpPr>
        <p:spPr>
          <a:xfrm>
            <a:off x="5879592" y="4240530"/>
            <a:ext cx="85039" cy="100584"/>
          </a:xfrm>
          <a:prstGeom prst="roundRect">
            <a:avLst>
              <a:gd name="adj" fmla="val 53764"/>
            </a:avLst>
          </a:prstGeom>
          <a:solidFill>
            <a:srgbClr val="B4552D"/>
          </a:solidFill>
          <a:ln/>
        </p:spPr>
      </p:sp>
      <p:sp>
        <p:nvSpPr>
          <p:cNvPr id="103" name="Shape 101"/>
          <p:cNvSpPr/>
          <p:nvPr/>
        </p:nvSpPr>
        <p:spPr>
          <a:xfrm>
            <a:off x="5982919" y="4194810"/>
            <a:ext cx="20117" cy="192024"/>
          </a:xfrm>
          <a:prstGeom prst="rect">
            <a:avLst/>
          </a:prstGeom>
          <a:solidFill>
            <a:srgbClr val="12293A"/>
          </a:solidFill>
          <a:ln/>
        </p:spPr>
      </p:sp>
      <p:sp>
        <p:nvSpPr>
          <p:cNvPr id="104" name="Text 102"/>
          <p:cNvSpPr txBox="1"/>
          <p:nvPr/>
        </p:nvSpPr>
        <p:spPr>
          <a:xfrm>
            <a:off x="6464808" y="4128516"/>
            <a:ext cx="329184" cy="315468"/>
          </a:xfrm>
          <a:prstGeom prst="rect">
            <a:avLst/>
          </a:prstGeom>
          <a:noFill/>
          <a:ln/>
        </p:spPr>
        <p:txBody>
          <a:bodyPr wrap="square" lIns="0" tIns="0" rIns="0" bIns="0" rtlCol="0" anchor="ctr"/>
          <a:lstStyle/>
          <a:p>
            <a:pPr algn="r" indent="0" marL="0">
              <a:buNone/>
            </a:pPr>
            <a:r>
              <a:rPr lang="en-US" sz="800" b="1" dirty="0">
                <a:solidFill>
                  <a:srgbClr val="B4552D"/>
                </a:solidFill>
                <a:latin typeface="Poppins" pitchFamily="34" charset="0"/>
                <a:ea typeface="Poppins" pitchFamily="34" charset="-122"/>
                <a:cs typeface="Poppins" pitchFamily="34" charset="-120"/>
              </a:rPr>
              <a:t>15%</a:t>
            </a:r>
            <a:endParaRPr lang="en-US" sz="800" dirty="0"/>
          </a:p>
        </p:txBody>
      </p:sp>
      <p:sp>
        <p:nvSpPr>
          <p:cNvPr id="105" name="Text 103"/>
          <p:cNvSpPr txBox="1"/>
          <p:nvPr/>
        </p:nvSpPr>
        <p:spPr>
          <a:xfrm>
            <a:off x="6830568" y="4128516"/>
            <a:ext cx="987552" cy="315468"/>
          </a:xfrm>
          <a:prstGeom prst="rect">
            <a:avLst/>
          </a:prstGeom>
          <a:noFill/>
          <a:ln/>
        </p:spPr>
        <p:txBody>
          <a:bodyPr wrap="square" lIns="0" tIns="0" rIns="0" bIns="0" rtlCol="0" anchor="ctr"/>
          <a:lstStyle/>
          <a:p>
            <a:pPr algn="r" indent="0" marL="0">
              <a:buNone/>
            </a:pPr>
            <a:r>
              <a:rPr lang="en-US" sz="850" b="1" dirty="0">
                <a:solidFill>
                  <a:srgbClr val="3D8F5F"/>
                </a:solidFill>
                <a:latin typeface="Poppins" pitchFamily="34" charset="0"/>
                <a:ea typeface="Poppins" pitchFamily="34" charset="-122"/>
                <a:cs typeface="Poppins" pitchFamily="34" charset="-120"/>
              </a:rPr>
              <a:t>+30k</a:t>
            </a:r>
            <a:endParaRPr lang="en-US" sz="850" dirty="0"/>
          </a:p>
        </p:txBody>
      </p:sp>
      <p:sp>
        <p:nvSpPr>
          <p:cNvPr id="106" name="Shape 104"/>
          <p:cNvSpPr/>
          <p:nvPr/>
        </p:nvSpPr>
        <p:spPr>
          <a:xfrm>
            <a:off x="612648" y="4722876"/>
            <a:ext cx="7232904" cy="6401"/>
          </a:xfrm>
          <a:prstGeom prst="rect">
            <a:avLst/>
          </a:prstGeom>
          <a:solidFill>
            <a:srgbClr val="E2EAEE"/>
          </a:solidFill>
          <a:ln/>
        </p:spPr>
      </p:sp>
      <p:sp>
        <p:nvSpPr>
          <p:cNvPr id="107" name="Text 105"/>
          <p:cNvSpPr txBox="1"/>
          <p:nvPr/>
        </p:nvSpPr>
        <p:spPr>
          <a:xfrm>
            <a:off x="612648" y="4443984"/>
            <a:ext cx="1371600" cy="315468"/>
          </a:xfrm>
          <a:prstGeom prst="rect">
            <a:avLst/>
          </a:prstGeom>
          <a:noFill/>
          <a:ln/>
        </p:spPr>
        <p:txBody>
          <a:bodyPr wrap="square" lIns="0" tIns="0" rIns="0" bIns="0" rtlCol="0" anchor="ctr"/>
          <a:lstStyle/>
          <a:p>
            <a:pPr indent="0" marL="0">
              <a:buNone/>
            </a:pPr>
            <a:r>
              <a:rPr lang="en-US" sz="900" dirty="0">
                <a:solidFill>
                  <a:srgbClr val="12293A"/>
                </a:solidFill>
                <a:latin typeface="Poppins" pitchFamily="34" charset="0"/>
                <a:ea typeface="Poppins" pitchFamily="34" charset="-122"/>
                <a:cs typeface="Poppins" pitchFamily="34" charset="-120"/>
              </a:rPr>
              <a:t>Phuong Ho</a:t>
            </a:r>
            <a:endParaRPr lang="en-US" sz="900" dirty="0"/>
          </a:p>
        </p:txBody>
      </p:sp>
      <p:sp>
        <p:nvSpPr>
          <p:cNvPr id="108" name="Text 106"/>
          <p:cNvSpPr txBox="1"/>
          <p:nvPr/>
        </p:nvSpPr>
        <p:spPr>
          <a:xfrm>
            <a:off x="2002536" y="4443984"/>
            <a:ext cx="475488"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$2k</a:t>
            </a:r>
            <a:endParaRPr lang="en-US" sz="850" dirty="0"/>
          </a:p>
        </p:txBody>
      </p:sp>
      <p:sp>
        <p:nvSpPr>
          <p:cNvPr id="109" name="Text 107"/>
          <p:cNvSpPr txBox="1"/>
          <p:nvPr/>
        </p:nvSpPr>
        <p:spPr>
          <a:xfrm>
            <a:off x="2514600" y="4443984"/>
            <a:ext cx="475488"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$98</a:t>
            </a:r>
            <a:endParaRPr lang="en-US" sz="850" dirty="0"/>
          </a:p>
        </p:txBody>
      </p:sp>
      <p:sp>
        <p:nvSpPr>
          <p:cNvPr id="110" name="Shape 108"/>
          <p:cNvSpPr/>
          <p:nvPr/>
        </p:nvSpPr>
        <p:spPr>
          <a:xfrm>
            <a:off x="3081528" y="4555998"/>
            <a:ext cx="548640" cy="100584"/>
          </a:xfrm>
          <a:prstGeom prst="roundRect">
            <a:avLst>
              <a:gd name="adj" fmla="val 45455"/>
            </a:avLst>
          </a:prstGeom>
          <a:solidFill>
            <a:srgbClr val="E2EAEE"/>
          </a:solidFill>
          <a:ln/>
        </p:spPr>
      </p:sp>
      <p:sp>
        <p:nvSpPr>
          <p:cNvPr id="111" name="Shape 109"/>
          <p:cNvSpPr/>
          <p:nvPr/>
        </p:nvSpPr>
        <p:spPr>
          <a:xfrm>
            <a:off x="3081528" y="4555998"/>
            <a:ext cx="54864" cy="100584"/>
          </a:xfrm>
          <a:prstGeom prst="roundRect">
            <a:avLst>
              <a:gd name="adj" fmla="val 83333"/>
            </a:avLst>
          </a:prstGeom>
          <a:solidFill>
            <a:srgbClr val="B4552D"/>
          </a:solidFill>
          <a:ln/>
        </p:spPr>
      </p:sp>
      <p:sp>
        <p:nvSpPr>
          <p:cNvPr id="112" name="Shape 110"/>
          <p:cNvSpPr/>
          <p:nvPr/>
        </p:nvSpPr>
        <p:spPr>
          <a:xfrm>
            <a:off x="3181198" y="4510278"/>
            <a:ext cx="20117" cy="192024"/>
          </a:xfrm>
          <a:prstGeom prst="rect">
            <a:avLst/>
          </a:prstGeom>
          <a:solidFill>
            <a:srgbClr val="12293A"/>
          </a:solidFill>
          <a:ln/>
        </p:spPr>
      </p:sp>
      <p:sp>
        <p:nvSpPr>
          <p:cNvPr id="113" name="Text 111"/>
          <p:cNvSpPr txBox="1"/>
          <p:nvPr/>
        </p:nvSpPr>
        <p:spPr>
          <a:xfrm>
            <a:off x="3630168" y="4443984"/>
            <a:ext cx="329184" cy="315468"/>
          </a:xfrm>
          <a:prstGeom prst="rect">
            <a:avLst/>
          </a:prstGeom>
          <a:noFill/>
          <a:ln/>
        </p:spPr>
        <p:txBody>
          <a:bodyPr wrap="square" lIns="0" tIns="0" rIns="0" bIns="0" rtlCol="0" anchor="ctr"/>
          <a:lstStyle/>
          <a:p>
            <a:pPr algn="r" indent="0" marL="0">
              <a:buNone/>
            </a:pPr>
            <a:r>
              <a:rPr lang="en-US" sz="800" b="1" dirty="0">
                <a:solidFill>
                  <a:srgbClr val="B4552D"/>
                </a:solidFill>
                <a:latin typeface="Poppins" pitchFamily="34" charset="0"/>
                <a:ea typeface="Poppins" pitchFamily="34" charset="-122"/>
                <a:cs typeface="Poppins" pitchFamily="34" charset="-120"/>
              </a:rPr>
              <a:t>5%</a:t>
            </a:r>
            <a:endParaRPr lang="en-US" sz="800" dirty="0"/>
          </a:p>
        </p:txBody>
      </p:sp>
      <p:sp>
        <p:nvSpPr>
          <p:cNvPr id="114" name="Text 112"/>
          <p:cNvSpPr txBox="1"/>
          <p:nvPr/>
        </p:nvSpPr>
        <p:spPr>
          <a:xfrm>
            <a:off x="3904488" y="4443984"/>
            <a:ext cx="640080" cy="315468"/>
          </a:xfrm>
          <a:prstGeom prst="rect">
            <a:avLst/>
          </a:prstGeom>
          <a:noFill/>
          <a:ln/>
        </p:spPr>
        <p:txBody>
          <a:bodyPr wrap="square" lIns="0" tIns="0" rIns="0" bIns="0" rtlCol="0" anchor="ctr"/>
          <a:lstStyle/>
          <a:p>
            <a:pPr algn="r" indent="0" marL="0">
              <a:buNone/>
            </a:pPr>
            <a:r>
              <a:rPr lang="en-US" sz="850" dirty="0">
                <a:solidFill>
                  <a:srgbClr val="8FA1AC"/>
                </a:solidFill>
                <a:latin typeface="Poppins" pitchFamily="34" charset="0"/>
                <a:ea typeface="Poppins" pitchFamily="34" charset="-122"/>
                <a:cs typeface="Poppins" pitchFamily="34" charset="-120"/>
              </a:rPr>
              <a:t>—</a:t>
            </a:r>
            <a:endParaRPr lang="en-US" sz="850" dirty="0"/>
          </a:p>
        </p:txBody>
      </p:sp>
      <p:sp>
        <p:nvSpPr>
          <p:cNvPr id="115" name="Text 113"/>
          <p:cNvSpPr txBox="1"/>
          <p:nvPr/>
        </p:nvSpPr>
        <p:spPr>
          <a:xfrm>
            <a:off x="4599432" y="4443984"/>
            <a:ext cx="548640"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$55k</a:t>
            </a:r>
            <a:endParaRPr lang="en-US" sz="850" dirty="0"/>
          </a:p>
        </p:txBody>
      </p:sp>
      <p:sp>
        <p:nvSpPr>
          <p:cNvPr id="116" name="Text 114"/>
          <p:cNvSpPr txBox="1"/>
          <p:nvPr/>
        </p:nvSpPr>
        <p:spPr>
          <a:xfrm>
            <a:off x="5184648" y="4443984"/>
            <a:ext cx="603504"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$37k</a:t>
            </a:r>
            <a:endParaRPr lang="en-US" sz="850" dirty="0"/>
          </a:p>
        </p:txBody>
      </p:sp>
      <p:sp>
        <p:nvSpPr>
          <p:cNvPr id="117" name="Shape 115"/>
          <p:cNvSpPr/>
          <p:nvPr/>
        </p:nvSpPr>
        <p:spPr>
          <a:xfrm>
            <a:off x="5879592" y="4555998"/>
            <a:ext cx="566928" cy="100584"/>
          </a:xfrm>
          <a:prstGeom prst="roundRect">
            <a:avLst>
              <a:gd name="adj" fmla="val 45455"/>
            </a:avLst>
          </a:prstGeom>
          <a:solidFill>
            <a:srgbClr val="E2EAEE"/>
          </a:solidFill>
          <a:ln/>
        </p:spPr>
      </p:sp>
      <p:sp>
        <p:nvSpPr>
          <p:cNvPr id="118" name="Shape 116"/>
          <p:cNvSpPr/>
          <p:nvPr/>
        </p:nvSpPr>
        <p:spPr>
          <a:xfrm>
            <a:off x="5879592" y="4555998"/>
            <a:ext cx="385511" cy="100584"/>
          </a:xfrm>
          <a:prstGeom prst="roundRect">
            <a:avLst>
              <a:gd name="adj" fmla="val 45455"/>
            </a:avLst>
          </a:prstGeom>
          <a:solidFill>
            <a:srgbClr val="B4552D"/>
          </a:solidFill>
          <a:ln/>
        </p:spPr>
      </p:sp>
      <p:sp>
        <p:nvSpPr>
          <p:cNvPr id="119" name="Shape 117"/>
          <p:cNvSpPr/>
          <p:nvPr/>
        </p:nvSpPr>
        <p:spPr>
          <a:xfrm>
            <a:off x="5982919" y="4510278"/>
            <a:ext cx="20117" cy="192024"/>
          </a:xfrm>
          <a:prstGeom prst="rect">
            <a:avLst/>
          </a:prstGeom>
          <a:solidFill>
            <a:srgbClr val="12293A"/>
          </a:solidFill>
          <a:ln/>
        </p:spPr>
      </p:sp>
      <p:sp>
        <p:nvSpPr>
          <p:cNvPr id="120" name="Text 118"/>
          <p:cNvSpPr txBox="1"/>
          <p:nvPr/>
        </p:nvSpPr>
        <p:spPr>
          <a:xfrm>
            <a:off x="6464808" y="4443984"/>
            <a:ext cx="329184" cy="315468"/>
          </a:xfrm>
          <a:prstGeom prst="rect">
            <a:avLst/>
          </a:prstGeom>
          <a:noFill/>
          <a:ln/>
        </p:spPr>
        <p:txBody>
          <a:bodyPr wrap="square" lIns="0" tIns="0" rIns="0" bIns="0" rtlCol="0" anchor="ctr"/>
          <a:lstStyle/>
          <a:p>
            <a:pPr algn="r" indent="0" marL="0">
              <a:buNone/>
            </a:pPr>
            <a:r>
              <a:rPr lang="en-US" sz="800" b="1" dirty="0">
                <a:solidFill>
                  <a:srgbClr val="B4552D"/>
                </a:solidFill>
                <a:latin typeface="Poppins" pitchFamily="34" charset="0"/>
                <a:ea typeface="Poppins" pitchFamily="34" charset="-122"/>
                <a:cs typeface="Poppins" pitchFamily="34" charset="-120"/>
              </a:rPr>
              <a:t>68%</a:t>
            </a:r>
            <a:endParaRPr lang="en-US" sz="800" dirty="0"/>
          </a:p>
        </p:txBody>
      </p:sp>
      <p:sp>
        <p:nvSpPr>
          <p:cNvPr id="121" name="Text 119"/>
          <p:cNvSpPr txBox="1"/>
          <p:nvPr/>
        </p:nvSpPr>
        <p:spPr>
          <a:xfrm>
            <a:off x="6830568" y="4443984"/>
            <a:ext cx="987552" cy="315468"/>
          </a:xfrm>
          <a:prstGeom prst="rect">
            <a:avLst/>
          </a:prstGeom>
          <a:noFill/>
          <a:ln/>
        </p:spPr>
        <p:txBody>
          <a:bodyPr wrap="square" lIns="0" tIns="0" rIns="0" bIns="0" rtlCol="0" anchor="ctr"/>
          <a:lstStyle/>
          <a:p>
            <a:pPr algn="r" indent="0" marL="0">
              <a:buNone/>
            </a:pPr>
            <a:r>
              <a:rPr lang="en-US" sz="850" b="1" dirty="0">
                <a:solidFill>
                  <a:srgbClr val="3D8F5F"/>
                </a:solidFill>
                <a:latin typeface="Poppins" pitchFamily="34" charset="0"/>
                <a:ea typeface="Poppins" pitchFamily="34" charset="-122"/>
                <a:cs typeface="Poppins" pitchFamily="34" charset="-120"/>
              </a:rPr>
              <a:t>+32k</a:t>
            </a:r>
            <a:endParaRPr lang="en-US" sz="850" dirty="0"/>
          </a:p>
        </p:txBody>
      </p:sp>
      <p:sp>
        <p:nvSpPr>
          <p:cNvPr id="122" name="Shape 120"/>
          <p:cNvSpPr/>
          <p:nvPr/>
        </p:nvSpPr>
        <p:spPr>
          <a:xfrm>
            <a:off x="612648" y="5038344"/>
            <a:ext cx="7232904" cy="6401"/>
          </a:xfrm>
          <a:prstGeom prst="rect">
            <a:avLst/>
          </a:prstGeom>
          <a:solidFill>
            <a:srgbClr val="E2EAEE"/>
          </a:solidFill>
          <a:ln/>
        </p:spPr>
      </p:sp>
      <p:sp>
        <p:nvSpPr>
          <p:cNvPr id="123" name="Text 121"/>
          <p:cNvSpPr txBox="1"/>
          <p:nvPr/>
        </p:nvSpPr>
        <p:spPr>
          <a:xfrm>
            <a:off x="612648" y="4759452"/>
            <a:ext cx="1371600" cy="315468"/>
          </a:xfrm>
          <a:prstGeom prst="rect">
            <a:avLst/>
          </a:prstGeom>
          <a:noFill/>
          <a:ln/>
        </p:spPr>
        <p:txBody>
          <a:bodyPr wrap="square" lIns="0" tIns="0" rIns="0" bIns="0" rtlCol="0" anchor="ctr"/>
          <a:lstStyle/>
          <a:p>
            <a:pPr indent="0" marL="0">
              <a:buNone/>
            </a:pPr>
            <a:r>
              <a:rPr lang="en-US" sz="900" dirty="0">
                <a:solidFill>
                  <a:srgbClr val="12293A"/>
                </a:solidFill>
                <a:latin typeface="Poppins" pitchFamily="34" charset="0"/>
                <a:ea typeface="Poppins" pitchFamily="34" charset="-122"/>
                <a:cs typeface="Poppins" pitchFamily="34" charset="-120"/>
              </a:rPr>
              <a:t>Mick Teasdale</a:t>
            </a:r>
            <a:endParaRPr lang="en-US" sz="900" dirty="0"/>
          </a:p>
        </p:txBody>
      </p:sp>
      <p:sp>
        <p:nvSpPr>
          <p:cNvPr id="124" name="Text 122"/>
          <p:cNvSpPr txBox="1"/>
          <p:nvPr/>
        </p:nvSpPr>
        <p:spPr>
          <a:xfrm>
            <a:off x="2002536" y="4759452"/>
            <a:ext cx="475488"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$3k</a:t>
            </a:r>
            <a:endParaRPr lang="en-US" sz="850" dirty="0"/>
          </a:p>
        </p:txBody>
      </p:sp>
      <p:sp>
        <p:nvSpPr>
          <p:cNvPr id="125" name="Text 123"/>
          <p:cNvSpPr txBox="1"/>
          <p:nvPr/>
        </p:nvSpPr>
        <p:spPr>
          <a:xfrm>
            <a:off x="2514600" y="4759452"/>
            <a:ext cx="475488"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$0</a:t>
            </a:r>
            <a:endParaRPr lang="en-US" sz="850" dirty="0"/>
          </a:p>
        </p:txBody>
      </p:sp>
      <p:sp>
        <p:nvSpPr>
          <p:cNvPr id="126" name="Shape 124"/>
          <p:cNvSpPr/>
          <p:nvPr/>
        </p:nvSpPr>
        <p:spPr>
          <a:xfrm>
            <a:off x="3081528" y="4871466"/>
            <a:ext cx="548640" cy="100584"/>
          </a:xfrm>
          <a:prstGeom prst="roundRect">
            <a:avLst>
              <a:gd name="adj" fmla="val 45455"/>
            </a:avLst>
          </a:prstGeom>
          <a:solidFill>
            <a:srgbClr val="E2EAEE"/>
          </a:solidFill>
          <a:ln/>
        </p:spPr>
      </p:sp>
      <p:sp>
        <p:nvSpPr>
          <p:cNvPr id="127" name="Shape 125"/>
          <p:cNvSpPr/>
          <p:nvPr/>
        </p:nvSpPr>
        <p:spPr>
          <a:xfrm>
            <a:off x="3081528" y="4871466"/>
            <a:ext cx="54864" cy="100584"/>
          </a:xfrm>
          <a:prstGeom prst="roundRect">
            <a:avLst>
              <a:gd name="adj" fmla="val 83333"/>
            </a:avLst>
          </a:prstGeom>
          <a:solidFill>
            <a:srgbClr val="B4552D"/>
          </a:solidFill>
          <a:ln/>
        </p:spPr>
      </p:sp>
      <p:sp>
        <p:nvSpPr>
          <p:cNvPr id="128" name="Shape 126"/>
          <p:cNvSpPr/>
          <p:nvPr/>
        </p:nvSpPr>
        <p:spPr>
          <a:xfrm>
            <a:off x="3181198" y="4825746"/>
            <a:ext cx="20117" cy="192024"/>
          </a:xfrm>
          <a:prstGeom prst="rect">
            <a:avLst/>
          </a:prstGeom>
          <a:solidFill>
            <a:srgbClr val="12293A"/>
          </a:solidFill>
          <a:ln/>
        </p:spPr>
      </p:sp>
      <p:sp>
        <p:nvSpPr>
          <p:cNvPr id="129" name="Text 127"/>
          <p:cNvSpPr txBox="1"/>
          <p:nvPr/>
        </p:nvSpPr>
        <p:spPr>
          <a:xfrm>
            <a:off x="3630168" y="4759452"/>
            <a:ext cx="329184" cy="315468"/>
          </a:xfrm>
          <a:prstGeom prst="rect">
            <a:avLst/>
          </a:prstGeom>
          <a:noFill/>
          <a:ln/>
        </p:spPr>
        <p:txBody>
          <a:bodyPr wrap="square" lIns="0" tIns="0" rIns="0" bIns="0" rtlCol="0" anchor="ctr"/>
          <a:lstStyle/>
          <a:p>
            <a:pPr algn="r" indent="0" marL="0">
              <a:buNone/>
            </a:pPr>
            <a:r>
              <a:rPr lang="en-US" sz="800" b="1" dirty="0">
                <a:solidFill>
                  <a:srgbClr val="B4552D"/>
                </a:solidFill>
                <a:latin typeface="Poppins" pitchFamily="34" charset="0"/>
                <a:ea typeface="Poppins" pitchFamily="34" charset="-122"/>
                <a:cs typeface="Poppins" pitchFamily="34" charset="-120"/>
              </a:rPr>
              <a:t>0%</a:t>
            </a:r>
            <a:endParaRPr lang="en-US" sz="800" dirty="0"/>
          </a:p>
        </p:txBody>
      </p:sp>
      <p:sp>
        <p:nvSpPr>
          <p:cNvPr id="130" name="Text 128"/>
          <p:cNvSpPr txBox="1"/>
          <p:nvPr/>
        </p:nvSpPr>
        <p:spPr>
          <a:xfrm>
            <a:off x="3904488" y="4759452"/>
            <a:ext cx="640080" cy="315468"/>
          </a:xfrm>
          <a:prstGeom prst="rect">
            <a:avLst/>
          </a:prstGeom>
          <a:noFill/>
          <a:ln/>
        </p:spPr>
        <p:txBody>
          <a:bodyPr wrap="square" lIns="0" tIns="0" rIns="0" bIns="0" rtlCol="0" anchor="ctr"/>
          <a:lstStyle/>
          <a:p>
            <a:pPr algn="r" indent="0" marL="0">
              <a:buNone/>
            </a:pPr>
            <a:r>
              <a:rPr lang="en-US" sz="850" dirty="0">
                <a:solidFill>
                  <a:srgbClr val="8FA1AC"/>
                </a:solidFill>
                <a:latin typeface="Poppins" pitchFamily="34" charset="0"/>
                <a:ea typeface="Poppins" pitchFamily="34" charset="-122"/>
                <a:cs typeface="Poppins" pitchFamily="34" charset="-120"/>
              </a:rPr>
              <a:t>—</a:t>
            </a:r>
            <a:endParaRPr lang="en-US" sz="850" dirty="0"/>
          </a:p>
        </p:txBody>
      </p:sp>
      <p:sp>
        <p:nvSpPr>
          <p:cNvPr id="131" name="Text 129"/>
          <p:cNvSpPr txBox="1"/>
          <p:nvPr/>
        </p:nvSpPr>
        <p:spPr>
          <a:xfrm>
            <a:off x="4599432" y="4759452"/>
            <a:ext cx="548640"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$46k</a:t>
            </a:r>
            <a:endParaRPr lang="en-US" sz="850" dirty="0"/>
          </a:p>
        </p:txBody>
      </p:sp>
      <p:sp>
        <p:nvSpPr>
          <p:cNvPr id="132" name="Text 130"/>
          <p:cNvSpPr txBox="1"/>
          <p:nvPr/>
        </p:nvSpPr>
        <p:spPr>
          <a:xfrm>
            <a:off x="5184648" y="4759452"/>
            <a:ext cx="603504"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a:t>
            </a:r>
            <a:endParaRPr lang="en-US" sz="850" dirty="0"/>
          </a:p>
        </p:txBody>
      </p:sp>
      <p:sp>
        <p:nvSpPr>
          <p:cNvPr id="133" name="Text 131"/>
          <p:cNvSpPr txBox="1"/>
          <p:nvPr/>
        </p:nvSpPr>
        <p:spPr>
          <a:xfrm>
            <a:off x="5843016" y="4759452"/>
            <a:ext cx="932688" cy="315468"/>
          </a:xfrm>
          <a:prstGeom prst="rect">
            <a:avLst/>
          </a:prstGeom>
          <a:noFill/>
          <a:ln/>
        </p:spPr>
        <p:txBody>
          <a:bodyPr wrap="square" lIns="0" tIns="0" rIns="0" bIns="0" rtlCol="0" anchor="ctr"/>
          <a:lstStyle/>
          <a:p>
            <a:pPr algn="ctr" indent="0" marL="0">
              <a:buNone/>
            </a:pPr>
            <a:r>
              <a:rPr lang="en-US" sz="800" dirty="0">
                <a:solidFill>
                  <a:srgbClr val="8FA1AC"/>
                </a:solidFill>
                <a:latin typeface="Poppins" pitchFamily="34" charset="0"/>
                <a:ea typeface="Poppins" pitchFamily="34" charset="-122"/>
                <a:cs typeface="Poppins" pitchFamily="34" charset="-120"/>
              </a:rPr>
              <a:t>—</a:t>
            </a:r>
            <a:endParaRPr lang="en-US" sz="800" dirty="0"/>
          </a:p>
        </p:txBody>
      </p:sp>
      <p:sp>
        <p:nvSpPr>
          <p:cNvPr id="134" name="Text 132"/>
          <p:cNvSpPr txBox="1"/>
          <p:nvPr/>
        </p:nvSpPr>
        <p:spPr>
          <a:xfrm>
            <a:off x="6830568" y="4759452"/>
            <a:ext cx="987552" cy="315468"/>
          </a:xfrm>
          <a:prstGeom prst="rect">
            <a:avLst/>
          </a:prstGeom>
          <a:noFill/>
          <a:ln/>
        </p:spPr>
        <p:txBody>
          <a:bodyPr wrap="square" lIns="0" tIns="0" rIns="0" bIns="0" rtlCol="0" anchor="ctr"/>
          <a:lstStyle/>
          <a:p>
            <a:pPr algn="r" indent="0" marL="0">
              <a:buNone/>
            </a:pPr>
            <a:r>
              <a:rPr lang="en-US" sz="850" b="1" dirty="0">
                <a:solidFill>
                  <a:srgbClr val="8FA1AC"/>
                </a:solidFill>
                <a:latin typeface="Poppins" pitchFamily="34" charset="0"/>
                <a:ea typeface="Poppins" pitchFamily="34" charset="-122"/>
                <a:cs typeface="Poppins" pitchFamily="34" charset="-120"/>
              </a:rPr>
              <a:t>—</a:t>
            </a:r>
            <a:endParaRPr lang="en-US" sz="850" dirty="0"/>
          </a:p>
        </p:txBody>
      </p:sp>
      <p:sp>
        <p:nvSpPr>
          <p:cNvPr id="135" name="Shape 133"/>
          <p:cNvSpPr/>
          <p:nvPr/>
        </p:nvSpPr>
        <p:spPr>
          <a:xfrm>
            <a:off x="612648" y="5353812"/>
            <a:ext cx="7232904" cy="6401"/>
          </a:xfrm>
          <a:prstGeom prst="rect">
            <a:avLst/>
          </a:prstGeom>
          <a:solidFill>
            <a:srgbClr val="E2EAEE"/>
          </a:solidFill>
          <a:ln/>
        </p:spPr>
      </p:sp>
      <p:sp>
        <p:nvSpPr>
          <p:cNvPr id="136" name="Text 134"/>
          <p:cNvSpPr txBox="1"/>
          <p:nvPr/>
        </p:nvSpPr>
        <p:spPr>
          <a:xfrm>
            <a:off x="612648" y="5074920"/>
            <a:ext cx="1371600" cy="315468"/>
          </a:xfrm>
          <a:prstGeom prst="rect">
            <a:avLst/>
          </a:prstGeom>
          <a:noFill/>
          <a:ln/>
        </p:spPr>
        <p:txBody>
          <a:bodyPr wrap="square" lIns="0" tIns="0" rIns="0" bIns="0" rtlCol="0" anchor="ctr"/>
          <a:lstStyle/>
          <a:p>
            <a:pPr indent="0" marL="0">
              <a:buNone/>
            </a:pPr>
            <a:r>
              <a:rPr lang="en-US" sz="900" dirty="0">
                <a:solidFill>
                  <a:srgbClr val="C88A2E"/>
                </a:solidFill>
                <a:latin typeface="Poppins" pitchFamily="34" charset="0"/>
                <a:ea typeface="Poppins" pitchFamily="34" charset="-122"/>
                <a:cs typeface="Poppins" pitchFamily="34" charset="-120"/>
              </a:rPr>
              <a:t>Unassigned</a:t>
            </a:r>
            <a:endParaRPr lang="en-US" sz="900" dirty="0"/>
          </a:p>
        </p:txBody>
      </p:sp>
      <p:sp>
        <p:nvSpPr>
          <p:cNvPr id="137" name="Text 135"/>
          <p:cNvSpPr txBox="1"/>
          <p:nvPr/>
        </p:nvSpPr>
        <p:spPr>
          <a:xfrm>
            <a:off x="2002536" y="5074920"/>
            <a:ext cx="475488"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$4k</a:t>
            </a:r>
            <a:endParaRPr lang="en-US" sz="850" dirty="0"/>
          </a:p>
        </p:txBody>
      </p:sp>
      <p:sp>
        <p:nvSpPr>
          <p:cNvPr id="138" name="Text 136"/>
          <p:cNvSpPr txBox="1"/>
          <p:nvPr/>
        </p:nvSpPr>
        <p:spPr>
          <a:xfrm>
            <a:off x="2514600" y="5074920"/>
            <a:ext cx="475488"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$294</a:t>
            </a:r>
            <a:endParaRPr lang="en-US" sz="850" dirty="0"/>
          </a:p>
        </p:txBody>
      </p:sp>
      <p:sp>
        <p:nvSpPr>
          <p:cNvPr id="139" name="Shape 137"/>
          <p:cNvSpPr/>
          <p:nvPr/>
        </p:nvSpPr>
        <p:spPr>
          <a:xfrm>
            <a:off x="3081528" y="5186934"/>
            <a:ext cx="548640" cy="100584"/>
          </a:xfrm>
          <a:prstGeom prst="roundRect">
            <a:avLst>
              <a:gd name="adj" fmla="val 45455"/>
            </a:avLst>
          </a:prstGeom>
          <a:solidFill>
            <a:srgbClr val="E2EAEE"/>
          </a:solidFill>
          <a:ln/>
        </p:spPr>
      </p:sp>
      <p:sp>
        <p:nvSpPr>
          <p:cNvPr id="140" name="Shape 138"/>
          <p:cNvSpPr/>
          <p:nvPr/>
        </p:nvSpPr>
        <p:spPr>
          <a:xfrm>
            <a:off x="3081528" y="5186934"/>
            <a:ext cx="54864" cy="100584"/>
          </a:xfrm>
          <a:prstGeom prst="roundRect">
            <a:avLst>
              <a:gd name="adj" fmla="val 83333"/>
            </a:avLst>
          </a:prstGeom>
          <a:solidFill>
            <a:srgbClr val="B4552D"/>
          </a:solidFill>
          <a:ln/>
        </p:spPr>
      </p:sp>
      <p:sp>
        <p:nvSpPr>
          <p:cNvPr id="141" name="Shape 139"/>
          <p:cNvSpPr/>
          <p:nvPr/>
        </p:nvSpPr>
        <p:spPr>
          <a:xfrm>
            <a:off x="3181198" y="5141214"/>
            <a:ext cx="20117" cy="192024"/>
          </a:xfrm>
          <a:prstGeom prst="rect">
            <a:avLst/>
          </a:prstGeom>
          <a:solidFill>
            <a:srgbClr val="12293A"/>
          </a:solidFill>
          <a:ln/>
        </p:spPr>
      </p:sp>
      <p:sp>
        <p:nvSpPr>
          <p:cNvPr id="142" name="Text 140"/>
          <p:cNvSpPr txBox="1"/>
          <p:nvPr/>
        </p:nvSpPr>
        <p:spPr>
          <a:xfrm>
            <a:off x="3630168" y="5074920"/>
            <a:ext cx="329184" cy="315468"/>
          </a:xfrm>
          <a:prstGeom prst="rect">
            <a:avLst/>
          </a:prstGeom>
          <a:noFill/>
          <a:ln/>
        </p:spPr>
        <p:txBody>
          <a:bodyPr wrap="square" lIns="0" tIns="0" rIns="0" bIns="0" rtlCol="0" anchor="ctr"/>
          <a:lstStyle/>
          <a:p>
            <a:pPr algn="r" indent="0" marL="0">
              <a:buNone/>
            </a:pPr>
            <a:r>
              <a:rPr lang="en-US" sz="800" b="1" dirty="0">
                <a:solidFill>
                  <a:srgbClr val="B4552D"/>
                </a:solidFill>
                <a:latin typeface="Poppins" pitchFamily="34" charset="0"/>
                <a:ea typeface="Poppins" pitchFamily="34" charset="-122"/>
                <a:cs typeface="Poppins" pitchFamily="34" charset="-120"/>
              </a:rPr>
              <a:t>7%</a:t>
            </a:r>
            <a:endParaRPr lang="en-US" sz="800" dirty="0"/>
          </a:p>
        </p:txBody>
      </p:sp>
      <p:sp>
        <p:nvSpPr>
          <p:cNvPr id="143" name="Text 141"/>
          <p:cNvSpPr txBox="1"/>
          <p:nvPr/>
        </p:nvSpPr>
        <p:spPr>
          <a:xfrm>
            <a:off x="3904488" y="5074920"/>
            <a:ext cx="640080" cy="315468"/>
          </a:xfrm>
          <a:prstGeom prst="rect">
            <a:avLst/>
          </a:prstGeom>
          <a:noFill/>
          <a:ln/>
        </p:spPr>
        <p:txBody>
          <a:bodyPr wrap="square" lIns="0" tIns="0" rIns="0" bIns="0" rtlCol="0" anchor="ctr"/>
          <a:lstStyle/>
          <a:p>
            <a:pPr algn="r" indent="0" marL="0">
              <a:buNone/>
            </a:pPr>
            <a:r>
              <a:rPr lang="en-US" sz="850" dirty="0">
                <a:solidFill>
                  <a:srgbClr val="8FA1AC"/>
                </a:solidFill>
                <a:latin typeface="Poppins" pitchFamily="34" charset="0"/>
                <a:ea typeface="Poppins" pitchFamily="34" charset="-122"/>
                <a:cs typeface="Poppins" pitchFamily="34" charset="-120"/>
              </a:rPr>
              <a:t>—</a:t>
            </a:r>
            <a:endParaRPr lang="en-US" sz="850" dirty="0"/>
          </a:p>
        </p:txBody>
      </p:sp>
      <p:sp>
        <p:nvSpPr>
          <p:cNvPr id="144" name="Text 142"/>
          <p:cNvSpPr txBox="1"/>
          <p:nvPr/>
        </p:nvSpPr>
        <p:spPr>
          <a:xfrm>
            <a:off x="4599432" y="5074920"/>
            <a:ext cx="548640"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a:t>
            </a:r>
            <a:endParaRPr lang="en-US" sz="850" dirty="0"/>
          </a:p>
        </p:txBody>
      </p:sp>
      <p:sp>
        <p:nvSpPr>
          <p:cNvPr id="145" name="Text 143"/>
          <p:cNvSpPr txBox="1"/>
          <p:nvPr/>
        </p:nvSpPr>
        <p:spPr>
          <a:xfrm>
            <a:off x="5184648" y="5074920"/>
            <a:ext cx="603504"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a:t>
            </a:r>
            <a:endParaRPr lang="en-US" sz="850" dirty="0"/>
          </a:p>
        </p:txBody>
      </p:sp>
      <p:sp>
        <p:nvSpPr>
          <p:cNvPr id="146" name="Text 144"/>
          <p:cNvSpPr txBox="1"/>
          <p:nvPr/>
        </p:nvSpPr>
        <p:spPr>
          <a:xfrm>
            <a:off x="5843016" y="5074920"/>
            <a:ext cx="932688" cy="315468"/>
          </a:xfrm>
          <a:prstGeom prst="rect">
            <a:avLst/>
          </a:prstGeom>
          <a:noFill/>
          <a:ln/>
        </p:spPr>
        <p:txBody>
          <a:bodyPr wrap="square" lIns="0" tIns="0" rIns="0" bIns="0" rtlCol="0" anchor="ctr"/>
          <a:lstStyle/>
          <a:p>
            <a:pPr algn="ctr" indent="0" marL="0">
              <a:buNone/>
            </a:pPr>
            <a:r>
              <a:rPr lang="en-US" sz="800" dirty="0">
                <a:solidFill>
                  <a:srgbClr val="8FA1AC"/>
                </a:solidFill>
                <a:latin typeface="Poppins" pitchFamily="34" charset="0"/>
                <a:ea typeface="Poppins" pitchFamily="34" charset="-122"/>
                <a:cs typeface="Poppins" pitchFamily="34" charset="-120"/>
              </a:rPr>
              <a:t>—</a:t>
            </a:r>
            <a:endParaRPr lang="en-US" sz="800" dirty="0"/>
          </a:p>
        </p:txBody>
      </p:sp>
      <p:sp>
        <p:nvSpPr>
          <p:cNvPr id="147" name="Text 145"/>
          <p:cNvSpPr txBox="1"/>
          <p:nvPr/>
        </p:nvSpPr>
        <p:spPr>
          <a:xfrm>
            <a:off x="6830568" y="5074920"/>
            <a:ext cx="987552" cy="315468"/>
          </a:xfrm>
          <a:prstGeom prst="rect">
            <a:avLst/>
          </a:prstGeom>
          <a:noFill/>
          <a:ln/>
        </p:spPr>
        <p:txBody>
          <a:bodyPr wrap="square" lIns="0" tIns="0" rIns="0" bIns="0" rtlCol="0" anchor="ctr"/>
          <a:lstStyle/>
          <a:p>
            <a:pPr algn="r" indent="0" marL="0">
              <a:buNone/>
            </a:pPr>
            <a:r>
              <a:rPr lang="en-US" sz="850" b="1" dirty="0">
                <a:solidFill>
                  <a:srgbClr val="8FA1AC"/>
                </a:solidFill>
                <a:latin typeface="Poppins" pitchFamily="34" charset="0"/>
                <a:ea typeface="Poppins" pitchFamily="34" charset="-122"/>
                <a:cs typeface="Poppins" pitchFamily="34" charset="-120"/>
              </a:rPr>
              <a:t>—</a:t>
            </a:r>
            <a:endParaRPr lang="en-US" sz="850" dirty="0"/>
          </a:p>
        </p:txBody>
      </p:sp>
      <p:sp>
        <p:nvSpPr>
          <p:cNvPr id="148" name="Shape 146"/>
          <p:cNvSpPr/>
          <p:nvPr/>
        </p:nvSpPr>
        <p:spPr>
          <a:xfrm>
            <a:off x="612648" y="5381244"/>
            <a:ext cx="7232904" cy="14630"/>
          </a:xfrm>
          <a:prstGeom prst="rect">
            <a:avLst/>
          </a:prstGeom>
          <a:solidFill>
            <a:srgbClr val="12293A"/>
          </a:solidFill>
          <a:ln/>
        </p:spPr>
      </p:sp>
      <p:sp>
        <p:nvSpPr>
          <p:cNvPr id="149" name="Text 147"/>
          <p:cNvSpPr txBox="1"/>
          <p:nvPr/>
        </p:nvSpPr>
        <p:spPr>
          <a:xfrm>
            <a:off x="612648" y="5426964"/>
            <a:ext cx="1371600" cy="274320"/>
          </a:xfrm>
          <a:prstGeom prst="rect">
            <a:avLst/>
          </a:prstGeom>
          <a:noFill/>
          <a:ln/>
        </p:spPr>
        <p:txBody>
          <a:bodyPr wrap="square" lIns="0" tIns="0" rIns="0" bIns="0" rtlCol="0" anchor="ctr"/>
          <a:lstStyle/>
          <a:p>
            <a:pPr indent="0" marL="0">
              <a:buNone/>
            </a:pPr>
            <a:r>
              <a:rPr lang="en-US" sz="900" b="1" dirty="0">
                <a:solidFill>
                  <a:srgbClr val="12293A"/>
                </a:solidFill>
                <a:latin typeface="Poppins" pitchFamily="34" charset="0"/>
                <a:ea typeface="Poppins" pitchFamily="34" charset="-122"/>
                <a:cs typeface="Poppins" pitchFamily="34" charset="-120"/>
              </a:rPr>
              <a:t>SALES TEAM TOTAL</a:t>
            </a:r>
            <a:endParaRPr lang="en-US" sz="900" dirty="0"/>
          </a:p>
        </p:txBody>
      </p:sp>
      <p:sp>
        <p:nvSpPr>
          <p:cNvPr id="150" name="Text 148"/>
          <p:cNvSpPr txBox="1"/>
          <p:nvPr/>
        </p:nvSpPr>
        <p:spPr>
          <a:xfrm>
            <a:off x="2002536" y="5426964"/>
            <a:ext cx="475488" cy="274320"/>
          </a:xfrm>
          <a:prstGeom prst="rect">
            <a:avLst/>
          </a:prstGeom>
          <a:noFill/>
          <a:ln/>
        </p:spPr>
        <p:txBody>
          <a:bodyPr wrap="square" lIns="0" tIns="0" rIns="0" bIns="0" rtlCol="0" anchor="ctr"/>
          <a:lstStyle/>
          <a:p>
            <a:pPr algn="r" indent="0" marL="0">
              <a:buNone/>
            </a:pPr>
            <a:r>
              <a:rPr lang="en-US" sz="850" b="1" dirty="0">
                <a:solidFill>
                  <a:srgbClr val="12293A"/>
                </a:solidFill>
                <a:latin typeface="Poppins" pitchFamily="34" charset="0"/>
                <a:ea typeface="Poppins" pitchFamily="34" charset="-122"/>
                <a:cs typeface="Poppins" pitchFamily="34" charset="-120"/>
              </a:rPr>
              <a:t>$30k</a:t>
            </a:r>
            <a:endParaRPr lang="en-US" sz="850" dirty="0"/>
          </a:p>
        </p:txBody>
      </p:sp>
      <p:sp>
        <p:nvSpPr>
          <p:cNvPr id="151" name="Text 149"/>
          <p:cNvSpPr txBox="1"/>
          <p:nvPr/>
        </p:nvSpPr>
        <p:spPr>
          <a:xfrm>
            <a:off x="2514600" y="5426964"/>
            <a:ext cx="475488" cy="274320"/>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$4k</a:t>
            </a:r>
            <a:endParaRPr lang="en-US" sz="850" dirty="0"/>
          </a:p>
        </p:txBody>
      </p:sp>
      <p:sp>
        <p:nvSpPr>
          <p:cNvPr id="152" name="Text 150"/>
          <p:cNvSpPr txBox="1"/>
          <p:nvPr/>
        </p:nvSpPr>
        <p:spPr>
          <a:xfrm>
            <a:off x="3904488" y="5426964"/>
            <a:ext cx="640080" cy="274320"/>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−181</a:t>
            </a:r>
            <a:endParaRPr lang="en-US" sz="850" dirty="0"/>
          </a:p>
        </p:txBody>
      </p:sp>
      <p:sp>
        <p:nvSpPr>
          <p:cNvPr id="153" name="Text 151"/>
          <p:cNvSpPr txBox="1"/>
          <p:nvPr/>
        </p:nvSpPr>
        <p:spPr>
          <a:xfrm>
            <a:off x="4599432" y="5426964"/>
            <a:ext cx="548640" cy="274320"/>
          </a:xfrm>
          <a:prstGeom prst="rect">
            <a:avLst/>
          </a:prstGeom>
          <a:noFill/>
          <a:ln/>
        </p:spPr>
        <p:txBody>
          <a:bodyPr wrap="square" lIns="0" tIns="0" rIns="0" bIns="0" rtlCol="0" anchor="ctr"/>
          <a:lstStyle/>
          <a:p>
            <a:pPr algn="r" indent="0" marL="0">
              <a:buNone/>
            </a:pPr>
            <a:r>
              <a:rPr lang="en-US" sz="850" b="1" dirty="0">
                <a:solidFill>
                  <a:srgbClr val="12293A"/>
                </a:solidFill>
                <a:latin typeface="Poppins" pitchFamily="34" charset="0"/>
                <a:ea typeface="Poppins" pitchFamily="34" charset="-122"/>
                <a:cs typeface="Poppins" pitchFamily="34" charset="-120"/>
              </a:rPr>
              <a:t>$761k</a:t>
            </a:r>
            <a:endParaRPr lang="en-US" sz="850" dirty="0"/>
          </a:p>
        </p:txBody>
      </p:sp>
      <p:sp>
        <p:nvSpPr>
          <p:cNvPr id="154" name="Text 152"/>
          <p:cNvSpPr txBox="1"/>
          <p:nvPr/>
        </p:nvSpPr>
        <p:spPr>
          <a:xfrm>
            <a:off x="5184648" y="5426964"/>
            <a:ext cx="603504" cy="274320"/>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$99k</a:t>
            </a:r>
            <a:endParaRPr lang="en-US" sz="850" dirty="0"/>
          </a:p>
        </p:txBody>
      </p:sp>
      <p:sp>
        <p:nvSpPr>
          <p:cNvPr id="155" name="Text 153"/>
          <p:cNvSpPr txBox="1"/>
          <p:nvPr/>
        </p:nvSpPr>
        <p:spPr>
          <a:xfrm>
            <a:off x="5843016" y="5426964"/>
            <a:ext cx="932688" cy="274320"/>
          </a:xfrm>
          <a:prstGeom prst="rect">
            <a:avLst/>
          </a:prstGeom>
          <a:noFill/>
          <a:ln/>
        </p:spPr>
        <p:txBody>
          <a:bodyPr wrap="square" lIns="0" tIns="0" rIns="0" bIns="0" rtlCol="0" anchor="ctr"/>
          <a:lstStyle/>
          <a:p>
            <a:pPr algn="ctr" indent="0" marL="0">
              <a:buNone/>
            </a:pPr>
            <a:r>
              <a:rPr lang="en-US" sz="850" b="1" dirty="0">
                <a:solidFill>
                  <a:srgbClr val="B4552D"/>
                </a:solidFill>
                <a:latin typeface="Poppins" pitchFamily="34" charset="0"/>
                <a:ea typeface="Poppins" pitchFamily="34" charset="-122"/>
                <a:cs typeface="Poppins" pitchFamily="34" charset="-120"/>
              </a:rPr>
              <a:t>13%</a:t>
            </a:r>
            <a:endParaRPr lang="en-US" sz="850" dirty="0"/>
          </a:p>
        </p:txBody>
      </p:sp>
      <p:sp>
        <p:nvSpPr>
          <p:cNvPr id="156" name="Text 154"/>
          <p:cNvSpPr txBox="1"/>
          <p:nvPr/>
        </p:nvSpPr>
        <p:spPr>
          <a:xfrm>
            <a:off x="6830568" y="5426964"/>
            <a:ext cx="987552" cy="274320"/>
          </a:xfrm>
          <a:prstGeom prst="rect">
            <a:avLst/>
          </a:prstGeom>
          <a:noFill/>
          <a:ln/>
        </p:spPr>
        <p:txBody>
          <a:bodyPr wrap="square" lIns="0" tIns="0" rIns="0" bIns="0" rtlCol="0" anchor="ctr"/>
          <a:lstStyle/>
          <a:p>
            <a:pPr algn="r" indent="0" marL="0">
              <a:buNone/>
            </a:pPr>
            <a:r>
              <a:rPr lang="en-US" sz="850" b="1" dirty="0">
                <a:solidFill>
                  <a:srgbClr val="3D8F5F"/>
                </a:solidFill>
                <a:latin typeface="Poppins" pitchFamily="34" charset="0"/>
                <a:ea typeface="Poppins" pitchFamily="34" charset="-122"/>
                <a:cs typeface="Poppins" pitchFamily="34" charset="-120"/>
              </a:rPr>
              <a:t>+71k</a:t>
            </a:r>
            <a:endParaRPr lang="en-US" sz="850" dirty="0"/>
          </a:p>
        </p:txBody>
      </p:sp>
      <p:sp>
        <p:nvSpPr>
          <p:cNvPr id="157" name="Text 155"/>
          <p:cNvSpPr txBox="1"/>
          <p:nvPr/>
        </p:nvSpPr>
        <p:spPr>
          <a:xfrm>
            <a:off x="612648" y="5719572"/>
            <a:ext cx="7232904" cy="219456"/>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MRR = net new + expansion invoiced in Q4 (movement register, live 18 Oct) · H&amp;L Pay net new $0/mo is tracked separately and never sits inside core MRR</a:t>
            </a:r>
            <a:endParaRPr lang="en-US" sz="700" dirty="0"/>
          </a:p>
        </p:txBody>
      </p:sp>
      <p:sp>
        <p:nvSpPr>
          <p:cNvPr id="158" name="Shape 156"/>
          <p:cNvSpPr/>
          <p:nvPr/>
        </p:nvSpPr>
        <p:spPr>
          <a:xfrm>
            <a:off x="8229600" y="2340864"/>
            <a:ext cx="3547872" cy="4041648"/>
          </a:xfrm>
          <a:prstGeom prst="roundRect">
            <a:avLst>
              <a:gd name="adj" fmla="val 1804"/>
            </a:avLst>
          </a:prstGeom>
          <a:solidFill>
            <a:srgbClr val="FFFFFF"/>
          </a:solidFill>
          <a:ln/>
          <a:effectLst>
            <a:outerShdw sx="100000" sy="100000" kx="0" ky="0" algn="bl" rotWithShape="0" blurRad="76200" dist="25400" dir="5400000">
              <a:srgbClr val="9AAAB5">
                <a:alpha val="35000"/>
              </a:srgbClr>
            </a:outerShdw>
          </a:effectLst>
        </p:spPr>
      </p:sp>
      <p:sp>
        <p:nvSpPr>
          <p:cNvPr id="159" name="Text 157"/>
          <p:cNvSpPr txBox="1"/>
          <p:nvPr/>
        </p:nvSpPr>
        <p:spPr>
          <a:xfrm>
            <a:off x="8430768" y="2450592"/>
            <a:ext cx="3182112"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AI SUMMARY</a:t>
            </a:r>
            <a:endParaRPr lang="en-US" sz="1200" dirty="0"/>
          </a:p>
        </p:txBody>
      </p:sp>
      <p:sp>
        <p:nvSpPr>
          <p:cNvPr id="160" name="Text 158"/>
          <p:cNvSpPr txBox="1"/>
          <p:nvPr/>
        </p:nvSpPr>
        <p:spPr>
          <a:xfrm>
            <a:off x="8430768" y="2761488"/>
            <a:ext cx="3136392" cy="3493008"/>
          </a:xfrm>
          <a:prstGeom prst="rect">
            <a:avLst/>
          </a:prstGeom>
          <a:noFill/>
          <a:ln/>
        </p:spPr>
        <p:txBody>
          <a:bodyPr wrap="square" lIns="0" tIns="0" rIns="0" bIns="0" rtlCol="0" anchor="t"/>
          <a:lstStyle/>
          <a:p>
            <a:pPr indent="0" marL="0">
              <a:buNone/>
            </a:pPr>
            <a:r>
              <a:rPr lang="en-US" sz="900" b="1" dirty="0">
                <a:solidFill>
                  <a:srgbClr val="3D8F5F"/>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Hardware had its best week of the quarter — $70,874.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Q4 to date now $98,973, 14% of the $715k OKR2 against a 20% pace mark. Ho booked $32.0k and Jasmine $29.6k between them, 87% of the week. Two weeks of Q4 extract; the 1–4 Oct straddle is still unallocated.</a:t>
            </a:r>
            <a:endParaRPr lang="en-US" sz="900" dirty="0"/>
          </a:p>
          <a:p>
            <a:pPr indent="0" marL="0">
              <a:buNone/>
            </a:pPr>
            <a:r>
              <a:rPr lang="en-US" sz="900" b="1" dirty="0">
                <a:solidFill>
                  <a:srgbClr val="B4552D"/>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MRR went backwards again, by $181.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$1,026 invoiced against $1,172 of churn and $35 of contraction. Q4 stands at $3,817 — 14% of the $28k OKR2 against a 20% pace mark, and the register is now five weeks into the quarter with net MRR negative every one of them.</a:t>
            </a:r>
            <a:endParaRPr lang="en-US" sz="900" dirty="0"/>
          </a:p>
          <a:p>
            <a:pPr indent="0" marL="0">
              <a:buNone/>
            </a:pPr>
            <a:r>
              <a:rPr lang="en-US" sz="900" b="1" dirty="0">
                <a:solidFill>
                  <a:srgbClr val="8FA1AC"/>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Targets are still the Q3 numbers carried forward.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No Q4 OKR2 or team target has been set, so every attainment percentage on this slide is measured against last quarter's bar.</a:t>
            </a:r>
            <a:endParaRPr lang="en-US" sz="900" dirty="0"/>
          </a:p>
          <a:p>
            <a:pPr indent="0" marL="0">
              <a:buNone/>
            </a:pPr>
            <a:r>
              <a:rPr lang="en-US" sz="900" b="1" dirty="0">
                <a:solidFill>
                  <a:srgbClr val="8FA1AC"/>
                </a:solidFill>
                <a:latin typeface="Poppins" pitchFamily="34" charset="0"/>
                <a:ea typeface="Poppins" pitchFamily="34" charset="-122"/>
                <a:cs typeface="Poppins" pitchFamily="34" charset="-120"/>
              </a:rPr>
              <a:t>•  </a:t>
            </a:r>
            <a:pPr indent="0" marL="0">
              <a:spcAft>
                <a:spcPts val="800"/>
              </a:spcAft>
              <a:buNone/>
            </a:pPr>
            <a:r>
              <a:rPr lang="en-US" sz="900" dirty="0">
                <a:solidFill>
                  <a:srgbClr val="8FA1AC"/>
                </a:solidFill>
                <a:latin typeface="Poppins" pitchFamily="34" charset="0"/>
                <a:ea typeface="Poppins" pitchFamily="34" charset="-122"/>
                <a:cs typeface="Poppins" pitchFamily="34" charset="-120"/>
              </a:rPr>
              <a:t>HW = commissionable only, gross of discounts · attainment = invoiced, never closed-won · pace = Q4 (Oct–Dec) · 18 of 92 days elapsed.</a:t>
            </a:r>
            <a:endParaRPr lang="en-US" sz="900" dirty="0"/>
          </a:p>
        </p:txBody>
      </p:sp>
      <p:sp>
        <p:nvSpPr>
          <p:cNvPr id="161" name="Shape 159"/>
          <p:cNvSpPr/>
          <p:nvPr/>
        </p:nvSpPr>
        <p:spPr>
          <a:xfrm>
            <a:off x="7088429" y="6510528"/>
            <a:ext cx="4689043" cy="256032"/>
          </a:xfrm>
          <a:prstGeom prst="roundRect">
            <a:avLst>
              <a:gd name="adj" fmla="val 46429"/>
            </a:avLst>
          </a:prstGeom>
          <a:solidFill>
            <a:srgbClr val="12293A"/>
          </a:solidFill>
          <a:ln/>
        </p:spPr>
      </p:sp>
      <p:sp>
        <p:nvSpPr>
          <p:cNvPr id="162" name="Text 160"/>
          <p:cNvSpPr txBox="1"/>
          <p:nvPr/>
        </p:nvSpPr>
        <p:spPr>
          <a:xfrm>
            <a:off x="7088429" y="6510528"/>
            <a:ext cx="4689043" cy="256032"/>
          </a:xfrm>
          <a:prstGeom prst="rect">
            <a:avLst/>
          </a:prstGeom>
          <a:noFill/>
          <a:ln/>
        </p:spPr>
        <p:txBody>
          <a:bodyPr wrap="square" lIns="0" tIns="0" rIns="0" bIns="0" rtlCol="0" anchor="ctr"/>
          <a:lstStyle/>
          <a:p>
            <a:pPr algn="ctr" indent="0" marL="0">
              <a:buNone/>
            </a:pPr>
            <a:r>
              <a:rPr lang="en-US" sz="700" b="1" dirty="0">
                <a:solidFill>
                  <a:srgbClr val="FFFFFF"/>
                </a:solidFill>
                <a:latin typeface="Poppins" pitchFamily="34" charset="0"/>
                <a:ea typeface="Poppins" pitchFamily="34" charset="-122"/>
                <a:cs typeface="Poppins" pitchFamily="34" charset="-120"/>
              </a:rPr>
              <a:t>Source: Sysnet extract 12–18 Oct + MRR movement register (live, 19 Oct)</a:t>
            </a:r>
            <a:endParaRPr lang="en-US" sz="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2F6F8"/>
        </a:solidFill>
      </p:bgPr>
    </p:bg>
    <p:spTree>
      <p:nvGrpSpPr>
        <p:cNvPr id="1" name=""/>
        <p:cNvGrpSpPr/>
        <p:nvPr/>
      </p:nvGrpSpPr>
      <p:grpSpPr>
        <a:xfrm>
          <a:off x="0" y="0"/>
          <a:ext cx="0" cy="0"/>
          <a:chOff x="0" y="0"/>
          <a:chExt cx="0" cy="0"/>
        </a:xfrm>
      </p:grpSpPr>
      <p:sp>
        <p:nvSpPr>
          <p:cNvPr id="2" name="Shape 0"/>
          <p:cNvSpPr/>
          <p:nvPr/>
        </p:nvSpPr>
        <p:spPr>
          <a:xfrm>
            <a:off x="0" y="0"/>
            <a:ext cx="12188952" cy="841248"/>
          </a:xfrm>
          <a:prstGeom prst="rect">
            <a:avLst/>
          </a:prstGeom>
          <a:solidFill>
            <a:srgbClr val="12293A"/>
          </a:solidFill>
          <a:ln/>
        </p:spPr>
      </p:sp>
      <p:sp>
        <p:nvSpPr>
          <p:cNvPr id="3" name="Shape 1"/>
          <p:cNvSpPr/>
          <p:nvPr/>
        </p:nvSpPr>
        <p:spPr>
          <a:xfrm>
            <a:off x="384048" y="155448"/>
            <a:ext cx="731520" cy="530352"/>
          </a:xfrm>
          <a:prstGeom prst="roundRect">
            <a:avLst>
              <a:gd name="adj" fmla="val 15517"/>
            </a:avLst>
          </a:prstGeom>
          <a:solidFill>
            <a:srgbClr val="FFFFFF"/>
          </a:solidFill>
          <a:ln/>
        </p:spPr>
      </p:sp>
      <p:sp>
        <p:nvSpPr>
          <p:cNvPr id="4" name="Text 2"/>
          <p:cNvSpPr txBox="1"/>
          <p:nvPr/>
        </p:nvSpPr>
        <p:spPr>
          <a:xfrm>
            <a:off x="384048" y="155448"/>
            <a:ext cx="731520" cy="530352"/>
          </a:xfrm>
          <a:prstGeom prst="rect">
            <a:avLst/>
          </a:prstGeom>
          <a:noFill/>
          <a:ln/>
        </p:spPr>
        <p:txBody>
          <a:bodyPr wrap="square" lIns="0" tIns="0" rIns="0" bIns="0" rtlCol="0" anchor="ctr"/>
          <a:lstStyle/>
          <a:p>
            <a:pPr algn="ctr" indent="0" marL="0">
              <a:buNone/>
            </a:pPr>
            <a:r>
              <a:rPr lang="en-US" sz="1500" b="1" dirty="0">
                <a:solidFill>
                  <a:srgbClr val="12293A"/>
                </a:solidFill>
                <a:latin typeface="Poppins" pitchFamily="34" charset="0"/>
                <a:ea typeface="Poppins" pitchFamily="34" charset="-122"/>
                <a:cs typeface="Poppins" pitchFamily="34" charset="-120"/>
              </a:rPr>
              <a:t>H&amp;L</a:t>
            </a:r>
            <a:endParaRPr lang="en-US" sz="1500" dirty="0"/>
          </a:p>
        </p:txBody>
      </p:sp>
      <p:sp>
        <p:nvSpPr>
          <p:cNvPr id="5" name="Text 3"/>
          <p:cNvSpPr txBox="1"/>
          <p:nvPr/>
        </p:nvSpPr>
        <p:spPr>
          <a:xfrm>
            <a:off x="1298448" y="54864"/>
            <a:ext cx="7223760" cy="475488"/>
          </a:xfrm>
          <a:prstGeom prst="rect">
            <a:avLst/>
          </a:prstGeom>
          <a:noFill/>
          <a:ln/>
        </p:spPr>
        <p:txBody>
          <a:bodyPr wrap="square" lIns="0" tIns="0" rIns="0" bIns="0" rtlCol="0" anchor="ctr"/>
          <a:lstStyle/>
          <a:p>
            <a:pPr indent="0" marL="0">
              <a:buNone/>
            </a:pPr>
            <a:r>
              <a:rPr lang="en-US" sz="2300" b="1" dirty="0">
                <a:solidFill>
                  <a:srgbClr val="FFFFFF"/>
                </a:solidFill>
                <a:latin typeface="Poppins" pitchFamily="34" charset="0"/>
                <a:ea typeface="Poppins" pitchFamily="34" charset="-122"/>
                <a:cs typeface="Poppins" pitchFamily="34" charset="-120"/>
              </a:rPr>
              <a:t>AI-Infused Products — Pipeline</a:t>
            </a:r>
            <a:endParaRPr lang="en-US" sz="2300" dirty="0"/>
          </a:p>
        </p:txBody>
      </p:sp>
      <p:sp>
        <p:nvSpPr>
          <p:cNvPr id="6" name="Text 4"/>
          <p:cNvSpPr txBox="1"/>
          <p:nvPr/>
        </p:nvSpPr>
        <p:spPr>
          <a:xfrm>
            <a:off x="1316736" y="512064"/>
            <a:ext cx="7040880" cy="256032"/>
          </a:xfrm>
          <a:prstGeom prst="rect">
            <a:avLst/>
          </a:prstGeom>
          <a:noFill/>
          <a:ln/>
        </p:spPr>
        <p:txBody>
          <a:bodyPr wrap="square" lIns="0" tIns="0" rIns="0" bIns="0" rtlCol="0" anchor="ctr"/>
          <a:lstStyle/>
          <a:p>
            <a:pPr indent="0" marL="0">
              <a:buNone/>
            </a:pPr>
            <a:r>
              <a:rPr lang="en-US" sz="1050" dirty="0">
                <a:solidFill>
                  <a:srgbClr val="6FAEBB"/>
                </a:solidFill>
                <a:latin typeface="Poppins" pitchFamily="34" charset="0"/>
                <a:ea typeface="Poppins" pitchFamily="34" charset="-122"/>
                <a:cs typeface="Poppins" pitchFamily="34" charset="-120"/>
              </a:rPr>
              <a:t>Sales &amp; Product</a:t>
            </a:r>
            <a:endParaRPr lang="en-US" sz="1050" dirty="0"/>
          </a:p>
        </p:txBody>
      </p:sp>
      <p:sp>
        <p:nvSpPr>
          <p:cNvPr id="7" name="Shape 5"/>
          <p:cNvSpPr/>
          <p:nvPr/>
        </p:nvSpPr>
        <p:spPr>
          <a:xfrm>
            <a:off x="8686800" y="82296"/>
            <a:ext cx="1965960" cy="347472"/>
          </a:xfrm>
          <a:prstGeom prst="roundRect">
            <a:avLst>
              <a:gd name="adj" fmla="val 50000"/>
            </a:avLst>
          </a:prstGeom>
          <a:solidFill>
            <a:srgbClr val="2C8394"/>
          </a:solidFill>
          <a:ln w="9525">
            <a:solidFill>
              <a:srgbClr val="FFFFFF">
                <a:alpha val="45000"/>
              </a:srgbClr>
            </a:solidFill>
            <a:prstDash val="solid"/>
          </a:ln>
        </p:spPr>
      </p:sp>
      <p:sp>
        <p:nvSpPr>
          <p:cNvPr id="8" name="Text 6"/>
          <p:cNvSpPr txBox="1"/>
          <p:nvPr/>
        </p:nvSpPr>
        <p:spPr>
          <a:xfrm>
            <a:off x="8686800" y="82296"/>
            <a:ext cx="1965960" cy="347472"/>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1  ·  DID WE SELL?</a:t>
            </a:r>
            <a:endParaRPr lang="en-US" sz="850" dirty="0"/>
          </a:p>
        </p:txBody>
      </p:sp>
      <p:sp>
        <p:nvSpPr>
          <p:cNvPr id="9" name="Shape 7"/>
          <p:cNvSpPr/>
          <p:nvPr/>
        </p:nvSpPr>
        <p:spPr>
          <a:xfrm>
            <a:off x="8686800" y="484632"/>
            <a:ext cx="1965960" cy="310896"/>
          </a:xfrm>
          <a:prstGeom prst="roundRect">
            <a:avLst>
              <a:gd name="adj" fmla="val 50000"/>
            </a:avLst>
          </a:prstGeom>
          <a:solidFill>
            <a:srgbClr val="B4552D"/>
          </a:solidFill>
          <a:ln/>
        </p:spPr>
      </p:sp>
      <p:sp>
        <p:nvSpPr>
          <p:cNvPr id="10" name="Text 8"/>
          <p:cNvSpPr txBox="1"/>
          <p:nvPr/>
        </p:nvSpPr>
        <p:spPr>
          <a:xfrm>
            <a:off x="8686800" y="484632"/>
            <a:ext cx="1965960" cy="310896"/>
          </a:xfrm>
          <a:prstGeom prst="rect">
            <a:avLst/>
          </a:prstGeom>
          <a:noFill/>
          <a:ln/>
        </p:spPr>
        <p:txBody>
          <a:bodyPr wrap="square" lIns="0" tIns="0" rIns="0" bIns="0" rtlCol="0" anchor="ctr"/>
          <a:lstStyle/>
          <a:p>
            <a:pPr algn="ctr" indent="0" marL="0">
              <a:buNone/>
            </a:pPr>
            <a:r>
              <a:rPr lang="en-US" sz="750" b="1" dirty="0">
                <a:solidFill>
                  <a:srgbClr val="FFFFFF"/>
                </a:solidFill>
                <a:latin typeface="Poppins" pitchFamily="34" charset="0"/>
                <a:ea typeface="Poppins" pitchFamily="34" charset="-122"/>
                <a:cs typeface="Poppins" pitchFamily="34" charset="-120"/>
              </a:rPr>
              <a:t>CUTOVER · NOW HUBSPOT</a:t>
            </a:r>
            <a:endParaRPr lang="en-US" sz="750" dirty="0"/>
          </a:p>
        </p:txBody>
      </p:sp>
      <p:sp>
        <p:nvSpPr>
          <p:cNvPr id="11" name="Shape 9"/>
          <p:cNvSpPr/>
          <p:nvPr/>
        </p:nvSpPr>
        <p:spPr>
          <a:xfrm>
            <a:off x="10872216" y="0"/>
            <a:ext cx="841248" cy="841248"/>
          </a:xfrm>
          <a:prstGeom prst="ellipse">
            <a:avLst/>
          </a:prstGeom>
          <a:solidFill>
            <a:srgbClr val="1C5765"/>
          </a:solidFill>
          <a:ln/>
        </p:spPr>
      </p:sp>
      <p:sp>
        <p:nvSpPr>
          <p:cNvPr id="12" name="Shape 10"/>
          <p:cNvSpPr/>
          <p:nvPr/>
        </p:nvSpPr>
        <p:spPr>
          <a:xfrm>
            <a:off x="10968228" y="96012"/>
            <a:ext cx="649224" cy="649224"/>
          </a:xfrm>
          <a:prstGeom prst="ellipse">
            <a:avLst/>
          </a:prstGeom>
          <a:solidFill>
            <a:srgbClr val="2C8394"/>
          </a:solidFill>
          <a:ln/>
        </p:spPr>
      </p:sp>
      <p:sp>
        <p:nvSpPr>
          <p:cNvPr id="13" name="Shape 11"/>
          <p:cNvSpPr/>
          <p:nvPr/>
        </p:nvSpPr>
        <p:spPr>
          <a:xfrm>
            <a:off x="11064240" y="192024"/>
            <a:ext cx="457200" cy="457200"/>
          </a:xfrm>
          <a:prstGeom prst="ellipse">
            <a:avLst/>
          </a:prstGeom>
          <a:solidFill>
            <a:srgbClr val="6FAEBB"/>
          </a:solidFill>
          <a:ln/>
        </p:spPr>
      </p:sp>
      <p:sp>
        <p:nvSpPr>
          <p:cNvPr id="14" name="Shape 12"/>
          <p:cNvSpPr/>
          <p:nvPr/>
        </p:nvSpPr>
        <p:spPr>
          <a:xfrm>
            <a:off x="11160252" y="288036"/>
            <a:ext cx="265176" cy="265176"/>
          </a:xfrm>
          <a:prstGeom prst="ellipse">
            <a:avLst/>
          </a:prstGeom>
          <a:solidFill>
            <a:srgbClr val="E4F1F4"/>
          </a:solidFill>
          <a:ln/>
        </p:spPr>
      </p:sp>
      <p:sp>
        <p:nvSpPr>
          <p:cNvPr id="15" name="Shape 13"/>
          <p:cNvSpPr/>
          <p:nvPr/>
        </p:nvSpPr>
        <p:spPr>
          <a:xfrm>
            <a:off x="411480" y="987552"/>
            <a:ext cx="2697480" cy="1097280"/>
          </a:xfrm>
          <a:prstGeom prst="roundRect">
            <a:avLst>
              <a:gd name="adj" fmla="val 5833"/>
            </a:avLst>
          </a:prstGeom>
          <a:solidFill>
            <a:srgbClr val="FFFFFF"/>
          </a:solidFill>
          <a:ln/>
          <a:effectLst>
            <a:outerShdw sx="100000" sy="100000" kx="0" ky="0" algn="bl" rotWithShape="0" blurRad="76200" dist="25400" dir="5400000">
              <a:srgbClr val="9AAAB5">
                <a:alpha val="35000"/>
              </a:srgbClr>
            </a:outerShdw>
          </a:effectLst>
        </p:spPr>
      </p:sp>
      <p:sp>
        <p:nvSpPr>
          <p:cNvPr id="16" name="Text 14"/>
          <p:cNvSpPr txBox="1"/>
          <p:nvPr/>
        </p:nvSpPr>
        <p:spPr>
          <a:xfrm>
            <a:off x="576072" y="1078992"/>
            <a:ext cx="2368296"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OPEN PIPELINE</a:t>
            </a:r>
            <a:endParaRPr lang="en-US" sz="950" dirty="0"/>
          </a:p>
        </p:txBody>
      </p:sp>
      <p:sp>
        <p:nvSpPr>
          <p:cNvPr id="17" name="Text 15"/>
          <p:cNvSpPr txBox="1"/>
          <p:nvPr/>
        </p:nvSpPr>
        <p:spPr>
          <a:xfrm>
            <a:off x="557784" y="1261872"/>
            <a:ext cx="2404872" cy="310896"/>
          </a:xfrm>
          <a:prstGeom prst="rect">
            <a:avLst/>
          </a:prstGeom>
          <a:noFill/>
          <a:ln/>
        </p:spPr>
        <p:txBody>
          <a:bodyPr wrap="square" lIns="0" tIns="0" rIns="0" bIns="0" rtlCol="0" anchor="ctr"/>
          <a:lstStyle/>
          <a:p>
            <a:pPr indent="0" marL="0">
              <a:buNone/>
            </a:pPr>
            <a:r>
              <a:rPr lang="en-US" sz="2400" b="1" dirty="0">
                <a:solidFill>
                  <a:srgbClr val="12293A"/>
                </a:solidFill>
                <a:latin typeface="Poppins" pitchFamily="34" charset="0"/>
                <a:ea typeface="Poppins" pitchFamily="34" charset="-122"/>
                <a:cs typeface="Poppins" pitchFamily="34" charset="-120"/>
              </a:rPr>
              <a:t>US$2,103</a:t>
            </a:r>
            <a:endParaRPr lang="en-US" sz="2400" dirty="0"/>
          </a:p>
        </p:txBody>
      </p:sp>
      <p:sp>
        <p:nvSpPr>
          <p:cNvPr id="18" name="Text 16"/>
          <p:cNvSpPr txBox="1"/>
          <p:nvPr/>
        </p:nvSpPr>
        <p:spPr>
          <a:xfrm>
            <a:off x="576072" y="1609344"/>
            <a:ext cx="2368296"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A$2,953 · 32 deals not yet ordered</a:t>
            </a:r>
            <a:endParaRPr lang="en-US" sz="780" dirty="0"/>
          </a:p>
        </p:txBody>
      </p:sp>
      <p:sp>
        <p:nvSpPr>
          <p:cNvPr id="19" name="Shape 17"/>
          <p:cNvSpPr/>
          <p:nvPr/>
        </p:nvSpPr>
        <p:spPr>
          <a:xfrm>
            <a:off x="3291840" y="987552"/>
            <a:ext cx="2697480" cy="1097280"/>
          </a:xfrm>
          <a:prstGeom prst="roundRect">
            <a:avLst>
              <a:gd name="adj" fmla="val 5833"/>
            </a:avLst>
          </a:prstGeom>
          <a:solidFill>
            <a:srgbClr val="FFFFFF"/>
          </a:solidFill>
          <a:ln/>
          <a:effectLst>
            <a:outerShdw sx="100000" sy="100000" kx="0" ky="0" algn="bl" rotWithShape="0" blurRad="76200" dist="25400" dir="5400000">
              <a:srgbClr val="9AAAB5">
                <a:alpha val="35000"/>
              </a:srgbClr>
            </a:outerShdw>
          </a:effectLst>
        </p:spPr>
      </p:sp>
      <p:sp>
        <p:nvSpPr>
          <p:cNvPr id="20" name="Text 18"/>
          <p:cNvSpPr txBox="1"/>
          <p:nvPr/>
        </p:nvSpPr>
        <p:spPr>
          <a:xfrm>
            <a:off x="3456432" y="1078992"/>
            <a:ext cx="2368296"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ORDER PLACED</a:t>
            </a:r>
            <a:endParaRPr lang="en-US" sz="950" dirty="0"/>
          </a:p>
        </p:txBody>
      </p:sp>
      <p:sp>
        <p:nvSpPr>
          <p:cNvPr id="21" name="Text 19"/>
          <p:cNvSpPr txBox="1"/>
          <p:nvPr/>
        </p:nvSpPr>
        <p:spPr>
          <a:xfrm>
            <a:off x="3438144" y="1261872"/>
            <a:ext cx="2404872" cy="310896"/>
          </a:xfrm>
          <a:prstGeom prst="rect">
            <a:avLst/>
          </a:prstGeom>
          <a:noFill/>
          <a:ln/>
        </p:spPr>
        <p:txBody>
          <a:bodyPr wrap="square" lIns="0" tIns="0" rIns="0" bIns="0" rtlCol="0" anchor="ctr"/>
          <a:lstStyle/>
          <a:p>
            <a:pPr indent="0" marL="0">
              <a:buNone/>
            </a:pPr>
            <a:r>
              <a:rPr lang="en-US" sz="2400" b="1" dirty="0">
                <a:solidFill>
                  <a:srgbClr val="3D8F5F"/>
                </a:solidFill>
                <a:latin typeface="Poppins" pitchFamily="34" charset="0"/>
                <a:ea typeface="Poppins" pitchFamily="34" charset="-122"/>
                <a:cs typeface="Poppins" pitchFamily="34" charset="-120"/>
              </a:rPr>
              <a:t>US$464</a:t>
            </a:r>
            <a:endParaRPr lang="en-US" sz="2400" dirty="0"/>
          </a:p>
        </p:txBody>
      </p:sp>
      <p:sp>
        <p:nvSpPr>
          <p:cNvPr id="22" name="Text 20"/>
          <p:cNvSpPr txBox="1"/>
          <p:nvPr/>
        </p:nvSpPr>
        <p:spPr>
          <a:xfrm>
            <a:off x="3456432" y="1609344"/>
            <a:ext cx="2368296"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A$651 · 9 deals since 1 Jul</a:t>
            </a:r>
            <a:endParaRPr lang="en-US" sz="780" dirty="0"/>
          </a:p>
        </p:txBody>
      </p:sp>
      <p:sp>
        <p:nvSpPr>
          <p:cNvPr id="23" name="Shape 21"/>
          <p:cNvSpPr/>
          <p:nvPr/>
        </p:nvSpPr>
        <p:spPr>
          <a:xfrm>
            <a:off x="6172200" y="987552"/>
            <a:ext cx="2697480" cy="1097280"/>
          </a:xfrm>
          <a:prstGeom prst="roundRect">
            <a:avLst>
              <a:gd name="adj" fmla="val 5833"/>
            </a:avLst>
          </a:prstGeom>
          <a:solidFill>
            <a:srgbClr val="FFFFFF"/>
          </a:solidFill>
          <a:ln/>
          <a:effectLst>
            <a:outerShdw sx="100000" sy="100000" kx="0" ky="0" algn="bl" rotWithShape="0" blurRad="76200" dist="25400" dir="5400000">
              <a:srgbClr val="9AAAB5">
                <a:alpha val="35000"/>
              </a:srgbClr>
            </a:outerShdw>
          </a:effectLst>
        </p:spPr>
      </p:sp>
      <p:sp>
        <p:nvSpPr>
          <p:cNvPr id="24" name="Text 22"/>
          <p:cNvSpPr txBox="1"/>
          <p:nvPr/>
        </p:nvSpPr>
        <p:spPr>
          <a:xfrm>
            <a:off x="6336792" y="1078992"/>
            <a:ext cx="2368296"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CLOSED LOST</a:t>
            </a:r>
            <a:endParaRPr lang="en-US" sz="950" dirty="0"/>
          </a:p>
        </p:txBody>
      </p:sp>
      <p:sp>
        <p:nvSpPr>
          <p:cNvPr id="25" name="Text 23"/>
          <p:cNvSpPr txBox="1"/>
          <p:nvPr/>
        </p:nvSpPr>
        <p:spPr>
          <a:xfrm>
            <a:off x="6318504" y="1261872"/>
            <a:ext cx="2404872" cy="310896"/>
          </a:xfrm>
          <a:prstGeom prst="rect">
            <a:avLst/>
          </a:prstGeom>
          <a:noFill/>
          <a:ln/>
        </p:spPr>
        <p:txBody>
          <a:bodyPr wrap="square" lIns="0" tIns="0" rIns="0" bIns="0" rtlCol="0" anchor="ctr"/>
          <a:lstStyle/>
          <a:p>
            <a:pPr indent="0" marL="0">
              <a:buNone/>
            </a:pPr>
            <a:r>
              <a:rPr lang="en-US" sz="2400" b="1" dirty="0">
                <a:solidFill>
                  <a:srgbClr val="B4552D"/>
                </a:solidFill>
                <a:latin typeface="Poppins" pitchFamily="34" charset="0"/>
                <a:ea typeface="Poppins" pitchFamily="34" charset="-122"/>
                <a:cs typeface="Poppins" pitchFamily="34" charset="-120"/>
              </a:rPr>
              <a:t>US$360</a:t>
            </a:r>
            <a:endParaRPr lang="en-US" sz="2400" dirty="0"/>
          </a:p>
        </p:txBody>
      </p:sp>
      <p:sp>
        <p:nvSpPr>
          <p:cNvPr id="26" name="Text 24"/>
          <p:cNvSpPr txBox="1"/>
          <p:nvPr/>
        </p:nvSpPr>
        <p:spPr>
          <a:xfrm>
            <a:off x="6336792" y="1609344"/>
            <a:ext cx="2368296"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A$506 · 7 deals since 1 Jul</a:t>
            </a:r>
            <a:endParaRPr lang="en-US" sz="780" dirty="0"/>
          </a:p>
        </p:txBody>
      </p:sp>
      <p:sp>
        <p:nvSpPr>
          <p:cNvPr id="27" name="Shape 25"/>
          <p:cNvSpPr/>
          <p:nvPr/>
        </p:nvSpPr>
        <p:spPr>
          <a:xfrm>
            <a:off x="9052560" y="987552"/>
            <a:ext cx="2724912" cy="1097280"/>
          </a:xfrm>
          <a:prstGeom prst="roundRect">
            <a:avLst>
              <a:gd name="adj" fmla="val 5833"/>
            </a:avLst>
          </a:prstGeom>
          <a:solidFill>
            <a:srgbClr val="FFFFFF"/>
          </a:solidFill>
          <a:ln/>
          <a:effectLst>
            <a:outerShdw sx="100000" sy="100000" kx="0" ky="0" algn="bl" rotWithShape="0" blurRad="76200" dist="25400" dir="5400000">
              <a:srgbClr val="9AAAB5">
                <a:alpha val="35000"/>
              </a:srgbClr>
            </a:outerShdw>
          </a:effectLst>
        </p:spPr>
      </p:sp>
      <p:sp>
        <p:nvSpPr>
          <p:cNvPr id="28" name="Text 26"/>
          <p:cNvSpPr txBox="1"/>
          <p:nvPr/>
        </p:nvSpPr>
        <p:spPr>
          <a:xfrm>
            <a:off x="9217152" y="1078992"/>
            <a:ext cx="2395728"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CONVERSION — OF CLOSED</a:t>
            </a:r>
            <a:endParaRPr lang="en-US" sz="950" dirty="0"/>
          </a:p>
        </p:txBody>
      </p:sp>
      <p:sp>
        <p:nvSpPr>
          <p:cNvPr id="29" name="Text 27"/>
          <p:cNvSpPr txBox="1"/>
          <p:nvPr/>
        </p:nvSpPr>
        <p:spPr>
          <a:xfrm>
            <a:off x="9198864" y="1261872"/>
            <a:ext cx="2432304" cy="310896"/>
          </a:xfrm>
          <a:prstGeom prst="rect">
            <a:avLst/>
          </a:prstGeom>
          <a:noFill/>
          <a:ln/>
        </p:spPr>
        <p:txBody>
          <a:bodyPr wrap="square" lIns="0" tIns="0" rIns="0" bIns="0" rtlCol="0" anchor="ctr"/>
          <a:lstStyle/>
          <a:p>
            <a:pPr indent="0" marL="0">
              <a:buNone/>
            </a:pPr>
            <a:r>
              <a:rPr lang="en-US" sz="2400" b="1" dirty="0">
                <a:solidFill>
                  <a:srgbClr val="2C8394"/>
                </a:solidFill>
                <a:latin typeface="Poppins" pitchFamily="34" charset="0"/>
                <a:ea typeface="Poppins" pitchFamily="34" charset="-122"/>
                <a:cs typeface="Poppins" pitchFamily="34" charset="-120"/>
              </a:rPr>
              <a:t>56%</a:t>
            </a:r>
            <a:endParaRPr lang="en-US" sz="2400" dirty="0"/>
          </a:p>
        </p:txBody>
      </p:sp>
      <p:sp>
        <p:nvSpPr>
          <p:cNvPr id="30" name="Text 28"/>
          <p:cNvSpPr txBox="1"/>
          <p:nvPr/>
        </p:nvSpPr>
        <p:spPr>
          <a:xfrm>
            <a:off x="9217152" y="1609344"/>
            <a:ext cx="2395728"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9 placed / 7 lost by count · 56% by value</a:t>
            </a:r>
            <a:endParaRPr lang="en-US" sz="780" dirty="0"/>
          </a:p>
        </p:txBody>
      </p:sp>
      <p:sp>
        <p:nvSpPr>
          <p:cNvPr id="31" name="Shape 29"/>
          <p:cNvSpPr/>
          <p:nvPr/>
        </p:nvSpPr>
        <p:spPr>
          <a:xfrm>
            <a:off x="411480" y="2212848"/>
            <a:ext cx="6858000" cy="3200400"/>
          </a:xfrm>
          <a:prstGeom prst="roundRect">
            <a:avLst>
              <a:gd name="adj" fmla="val 2000"/>
            </a:avLst>
          </a:prstGeom>
          <a:solidFill>
            <a:srgbClr val="FFFFFF"/>
          </a:solidFill>
          <a:ln/>
          <a:effectLst>
            <a:outerShdw sx="100000" sy="100000" kx="0" ky="0" algn="bl" rotWithShape="0" blurRad="76200" dist="25400" dir="5400000">
              <a:srgbClr val="9AAAB5">
                <a:alpha val="35000"/>
              </a:srgbClr>
            </a:outerShdw>
          </a:effectLst>
        </p:spPr>
      </p:sp>
      <p:sp>
        <p:nvSpPr>
          <p:cNvPr id="32" name="Text 30"/>
          <p:cNvSpPr txBox="1"/>
          <p:nvPr/>
        </p:nvSpPr>
        <p:spPr>
          <a:xfrm>
            <a:off x="612648" y="2304288"/>
            <a:ext cx="6455664" cy="219456"/>
          </a:xfrm>
          <a:prstGeom prst="rect">
            <a:avLst/>
          </a:prstGeom>
          <a:noFill/>
          <a:ln/>
        </p:spPr>
        <p:txBody>
          <a:bodyPr wrap="square" lIns="0" tIns="0" rIns="0" bIns="0" rtlCol="0" anchor="ctr"/>
          <a:lstStyle/>
          <a:p>
            <a:pPr indent="0" marL="0">
              <a:buNone/>
            </a:pPr>
            <a:r>
              <a:rPr lang="en-US" sz="1150" b="1" dirty="0">
                <a:solidFill>
                  <a:srgbClr val="2C8394"/>
                </a:solidFill>
                <a:latin typeface="Poppins" pitchFamily="34" charset="0"/>
                <a:ea typeface="Poppins" pitchFamily="34" charset="-122"/>
                <a:cs typeface="Poppins" pitchFamily="34" charset="-120"/>
              </a:rPr>
              <a:t>PIPELINE BY STAGE   </a:t>
            </a:r>
            <a:pPr indent="0" marL="0">
              <a:buNone/>
            </a:pPr>
            <a:r>
              <a:rPr lang="en-US" sz="680" dirty="0">
                <a:solidFill>
                  <a:srgbClr val="8FA1AC"/>
                </a:solidFill>
                <a:latin typeface="Poppins" pitchFamily="34" charset="0"/>
                <a:ea typeface="Poppins" pitchFamily="34" charset="-122"/>
                <a:cs typeface="Poppins" pitchFamily="34" charset="-120"/>
              </a:rPr>
              <a:t>converted at 0.7122 AUD→USD</a:t>
            </a:r>
            <a:endParaRPr lang="en-US" sz="1150" dirty="0"/>
          </a:p>
        </p:txBody>
      </p:sp>
      <p:sp>
        <p:nvSpPr>
          <p:cNvPr id="33" name="Text 31"/>
          <p:cNvSpPr txBox="1"/>
          <p:nvPr/>
        </p:nvSpPr>
        <p:spPr>
          <a:xfrm>
            <a:off x="667512" y="2633472"/>
            <a:ext cx="1097280" cy="347472"/>
          </a:xfrm>
          <a:prstGeom prst="rect">
            <a:avLst/>
          </a:prstGeom>
          <a:noFill/>
          <a:ln/>
        </p:spPr>
        <p:txBody>
          <a:bodyPr wrap="square" lIns="0" tIns="0" rIns="0" bIns="0" rtlCol="0" anchor="ctr"/>
          <a:lstStyle/>
          <a:p>
            <a:pPr indent="0" marL="0">
              <a:buNone/>
            </a:pPr>
            <a:r>
              <a:rPr lang="en-US" sz="850" b="1" dirty="0">
                <a:solidFill>
                  <a:srgbClr val="12293A"/>
                </a:solidFill>
                <a:latin typeface="Poppins" pitchFamily="34" charset="0"/>
                <a:ea typeface="Poppins" pitchFamily="34" charset="-122"/>
                <a:cs typeface="Poppins" pitchFamily="34" charset="-120"/>
              </a:rPr>
              <a:t>Discovery</a:t>
            </a:r>
            <a:endParaRPr lang="en-US" sz="850" dirty="0"/>
          </a:p>
        </p:txBody>
      </p:sp>
      <p:sp>
        <p:nvSpPr>
          <p:cNvPr id="34" name="Shape 32"/>
          <p:cNvSpPr/>
          <p:nvPr/>
        </p:nvSpPr>
        <p:spPr>
          <a:xfrm>
            <a:off x="1828800" y="2734056"/>
            <a:ext cx="277878" cy="182880"/>
          </a:xfrm>
          <a:prstGeom prst="roundRect">
            <a:avLst>
              <a:gd name="adj" fmla="val 40000"/>
            </a:avLst>
          </a:prstGeom>
          <a:solidFill>
            <a:srgbClr val="2C8394"/>
          </a:solidFill>
          <a:ln/>
        </p:spPr>
      </p:sp>
      <p:sp>
        <p:nvSpPr>
          <p:cNvPr id="35" name="Text 33"/>
          <p:cNvSpPr txBox="1"/>
          <p:nvPr/>
        </p:nvSpPr>
        <p:spPr>
          <a:xfrm>
            <a:off x="5669280" y="2633472"/>
            <a:ext cx="868680" cy="347472"/>
          </a:xfrm>
          <a:prstGeom prst="rect">
            <a:avLst/>
          </a:prstGeom>
          <a:noFill/>
          <a:ln/>
        </p:spPr>
        <p:txBody>
          <a:bodyPr wrap="square" lIns="0" tIns="0" rIns="0" bIns="0" rtlCol="0" anchor="ctr"/>
          <a:lstStyle/>
          <a:p>
            <a:pPr algn="r" indent="0" marL="0">
              <a:buNone/>
            </a:pPr>
            <a:r>
              <a:rPr lang="en-US" sz="900" b="1" dirty="0">
                <a:solidFill>
                  <a:srgbClr val="2C8394"/>
                </a:solidFill>
                <a:latin typeface="Poppins" pitchFamily="34" charset="0"/>
                <a:ea typeface="Poppins" pitchFamily="34" charset="-122"/>
                <a:cs typeface="Poppins" pitchFamily="34" charset="-120"/>
              </a:rPr>
              <a:t>US$85</a:t>
            </a:r>
            <a:endParaRPr lang="en-US" sz="900" dirty="0"/>
          </a:p>
        </p:txBody>
      </p:sp>
      <p:sp>
        <p:nvSpPr>
          <p:cNvPr id="36" name="Text 34"/>
          <p:cNvSpPr txBox="1"/>
          <p:nvPr/>
        </p:nvSpPr>
        <p:spPr>
          <a:xfrm>
            <a:off x="6583680" y="2633472"/>
            <a:ext cx="658368" cy="347472"/>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7 deals</a:t>
            </a:r>
            <a:endParaRPr lang="en-US" sz="750" dirty="0"/>
          </a:p>
        </p:txBody>
      </p:sp>
      <p:sp>
        <p:nvSpPr>
          <p:cNvPr id="37" name="Text 35"/>
          <p:cNvSpPr txBox="1"/>
          <p:nvPr/>
        </p:nvSpPr>
        <p:spPr>
          <a:xfrm>
            <a:off x="667512" y="2980944"/>
            <a:ext cx="1097280" cy="347472"/>
          </a:xfrm>
          <a:prstGeom prst="rect">
            <a:avLst/>
          </a:prstGeom>
          <a:noFill/>
          <a:ln/>
        </p:spPr>
        <p:txBody>
          <a:bodyPr wrap="square" lIns="0" tIns="0" rIns="0" bIns="0" rtlCol="0" anchor="ctr"/>
          <a:lstStyle/>
          <a:p>
            <a:pPr indent="0" marL="0">
              <a:buNone/>
            </a:pPr>
            <a:r>
              <a:rPr lang="en-US" sz="850" b="1" dirty="0">
                <a:solidFill>
                  <a:srgbClr val="12293A"/>
                </a:solidFill>
                <a:latin typeface="Poppins" pitchFamily="34" charset="0"/>
                <a:ea typeface="Poppins" pitchFamily="34" charset="-122"/>
                <a:cs typeface="Poppins" pitchFamily="34" charset="-120"/>
              </a:rPr>
              <a:t>Quote Sent</a:t>
            </a:r>
            <a:endParaRPr lang="en-US" sz="850" dirty="0"/>
          </a:p>
        </p:txBody>
      </p:sp>
      <p:sp>
        <p:nvSpPr>
          <p:cNvPr id="38" name="Shape 36"/>
          <p:cNvSpPr/>
          <p:nvPr/>
        </p:nvSpPr>
        <p:spPr>
          <a:xfrm>
            <a:off x="1828800" y="3081528"/>
            <a:ext cx="3749040" cy="182880"/>
          </a:xfrm>
          <a:prstGeom prst="roundRect">
            <a:avLst>
              <a:gd name="adj" fmla="val 40000"/>
            </a:avLst>
          </a:prstGeom>
          <a:solidFill>
            <a:srgbClr val="2C8394"/>
          </a:solidFill>
          <a:ln/>
        </p:spPr>
      </p:sp>
      <p:sp>
        <p:nvSpPr>
          <p:cNvPr id="39" name="Text 37"/>
          <p:cNvSpPr txBox="1"/>
          <p:nvPr/>
        </p:nvSpPr>
        <p:spPr>
          <a:xfrm>
            <a:off x="5669280" y="2980944"/>
            <a:ext cx="868680" cy="347472"/>
          </a:xfrm>
          <a:prstGeom prst="rect">
            <a:avLst/>
          </a:prstGeom>
          <a:noFill/>
          <a:ln/>
        </p:spPr>
        <p:txBody>
          <a:bodyPr wrap="square" lIns="0" tIns="0" rIns="0" bIns="0" rtlCol="0" anchor="ctr"/>
          <a:lstStyle/>
          <a:p>
            <a:pPr algn="r" indent="0" marL="0">
              <a:buNone/>
            </a:pPr>
            <a:r>
              <a:rPr lang="en-US" sz="900" b="1" dirty="0">
                <a:solidFill>
                  <a:srgbClr val="2C8394"/>
                </a:solidFill>
                <a:latin typeface="Poppins" pitchFamily="34" charset="0"/>
                <a:ea typeface="Poppins" pitchFamily="34" charset="-122"/>
                <a:cs typeface="Poppins" pitchFamily="34" charset="-120"/>
              </a:rPr>
              <a:t>US$1,153</a:t>
            </a:r>
            <a:endParaRPr lang="en-US" sz="900" dirty="0"/>
          </a:p>
        </p:txBody>
      </p:sp>
      <p:sp>
        <p:nvSpPr>
          <p:cNvPr id="40" name="Text 38"/>
          <p:cNvSpPr txBox="1"/>
          <p:nvPr/>
        </p:nvSpPr>
        <p:spPr>
          <a:xfrm>
            <a:off x="6583680" y="2980944"/>
            <a:ext cx="658368" cy="347472"/>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18 deals</a:t>
            </a:r>
            <a:endParaRPr lang="en-US" sz="750" dirty="0"/>
          </a:p>
        </p:txBody>
      </p:sp>
      <p:sp>
        <p:nvSpPr>
          <p:cNvPr id="41" name="Text 39"/>
          <p:cNvSpPr txBox="1"/>
          <p:nvPr/>
        </p:nvSpPr>
        <p:spPr>
          <a:xfrm>
            <a:off x="667512" y="3328416"/>
            <a:ext cx="1097280" cy="347472"/>
          </a:xfrm>
          <a:prstGeom prst="rect">
            <a:avLst/>
          </a:prstGeom>
          <a:noFill/>
          <a:ln/>
        </p:spPr>
        <p:txBody>
          <a:bodyPr wrap="square" lIns="0" tIns="0" rIns="0" bIns="0" rtlCol="0" anchor="ctr"/>
          <a:lstStyle/>
          <a:p>
            <a:pPr indent="0" marL="0">
              <a:buNone/>
            </a:pPr>
            <a:r>
              <a:rPr lang="en-US" sz="850" b="1" dirty="0">
                <a:solidFill>
                  <a:srgbClr val="12293A"/>
                </a:solidFill>
                <a:latin typeface="Poppins" pitchFamily="34" charset="0"/>
                <a:ea typeface="Poppins" pitchFamily="34" charset="-122"/>
                <a:cs typeface="Poppins" pitchFamily="34" charset="-120"/>
              </a:rPr>
              <a:t>Negotiation</a:t>
            </a:r>
            <a:endParaRPr lang="en-US" sz="850" dirty="0"/>
          </a:p>
        </p:txBody>
      </p:sp>
      <p:sp>
        <p:nvSpPr>
          <p:cNvPr id="42" name="Shape 40"/>
          <p:cNvSpPr/>
          <p:nvPr/>
        </p:nvSpPr>
        <p:spPr>
          <a:xfrm>
            <a:off x="1828800" y="3429000"/>
            <a:ext cx="2811201" cy="182880"/>
          </a:xfrm>
          <a:prstGeom prst="roundRect">
            <a:avLst>
              <a:gd name="adj" fmla="val 40000"/>
            </a:avLst>
          </a:prstGeom>
          <a:solidFill>
            <a:srgbClr val="2C8394"/>
          </a:solidFill>
          <a:ln/>
        </p:spPr>
      </p:sp>
      <p:sp>
        <p:nvSpPr>
          <p:cNvPr id="43" name="Text 41"/>
          <p:cNvSpPr txBox="1"/>
          <p:nvPr/>
        </p:nvSpPr>
        <p:spPr>
          <a:xfrm>
            <a:off x="5669280" y="3328416"/>
            <a:ext cx="868680" cy="347472"/>
          </a:xfrm>
          <a:prstGeom prst="rect">
            <a:avLst/>
          </a:prstGeom>
          <a:noFill/>
          <a:ln/>
        </p:spPr>
        <p:txBody>
          <a:bodyPr wrap="square" lIns="0" tIns="0" rIns="0" bIns="0" rtlCol="0" anchor="ctr"/>
          <a:lstStyle/>
          <a:p>
            <a:pPr algn="r" indent="0" marL="0">
              <a:buNone/>
            </a:pPr>
            <a:r>
              <a:rPr lang="en-US" sz="900" b="1" dirty="0">
                <a:solidFill>
                  <a:srgbClr val="2C8394"/>
                </a:solidFill>
                <a:latin typeface="Poppins" pitchFamily="34" charset="0"/>
                <a:ea typeface="Poppins" pitchFamily="34" charset="-122"/>
                <a:cs typeface="Poppins" pitchFamily="34" charset="-120"/>
              </a:rPr>
              <a:t>US$865</a:t>
            </a:r>
            <a:endParaRPr lang="en-US" sz="900" dirty="0"/>
          </a:p>
        </p:txBody>
      </p:sp>
      <p:sp>
        <p:nvSpPr>
          <p:cNvPr id="44" name="Text 42"/>
          <p:cNvSpPr txBox="1"/>
          <p:nvPr/>
        </p:nvSpPr>
        <p:spPr>
          <a:xfrm>
            <a:off x="6583680" y="3328416"/>
            <a:ext cx="658368" cy="347472"/>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7 deals</a:t>
            </a:r>
            <a:endParaRPr lang="en-US" sz="750" dirty="0"/>
          </a:p>
        </p:txBody>
      </p:sp>
      <p:sp>
        <p:nvSpPr>
          <p:cNvPr id="45" name="Text 43"/>
          <p:cNvSpPr txBox="1"/>
          <p:nvPr/>
        </p:nvSpPr>
        <p:spPr>
          <a:xfrm>
            <a:off x="667512" y="3675888"/>
            <a:ext cx="1097280" cy="347472"/>
          </a:xfrm>
          <a:prstGeom prst="rect">
            <a:avLst/>
          </a:prstGeom>
          <a:noFill/>
          <a:ln/>
        </p:spPr>
        <p:txBody>
          <a:bodyPr wrap="square" lIns="0" tIns="0" rIns="0" bIns="0" rtlCol="0" anchor="ctr"/>
          <a:lstStyle/>
          <a:p>
            <a:pPr indent="0" marL="0">
              <a:buNone/>
            </a:pPr>
            <a:r>
              <a:rPr lang="en-US" sz="850" b="1" dirty="0">
                <a:solidFill>
                  <a:srgbClr val="12293A"/>
                </a:solidFill>
                <a:latin typeface="Poppins" pitchFamily="34" charset="0"/>
                <a:ea typeface="Poppins" pitchFamily="34" charset="-122"/>
                <a:cs typeface="Poppins" pitchFamily="34" charset="-120"/>
              </a:rPr>
              <a:t>Order Placed</a:t>
            </a:r>
            <a:endParaRPr lang="en-US" sz="850" dirty="0"/>
          </a:p>
        </p:txBody>
      </p:sp>
      <p:sp>
        <p:nvSpPr>
          <p:cNvPr id="46" name="Shape 44"/>
          <p:cNvSpPr/>
          <p:nvPr/>
        </p:nvSpPr>
        <p:spPr>
          <a:xfrm>
            <a:off x="1828800" y="3776472"/>
            <a:ext cx="1507489" cy="182880"/>
          </a:xfrm>
          <a:prstGeom prst="roundRect">
            <a:avLst>
              <a:gd name="adj" fmla="val 40000"/>
            </a:avLst>
          </a:prstGeom>
          <a:solidFill>
            <a:srgbClr val="3D8F5F"/>
          </a:solidFill>
          <a:ln/>
        </p:spPr>
      </p:sp>
      <p:sp>
        <p:nvSpPr>
          <p:cNvPr id="47" name="Text 45"/>
          <p:cNvSpPr txBox="1"/>
          <p:nvPr/>
        </p:nvSpPr>
        <p:spPr>
          <a:xfrm>
            <a:off x="5669280" y="3675888"/>
            <a:ext cx="868680" cy="347472"/>
          </a:xfrm>
          <a:prstGeom prst="rect">
            <a:avLst/>
          </a:prstGeom>
          <a:noFill/>
          <a:ln/>
        </p:spPr>
        <p:txBody>
          <a:bodyPr wrap="square" lIns="0" tIns="0" rIns="0" bIns="0" rtlCol="0" anchor="ctr"/>
          <a:lstStyle/>
          <a:p>
            <a:pPr algn="r" indent="0" marL="0">
              <a:buNone/>
            </a:pPr>
            <a:r>
              <a:rPr lang="en-US" sz="900" b="1" dirty="0">
                <a:solidFill>
                  <a:srgbClr val="3D8F5F"/>
                </a:solidFill>
                <a:latin typeface="Poppins" pitchFamily="34" charset="0"/>
                <a:ea typeface="Poppins" pitchFamily="34" charset="-122"/>
                <a:cs typeface="Poppins" pitchFamily="34" charset="-120"/>
              </a:rPr>
              <a:t>US$464</a:t>
            </a:r>
            <a:endParaRPr lang="en-US" sz="900" dirty="0"/>
          </a:p>
        </p:txBody>
      </p:sp>
      <p:sp>
        <p:nvSpPr>
          <p:cNvPr id="48" name="Text 46"/>
          <p:cNvSpPr txBox="1"/>
          <p:nvPr/>
        </p:nvSpPr>
        <p:spPr>
          <a:xfrm>
            <a:off x="6583680" y="3675888"/>
            <a:ext cx="658368" cy="347472"/>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9 deals</a:t>
            </a:r>
            <a:endParaRPr lang="en-US" sz="750" dirty="0"/>
          </a:p>
        </p:txBody>
      </p:sp>
      <p:sp>
        <p:nvSpPr>
          <p:cNvPr id="49" name="Text 47"/>
          <p:cNvSpPr txBox="1"/>
          <p:nvPr/>
        </p:nvSpPr>
        <p:spPr>
          <a:xfrm>
            <a:off x="667512" y="4023360"/>
            <a:ext cx="1097280" cy="347472"/>
          </a:xfrm>
          <a:prstGeom prst="rect">
            <a:avLst/>
          </a:prstGeom>
          <a:noFill/>
          <a:ln/>
        </p:spPr>
        <p:txBody>
          <a:bodyPr wrap="square" lIns="0" tIns="0" rIns="0" bIns="0" rtlCol="0" anchor="ctr"/>
          <a:lstStyle/>
          <a:p>
            <a:pPr indent="0" marL="0">
              <a:buNone/>
            </a:pPr>
            <a:r>
              <a:rPr lang="en-US" sz="850" b="1" dirty="0">
                <a:solidFill>
                  <a:srgbClr val="5E7280"/>
                </a:solidFill>
                <a:latin typeface="Poppins" pitchFamily="34" charset="0"/>
                <a:ea typeface="Poppins" pitchFamily="34" charset="-122"/>
                <a:cs typeface="Poppins" pitchFamily="34" charset="-120"/>
              </a:rPr>
              <a:t>Closed Lost</a:t>
            </a:r>
            <a:endParaRPr lang="en-US" sz="850" dirty="0"/>
          </a:p>
        </p:txBody>
      </p:sp>
      <p:sp>
        <p:nvSpPr>
          <p:cNvPr id="50" name="Shape 48"/>
          <p:cNvSpPr/>
          <p:nvPr/>
        </p:nvSpPr>
        <p:spPr>
          <a:xfrm>
            <a:off x="1828800" y="4123944"/>
            <a:ext cx="1171720" cy="182880"/>
          </a:xfrm>
          <a:prstGeom prst="roundRect">
            <a:avLst>
              <a:gd name="adj" fmla="val 40000"/>
            </a:avLst>
          </a:prstGeom>
          <a:solidFill>
            <a:srgbClr val="B4552D"/>
          </a:solidFill>
          <a:ln/>
        </p:spPr>
      </p:sp>
      <p:sp>
        <p:nvSpPr>
          <p:cNvPr id="51" name="Text 49"/>
          <p:cNvSpPr txBox="1"/>
          <p:nvPr/>
        </p:nvSpPr>
        <p:spPr>
          <a:xfrm>
            <a:off x="5669280" y="4023360"/>
            <a:ext cx="868680" cy="347472"/>
          </a:xfrm>
          <a:prstGeom prst="rect">
            <a:avLst/>
          </a:prstGeom>
          <a:noFill/>
          <a:ln/>
        </p:spPr>
        <p:txBody>
          <a:bodyPr wrap="square" lIns="0" tIns="0" rIns="0" bIns="0" rtlCol="0" anchor="ctr"/>
          <a:lstStyle/>
          <a:p>
            <a:pPr algn="r" indent="0" marL="0">
              <a:buNone/>
            </a:pPr>
            <a:r>
              <a:rPr lang="en-US" sz="900" b="1" dirty="0">
                <a:solidFill>
                  <a:srgbClr val="B4552D"/>
                </a:solidFill>
                <a:latin typeface="Poppins" pitchFamily="34" charset="0"/>
                <a:ea typeface="Poppins" pitchFamily="34" charset="-122"/>
                <a:cs typeface="Poppins" pitchFamily="34" charset="-120"/>
              </a:rPr>
              <a:t>US$360</a:t>
            </a:r>
            <a:endParaRPr lang="en-US" sz="900" dirty="0"/>
          </a:p>
        </p:txBody>
      </p:sp>
      <p:sp>
        <p:nvSpPr>
          <p:cNvPr id="52" name="Text 50"/>
          <p:cNvSpPr txBox="1"/>
          <p:nvPr/>
        </p:nvSpPr>
        <p:spPr>
          <a:xfrm>
            <a:off x="6583680" y="4023360"/>
            <a:ext cx="658368" cy="347472"/>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7 deals</a:t>
            </a:r>
            <a:endParaRPr lang="en-US" sz="750" dirty="0"/>
          </a:p>
        </p:txBody>
      </p:sp>
      <p:sp>
        <p:nvSpPr>
          <p:cNvPr id="53" name="Shape 51"/>
          <p:cNvSpPr/>
          <p:nvPr/>
        </p:nvSpPr>
        <p:spPr>
          <a:xfrm>
            <a:off x="667512" y="3653028"/>
            <a:ext cx="6345936" cy="12802"/>
          </a:xfrm>
          <a:prstGeom prst="rect">
            <a:avLst/>
          </a:prstGeom>
          <a:solidFill>
            <a:srgbClr val="3D8F5F"/>
          </a:solidFill>
          <a:ln/>
        </p:spPr>
      </p:sp>
      <p:sp>
        <p:nvSpPr>
          <p:cNvPr id="54" name="Text 52"/>
          <p:cNvSpPr txBox="1"/>
          <p:nvPr/>
        </p:nvSpPr>
        <p:spPr>
          <a:xfrm>
            <a:off x="3977640" y="3493008"/>
            <a:ext cx="1600200" cy="155448"/>
          </a:xfrm>
          <a:prstGeom prst="rect">
            <a:avLst/>
          </a:prstGeom>
          <a:noFill/>
          <a:ln/>
        </p:spPr>
        <p:txBody>
          <a:bodyPr wrap="square" lIns="0" tIns="0" rIns="0" bIns="0" rtlCol="0" anchor="ctr"/>
          <a:lstStyle/>
          <a:p>
            <a:pPr algn="r" indent="0" marL="0">
              <a:buNone/>
            </a:pPr>
            <a:r>
              <a:rPr lang="en-US" sz="600" b="1" dirty="0">
                <a:solidFill>
                  <a:srgbClr val="2C8394"/>
                </a:solidFill>
                <a:latin typeface="Poppins" pitchFamily="34" charset="0"/>
                <a:ea typeface="Poppins" pitchFamily="34" charset="-122"/>
                <a:cs typeface="Poppins" pitchFamily="34" charset="-120"/>
              </a:rPr>
              <a:t>▲  NOT ORDER PLACED</a:t>
            </a:r>
            <a:endParaRPr lang="en-US" sz="600" dirty="0"/>
          </a:p>
        </p:txBody>
      </p:sp>
      <p:sp>
        <p:nvSpPr>
          <p:cNvPr id="55" name="Text 53"/>
          <p:cNvSpPr txBox="1"/>
          <p:nvPr/>
        </p:nvSpPr>
        <p:spPr>
          <a:xfrm>
            <a:off x="3977640" y="3703320"/>
            <a:ext cx="1600200" cy="155448"/>
          </a:xfrm>
          <a:prstGeom prst="rect">
            <a:avLst/>
          </a:prstGeom>
          <a:noFill/>
          <a:ln/>
        </p:spPr>
        <p:txBody>
          <a:bodyPr wrap="square" lIns="0" tIns="0" rIns="0" bIns="0" rtlCol="0" anchor="ctr"/>
          <a:lstStyle/>
          <a:p>
            <a:pPr algn="r" indent="0" marL="0">
              <a:buNone/>
            </a:pPr>
            <a:r>
              <a:rPr lang="en-US" sz="600" b="1" dirty="0">
                <a:solidFill>
                  <a:srgbClr val="3D8F5F"/>
                </a:solidFill>
                <a:latin typeface="Poppins" pitchFamily="34" charset="0"/>
                <a:ea typeface="Poppins" pitchFamily="34" charset="-122"/>
                <a:cs typeface="Poppins" pitchFamily="34" charset="-120"/>
              </a:rPr>
              <a:t>▼  ORDER PLACED</a:t>
            </a:r>
            <a:endParaRPr lang="en-US" sz="600" dirty="0"/>
          </a:p>
        </p:txBody>
      </p:sp>
      <p:sp>
        <p:nvSpPr>
          <p:cNvPr id="56" name="Text 54"/>
          <p:cNvSpPr txBox="1"/>
          <p:nvPr/>
        </p:nvSpPr>
        <p:spPr>
          <a:xfrm>
            <a:off x="667512" y="4517136"/>
            <a:ext cx="2743200" cy="182880"/>
          </a:xfrm>
          <a:prstGeom prst="rect">
            <a:avLst/>
          </a:prstGeom>
          <a:noFill/>
          <a:ln/>
        </p:spPr>
        <p:txBody>
          <a:bodyPr wrap="square" lIns="0" tIns="0" rIns="0" bIns="0" rtlCol="0" anchor="ctr"/>
          <a:lstStyle/>
          <a:p>
            <a:pPr indent="0" marL="0">
              <a:buNone/>
            </a:pPr>
            <a:r>
              <a:rPr lang="en-US" sz="800" b="1" dirty="0">
                <a:solidFill>
                  <a:srgbClr val="2C8394"/>
                </a:solidFill>
                <a:latin typeface="Poppins" pitchFamily="34" charset="0"/>
                <a:ea typeface="Poppins" pitchFamily="34" charset="-122"/>
                <a:cs typeface="Poppins" pitchFamily="34" charset="-120"/>
              </a:rPr>
              <a:t>ORDER PLACED VS NOT — SHARE</a:t>
            </a:r>
            <a:endParaRPr lang="en-US" sz="800" dirty="0"/>
          </a:p>
        </p:txBody>
      </p:sp>
      <p:sp>
        <p:nvSpPr>
          <p:cNvPr id="57" name="Text 55"/>
          <p:cNvSpPr txBox="1"/>
          <p:nvPr/>
        </p:nvSpPr>
        <p:spPr>
          <a:xfrm>
            <a:off x="667512" y="4754880"/>
            <a:ext cx="1097280" cy="237744"/>
          </a:xfrm>
          <a:prstGeom prst="rect">
            <a:avLst/>
          </a:prstGeom>
          <a:noFill/>
          <a:ln/>
        </p:spPr>
        <p:txBody>
          <a:bodyPr wrap="square" lIns="0" tIns="0" rIns="0" bIns="0" rtlCol="0" anchor="ctr"/>
          <a:lstStyle/>
          <a:p>
            <a:pPr indent="0" marL="0">
              <a:buNone/>
            </a:pPr>
            <a:r>
              <a:rPr lang="en-US" sz="700" b="1" dirty="0">
                <a:solidFill>
                  <a:srgbClr val="8FA1AC"/>
                </a:solidFill>
                <a:latin typeface="Poppins" pitchFamily="34" charset="0"/>
                <a:ea typeface="Poppins" pitchFamily="34" charset="-122"/>
                <a:cs typeface="Poppins" pitchFamily="34" charset="-120"/>
              </a:rPr>
              <a:t>BY VALUE</a:t>
            </a:r>
            <a:endParaRPr lang="en-US" sz="700" dirty="0"/>
          </a:p>
        </p:txBody>
      </p:sp>
      <p:sp>
        <p:nvSpPr>
          <p:cNvPr id="58" name="Shape 56"/>
          <p:cNvSpPr/>
          <p:nvPr/>
        </p:nvSpPr>
        <p:spPr>
          <a:xfrm>
            <a:off x="1828800" y="4800600"/>
            <a:ext cx="753145" cy="164592"/>
          </a:xfrm>
          <a:prstGeom prst="rect">
            <a:avLst/>
          </a:prstGeom>
          <a:solidFill>
            <a:srgbClr val="3D8F5F"/>
          </a:solidFill>
          <a:ln/>
        </p:spPr>
      </p:sp>
      <p:sp>
        <p:nvSpPr>
          <p:cNvPr id="59" name="Text 57"/>
          <p:cNvSpPr txBox="1"/>
          <p:nvPr/>
        </p:nvSpPr>
        <p:spPr>
          <a:xfrm>
            <a:off x="1828800" y="4782312"/>
            <a:ext cx="753145" cy="201168"/>
          </a:xfrm>
          <a:prstGeom prst="rect">
            <a:avLst/>
          </a:prstGeom>
          <a:noFill/>
          <a:ln/>
        </p:spPr>
        <p:txBody>
          <a:bodyPr wrap="square" lIns="0" tIns="0" rIns="0" bIns="0" rtlCol="0" anchor="ctr"/>
          <a:lstStyle/>
          <a:p>
            <a:pPr algn="ctr" indent="0" marL="0">
              <a:buNone/>
            </a:pPr>
            <a:r>
              <a:rPr lang="en-US" sz="650" b="1" dirty="0">
                <a:solidFill>
                  <a:srgbClr val="FFFFFF"/>
                </a:solidFill>
                <a:latin typeface="Poppins" pitchFamily="34" charset="0"/>
                <a:ea typeface="Poppins" pitchFamily="34" charset="-122"/>
                <a:cs typeface="Poppins" pitchFamily="34" charset="-120"/>
              </a:rPr>
              <a:t>16%</a:t>
            </a:r>
            <a:endParaRPr lang="en-US" sz="650" dirty="0"/>
          </a:p>
        </p:txBody>
      </p:sp>
      <p:sp>
        <p:nvSpPr>
          <p:cNvPr id="60" name="Shape 58"/>
          <p:cNvSpPr/>
          <p:nvPr/>
        </p:nvSpPr>
        <p:spPr>
          <a:xfrm>
            <a:off x="2600233" y="4800600"/>
            <a:ext cx="3416341" cy="164592"/>
          </a:xfrm>
          <a:prstGeom prst="rect">
            <a:avLst/>
          </a:prstGeom>
          <a:solidFill>
            <a:srgbClr val="2C8394"/>
          </a:solidFill>
          <a:ln/>
        </p:spPr>
      </p:sp>
      <p:sp>
        <p:nvSpPr>
          <p:cNvPr id="61" name="Text 59"/>
          <p:cNvSpPr txBox="1"/>
          <p:nvPr/>
        </p:nvSpPr>
        <p:spPr>
          <a:xfrm>
            <a:off x="2600233" y="4782312"/>
            <a:ext cx="3416341" cy="201168"/>
          </a:xfrm>
          <a:prstGeom prst="rect">
            <a:avLst/>
          </a:prstGeom>
          <a:noFill/>
          <a:ln/>
        </p:spPr>
        <p:txBody>
          <a:bodyPr wrap="square" lIns="0" tIns="0" rIns="0" bIns="0" rtlCol="0" anchor="ctr"/>
          <a:lstStyle/>
          <a:p>
            <a:pPr algn="ctr" indent="0" marL="0">
              <a:buNone/>
            </a:pPr>
            <a:r>
              <a:rPr lang="en-US" sz="650" b="1" dirty="0">
                <a:solidFill>
                  <a:srgbClr val="FFFFFF"/>
                </a:solidFill>
                <a:latin typeface="Poppins" pitchFamily="34" charset="0"/>
                <a:ea typeface="Poppins" pitchFamily="34" charset="-122"/>
                <a:cs typeface="Poppins" pitchFamily="34" charset="-120"/>
              </a:rPr>
              <a:t>72%</a:t>
            </a:r>
            <a:endParaRPr lang="en-US" sz="650" dirty="0"/>
          </a:p>
        </p:txBody>
      </p:sp>
      <p:sp>
        <p:nvSpPr>
          <p:cNvPr id="62" name="Shape 60"/>
          <p:cNvSpPr/>
          <p:nvPr/>
        </p:nvSpPr>
        <p:spPr>
          <a:xfrm>
            <a:off x="6034862" y="4800600"/>
            <a:ext cx="585394" cy="164592"/>
          </a:xfrm>
          <a:prstGeom prst="rect">
            <a:avLst/>
          </a:prstGeom>
          <a:solidFill>
            <a:srgbClr val="B4552D"/>
          </a:solidFill>
          <a:ln/>
        </p:spPr>
      </p:sp>
      <p:sp>
        <p:nvSpPr>
          <p:cNvPr id="63" name="Text 61"/>
          <p:cNvSpPr txBox="1"/>
          <p:nvPr/>
        </p:nvSpPr>
        <p:spPr>
          <a:xfrm>
            <a:off x="6034862" y="4782312"/>
            <a:ext cx="585394" cy="201168"/>
          </a:xfrm>
          <a:prstGeom prst="rect">
            <a:avLst/>
          </a:prstGeom>
          <a:noFill/>
          <a:ln/>
        </p:spPr>
        <p:txBody>
          <a:bodyPr wrap="square" lIns="0" tIns="0" rIns="0" bIns="0" rtlCol="0" anchor="ctr"/>
          <a:lstStyle/>
          <a:p>
            <a:pPr algn="ctr" indent="0" marL="0">
              <a:buNone/>
            </a:pPr>
            <a:r>
              <a:rPr lang="en-US" sz="650" b="1" dirty="0">
                <a:solidFill>
                  <a:srgbClr val="FFFFFF"/>
                </a:solidFill>
                <a:latin typeface="Poppins" pitchFamily="34" charset="0"/>
                <a:ea typeface="Poppins" pitchFamily="34" charset="-122"/>
                <a:cs typeface="Poppins" pitchFamily="34" charset="-120"/>
              </a:rPr>
              <a:t>12%</a:t>
            </a:r>
            <a:endParaRPr lang="en-US" sz="650" dirty="0"/>
          </a:p>
        </p:txBody>
      </p:sp>
      <p:sp>
        <p:nvSpPr>
          <p:cNvPr id="64" name="Text 62"/>
          <p:cNvSpPr txBox="1"/>
          <p:nvPr/>
        </p:nvSpPr>
        <p:spPr>
          <a:xfrm>
            <a:off x="667512" y="5065776"/>
            <a:ext cx="1097280" cy="237744"/>
          </a:xfrm>
          <a:prstGeom prst="rect">
            <a:avLst/>
          </a:prstGeom>
          <a:noFill/>
          <a:ln/>
        </p:spPr>
        <p:txBody>
          <a:bodyPr wrap="square" lIns="0" tIns="0" rIns="0" bIns="0" rtlCol="0" anchor="ctr"/>
          <a:lstStyle/>
          <a:p>
            <a:pPr indent="0" marL="0">
              <a:buNone/>
            </a:pPr>
            <a:r>
              <a:rPr lang="en-US" sz="700" b="1" dirty="0">
                <a:solidFill>
                  <a:srgbClr val="8FA1AC"/>
                </a:solidFill>
                <a:latin typeface="Poppins" pitchFamily="34" charset="0"/>
                <a:ea typeface="Poppins" pitchFamily="34" charset="-122"/>
                <a:cs typeface="Poppins" pitchFamily="34" charset="-120"/>
              </a:rPr>
              <a:t>BY DEALS</a:t>
            </a:r>
            <a:endParaRPr lang="en-US" sz="700" dirty="0"/>
          </a:p>
        </p:txBody>
      </p:sp>
      <p:sp>
        <p:nvSpPr>
          <p:cNvPr id="65" name="Shape 63"/>
          <p:cNvSpPr/>
          <p:nvPr/>
        </p:nvSpPr>
        <p:spPr>
          <a:xfrm>
            <a:off x="1828800" y="5111496"/>
            <a:ext cx="891540" cy="164592"/>
          </a:xfrm>
          <a:prstGeom prst="rect">
            <a:avLst/>
          </a:prstGeom>
          <a:solidFill>
            <a:srgbClr val="3D8F5F"/>
          </a:solidFill>
          <a:ln/>
        </p:spPr>
      </p:sp>
      <p:sp>
        <p:nvSpPr>
          <p:cNvPr id="66" name="Text 64"/>
          <p:cNvSpPr txBox="1"/>
          <p:nvPr/>
        </p:nvSpPr>
        <p:spPr>
          <a:xfrm>
            <a:off x="1828800" y="5093208"/>
            <a:ext cx="891540" cy="201168"/>
          </a:xfrm>
          <a:prstGeom prst="rect">
            <a:avLst/>
          </a:prstGeom>
          <a:noFill/>
          <a:ln/>
        </p:spPr>
        <p:txBody>
          <a:bodyPr wrap="square" lIns="0" tIns="0" rIns="0" bIns="0" rtlCol="0" anchor="ctr"/>
          <a:lstStyle/>
          <a:p>
            <a:pPr algn="ctr" indent="0" marL="0">
              <a:buNone/>
            </a:pPr>
            <a:r>
              <a:rPr lang="en-US" sz="650" b="1" dirty="0">
                <a:solidFill>
                  <a:srgbClr val="FFFFFF"/>
                </a:solidFill>
                <a:latin typeface="Poppins" pitchFamily="34" charset="0"/>
                <a:ea typeface="Poppins" pitchFamily="34" charset="-122"/>
                <a:cs typeface="Poppins" pitchFamily="34" charset="-120"/>
              </a:rPr>
              <a:t>19%</a:t>
            </a:r>
            <a:endParaRPr lang="en-US" sz="650" dirty="0"/>
          </a:p>
        </p:txBody>
      </p:sp>
      <p:sp>
        <p:nvSpPr>
          <p:cNvPr id="67" name="Shape 65"/>
          <p:cNvSpPr/>
          <p:nvPr/>
        </p:nvSpPr>
        <p:spPr>
          <a:xfrm>
            <a:off x="2738628" y="5111496"/>
            <a:ext cx="3169920" cy="164592"/>
          </a:xfrm>
          <a:prstGeom prst="rect">
            <a:avLst/>
          </a:prstGeom>
          <a:solidFill>
            <a:srgbClr val="2C8394"/>
          </a:solidFill>
          <a:ln/>
        </p:spPr>
      </p:sp>
      <p:sp>
        <p:nvSpPr>
          <p:cNvPr id="68" name="Text 66"/>
          <p:cNvSpPr txBox="1"/>
          <p:nvPr/>
        </p:nvSpPr>
        <p:spPr>
          <a:xfrm>
            <a:off x="2738628" y="5093208"/>
            <a:ext cx="3169920" cy="201168"/>
          </a:xfrm>
          <a:prstGeom prst="rect">
            <a:avLst/>
          </a:prstGeom>
          <a:noFill/>
          <a:ln/>
        </p:spPr>
        <p:txBody>
          <a:bodyPr wrap="square" lIns="0" tIns="0" rIns="0" bIns="0" rtlCol="0" anchor="ctr"/>
          <a:lstStyle/>
          <a:p>
            <a:pPr algn="ctr" indent="0" marL="0">
              <a:buNone/>
            </a:pPr>
            <a:r>
              <a:rPr lang="en-US" sz="650" b="1" dirty="0">
                <a:solidFill>
                  <a:srgbClr val="FFFFFF"/>
                </a:solidFill>
                <a:latin typeface="Poppins" pitchFamily="34" charset="0"/>
                <a:ea typeface="Poppins" pitchFamily="34" charset="-122"/>
                <a:cs typeface="Poppins" pitchFamily="34" charset="-120"/>
              </a:rPr>
              <a:t>67%</a:t>
            </a:r>
            <a:endParaRPr lang="en-US" sz="650" dirty="0"/>
          </a:p>
        </p:txBody>
      </p:sp>
      <p:sp>
        <p:nvSpPr>
          <p:cNvPr id="69" name="Shape 67"/>
          <p:cNvSpPr/>
          <p:nvPr/>
        </p:nvSpPr>
        <p:spPr>
          <a:xfrm>
            <a:off x="5926836" y="5111496"/>
            <a:ext cx="693420" cy="164592"/>
          </a:xfrm>
          <a:prstGeom prst="rect">
            <a:avLst/>
          </a:prstGeom>
          <a:solidFill>
            <a:srgbClr val="B4552D"/>
          </a:solidFill>
          <a:ln/>
        </p:spPr>
      </p:sp>
      <p:sp>
        <p:nvSpPr>
          <p:cNvPr id="70" name="Text 68"/>
          <p:cNvSpPr txBox="1"/>
          <p:nvPr/>
        </p:nvSpPr>
        <p:spPr>
          <a:xfrm>
            <a:off x="5926836" y="5093208"/>
            <a:ext cx="693420" cy="201168"/>
          </a:xfrm>
          <a:prstGeom prst="rect">
            <a:avLst/>
          </a:prstGeom>
          <a:noFill/>
          <a:ln/>
        </p:spPr>
        <p:txBody>
          <a:bodyPr wrap="square" lIns="0" tIns="0" rIns="0" bIns="0" rtlCol="0" anchor="ctr"/>
          <a:lstStyle/>
          <a:p>
            <a:pPr algn="ctr" indent="0" marL="0">
              <a:buNone/>
            </a:pPr>
            <a:r>
              <a:rPr lang="en-US" sz="650" b="1" dirty="0">
                <a:solidFill>
                  <a:srgbClr val="FFFFFF"/>
                </a:solidFill>
                <a:latin typeface="Poppins" pitchFamily="34" charset="0"/>
                <a:ea typeface="Poppins" pitchFamily="34" charset="-122"/>
                <a:cs typeface="Poppins" pitchFamily="34" charset="-120"/>
              </a:rPr>
              <a:t>15%</a:t>
            </a:r>
            <a:endParaRPr lang="en-US" sz="650" dirty="0"/>
          </a:p>
        </p:txBody>
      </p:sp>
      <p:sp>
        <p:nvSpPr>
          <p:cNvPr id="71" name="Shape 69"/>
          <p:cNvSpPr/>
          <p:nvPr/>
        </p:nvSpPr>
        <p:spPr>
          <a:xfrm>
            <a:off x="3657600" y="4562856"/>
            <a:ext cx="91440" cy="91440"/>
          </a:xfrm>
          <a:prstGeom prst="rect">
            <a:avLst/>
          </a:prstGeom>
          <a:solidFill>
            <a:srgbClr val="3D8F5F"/>
          </a:solidFill>
          <a:ln/>
        </p:spPr>
      </p:sp>
      <p:sp>
        <p:nvSpPr>
          <p:cNvPr id="72" name="Text 70"/>
          <p:cNvSpPr txBox="1"/>
          <p:nvPr/>
        </p:nvSpPr>
        <p:spPr>
          <a:xfrm>
            <a:off x="3785616" y="4517136"/>
            <a:ext cx="914400" cy="182880"/>
          </a:xfrm>
          <a:prstGeom prst="rect">
            <a:avLst/>
          </a:prstGeom>
          <a:noFill/>
          <a:ln/>
        </p:spPr>
        <p:txBody>
          <a:bodyPr wrap="square" lIns="0" tIns="0" rIns="0" bIns="0" rtlCol="0" anchor="ctr"/>
          <a:lstStyle/>
          <a:p>
            <a:pPr indent="0" marL="0">
              <a:buNone/>
            </a:pPr>
            <a:r>
              <a:rPr lang="en-US" sz="630" dirty="0">
                <a:solidFill>
                  <a:srgbClr val="5E7280"/>
                </a:solidFill>
                <a:latin typeface="Poppins" pitchFamily="34" charset="0"/>
                <a:ea typeface="Poppins" pitchFamily="34" charset="-122"/>
                <a:cs typeface="Poppins" pitchFamily="34" charset="-120"/>
              </a:rPr>
              <a:t>Order placed</a:t>
            </a:r>
            <a:endParaRPr lang="en-US" sz="630" dirty="0"/>
          </a:p>
        </p:txBody>
      </p:sp>
      <p:sp>
        <p:nvSpPr>
          <p:cNvPr id="73" name="Shape 71"/>
          <p:cNvSpPr/>
          <p:nvPr/>
        </p:nvSpPr>
        <p:spPr>
          <a:xfrm>
            <a:off x="4754880" y="4562856"/>
            <a:ext cx="91440" cy="91440"/>
          </a:xfrm>
          <a:prstGeom prst="rect">
            <a:avLst/>
          </a:prstGeom>
          <a:solidFill>
            <a:srgbClr val="2C8394"/>
          </a:solidFill>
          <a:ln/>
        </p:spPr>
      </p:sp>
      <p:sp>
        <p:nvSpPr>
          <p:cNvPr id="74" name="Text 72"/>
          <p:cNvSpPr txBox="1"/>
          <p:nvPr/>
        </p:nvSpPr>
        <p:spPr>
          <a:xfrm>
            <a:off x="4882896" y="4517136"/>
            <a:ext cx="914400" cy="182880"/>
          </a:xfrm>
          <a:prstGeom prst="rect">
            <a:avLst/>
          </a:prstGeom>
          <a:noFill/>
          <a:ln/>
        </p:spPr>
        <p:txBody>
          <a:bodyPr wrap="square" lIns="0" tIns="0" rIns="0" bIns="0" rtlCol="0" anchor="ctr"/>
          <a:lstStyle/>
          <a:p>
            <a:pPr indent="0" marL="0">
              <a:buNone/>
            </a:pPr>
            <a:r>
              <a:rPr lang="en-US" sz="630" dirty="0">
                <a:solidFill>
                  <a:srgbClr val="5E7280"/>
                </a:solidFill>
                <a:latin typeface="Poppins" pitchFamily="34" charset="0"/>
                <a:ea typeface="Poppins" pitchFamily="34" charset="-122"/>
                <a:cs typeface="Poppins" pitchFamily="34" charset="-120"/>
              </a:rPr>
              <a:t>Still open</a:t>
            </a:r>
            <a:endParaRPr lang="en-US" sz="630" dirty="0"/>
          </a:p>
        </p:txBody>
      </p:sp>
      <p:sp>
        <p:nvSpPr>
          <p:cNvPr id="75" name="Shape 73"/>
          <p:cNvSpPr/>
          <p:nvPr/>
        </p:nvSpPr>
        <p:spPr>
          <a:xfrm>
            <a:off x="5852160" y="4562856"/>
            <a:ext cx="91440" cy="91440"/>
          </a:xfrm>
          <a:prstGeom prst="rect">
            <a:avLst/>
          </a:prstGeom>
          <a:solidFill>
            <a:srgbClr val="B4552D"/>
          </a:solidFill>
          <a:ln/>
        </p:spPr>
      </p:sp>
      <p:sp>
        <p:nvSpPr>
          <p:cNvPr id="76" name="Text 74"/>
          <p:cNvSpPr txBox="1"/>
          <p:nvPr/>
        </p:nvSpPr>
        <p:spPr>
          <a:xfrm>
            <a:off x="5980176" y="4517136"/>
            <a:ext cx="914400" cy="182880"/>
          </a:xfrm>
          <a:prstGeom prst="rect">
            <a:avLst/>
          </a:prstGeom>
          <a:noFill/>
          <a:ln/>
        </p:spPr>
        <p:txBody>
          <a:bodyPr wrap="square" lIns="0" tIns="0" rIns="0" bIns="0" rtlCol="0" anchor="ctr"/>
          <a:lstStyle/>
          <a:p>
            <a:pPr indent="0" marL="0">
              <a:buNone/>
            </a:pPr>
            <a:r>
              <a:rPr lang="en-US" sz="630" dirty="0">
                <a:solidFill>
                  <a:srgbClr val="5E7280"/>
                </a:solidFill>
                <a:latin typeface="Poppins" pitchFamily="34" charset="0"/>
                <a:ea typeface="Poppins" pitchFamily="34" charset="-122"/>
                <a:cs typeface="Poppins" pitchFamily="34" charset="-120"/>
              </a:rPr>
              <a:t>Closed lost</a:t>
            </a:r>
            <a:endParaRPr lang="en-US" sz="630" dirty="0"/>
          </a:p>
        </p:txBody>
      </p:sp>
      <p:sp>
        <p:nvSpPr>
          <p:cNvPr id="77" name="Shape 75"/>
          <p:cNvSpPr/>
          <p:nvPr/>
        </p:nvSpPr>
        <p:spPr>
          <a:xfrm>
            <a:off x="7452360" y="2212848"/>
            <a:ext cx="4325112" cy="1828800"/>
          </a:xfrm>
          <a:prstGeom prst="roundRect">
            <a:avLst>
              <a:gd name="adj" fmla="val 3500"/>
            </a:avLst>
          </a:prstGeom>
          <a:solidFill>
            <a:srgbClr val="FFFFFF"/>
          </a:solidFill>
          <a:ln/>
          <a:effectLst>
            <a:outerShdw sx="100000" sy="100000" kx="0" ky="0" algn="bl" rotWithShape="0" blurRad="76200" dist="25400" dir="5400000">
              <a:srgbClr val="9AAAB5">
                <a:alpha val="35000"/>
              </a:srgbClr>
            </a:outerShdw>
          </a:effectLst>
        </p:spPr>
      </p:sp>
      <p:sp>
        <p:nvSpPr>
          <p:cNvPr id="78" name="Text 76"/>
          <p:cNvSpPr txBox="1"/>
          <p:nvPr/>
        </p:nvSpPr>
        <p:spPr>
          <a:xfrm>
            <a:off x="7653528" y="2322576"/>
            <a:ext cx="3840480"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BY PRODUCT</a:t>
            </a:r>
            <a:endParaRPr lang="en-US" sz="1200" dirty="0"/>
          </a:p>
        </p:txBody>
      </p:sp>
      <p:sp>
        <p:nvSpPr>
          <p:cNvPr id="79" name="Text 77"/>
          <p:cNvSpPr txBox="1"/>
          <p:nvPr/>
        </p:nvSpPr>
        <p:spPr>
          <a:xfrm>
            <a:off x="7653528" y="2596896"/>
            <a:ext cx="1874520" cy="164592"/>
          </a:xfrm>
          <a:prstGeom prst="rect">
            <a:avLst/>
          </a:prstGeom>
          <a:noFill/>
          <a:ln/>
        </p:spPr>
        <p:txBody>
          <a:bodyPr wrap="square" lIns="0" tIns="0" rIns="0" bIns="0" rtlCol="0" anchor="ctr"/>
          <a:lstStyle/>
          <a:p>
            <a:pPr algn="l" indent="0" marL="0">
              <a:buNone/>
            </a:pPr>
            <a:r>
              <a:rPr lang="en-US" sz="650" b="1" dirty="0">
                <a:solidFill>
                  <a:srgbClr val="8FA1AC"/>
                </a:solidFill>
                <a:latin typeface="Poppins" pitchFamily="34" charset="0"/>
                <a:ea typeface="Poppins" pitchFamily="34" charset="-122"/>
                <a:cs typeface="Poppins" pitchFamily="34" charset="-120"/>
              </a:rPr>
              <a:t>PRODUCT</a:t>
            </a:r>
            <a:endParaRPr lang="en-US" sz="650" dirty="0"/>
          </a:p>
        </p:txBody>
      </p:sp>
      <p:sp>
        <p:nvSpPr>
          <p:cNvPr id="80" name="Text 78"/>
          <p:cNvSpPr txBox="1"/>
          <p:nvPr/>
        </p:nvSpPr>
        <p:spPr>
          <a:xfrm>
            <a:off x="9601200" y="2596896"/>
            <a:ext cx="658368" cy="164592"/>
          </a:xfrm>
          <a:prstGeom prst="rect">
            <a:avLst/>
          </a:prstGeom>
          <a:noFill/>
          <a:ln/>
        </p:spPr>
        <p:txBody>
          <a:bodyPr wrap="square" lIns="0" tIns="0" rIns="0" bIns="0" rtlCol="0" anchor="ctr"/>
          <a:lstStyle/>
          <a:p>
            <a:pPr algn="r" indent="0" marL="0">
              <a:buNone/>
            </a:pPr>
            <a:r>
              <a:rPr lang="en-US" sz="650" b="1" dirty="0">
                <a:solidFill>
                  <a:srgbClr val="8FA1AC"/>
                </a:solidFill>
                <a:latin typeface="Poppins" pitchFamily="34" charset="0"/>
                <a:ea typeface="Poppins" pitchFamily="34" charset="-122"/>
                <a:cs typeface="Poppins" pitchFamily="34" charset="-120"/>
              </a:rPr>
              <a:t>OPEN</a:t>
            </a:r>
            <a:endParaRPr lang="en-US" sz="650" dirty="0"/>
          </a:p>
        </p:txBody>
      </p:sp>
      <p:sp>
        <p:nvSpPr>
          <p:cNvPr id="81" name="Text 79"/>
          <p:cNvSpPr txBox="1"/>
          <p:nvPr/>
        </p:nvSpPr>
        <p:spPr>
          <a:xfrm>
            <a:off x="10332720" y="2596896"/>
            <a:ext cx="658368" cy="164592"/>
          </a:xfrm>
          <a:prstGeom prst="rect">
            <a:avLst/>
          </a:prstGeom>
          <a:noFill/>
          <a:ln/>
        </p:spPr>
        <p:txBody>
          <a:bodyPr wrap="square" lIns="0" tIns="0" rIns="0" bIns="0" rtlCol="0" anchor="ctr"/>
          <a:lstStyle/>
          <a:p>
            <a:pPr algn="r" indent="0" marL="0">
              <a:buNone/>
            </a:pPr>
            <a:r>
              <a:rPr lang="en-US" sz="650" b="1" dirty="0">
                <a:solidFill>
                  <a:srgbClr val="8FA1AC"/>
                </a:solidFill>
                <a:latin typeface="Poppins" pitchFamily="34" charset="0"/>
                <a:ea typeface="Poppins" pitchFamily="34" charset="-122"/>
                <a:cs typeface="Poppins" pitchFamily="34" charset="-120"/>
              </a:rPr>
              <a:t>PLACED</a:t>
            </a:r>
            <a:endParaRPr lang="en-US" sz="650" dirty="0"/>
          </a:p>
        </p:txBody>
      </p:sp>
      <p:sp>
        <p:nvSpPr>
          <p:cNvPr id="82" name="Text 80"/>
          <p:cNvSpPr txBox="1"/>
          <p:nvPr/>
        </p:nvSpPr>
        <p:spPr>
          <a:xfrm>
            <a:off x="11064240" y="2596896"/>
            <a:ext cx="548640" cy="164592"/>
          </a:xfrm>
          <a:prstGeom prst="rect">
            <a:avLst/>
          </a:prstGeom>
          <a:noFill/>
          <a:ln/>
        </p:spPr>
        <p:txBody>
          <a:bodyPr wrap="square" lIns="0" tIns="0" rIns="0" bIns="0" rtlCol="0" anchor="ctr"/>
          <a:lstStyle/>
          <a:p>
            <a:pPr algn="r" indent="0" marL="0">
              <a:buNone/>
            </a:pPr>
            <a:r>
              <a:rPr lang="en-US" sz="650" b="1" dirty="0">
                <a:solidFill>
                  <a:srgbClr val="8FA1AC"/>
                </a:solidFill>
                <a:latin typeface="Poppins" pitchFamily="34" charset="0"/>
                <a:ea typeface="Poppins" pitchFamily="34" charset="-122"/>
                <a:cs typeface="Poppins" pitchFamily="34" charset="-120"/>
              </a:rPr>
              <a:t>LOST</a:t>
            </a:r>
            <a:endParaRPr lang="en-US" sz="650" dirty="0"/>
          </a:p>
        </p:txBody>
      </p:sp>
      <p:sp>
        <p:nvSpPr>
          <p:cNvPr id="83" name="Text 81"/>
          <p:cNvSpPr txBox="1"/>
          <p:nvPr/>
        </p:nvSpPr>
        <p:spPr>
          <a:xfrm>
            <a:off x="7653528" y="2798064"/>
            <a:ext cx="1874520" cy="182880"/>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H&amp;L ROAM Monthly</a:t>
            </a:r>
            <a:endParaRPr lang="en-US" sz="750" dirty="0"/>
          </a:p>
        </p:txBody>
      </p:sp>
      <p:sp>
        <p:nvSpPr>
          <p:cNvPr id="84" name="Text 82"/>
          <p:cNvSpPr txBox="1"/>
          <p:nvPr/>
        </p:nvSpPr>
        <p:spPr>
          <a:xfrm>
            <a:off x="7653528" y="2935224"/>
            <a:ext cx="1920240" cy="137160"/>
          </a:xfrm>
          <a:prstGeom prst="rect">
            <a:avLst/>
          </a:prstGeom>
          <a:noFill/>
          <a:ln/>
        </p:spPr>
        <p:txBody>
          <a:bodyPr wrap="square" lIns="0" tIns="0" rIns="0" bIns="0" rtlCol="0" anchor="ctr"/>
          <a:lstStyle/>
          <a:p>
            <a:pPr indent="0" marL="0">
              <a:buNone/>
            </a:pPr>
            <a:r>
              <a:rPr lang="en-US" sz="530" dirty="0">
                <a:solidFill>
                  <a:srgbClr val="8FA1AC"/>
                </a:solidFill>
                <a:latin typeface="Poppins" pitchFamily="34" charset="0"/>
                <a:ea typeface="Poppins" pitchFamily="34" charset="-122"/>
                <a:cs typeface="Poppins" pitchFamily="34" charset="-120"/>
              </a:rPr>
              <a:t>$29–31/unit/mo · all the order volume</a:t>
            </a:r>
            <a:endParaRPr lang="en-US" sz="530" dirty="0"/>
          </a:p>
        </p:txBody>
      </p:sp>
      <p:sp>
        <p:nvSpPr>
          <p:cNvPr id="85" name="Text 83"/>
          <p:cNvSpPr txBox="1"/>
          <p:nvPr/>
        </p:nvSpPr>
        <p:spPr>
          <a:xfrm>
            <a:off x="9601200" y="2798064"/>
            <a:ext cx="658368" cy="182880"/>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US$1,251</a:t>
            </a:r>
            <a:endParaRPr lang="en-US" sz="750" dirty="0"/>
          </a:p>
        </p:txBody>
      </p:sp>
      <p:sp>
        <p:nvSpPr>
          <p:cNvPr id="86" name="Text 84"/>
          <p:cNvSpPr txBox="1"/>
          <p:nvPr/>
        </p:nvSpPr>
        <p:spPr>
          <a:xfrm>
            <a:off x="10332720" y="2798064"/>
            <a:ext cx="658368" cy="182880"/>
          </a:xfrm>
          <a:prstGeom prst="rect">
            <a:avLst/>
          </a:prstGeom>
          <a:noFill/>
          <a:ln/>
        </p:spPr>
        <p:txBody>
          <a:bodyPr wrap="square" lIns="0" tIns="0" rIns="0" bIns="0" rtlCol="0" anchor="ctr"/>
          <a:lstStyle/>
          <a:p>
            <a:pPr algn="r" indent="0" marL="0">
              <a:buNone/>
            </a:pPr>
            <a:r>
              <a:rPr lang="en-US" sz="750" b="1" dirty="0">
                <a:solidFill>
                  <a:srgbClr val="3D8F5F"/>
                </a:solidFill>
                <a:latin typeface="Poppins" pitchFamily="34" charset="0"/>
                <a:ea typeface="Poppins" pitchFamily="34" charset="-122"/>
                <a:cs typeface="Poppins" pitchFamily="34" charset="-120"/>
              </a:rPr>
              <a:t>US$464</a:t>
            </a:r>
            <a:endParaRPr lang="en-US" sz="750" dirty="0"/>
          </a:p>
        </p:txBody>
      </p:sp>
      <p:sp>
        <p:nvSpPr>
          <p:cNvPr id="87" name="Text 85"/>
          <p:cNvSpPr txBox="1"/>
          <p:nvPr/>
        </p:nvSpPr>
        <p:spPr>
          <a:xfrm>
            <a:off x="11064240" y="2798064"/>
            <a:ext cx="548640" cy="182880"/>
          </a:xfrm>
          <a:prstGeom prst="rect">
            <a:avLst/>
          </a:prstGeom>
          <a:noFill/>
          <a:ln/>
        </p:spPr>
        <p:txBody>
          <a:bodyPr wrap="square" lIns="0" tIns="0" rIns="0" bIns="0" rtlCol="0" anchor="ctr"/>
          <a:lstStyle/>
          <a:p>
            <a:pPr algn="r" indent="0" marL="0">
              <a:buNone/>
            </a:pPr>
            <a:r>
              <a:rPr lang="en-US" sz="750" b="1" dirty="0">
                <a:solidFill>
                  <a:srgbClr val="B4552D"/>
                </a:solidFill>
                <a:latin typeface="Poppins" pitchFamily="34" charset="0"/>
                <a:ea typeface="Poppins" pitchFamily="34" charset="-122"/>
                <a:cs typeface="Poppins" pitchFamily="34" charset="-120"/>
              </a:rPr>
              <a:t>US$147</a:t>
            </a:r>
            <a:endParaRPr lang="en-US" sz="750" dirty="0"/>
          </a:p>
        </p:txBody>
      </p:sp>
      <p:sp>
        <p:nvSpPr>
          <p:cNvPr id="88" name="Text 86"/>
          <p:cNvSpPr txBox="1"/>
          <p:nvPr/>
        </p:nvSpPr>
        <p:spPr>
          <a:xfrm>
            <a:off x="7653528" y="3099816"/>
            <a:ext cx="1874520" cy="182880"/>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Sentinel Reporting</a:t>
            </a:r>
            <a:endParaRPr lang="en-US" sz="750" dirty="0"/>
          </a:p>
        </p:txBody>
      </p:sp>
      <p:sp>
        <p:nvSpPr>
          <p:cNvPr id="89" name="Text 87"/>
          <p:cNvSpPr txBox="1"/>
          <p:nvPr/>
        </p:nvSpPr>
        <p:spPr>
          <a:xfrm>
            <a:off x="7653528" y="3236976"/>
            <a:ext cx="1920240" cy="137160"/>
          </a:xfrm>
          <a:prstGeom prst="rect">
            <a:avLst/>
          </a:prstGeom>
          <a:noFill/>
          <a:ln/>
        </p:spPr>
        <p:txBody>
          <a:bodyPr wrap="square" lIns="0" tIns="0" rIns="0" bIns="0" rtlCol="0" anchor="ctr"/>
          <a:lstStyle/>
          <a:p>
            <a:pPr indent="0" marL="0">
              <a:buNone/>
            </a:pPr>
            <a:r>
              <a:rPr lang="en-US" sz="530" dirty="0">
                <a:solidFill>
                  <a:srgbClr val="8FA1AC"/>
                </a:solidFill>
                <a:latin typeface="Poppins" pitchFamily="34" charset="0"/>
                <a:ea typeface="Poppins" pitchFamily="34" charset="-122"/>
                <a:cs typeface="Poppins" pitchFamily="34" charset="-120"/>
              </a:rPr>
              <a:t>$299/unit licence · still no orders</a:t>
            </a:r>
            <a:endParaRPr lang="en-US" sz="530" dirty="0"/>
          </a:p>
        </p:txBody>
      </p:sp>
      <p:sp>
        <p:nvSpPr>
          <p:cNvPr id="90" name="Text 88"/>
          <p:cNvSpPr txBox="1"/>
          <p:nvPr/>
        </p:nvSpPr>
        <p:spPr>
          <a:xfrm>
            <a:off x="9601200" y="3099816"/>
            <a:ext cx="658368" cy="182880"/>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US$852</a:t>
            </a:r>
            <a:endParaRPr lang="en-US" sz="750" dirty="0"/>
          </a:p>
        </p:txBody>
      </p:sp>
      <p:sp>
        <p:nvSpPr>
          <p:cNvPr id="91" name="Text 89"/>
          <p:cNvSpPr txBox="1"/>
          <p:nvPr/>
        </p:nvSpPr>
        <p:spPr>
          <a:xfrm>
            <a:off x="10332720" y="3099816"/>
            <a:ext cx="658368" cy="182880"/>
          </a:xfrm>
          <a:prstGeom prst="rect">
            <a:avLst/>
          </a:prstGeom>
          <a:noFill/>
          <a:ln/>
        </p:spPr>
        <p:txBody>
          <a:bodyPr wrap="square" lIns="0" tIns="0" rIns="0" bIns="0" rtlCol="0" anchor="ctr"/>
          <a:lstStyle/>
          <a:p>
            <a:pPr algn="r" indent="0" marL="0">
              <a:buNone/>
            </a:pPr>
            <a:r>
              <a:rPr lang="en-US" sz="750" dirty="0">
                <a:solidFill>
                  <a:srgbClr val="8FA1AC"/>
                </a:solidFill>
                <a:latin typeface="Poppins" pitchFamily="34" charset="0"/>
                <a:ea typeface="Poppins" pitchFamily="34" charset="-122"/>
                <a:cs typeface="Poppins" pitchFamily="34" charset="-120"/>
              </a:rPr>
              <a:t>—</a:t>
            </a:r>
            <a:endParaRPr lang="en-US" sz="750" dirty="0"/>
          </a:p>
        </p:txBody>
      </p:sp>
      <p:sp>
        <p:nvSpPr>
          <p:cNvPr id="92" name="Text 90"/>
          <p:cNvSpPr txBox="1"/>
          <p:nvPr/>
        </p:nvSpPr>
        <p:spPr>
          <a:xfrm>
            <a:off x="11064240" y="3099816"/>
            <a:ext cx="548640" cy="182880"/>
          </a:xfrm>
          <a:prstGeom prst="rect">
            <a:avLst/>
          </a:prstGeom>
          <a:noFill/>
          <a:ln/>
        </p:spPr>
        <p:txBody>
          <a:bodyPr wrap="square" lIns="0" tIns="0" rIns="0" bIns="0" rtlCol="0" anchor="ctr"/>
          <a:lstStyle/>
          <a:p>
            <a:pPr algn="r" indent="0" marL="0">
              <a:buNone/>
            </a:pPr>
            <a:r>
              <a:rPr lang="en-US" sz="750" b="1" dirty="0">
                <a:solidFill>
                  <a:srgbClr val="B4552D"/>
                </a:solidFill>
                <a:latin typeface="Poppins" pitchFamily="34" charset="0"/>
                <a:ea typeface="Poppins" pitchFamily="34" charset="-122"/>
                <a:cs typeface="Poppins" pitchFamily="34" charset="-120"/>
              </a:rPr>
              <a:t>US$213</a:t>
            </a:r>
            <a:endParaRPr lang="en-US" sz="750" dirty="0"/>
          </a:p>
        </p:txBody>
      </p:sp>
      <p:sp>
        <p:nvSpPr>
          <p:cNvPr id="93" name="Text 91"/>
          <p:cNvSpPr txBox="1"/>
          <p:nvPr/>
        </p:nvSpPr>
        <p:spPr>
          <a:xfrm>
            <a:off x="7653528" y="3401568"/>
            <a:ext cx="1874520" cy="182880"/>
          </a:xfrm>
          <a:prstGeom prst="rect">
            <a:avLst/>
          </a:prstGeom>
          <a:noFill/>
          <a:ln/>
        </p:spPr>
        <p:txBody>
          <a:bodyPr wrap="square" lIns="0" tIns="0" rIns="0" bIns="0" rtlCol="0" anchor="ctr"/>
          <a:lstStyle/>
          <a:p>
            <a:pPr indent="0" marL="0">
              <a:buNone/>
            </a:pPr>
            <a:r>
              <a:rPr lang="en-US" sz="750" b="1" dirty="0">
                <a:solidFill>
                  <a:srgbClr val="8FA1AC"/>
                </a:solidFill>
                <a:latin typeface="Poppins" pitchFamily="34" charset="0"/>
                <a:ea typeface="Poppins" pitchFamily="34" charset="-122"/>
                <a:cs typeface="Poppins" pitchFamily="34" charset="-120"/>
              </a:rPr>
              <a:t>QR Ordering (OrderNow)</a:t>
            </a:r>
            <a:endParaRPr lang="en-US" sz="750" dirty="0"/>
          </a:p>
        </p:txBody>
      </p:sp>
      <p:sp>
        <p:nvSpPr>
          <p:cNvPr id="94" name="Text 92"/>
          <p:cNvSpPr txBox="1"/>
          <p:nvPr/>
        </p:nvSpPr>
        <p:spPr>
          <a:xfrm>
            <a:off x="7653528" y="3538728"/>
            <a:ext cx="1920240" cy="137160"/>
          </a:xfrm>
          <a:prstGeom prst="rect">
            <a:avLst/>
          </a:prstGeom>
          <a:noFill/>
          <a:ln/>
        </p:spPr>
        <p:txBody>
          <a:bodyPr wrap="square" lIns="0" tIns="0" rIns="0" bIns="0" rtlCol="0" anchor="ctr"/>
          <a:lstStyle/>
          <a:p>
            <a:pPr indent="0" marL="0">
              <a:buNone/>
            </a:pPr>
            <a:r>
              <a:rPr lang="en-US" sz="530" dirty="0">
                <a:solidFill>
                  <a:srgbClr val="8FA1AC"/>
                </a:solidFill>
                <a:latin typeface="Poppins" pitchFamily="34" charset="0"/>
                <a:ea typeface="Poppins" pitchFamily="34" charset="-122"/>
                <a:cs typeface="Poppins" pitchFamily="34" charset="-120"/>
              </a:rPr>
              <a:t>9 lines, every one priced $0</a:t>
            </a:r>
            <a:endParaRPr lang="en-US" sz="530" dirty="0"/>
          </a:p>
        </p:txBody>
      </p:sp>
      <p:sp>
        <p:nvSpPr>
          <p:cNvPr id="95" name="Text 93"/>
          <p:cNvSpPr txBox="1"/>
          <p:nvPr/>
        </p:nvSpPr>
        <p:spPr>
          <a:xfrm>
            <a:off x="9601200" y="3401568"/>
            <a:ext cx="658368" cy="182880"/>
          </a:xfrm>
          <a:prstGeom prst="rect">
            <a:avLst/>
          </a:prstGeom>
          <a:noFill/>
          <a:ln/>
        </p:spPr>
        <p:txBody>
          <a:bodyPr wrap="square" lIns="0" tIns="0" rIns="0" bIns="0" rtlCol="0" anchor="ctr"/>
          <a:lstStyle/>
          <a:p>
            <a:pPr algn="r" indent="0" marL="0">
              <a:buNone/>
            </a:pPr>
            <a:r>
              <a:rPr lang="en-US" sz="750" dirty="0">
                <a:solidFill>
                  <a:srgbClr val="8FA1AC"/>
                </a:solidFill>
                <a:latin typeface="Poppins" pitchFamily="34" charset="0"/>
                <a:ea typeface="Poppins" pitchFamily="34" charset="-122"/>
                <a:cs typeface="Poppins" pitchFamily="34" charset="-120"/>
              </a:rPr>
              <a:t>—</a:t>
            </a:r>
            <a:endParaRPr lang="en-US" sz="750" dirty="0"/>
          </a:p>
        </p:txBody>
      </p:sp>
      <p:sp>
        <p:nvSpPr>
          <p:cNvPr id="96" name="Text 94"/>
          <p:cNvSpPr txBox="1"/>
          <p:nvPr/>
        </p:nvSpPr>
        <p:spPr>
          <a:xfrm>
            <a:off x="10332720" y="3401568"/>
            <a:ext cx="658368" cy="182880"/>
          </a:xfrm>
          <a:prstGeom prst="rect">
            <a:avLst/>
          </a:prstGeom>
          <a:noFill/>
          <a:ln/>
        </p:spPr>
        <p:txBody>
          <a:bodyPr wrap="square" lIns="0" tIns="0" rIns="0" bIns="0" rtlCol="0" anchor="ctr"/>
          <a:lstStyle/>
          <a:p>
            <a:pPr algn="r" indent="0" marL="0">
              <a:buNone/>
            </a:pPr>
            <a:r>
              <a:rPr lang="en-US" sz="750" dirty="0">
                <a:solidFill>
                  <a:srgbClr val="8FA1AC"/>
                </a:solidFill>
                <a:latin typeface="Poppins" pitchFamily="34" charset="0"/>
                <a:ea typeface="Poppins" pitchFamily="34" charset="-122"/>
                <a:cs typeface="Poppins" pitchFamily="34" charset="-120"/>
              </a:rPr>
              <a:t>—</a:t>
            </a:r>
            <a:endParaRPr lang="en-US" sz="750" dirty="0"/>
          </a:p>
        </p:txBody>
      </p:sp>
      <p:sp>
        <p:nvSpPr>
          <p:cNvPr id="97" name="Text 95"/>
          <p:cNvSpPr txBox="1"/>
          <p:nvPr/>
        </p:nvSpPr>
        <p:spPr>
          <a:xfrm>
            <a:off x="11064240" y="3401568"/>
            <a:ext cx="548640" cy="182880"/>
          </a:xfrm>
          <a:prstGeom prst="rect">
            <a:avLst/>
          </a:prstGeom>
          <a:noFill/>
          <a:ln/>
        </p:spPr>
        <p:txBody>
          <a:bodyPr wrap="square" lIns="0" tIns="0" rIns="0" bIns="0" rtlCol="0" anchor="ctr"/>
          <a:lstStyle/>
          <a:p>
            <a:pPr algn="r" indent="0" marL="0">
              <a:buNone/>
            </a:pPr>
            <a:r>
              <a:rPr lang="en-US" sz="750" dirty="0">
                <a:solidFill>
                  <a:srgbClr val="8FA1AC"/>
                </a:solidFill>
                <a:latin typeface="Poppins" pitchFamily="34" charset="0"/>
                <a:ea typeface="Poppins" pitchFamily="34" charset="-122"/>
                <a:cs typeface="Poppins" pitchFamily="34" charset="-120"/>
              </a:rPr>
              <a:t>—</a:t>
            </a:r>
            <a:endParaRPr lang="en-US" sz="750" dirty="0"/>
          </a:p>
        </p:txBody>
      </p:sp>
      <p:sp>
        <p:nvSpPr>
          <p:cNvPr id="98" name="Text 96"/>
          <p:cNvSpPr txBox="1"/>
          <p:nvPr/>
        </p:nvSpPr>
        <p:spPr>
          <a:xfrm>
            <a:off x="7653528" y="3703320"/>
            <a:ext cx="1874520" cy="182880"/>
          </a:xfrm>
          <a:prstGeom prst="rect">
            <a:avLst/>
          </a:prstGeom>
          <a:noFill/>
          <a:ln/>
        </p:spPr>
        <p:txBody>
          <a:bodyPr wrap="square" lIns="0" tIns="0" rIns="0" bIns="0" rtlCol="0" anchor="ctr"/>
          <a:lstStyle/>
          <a:p>
            <a:pPr indent="0" marL="0">
              <a:buNone/>
            </a:pPr>
            <a:r>
              <a:rPr lang="en-US" sz="750" b="1" dirty="0">
                <a:solidFill>
                  <a:srgbClr val="8FA1AC"/>
                </a:solidFill>
                <a:latin typeface="Poppins" pitchFamily="34" charset="0"/>
                <a:ea typeface="Poppins" pitchFamily="34" charset="-122"/>
                <a:cs typeface="Poppins" pitchFamily="34" charset="-120"/>
              </a:rPr>
              <a:t>H&amp;L ROAM Annual</a:t>
            </a:r>
            <a:endParaRPr lang="en-US" sz="750" dirty="0"/>
          </a:p>
        </p:txBody>
      </p:sp>
      <p:sp>
        <p:nvSpPr>
          <p:cNvPr id="99" name="Text 97"/>
          <p:cNvSpPr txBox="1"/>
          <p:nvPr/>
        </p:nvSpPr>
        <p:spPr>
          <a:xfrm>
            <a:off x="7653528" y="3840480"/>
            <a:ext cx="1920240" cy="137160"/>
          </a:xfrm>
          <a:prstGeom prst="rect">
            <a:avLst/>
          </a:prstGeom>
          <a:noFill/>
          <a:ln/>
        </p:spPr>
        <p:txBody>
          <a:bodyPr wrap="square" lIns="0" tIns="0" rIns="0" bIns="0" rtlCol="0" anchor="ctr"/>
          <a:lstStyle/>
          <a:p>
            <a:pPr indent="0" marL="0">
              <a:buNone/>
            </a:pPr>
            <a:r>
              <a:rPr lang="en-US" sz="530" dirty="0">
                <a:solidFill>
                  <a:srgbClr val="8FA1AC"/>
                </a:solidFill>
                <a:latin typeface="Poppins" pitchFamily="34" charset="0"/>
                <a:ea typeface="Poppins" pitchFamily="34" charset="-122"/>
                <a:cs typeface="Poppins" pitchFamily="34" charset="-120"/>
              </a:rPr>
              <a:t>flagged but no line items anywhere</a:t>
            </a:r>
            <a:endParaRPr lang="en-US" sz="530" dirty="0"/>
          </a:p>
        </p:txBody>
      </p:sp>
      <p:sp>
        <p:nvSpPr>
          <p:cNvPr id="100" name="Text 98"/>
          <p:cNvSpPr txBox="1"/>
          <p:nvPr/>
        </p:nvSpPr>
        <p:spPr>
          <a:xfrm>
            <a:off x="9601200" y="3703320"/>
            <a:ext cx="658368" cy="182880"/>
          </a:xfrm>
          <a:prstGeom prst="rect">
            <a:avLst/>
          </a:prstGeom>
          <a:noFill/>
          <a:ln/>
        </p:spPr>
        <p:txBody>
          <a:bodyPr wrap="square" lIns="0" tIns="0" rIns="0" bIns="0" rtlCol="0" anchor="ctr"/>
          <a:lstStyle/>
          <a:p>
            <a:pPr algn="r" indent="0" marL="0">
              <a:buNone/>
            </a:pPr>
            <a:r>
              <a:rPr lang="en-US" sz="750" dirty="0">
                <a:solidFill>
                  <a:srgbClr val="8FA1AC"/>
                </a:solidFill>
                <a:latin typeface="Poppins" pitchFamily="34" charset="0"/>
                <a:ea typeface="Poppins" pitchFamily="34" charset="-122"/>
                <a:cs typeface="Poppins" pitchFamily="34" charset="-120"/>
              </a:rPr>
              <a:t>—</a:t>
            </a:r>
            <a:endParaRPr lang="en-US" sz="750" dirty="0"/>
          </a:p>
        </p:txBody>
      </p:sp>
      <p:sp>
        <p:nvSpPr>
          <p:cNvPr id="101" name="Text 99"/>
          <p:cNvSpPr txBox="1"/>
          <p:nvPr/>
        </p:nvSpPr>
        <p:spPr>
          <a:xfrm>
            <a:off x="10332720" y="3703320"/>
            <a:ext cx="658368" cy="182880"/>
          </a:xfrm>
          <a:prstGeom prst="rect">
            <a:avLst/>
          </a:prstGeom>
          <a:noFill/>
          <a:ln/>
        </p:spPr>
        <p:txBody>
          <a:bodyPr wrap="square" lIns="0" tIns="0" rIns="0" bIns="0" rtlCol="0" anchor="ctr"/>
          <a:lstStyle/>
          <a:p>
            <a:pPr algn="r" indent="0" marL="0">
              <a:buNone/>
            </a:pPr>
            <a:r>
              <a:rPr lang="en-US" sz="750" dirty="0">
                <a:solidFill>
                  <a:srgbClr val="8FA1AC"/>
                </a:solidFill>
                <a:latin typeface="Poppins" pitchFamily="34" charset="0"/>
                <a:ea typeface="Poppins" pitchFamily="34" charset="-122"/>
                <a:cs typeface="Poppins" pitchFamily="34" charset="-120"/>
              </a:rPr>
              <a:t>—</a:t>
            </a:r>
            <a:endParaRPr lang="en-US" sz="750" dirty="0"/>
          </a:p>
        </p:txBody>
      </p:sp>
      <p:sp>
        <p:nvSpPr>
          <p:cNvPr id="102" name="Text 100"/>
          <p:cNvSpPr txBox="1"/>
          <p:nvPr/>
        </p:nvSpPr>
        <p:spPr>
          <a:xfrm>
            <a:off x="11064240" y="3703320"/>
            <a:ext cx="548640" cy="182880"/>
          </a:xfrm>
          <a:prstGeom prst="rect">
            <a:avLst/>
          </a:prstGeom>
          <a:noFill/>
          <a:ln/>
        </p:spPr>
        <p:txBody>
          <a:bodyPr wrap="square" lIns="0" tIns="0" rIns="0" bIns="0" rtlCol="0" anchor="ctr"/>
          <a:lstStyle/>
          <a:p>
            <a:pPr algn="r" indent="0" marL="0">
              <a:buNone/>
            </a:pPr>
            <a:r>
              <a:rPr lang="en-US" sz="750" dirty="0">
                <a:solidFill>
                  <a:srgbClr val="8FA1AC"/>
                </a:solidFill>
                <a:latin typeface="Poppins" pitchFamily="34" charset="0"/>
                <a:ea typeface="Poppins" pitchFamily="34" charset="-122"/>
                <a:cs typeface="Poppins" pitchFamily="34" charset="-120"/>
              </a:rPr>
              <a:t>—</a:t>
            </a:r>
            <a:endParaRPr lang="en-US" sz="750" dirty="0"/>
          </a:p>
        </p:txBody>
      </p:sp>
      <p:sp>
        <p:nvSpPr>
          <p:cNvPr id="103" name="Shape 101"/>
          <p:cNvSpPr/>
          <p:nvPr/>
        </p:nvSpPr>
        <p:spPr>
          <a:xfrm>
            <a:off x="7452360" y="4169664"/>
            <a:ext cx="4325112" cy="1078992"/>
          </a:xfrm>
          <a:prstGeom prst="roundRect">
            <a:avLst>
              <a:gd name="adj" fmla="val 5932"/>
            </a:avLst>
          </a:prstGeom>
          <a:solidFill>
            <a:srgbClr val="FFFFFF"/>
          </a:solidFill>
          <a:ln/>
          <a:effectLst>
            <a:outerShdw sx="100000" sy="100000" kx="0" ky="0" algn="bl" rotWithShape="0" blurRad="76200" dist="25400" dir="5400000">
              <a:srgbClr val="9AAAB5">
                <a:alpha val="35000"/>
              </a:srgbClr>
            </a:outerShdw>
          </a:effectLst>
        </p:spPr>
      </p:sp>
      <p:sp>
        <p:nvSpPr>
          <p:cNvPr id="104" name="Text 102"/>
          <p:cNvSpPr txBox="1"/>
          <p:nvPr/>
        </p:nvSpPr>
        <p:spPr>
          <a:xfrm>
            <a:off x="7653528" y="4242816"/>
            <a:ext cx="3922776" cy="201168"/>
          </a:xfrm>
          <a:prstGeom prst="rect">
            <a:avLst/>
          </a:prstGeom>
          <a:noFill/>
          <a:ln/>
        </p:spPr>
        <p:txBody>
          <a:bodyPr wrap="square" lIns="0" tIns="0" rIns="0" bIns="0" rtlCol="0" anchor="ctr"/>
          <a:lstStyle/>
          <a:p>
            <a:pPr indent="0" marL="0">
              <a:buNone/>
            </a:pPr>
            <a:r>
              <a:rPr lang="en-US" sz="900" b="1" dirty="0">
                <a:solidFill>
                  <a:srgbClr val="2C8394"/>
                </a:solidFill>
                <a:latin typeface="Poppins" pitchFamily="34" charset="0"/>
                <a:ea typeface="Poppins" pitchFamily="34" charset="-122"/>
                <a:cs typeface="Poppins" pitchFamily="34" charset="-120"/>
              </a:rPr>
              <a:t>ANNUALISED VIEW</a:t>
            </a:r>
            <a:endParaRPr lang="en-US" sz="900" dirty="0"/>
          </a:p>
        </p:txBody>
      </p:sp>
      <p:sp>
        <p:nvSpPr>
          <p:cNvPr id="105" name="Text 103"/>
          <p:cNvSpPr txBox="1"/>
          <p:nvPr/>
        </p:nvSpPr>
        <p:spPr>
          <a:xfrm>
            <a:off x="7653528" y="4462272"/>
            <a:ext cx="1600200" cy="384048"/>
          </a:xfrm>
          <a:prstGeom prst="rect">
            <a:avLst/>
          </a:prstGeom>
          <a:noFill/>
          <a:ln/>
        </p:spPr>
        <p:txBody>
          <a:bodyPr wrap="square" lIns="0" tIns="0" rIns="0" bIns="0" rtlCol="0" anchor="ctr"/>
          <a:lstStyle/>
          <a:p>
            <a:pPr indent="0" marL="0">
              <a:buNone/>
            </a:pPr>
            <a:r>
              <a:rPr lang="en-US" sz="1800" b="1" dirty="0">
                <a:solidFill>
                  <a:srgbClr val="2C8394"/>
                </a:solidFill>
                <a:latin typeface="Poppins" pitchFamily="34" charset="0"/>
                <a:ea typeface="Poppins" pitchFamily="34" charset="-122"/>
                <a:cs typeface="Poppins" pitchFamily="34" charset="-120"/>
              </a:rPr>
              <a:t>US$15,016</a:t>
            </a:r>
            <a:endParaRPr lang="en-US" sz="1800" dirty="0"/>
          </a:p>
        </p:txBody>
      </p:sp>
      <p:sp>
        <p:nvSpPr>
          <p:cNvPr id="106" name="Text 104"/>
          <p:cNvSpPr txBox="1"/>
          <p:nvPr/>
        </p:nvSpPr>
        <p:spPr>
          <a:xfrm>
            <a:off x="9326880" y="4443984"/>
            <a:ext cx="2221992" cy="457200"/>
          </a:xfrm>
          <a:prstGeom prst="rect">
            <a:avLst/>
          </a:prstGeom>
          <a:noFill/>
          <a:ln/>
        </p:spPr>
        <p:txBody>
          <a:bodyPr wrap="square" lIns="0" tIns="0" rIns="0" bIns="0" rtlCol="0" anchor="ctr"/>
          <a:lstStyle/>
          <a:p>
            <a:pPr indent="0" marL="0">
              <a:buNone/>
            </a:pPr>
            <a:r>
              <a:rPr lang="en-US" sz="700" dirty="0">
                <a:solidFill>
                  <a:srgbClr val="5E7280"/>
                </a:solidFill>
                <a:latin typeface="Poppins" pitchFamily="34" charset="0"/>
                <a:ea typeface="Poppins" pitchFamily="34" charset="-122"/>
                <a:cs typeface="Poppins" pitchFamily="34" charset="-120"/>
              </a:rPr>
              <a:t>open ROAM pipeline at ×12 (A$21,084) — the contract value behind the US$2,103 of monthly lines</a:t>
            </a:r>
            <a:endParaRPr lang="en-US" sz="700" dirty="0"/>
          </a:p>
        </p:txBody>
      </p:sp>
      <p:sp>
        <p:nvSpPr>
          <p:cNvPr id="107" name="Text 105"/>
          <p:cNvSpPr txBox="1"/>
          <p:nvPr/>
        </p:nvSpPr>
        <p:spPr>
          <a:xfrm>
            <a:off x="7653528" y="4901184"/>
            <a:ext cx="3922776" cy="274320"/>
          </a:xfrm>
          <a:prstGeom prst="rect">
            <a:avLst/>
          </a:prstGeom>
          <a:noFill/>
          <a:ln/>
        </p:spPr>
        <p:txBody>
          <a:bodyPr wrap="square" lIns="0" tIns="0" rIns="0" bIns="0" rtlCol="0" anchor="t"/>
          <a:lstStyle/>
          <a:p>
            <a:pPr indent="0" marL="0">
              <a:buNone/>
            </a:pPr>
            <a:r>
              <a:rPr lang="en-US" sz="580" dirty="0">
                <a:solidFill>
                  <a:srgbClr val="8FA1AC"/>
                </a:solidFill>
                <a:latin typeface="Poppins" pitchFamily="34" charset="0"/>
                <a:ea typeface="Poppins" pitchFamily="34" charset="-122"/>
                <a:cs typeface="Poppins" pitchFamily="34" charset="-120"/>
              </a:rPr>
              <a:t>AUD→USD 0.7122 (mid-market close 20 Sep 2026) — rate three weeks stale; HubSpot holds no USD field</a:t>
            </a:r>
            <a:endParaRPr lang="en-US" sz="580" dirty="0"/>
          </a:p>
        </p:txBody>
      </p:sp>
      <p:sp>
        <p:nvSpPr>
          <p:cNvPr id="108" name="Shape 106"/>
          <p:cNvSpPr/>
          <p:nvPr/>
        </p:nvSpPr>
        <p:spPr>
          <a:xfrm>
            <a:off x="411480" y="5413248"/>
            <a:ext cx="11365992" cy="1042416"/>
          </a:xfrm>
          <a:prstGeom prst="roundRect">
            <a:avLst>
              <a:gd name="adj" fmla="val 6140"/>
            </a:avLst>
          </a:prstGeom>
          <a:solidFill>
            <a:srgbClr val="FFFFFF"/>
          </a:solidFill>
          <a:ln/>
          <a:effectLst>
            <a:outerShdw sx="100000" sy="100000" kx="0" ky="0" algn="bl" rotWithShape="0" blurRad="76200" dist="25400" dir="5400000">
              <a:srgbClr val="9AAAB5">
                <a:alpha val="35000"/>
              </a:srgbClr>
            </a:outerShdw>
          </a:effectLst>
        </p:spPr>
      </p:sp>
      <p:sp>
        <p:nvSpPr>
          <p:cNvPr id="109" name="Text 107"/>
          <p:cNvSpPr txBox="1"/>
          <p:nvPr/>
        </p:nvSpPr>
        <p:spPr>
          <a:xfrm>
            <a:off x="612648" y="5522976"/>
            <a:ext cx="11000232"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AI SUMMARY</a:t>
            </a:r>
            <a:endParaRPr lang="en-US" sz="1200" dirty="0"/>
          </a:p>
        </p:txBody>
      </p:sp>
      <p:sp>
        <p:nvSpPr>
          <p:cNvPr id="110" name="Text 108"/>
          <p:cNvSpPr txBox="1"/>
          <p:nvPr/>
        </p:nvSpPr>
        <p:spPr>
          <a:xfrm>
            <a:off x="612648" y="5833872"/>
            <a:ext cx="10954512" cy="493776"/>
          </a:xfrm>
          <a:prstGeom prst="rect">
            <a:avLst/>
          </a:prstGeom>
          <a:noFill/>
          <a:ln/>
        </p:spPr>
        <p:txBody>
          <a:bodyPr wrap="square" lIns="0" tIns="0" rIns="0" bIns="0" rtlCol="0" anchor="t"/>
          <a:lstStyle/>
          <a:p>
            <a:pPr indent="0" marL="0">
              <a:buNone/>
            </a:pPr>
            <a:r>
              <a:rPr lang="en-US" sz="900" b="1" dirty="0">
                <a:solidFill>
                  <a:srgbClr val="3D8F5F"/>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Conversion is real but tiny.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9 orders placed since 1 Jul (US$464) against 7 lost — 56% by count, 56% by value. All of it is ROAM; Sentinel has US$852 in play and no order yet.</a:t>
            </a:r>
            <a:endParaRPr lang="en-US" sz="900" dirty="0"/>
          </a:p>
          <a:p>
            <a:pPr indent="0" marL="0">
              <a:buNone/>
            </a:pPr>
            <a:r>
              <a:rPr lang="en-US" sz="900" b="1" dirty="0">
                <a:solidFill>
                  <a:srgbClr val="2C8394"/>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The book is stuck mid-funnel: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US$2,018 of the US$2,103 open sits in Quote Sent and Negotiation across 25 deals — the movement to chase is quote-to-order, not top-of-funnel.</a:t>
            </a:r>
            <a:endParaRPr lang="en-US" sz="900" dirty="0"/>
          </a:p>
          <a:p>
            <a:pPr indent="0" marL="0">
              <a:buNone/>
            </a:pPr>
            <a:r>
              <a:rPr lang="en-US" sz="900" b="1" dirty="0">
                <a:solidFill>
                  <a:srgbClr val="8FA1AC"/>
                </a:solidFill>
                <a:latin typeface="Poppins" pitchFamily="34" charset="0"/>
                <a:ea typeface="Poppins" pitchFamily="34" charset="-122"/>
                <a:cs typeface="Poppins" pitchFamily="34" charset="-120"/>
              </a:rPr>
              <a:t>•  </a:t>
            </a:r>
            <a:pPr indent="0" marL="0">
              <a:spcAft>
                <a:spcPts val="800"/>
              </a:spcAft>
              <a:buNone/>
            </a:pPr>
            <a:r>
              <a:rPr lang="en-US" sz="900" dirty="0">
                <a:solidFill>
                  <a:srgbClr val="8FA1AC"/>
                </a:solidFill>
                <a:latin typeface="Poppins" pitchFamily="34" charset="0"/>
                <a:ea typeface="Poppins" pitchFamily="34" charset="-122"/>
                <a:cs typeface="Poppins" pitchFamily="34" charset="-120"/>
              </a:rPr>
              <a:t>Six new deals entered Discovery, five of them QR Ordering priced $0 · no AI-infused order placed for a second week, Order Placed unchanged at A$651 · 27 ROAM lines worth A$2,046 sit on no deal and are excluded.</a:t>
            </a:r>
            <a:endParaRPr lang="en-US" sz="900" dirty="0"/>
          </a:p>
        </p:txBody>
      </p:sp>
      <p:sp>
        <p:nvSpPr>
          <p:cNvPr id="111" name="Shape 109"/>
          <p:cNvSpPr/>
          <p:nvPr/>
        </p:nvSpPr>
        <p:spPr>
          <a:xfrm>
            <a:off x="7585862" y="6510528"/>
            <a:ext cx="4191610" cy="256032"/>
          </a:xfrm>
          <a:prstGeom prst="roundRect">
            <a:avLst>
              <a:gd name="adj" fmla="val 46429"/>
            </a:avLst>
          </a:prstGeom>
          <a:solidFill>
            <a:srgbClr val="12293A"/>
          </a:solidFill>
          <a:ln/>
        </p:spPr>
      </p:sp>
      <p:sp>
        <p:nvSpPr>
          <p:cNvPr id="112" name="Text 110"/>
          <p:cNvSpPr txBox="1"/>
          <p:nvPr/>
        </p:nvSpPr>
        <p:spPr>
          <a:xfrm>
            <a:off x="7585862" y="6510528"/>
            <a:ext cx="4191610" cy="256032"/>
          </a:xfrm>
          <a:prstGeom prst="rect">
            <a:avLst/>
          </a:prstGeom>
          <a:noFill/>
          <a:ln/>
        </p:spPr>
        <p:txBody>
          <a:bodyPr wrap="square" lIns="0" tIns="0" rIns="0" bIns="0" rtlCol="0" anchor="ctr"/>
          <a:lstStyle/>
          <a:p>
            <a:pPr algn="ctr" indent="0" marL="0">
              <a:buNone/>
            </a:pPr>
            <a:r>
              <a:rPr lang="en-US" sz="700" b="1" dirty="0">
                <a:solidFill>
                  <a:srgbClr val="FFFFFF"/>
                </a:solidFill>
                <a:latin typeface="Poppins" pitchFamily="34" charset="0"/>
                <a:ea typeface="Poppins" pitchFamily="34" charset="-122"/>
                <a:cs typeface="Poppins" pitchFamily="34" charset="-120"/>
              </a:rPr>
              <a:t>Source: HubSpot line items · products flagged ai_infused (live)</a:t>
            </a:r>
            <a:endParaRPr lang="en-US" sz="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2F6F8"/>
        </a:solidFill>
      </p:bgPr>
    </p:bg>
    <p:spTree>
      <p:nvGrpSpPr>
        <p:cNvPr id="1" name=""/>
        <p:cNvGrpSpPr/>
        <p:nvPr/>
      </p:nvGrpSpPr>
      <p:grpSpPr>
        <a:xfrm>
          <a:off x="0" y="0"/>
          <a:ext cx="0" cy="0"/>
          <a:chOff x="0" y="0"/>
          <a:chExt cx="0" cy="0"/>
        </a:xfrm>
      </p:grpSpPr>
      <p:sp>
        <p:nvSpPr>
          <p:cNvPr id="2" name="Shape 0"/>
          <p:cNvSpPr/>
          <p:nvPr/>
        </p:nvSpPr>
        <p:spPr>
          <a:xfrm>
            <a:off x="0" y="0"/>
            <a:ext cx="12188952" cy="841248"/>
          </a:xfrm>
          <a:prstGeom prst="rect">
            <a:avLst/>
          </a:prstGeom>
          <a:solidFill>
            <a:srgbClr val="12293A"/>
          </a:solidFill>
          <a:ln/>
        </p:spPr>
      </p:sp>
      <p:sp>
        <p:nvSpPr>
          <p:cNvPr id="3" name="Shape 1"/>
          <p:cNvSpPr/>
          <p:nvPr/>
        </p:nvSpPr>
        <p:spPr>
          <a:xfrm>
            <a:off x="384048" y="155448"/>
            <a:ext cx="731520" cy="530352"/>
          </a:xfrm>
          <a:prstGeom prst="roundRect">
            <a:avLst>
              <a:gd name="adj" fmla="val 15517"/>
            </a:avLst>
          </a:prstGeom>
          <a:solidFill>
            <a:srgbClr val="FFFFFF"/>
          </a:solidFill>
          <a:ln/>
        </p:spPr>
      </p:sp>
      <p:sp>
        <p:nvSpPr>
          <p:cNvPr id="4" name="Text 2"/>
          <p:cNvSpPr txBox="1"/>
          <p:nvPr/>
        </p:nvSpPr>
        <p:spPr>
          <a:xfrm>
            <a:off x="384048" y="155448"/>
            <a:ext cx="731520" cy="530352"/>
          </a:xfrm>
          <a:prstGeom prst="rect">
            <a:avLst/>
          </a:prstGeom>
          <a:noFill/>
          <a:ln/>
        </p:spPr>
        <p:txBody>
          <a:bodyPr wrap="square" lIns="0" tIns="0" rIns="0" bIns="0" rtlCol="0" anchor="ctr"/>
          <a:lstStyle/>
          <a:p>
            <a:pPr algn="ctr" indent="0" marL="0">
              <a:buNone/>
            </a:pPr>
            <a:r>
              <a:rPr lang="en-US" sz="1500" b="1" dirty="0">
                <a:solidFill>
                  <a:srgbClr val="12293A"/>
                </a:solidFill>
                <a:latin typeface="Poppins" pitchFamily="34" charset="0"/>
                <a:ea typeface="Poppins" pitchFamily="34" charset="-122"/>
                <a:cs typeface="Poppins" pitchFamily="34" charset="-120"/>
              </a:rPr>
              <a:t>H&amp;L</a:t>
            </a:r>
            <a:endParaRPr lang="en-US" sz="1500" dirty="0"/>
          </a:p>
        </p:txBody>
      </p:sp>
      <p:sp>
        <p:nvSpPr>
          <p:cNvPr id="5" name="Text 3"/>
          <p:cNvSpPr txBox="1"/>
          <p:nvPr/>
        </p:nvSpPr>
        <p:spPr>
          <a:xfrm>
            <a:off x="1298448" y="54864"/>
            <a:ext cx="7223760" cy="475488"/>
          </a:xfrm>
          <a:prstGeom prst="rect">
            <a:avLst/>
          </a:prstGeom>
          <a:noFill/>
          <a:ln/>
        </p:spPr>
        <p:txBody>
          <a:bodyPr wrap="square" lIns="0" tIns="0" rIns="0" bIns="0" rtlCol="0" anchor="ctr"/>
          <a:lstStyle/>
          <a:p>
            <a:pPr indent="0" marL="0">
              <a:buNone/>
            </a:pPr>
            <a:r>
              <a:rPr lang="en-US" sz="2300" b="1" dirty="0">
                <a:solidFill>
                  <a:srgbClr val="FFFFFF"/>
                </a:solidFill>
                <a:latin typeface="Poppins" pitchFamily="34" charset="0"/>
                <a:ea typeface="Poppins" pitchFamily="34" charset="-122"/>
                <a:cs typeface="Poppins" pitchFamily="34" charset="-120"/>
              </a:rPr>
              <a:t>H&amp;L Pay</a:t>
            </a:r>
            <a:endParaRPr lang="en-US" sz="2300" dirty="0"/>
          </a:p>
        </p:txBody>
      </p:sp>
      <p:sp>
        <p:nvSpPr>
          <p:cNvPr id="6" name="Text 4"/>
          <p:cNvSpPr txBox="1"/>
          <p:nvPr/>
        </p:nvSpPr>
        <p:spPr>
          <a:xfrm>
            <a:off x="1316736" y="512064"/>
            <a:ext cx="7040880" cy="256032"/>
          </a:xfrm>
          <a:prstGeom prst="rect">
            <a:avLst/>
          </a:prstGeom>
          <a:noFill/>
          <a:ln/>
        </p:spPr>
        <p:txBody>
          <a:bodyPr wrap="square" lIns="0" tIns="0" rIns="0" bIns="0" rtlCol="0" anchor="ctr"/>
          <a:lstStyle/>
          <a:p>
            <a:pPr indent="0" marL="0">
              <a:buNone/>
            </a:pPr>
            <a:r>
              <a:rPr lang="en-US" sz="1050" dirty="0">
                <a:solidFill>
                  <a:srgbClr val="6FAEBB"/>
                </a:solidFill>
                <a:latin typeface="Poppins" pitchFamily="34" charset="0"/>
                <a:ea typeface="Poppins" pitchFamily="34" charset="-122"/>
                <a:cs typeface="Poppins" pitchFamily="34" charset="-120"/>
              </a:rPr>
              <a:t>Sales</a:t>
            </a:r>
            <a:endParaRPr lang="en-US" sz="1050" dirty="0"/>
          </a:p>
        </p:txBody>
      </p:sp>
      <p:sp>
        <p:nvSpPr>
          <p:cNvPr id="7" name="Shape 5"/>
          <p:cNvSpPr/>
          <p:nvPr/>
        </p:nvSpPr>
        <p:spPr>
          <a:xfrm>
            <a:off x="8686800" y="246888"/>
            <a:ext cx="1965960" cy="347472"/>
          </a:xfrm>
          <a:prstGeom prst="roundRect">
            <a:avLst>
              <a:gd name="adj" fmla="val 50000"/>
            </a:avLst>
          </a:prstGeom>
          <a:solidFill>
            <a:srgbClr val="2C8394"/>
          </a:solidFill>
          <a:ln w="9525">
            <a:solidFill>
              <a:srgbClr val="FFFFFF">
                <a:alpha val="45000"/>
              </a:srgbClr>
            </a:solidFill>
            <a:prstDash val="solid"/>
          </a:ln>
        </p:spPr>
      </p:sp>
      <p:sp>
        <p:nvSpPr>
          <p:cNvPr id="8" name="Text 6"/>
          <p:cNvSpPr txBox="1"/>
          <p:nvPr/>
        </p:nvSpPr>
        <p:spPr>
          <a:xfrm>
            <a:off x="8686800" y="246888"/>
            <a:ext cx="1965960" cy="347472"/>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1  ·  DID WE SELL?</a:t>
            </a:r>
            <a:endParaRPr lang="en-US" sz="850" dirty="0"/>
          </a:p>
        </p:txBody>
      </p:sp>
      <p:sp>
        <p:nvSpPr>
          <p:cNvPr id="9" name="Shape 7"/>
          <p:cNvSpPr/>
          <p:nvPr/>
        </p:nvSpPr>
        <p:spPr>
          <a:xfrm>
            <a:off x="10872216" y="0"/>
            <a:ext cx="841248" cy="841248"/>
          </a:xfrm>
          <a:prstGeom prst="ellipse">
            <a:avLst/>
          </a:prstGeom>
          <a:solidFill>
            <a:srgbClr val="1C5765"/>
          </a:solidFill>
          <a:ln/>
        </p:spPr>
      </p:sp>
      <p:sp>
        <p:nvSpPr>
          <p:cNvPr id="10" name="Shape 8"/>
          <p:cNvSpPr/>
          <p:nvPr/>
        </p:nvSpPr>
        <p:spPr>
          <a:xfrm>
            <a:off x="10968228" y="96012"/>
            <a:ext cx="649224" cy="649224"/>
          </a:xfrm>
          <a:prstGeom prst="ellipse">
            <a:avLst/>
          </a:prstGeom>
          <a:solidFill>
            <a:srgbClr val="2C8394"/>
          </a:solidFill>
          <a:ln/>
        </p:spPr>
      </p:sp>
      <p:sp>
        <p:nvSpPr>
          <p:cNvPr id="11" name="Shape 9"/>
          <p:cNvSpPr/>
          <p:nvPr/>
        </p:nvSpPr>
        <p:spPr>
          <a:xfrm>
            <a:off x="11064240" y="192024"/>
            <a:ext cx="457200" cy="457200"/>
          </a:xfrm>
          <a:prstGeom prst="ellipse">
            <a:avLst/>
          </a:prstGeom>
          <a:solidFill>
            <a:srgbClr val="6FAEBB"/>
          </a:solidFill>
          <a:ln/>
        </p:spPr>
      </p:sp>
      <p:sp>
        <p:nvSpPr>
          <p:cNvPr id="12" name="Shape 10"/>
          <p:cNvSpPr/>
          <p:nvPr/>
        </p:nvSpPr>
        <p:spPr>
          <a:xfrm>
            <a:off x="11160252" y="288036"/>
            <a:ext cx="265176" cy="265176"/>
          </a:xfrm>
          <a:prstGeom prst="ellipse">
            <a:avLst/>
          </a:prstGeom>
          <a:solidFill>
            <a:srgbClr val="E4F1F4"/>
          </a:solidFill>
          <a:ln/>
        </p:spPr>
      </p:sp>
      <p:sp>
        <p:nvSpPr>
          <p:cNvPr id="13" name="Shape 11"/>
          <p:cNvSpPr/>
          <p:nvPr/>
        </p:nvSpPr>
        <p:spPr>
          <a:xfrm>
            <a:off x="411480" y="969264"/>
            <a:ext cx="3749040" cy="1024128"/>
          </a:xfrm>
          <a:prstGeom prst="roundRect">
            <a:avLst>
              <a:gd name="adj" fmla="val 6250"/>
            </a:avLst>
          </a:prstGeom>
          <a:solidFill>
            <a:srgbClr val="FFFFFF"/>
          </a:solidFill>
          <a:ln/>
          <a:effectLst>
            <a:outerShdw sx="100000" sy="100000" kx="0" ky="0" algn="bl" rotWithShape="0" blurRad="76200" dist="25400" dir="5400000">
              <a:srgbClr val="9AAAB5">
                <a:alpha val="35000"/>
              </a:srgbClr>
            </a:outerShdw>
          </a:effectLst>
        </p:spPr>
      </p:sp>
      <p:sp>
        <p:nvSpPr>
          <p:cNvPr id="14" name="Text 12"/>
          <p:cNvSpPr txBox="1"/>
          <p:nvPr/>
        </p:nvSpPr>
        <p:spPr>
          <a:xfrm>
            <a:off x="576072" y="1060704"/>
            <a:ext cx="3419856"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REFERRALS GIVEN — ALL-TIME</a:t>
            </a:r>
            <a:endParaRPr lang="en-US" sz="950" dirty="0"/>
          </a:p>
        </p:txBody>
      </p:sp>
      <p:sp>
        <p:nvSpPr>
          <p:cNvPr id="15" name="Text 13"/>
          <p:cNvSpPr txBox="1"/>
          <p:nvPr/>
        </p:nvSpPr>
        <p:spPr>
          <a:xfrm>
            <a:off x="557784" y="1243584"/>
            <a:ext cx="3456432" cy="292608"/>
          </a:xfrm>
          <a:prstGeom prst="rect">
            <a:avLst/>
          </a:prstGeom>
          <a:noFill/>
          <a:ln/>
        </p:spPr>
        <p:txBody>
          <a:bodyPr wrap="square" lIns="0" tIns="0" rIns="0" bIns="0" rtlCol="0" anchor="ctr"/>
          <a:lstStyle/>
          <a:p>
            <a:pPr indent="0" marL="0">
              <a:buNone/>
            </a:pPr>
            <a:r>
              <a:rPr lang="en-US" sz="2600" b="1" dirty="0">
                <a:solidFill>
                  <a:srgbClr val="12293A"/>
                </a:solidFill>
                <a:latin typeface="Poppins" pitchFamily="34" charset="0"/>
                <a:ea typeface="Poppins" pitchFamily="34" charset="-122"/>
                <a:cs typeface="Poppins" pitchFamily="34" charset="-120"/>
              </a:rPr>
              <a:t>34</a:t>
            </a:r>
            <a:endParaRPr lang="en-US" sz="2600" dirty="0"/>
          </a:p>
        </p:txBody>
      </p:sp>
      <p:sp>
        <p:nvSpPr>
          <p:cNvPr id="16" name="Text 14"/>
          <p:cNvSpPr txBox="1"/>
          <p:nvPr/>
        </p:nvSpPr>
        <p:spPr>
          <a:xfrm>
            <a:off x="576072" y="1572768"/>
            <a:ext cx="3419856" cy="365760"/>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tagged referred deals in the partner pipeline</a:t>
            </a:r>
            <a:endParaRPr lang="en-US" sz="780" dirty="0"/>
          </a:p>
        </p:txBody>
      </p:sp>
      <p:sp>
        <p:nvSpPr>
          <p:cNvPr id="17" name="Text 15"/>
          <p:cNvSpPr txBox="1"/>
          <p:nvPr/>
        </p:nvSpPr>
        <p:spPr>
          <a:xfrm>
            <a:off x="2377440" y="1042416"/>
            <a:ext cx="1600200" cy="182880"/>
          </a:xfrm>
          <a:prstGeom prst="rect">
            <a:avLst/>
          </a:prstGeom>
          <a:noFill/>
          <a:ln/>
        </p:spPr>
        <p:txBody>
          <a:bodyPr wrap="square" lIns="0" tIns="0" rIns="0" bIns="0" rtlCol="0" anchor="ctr"/>
          <a:lstStyle/>
          <a:p>
            <a:pPr algn="r" indent="0" marL="0">
              <a:buNone/>
            </a:pPr>
            <a:r>
              <a:rPr lang="en-US" sz="750" b="1" dirty="0">
                <a:solidFill>
                  <a:srgbClr val="C88A2E"/>
                </a:solidFill>
                <a:latin typeface="Poppins" pitchFamily="34" charset="0"/>
                <a:ea typeface="Poppins" pitchFamily="34" charset="-122"/>
                <a:cs typeface="Poppins" pitchFamily="34" charset="-120"/>
              </a:rPr>
              <a:t>7 this qtr · 11 last</a:t>
            </a:r>
            <a:endParaRPr lang="en-US" sz="750" dirty="0"/>
          </a:p>
        </p:txBody>
      </p:sp>
      <p:sp>
        <p:nvSpPr>
          <p:cNvPr id="18" name="Shape 16"/>
          <p:cNvSpPr/>
          <p:nvPr/>
        </p:nvSpPr>
        <p:spPr>
          <a:xfrm>
            <a:off x="4297680" y="969264"/>
            <a:ext cx="3749040" cy="1024128"/>
          </a:xfrm>
          <a:prstGeom prst="roundRect">
            <a:avLst>
              <a:gd name="adj" fmla="val 6250"/>
            </a:avLst>
          </a:prstGeom>
          <a:solidFill>
            <a:srgbClr val="FFFFFF"/>
          </a:solidFill>
          <a:ln/>
          <a:effectLst>
            <a:outerShdw sx="100000" sy="100000" kx="0" ky="0" algn="bl" rotWithShape="0" blurRad="76200" dist="25400" dir="5400000">
              <a:srgbClr val="9AAAB5">
                <a:alpha val="35000"/>
              </a:srgbClr>
            </a:outerShdw>
          </a:effectLst>
        </p:spPr>
      </p:sp>
      <p:sp>
        <p:nvSpPr>
          <p:cNvPr id="19" name="Text 17"/>
          <p:cNvSpPr txBox="1"/>
          <p:nvPr/>
        </p:nvSpPr>
        <p:spPr>
          <a:xfrm>
            <a:off x="4462272" y="1060704"/>
            <a:ext cx="3419856"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REFERRED GMV — SIGNED</a:t>
            </a:r>
            <a:endParaRPr lang="en-US" sz="950" dirty="0"/>
          </a:p>
        </p:txBody>
      </p:sp>
      <p:sp>
        <p:nvSpPr>
          <p:cNvPr id="20" name="Text 18"/>
          <p:cNvSpPr txBox="1"/>
          <p:nvPr/>
        </p:nvSpPr>
        <p:spPr>
          <a:xfrm>
            <a:off x="4443984" y="1243584"/>
            <a:ext cx="3456432" cy="292608"/>
          </a:xfrm>
          <a:prstGeom prst="rect">
            <a:avLst/>
          </a:prstGeom>
          <a:noFill/>
          <a:ln/>
        </p:spPr>
        <p:txBody>
          <a:bodyPr wrap="square" lIns="0" tIns="0" rIns="0" bIns="0" rtlCol="0" anchor="ctr"/>
          <a:lstStyle/>
          <a:p>
            <a:pPr indent="0" marL="0">
              <a:buNone/>
            </a:pPr>
            <a:r>
              <a:rPr lang="en-US" sz="2600" b="1" dirty="0">
                <a:solidFill>
                  <a:srgbClr val="2C8394"/>
                </a:solidFill>
                <a:latin typeface="Poppins" pitchFamily="34" charset="0"/>
                <a:ea typeface="Poppins" pitchFamily="34" charset="-122"/>
                <a:cs typeface="Poppins" pitchFamily="34" charset="-120"/>
              </a:rPr>
              <a:t>$38M</a:t>
            </a:r>
            <a:endParaRPr lang="en-US" sz="2600" dirty="0"/>
          </a:p>
        </p:txBody>
      </p:sp>
      <p:sp>
        <p:nvSpPr>
          <p:cNvPr id="21" name="Text 19"/>
          <p:cNvSpPr txBox="1"/>
          <p:nvPr/>
        </p:nvSpPr>
        <p:spPr>
          <a:xfrm>
            <a:off x="4462272" y="1572768"/>
            <a:ext cx="3419856" cy="365760"/>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14 deals won · 2 venues live &amp; billing</a:t>
            </a:r>
            <a:endParaRPr lang="en-US" sz="780" dirty="0"/>
          </a:p>
        </p:txBody>
      </p:sp>
      <p:sp>
        <p:nvSpPr>
          <p:cNvPr id="22" name="Text 20"/>
          <p:cNvSpPr txBox="1"/>
          <p:nvPr/>
        </p:nvSpPr>
        <p:spPr>
          <a:xfrm>
            <a:off x="6263640" y="1042416"/>
            <a:ext cx="1600200" cy="182880"/>
          </a:xfrm>
          <a:prstGeom prst="rect">
            <a:avLst/>
          </a:prstGeom>
          <a:noFill/>
          <a:ln/>
        </p:spPr>
        <p:txBody>
          <a:bodyPr wrap="square" lIns="0" tIns="0" rIns="0" bIns="0" rtlCol="0" anchor="ctr"/>
          <a:lstStyle/>
          <a:p>
            <a:pPr algn="r" indent="0" marL="0">
              <a:buNone/>
            </a:pPr>
            <a:r>
              <a:rPr lang="en-US" sz="750" b="1" dirty="0">
                <a:solidFill>
                  <a:srgbClr val="3D8F5F"/>
                </a:solidFill>
                <a:latin typeface="Poppins" pitchFamily="34" charset="0"/>
                <a:ea typeface="Poppins" pitchFamily="34" charset="-122"/>
                <a:cs typeface="Poppins" pitchFamily="34" charset="-120"/>
              </a:rPr>
              <a:t>39% of all wins</a:t>
            </a:r>
            <a:endParaRPr lang="en-US" sz="750" dirty="0"/>
          </a:p>
        </p:txBody>
      </p:sp>
      <p:sp>
        <p:nvSpPr>
          <p:cNvPr id="23" name="Shape 21"/>
          <p:cNvSpPr/>
          <p:nvPr/>
        </p:nvSpPr>
        <p:spPr>
          <a:xfrm>
            <a:off x="8183880" y="969264"/>
            <a:ext cx="3593592" cy="1024128"/>
          </a:xfrm>
          <a:prstGeom prst="roundRect">
            <a:avLst>
              <a:gd name="adj" fmla="val 6250"/>
            </a:avLst>
          </a:prstGeom>
          <a:solidFill>
            <a:srgbClr val="FFFFFF"/>
          </a:solidFill>
          <a:ln/>
          <a:effectLst>
            <a:outerShdw sx="100000" sy="100000" kx="0" ky="0" algn="bl" rotWithShape="0" blurRad="76200" dist="25400" dir="5400000">
              <a:srgbClr val="9AAAB5">
                <a:alpha val="35000"/>
              </a:srgbClr>
            </a:outerShdw>
          </a:effectLst>
        </p:spPr>
      </p:sp>
      <p:sp>
        <p:nvSpPr>
          <p:cNvPr id="24" name="Text 22"/>
          <p:cNvSpPr txBox="1"/>
          <p:nvPr/>
        </p:nvSpPr>
        <p:spPr>
          <a:xfrm>
            <a:off x="8348472" y="1060704"/>
            <a:ext cx="3264408"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REFERRED — OPEN PIPELINE</a:t>
            </a:r>
            <a:endParaRPr lang="en-US" sz="950" dirty="0"/>
          </a:p>
        </p:txBody>
      </p:sp>
      <p:sp>
        <p:nvSpPr>
          <p:cNvPr id="25" name="Text 23"/>
          <p:cNvSpPr txBox="1"/>
          <p:nvPr/>
        </p:nvSpPr>
        <p:spPr>
          <a:xfrm>
            <a:off x="8330184" y="1243584"/>
            <a:ext cx="3300984" cy="292608"/>
          </a:xfrm>
          <a:prstGeom prst="rect">
            <a:avLst/>
          </a:prstGeom>
          <a:noFill/>
          <a:ln/>
        </p:spPr>
        <p:txBody>
          <a:bodyPr wrap="square" lIns="0" tIns="0" rIns="0" bIns="0" rtlCol="0" anchor="ctr"/>
          <a:lstStyle/>
          <a:p>
            <a:pPr indent="0" marL="0">
              <a:buNone/>
            </a:pPr>
            <a:r>
              <a:rPr lang="en-US" sz="2600" b="1" dirty="0">
                <a:solidFill>
                  <a:srgbClr val="2C8394"/>
                </a:solidFill>
                <a:latin typeface="Poppins" pitchFamily="34" charset="0"/>
                <a:ea typeface="Poppins" pitchFamily="34" charset="-122"/>
                <a:cs typeface="Poppins" pitchFamily="34" charset="-120"/>
              </a:rPr>
              <a:t>$245M</a:t>
            </a:r>
            <a:endParaRPr lang="en-US" sz="2600" dirty="0"/>
          </a:p>
        </p:txBody>
      </p:sp>
      <p:sp>
        <p:nvSpPr>
          <p:cNvPr id="26" name="Text 24"/>
          <p:cNvSpPr txBox="1"/>
          <p:nvPr/>
        </p:nvSpPr>
        <p:spPr>
          <a:xfrm>
            <a:off x="8348472" y="1572768"/>
            <a:ext cx="3264408" cy="365760"/>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19 referred deals in negotiation</a:t>
            </a:r>
            <a:endParaRPr lang="en-US" sz="780" dirty="0"/>
          </a:p>
        </p:txBody>
      </p:sp>
      <p:sp>
        <p:nvSpPr>
          <p:cNvPr id="27" name="Shape 25"/>
          <p:cNvSpPr/>
          <p:nvPr/>
        </p:nvSpPr>
        <p:spPr>
          <a:xfrm>
            <a:off x="411480" y="2139696"/>
            <a:ext cx="6949440" cy="3054096"/>
          </a:xfrm>
          <a:prstGeom prst="roundRect">
            <a:avLst>
              <a:gd name="adj" fmla="val 2096"/>
            </a:avLst>
          </a:prstGeom>
          <a:solidFill>
            <a:srgbClr val="FFFFFF"/>
          </a:solidFill>
          <a:ln/>
          <a:effectLst>
            <a:outerShdw sx="100000" sy="100000" kx="0" ky="0" algn="bl" rotWithShape="0" blurRad="76200" dist="25400" dir="5400000">
              <a:srgbClr val="9AAAB5">
                <a:alpha val="35000"/>
              </a:srgbClr>
            </a:outerShdw>
          </a:effectLst>
        </p:spPr>
      </p:sp>
      <p:sp>
        <p:nvSpPr>
          <p:cNvPr id="28" name="Text 26"/>
          <p:cNvSpPr txBox="1"/>
          <p:nvPr/>
        </p:nvSpPr>
        <p:spPr>
          <a:xfrm>
            <a:off x="612648" y="2249424"/>
            <a:ext cx="6492240"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IDENTIFIED BY H&amp;L → REFERRED → SIGNED</a:t>
            </a:r>
            <a:endParaRPr lang="en-US" sz="1200" dirty="0"/>
          </a:p>
        </p:txBody>
      </p:sp>
      <p:sp>
        <p:nvSpPr>
          <p:cNvPr id="29" name="Shape 27"/>
          <p:cNvSpPr/>
          <p:nvPr/>
        </p:nvSpPr>
        <p:spPr>
          <a:xfrm>
            <a:off x="612648" y="2542032"/>
            <a:ext cx="1371600" cy="566928"/>
          </a:xfrm>
          <a:prstGeom prst="homePlate">
            <a:avLst/>
          </a:prstGeom>
          <a:solidFill>
            <a:srgbClr val="24435C"/>
          </a:solidFill>
          <a:ln/>
        </p:spPr>
      </p:sp>
      <p:sp>
        <p:nvSpPr>
          <p:cNvPr id="30" name="Text 28"/>
          <p:cNvSpPr txBox="1"/>
          <p:nvPr/>
        </p:nvSpPr>
        <p:spPr>
          <a:xfrm>
            <a:off x="722376" y="2587752"/>
            <a:ext cx="987552" cy="146304"/>
          </a:xfrm>
          <a:prstGeom prst="rect">
            <a:avLst/>
          </a:prstGeom>
          <a:noFill/>
          <a:ln/>
        </p:spPr>
        <p:txBody>
          <a:bodyPr wrap="square" lIns="0" tIns="0" rIns="0" bIns="0" rtlCol="0" anchor="ctr"/>
          <a:lstStyle/>
          <a:p>
            <a:pPr indent="0" marL="0">
              <a:buNone/>
            </a:pPr>
            <a:r>
              <a:rPr lang="en-US" sz="550" b="1" dirty="0">
                <a:solidFill>
                  <a:srgbClr val="FFFFFF"/>
                </a:solidFill>
                <a:latin typeface="Poppins" pitchFamily="34" charset="0"/>
                <a:ea typeface="Poppins" pitchFamily="34" charset="-122"/>
                <a:cs typeface="Poppins" pitchFamily="34" charset="-120"/>
              </a:rPr>
              <a:t>IDENTIFIED</a:t>
            </a:r>
            <a:endParaRPr lang="en-US" sz="550" dirty="0"/>
          </a:p>
        </p:txBody>
      </p:sp>
      <p:sp>
        <p:nvSpPr>
          <p:cNvPr id="31" name="Text 29"/>
          <p:cNvSpPr txBox="1"/>
          <p:nvPr/>
        </p:nvSpPr>
        <p:spPr>
          <a:xfrm>
            <a:off x="722376" y="2724912"/>
            <a:ext cx="987552" cy="329184"/>
          </a:xfrm>
          <a:prstGeom prst="rect">
            <a:avLst/>
          </a:prstGeom>
          <a:noFill/>
          <a:ln/>
        </p:spPr>
        <p:txBody>
          <a:bodyPr wrap="square" lIns="0" tIns="0" rIns="0" bIns="0" rtlCol="0" anchor="ctr"/>
          <a:lstStyle/>
          <a:p>
            <a:pPr indent="0" marL="0">
              <a:buNone/>
            </a:pPr>
            <a:r>
              <a:rPr lang="en-US" sz="1600" b="1" dirty="0">
                <a:solidFill>
                  <a:srgbClr val="FFFFFF"/>
                </a:solidFill>
                <a:latin typeface="Poppins" pitchFamily="34" charset="0"/>
                <a:ea typeface="Poppins" pitchFamily="34" charset="-122"/>
                <a:cs typeface="Poppins" pitchFamily="34" charset="-120"/>
              </a:rPr>
              <a:t>34</a:t>
            </a:r>
            <a:endParaRPr lang="en-US" sz="1600" dirty="0"/>
          </a:p>
        </p:txBody>
      </p:sp>
      <p:sp>
        <p:nvSpPr>
          <p:cNvPr id="32" name="Text 30"/>
          <p:cNvSpPr txBox="1"/>
          <p:nvPr/>
        </p:nvSpPr>
        <p:spPr>
          <a:xfrm>
            <a:off x="649224" y="3127248"/>
            <a:ext cx="1188720" cy="201168"/>
          </a:xfrm>
          <a:prstGeom prst="rect">
            <a:avLst/>
          </a:prstGeom>
          <a:noFill/>
          <a:ln/>
        </p:spPr>
        <p:txBody>
          <a:bodyPr wrap="square" lIns="0" tIns="0" rIns="0" bIns="0" rtlCol="0" anchor="t"/>
          <a:lstStyle/>
          <a:p>
            <a:pPr indent="0" marL="0">
              <a:buNone/>
            </a:pPr>
            <a:r>
              <a:rPr lang="en-US" sz="550" dirty="0">
                <a:solidFill>
                  <a:srgbClr val="8FA1AC"/>
                </a:solidFill>
                <a:latin typeface="Poppins" pitchFamily="34" charset="0"/>
                <a:ea typeface="Poppins" pitchFamily="34" charset="-122"/>
                <a:cs typeface="Poppins" pitchFamily="34" charset="-120"/>
              </a:rPr>
              <a:t>32 unique venues · register</a:t>
            </a:r>
            <a:endParaRPr lang="en-US" sz="550" dirty="0"/>
          </a:p>
        </p:txBody>
      </p:sp>
      <p:sp>
        <p:nvSpPr>
          <p:cNvPr id="33" name="Shape 31"/>
          <p:cNvSpPr/>
          <p:nvPr/>
        </p:nvSpPr>
        <p:spPr>
          <a:xfrm>
            <a:off x="1874520" y="2542032"/>
            <a:ext cx="1371600" cy="566928"/>
          </a:xfrm>
          <a:prstGeom prst="chevron">
            <a:avLst/>
          </a:prstGeom>
          <a:solidFill>
            <a:srgbClr val="3A6472"/>
          </a:solidFill>
          <a:ln/>
        </p:spPr>
      </p:sp>
      <p:sp>
        <p:nvSpPr>
          <p:cNvPr id="34" name="Text 32"/>
          <p:cNvSpPr txBox="1"/>
          <p:nvPr/>
        </p:nvSpPr>
        <p:spPr>
          <a:xfrm>
            <a:off x="2112264" y="2587752"/>
            <a:ext cx="987552" cy="146304"/>
          </a:xfrm>
          <a:prstGeom prst="rect">
            <a:avLst/>
          </a:prstGeom>
          <a:noFill/>
          <a:ln/>
        </p:spPr>
        <p:txBody>
          <a:bodyPr wrap="square" lIns="0" tIns="0" rIns="0" bIns="0" rtlCol="0" anchor="ctr"/>
          <a:lstStyle/>
          <a:p>
            <a:pPr indent="0" marL="0">
              <a:buNone/>
            </a:pPr>
            <a:r>
              <a:rPr lang="en-US" sz="550" b="1" dirty="0">
                <a:solidFill>
                  <a:srgbClr val="FFFFFF"/>
                </a:solidFill>
                <a:latin typeface="Poppins" pitchFamily="34" charset="0"/>
                <a:ea typeface="Poppins" pitchFamily="34" charset="-122"/>
                <a:cs typeface="Poppins" pitchFamily="34" charset="-120"/>
              </a:rPr>
              <a:t>REFERRED</a:t>
            </a:r>
            <a:endParaRPr lang="en-US" sz="550" dirty="0"/>
          </a:p>
        </p:txBody>
      </p:sp>
      <p:sp>
        <p:nvSpPr>
          <p:cNvPr id="35" name="Text 33"/>
          <p:cNvSpPr txBox="1"/>
          <p:nvPr/>
        </p:nvSpPr>
        <p:spPr>
          <a:xfrm>
            <a:off x="2112264" y="2724912"/>
            <a:ext cx="987552" cy="329184"/>
          </a:xfrm>
          <a:prstGeom prst="rect">
            <a:avLst/>
          </a:prstGeom>
          <a:noFill/>
          <a:ln/>
        </p:spPr>
        <p:txBody>
          <a:bodyPr wrap="square" lIns="0" tIns="0" rIns="0" bIns="0" rtlCol="0" anchor="ctr"/>
          <a:lstStyle/>
          <a:p>
            <a:pPr indent="0" marL="0">
              <a:buNone/>
            </a:pPr>
            <a:r>
              <a:rPr lang="en-US" sz="1600" b="1" dirty="0">
                <a:solidFill>
                  <a:srgbClr val="FFFFFF"/>
                </a:solidFill>
                <a:latin typeface="Poppins" pitchFamily="34" charset="0"/>
                <a:ea typeface="Poppins" pitchFamily="34" charset="-122"/>
                <a:cs typeface="Poppins" pitchFamily="34" charset="-120"/>
              </a:rPr>
              <a:t>34</a:t>
            </a:r>
            <a:endParaRPr lang="en-US" sz="1600" dirty="0"/>
          </a:p>
        </p:txBody>
      </p:sp>
      <p:sp>
        <p:nvSpPr>
          <p:cNvPr id="36" name="Text 34"/>
          <p:cNvSpPr txBox="1"/>
          <p:nvPr/>
        </p:nvSpPr>
        <p:spPr>
          <a:xfrm>
            <a:off x="2039112" y="3127248"/>
            <a:ext cx="1188720" cy="201168"/>
          </a:xfrm>
          <a:prstGeom prst="rect">
            <a:avLst/>
          </a:prstGeom>
          <a:noFill/>
          <a:ln/>
        </p:spPr>
        <p:txBody>
          <a:bodyPr wrap="square" lIns="0" tIns="0" rIns="0" bIns="0" rtlCol="0" anchor="t"/>
          <a:lstStyle/>
          <a:p>
            <a:pPr indent="0" marL="0">
              <a:buNone/>
            </a:pPr>
            <a:r>
              <a:rPr lang="en-US" sz="550" dirty="0">
                <a:solidFill>
                  <a:srgbClr val="8FA1AC"/>
                </a:solidFill>
                <a:latin typeface="Poppins" pitchFamily="34" charset="0"/>
                <a:ea typeface="Poppins" pitchFamily="34" charset="-122"/>
                <a:cs typeface="Poppins" pitchFamily="34" charset="-120"/>
              </a:rPr>
              <a:t>$285M GMV tagged</a:t>
            </a:r>
            <a:endParaRPr lang="en-US" sz="550" dirty="0"/>
          </a:p>
        </p:txBody>
      </p:sp>
      <p:sp>
        <p:nvSpPr>
          <p:cNvPr id="37" name="Shape 35"/>
          <p:cNvSpPr/>
          <p:nvPr/>
        </p:nvSpPr>
        <p:spPr>
          <a:xfrm>
            <a:off x="3136392" y="2542032"/>
            <a:ext cx="1371600" cy="566928"/>
          </a:xfrm>
          <a:prstGeom prst="chevron">
            <a:avLst/>
          </a:prstGeom>
          <a:solidFill>
            <a:srgbClr val="2C8394"/>
          </a:solidFill>
          <a:ln/>
        </p:spPr>
      </p:sp>
      <p:sp>
        <p:nvSpPr>
          <p:cNvPr id="38" name="Text 36"/>
          <p:cNvSpPr txBox="1"/>
          <p:nvPr/>
        </p:nvSpPr>
        <p:spPr>
          <a:xfrm>
            <a:off x="3374136" y="2587752"/>
            <a:ext cx="987552" cy="146304"/>
          </a:xfrm>
          <a:prstGeom prst="rect">
            <a:avLst/>
          </a:prstGeom>
          <a:noFill/>
          <a:ln/>
        </p:spPr>
        <p:txBody>
          <a:bodyPr wrap="square" lIns="0" tIns="0" rIns="0" bIns="0" rtlCol="0" anchor="ctr"/>
          <a:lstStyle/>
          <a:p>
            <a:pPr indent="0" marL="0">
              <a:buNone/>
            </a:pPr>
            <a:r>
              <a:rPr lang="en-US" sz="550" b="1" dirty="0">
                <a:solidFill>
                  <a:srgbClr val="FFFFFF"/>
                </a:solidFill>
                <a:latin typeface="Poppins" pitchFamily="34" charset="0"/>
                <a:ea typeface="Poppins" pitchFamily="34" charset="-122"/>
                <a:cs typeface="Poppins" pitchFamily="34" charset="-120"/>
              </a:rPr>
              <a:t>OPEN</a:t>
            </a:r>
            <a:endParaRPr lang="en-US" sz="550" dirty="0"/>
          </a:p>
        </p:txBody>
      </p:sp>
      <p:sp>
        <p:nvSpPr>
          <p:cNvPr id="39" name="Text 37"/>
          <p:cNvSpPr txBox="1"/>
          <p:nvPr/>
        </p:nvSpPr>
        <p:spPr>
          <a:xfrm>
            <a:off x="3374136" y="2724912"/>
            <a:ext cx="987552" cy="329184"/>
          </a:xfrm>
          <a:prstGeom prst="rect">
            <a:avLst/>
          </a:prstGeom>
          <a:noFill/>
          <a:ln/>
        </p:spPr>
        <p:txBody>
          <a:bodyPr wrap="square" lIns="0" tIns="0" rIns="0" bIns="0" rtlCol="0" anchor="ctr"/>
          <a:lstStyle/>
          <a:p>
            <a:pPr indent="0" marL="0">
              <a:buNone/>
            </a:pPr>
            <a:r>
              <a:rPr lang="en-US" sz="1600" b="1" dirty="0">
                <a:solidFill>
                  <a:srgbClr val="FFFFFF"/>
                </a:solidFill>
                <a:latin typeface="Poppins" pitchFamily="34" charset="0"/>
                <a:ea typeface="Poppins" pitchFamily="34" charset="-122"/>
                <a:cs typeface="Poppins" pitchFamily="34" charset="-120"/>
              </a:rPr>
              <a:t>19</a:t>
            </a:r>
            <a:endParaRPr lang="en-US" sz="1600" dirty="0"/>
          </a:p>
        </p:txBody>
      </p:sp>
      <p:sp>
        <p:nvSpPr>
          <p:cNvPr id="40" name="Text 38"/>
          <p:cNvSpPr txBox="1"/>
          <p:nvPr/>
        </p:nvSpPr>
        <p:spPr>
          <a:xfrm>
            <a:off x="3300984" y="3127248"/>
            <a:ext cx="1188720" cy="201168"/>
          </a:xfrm>
          <a:prstGeom prst="rect">
            <a:avLst/>
          </a:prstGeom>
          <a:noFill/>
          <a:ln/>
        </p:spPr>
        <p:txBody>
          <a:bodyPr wrap="square" lIns="0" tIns="0" rIns="0" bIns="0" rtlCol="0" anchor="t"/>
          <a:lstStyle/>
          <a:p>
            <a:pPr indent="0" marL="0">
              <a:buNone/>
            </a:pPr>
            <a:r>
              <a:rPr lang="en-US" sz="550" dirty="0">
                <a:solidFill>
                  <a:srgbClr val="8FA1AC"/>
                </a:solidFill>
                <a:latin typeface="Poppins" pitchFamily="34" charset="0"/>
                <a:ea typeface="Poppins" pitchFamily="34" charset="-122"/>
                <a:cs typeface="Poppins" pitchFamily="34" charset="-120"/>
              </a:rPr>
              <a:t>$245M negotiating</a:t>
            </a:r>
            <a:endParaRPr lang="en-US" sz="550" dirty="0"/>
          </a:p>
        </p:txBody>
      </p:sp>
      <p:sp>
        <p:nvSpPr>
          <p:cNvPr id="41" name="Shape 39"/>
          <p:cNvSpPr/>
          <p:nvPr/>
        </p:nvSpPr>
        <p:spPr>
          <a:xfrm>
            <a:off x="4398264" y="2542032"/>
            <a:ext cx="1371600" cy="566928"/>
          </a:xfrm>
          <a:prstGeom prst="chevron">
            <a:avLst/>
          </a:prstGeom>
          <a:solidFill>
            <a:srgbClr val="3D8F5F"/>
          </a:solidFill>
          <a:ln/>
        </p:spPr>
      </p:sp>
      <p:sp>
        <p:nvSpPr>
          <p:cNvPr id="42" name="Text 40"/>
          <p:cNvSpPr txBox="1"/>
          <p:nvPr/>
        </p:nvSpPr>
        <p:spPr>
          <a:xfrm>
            <a:off x="4636008" y="2587752"/>
            <a:ext cx="987552" cy="146304"/>
          </a:xfrm>
          <a:prstGeom prst="rect">
            <a:avLst/>
          </a:prstGeom>
          <a:noFill/>
          <a:ln/>
        </p:spPr>
        <p:txBody>
          <a:bodyPr wrap="square" lIns="0" tIns="0" rIns="0" bIns="0" rtlCol="0" anchor="ctr"/>
          <a:lstStyle/>
          <a:p>
            <a:pPr indent="0" marL="0">
              <a:buNone/>
            </a:pPr>
            <a:r>
              <a:rPr lang="en-US" sz="550" b="1" dirty="0">
                <a:solidFill>
                  <a:srgbClr val="FFFFFF"/>
                </a:solidFill>
                <a:latin typeface="Poppins" pitchFamily="34" charset="0"/>
                <a:ea typeface="Poppins" pitchFamily="34" charset="-122"/>
                <a:cs typeface="Poppins" pitchFamily="34" charset="-120"/>
              </a:rPr>
              <a:t>WON</a:t>
            </a:r>
            <a:endParaRPr lang="en-US" sz="550" dirty="0"/>
          </a:p>
        </p:txBody>
      </p:sp>
      <p:sp>
        <p:nvSpPr>
          <p:cNvPr id="43" name="Text 41"/>
          <p:cNvSpPr txBox="1"/>
          <p:nvPr/>
        </p:nvSpPr>
        <p:spPr>
          <a:xfrm>
            <a:off x="4636008" y="2724912"/>
            <a:ext cx="987552" cy="329184"/>
          </a:xfrm>
          <a:prstGeom prst="rect">
            <a:avLst/>
          </a:prstGeom>
          <a:noFill/>
          <a:ln/>
        </p:spPr>
        <p:txBody>
          <a:bodyPr wrap="square" lIns="0" tIns="0" rIns="0" bIns="0" rtlCol="0" anchor="ctr"/>
          <a:lstStyle/>
          <a:p>
            <a:pPr indent="0" marL="0">
              <a:buNone/>
            </a:pPr>
            <a:r>
              <a:rPr lang="en-US" sz="1600" b="1" dirty="0">
                <a:solidFill>
                  <a:srgbClr val="FFFFFF"/>
                </a:solidFill>
                <a:latin typeface="Poppins" pitchFamily="34" charset="0"/>
                <a:ea typeface="Poppins" pitchFamily="34" charset="-122"/>
                <a:cs typeface="Poppins" pitchFamily="34" charset="-120"/>
              </a:rPr>
              <a:t>14</a:t>
            </a:r>
            <a:endParaRPr lang="en-US" sz="1600" dirty="0"/>
          </a:p>
        </p:txBody>
      </p:sp>
      <p:sp>
        <p:nvSpPr>
          <p:cNvPr id="44" name="Text 42"/>
          <p:cNvSpPr txBox="1"/>
          <p:nvPr/>
        </p:nvSpPr>
        <p:spPr>
          <a:xfrm>
            <a:off x="4562856" y="3127248"/>
            <a:ext cx="1188720" cy="201168"/>
          </a:xfrm>
          <a:prstGeom prst="rect">
            <a:avLst/>
          </a:prstGeom>
          <a:noFill/>
          <a:ln/>
        </p:spPr>
        <p:txBody>
          <a:bodyPr wrap="square" lIns="0" tIns="0" rIns="0" bIns="0" rtlCol="0" anchor="t"/>
          <a:lstStyle/>
          <a:p>
            <a:pPr indent="0" marL="0">
              <a:buNone/>
            </a:pPr>
            <a:r>
              <a:rPr lang="en-US" sz="550" dirty="0">
                <a:solidFill>
                  <a:srgbClr val="8FA1AC"/>
                </a:solidFill>
                <a:latin typeface="Poppins" pitchFamily="34" charset="0"/>
                <a:ea typeface="Poppins" pitchFamily="34" charset="-122"/>
                <a:cs typeface="Poppins" pitchFamily="34" charset="-120"/>
              </a:rPr>
              <a:t>$38M signed</a:t>
            </a:r>
            <a:endParaRPr lang="en-US" sz="550" dirty="0"/>
          </a:p>
        </p:txBody>
      </p:sp>
      <p:sp>
        <p:nvSpPr>
          <p:cNvPr id="45" name="Shape 43"/>
          <p:cNvSpPr/>
          <p:nvPr/>
        </p:nvSpPr>
        <p:spPr>
          <a:xfrm>
            <a:off x="5660136" y="2542032"/>
            <a:ext cx="1371600" cy="566928"/>
          </a:xfrm>
          <a:prstGeom prst="chevron">
            <a:avLst/>
          </a:prstGeom>
          <a:solidFill>
            <a:srgbClr val="5B7C8A"/>
          </a:solidFill>
          <a:ln/>
        </p:spPr>
      </p:sp>
      <p:sp>
        <p:nvSpPr>
          <p:cNvPr id="46" name="Text 44"/>
          <p:cNvSpPr txBox="1"/>
          <p:nvPr/>
        </p:nvSpPr>
        <p:spPr>
          <a:xfrm>
            <a:off x="5897880" y="2587752"/>
            <a:ext cx="987552" cy="146304"/>
          </a:xfrm>
          <a:prstGeom prst="rect">
            <a:avLst/>
          </a:prstGeom>
          <a:noFill/>
          <a:ln/>
        </p:spPr>
        <p:txBody>
          <a:bodyPr wrap="square" lIns="0" tIns="0" rIns="0" bIns="0" rtlCol="0" anchor="ctr"/>
          <a:lstStyle/>
          <a:p>
            <a:pPr indent="0" marL="0">
              <a:buNone/>
            </a:pPr>
            <a:r>
              <a:rPr lang="en-US" sz="550" b="1" dirty="0">
                <a:solidFill>
                  <a:srgbClr val="FFFFFF"/>
                </a:solidFill>
                <a:latin typeface="Poppins" pitchFamily="34" charset="0"/>
                <a:ea typeface="Poppins" pitchFamily="34" charset="-122"/>
                <a:cs typeface="Poppins" pitchFamily="34" charset="-120"/>
              </a:rPr>
              <a:t>SHARE OF WINS</a:t>
            </a:r>
            <a:endParaRPr lang="en-US" sz="550" dirty="0"/>
          </a:p>
        </p:txBody>
      </p:sp>
      <p:sp>
        <p:nvSpPr>
          <p:cNvPr id="47" name="Text 45"/>
          <p:cNvSpPr txBox="1"/>
          <p:nvPr/>
        </p:nvSpPr>
        <p:spPr>
          <a:xfrm>
            <a:off x="5897880" y="2724912"/>
            <a:ext cx="987552" cy="329184"/>
          </a:xfrm>
          <a:prstGeom prst="rect">
            <a:avLst/>
          </a:prstGeom>
          <a:noFill/>
          <a:ln/>
        </p:spPr>
        <p:txBody>
          <a:bodyPr wrap="square" lIns="0" tIns="0" rIns="0" bIns="0" rtlCol="0" anchor="ctr"/>
          <a:lstStyle/>
          <a:p>
            <a:pPr indent="0" marL="0">
              <a:buNone/>
            </a:pPr>
            <a:r>
              <a:rPr lang="en-US" sz="1600" b="1" dirty="0">
                <a:solidFill>
                  <a:srgbClr val="FFFFFF"/>
                </a:solidFill>
                <a:latin typeface="Poppins" pitchFamily="34" charset="0"/>
                <a:ea typeface="Poppins" pitchFamily="34" charset="-122"/>
                <a:cs typeface="Poppins" pitchFamily="34" charset="-120"/>
              </a:rPr>
              <a:t>39%</a:t>
            </a:r>
            <a:endParaRPr lang="en-US" sz="1600" dirty="0"/>
          </a:p>
        </p:txBody>
      </p:sp>
      <p:sp>
        <p:nvSpPr>
          <p:cNvPr id="48" name="Text 46"/>
          <p:cNvSpPr txBox="1"/>
          <p:nvPr/>
        </p:nvSpPr>
        <p:spPr>
          <a:xfrm>
            <a:off x="5824728" y="3127248"/>
            <a:ext cx="1188720" cy="201168"/>
          </a:xfrm>
          <a:prstGeom prst="rect">
            <a:avLst/>
          </a:prstGeom>
          <a:noFill/>
          <a:ln/>
        </p:spPr>
        <p:txBody>
          <a:bodyPr wrap="square" lIns="0" tIns="0" rIns="0" bIns="0" rtlCol="0" anchor="t"/>
          <a:lstStyle/>
          <a:p>
            <a:pPr indent="0" marL="0">
              <a:buNone/>
            </a:pPr>
            <a:r>
              <a:rPr lang="en-US" sz="550" dirty="0">
                <a:solidFill>
                  <a:srgbClr val="8FA1AC"/>
                </a:solidFill>
                <a:latin typeface="Poppins" pitchFamily="34" charset="0"/>
                <a:ea typeface="Poppins" pitchFamily="34" charset="-122"/>
                <a:cs typeface="Poppins" pitchFamily="34" charset="-120"/>
              </a:rPr>
              <a:t>of $98M signed</a:t>
            </a:r>
            <a:endParaRPr lang="en-US" sz="550" dirty="0"/>
          </a:p>
        </p:txBody>
      </p:sp>
      <p:sp>
        <p:nvSpPr>
          <p:cNvPr id="49" name="Text 47"/>
          <p:cNvSpPr txBox="1"/>
          <p:nvPr/>
        </p:nvSpPr>
        <p:spPr>
          <a:xfrm>
            <a:off x="612648" y="3383280"/>
            <a:ext cx="3291840" cy="182880"/>
          </a:xfrm>
          <a:prstGeom prst="rect">
            <a:avLst/>
          </a:prstGeom>
          <a:noFill/>
          <a:ln/>
        </p:spPr>
        <p:txBody>
          <a:bodyPr wrap="square" lIns="0" tIns="0" rIns="0" bIns="0" rtlCol="0" anchor="ctr"/>
          <a:lstStyle/>
          <a:p>
            <a:pPr indent="0" marL="0">
              <a:buNone/>
            </a:pPr>
            <a:r>
              <a:rPr lang="en-US" sz="850" b="1" dirty="0">
                <a:solidFill>
                  <a:srgbClr val="2C8394"/>
                </a:solidFill>
                <a:latin typeface="Poppins" pitchFamily="34" charset="0"/>
                <a:ea typeface="Poppins" pitchFamily="34" charset="-122"/>
                <a:cs typeface="Poppins" pitchFamily="34" charset="-120"/>
              </a:rPr>
              <a:t>REFERRAL FLOW — WHEN REFERRALS WERE GIVEN</a:t>
            </a:r>
            <a:endParaRPr lang="en-US" sz="850" dirty="0"/>
          </a:p>
        </p:txBody>
      </p:sp>
      <p:sp>
        <p:nvSpPr>
          <p:cNvPr id="50" name="Text 48"/>
          <p:cNvSpPr txBox="1"/>
          <p:nvPr/>
        </p:nvSpPr>
        <p:spPr>
          <a:xfrm>
            <a:off x="3886200" y="3383280"/>
            <a:ext cx="3200400" cy="182880"/>
          </a:xfrm>
          <a:prstGeom prst="rect">
            <a:avLst/>
          </a:prstGeom>
          <a:noFill/>
          <a:ln/>
        </p:spPr>
        <p:txBody>
          <a:bodyPr wrap="square" lIns="0" tIns="0" rIns="0" bIns="0" rtlCol="0" anchor="ctr"/>
          <a:lstStyle/>
          <a:p>
            <a:pPr algn="r" indent="0" marL="0">
              <a:buNone/>
            </a:pPr>
            <a:r>
              <a:rPr lang="en-US" sz="580" dirty="0">
                <a:solidFill>
                  <a:srgbClr val="8FA1AC"/>
                </a:solidFill>
                <a:latin typeface="Poppins" pitchFamily="34" charset="0"/>
                <a:ea typeface="Poppins" pitchFamily="34" charset="-122"/>
                <a:cs typeface="Poppins" pitchFamily="34" charset="-120"/>
              </a:rPr>
              <a:t>bars = identified / referred per month · line = cumulative referred → 27 YTD</a:t>
            </a:r>
            <a:endParaRPr lang="en-US" sz="580" dirty="0"/>
          </a:p>
        </p:txBody>
      </p:sp>
      <p:graphicFrame>
        <p:nvGraphicFramePr>
          <p:cNvPr id="51" name="Chart 0" descr=""/>
          <p:cNvGraphicFramePr/>
          <p:nvPr/>
        </p:nvGraphicFramePr>
        <p:xfrm>
          <a:off x="576072" y="3584448"/>
          <a:ext cx="6565392" cy="1389888"/>
        </p:xfrm>
        <a:graphic xmlns:a="http://schemas.openxmlformats.org/drawingml/2006/main">
          <a:graphicData uri="http://schemas.openxmlformats.org/drawingml/2006/chart">
            <c:chart xmlns:c="http://schemas.openxmlformats.org/drawingml/2006/chart" r:id="rId1"/>
          </a:graphicData>
        </a:graphic>
      </p:graphicFrame>
      <p:sp>
        <p:nvSpPr>
          <p:cNvPr id="52" name="Shape 49"/>
          <p:cNvSpPr/>
          <p:nvPr/>
        </p:nvSpPr>
        <p:spPr>
          <a:xfrm>
            <a:off x="7498080" y="2139696"/>
            <a:ext cx="4279392" cy="3054096"/>
          </a:xfrm>
          <a:prstGeom prst="roundRect">
            <a:avLst>
              <a:gd name="adj" fmla="val 2096"/>
            </a:avLst>
          </a:prstGeom>
          <a:solidFill>
            <a:srgbClr val="FFFFFF"/>
          </a:solidFill>
          <a:ln/>
          <a:effectLst>
            <a:outerShdw sx="100000" sy="100000" kx="0" ky="0" algn="bl" rotWithShape="0" blurRad="76200" dist="25400" dir="5400000">
              <a:srgbClr val="9AAAB5">
                <a:alpha val="35000"/>
              </a:srgbClr>
            </a:outerShdw>
          </a:effectLst>
        </p:spPr>
      </p:sp>
      <p:sp>
        <p:nvSpPr>
          <p:cNvPr id="53" name="Text 50"/>
          <p:cNvSpPr txBox="1"/>
          <p:nvPr/>
        </p:nvSpPr>
        <p:spPr>
          <a:xfrm>
            <a:off x="7699248" y="2249424"/>
            <a:ext cx="3840480"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WHO IS GIVING THE REFERRALS</a:t>
            </a:r>
            <a:endParaRPr lang="en-US" sz="1200" dirty="0"/>
          </a:p>
        </p:txBody>
      </p:sp>
      <p:sp>
        <p:nvSpPr>
          <p:cNvPr id="54" name="Text 51"/>
          <p:cNvSpPr txBox="1"/>
          <p:nvPr/>
        </p:nvSpPr>
        <p:spPr>
          <a:xfrm>
            <a:off x="7699248" y="2542032"/>
            <a:ext cx="2103120" cy="164592"/>
          </a:xfrm>
          <a:prstGeom prst="rect">
            <a:avLst/>
          </a:prstGeom>
          <a:noFill/>
          <a:ln/>
        </p:spPr>
        <p:txBody>
          <a:bodyPr wrap="square" lIns="0" tIns="0" rIns="0" bIns="0" rtlCol="0" anchor="ctr"/>
          <a:lstStyle/>
          <a:p>
            <a:pPr algn="l" indent="0" marL="0">
              <a:buNone/>
            </a:pPr>
            <a:r>
              <a:rPr lang="en-US" sz="650" b="1" dirty="0">
                <a:solidFill>
                  <a:srgbClr val="8FA1AC"/>
                </a:solidFill>
                <a:latin typeface="Poppins" pitchFamily="34" charset="0"/>
                <a:ea typeface="Poppins" pitchFamily="34" charset="-122"/>
                <a:cs typeface="Poppins" pitchFamily="34" charset="-120"/>
              </a:rPr>
              <a:t>REFERRER</a:t>
            </a:r>
            <a:endParaRPr lang="en-US" sz="650" dirty="0"/>
          </a:p>
        </p:txBody>
      </p:sp>
      <p:sp>
        <p:nvSpPr>
          <p:cNvPr id="55" name="Text 52"/>
          <p:cNvSpPr txBox="1"/>
          <p:nvPr/>
        </p:nvSpPr>
        <p:spPr>
          <a:xfrm>
            <a:off x="9921240" y="2542032"/>
            <a:ext cx="548640" cy="164592"/>
          </a:xfrm>
          <a:prstGeom prst="rect">
            <a:avLst/>
          </a:prstGeom>
          <a:noFill/>
          <a:ln/>
        </p:spPr>
        <p:txBody>
          <a:bodyPr wrap="square" lIns="0" tIns="0" rIns="0" bIns="0" rtlCol="0" anchor="ctr"/>
          <a:lstStyle/>
          <a:p>
            <a:pPr algn="r" indent="0" marL="0">
              <a:buNone/>
            </a:pPr>
            <a:r>
              <a:rPr lang="en-US" sz="650" b="1" dirty="0">
                <a:solidFill>
                  <a:srgbClr val="8FA1AC"/>
                </a:solidFill>
                <a:latin typeface="Poppins" pitchFamily="34" charset="0"/>
                <a:ea typeface="Poppins" pitchFamily="34" charset="-122"/>
                <a:cs typeface="Poppins" pitchFamily="34" charset="-120"/>
              </a:rPr>
              <a:t>GIVEN</a:t>
            </a:r>
            <a:endParaRPr lang="en-US" sz="650" dirty="0"/>
          </a:p>
        </p:txBody>
      </p:sp>
      <p:sp>
        <p:nvSpPr>
          <p:cNvPr id="56" name="Text 53"/>
          <p:cNvSpPr txBox="1"/>
          <p:nvPr/>
        </p:nvSpPr>
        <p:spPr>
          <a:xfrm>
            <a:off x="10561320" y="2542032"/>
            <a:ext cx="502920" cy="164592"/>
          </a:xfrm>
          <a:prstGeom prst="rect">
            <a:avLst/>
          </a:prstGeom>
          <a:noFill/>
          <a:ln/>
        </p:spPr>
        <p:txBody>
          <a:bodyPr wrap="square" lIns="0" tIns="0" rIns="0" bIns="0" rtlCol="0" anchor="ctr"/>
          <a:lstStyle/>
          <a:p>
            <a:pPr algn="r" indent="0" marL="0">
              <a:buNone/>
            </a:pPr>
            <a:r>
              <a:rPr lang="en-US" sz="650" b="1" dirty="0">
                <a:solidFill>
                  <a:srgbClr val="8FA1AC"/>
                </a:solidFill>
                <a:latin typeface="Poppins" pitchFamily="34" charset="0"/>
                <a:ea typeface="Poppins" pitchFamily="34" charset="-122"/>
                <a:cs typeface="Poppins" pitchFamily="34" charset="-120"/>
              </a:rPr>
              <a:t>WON</a:t>
            </a:r>
            <a:endParaRPr lang="en-US" sz="650" dirty="0"/>
          </a:p>
        </p:txBody>
      </p:sp>
      <p:sp>
        <p:nvSpPr>
          <p:cNvPr id="57" name="Text 54"/>
          <p:cNvSpPr txBox="1"/>
          <p:nvPr/>
        </p:nvSpPr>
        <p:spPr>
          <a:xfrm>
            <a:off x="11155680" y="2542032"/>
            <a:ext cx="457200" cy="164592"/>
          </a:xfrm>
          <a:prstGeom prst="rect">
            <a:avLst/>
          </a:prstGeom>
          <a:noFill/>
          <a:ln/>
        </p:spPr>
        <p:txBody>
          <a:bodyPr wrap="square" lIns="0" tIns="0" rIns="0" bIns="0" rtlCol="0" anchor="ctr"/>
          <a:lstStyle/>
          <a:p>
            <a:pPr algn="r" indent="0" marL="0">
              <a:buNone/>
            </a:pPr>
            <a:r>
              <a:rPr lang="en-US" sz="650" b="1" dirty="0">
                <a:solidFill>
                  <a:srgbClr val="8FA1AC"/>
                </a:solidFill>
                <a:latin typeface="Poppins" pitchFamily="34" charset="0"/>
                <a:ea typeface="Poppins" pitchFamily="34" charset="-122"/>
                <a:cs typeface="Poppins" pitchFamily="34" charset="-120"/>
              </a:rPr>
              <a:t>GMV</a:t>
            </a:r>
            <a:endParaRPr lang="en-US" sz="650" dirty="0"/>
          </a:p>
        </p:txBody>
      </p:sp>
      <p:sp>
        <p:nvSpPr>
          <p:cNvPr id="58" name="Text 55"/>
          <p:cNvSpPr txBox="1"/>
          <p:nvPr/>
        </p:nvSpPr>
        <p:spPr>
          <a:xfrm>
            <a:off x="7699248" y="2743200"/>
            <a:ext cx="2103120" cy="219456"/>
          </a:xfrm>
          <a:prstGeom prst="rect">
            <a:avLst/>
          </a:prstGeom>
          <a:noFill/>
          <a:ln/>
        </p:spPr>
        <p:txBody>
          <a:bodyPr wrap="square" lIns="0" tIns="0" rIns="0" bIns="0" rtlCol="0" anchor="ctr"/>
          <a:lstStyle/>
          <a:p>
            <a:pPr indent="0" marL="0">
              <a:buNone/>
            </a:pPr>
            <a:r>
              <a:rPr lang="en-US" sz="850" b="1" dirty="0">
                <a:solidFill>
                  <a:srgbClr val="12293A"/>
                </a:solidFill>
                <a:latin typeface="Poppins" pitchFamily="34" charset="0"/>
                <a:ea typeface="Poppins" pitchFamily="34" charset="-122"/>
                <a:cs typeface="Poppins" pitchFamily="34" charset="-120"/>
              </a:rPr>
              <a:t>Bjorn Magabo</a:t>
            </a:r>
            <a:endParaRPr lang="en-US" sz="850" dirty="0"/>
          </a:p>
        </p:txBody>
      </p:sp>
      <p:sp>
        <p:nvSpPr>
          <p:cNvPr id="59" name="Shape 56"/>
          <p:cNvSpPr/>
          <p:nvPr/>
        </p:nvSpPr>
        <p:spPr>
          <a:xfrm>
            <a:off x="7699248" y="2971800"/>
            <a:ext cx="2011680" cy="41148"/>
          </a:xfrm>
          <a:prstGeom prst="rect">
            <a:avLst/>
          </a:prstGeom>
          <a:solidFill>
            <a:srgbClr val="2C8394"/>
          </a:solidFill>
          <a:ln/>
        </p:spPr>
      </p:sp>
      <p:sp>
        <p:nvSpPr>
          <p:cNvPr id="60" name="Text 57"/>
          <p:cNvSpPr txBox="1"/>
          <p:nvPr/>
        </p:nvSpPr>
        <p:spPr>
          <a:xfrm>
            <a:off x="9921240" y="2743200"/>
            <a:ext cx="548640" cy="219456"/>
          </a:xfrm>
          <a:prstGeom prst="rect">
            <a:avLst/>
          </a:prstGeom>
          <a:noFill/>
          <a:ln/>
        </p:spPr>
        <p:txBody>
          <a:bodyPr wrap="square" lIns="0" tIns="0" rIns="0" bIns="0" rtlCol="0" anchor="ctr"/>
          <a:lstStyle/>
          <a:p>
            <a:pPr algn="r" indent="0" marL="0">
              <a:buNone/>
            </a:pPr>
            <a:r>
              <a:rPr lang="en-US" sz="850" b="1" dirty="0">
                <a:solidFill>
                  <a:srgbClr val="12293A"/>
                </a:solidFill>
                <a:latin typeface="Poppins" pitchFamily="34" charset="0"/>
                <a:ea typeface="Poppins" pitchFamily="34" charset="-122"/>
                <a:cs typeface="Poppins" pitchFamily="34" charset="-120"/>
              </a:rPr>
              <a:t>11</a:t>
            </a:r>
            <a:endParaRPr lang="en-US" sz="850" dirty="0"/>
          </a:p>
        </p:txBody>
      </p:sp>
      <p:sp>
        <p:nvSpPr>
          <p:cNvPr id="61" name="Text 58"/>
          <p:cNvSpPr txBox="1"/>
          <p:nvPr/>
        </p:nvSpPr>
        <p:spPr>
          <a:xfrm>
            <a:off x="10561320" y="2743200"/>
            <a:ext cx="502920" cy="219456"/>
          </a:xfrm>
          <a:prstGeom prst="rect">
            <a:avLst/>
          </a:prstGeom>
          <a:noFill/>
          <a:ln/>
        </p:spPr>
        <p:txBody>
          <a:bodyPr wrap="square" lIns="0" tIns="0" rIns="0" bIns="0" rtlCol="0" anchor="ctr"/>
          <a:lstStyle/>
          <a:p>
            <a:pPr algn="r" indent="0" marL="0">
              <a:buNone/>
            </a:pPr>
            <a:r>
              <a:rPr lang="en-US" sz="850" b="1" dirty="0">
                <a:solidFill>
                  <a:srgbClr val="3D8F5F"/>
                </a:solidFill>
                <a:latin typeface="Poppins" pitchFamily="34" charset="0"/>
                <a:ea typeface="Poppins" pitchFamily="34" charset="-122"/>
                <a:cs typeface="Poppins" pitchFamily="34" charset="-120"/>
              </a:rPr>
              <a:t>6</a:t>
            </a:r>
            <a:endParaRPr lang="en-US" sz="850" dirty="0"/>
          </a:p>
        </p:txBody>
      </p:sp>
      <p:sp>
        <p:nvSpPr>
          <p:cNvPr id="62" name="Text 59"/>
          <p:cNvSpPr txBox="1"/>
          <p:nvPr/>
        </p:nvSpPr>
        <p:spPr>
          <a:xfrm>
            <a:off x="11155680" y="2743200"/>
            <a:ext cx="457200" cy="219456"/>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$65M</a:t>
            </a:r>
            <a:endParaRPr lang="en-US" sz="850" dirty="0"/>
          </a:p>
        </p:txBody>
      </p:sp>
      <p:sp>
        <p:nvSpPr>
          <p:cNvPr id="63" name="Text 60"/>
          <p:cNvSpPr txBox="1"/>
          <p:nvPr/>
        </p:nvSpPr>
        <p:spPr>
          <a:xfrm>
            <a:off x="7699248" y="3108960"/>
            <a:ext cx="2103120" cy="219456"/>
          </a:xfrm>
          <a:prstGeom prst="rect">
            <a:avLst/>
          </a:prstGeom>
          <a:noFill/>
          <a:ln/>
        </p:spPr>
        <p:txBody>
          <a:bodyPr wrap="square" lIns="0" tIns="0" rIns="0" bIns="0" rtlCol="0" anchor="ctr"/>
          <a:lstStyle/>
          <a:p>
            <a:pPr indent="0" marL="0">
              <a:buNone/>
            </a:pPr>
            <a:r>
              <a:rPr lang="en-US" sz="850" b="1" dirty="0">
                <a:solidFill>
                  <a:srgbClr val="12293A"/>
                </a:solidFill>
                <a:latin typeface="Poppins" pitchFamily="34" charset="0"/>
                <a:ea typeface="Poppins" pitchFamily="34" charset="-122"/>
                <a:cs typeface="Poppins" pitchFamily="34" charset="-120"/>
              </a:rPr>
              <a:t>Bradford Young</a:t>
            </a:r>
            <a:endParaRPr lang="en-US" sz="850" dirty="0"/>
          </a:p>
        </p:txBody>
      </p:sp>
      <p:sp>
        <p:nvSpPr>
          <p:cNvPr id="64" name="Shape 61"/>
          <p:cNvSpPr/>
          <p:nvPr/>
        </p:nvSpPr>
        <p:spPr>
          <a:xfrm>
            <a:off x="7699248" y="3337560"/>
            <a:ext cx="1645920" cy="41148"/>
          </a:xfrm>
          <a:prstGeom prst="rect">
            <a:avLst/>
          </a:prstGeom>
          <a:solidFill>
            <a:srgbClr val="2C8394"/>
          </a:solidFill>
          <a:ln/>
        </p:spPr>
      </p:sp>
      <p:sp>
        <p:nvSpPr>
          <p:cNvPr id="65" name="Text 62"/>
          <p:cNvSpPr txBox="1"/>
          <p:nvPr/>
        </p:nvSpPr>
        <p:spPr>
          <a:xfrm>
            <a:off x="9921240" y="3108960"/>
            <a:ext cx="548640" cy="219456"/>
          </a:xfrm>
          <a:prstGeom prst="rect">
            <a:avLst/>
          </a:prstGeom>
          <a:noFill/>
          <a:ln/>
        </p:spPr>
        <p:txBody>
          <a:bodyPr wrap="square" lIns="0" tIns="0" rIns="0" bIns="0" rtlCol="0" anchor="ctr"/>
          <a:lstStyle/>
          <a:p>
            <a:pPr algn="r" indent="0" marL="0">
              <a:buNone/>
            </a:pPr>
            <a:r>
              <a:rPr lang="en-US" sz="850" b="1" dirty="0">
                <a:solidFill>
                  <a:srgbClr val="12293A"/>
                </a:solidFill>
                <a:latin typeface="Poppins" pitchFamily="34" charset="0"/>
                <a:ea typeface="Poppins" pitchFamily="34" charset="-122"/>
                <a:cs typeface="Poppins" pitchFamily="34" charset="-120"/>
              </a:rPr>
              <a:t>9</a:t>
            </a:r>
            <a:endParaRPr lang="en-US" sz="850" dirty="0"/>
          </a:p>
        </p:txBody>
      </p:sp>
      <p:sp>
        <p:nvSpPr>
          <p:cNvPr id="66" name="Text 63"/>
          <p:cNvSpPr txBox="1"/>
          <p:nvPr/>
        </p:nvSpPr>
        <p:spPr>
          <a:xfrm>
            <a:off x="10561320" y="3108960"/>
            <a:ext cx="502920" cy="219456"/>
          </a:xfrm>
          <a:prstGeom prst="rect">
            <a:avLst/>
          </a:prstGeom>
          <a:noFill/>
          <a:ln/>
        </p:spPr>
        <p:txBody>
          <a:bodyPr wrap="square" lIns="0" tIns="0" rIns="0" bIns="0" rtlCol="0" anchor="ctr"/>
          <a:lstStyle/>
          <a:p>
            <a:pPr algn="r" indent="0" marL="0">
              <a:buNone/>
            </a:pPr>
            <a:r>
              <a:rPr lang="en-US" sz="850" b="1" dirty="0">
                <a:solidFill>
                  <a:srgbClr val="3D8F5F"/>
                </a:solidFill>
                <a:latin typeface="Poppins" pitchFamily="34" charset="0"/>
                <a:ea typeface="Poppins" pitchFamily="34" charset="-122"/>
                <a:cs typeface="Poppins" pitchFamily="34" charset="-120"/>
              </a:rPr>
              <a:t>5</a:t>
            </a:r>
            <a:endParaRPr lang="en-US" sz="850" dirty="0"/>
          </a:p>
        </p:txBody>
      </p:sp>
      <p:sp>
        <p:nvSpPr>
          <p:cNvPr id="67" name="Text 64"/>
          <p:cNvSpPr txBox="1"/>
          <p:nvPr/>
        </p:nvSpPr>
        <p:spPr>
          <a:xfrm>
            <a:off x="11155680" y="3108960"/>
            <a:ext cx="457200" cy="219456"/>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$31M</a:t>
            </a:r>
            <a:endParaRPr lang="en-US" sz="850" dirty="0"/>
          </a:p>
        </p:txBody>
      </p:sp>
      <p:sp>
        <p:nvSpPr>
          <p:cNvPr id="68" name="Text 65"/>
          <p:cNvSpPr txBox="1"/>
          <p:nvPr/>
        </p:nvSpPr>
        <p:spPr>
          <a:xfrm>
            <a:off x="7699248" y="3474720"/>
            <a:ext cx="2103120" cy="219456"/>
          </a:xfrm>
          <a:prstGeom prst="rect">
            <a:avLst/>
          </a:prstGeom>
          <a:noFill/>
          <a:ln/>
        </p:spPr>
        <p:txBody>
          <a:bodyPr wrap="square" lIns="0" tIns="0" rIns="0" bIns="0" rtlCol="0" anchor="ctr"/>
          <a:lstStyle/>
          <a:p>
            <a:pPr indent="0" marL="0">
              <a:buNone/>
            </a:pPr>
            <a:r>
              <a:rPr lang="en-US" sz="850" b="1" dirty="0">
                <a:solidFill>
                  <a:srgbClr val="12293A"/>
                </a:solidFill>
                <a:latin typeface="Poppins" pitchFamily="34" charset="0"/>
                <a:ea typeface="Poppins" pitchFamily="34" charset="-122"/>
                <a:cs typeface="Poppins" pitchFamily="34" charset="-120"/>
              </a:rPr>
              <a:t>Brett Gorman</a:t>
            </a:r>
            <a:endParaRPr lang="en-US" sz="850" dirty="0"/>
          </a:p>
        </p:txBody>
      </p:sp>
      <p:sp>
        <p:nvSpPr>
          <p:cNvPr id="69" name="Shape 66"/>
          <p:cNvSpPr/>
          <p:nvPr/>
        </p:nvSpPr>
        <p:spPr>
          <a:xfrm>
            <a:off x="7699248" y="3703320"/>
            <a:ext cx="1097280" cy="41148"/>
          </a:xfrm>
          <a:prstGeom prst="rect">
            <a:avLst/>
          </a:prstGeom>
          <a:solidFill>
            <a:srgbClr val="2C8394"/>
          </a:solidFill>
          <a:ln/>
        </p:spPr>
      </p:sp>
      <p:sp>
        <p:nvSpPr>
          <p:cNvPr id="70" name="Text 67"/>
          <p:cNvSpPr txBox="1"/>
          <p:nvPr/>
        </p:nvSpPr>
        <p:spPr>
          <a:xfrm>
            <a:off x="9921240" y="3474720"/>
            <a:ext cx="548640" cy="219456"/>
          </a:xfrm>
          <a:prstGeom prst="rect">
            <a:avLst/>
          </a:prstGeom>
          <a:noFill/>
          <a:ln/>
        </p:spPr>
        <p:txBody>
          <a:bodyPr wrap="square" lIns="0" tIns="0" rIns="0" bIns="0" rtlCol="0" anchor="ctr"/>
          <a:lstStyle/>
          <a:p>
            <a:pPr algn="r" indent="0" marL="0">
              <a:buNone/>
            </a:pPr>
            <a:r>
              <a:rPr lang="en-US" sz="850" b="1" dirty="0">
                <a:solidFill>
                  <a:srgbClr val="12293A"/>
                </a:solidFill>
                <a:latin typeface="Poppins" pitchFamily="34" charset="0"/>
                <a:ea typeface="Poppins" pitchFamily="34" charset="-122"/>
                <a:cs typeface="Poppins" pitchFamily="34" charset="-120"/>
              </a:rPr>
              <a:t>6</a:t>
            </a:r>
            <a:endParaRPr lang="en-US" sz="850" dirty="0"/>
          </a:p>
        </p:txBody>
      </p:sp>
      <p:sp>
        <p:nvSpPr>
          <p:cNvPr id="71" name="Text 68"/>
          <p:cNvSpPr txBox="1"/>
          <p:nvPr/>
        </p:nvSpPr>
        <p:spPr>
          <a:xfrm>
            <a:off x="10561320" y="3474720"/>
            <a:ext cx="502920" cy="219456"/>
          </a:xfrm>
          <a:prstGeom prst="rect">
            <a:avLst/>
          </a:prstGeom>
          <a:noFill/>
          <a:ln/>
        </p:spPr>
        <p:txBody>
          <a:bodyPr wrap="square" lIns="0" tIns="0" rIns="0" bIns="0" rtlCol="0" anchor="ctr"/>
          <a:lstStyle/>
          <a:p>
            <a:pPr algn="r" indent="0" marL="0">
              <a:buNone/>
            </a:pPr>
            <a:r>
              <a:rPr lang="en-US" sz="850" b="1" dirty="0">
                <a:solidFill>
                  <a:srgbClr val="8FA1AC"/>
                </a:solidFill>
                <a:latin typeface="Poppins" pitchFamily="34" charset="0"/>
                <a:ea typeface="Poppins" pitchFamily="34" charset="-122"/>
                <a:cs typeface="Poppins" pitchFamily="34" charset="-120"/>
              </a:rPr>
              <a:t>0</a:t>
            </a:r>
            <a:endParaRPr lang="en-US" sz="850" dirty="0"/>
          </a:p>
        </p:txBody>
      </p:sp>
      <p:sp>
        <p:nvSpPr>
          <p:cNvPr id="72" name="Text 69"/>
          <p:cNvSpPr txBox="1"/>
          <p:nvPr/>
        </p:nvSpPr>
        <p:spPr>
          <a:xfrm>
            <a:off x="11155680" y="3474720"/>
            <a:ext cx="457200" cy="219456"/>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$146M</a:t>
            </a:r>
            <a:endParaRPr lang="en-US" sz="850" dirty="0"/>
          </a:p>
        </p:txBody>
      </p:sp>
      <p:sp>
        <p:nvSpPr>
          <p:cNvPr id="73" name="Text 70"/>
          <p:cNvSpPr txBox="1"/>
          <p:nvPr/>
        </p:nvSpPr>
        <p:spPr>
          <a:xfrm>
            <a:off x="7699248" y="3840480"/>
            <a:ext cx="2103120" cy="219456"/>
          </a:xfrm>
          <a:prstGeom prst="rect">
            <a:avLst/>
          </a:prstGeom>
          <a:noFill/>
          <a:ln/>
        </p:spPr>
        <p:txBody>
          <a:bodyPr wrap="square" lIns="0" tIns="0" rIns="0" bIns="0" rtlCol="0" anchor="ctr"/>
          <a:lstStyle/>
          <a:p>
            <a:pPr indent="0" marL="0">
              <a:buNone/>
            </a:pPr>
            <a:r>
              <a:rPr lang="en-US" sz="850" b="1" dirty="0">
                <a:solidFill>
                  <a:srgbClr val="12293A"/>
                </a:solidFill>
                <a:latin typeface="Poppins" pitchFamily="34" charset="0"/>
                <a:ea typeface="Poppins" pitchFamily="34" charset="-122"/>
                <a:cs typeface="Poppins" pitchFamily="34" charset="-120"/>
              </a:rPr>
              <a:t>Mick Teasdale</a:t>
            </a:r>
            <a:endParaRPr lang="en-US" sz="850" dirty="0"/>
          </a:p>
        </p:txBody>
      </p:sp>
      <p:sp>
        <p:nvSpPr>
          <p:cNvPr id="74" name="Shape 71"/>
          <p:cNvSpPr/>
          <p:nvPr/>
        </p:nvSpPr>
        <p:spPr>
          <a:xfrm>
            <a:off x="7699248" y="4069080"/>
            <a:ext cx="731520" cy="41148"/>
          </a:xfrm>
          <a:prstGeom prst="rect">
            <a:avLst/>
          </a:prstGeom>
          <a:solidFill>
            <a:srgbClr val="2C8394"/>
          </a:solidFill>
          <a:ln/>
        </p:spPr>
      </p:sp>
      <p:sp>
        <p:nvSpPr>
          <p:cNvPr id="75" name="Text 72"/>
          <p:cNvSpPr txBox="1"/>
          <p:nvPr/>
        </p:nvSpPr>
        <p:spPr>
          <a:xfrm>
            <a:off x="9921240" y="3840480"/>
            <a:ext cx="548640" cy="219456"/>
          </a:xfrm>
          <a:prstGeom prst="rect">
            <a:avLst/>
          </a:prstGeom>
          <a:noFill/>
          <a:ln/>
        </p:spPr>
        <p:txBody>
          <a:bodyPr wrap="square" lIns="0" tIns="0" rIns="0" bIns="0" rtlCol="0" anchor="ctr"/>
          <a:lstStyle/>
          <a:p>
            <a:pPr algn="r" indent="0" marL="0">
              <a:buNone/>
            </a:pPr>
            <a:r>
              <a:rPr lang="en-US" sz="850" b="1" dirty="0">
                <a:solidFill>
                  <a:srgbClr val="12293A"/>
                </a:solidFill>
                <a:latin typeface="Poppins" pitchFamily="34" charset="0"/>
                <a:ea typeface="Poppins" pitchFamily="34" charset="-122"/>
                <a:cs typeface="Poppins" pitchFamily="34" charset="-120"/>
              </a:rPr>
              <a:t>4</a:t>
            </a:r>
            <a:endParaRPr lang="en-US" sz="850" dirty="0"/>
          </a:p>
        </p:txBody>
      </p:sp>
      <p:sp>
        <p:nvSpPr>
          <p:cNvPr id="76" name="Text 73"/>
          <p:cNvSpPr txBox="1"/>
          <p:nvPr/>
        </p:nvSpPr>
        <p:spPr>
          <a:xfrm>
            <a:off x="10561320" y="3840480"/>
            <a:ext cx="502920" cy="219456"/>
          </a:xfrm>
          <a:prstGeom prst="rect">
            <a:avLst/>
          </a:prstGeom>
          <a:noFill/>
          <a:ln/>
        </p:spPr>
        <p:txBody>
          <a:bodyPr wrap="square" lIns="0" tIns="0" rIns="0" bIns="0" rtlCol="0" anchor="ctr"/>
          <a:lstStyle/>
          <a:p>
            <a:pPr algn="r" indent="0" marL="0">
              <a:buNone/>
            </a:pPr>
            <a:r>
              <a:rPr lang="en-US" sz="850" b="1" dirty="0">
                <a:solidFill>
                  <a:srgbClr val="3D8F5F"/>
                </a:solidFill>
                <a:latin typeface="Poppins" pitchFamily="34" charset="0"/>
                <a:ea typeface="Poppins" pitchFamily="34" charset="-122"/>
                <a:cs typeface="Poppins" pitchFamily="34" charset="-120"/>
              </a:rPr>
              <a:t>2</a:t>
            </a:r>
            <a:endParaRPr lang="en-US" sz="850" dirty="0"/>
          </a:p>
        </p:txBody>
      </p:sp>
      <p:sp>
        <p:nvSpPr>
          <p:cNvPr id="77" name="Text 74"/>
          <p:cNvSpPr txBox="1"/>
          <p:nvPr/>
        </p:nvSpPr>
        <p:spPr>
          <a:xfrm>
            <a:off x="11155680" y="3840480"/>
            <a:ext cx="457200" cy="219456"/>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$5M</a:t>
            </a:r>
            <a:endParaRPr lang="en-US" sz="850" dirty="0"/>
          </a:p>
        </p:txBody>
      </p:sp>
      <p:sp>
        <p:nvSpPr>
          <p:cNvPr id="78" name="Text 75"/>
          <p:cNvSpPr txBox="1"/>
          <p:nvPr/>
        </p:nvSpPr>
        <p:spPr>
          <a:xfrm>
            <a:off x="7699248" y="4206240"/>
            <a:ext cx="2103120" cy="219456"/>
          </a:xfrm>
          <a:prstGeom prst="rect">
            <a:avLst/>
          </a:prstGeom>
          <a:noFill/>
          <a:ln/>
        </p:spPr>
        <p:txBody>
          <a:bodyPr wrap="square" lIns="0" tIns="0" rIns="0" bIns="0" rtlCol="0" anchor="ctr"/>
          <a:lstStyle/>
          <a:p>
            <a:pPr indent="0" marL="0">
              <a:buNone/>
            </a:pPr>
            <a:r>
              <a:rPr lang="en-US" sz="850" b="1" dirty="0">
                <a:solidFill>
                  <a:srgbClr val="12293A"/>
                </a:solidFill>
                <a:latin typeface="Poppins" pitchFamily="34" charset="0"/>
                <a:ea typeface="Poppins" pitchFamily="34" charset="-122"/>
                <a:cs typeface="Poppins" pitchFamily="34" charset="-120"/>
              </a:rPr>
              <a:t>Phuong Ho</a:t>
            </a:r>
            <a:endParaRPr lang="en-US" sz="850" dirty="0"/>
          </a:p>
        </p:txBody>
      </p:sp>
      <p:sp>
        <p:nvSpPr>
          <p:cNvPr id="79" name="Shape 76"/>
          <p:cNvSpPr/>
          <p:nvPr/>
        </p:nvSpPr>
        <p:spPr>
          <a:xfrm>
            <a:off x="7699248" y="4434840"/>
            <a:ext cx="548640" cy="41148"/>
          </a:xfrm>
          <a:prstGeom prst="rect">
            <a:avLst/>
          </a:prstGeom>
          <a:solidFill>
            <a:srgbClr val="2C8394"/>
          </a:solidFill>
          <a:ln/>
        </p:spPr>
      </p:sp>
      <p:sp>
        <p:nvSpPr>
          <p:cNvPr id="80" name="Text 77"/>
          <p:cNvSpPr txBox="1"/>
          <p:nvPr/>
        </p:nvSpPr>
        <p:spPr>
          <a:xfrm>
            <a:off x="9921240" y="4206240"/>
            <a:ext cx="548640" cy="219456"/>
          </a:xfrm>
          <a:prstGeom prst="rect">
            <a:avLst/>
          </a:prstGeom>
          <a:noFill/>
          <a:ln/>
        </p:spPr>
        <p:txBody>
          <a:bodyPr wrap="square" lIns="0" tIns="0" rIns="0" bIns="0" rtlCol="0" anchor="ctr"/>
          <a:lstStyle/>
          <a:p>
            <a:pPr algn="r" indent="0" marL="0">
              <a:buNone/>
            </a:pPr>
            <a:r>
              <a:rPr lang="en-US" sz="850" b="1" dirty="0">
                <a:solidFill>
                  <a:srgbClr val="12293A"/>
                </a:solidFill>
                <a:latin typeface="Poppins" pitchFamily="34" charset="0"/>
                <a:ea typeface="Poppins" pitchFamily="34" charset="-122"/>
                <a:cs typeface="Poppins" pitchFamily="34" charset="-120"/>
              </a:rPr>
              <a:t>3</a:t>
            </a:r>
            <a:endParaRPr lang="en-US" sz="850" dirty="0"/>
          </a:p>
        </p:txBody>
      </p:sp>
      <p:sp>
        <p:nvSpPr>
          <p:cNvPr id="81" name="Text 78"/>
          <p:cNvSpPr txBox="1"/>
          <p:nvPr/>
        </p:nvSpPr>
        <p:spPr>
          <a:xfrm>
            <a:off x="10561320" y="4206240"/>
            <a:ext cx="502920" cy="219456"/>
          </a:xfrm>
          <a:prstGeom prst="rect">
            <a:avLst/>
          </a:prstGeom>
          <a:noFill/>
          <a:ln/>
        </p:spPr>
        <p:txBody>
          <a:bodyPr wrap="square" lIns="0" tIns="0" rIns="0" bIns="0" rtlCol="0" anchor="ctr"/>
          <a:lstStyle/>
          <a:p>
            <a:pPr algn="r" indent="0" marL="0">
              <a:buNone/>
            </a:pPr>
            <a:r>
              <a:rPr lang="en-US" sz="850" b="1" dirty="0">
                <a:solidFill>
                  <a:srgbClr val="3D8F5F"/>
                </a:solidFill>
                <a:latin typeface="Poppins" pitchFamily="34" charset="0"/>
                <a:ea typeface="Poppins" pitchFamily="34" charset="-122"/>
                <a:cs typeface="Poppins" pitchFamily="34" charset="-120"/>
              </a:rPr>
              <a:t>1</a:t>
            </a:r>
            <a:endParaRPr lang="en-US" sz="850" dirty="0"/>
          </a:p>
        </p:txBody>
      </p:sp>
      <p:sp>
        <p:nvSpPr>
          <p:cNvPr id="82" name="Text 79"/>
          <p:cNvSpPr txBox="1"/>
          <p:nvPr/>
        </p:nvSpPr>
        <p:spPr>
          <a:xfrm>
            <a:off x="11155680" y="4206240"/>
            <a:ext cx="457200" cy="219456"/>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$23M</a:t>
            </a:r>
            <a:endParaRPr lang="en-US" sz="850" dirty="0"/>
          </a:p>
        </p:txBody>
      </p:sp>
      <p:sp>
        <p:nvSpPr>
          <p:cNvPr id="83" name="Text 80"/>
          <p:cNvSpPr txBox="1"/>
          <p:nvPr/>
        </p:nvSpPr>
        <p:spPr>
          <a:xfrm>
            <a:off x="7699248" y="4572000"/>
            <a:ext cx="2103120" cy="219456"/>
          </a:xfrm>
          <a:prstGeom prst="rect">
            <a:avLst/>
          </a:prstGeom>
          <a:noFill/>
          <a:ln/>
        </p:spPr>
        <p:txBody>
          <a:bodyPr wrap="square" lIns="0" tIns="0" rIns="0" bIns="0" rtlCol="0" anchor="ctr"/>
          <a:lstStyle/>
          <a:p>
            <a:pPr indent="0" marL="0">
              <a:buNone/>
            </a:pPr>
            <a:r>
              <a:rPr lang="en-US" sz="850" b="1" dirty="0">
                <a:solidFill>
                  <a:srgbClr val="8FA1AC"/>
                </a:solidFill>
                <a:latin typeface="Poppins" pitchFamily="34" charset="0"/>
                <a:ea typeface="Poppins" pitchFamily="34" charset="-122"/>
                <a:cs typeface="Poppins" pitchFamily="34" charset="-120"/>
              </a:rPr>
              <a:t>Unattributed</a:t>
            </a:r>
            <a:endParaRPr lang="en-US" sz="850" dirty="0"/>
          </a:p>
        </p:txBody>
      </p:sp>
      <p:sp>
        <p:nvSpPr>
          <p:cNvPr id="84" name="Shape 81"/>
          <p:cNvSpPr/>
          <p:nvPr/>
        </p:nvSpPr>
        <p:spPr>
          <a:xfrm>
            <a:off x="7699248" y="4800600"/>
            <a:ext cx="182880" cy="41148"/>
          </a:xfrm>
          <a:prstGeom prst="rect">
            <a:avLst/>
          </a:prstGeom>
          <a:solidFill>
            <a:srgbClr val="2C8394"/>
          </a:solidFill>
          <a:ln/>
        </p:spPr>
      </p:sp>
      <p:sp>
        <p:nvSpPr>
          <p:cNvPr id="85" name="Text 82"/>
          <p:cNvSpPr txBox="1"/>
          <p:nvPr/>
        </p:nvSpPr>
        <p:spPr>
          <a:xfrm>
            <a:off x="9921240" y="4572000"/>
            <a:ext cx="548640" cy="219456"/>
          </a:xfrm>
          <a:prstGeom prst="rect">
            <a:avLst/>
          </a:prstGeom>
          <a:noFill/>
          <a:ln/>
        </p:spPr>
        <p:txBody>
          <a:bodyPr wrap="square" lIns="0" tIns="0" rIns="0" bIns="0" rtlCol="0" anchor="ctr"/>
          <a:lstStyle/>
          <a:p>
            <a:pPr algn="r" indent="0" marL="0">
              <a:buNone/>
            </a:pPr>
            <a:r>
              <a:rPr lang="en-US" sz="850" b="1" dirty="0">
                <a:solidFill>
                  <a:srgbClr val="12293A"/>
                </a:solidFill>
                <a:latin typeface="Poppins" pitchFamily="34" charset="0"/>
                <a:ea typeface="Poppins" pitchFamily="34" charset="-122"/>
                <a:cs typeface="Poppins" pitchFamily="34" charset="-120"/>
              </a:rPr>
              <a:t>1</a:t>
            </a:r>
            <a:endParaRPr lang="en-US" sz="850" dirty="0"/>
          </a:p>
        </p:txBody>
      </p:sp>
      <p:sp>
        <p:nvSpPr>
          <p:cNvPr id="86" name="Text 83"/>
          <p:cNvSpPr txBox="1"/>
          <p:nvPr/>
        </p:nvSpPr>
        <p:spPr>
          <a:xfrm>
            <a:off x="10561320" y="4572000"/>
            <a:ext cx="502920" cy="219456"/>
          </a:xfrm>
          <a:prstGeom prst="rect">
            <a:avLst/>
          </a:prstGeom>
          <a:noFill/>
          <a:ln/>
        </p:spPr>
        <p:txBody>
          <a:bodyPr wrap="square" lIns="0" tIns="0" rIns="0" bIns="0" rtlCol="0" anchor="ctr"/>
          <a:lstStyle/>
          <a:p>
            <a:pPr algn="r" indent="0" marL="0">
              <a:buNone/>
            </a:pPr>
            <a:r>
              <a:rPr lang="en-US" sz="850" b="1" dirty="0">
                <a:solidFill>
                  <a:srgbClr val="8FA1AC"/>
                </a:solidFill>
                <a:latin typeface="Poppins" pitchFamily="34" charset="0"/>
                <a:ea typeface="Poppins" pitchFamily="34" charset="-122"/>
                <a:cs typeface="Poppins" pitchFamily="34" charset="-120"/>
              </a:rPr>
              <a:t>0</a:t>
            </a:r>
            <a:endParaRPr lang="en-US" sz="850" dirty="0"/>
          </a:p>
        </p:txBody>
      </p:sp>
      <p:sp>
        <p:nvSpPr>
          <p:cNvPr id="87" name="Text 84"/>
          <p:cNvSpPr txBox="1"/>
          <p:nvPr/>
        </p:nvSpPr>
        <p:spPr>
          <a:xfrm>
            <a:off x="11155680" y="4572000"/>
            <a:ext cx="457200" cy="219456"/>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$15M</a:t>
            </a:r>
            <a:endParaRPr lang="en-US" sz="850" dirty="0"/>
          </a:p>
        </p:txBody>
      </p:sp>
      <p:sp>
        <p:nvSpPr>
          <p:cNvPr id="88" name="Text 85"/>
          <p:cNvSpPr txBox="1"/>
          <p:nvPr/>
        </p:nvSpPr>
        <p:spPr>
          <a:xfrm>
            <a:off x="7699248" y="4956048"/>
            <a:ext cx="3877056" cy="201168"/>
          </a:xfrm>
          <a:prstGeom prst="rect">
            <a:avLst/>
          </a:prstGeom>
          <a:noFill/>
          <a:ln/>
        </p:spPr>
        <p:txBody>
          <a:bodyPr wrap="square" lIns="0" tIns="0" rIns="0" bIns="0" rtlCol="0" anchor="t"/>
          <a:lstStyle/>
          <a:p>
            <a:pPr indent="0" marL="0">
              <a:buNone/>
            </a:pPr>
            <a:r>
              <a:rPr lang="en-US" sz="580" dirty="0">
                <a:solidFill>
                  <a:srgbClr val="8FA1AC"/>
                </a:solidFill>
                <a:latin typeface="Poppins" pitchFamily="34" charset="0"/>
                <a:ea typeface="Poppins" pitchFamily="34" charset="-122"/>
                <a:cs typeface="Poppins" pitchFamily="34" charset="-120"/>
              </a:rPr>
              <a:t>6 deals untagged — referral figures are a floor. Referrer = Account Manager on the deal. The 19 Oct workbook is byte-identical to the 6 and 12 Oct drops: no new identifications, referrals or wins for a fifth week.</a:t>
            </a:r>
            <a:endParaRPr lang="en-US" sz="580" dirty="0"/>
          </a:p>
        </p:txBody>
      </p:sp>
      <p:sp>
        <p:nvSpPr>
          <p:cNvPr id="89" name="Shape 86"/>
          <p:cNvSpPr/>
          <p:nvPr/>
        </p:nvSpPr>
        <p:spPr>
          <a:xfrm>
            <a:off x="411480" y="5285232"/>
            <a:ext cx="11365992" cy="1133856"/>
          </a:xfrm>
          <a:prstGeom prst="roundRect">
            <a:avLst>
              <a:gd name="adj" fmla="val 5645"/>
            </a:avLst>
          </a:prstGeom>
          <a:solidFill>
            <a:srgbClr val="FFFFFF"/>
          </a:solidFill>
          <a:ln/>
          <a:effectLst>
            <a:outerShdw sx="100000" sy="100000" kx="0" ky="0" algn="bl" rotWithShape="0" blurRad="76200" dist="25400" dir="5400000">
              <a:srgbClr val="9AAAB5">
                <a:alpha val="35000"/>
              </a:srgbClr>
            </a:outerShdw>
          </a:effectLst>
        </p:spPr>
      </p:sp>
      <p:sp>
        <p:nvSpPr>
          <p:cNvPr id="90" name="Text 87"/>
          <p:cNvSpPr txBox="1"/>
          <p:nvPr/>
        </p:nvSpPr>
        <p:spPr>
          <a:xfrm>
            <a:off x="612648" y="5394960"/>
            <a:ext cx="11000232"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AI SUMMARY</a:t>
            </a:r>
            <a:endParaRPr lang="en-US" sz="1200" dirty="0"/>
          </a:p>
        </p:txBody>
      </p:sp>
      <p:sp>
        <p:nvSpPr>
          <p:cNvPr id="91" name="Text 88"/>
          <p:cNvSpPr txBox="1"/>
          <p:nvPr/>
        </p:nvSpPr>
        <p:spPr>
          <a:xfrm>
            <a:off x="612648" y="5705856"/>
            <a:ext cx="10954512" cy="585216"/>
          </a:xfrm>
          <a:prstGeom prst="rect">
            <a:avLst/>
          </a:prstGeom>
          <a:noFill/>
          <a:ln/>
        </p:spPr>
        <p:txBody>
          <a:bodyPr wrap="square" lIns="0" tIns="0" rIns="0" bIns="0" rtlCol="0" anchor="t"/>
          <a:lstStyle/>
          <a:p>
            <a:pPr indent="0" marL="0">
              <a:buNone/>
            </a:pPr>
            <a:r>
              <a:rPr lang="en-US" sz="900" b="1" dirty="0">
                <a:solidFill>
                  <a:srgbClr val="B4552D"/>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Our referrals convert: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34 referred deals have produced 14 wins worth $38M GMV — 39% of everything H&amp;L Pay has signed — with $245M more in negotiation. Flow: 6 (Jun) → 2 (Jul) → 5 (Aug), 27 YTD.</a:t>
            </a:r>
            <a:endParaRPr lang="en-US" sz="900" dirty="0"/>
          </a:p>
          <a:p>
            <a:pPr indent="0" marL="0">
              <a:buNone/>
            </a:pPr>
            <a:r>
              <a:rPr lang="en-US" sz="900" b="1" dirty="0">
                <a:solidFill>
                  <a:srgbClr val="2C8394"/>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Identification is now tracked ahead of referral: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34 accounts flagged (32 unique venues) but only 10 carry a referral date — converting identified into referred is the gap. Ho (13) and Bradford (11) identify; Bjorn has flagged 4 and referred none.</a:t>
            </a:r>
            <a:endParaRPr lang="en-US" sz="900" dirty="0"/>
          </a:p>
        </p:txBody>
      </p:sp>
      <p:sp>
        <p:nvSpPr>
          <p:cNvPr id="92" name="Shape 89"/>
          <p:cNvSpPr/>
          <p:nvPr/>
        </p:nvSpPr>
        <p:spPr>
          <a:xfrm>
            <a:off x="6653174" y="6510528"/>
            <a:ext cx="5124298" cy="256032"/>
          </a:xfrm>
          <a:prstGeom prst="roundRect">
            <a:avLst>
              <a:gd name="adj" fmla="val 46429"/>
            </a:avLst>
          </a:prstGeom>
          <a:solidFill>
            <a:srgbClr val="12293A"/>
          </a:solidFill>
          <a:ln/>
        </p:spPr>
      </p:sp>
      <p:sp>
        <p:nvSpPr>
          <p:cNvPr id="93" name="Text 90"/>
          <p:cNvSpPr txBox="1"/>
          <p:nvPr/>
        </p:nvSpPr>
        <p:spPr>
          <a:xfrm>
            <a:off x="6653174" y="6510528"/>
            <a:ext cx="5124298" cy="256032"/>
          </a:xfrm>
          <a:prstGeom prst="rect">
            <a:avLst/>
          </a:prstGeom>
          <a:noFill/>
          <a:ln/>
        </p:spPr>
        <p:txBody>
          <a:bodyPr wrap="square" lIns="0" tIns="0" rIns="0" bIns="0" rtlCol="0" anchor="ctr"/>
          <a:lstStyle/>
          <a:p>
            <a:pPr algn="ctr" indent="0" marL="0">
              <a:buNone/>
            </a:pPr>
            <a:r>
              <a:rPr lang="en-US" sz="700" b="1" dirty="0">
                <a:solidFill>
                  <a:srgbClr val="FFFFFF"/>
                </a:solidFill>
                <a:latin typeface="Poppins" pitchFamily="34" charset="0"/>
                <a:ea typeface="Poppins" pitchFamily="34" charset="-122"/>
                <a:cs typeface="Poppins" pitchFamily="34" charset="-120"/>
              </a:rPr>
              <a:t>Source: H&amp;L identification register + ValPay export · workbook received 19 Oct</a:t>
            </a:r>
            <a:endParaRPr lang="en-US" sz="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2F6F8"/>
        </a:solidFill>
      </p:bgPr>
    </p:bg>
    <p:spTree>
      <p:nvGrpSpPr>
        <p:cNvPr id="1" name=""/>
        <p:cNvGrpSpPr/>
        <p:nvPr/>
      </p:nvGrpSpPr>
      <p:grpSpPr>
        <a:xfrm>
          <a:off x="0" y="0"/>
          <a:ext cx="0" cy="0"/>
          <a:chOff x="0" y="0"/>
          <a:chExt cx="0" cy="0"/>
        </a:xfrm>
      </p:grpSpPr>
      <p:sp>
        <p:nvSpPr>
          <p:cNvPr id="2" name="Shape 0"/>
          <p:cNvSpPr/>
          <p:nvPr/>
        </p:nvSpPr>
        <p:spPr>
          <a:xfrm>
            <a:off x="0" y="0"/>
            <a:ext cx="12188952" cy="841248"/>
          </a:xfrm>
          <a:prstGeom prst="rect">
            <a:avLst/>
          </a:prstGeom>
          <a:solidFill>
            <a:srgbClr val="12293A"/>
          </a:solidFill>
          <a:ln/>
        </p:spPr>
      </p:sp>
      <p:sp>
        <p:nvSpPr>
          <p:cNvPr id="3" name="Shape 1"/>
          <p:cNvSpPr/>
          <p:nvPr/>
        </p:nvSpPr>
        <p:spPr>
          <a:xfrm>
            <a:off x="384048" y="155448"/>
            <a:ext cx="731520" cy="530352"/>
          </a:xfrm>
          <a:prstGeom prst="roundRect">
            <a:avLst>
              <a:gd name="adj" fmla="val 15517"/>
            </a:avLst>
          </a:prstGeom>
          <a:solidFill>
            <a:srgbClr val="FFFFFF"/>
          </a:solidFill>
          <a:ln/>
        </p:spPr>
      </p:sp>
      <p:sp>
        <p:nvSpPr>
          <p:cNvPr id="4" name="Text 2"/>
          <p:cNvSpPr txBox="1"/>
          <p:nvPr/>
        </p:nvSpPr>
        <p:spPr>
          <a:xfrm>
            <a:off x="384048" y="155448"/>
            <a:ext cx="731520" cy="530352"/>
          </a:xfrm>
          <a:prstGeom prst="rect">
            <a:avLst/>
          </a:prstGeom>
          <a:noFill/>
          <a:ln/>
        </p:spPr>
        <p:txBody>
          <a:bodyPr wrap="square" lIns="0" tIns="0" rIns="0" bIns="0" rtlCol="0" anchor="ctr"/>
          <a:lstStyle/>
          <a:p>
            <a:pPr algn="ctr" indent="0" marL="0">
              <a:buNone/>
            </a:pPr>
            <a:r>
              <a:rPr lang="en-US" sz="1500" b="1" dirty="0">
                <a:solidFill>
                  <a:srgbClr val="12293A"/>
                </a:solidFill>
                <a:latin typeface="Poppins" pitchFamily="34" charset="0"/>
                <a:ea typeface="Poppins" pitchFamily="34" charset="-122"/>
                <a:cs typeface="Poppins" pitchFamily="34" charset="-120"/>
              </a:rPr>
              <a:t>H&amp;L</a:t>
            </a:r>
            <a:endParaRPr lang="en-US" sz="1500" dirty="0"/>
          </a:p>
        </p:txBody>
      </p:sp>
      <p:sp>
        <p:nvSpPr>
          <p:cNvPr id="5" name="Text 3"/>
          <p:cNvSpPr txBox="1"/>
          <p:nvPr/>
        </p:nvSpPr>
        <p:spPr>
          <a:xfrm>
            <a:off x="1298448" y="54864"/>
            <a:ext cx="7223760" cy="475488"/>
          </a:xfrm>
          <a:prstGeom prst="rect">
            <a:avLst/>
          </a:prstGeom>
          <a:noFill/>
          <a:ln/>
        </p:spPr>
        <p:txBody>
          <a:bodyPr wrap="square" lIns="0" tIns="0" rIns="0" bIns="0" rtlCol="0" anchor="ctr"/>
          <a:lstStyle/>
          <a:p>
            <a:pPr indent="0" marL="0">
              <a:buNone/>
            </a:pPr>
            <a:r>
              <a:rPr lang="en-US" sz="2300" b="1" dirty="0">
                <a:solidFill>
                  <a:srgbClr val="FFFFFF"/>
                </a:solidFill>
                <a:latin typeface="Poppins" pitchFamily="34" charset="0"/>
                <a:ea typeface="Poppins" pitchFamily="34" charset="-122"/>
                <a:cs typeface="Poppins" pitchFamily="34" charset="-120"/>
              </a:rPr>
              <a:t>Utilisation &amp; Delivery Hours</a:t>
            </a:r>
            <a:endParaRPr lang="en-US" sz="2300" dirty="0"/>
          </a:p>
        </p:txBody>
      </p:sp>
      <p:sp>
        <p:nvSpPr>
          <p:cNvPr id="6" name="Text 4"/>
          <p:cNvSpPr txBox="1"/>
          <p:nvPr/>
        </p:nvSpPr>
        <p:spPr>
          <a:xfrm>
            <a:off x="1316736" y="512064"/>
            <a:ext cx="7040880" cy="256032"/>
          </a:xfrm>
          <a:prstGeom prst="rect">
            <a:avLst/>
          </a:prstGeom>
          <a:noFill/>
          <a:ln/>
        </p:spPr>
        <p:txBody>
          <a:bodyPr wrap="square" lIns="0" tIns="0" rIns="0" bIns="0" rtlCol="0" anchor="ctr"/>
          <a:lstStyle/>
          <a:p>
            <a:pPr indent="0" marL="0">
              <a:buNone/>
            </a:pPr>
            <a:r>
              <a:rPr lang="en-US" sz="1050" dirty="0">
                <a:solidFill>
                  <a:srgbClr val="6FAEBB"/>
                </a:solidFill>
                <a:latin typeface="Poppins" pitchFamily="34" charset="0"/>
                <a:ea typeface="Poppins" pitchFamily="34" charset="-122"/>
                <a:cs typeface="Poppins" pitchFamily="34" charset="-120"/>
              </a:rPr>
              <a:t>Professional Services</a:t>
            </a:r>
            <a:endParaRPr lang="en-US" sz="1050" dirty="0"/>
          </a:p>
        </p:txBody>
      </p:sp>
      <p:sp>
        <p:nvSpPr>
          <p:cNvPr id="7" name="Shape 5"/>
          <p:cNvSpPr/>
          <p:nvPr/>
        </p:nvSpPr>
        <p:spPr>
          <a:xfrm>
            <a:off x="8686800" y="82296"/>
            <a:ext cx="1965960" cy="347472"/>
          </a:xfrm>
          <a:prstGeom prst="roundRect">
            <a:avLst>
              <a:gd name="adj" fmla="val 50000"/>
            </a:avLst>
          </a:prstGeom>
          <a:solidFill>
            <a:srgbClr val="3D8F5F"/>
          </a:solidFill>
          <a:ln w="9525">
            <a:solidFill>
              <a:srgbClr val="FFFFFF">
                <a:alpha val="45000"/>
              </a:srgbClr>
            </a:solidFill>
            <a:prstDash val="solid"/>
          </a:ln>
        </p:spPr>
      </p:sp>
      <p:sp>
        <p:nvSpPr>
          <p:cNvPr id="8" name="Text 6"/>
          <p:cNvSpPr txBox="1"/>
          <p:nvPr/>
        </p:nvSpPr>
        <p:spPr>
          <a:xfrm>
            <a:off x="8686800" y="82296"/>
            <a:ext cx="1965960" cy="347472"/>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2  ·  DID WE DELIVER?</a:t>
            </a:r>
            <a:endParaRPr lang="en-US" sz="850" dirty="0"/>
          </a:p>
        </p:txBody>
      </p:sp>
      <p:sp>
        <p:nvSpPr>
          <p:cNvPr id="9" name="Shape 7"/>
          <p:cNvSpPr/>
          <p:nvPr/>
        </p:nvSpPr>
        <p:spPr>
          <a:xfrm>
            <a:off x="8686800" y="484632"/>
            <a:ext cx="1965960" cy="310896"/>
          </a:xfrm>
          <a:prstGeom prst="roundRect">
            <a:avLst>
              <a:gd name="adj" fmla="val 50000"/>
            </a:avLst>
          </a:prstGeom>
          <a:solidFill>
            <a:srgbClr val="B4552D"/>
          </a:solidFill>
          <a:ln/>
        </p:spPr>
      </p:sp>
      <p:sp>
        <p:nvSpPr>
          <p:cNvPr id="10" name="Text 8"/>
          <p:cNvSpPr txBox="1"/>
          <p:nvPr/>
        </p:nvSpPr>
        <p:spPr>
          <a:xfrm>
            <a:off x="8686800" y="484632"/>
            <a:ext cx="1965960" cy="310896"/>
          </a:xfrm>
          <a:prstGeom prst="rect">
            <a:avLst/>
          </a:prstGeom>
          <a:noFill/>
          <a:ln/>
        </p:spPr>
        <p:txBody>
          <a:bodyPr wrap="square" lIns="0" tIns="0" rIns="0" bIns="0" rtlCol="0" anchor="ctr"/>
          <a:lstStyle/>
          <a:p>
            <a:pPr algn="ctr" indent="0" marL="0">
              <a:buNone/>
            </a:pPr>
            <a:r>
              <a:rPr lang="en-US" sz="750" b="1" dirty="0">
                <a:solidFill>
                  <a:srgbClr val="FFFFFF"/>
                </a:solidFill>
                <a:latin typeface="Poppins" pitchFamily="34" charset="0"/>
                <a:ea typeface="Poppins" pitchFamily="34" charset="-122"/>
                <a:cs typeface="Poppins" pitchFamily="34" charset="-120"/>
              </a:rPr>
              <a:t>CUTOVER · NOW HUBSPOT</a:t>
            </a:r>
            <a:endParaRPr lang="en-US" sz="750" dirty="0"/>
          </a:p>
        </p:txBody>
      </p:sp>
      <p:sp>
        <p:nvSpPr>
          <p:cNvPr id="11" name="Shape 9"/>
          <p:cNvSpPr/>
          <p:nvPr/>
        </p:nvSpPr>
        <p:spPr>
          <a:xfrm>
            <a:off x="10872216" y="0"/>
            <a:ext cx="841248" cy="841248"/>
          </a:xfrm>
          <a:prstGeom prst="ellipse">
            <a:avLst/>
          </a:prstGeom>
          <a:solidFill>
            <a:srgbClr val="1C5765"/>
          </a:solidFill>
          <a:ln/>
        </p:spPr>
      </p:sp>
      <p:sp>
        <p:nvSpPr>
          <p:cNvPr id="12" name="Shape 10"/>
          <p:cNvSpPr/>
          <p:nvPr/>
        </p:nvSpPr>
        <p:spPr>
          <a:xfrm>
            <a:off x="10968228" y="96012"/>
            <a:ext cx="649224" cy="649224"/>
          </a:xfrm>
          <a:prstGeom prst="ellipse">
            <a:avLst/>
          </a:prstGeom>
          <a:solidFill>
            <a:srgbClr val="2C8394"/>
          </a:solidFill>
          <a:ln/>
        </p:spPr>
      </p:sp>
      <p:sp>
        <p:nvSpPr>
          <p:cNvPr id="13" name="Shape 11"/>
          <p:cNvSpPr/>
          <p:nvPr/>
        </p:nvSpPr>
        <p:spPr>
          <a:xfrm>
            <a:off x="11064240" y="192024"/>
            <a:ext cx="457200" cy="457200"/>
          </a:xfrm>
          <a:prstGeom prst="ellipse">
            <a:avLst/>
          </a:prstGeom>
          <a:solidFill>
            <a:srgbClr val="6FAEBB"/>
          </a:solidFill>
          <a:ln/>
        </p:spPr>
      </p:sp>
      <p:sp>
        <p:nvSpPr>
          <p:cNvPr id="14" name="Shape 12"/>
          <p:cNvSpPr/>
          <p:nvPr/>
        </p:nvSpPr>
        <p:spPr>
          <a:xfrm>
            <a:off x="11160252" y="288036"/>
            <a:ext cx="265176" cy="265176"/>
          </a:xfrm>
          <a:prstGeom prst="ellipse">
            <a:avLst/>
          </a:prstGeom>
          <a:solidFill>
            <a:srgbClr val="E4F1F4"/>
          </a:solidFill>
          <a:ln/>
        </p:spPr>
      </p:sp>
      <p:sp>
        <p:nvSpPr>
          <p:cNvPr id="15" name="Shape 13"/>
          <p:cNvSpPr/>
          <p:nvPr/>
        </p:nvSpPr>
        <p:spPr>
          <a:xfrm>
            <a:off x="411480" y="1024128"/>
            <a:ext cx="3639312" cy="1143000"/>
          </a:xfrm>
          <a:prstGeom prst="roundRect">
            <a:avLst>
              <a:gd name="adj" fmla="val 5600"/>
            </a:avLst>
          </a:prstGeom>
          <a:solidFill>
            <a:srgbClr val="FFFFFF"/>
          </a:solidFill>
          <a:ln/>
          <a:effectLst>
            <a:outerShdw sx="100000" sy="100000" kx="0" ky="0" algn="bl" rotWithShape="0" blurRad="76200" dist="25400" dir="5400000">
              <a:srgbClr val="9AAAB5">
                <a:alpha val="35000"/>
              </a:srgbClr>
            </a:outerShdw>
          </a:effectLst>
        </p:spPr>
      </p:sp>
      <p:sp>
        <p:nvSpPr>
          <p:cNvPr id="16" name="Text 14"/>
          <p:cNvSpPr txBox="1"/>
          <p:nvPr/>
        </p:nvSpPr>
        <p:spPr>
          <a:xfrm>
            <a:off x="576072" y="1115568"/>
            <a:ext cx="3310128"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BILLABLE UTILISATION</a:t>
            </a:r>
            <a:endParaRPr lang="en-US" sz="950" dirty="0"/>
          </a:p>
        </p:txBody>
      </p:sp>
      <p:sp>
        <p:nvSpPr>
          <p:cNvPr id="17" name="Text 15"/>
          <p:cNvSpPr txBox="1"/>
          <p:nvPr/>
        </p:nvSpPr>
        <p:spPr>
          <a:xfrm>
            <a:off x="557784" y="1298448"/>
            <a:ext cx="3346704" cy="356616"/>
          </a:xfrm>
          <a:prstGeom prst="rect">
            <a:avLst/>
          </a:prstGeom>
          <a:noFill/>
          <a:ln/>
        </p:spPr>
        <p:txBody>
          <a:bodyPr wrap="square" lIns="0" tIns="0" rIns="0" bIns="0" rtlCol="0" anchor="ctr"/>
          <a:lstStyle/>
          <a:p>
            <a:pPr indent="0" marL="0">
              <a:buNone/>
            </a:pPr>
            <a:r>
              <a:rPr lang="en-US" sz="2600" b="1" dirty="0">
                <a:solidFill>
                  <a:srgbClr val="C88A2E"/>
                </a:solidFill>
                <a:latin typeface="Poppins" pitchFamily="34" charset="0"/>
                <a:ea typeface="Poppins" pitchFamily="34" charset="-122"/>
                <a:cs typeface="Poppins" pitchFamily="34" charset="-120"/>
              </a:rPr>
              <a:t>11.5%</a:t>
            </a:r>
            <a:endParaRPr lang="en-US" sz="2600" dirty="0"/>
          </a:p>
        </p:txBody>
      </p:sp>
      <p:sp>
        <p:nvSpPr>
          <p:cNvPr id="18" name="Text 16"/>
          <p:cNvSpPr txBox="1"/>
          <p:nvPr/>
        </p:nvSpPr>
        <p:spPr>
          <a:xfrm>
            <a:off x="576072" y="1691640"/>
            <a:ext cx="3310128"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39.45h billed of 342h available · target 50% · Rhys logged half of it</a:t>
            </a:r>
            <a:endParaRPr lang="en-US" sz="780" dirty="0"/>
          </a:p>
        </p:txBody>
      </p:sp>
      <p:sp>
        <p:nvSpPr>
          <p:cNvPr id="19" name="Shape 17"/>
          <p:cNvSpPr/>
          <p:nvPr/>
        </p:nvSpPr>
        <p:spPr>
          <a:xfrm>
            <a:off x="4233672" y="1024128"/>
            <a:ext cx="3639312" cy="1143000"/>
          </a:xfrm>
          <a:prstGeom prst="roundRect">
            <a:avLst>
              <a:gd name="adj" fmla="val 5600"/>
            </a:avLst>
          </a:prstGeom>
          <a:solidFill>
            <a:srgbClr val="FFFFFF"/>
          </a:solidFill>
          <a:ln/>
          <a:effectLst>
            <a:outerShdw sx="100000" sy="100000" kx="0" ky="0" algn="bl" rotWithShape="0" blurRad="76200" dist="25400" dir="5400000">
              <a:srgbClr val="9AAAB5">
                <a:alpha val="35000"/>
              </a:srgbClr>
            </a:outerShdw>
          </a:effectLst>
        </p:spPr>
      </p:sp>
      <p:sp>
        <p:nvSpPr>
          <p:cNvPr id="20" name="Text 18"/>
          <p:cNvSpPr txBox="1"/>
          <p:nvPr/>
        </p:nvSpPr>
        <p:spPr>
          <a:xfrm>
            <a:off x="4398264" y="1115568"/>
            <a:ext cx="3310128"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AVAILABLE HOURS — THIS WEEK</a:t>
            </a:r>
            <a:endParaRPr lang="en-US" sz="950" dirty="0"/>
          </a:p>
        </p:txBody>
      </p:sp>
      <p:sp>
        <p:nvSpPr>
          <p:cNvPr id="21" name="Text 19"/>
          <p:cNvSpPr txBox="1"/>
          <p:nvPr/>
        </p:nvSpPr>
        <p:spPr>
          <a:xfrm>
            <a:off x="4379976" y="1298448"/>
            <a:ext cx="3346704" cy="356616"/>
          </a:xfrm>
          <a:prstGeom prst="rect">
            <a:avLst/>
          </a:prstGeom>
          <a:noFill/>
          <a:ln/>
        </p:spPr>
        <p:txBody>
          <a:bodyPr wrap="square" lIns="0" tIns="0" rIns="0" bIns="0" rtlCol="0" anchor="ctr"/>
          <a:lstStyle/>
          <a:p>
            <a:pPr indent="0" marL="0">
              <a:buNone/>
            </a:pPr>
            <a:r>
              <a:rPr lang="en-US" sz="2600" b="1" dirty="0">
                <a:solidFill>
                  <a:srgbClr val="12293A"/>
                </a:solidFill>
                <a:latin typeface="Poppins" pitchFamily="34" charset="0"/>
                <a:ea typeface="Poppins" pitchFamily="34" charset="-122"/>
                <a:cs typeface="Poppins" pitchFamily="34" charset="-120"/>
              </a:rPr>
              <a:t>342h</a:t>
            </a:r>
            <a:endParaRPr lang="en-US" sz="2600" dirty="0"/>
          </a:p>
        </p:txBody>
      </p:sp>
      <p:sp>
        <p:nvSpPr>
          <p:cNvPr id="22" name="Text 20"/>
          <p:cNvSpPr txBox="1"/>
          <p:nvPr/>
        </p:nvSpPr>
        <p:spPr>
          <a:xfrm>
            <a:off x="4398264" y="1691640"/>
            <a:ext cx="3310128"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9 people assigned to PS-pipeline tickets × 38h standard week</a:t>
            </a:r>
            <a:endParaRPr lang="en-US" sz="780" dirty="0"/>
          </a:p>
        </p:txBody>
      </p:sp>
      <p:sp>
        <p:nvSpPr>
          <p:cNvPr id="23" name="Shape 21"/>
          <p:cNvSpPr/>
          <p:nvPr/>
        </p:nvSpPr>
        <p:spPr>
          <a:xfrm>
            <a:off x="8055864" y="1024128"/>
            <a:ext cx="3721608" cy="1143000"/>
          </a:xfrm>
          <a:prstGeom prst="roundRect">
            <a:avLst>
              <a:gd name="adj" fmla="val 5600"/>
            </a:avLst>
          </a:prstGeom>
          <a:solidFill>
            <a:srgbClr val="FFFFFF"/>
          </a:solidFill>
          <a:ln/>
          <a:effectLst>
            <a:outerShdw sx="100000" sy="100000" kx="0" ky="0" algn="bl" rotWithShape="0" blurRad="76200" dist="25400" dir="5400000">
              <a:srgbClr val="9AAAB5">
                <a:alpha val="35000"/>
              </a:srgbClr>
            </a:outerShdw>
          </a:effectLst>
        </p:spPr>
      </p:sp>
      <p:sp>
        <p:nvSpPr>
          <p:cNvPr id="24" name="Text 22"/>
          <p:cNvSpPr txBox="1"/>
          <p:nvPr/>
        </p:nvSpPr>
        <p:spPr>
          <a:xfrm>
            <a:off x="8220456" y="1115568"/>
            <a:ext cx="3392424"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TIME-LOGGING COVERAGE</a:t>
            </a:r>
            <a:endParaRPr lang="en-US" sz="950" dirty="0"/>
          </a:p>
        </p:txBody>
      </p:sp>
      <p:sp>
        <p:nvSpPr>
          <p:cNvPr id="25" name="Text 23"/>
          <p:cNvSpPr txBox="1"/>
          <p:nvPr/>
        </p:nvSpPr>
        <p:spPr>
          <a:xfrm>
            <a:off x="8202168" y="1298448"/>
            <a:ext cx="3429000" cy="356616"/>
          </a:xfrm>
          <a:prstGeom prst="rect">
            <a:avLst/>
          </a:prstGeom>
          <a:noFill/>
          <a:ln/>
        </p:spPr>
        <p:txBody>
          <a:bodyPr wrap="square" lIns="0" tIns="0" rIns="0" bIns="0" rtlCol="0" anchor="ctr"/>
          <a:lstStyle/>
          <a:p>
            <a:pPr indent="0" marL="0">
              <a:buNone/>
            </a:pPr>
            <a:r>
              <a:rPr lang="en-US" sz="2600" b="1" dirty="0">
                <a:solidFill>
                  <a:srgbClr val="C88A2E"/>
                </a:solidFill>
                <a:latin typeface="Poppins" pitchFamily="34" charset="0"/>
                <a:ea typeface="Poppins" pitchFamily="34" charset="-122"/>
                <a:cs typeface="Poppins" pitchFamily="34" charset="-120"/>
              </a:rPr>
              <a:t>25%</a:t>
            </a:r>
            <a:endParaRPr lang="en-US" sz="2600" dirty="0"/>
          </a:p>
        </p:txBody>
      </p:sp>
      <p:sp>
        <p:nvSpPr>
          <p:cNvPr id="26" name="Text 24"/>
          <p:cNvSpPr txBox="1"/>
          <p:nvPr/>
        </p:nvSpPr>
        <p:spPr>
          <a:xfrm>
            <a:off x="8220456" y="1691640"/>
            <a:ext cx="3392424"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27 of 109 PS items raised this week carry hours — utilisation reads low because logging is ramping, not because delivery stopped</a:t>
            </a:r>
            <a:endParaRPr lang="en-US" sz="780" dirty="0"/>
          </a:p>
        </p:txBody>
      </p:sp>
      <p:sp>
        <p:nvSpPr>
          <p:cNvPr id="27" name="Shape 25"/>
          <p:cNvSpPr/>
          <p:nvPr/>
        </p:nvSpPr>
        <p:spPr>
          <a:xfrm>
            <a:off x="411480" y="2395728"/>
            <a:ext cx="6583680" cy="2962656"/>
          </a:xfrm>
          <a:prstGeom prst="roundRect">
            <a:avLst>
              <a:gd name="adj" fmla="val 2160"/>
            </a:avLst>
          </a:prstGeom>
          <a:solidFill>
            <a:srgbClr val="FFFFFF"/>
          </a:solidFill>
          <a:ln/>
          <a:effectLst>
            <a:outerShdw sx="100000" sy="100000" kx="0" ky="0" algn="bl" rotWithShape="0" blurRad="76200" dist="25400" dir="5400000">
              <a:srgbClr val="9AAAB5">
                <a:alpha val="35000"/>
              </a:srgbClr>
            </a:outerShdw>
          </a:effectLst>
        </p:spPr>
      </p:sp>
      <p:sp>
        <p:nvSpPr>
          <p:cNvPr id="28" name="Text 26"/>
          <p:cNvSpPr txBox="1"/>
          <p:nvPr/>
        </p:nvSpPr>
        <p:spPr>
          <a:xfrm>
            <a:off x="612648" y="2505456"/>
            <a:ext cx="6181344"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BILLABLE BY EMPLOYEE  </a:t>
            </a:r>
            <a:pPr indent="0" marL="0">
              <a:buNone/>
            </a:pPr>
            <a:r>
              <a:rPr lang="en-US" sz="700" dirty="0">
                <a:solidFill>
                  <a:srgbClr val="8FA1AC"/>
                </a:solidFill>
                <a:latin typeface="Poppins" pitchFamily="34" charset="0"/>
                <a:ea typeface="Poppins" pitchFamily="34" charset="-122"/>
                <a:cs typeface="Poppins" pitchFamily="34" charset="-120"/>
              </a:rPr>
              <a:t>hours logged against 38h available each</a:t>
            </a:r>
            <a:endParaRPr lang="en-US" sz="1200" dirty="0"/>
          </a:p>
        </p:txBody>
      </p:sp>
      <p:sp>
        <p:nvSpPr>
          <p:cNvPr id="29" name="Text 27"/>
          <p:cNvSpPr txBox="1"/>
          <p:nvPr/>
        </p:nvSpPr>
        <p:spPr>
          <a:xfrm>
            <a:off x="640080" y="2834640"/>
            <a:ext cx="1737360" cy="182880"/>
          </a:xfrm>
          <a:prstGeom prst="rect">
            <a:avLst/>
          </a:prstGeom>
          <a:noFill/>
          <a:ln/>
        </p:spPr>
        <p:txBody>
          <a:bodyPr wrap="square" lIns="0" tIns="0" rIns="0" bIns="0" rtlCol="0" anchor="ctr"/>
          <a:lstStyle/>
          <a:p>
            <a:pPr algn="l" indent="0" marL="0">
              <a:buNone/>
            </a:pPr>
            <a:r>
              <a:rPr lang="en-US" sz="700" b="1" dirty="0">
                <a:solidFill>
                  <a:srgbClr val="8FA1AC"/>
                </a:solidFill>
                <a:latin typeface="Poppins" pitchFamily="34" charset="0"/>
                <a:ea typeface="Poppins" pitchFamily="34" charset="-122"/>
                <a:cs typeface="Poppins" pitchFamily="34" charset="-120"/>
              </a:rPr>
              <a:t>PS TEAM MEMBER</a:t>
            </a:r>
            <a:endParaRPr lang="en-US" sz="700" dirty="0"/>
          </a:p>
        </p:txBody>
      </p:sp>
      <p:sp>
        <p:nvSpPr>
          <p:cNvPr id="30" name="Text 28"/>
          <p:cNvSpPr txBox="1"/>
          <p:nvPr/>
        </p:nvSpPr>
        <p:spPr>
          <a:xfrm>
            <a:off x="5029200" y="2834640"/>
            <a:ext cx="822960" cy="182880"/>
          </a:xfrm>
          <a:prstGeom prst="rect">
            <a:avLst/>
          </a:prstGeom>
          <a:noFill/>
          <a:ln/>
        </p:spPr>
        <p:txBody>
          <a:bodyPr wrap="square" lIns="0" tIns="0" rIns="0" bIns="0" rtlCol="0" anchor="ctr"/>
          <a:lstStyle/>
          <a:p>
            <a:pPr algn="r" indent="0" marL="0">
              <a:buNone/>
            </a:pPr>
            <a:r>
              <a:rPr lang="en-US" sz="700" b="1" dirty="0">
                <a:solidFill>
                  <a:srgbClr val="8FA1AC"/>
                </a:solidFill>
                <a:latin typeface="Poppins" pitchFamily="34" charset="0"/>
                <a:ea typeface="Poppins" pitchFamily="34" charset="-122"/>
                <a:cs typeface="Poppins" pitchFamily="34" charset="-120"/>
              </a:rPr>
              <a:t>HOURS</a:t>
            </a:r>
            <a:endParaRPr lang="en-US" sz="700" dirty="0"/>
          </a:p>
        </p:txBody>
      </p:sp>
      <p:sp>
        <p:nvSpPr>
          <p:cNvPr id="31" name="Text 29"/>
          <p:cNvSpPr txBox="1"/>
          <p:nvPr/>
        </p:nvSpPr>
        <p:spPr>
          <a:xfrm>
            <a:off x="5943600" y="2834640"/>
            <a:ext cx="822960" cy="182880"/>
          </a:xfrm>
          <a:prstGeom prst="rect">
            <a:avLst/>
          </a:prstGeom>
          <a:noFill/>
          <a:ln/>
        </p:spPr>
        <p:txBody>
          <a:bodyPr wrap="square" lIns="0" tIns="0" rIns="0" bIns="0" rtlCol="0" anchor="ctr"/>
          <a:lstStyle/>
          <a:p>
            <a:pPr algn="r" indent="0" marL="0">
              <a:buNone/>
            </a:pPr>
            <a:r>
              <a:rPr lang="en-US" sz="700" b="1" dirty="0">
                <a:solidFill>
                  <a:srgbClr val="8FA1AC"/>
                </a:solidFill>
                <a:latin typeface="Poppins" pitchFamily="34" charset="0"/>
                <a:ea typeface="Poppins" pitchFamily="34" charset="-122"/>
                <a:cs typeface="Poppins" pitchFamily="34" charset="-120"/>
              </a:rPr>
              <a:t>UTIL %</a:t>
            </a:r>
            <a:endParaRPr lang="en-US" sz="700" dirty="0"/>
          </a:p>
        </p:txBody>
      </p:sp>
      <p:sp>
        <p:nvSpPr>
          <p:cNvPr id="32" name="Text 30"/>
          <p:cNvSpPr txBox="1"/>
          <p:nvPr/>
        </p:nvSpPr>
        <p:spPr>
          <a:xfrm>
            <a:off x="2468880" y="2816352"/>
            <a:ext cx="402336" cy="182880"/>
          </a:xfrm>
          <a:prstGeom prst="rect">
            <a:avLst/>
          </a:prstGeom>
          <a:noFill/>
          <a:ln/>
        </p:spPr>
        <p:txBody>
          <a:bodyPr wrap="square" lIns="0" tIns="0" rIns="0" bIns="0" rtlCol="0" anchor="ctr"/>
          <a:lstStyle/>
          <a:p>
            <a:pPr algn="l" indent="0" marL="0">
              <a:buNone/>
            </a:pPr>
            <a:r>
              <a:rPr lang="en-US" sz="650" b="1" dirty="0">
                <a:solidFill>
                  <a:srgbClr val="8FA1AC"/>
                </a:solidFill>
                <a:latin typeface="Poppins" pitchFamily="34" charset="0"/>
                <a:ea typeface="Poppins" pitchFamily="34" charset="-122"/>
                <a:cs typeface="Poppins" pitchFamily="34" charset="-120"/>
              </a:rPr>
              <a:t>0%</a:t>
            </a:r>
            <a:endParaRPr lang="en-US" sz="650" dirty="0"/>
          </a:p>
        </p:txBody>
      </p:sp>
      <p:sp>
        <p:nvSpPr>
          <p:cNvPr id="33" name="Text 31"/>
          <p:cNvSpPr txBox="1"/>
          <p:nvPr/>
        </p:nvSpPr>
        <p:spPr>
          <a:xfrm>
            <a:off x="2743200" y="2816352"/>
            <a:ext cx="402336" cy="182880"/>
          </a:xfrm>
          <a:prstGeom prst="rect">
            <a:avLst/>
          </a:prstGeom>
          <a:noFill/>
          <a:ln/>
        </p:spPr>
        <p:txBody>
          <a:bodyPr wrap="square" lIns="0" tIns="0" rIns="0" bIns="0" rtlCol="0" anchor="ctr"/>
          <a:lstStyle/>
          <a:p>
            <a:pPr algn="ctr" indent="0" marL="0">
              <a:buNone/>
            </a:pPr>
            <a:r>
              <a:rPr lang="en-US" sz="650" b="1" dirty="0">
                <a:solidFill>
                  <a:srgbClr val="8FA1AC"/>
                </a:solidFill>
                <a:latin typeface="Poppins" pitchFamily="34" charset="0"/>
                <a:ea typeface="Poppins" pitchFamily="34" charset="-122"/>
                <a:cs typeface="Poppins" pitchFamily="34" charset="-120"/>
              </a:rPr>
              <a:t>20%</a:t>
            </a:r>
            <a:endParaRPr lang="en-US" sz="650" dirty="0"/>
          </a:p>
        </p:txBody>
      </p:sp>
      <p:sp>
        <p:nvSpPr>
          <p:cNvPr id="34" name="Shape 32"/>
          <p:cNvSpPr/>
          <p:nvPr/>
        </p:nvSpPr>
        <p:spPr>
          <a:xfrm>
            <a:off x="2944368" y="3017520"/>
            <a:ext cx="5486" cy="1744675"/>
          </a:xfrm>
          <a:prstGeom prst="rect">
            <a:avLst/>
          </a:prstGeom>
          <a:solidFill>
            <a:srgbClr val="E2EAEE"/>
          </a:solidFill>
          <a:ln/>
        </p:spPr>
      </p:sp>
      <p:sp>
        <p:nvSpPr>
          <p:cNvPr id="35" name="Text 33"/>
          <p:cNvSpPr txBox="1"/>
          <p:nvPr/>
        </p:nvSpPr>
        <p:spPr>
          <a:xfrm>
            <a:off x="3218688" y="2816352"/>
            <a:ext cx="402336" cy="182880"/>
          </a:xfrm>
          <a:prstGeom prst="rect">
            <a:avLst/>
          </a:prstGeom>
          <a:noFill/>
          <a:ln/>
        </p:spPr>
        <p:txBody>
          <a:bodyPr wrap="square" lIns="0" tIns="0" rIns="0" bIns="0" rtlCol="0" anchor="ctr"/>
          <a:lstStyle/>
          <a:p>
            <a:pPr algn="ctr" indent="0" marL="0">
              <a:buNone/>
            </a:pPr>
            <a:r>
              <a:rPr lang="en-US" sz="650" b="1" dirty="0">
                <a:solidFill>
                  <a:srgbClr val="8FA1AC"/>
                </a:solidFill>
                <a:latin typeface="Poppins" pitchFamily="34" charset="0"/>
                <a:ea typeface="Poppins" pitchFamily="34" charset="-122"/>
                <a:cs typeface="Poppins" pitchFamily="34" charset="-120"/>
              </a:rPr>
              <a:t>40%</a:t>
            </a:r>
            <a:endParaRPr lang="en-US" sz="650" dirty="0"/>
          </a:p>
        </p:txBody>
      </p:sp>
      <p:sp>
        <p:nvSpPr>
          <p:cNvPr id="36" name="Shape 34"/>
          <p:cNvSpPr/>
          <p:nvPr/>
        </p:nvSpPr>
        <p:spPr>
          <a:xfrm>
            <a:off x="3419856" y="3017520"/>
            <a:ext cx="5486" cy="1744675"/>
          </a:xfrm>
          <a:prstGeom prst="rect">
            <a:avLst/>
          </a:prstGeom>
          <a:solidFill>
            <a:srgbClr val="E2EAEE"/>
          </a:solidFill>
          <a:ln/>
        </p:spPr>
      </p:sp>
      <p:sp>
        <p:nvSpPr>
          <p:cNvPr id="37" name="Text 35"/>
          <p:cNvSpPr txBox="1"/>
          <p:nvPr/>
        </p:nvSpPr>
        <p:spPr>
          <a:xfrm>
            <a:off x="3694176" y="2816352"/>
            <a:ext cx="402336" cy="182880"/>
          </a:xfrm>
          <a:prstGeom prst="rect">
            <a:avLst/>
          </a:prstGeom>
          <a:noFill/>
          <a:ln/>
        </p:spPr>
        <p:txBody>
          <a:bodyPr wrap="square" lIns="0" tIns="0" rIns="0" bIns="0" rtlCol="0" anchor="ctr"/>
          <a:lstStyle/>
          <a:p>
            <a:pPr algn="ctr" indent="0" marL="0">
              <a:buNone/>
            </a:pPr>
            <a:r>
              <a:rPr lang="en-US" sz="650" b="1" dirty="0">
                <a:solidFill>
                  <a:srgbClr val="8FA1AC"/>
                </a:solidFill>
                <a:latin typeface="Poppins" pitchFamily="34" charset="0"/>
                <a:ea typeface="Poppins" pitchFamily="34" charset="-122"/>
                <a:cs typeface="Poppins" pitchFamily="34" charset="-120"/>
              </a:rPr>
              <a:t>60%</a:t>
            </a:r>
            <a:endParaRPr lang="en-US" sz="650" dirty="0"/>
          </a:p>
        </p:txBody>
      </p:sp>
      <p:sp>
        <p:nvSpPr>
          <p:cNvPr id="38" name="Shape 36"/>
          <p:cNvSpPr/>
          <p:nvPr/>
        </p:nvSpPr>
        <p:spPr>
          <a:xfrm>
            <a:off x="3895344" y="3017520"/>
            <a:ext cx="5486" cy="1744675"/>
          </a:xfrm>
          <a:prstGeom prst="rect">
            <a:avLst/>
          </a:prstGeom>
          <a:solidFill>
            <a:srgbClr val="E2EAEE"/>
          </a:solidFill>
          <a:ln/>
        </p:spPr>
      </p:sp>
      <p:sp>
        <p:nvSpPr>
          <p:cNvPr id="39" name="Text 37"/>
          <p:cNvSpPr txBox="1"/>
          <p:nvPr/>
        </p:nvSpPr>
        <p:spPr>
          <a:xfrm>
            <a:off x="4169664" y="2816352"/>
            <a:ext cx="402336" cy="182880"/>
          </a:xfrm>
          <a:prstGeom prst="rect">
            <a:avLst/>
          </a:prstGeom>
          <a:noFill/>
          <a:ln/>
        </p:spPr>
        <p:txBody>
          <a:bodyPr wrap="square" lIns="0" tIns="0" rIns="0" bIns="0" rtlCol="0" anchor="ctr"/>
          <a:lstStyle/>
          <a:p>
            <a:pPr algn="ctr" indent="0" marL="0">
              <a:buNone/>
            </a:pPr>
            <a:r>
              <a:rPr lang="en-US" sz="650" b="1" dirty="0">
                <a:solidFill>
                  <a:srgbClr val="8FA1AC"/>
                </a:solidFill>
                <a:latin typeface="Poppins" pitchFamily="34" charset="0"/>
                <a:ea typeface="Poppins" pitchFamily="34" charset="-122"/>
                <a:cs typeface="Poppins" pitchFamily="34" charset="-120"/>
              </a:rPr>
              <a:t>80%</a:t>
            </a:r>
            <a:endParaRPr lang="en-US" sz="650" dirty="0"/>
          </a:p>
        </p:txBody>
      </p:sp>
      <p:sp>
        <p:nvSpPr>
          <p:cNvPr id="40" name="Shape 38"/>
          <p:cNvSpPr/>
          <p:nvPr/>
        </p:nvSpPr>
        <p:spPr>
          <a:xfrm>
            <a:off x="4370832" y="3017520"/>
            <a:ext cx="5486" cy="1744675"/>
          </a:xfrm>
          <a:prstGeom prst="rect">
            <a:avLst/>
          </a:prstGeom>
          <a:solidFill>
            <a:srgbClr val="E2EAEE"/>
          </a:solidFill>
          <a:ln/>
        </p:spPr>
      </p:sp>
      <p:sp>
        <p:nvSpPr>
          <p:cNvPr id="41" name="Text 39"/>
          <p:cNvSpPr txBox="1"/>
          <p:nvPr/>
        </p:nvSpPr>
        <p:spPr>
          <a:xfrm>
            <a:off x="4443984" y="2816352"/>
            <a:ext cx="402336" cy="182880"/>
          </a:xfrm>
          <a:prstGeom prst="rect">
            <a:avLst/>
          </a:prstGeom>
          <a:noFill/>
          <a:ln/>
        </p:spPr>
        <p:txBody>
          <a:bodyPr wrap="square" lIns="0" tIns="0" rIns="0" bIns="0" rtlCol="0" anchor="ctr"/>
          <a:lstStyle/>
          <a:p>
            <a:pPr algn="r" indent="0" marL="0">
              <a:buNone/>
            </a:pPr>
            <a:r>
              <a:rPr lang="en-US" sz="650" b="1" dirty="0">
                <a:solidFill>
                  <a:srgbClr val="8FA1AC"/>
                </a:solidFill>
                <a:latin typeface="Poppins" pitchFamily="34" charset="0"/>
                <a:ea typeface="Poppins" pitchFamily="34" charset="-122"/>
                <a:cs typeface="Poppins" pitchFamily="34" charset="-120"/>
              </a:rPr>
              <a:t>100%</a:t>
            </a:r>
            <a:endParaRPr lang="en-US" sz="650" dirty="0"/>
          </a:p>
        </p:txBody>
      </p:sp>
      <p:sp>
        <p:nvSpPr>
          <p:cNvPr id="42" name="Shape 40"/>
          <p:cNvSpPr/>
          <p:nvPr/>
        </p:nvSpPr>
        <p:spPr>
          <a:xfrm>
            <a:off x="4846320" y="3017520"/>
            <a:ext cx="5486" cy="1744675"/>
          </a:xfrm>
          <a:prstGeom prst="rect">
            <a:avLst/>
          </a:prstGeom>
          <a:solidFill>
            <a:srgbClr val="E2EAEE"/>
          </a:solidFill>
          <a:ln/>
        </p:spPr>
      </p:sp>
      <p:sp>
        <p:nvSpPr>
          <p:cNvPr id="43" name="Text 41"/>
          <p:cNvSpPr txBox="1"/>
          <p:nvPr/>
        </p:nvSpPr>
        <p:spPr>
          <a:xfrm>
            <a:off x="640080" y="3054096"/>
            <a:ext cx="1783080" cy="193853"/>
          </a:xfrm>
          <a:prstGeom prst="rect">
            <a:avLst/>
          </a:prstGeom>
          <a:noFill/>
          <a:ln/>
        </p:spPr>
        <p:txBody>
          <a:bodyPr wrap="square" lIns="0" tIns="0" rIns="0" bIns="0" rtlCol="0" anchor="ctr"/>
          <a:lstStyle/>
          <a:p>
            <a:pPr indent="0" marL="0">
              <a:buNone/>
            </a:pPr>
            <a:r>
              <a:rPr lang="en-US" sz="800" b="1" dirty="0">
                <a:solidFill>
                  <a:srgbClr val="12293A"/>
                </a:solidFill>
                <a:latin typeface="Poppins" pitchFamily="34" charset="0"/>
                <a:ea typeface="Poppins" pitchFamily="34" charset="-122"/>
                <a:cs typeface="Poppins" pitchFamily="34" charset="-120"/>
              </a:rPr>
              <a:t>Rhys Woolcock</a:t>
            </a:r>
            <a:endParaRPr lang="en-US" sz="800" dirty="0"/>
          </a:p>
        </p:txBody>
      </p:sp>
      <p:sp>
        <p:nvSpPr>
          <p:cNvPr id="44" name="Shape 42"/>
          <p:cNvSpPr/>
          <p:nvPr/>
        </p:nvSpPr>
        <p:spPr>
          <a:xfrm>
            <a:off x="2468880" y="3121304"/>
            <a:ext cx="2377440" cy="59436"/>
          </a:xfrm>
          <a:prstGeom prst="roundRect">
            <a:avLst>
              <a:gd name="adj" fmla="val 49231"/>
            </a:avLst>
          </a:prstGeom>
          <a:solidFill>
            <a:srgbClr val="E2EAEE"/>
          </a:solidFill>
          <a:ln/>
        </p:spPr>
      </p:sp>
      <p:sp>
        <p:nvSpPr>
          <p:cNvPr id="45" name="Shape 43"/>
          <p:cNvSpPr/>
          <p:nvPr/>
        </p:nvSpPr>
        <p:spPr>
          <a:xfrm>
            <a:off x="2468880" y="3121304"/>
            <a:ext cx="1219627" cy="59436"/>
          </a:xfrm>
          <a:prstGeom prst="roundRect">
            <a:avLst>
              <a:gd name="adj" fmla="val 49231"/>
            </a:avLst>
          </a:prstGeom>
          <a:solidFill>
            <a:srgbClr val="2C8394"/>
          </a:solidFill>
          <a:ln/>
        </p:spPr>
      </p:sp>
      <p:sp>
        <p:nvSpPr>
          <p:cNvPr id="46" name="Text 44"/>
          <p:cNvSpPr txBox="1"/>
          <p:nvPr/>
        </p:nvSpPr>
        <p:spPr>
          <a:xfrm>
            <a:off x="5029200" y="3054096"/>
            <a:ext cx="822960" cy="193853"/>
          </a:xfrm>
          <a:prstGeom prst="rect">
            <a:avLst/>
          </a:prstGeom>
          <a:noFill/>
          <a:ln/>
        </p:spPr>
        <p:txBody>
          <a:bodyPr wrap="square" lIns="0" tIns="0" rIns="0" bIns="0" rtlCol="0" anchor="ctr"/>
          <a:lstStyle/>
          <a:p>
            <a:pPr algn="r" indent="0" marL="0">
              <a:buNone/>
            </a:pPr>
            <a:r>
              <a:rPr lang="en-US" sz="800" b="1" dirty="0">
                <a:solidFill>
                  <a:srgbClr val="2C8394"/>
                </a:solidFill>
                <a:latin typeface="Poppins" pitchFamily="34" charset="0"/>
                <a:ea typeface="Poppins" pitchFamily="34" charset="-122"/>
                <a:cs typeface="Poppins" pitchFamily="34" charset="-120"/>
              </a:rPr>
              <a:t>19.50h</a:t>
            </a:r>
            <a:endParaRPr lang="en-US" sz="800" dirty="0"/>
          </a:p>
        </p:txBody>
      </p:sp>
      <p:sp>
        <p:nvSpPr>
          <p:cNvPr id="47" name="Text 45"/>
          <p:cNvSpPr txBox="1"/>
          <p:nvPr/>
        </p:nvSpPr>
        <p:spPr>
          <a:xfrm>
            <a:off x="5943600" y="3054096"/>
            <a:ext cx="822960" cy="193853"/>
          </a:xfrm>
          <a:prstGeom prst="rect">
            <a:avLst/>
          </a:prstGeom>
          <a:noFill/>
          <a:ln/>
        </p:spPr>
        <p:txBody>
          <a:bodyPr wrap="square" lIns="0" tIns="0" rIns="0" bIns="0" rtlCol="0" anchor="ctr"/>
          <a:lstStyle/>
          <a:p>
            <a:pPr algn="r" indent="0" marL="0">
              <a:buNone/>
            </a:pPr>
            <a:r>
              <a:rPr lang="en-US" sz="800" b="1" dirty="0">
                <a:solidFill>
                  <a:srgbClr val="12293A"/>
                </a:solidFill>
                <a:latin typeface="Poppins" pitchFamily="34" charset="0"/>
                <a:ea typeface="Poppins" pitchFamily="34" charset="-122"/>
                <a:cs typeface="Poppins" pitchFamily="34" charset="-120"/>
              </a:rPr>
              <a:t>51.3%</a:t>
            </a:r>
            <a:endParaRPr lang="en-US" sz="800" dirty="0"/>
          </a:p>
        </p:txBody>
      </p:sp>
      <p:sp>
        <p:nvSpPr>
          <p:cNvPr id="48" name="Text 46"/>
          <p:cNvSpPr txBox="1"/>
          <p:nvPr/>
        </p:nvSpPr>
        <p:spPr>
          <a:xfrm>
            <a:off x="640080" y="3247949"/>
            <a:ext cx="1783080" cy="193853"/>
          </a:xfrm>
          <a:prstGeom prst="rect">
            <a:avLst/>
          </a:prstGeom>
          <a:noFill/>
          <a:ln/>
        </p:spPr>
        <p:txBody>
          <a:bodyPr wrap="square" lIns="0" tIns="0" rIns="0" bIns="0" rtlCol="0" anchor="ctr"/>
          <a:lstStyle/>
          <a:p>
            <a:pPr indent="0" marL="0">
              <a:buNone/>
            </a:pPr>
            <a:r>
              <a:rPr lang="en-US" sz="800" b="1" dirty="0">
                <a:solidFill>
                  <a:srgbClr val="12293A"/>
                </a:solidFill>
                <a:latin typeface="Poppins" pitchFamily="34" charset="0"/>
                <a:ea typeface="Poppins" pitchFamily="34" charset="-122"/>
                <a:cs typeface="Poppins" pitchFamily="34" charset="-120"/>
              </a:rPr>
              <a:t>Joshua Casey</a:t>
            </a:r>
            <a:endParaRPr lang="en-US" sz="800" dirty="0"/>
          </a:p>
        </p:txBody>
      </p:sp>
      <p:sp>
        <p:nvSpPr>
          <p:cNvPr id="49" name="Shape 47"/>
          <p:cNvSpPr/>
          <p:nvPr/>
        </p:nvSpPr>
        <p:spPr>
          <a:xfrm>
            <a:off x="2468880" y="3315157"/>
            <a:ext cx="2377440" cy="59436"/>
          </a:xfrm>
          <a:prstGeom prst="roundRect">
            <a:avLst>
              <a:gd name="adj" fmla="val 49231"/>
            </a:avLst>
          </a:prstGeom>
          <a:solidFill>
            <a:srgbClr val="E2EAEE"/>
          </a:solidFill>
          <a:ln/>
        </p:spPr>
      </p:sp>
      <p:sp>
        <p:nvSpPr>
          <p:cNvPr id="50" name="Shape 48"/>
          <p:cNvSpPr/>
          <p:nvPr/>
        </p:nvSpPr>
        <p:spPr>
          <a:xfrm>
            <a:off x="2468880" y="3315157"/>
            <a:ext cx="406542" cy="59436"/>
          </a:xfrm>
          <a:prstGeom prst="roundRect">
            <a:avLst>
              <a:gd name="adj" fmla="val 49231"/>
            </a:avLst>
          </a:prstGeom>
          <a:solidFill>
            <a:srgbClr val="2C8394"/>
          </a:solidFill>
          <a:ln/>
        </p:spPr>
      </p:sp>
      <p:sp>
        <p:nvSpPr>
          <p:cNvPr id="51" name="Text 49"/>
          <p:cNvSpPr txBox="1"/>
          <p:nvPr/>
        </p:nvSpPr>
        <p:spPr>
          <a:xfrm>
            <a:off x="5029200" y="3247949"/>
            <a:ext cx="822960" cy="193853"/>
          </a:xfrm>
          <a:prstGeom prst="rect">
            <a:avLst/>
          </a:prstGeom>
          <a:noFill/>
          <a:ln/>
        </p:spPr>
        <p:txBody>
          <a:bodyPr wrap="square" lIns="0" tIns="0" rIns="0" bIns="0" rtlCol="0" anchor="ctr"/>
          <a:lstStyle/>
          <a:p>
            <a:pPr algn="r" indent="0" marL="0">
              <a:buNone/>
            </a:pPr>
            <a:r>
              <a:rPr lang="en-US" sz="800" b="1" dirty="0">
                <a:solidFill>
                  <a:srgbClr val="2C8394"/>
                </a:solidFill>
                <a:latin typeface="Poppins" pitchFamily="34" charset="0"/>
                <a:ea typeface="Poppins" pitchFamily="34" charset="-122"/>
                <a:cs typeface="Poppins" pitchFamily="34" charset="-120"/>
              </a:rPr>
              <a:t>6.50h</a:t>
            </a:r>
            <a:endParaRPr lang="en-US" sz="800" dirty="0"/>
          </a:p>
        </p:txBody>
      </p:sp>
      <p:sp>
        <p:nvSpPr>
          <p:cNvPr id="52" name="Text 50"/>
          <p:cNvSpPr txBox="1"/>
          <p:nvPr/>
        </p:nvSpPr>
        <p:spPr>
          <a:xfrm>
            <a:off x="5943600" y="3247949"/>
            <a:ext cx="822960" cy="193853"/>
          </a:xfrm>
          <a:prstGeom prst="rect">
            <a:avLst/>
          </a:prstGeom>
          <a:noFill/>
          <a:ln/>
        </p:spPr>
        <p:txBody>
          <a:bodyPr wrap="square" lIns="0" tIns="0" rIns="0" bIns="0" rtlCol="0" anchor="ctr"/>
          <a:lstStyle/>
          <a:p>
            <a:pPr algn="r" indent="0" marL="0">
              <a:buNone/>
            </a:pPr>
            <a:r>
              <a:rPr lang="en-US" sz="800" b="1" dirty="0">
                <a:solidFill>
                  <a:srgbClr val="12293A"/>
                </a:solidFill>
                <a:latin typeface="Poppins" pitchFamily="34" charset="0"/>
                <a:ea typeface="Poppins" pitchFamily="34" charset="-122"/>
                <a:cs typeface="Poppins" pitchFamily="34" charset="-120"/>
              </a:rPr>
              <a:t>17.1%</a:t>
            </a:r>
            <a:endParaRPr lang="en-US" sz="800" dirty="0"/>
          </a:p>
        </p:txBody>
      </p:sp>
      <p:sp>
        <p:nvSpPr>
          <p:cNvPr id="53" name="Text 51"/>
          <p:cNvSpPr txBox="1"/>
          <p:nvPr/>
        </p:nvSpPr>
        <p:spPr>
          <a:xfrm>
            <a:off x="640080" y="3441802"/>
            <a:ext cx="1783080" cy="193853"/>
          </a:xfrm>
          <a:prstGeom prst="rect">
            <a:avLst/>
          </a:prstGeom>
          <a:noFill/>
          <a:ln/>
        </p:spPr>
        <p:txBody>
          <a:bodyPr wrap="square" lIns="0" tIns="0" rIns="0" bIns="0" rtlCol="0" anchor="ctr"/>
          <a:lstStyle/>
          <a:p>
            <a:pPr indent="0" marL="0">
              <a:buNone/>
            </a:pPr>
            <a:r>
              <a:rPr lang="en-US" sz="800" b="1" dirty="0">
                <a:solidFill>
                  <a:srgbClr val="12293A"/>
                </a:solidFill>
                <a:latin typeface="Poppins" pitchFamily="34" charset="0"/>
                <a:ea typeface="Poppins" pitchFamily="34" charset="-122"/>
                <a:cs typeface="Poppins" pitchFamily="34" charset="-120"/>
              </a:rPr>
              <a:t>Rodney Nolan</a:t>
            </a:r>
            <a:endParaRPr lang="en-US" sz="800" dirty="0"/>
          </a:p>
        </p:txBody>
      </p:sp>
      <p:sp>
        <p:nvSpPr>
          <p:cNvPr id="54" name="Shape 52"/>
          <p:cNvSpPr/>
          <p:nvPr/>
        </p:nvSpPr>
        <p:spPr>
          <a:xfrm>
            <a:off x="2468880" y="3509010"/>
            <a:ext cx="2377440" cy="59436"/>
          </a:xfrm>
          <a:prstGeom prst="roundRect">
            <a:avLst>
              <a:gd name="adj" fmla="val 49231"/>
            </a:avLst>
          </a:prstGeom>
          <a:solidFill>
            <a:srgbClr val="E2EAEE"/>
          </a:solidFill>
          <a:ln/>
        </p:spPr>
      </p:sp>
      <p:sp>
        <p:nvSpPr>
          <p:cNvPr id="55" name="Shape 53"/>
          <p:cNvSpPr/>
          <p:nvPr/>
        </p:nvSpPr>
        <p:spPr>
          <a:xfrm>
            <a:off x="2468880" y="3509010"/>
            <a:ext cx="358993" cy="59436"/>
          </a:xfrm>
          <a:prstGeom prst="roundRect">
            <a:avLst>
              <a:gd name="adj" fmla="val 49231"/>
            </a:avLst>
          </a:prstGeom>
          <a:solidFill>
            <a:srgbClr val="2C8394"/>
          </a:solidFill>
          <a:ln/>
        </p:spPr>
      </p:sp>
      <p:sp>
        <p:nvSpPr>
          <p:cNvPr id="56" name="Text 54"/>
          <p:cNvSpPr txBox="1"/>
          <p:nvPr/>
        </p:nvSpPr>
        <p:spPr>
          <a:xfrm>
            <a:off x="5029200" y="3441802"/>
            <a:ext cx="822960" cy="193853"/>
          </a:xfrm>
          <a:prstGeom prst="rect">
            <a:avLst/>
          </a:prstGeom>
          <a:noFill/>
          <a:ln/>
        </p:spPr>
        <p:txBody>
          <a:bodyPr wrap="square" lIns="0" tIns="0" rIns="0" bIns="0" rtlCol="0" anchor="ctr"/>
          <a:lstStyle/>
          <a:p>
            <a:pPr algn="r" indent="0" marL="0">
              <a:buNone/>
            </a:pPr>
            <a:r>
              <a:rPr lang="en-US" sz="800" b="1" dirty="0">
                <a:solidFill>
                  <a:srgbClr val="2C8394"/>
                </a:solidFill>
                <a:latin typeface="Poppins" pitchFamily="34" charset="0"/>
                <a:ea typeface="Poppins" pitchFamily="34" charset="-122"/>
                <a:cs typeface="Poppins" pitchFamily="34" charset="-120"/>
              </a:rPr>
              <a:t>5.75h</a:t>
            </a:r>
            <a:endParaRPr lang="en-US" sz="800" dirty="0"/>
          </a:p>
        </p:txBody>
      </p:sp>
      <p:sp>
        <p:nvSpPr>
          <p:cNvPr id="57" name="Text 55"/>
          <p:cNvSpPr txBox="1"/>
          <p:nvPr/>
        </p:nvSpPr>
        <p:spPr>
          <a:xfrm>
            <a:off x="5943600" y="3441802"/>
            <a:ext cx="822960" cy="193853"/>
          </a:xfrm>
          <a:prstGeom prst="rect">
            <a:avLst/>
          </a:prstGeom>
          <a:noFill/>
          <a:ln/>
        </p:spPr>
        <p:txBody>
          <a:bodyPr wrap="square" lIns="0" tIns="0" rIns="0" bIns="0" rtlCol="0" anchor="ctr"/>
          <a:lstStyle/>
          <a:p>
            <a:pPr algn="r" indent="0" marL="0">
              <a:buNone/>
            </a:pPr>
            <a:r>
              <a:rPr lang="en-US" sz="800" b="1" dirty="0">
                <a:solidFill>
                  <a:srgbClr val="12293A"/>
                </a:solidFill>
                <a:latin typeface="Poppins" pitchFamily="34" charset="0"/>
                <a:ea typeface="Poppins" pitchFamily="34" charset="-122"/>
                <a:cs typeface="Poppins" pitchFamily="34" charset="-120"/>
              </a:rPr>
              <a:t>15.1%</a:t>
            </a:r>
            <a:endParaRPr lang="en-US" sz="800" dirty="0"/>
          </a:p>
        </p:txBody>
      </p:sp>
      <p:sp>
        <p:nvSpPr>
          <p:cNvPr id="58" name="Text 56"/>
          <p:cNvSpPr txBox="1"/>
          <p:nvPr/>
        </p:nvSpPr>
        <p:spPr>
          <a:xfrm>
            <a:off x="640080" y="3635654"/>
            <a:ext cx="1783080" cy="193853"/>
          </a:xfrm>
          <a:prstGeom prst="rect">
            <a:avLst/>
          </a:prstGeom>
          <a:noFill/>
          <a:ln/>
        </p:spPr>
        <p:txBody>
          <a:bodyPr wrap="square" lIns="0" tIns="0" rIns="0" bIns="0" rtlCol="0" anchor="ctr"/>
          <a:lstStyle/>
          <a:p>
            <a:pPr indent="0" marL="0">
              <a:buNone/>
            </a:pPr>
            <a:r>
              <a:rPr lang="en-US" sz="800" b="1" dirty="0">
                <a:solidFill>
                  <a:srgbClr val="12293A"/>
                </a:solidFill>
                <a:latin typeface="Poppins" pitchFamily="34" charset="0"/>
                <a:ea typeface="Poppins" pitchFamily="34" charset="-122"/>
                <a:cs typeface="Poppins" pitchFamily="34" charset="-120"/>
              </a:rPr>
              <a:t>Gregory St Clare-Hobbs</a:t>
            </a:r>
            <a:endParaRPr lang="en-US" sz="800" dirty="0"/>
          </a:p>
        </p:txBody>
      </p:sp>
      <p:sp>
        <p:nvSpPr>
          <p:cNvPr id="59" name="Shape 57"/>
          <p:cNvSpPr/>
          <p:nvPr/>
        </p:nvSpPr>
        <p:spPr>
          <a:xfrm>
            <a:off x="2468880" y="3702863"/>
            <a:ext cx="2377440" cy="59436"/>
          </a:xfrm>
          <a:prstGeom prst="roundRect">
            <a:avLst>
              <a:gd name="adj" fmla="val 49231"/>
            </a:avLst>
          </a:prstGeom>
          <a:solidFill>
            <a:srgbClr val="E2EAEE"/>
          </a:solidFill>
          <a:ln/>
        </p:spPr>
      </p:sp>
      <p:sp>
        <p:nvSpPr>
          <p:cNvPr id="60" name="Shape 58"/>
          <p:cNvSpPr/>
          <p:nvPr/>
        </p:nvSpPr>
        <p:spPr>
          <a:xfrm>
            <a:off x="2468880" y="3702863"/>
            <a:ext cx="280538" cy="59436"/>
          </a:xfrm>
          <a:prstGeom prst="roundRect">
            <a:avLst>
              <a:gd name="adj" fmla="val 49231"/>
            </a:avLst>
          </a:prstGeom>
          <a:solidFill>
            <a:srgbClr val="2C8394"/>
          </a:solidFill>
          <a:ln/>
        </p:spPr>
      </p:sp>
      <p:sp>
        <p:nvSpPr>
          <p:cNvPr id="61" name="Text 59"/>
          <p:cNvSpPr txBox="1"/>
          <p:nvPr/>
        </p:nvSpPr>
        <p:spPr>
          <a:xfrm>
            <a:off x="5029200" y="3635654"/>
            <a:ext cx="822960" cy="193853"/>
          </a:xfrm>
          <a:prstGeom prst="rect">
            <a:avLst/>
          </a:prstGeom>
          <a:noFill/>
          <a:ln/>
        </p:spPr>
        <p:txBody>
          <a:bodyPr wrap="square" lIns="0" tIns="0" rIns="0" bIns="0" rtlCol="0" anchor="ctr"/>
          <a:lstStyle/>
          <a:p>
            <a:pPr algn="r" indent="0" marL="0">
              <a:buNone/>
            </a:pPr>
            <a:r>
              <a:rPr lang="en-US" sz="800" b="1" dirty="0">
                <a:solidFill>
                  <a:srgbClr val="2C8394"/>
                </a:solidFill>
                <a:latin typeface="Poppins" pitchFamily="34" charset="0"/>
                <a:ea typeface="Poppins" pitchFamily="34" charset="-122"/>
                <a:cs typeface="Poppins" pitchFamily="34" charset="-120"/>
              </a:rPr>
              <a:t>4.50h</a:t>
            </a:r>
            <a:endParaRPr lang="en-US" sz="800" dirty="0"/>
          </a:p>
        </p:txBody>
      </p:sp>
      <p:sp>
        <p:nvSpPr>
          <p:cNvPr id="62" name="Text 60"/>
          <p:cNvSpPr txBox="1"/>
          <p:nvPr/>
        </p:nvSpPr>
        <p:spPr>
          <a:xfrm>
            <a:off x="5943600" y="3635654"/>
            <a:ext cx="822960" cy="193853"/>
          </a:xfrm>
          <a:prstGeom prst="rect">
            <a:avLst/>
          </a:prstGeom>
          <a:noFill/>
          <a:ln/>
        </p:spPr>
        <p:txBody>
          <a:bodyPr wrap="square" lIns="0" tIns="0" rIns="0" bIns="0" rtlCol="0" anchor="ctr"/>
          <a:lstStyle/>
          <a:p>
            <a:pPr algn="r" indent="0" marL="0">
              <a:buNone/>
            </a:pPr>
            <a:r>
              <a:rPr lang="en-US" sz="800" b="1" dirty="0">
                <a:solidFill>
                  <a:srgbClr val="12293A"/>
                </a:solidFill>
                <a:latin typeface="Poppins" pitchFamily="34" charset="0"/>
                <a:ea typeface="Poppins" pitchFamily="34" charset="-122"/>
                <a:cs typeface="Poppins" pitchFamily="34" charset="-120"/>
              </a:rPr>
              <a:t>11.8%</a:t>
            </a:r>
            <a:endParaRPr lang="en-US" sz="800" dirty="0"/>
          </a:p>
        </p:txBody>
      </p:sp>
      <p:sp>
        <p:nvSpPr>
          <p:cNvPr id="63" name="Text 61"/>
          <p:cNvSpPr txBox="1"/>
          <p:nvPr/>
        </p:nvSpPr>
        <p:spPr>
          <a:xfrm>
            <a:off x="640080" y="3829507"/>
            <a:ext cx="1783080" cy="193853"/>
          </a:xfrm>
          <a:prstGeom prst="rect">
            <a:avLst/>
          </a:prstGeom>
          <a:noFill/>
          <a:ln/>
        </p:spPr>
        <p:txBody>
          <a:bodyPr wrap="square" lIns="0" tIns="0" rIns="0" bIns="0" rtlCol="0" anchor="ctr"/>
          <a:lstStyle/>
          <a:p>
            <a:pPr indent="0" marL="0">
              <a:buNone/>
            </a:pPr>
            <a:r>
              <a:rPr lang="en-US" sz="800" b="1" dirty="0">
                <a:solidFill>
                  <a:srgbClr val="12293A"/>
                </a:solidFill>
                <a:latin typeface="Poppins" pitchFamily="34" charset="0"/>
                <a:ea typeface="Poppins" pitchFamily="34" charset="-122"/>
                <a:cs typeface="Poppins" pitchFamily="34" charset="-120"/>
              </a:rPr>
              <a:t>Isaac Mercado</a:t>
            </a:r>
            <a:endParaRPr lang="en-US" sz="800" dirty="0"/>
          </a:p>
        </p:txBody>
      </p:sp>
      <p:sp>
        <p:nvSpPr>
          <p:cNvPr id="64" name="Shape 62"/>
          <p:cNvSpPr/>
          <p:nvPr/>
        </p:nvSpPr>
        <p:spPr>
          <a:xfrm>
            <a:off x="2468880" y="3896716"/>
            <a:ext cx="2377440" cy="59436"/>
          </a:xfrm>
          <a:prstGeom prst="roundRect">
            <a:avLst>
              <a:gd name="adj" fmla="val 49231"/>
            </a:avLst>
          </a:prstGeom>
          <a:solidFill>
            <a:srgbClr val="E2EAEE"/>
          </a:solidFill>
          <a:ln/>
        </p:spPr>
      </p:sp>
      <p:sp>
        <p:nvSpPr>
          <p:cNvPr id="65" name="Shape 63"/>
          <p:cNvSpPr/>
          <p:nvPr/>
        </p:nvSpPr>
        <p:spPr>
          <a:xfrm>
            <a:off x="2468880" y="3896716"/>
            <a:ext cx="92720" cy="59436"/>
          </a:xfrm>
          <a:prstGeom prst="roundRect">
            <a:avLst>
              <a:gd name="adj" fmla="val 49231"/>
            </a:avLst>
          </a:prstGeom>
          <a:solidFill>
            <a:srgbClr val="2C8394"/>
          </a:solidFill>
          <a:ln/>
        </p:spPr>
      </p:sp>
      <p:sp>
        <p:nvSpPr>
          <p:cNvPr id="66" name="Text 64"/>
          <p:cNvSpPr txBox="1"/>
          <p:nvPr/>
        </p:nvSpPr>
        <p:spPr>
          <a:xfrm>
            <a:off x="5029200" y="3829507"/>
            <a:ext cx="822960" cy="193853"/>
          </a:xfrm>
          <a:prstGeom prst="rect">
            <a:avLst/>
          </a:prstGeom>
          <a:noFill/>
          <a:ln/>
        </p:spPr>
        <p:txBody>
          <a:bodyPr wrap="square" lIns="0" tIns="0" rIns="0" bIns="0" rtlCol="0" anchor="ctr"/>
          <a:lstStyle/>
          <a:p>
            <a:pPr algn="r" indent="0" marL="0">
              <a:buNone/>
            </a:pPr>
            <a:r>
              <a:rPr lang="en-US" sz="800" b="1" dirty="0">
                <a:solidFill>
                  <a:srgbClr val="2C8394"/>
                </a:solidFill>
                <a:latin typeface="Poppins" pitchFamily="34" charset="0"/>
                <a:ea typeface="Poppins" pitchFamily="34" charset="-122"/>
                <a:cs typeface="Poppins" pitchFamily="34" charset="-120"/>
              </a:rPr>
              <a:t>1.50h</a:t>
            </a:r>
            <a:endParaRPr lang="en-US" sz="800" dirty="0"/>
          </a:p>
        </p:txBody>
      </p:sp>
      <p:sp>
        <p:nvSpPr>
          <p:cNvPr id="67" name="Text 65"/>
          <p:cNvSpPr txBox="1"/>
          <p:nvPr/>
        </p:nvSpPr>
        <p:spPr>
          <a:xfrm>
            <a:off x="5943600" y="3829507"/>
            <a:ext cx="822960" cy="193853"/>
          </a:xfrm>
          <a:prstGeom prst="rect">
            <a:avLst/>
          </a:prstGeom>
          <a:noFill/>
          <a:ln/>
        </p:spPr>
        <p:txBody>
          <a:bodyPr wrap="square" lIns="0" tIns="0" rIns="0" bIns="0" rtlCol="0" anchor="ctr"/>
          <a:lstStyle/>
          <a:p>
            <a:pPr algn="r" indent="0" marL="0">
              <a:buNone/>
            </a:pPr>
            <a:r>
              <a:rPr lang="en-US" sz="800" b="1" dirty="0">
                <a:solidFill>
                  <a:srgbClr val="12293A"/>
                </a:solidFill>
                <a:latin typeface="Poppins" pitchFamily="34" charset="0"/>
                <a:ea typeface="Poppins" pitchFamily="34" charset="-122"/>
                <a:cs typeface="Poppins" pitchFamily="34" charset="-120"/>
              </a:rPr>
              <a:t>3.9%</a:t>
            </a:r>
            <a:endParaRPr lang="en-US" sz="800" dirty="0"/>
          </a:p>
        </p:txBody>
      </p:sp>
      <p:sp>
        <p:nvSpPr>
          <p:cNvPr id="68" name="Text 66"/>
          <p:cNvSpPr txBox="1"/>
          <p:nvPr/>
        </p:nvSpPr>
        <p:spPr>
          <a:xfrm>
            <a:off x="640080" y="4023360"/>
            <a:ext cx="1783080" cy="193853"/>
          </a:xfrm>
          <a:prstGeom prst="rect">
            <a:avLst/>
          </a:prstGeom>
          <a:noFill/>
          <a:ln/>
        </p:spPr>
        <p:txBody>
          <a:bodyPr wrap="square" lIns="0" tIns="0" rIns="0" bIns="0" rtlCol="0" anchor="ctr"/>
          <a:lstStyle/>
          <a:p>
            <a:pPr indent="0" marL="0">
              <a:buNone/>
            </a:pPr>
            <a:r>
              <a:rPr lang="en-US" sz="800" b="1" dirty="0">
                <a:solidFill>
                  <a:srgbClr val="12293A"/>
                </a:solidFill>
                <a:latin typeface="Poppins" pitchFamily="34" charset="0"/>
                <a:ea typeface="Poppins" pitchFamily="34" charset="-122"/>
                <a:cs typeface="Poppins" pitchFamily="34" charset="-120"/>
              </a:rPr>
              <a:t>Ryan Neil Orande</a:t>
            </a:r>
            <a:endParaRPr lang="en-US" sz="800" dirty="0"/>
          </a:p>
        </p:txBody>
      </p:sp>
      <p:sp>
        <p:nvSpPr>
          <p:cNvPr id="69" name="Shape 67"/>
          <p:cNvSpPr/>
          <p:nvPr/>
        </p:nvSpPr>
        <p:spPr>
          <a:xfrm>
            <a:off x="2468880" y="4090568"/>
            <a:ext cx="2377440" cy="59436"/>
          </a:xfrm>
          <a:prstGeom prst="roundRect">
            <a:avLst>
              <a:gd name="adj" fmla="val 49231"/>
            </a:avLst>
          </a:prstGeom>
          <a:solidFill>
            <a:srgbClr val="E2EAEE"/>
          </a:solidFill>
          <a:ln/>
        </p:spPr>
      </p:sp>
      <p:sp>
        <p:nvSpPr>
          <p:cNvPr id="70" name="Shape 68"/>
          <p:cNvSpPr/>
          <p:nvPr/>
        </p:nvSpPr>
        <p:spPr>
          <a:xfrm>
            <a:off x="2468880" y="4090568"/>
            <a:ext cx="68946" cy="59436"/>
          </a:xfrm>
          <a:prstGeom prst="roundRect">
            <a:avLst>
              <a:gd name="adj" fmla="val 49231"/>
            </a:avLst>
          </a:prstGeom>
          <a:solidFill>
            <a:srgbClr val="2C8394"/>
          </a:solidFill>
          <a:ln/>
        </p:spPr>
      </p:sp>
      <p:sp>
        <p:nvSpPr>
          <p:cNvPr id="71" name="Text 69"/>
          <p:cNvSpPr txBox="1"/>
          <p:nvPr/>
        </p:nvSpPr>
        <p:spPr>
          <a:xfrm>
            <a:off x="5029200" y="4023360"/>
            <a:ext cx="822960" cy="193853"/>
          </a:xfrm>
          <a:prstGeom prst="rect">
            <a:avLst/>
          </a:prstGeom>
          <a:noFill/>
          <a:ln/>
        </p:spPr>
        <p:txBody>
          <a:bodyPr wrap="square" lIns="0" tIns="0" rIns="0" bIns="0" rtlCol="0" anchor="ctr"/>
          <a:lstStyle/>
          <a:p>
            <a:pPr algn="r" indent="0" marL="0">
              <a:buNone/>
            </a:pPr>
            <a:r>
              <a:rPr lang="en-US" sz="800" b="1" dirty="0">
                <a:solidFill>
                  <a:srgbClr val="2C8394"/>
                </a:solidFill>
                <a:latin typeface="Poppins" pitchFamily="34" charset="0"/>
                <a:ea typeface="Poppins" pitchFamily="34" charset="-122"/>
                <a:cs typeface="Poppins" pitchFamily="34" charset="-120"/>
              </a:rPr>
              <a:t>1.11h</a:t>
            </a:r>
            <a:endParaRPr lang="en-US" sz="800" dirty="0"/>
          </a:p>
        </p:txBody>
      </p:sp>
      <p:sp>
        <p:nvSpPr>
          <p:cNvPr id="72" name="Text 70"/>
          <p:cNvSpPr txBox="1"/>
          <p:nvPr/>
        </p:nvSpPr>
        <p:spPr>
          <a:xfrm>
            <a:off x="5943600" y="4023360"/>
            <a:ext cx="822960" cy="193853"/>
          </a:xfrm>
          <a:prstGeom prst="rect">
            <a:avLst/>
          </a:prstGeom>
          <a:noFill/>
          <a:ln/>
        </p:spPr>
        <p:txBody>
          <a:bodyPr wrap="square" lIns="0" tIns="0" rIns="0" bIns="0" rtlCol="0" anchor="ctr"/>
          <a:lstStyle/>
          <a:p>
            <a:pPr algn="r" indent="0" marL="0">
              <a:buNone/>
            </a:pPr>
            <a:r>
              <a:rPr lang="en-US" sz="800" b="1" dirty="0">
                <a:solidFill>
                  <a:srgbClr val="12293A"/>
                </a:solidFill>
                <a:latin typeface="Poppins" pitchFamily="34" charset="0"/>
                <a:ea typeface="Poppins" pitchFamily="34" charset="-122"/>
                <a:cs typeface="Poppins" pitchFamily="34" charset="-120"/>
              </a:rPr>
              <a:t>2.9%</a:t>
            </a:r>
            <a:endParaRPr lang="en-US" sz="800" dirty="0"/>
          </a:p>
        </p:txBody>
      </p:sp>
      <p:sp>
        <p:nvSpPr>
          <p:cNvPr id="73" name="Text 71"/>
          <p:cNvSpPr txBox="1"/>
          <p:nvPr/>
        </p:nvSpPr>
        <p:spPr>
          <a:xfrm>
            <a:off x="640080" y="4217213"/>
            <a:ext cx="1783080" cy="193853"/>
          </a:xfrm>
          <a:prstGeom prst="rect">
            <a:avLst/>
          </a:prstGeom>
          <a:noFill/>
          <a:ln/>
        </p:spPr>
        <p:txBody>
          <a:bodyPr wrap="square" lIns="0" tIns="0" rIns="0" bIns="0" rtlCol="0" anchor="ctr"/>
          <a:lstStyle/>
          <a:p>
            <a:pPr indent="0" marL="0">
              <a:buNone/>
            </a:pPr>
            <a:r>
              <a:rPr lang="en-US" sz="800" b="1" dirty="0">
                <a:solidFill>
                  <a:srgbClr val="12293A"/>
                </a:solidFill>
                <a:latin typeface="Poppins" pitchFamily="34" charset="0"/>
                <a:ea typeface="Poppins" pitchFamily="34" charset="-122"/>
                <a:cs typeface="Poppins" pitchFamily="34" charset="-120"/>
              </a:rPr>
              <a:t>Argenis Rafael Guevara</a:t>
            </a:r>
            <a:endParaRPr lang="en-US" sz="800" dirty="0"/>
          </a:p>
        </p:txBody>
      </p:sp>
      <p:sp>
        <p:nvSpPr>
          <p:cNvPr id="74" name="Shape 72"/>
          <p:cNvSpPr/>
          <p:nvPr/>
        </p:nvSpPr>
        <p:spPr>
          <a:xfrm>
            <a:off x="2468880" y="4284421"/>
            <a:ext cx="2377440" cy="59436"/>
          </a:xfrm>
          <a:prstGeom prst="roundRect">
            <a:avLst>
              <a:gd name="adj" fmla="val 49231"/>
            </a:avLst>
          </a:prstGeom>
          <a:solidFill>
            <a:srgbClr val="E2EAEE"/>
          </a:solidFill>
          <a:ln/>
        </p:spPr>
      </p:sp>
      <p:sp>
        <p:nvSpPr>
          <p:cNvPr id="75" name="Shape 73"/>
          <p:cNvSpPr/>
          <p:nvPr/>
        </p:nvSpPr>
        <p:spPr>
          <a:xfrm>
            <a:off x="2468880" y="4284421"/>
            <a:ext cx="45720" cy="59436"/>
          </a:xfrm>
          <a:prstGeom prst="roundRect">
            <a:avLst>
              <a:gd name="adj" fmla="val 64000"/>
            </a:avLst>
          </a:prstGeom>
          <a:solidFill>
            <a:srgbClr val="2C8394"/>
          </a:solidFill>
          <a:ln/>
        </p:spPr>
      </p:sp>
      <p:sp>
        <p:nvSpPr>
          <p:cNvPr id="76" name="Text 74"/>
          <p:cNvSpPr txBox="1"/>
          <p:nvPr/>
        </p:nvSpPr>
        <p:spPr>
          <a:xfrm>
            <a:off x="5029200" y="4217213"/>
            <a:ext cx="822960" cy="193853"/>
          </a:xfrm>
          <a:prstGeom prst="rect">
            <a:avLst/>
          </a:prstGeom>
          <a:noFill/>
          <a:ln/>
        </p:spPr>
        <p:txBody>
          <a:bodyPr wrap="square" lIns="0" tIns="0" rIns="0" bIns="0" rtlCol="0" anchor="ctr"/>
          <a:lstStyle/>
          <a:p>
            <a:pPr algn="r" indent="0" marL="0">
              <a:buNone/>
            </a:pPr>
            <a:r>
              <a:rPr lang="en-US" sz="800" b="1" dirty="0">
                <a:solidFill>
                  <a:srgbClr val="2C8394"/>
                </a:solidFill>
                <a:latin typeface="Poppins" pitchFamily="34" charset="0"/>
                <a:ea typeface="Poppins" pitchFamily="34" charset="-122"/>
                <a:cs typeface="Poppins" pitchFamily="34" charset="-120"/>
              </a:rPr>
              <a:t>0.59h</a:t>
            </a:r>
            <a:endParaRPr lang="en-US" sz="800" dirty="0"/>
          </a:p>
        </p:txBody>
      </p:sp>
      <p:sp>
        <p:nvSpPr>
          <p:cNvPr id="77" name="Text 75"/>
          <p:cNvSpPr txBox="1"/>
          <p:nvPr/>
        </p:nvSpPr>
        <p:spPr>
          <a:xfrm>
            <a:off x="5943600" y="4217213"/>
            <a:ext cx="822960" cy="193853"/>
          </a:xfrm>
          <a:prstGeom prst="rect">
            <a:avLst/>
          </a:prstGeom>
          <a:noFill/>
          <a:ln/>
        </p:spPr>
        <p:txBody>
          <a:bodyPr wrap="square" lIns="0" tIns="0" rIns="0" bIns="0" rtlCol="0" anchor="ctr"/>
          <a:lstStyle/>
          <a:p>
            <a:pPr algn="r" indent="0" marL="0">
              <a:buNone/>
            </a:pPr>
            <a:r>
              <a:rPr lang="en-US" sz="800" b="1" dirty="0">
                <a:solidFill>
                  <a:srgbClr val="12293A"/>
                </a:solidFill>
                <a:latin typeface="Poppins" pitchFamily="34" charset="0"/>
                <a:ea typeface="Poppins" pitchFamily="34" charset="-122"/>
                <a:cs typeface="Poppins" pitchFamily="34" charset="-120"/>
              </a:rPr>
              <a:t>1.6%</a:t>
            </a:r>
            <a:endParaRPr lang="en-US" sz="800" dirty="0"/>
          </a:p>
        </p:txBody>
      </p:sp>
      <p:sp>
        <p:nvSpPr>
          <p:cNvPr id="78" name="Text 76"/>
          <p:cNvSpPr txBox="1"/>
          <p:nvPr/>
        </p:nvSpPr>
        <p:spPr>
          <a:xfrm>
            <a:off x="640080" y="4411066"/>
            <a:ext cx="1783080" cy="193853"/>
          </a:xfrm>
          <a:prstGeom prst="rect">
            <a:avLst/>
          </a:prstGeom>
          <a:noFill/>
          <a:ln/>
        </p:spPr>
        <p:txBody>
          <a:bodyPr wrap="square" lIns="0" tIns="0" rIns="0" bIns="0" rtlCol="0" anchor="ctr"/>
          <a:lstStyle/>
          <a:p>
            <a:pPr indent="0" marL="0">
              <a:buNone/>
            </a:pPr>
            <a:r>
              <a:rPr lang="en-US" sz="800" dirty="0">
                <a:solidFill>
                  <a:srgbClr val="5E7280"/>
                </a:solidFill>
                <a:latin typeface="Poppins" pitchFamily="34" charset="0"/>
                <a:ea typeface="Poppins" pitchFamily="34" charset="-122"/>
                <a:cs typeface="Poppins" pitchFamily="34" charset="-120"/>
              </a:rPr>
              <a:t>Isayah Kuhlmann</a:t>
            </a:r>
            <a:endParaRPr lang="en-US" sz="800" dirty="0"/>
          </a:p>
        </p:txBody>
      </p:sp>
      <p:sp>
        <p:nvSpPr>
          <p:cNvPr id="79" name="Shape 77"/>
          <p:cNvSpPr/>
          <p:nvPr/>
        </p:nvSpPr>
        <p:spPr>
          <a:xfrm>
            <a:off x="2468880" y="4478274"/>
            <a:ext cx="2377440" cy="59436"/>
          </a:xfrm>
          <a:prstGeom prst="roundRect">
            <a:avLst>
              <a:gd name="adj" fmla="val 49231"/>
            </a:avLst>
          </a:prstGeom>
          <a:solidFill>
            <a:srgbClr val="E2EAEE"/>
          </a:solidFill>
          <a:ln/>
        </p:spPr>
      </p:sp>
      <p:sp>
        <p:nvSpPr>
          <p:cNvPr id="80" name="Text 78"/>
          <p:cNvSpPr txBox="1"/>
          <p:nvPr/>
        </p:nvSpPr>
        <p:spPr>
          <a:xfrm>
            <a:off x="5029200" y="4411066"/>
            <a:ext cx="822960" cy="193853"/>
          </a:xfrm>
          <a:prstGeom prst="rect">
            <a:avLst/>
          </a:prstGeom>
          <a:noFill/>
          <a:ln/>
        </p:spPr>
        <p:txBody>
          <a:bodyPr wrap="square" lIns="0" tIns="0" rIns="0" bIns="0" rtlCol="0" anchor="ctr"/>
          <a:lstStyle/>
          <a:p>
            <a:pPr algn="r" indent="0" marL="0">
              <a:buNone/>
            </a:pPr>
            <a:r>
              <a:rPr lang="en-US" sz="800" dirty="0">
                <a:solidFill>
                  <a:srgbClr val="8FA1AC"/>
                </a:solidFill>
                <a:latin typeface="Poppins" pitchFamily="34" charset="0"/>
                <a:ea typeface="Poppins" pitchFamily="34" charset="-122"/>
                <a:cs typeface="Poppins" pitchFamily="34" charset="-120"/>
              </a:rPr>
              <a:t>—</a:t>
            </a:r>
            <a:endParaRPr lang="en-US" sz="800" dirty="0"/>
          </a:p>
        </p:txBody>
      </p:sp>
      <p:sp>
        <p:nvSpPr>
          <p:cNvPr id="81" name="Text 79"/>
          <p:cNvSpPr txBox="1"/>
          <p:nvPr/>
        </p:nvSpPr>
        <p:spPr>
          <a:xfrm>
            <a:off x="5943600" y="4411066"/>
            <a:ext cx="822960" cy="193853"/>
          </a:xfrm>
          <a:prstGeom prst="rect">
            <a:avLst/>
          </a:prstGeom>
          <a:noFill/>
          <a:ln/>
        </p:spPr>
        <p:txBody>
          <a:bodyPr wrap="square" lIns="0" tIns="0" rIns="0" bIns="0" rtlCol="0" anchor="ctr"/>
          <a:lstStyle/>
          <a:p>
            <a:pPr algn="r" indent="0" marL="0">
              <a:buNone/>
            </a:pPr>
            <a:r>
              <a:rPr lang="en-US" sz="600" dirty="0">
                <a:solidFill>
                  <a:srgbClr val="8FA1AC"/>
                </a:solidFill>
                <a:latin typeface="Poppins" pitchFamily="34" charset="0"/>
                <a:ea typeface="Poppins" pitchFamily="34" charset="-122"/>
                <a:cs typeface="Poppins" pitchFamily="34" charset="-120"/>
              </a:rPr>
              <a:t>no time logged</a:t>
            </a:r>
            <a:endParaRPr lang="en-US" sz="600" dirty="0"/>
          </a:p>
        </p:txBody>
      </p:sp>
      <p:sp>
        <p:nvSpPr>
          <p:cNvPr id="82" name="Text 80"/>
          <p:cNvSpPr txBox="1"/>
          <p:nvPr/>
        </p:nvSpPr>
        <p:spPr>
          <a:xfrm>
            <a:off x="640080" y="4604918"/>
            <a:ext cx="1783080" cy="193853"/>
          </a:xfrm>
          <a:prstGeom prst="rect">
            <a:avLst/>
          </a:prstGeom>
          <a:noFill/>
          <a:ln/>
        </p:spPr>
        <p:txBody>
          <a:bodyPr wrap="square" lIns="0" tIns="0" rIns="0" bIns="0" rtlCol="0" anchor="ctr"/>
          <a:lstStyle/>
          <a:p>
            <a:pPr indent="0" marL="0">
              <a:buNone/>
            </a:pPr>
            <a:r>
              <a:rPr lang="en-US" sz="800" dirty="0">
                <a:solidFill>
                  <a:srgbClr val="5E7280"/>
                </a:solidFill>
                <a:latin typeface="Poppins" pitchFamily="34" charset="0"/>
                <a:ea typeface="Poppins" pitchFamily="34" charset="-122"/>
                <a:cs typeface="Poppins" pitchFamily="34" charset="-120"/>
              </a:rPr>
              <a:t>Karim AlRifaii</a:t>
            </a:r>
            <a:endParaRPr lang="en-US" sz="800" dirty="0"/>
          </a:p>
        </p:txBody>
      </p:sp>
      <p:sp>
        <p:nvSpPr>
          <p:cNvPr id="83" name="Shape 81"/>
          <p:cNvSpPr/>
          <p:nvPr/>
        </p:nvSpPr>
        <p:spPr>
          <a:xfrm>
            <a:off x="2468880" y="4672127"/>
            <a:ext cx="2377440" cy="59436"/>
          </a:xfrm>
          <a:prstGeom prst="roundRect">
            <a:avLst>
              <a:gd name="adj" fmla="val 49231"/>
            </a:avLst>
          </a:prstGeom>
          <a:solidFill>
            <a:srgbClr val="E2EAEE"/>
          </a:solidFill>
          <a:ln/>
        </p:spPr>
      </p:sp>
      <p:sp>
        <p:nvSpPr>
          <p:cNvPr id="84" name="Text 82"/>
          <p:cNvSpPr txBox="1"/>
          <p:nvPr/>
        </p:nvSpPr>
        <p:spPr>
          <a:xfrm>
            <a:off x="5029200" y="4604918"/>
            <a:ext cx="822960" cy="193853"/>
          </a:xfrm>
          <a:prstGeom prst="rect">
            <a:avLst/>
          </a:prstGeom>
          <a:noFill/>
          <a:ln/>
        </p:spPr>
        <p:txBody>
          <a:bodyPr wrap="square" lIns="0" tIns="0" rIns="0" bIns="0" rtlCol="0" anchor="ctr"/>
          <a:lstStyle/>
          <a:p>
            <a:pPr algn="r" indent="0" marL="0">
              <a:buNone/>
            </a:pPr>
            <a:r>
              <a:rPr lang="en-US" sz="800" dirty="0">
                <a:solidFill>
                  <a:srgbClr val="8FA1AC"/>
                </a:solidFill>
                <a:latin typeface="Poppins" pitchFamily="34" charset="0"/>
                <a:ea typeface="Poppins" pitchFamily="34" charset="-122"/>
                <a:cs typeface="Poppins" pitchFamily="34" charset="-120"/>
              </a:rPr>
              <a:t>—</a:t>
            </a:r>
            <a:endParaRPr lang="en-US" sz="800" dirty="0"/>
          </a:p>
        </p:txBody>
      </p:sp>
      <p:sp>
        <p:nvSpPr>
          <p:cNvPr id="85" name="Text 83"/>
          <p:cNvSpPr txBox="1"/>
          <p:nvPr/>
        </p:nvSpPr>
        <p:spPr>
          <a:xfrm>
            <a:off x="5943600" y="4604918"/>
            <a:ext cx="822960" cy="193853"/>
          </a:xfrm>
          <a:prstGeom prst="rect">
            <a:avLst/>
          </a:prstGeom>
          <a:noFill/>
          <a:ln/>
        </p:spPr>
        <p:txBody>
          <a:bodyPr wrap="square" lIns="0" tIns="0" rIns="0" bIns="0" rtlCol="0" anchor="ctr"/>
          <a:lstStyle/>
          <a:p>
            <a:pPr algn="r" indent="0" marL="0">
              <a:buNone/>
            </a:pPr>
            <a:r>
              <a:rPr lang="en-US" sz="600" dirty="0">
                <a:solidFill>
                  <a:srgbClr val="8FA1AC"/>
                </a:solidFill>
                <a:latin typeface="Poppins" pitchFamily="34" charset="0"/>
                <a:ea typeface="Poppins" pitchFamily="34" charset="-122"/>
                <a:cs typeface="Poppins" pitchFamily="34" charset="-120"/>
              </a:rPr>
              <a:t>no time logged</a:t>
            </a:r>
            <a:endParaRPr lang="en-US" sz="600" dirty="0"/>
          </a:p>
        </p:txBody>
      </p:sp>
      <p:sp>
        <p:nvSpPr>
          <p:cNvPr id="86" name="Shape 84"/>
          <p:cNvSpPr/>
          <p:nvPr/>
        </p:nvSpPr>
        <p:spPr>
          <a:xfrm>
            <a:off x="640080" y="4817059"/>
            <a:ext cx="6126480" cy="10973"/>
          </a:xfrm>
          <a:prstGeom prst="rect">
            <a:avLst/>
          </a:prstGeom>
          <a:solidFill>
            <a:srgbClr val="12293A"/>
          </a:solidFill>
          <a:ln/>
        </p:spPr>
      </p:sp>
      <p:sp>
        <p:nvSpPr>
          <p:cNvPr id="87" name="Text 85"/>
          <p:cNvSpPr txBox="1"/>
          <p:nvPr/>
        </p:nvSpPr>
        <p:spPr>
          <a:xfrm>
            <a:off x="640080" y="4844491"/>
            <a:ext cx="1783080" cy="193853"/>
          </a:xfrm>
          <a:prstGeom prst="rect">
            <a:avLst/>
          </a:prstGeom>
          <a:noFill/>
          <a:ln/>
        </p:spPr>
        <p:txBody>
          <a:bodyPr wrap="square" lIns="0" tIns="0" rIns="0" bIns="0" rtlCol="0" anchor="ctr"/>
          <a:lstStyle/>
          <a:p>
            <a:pPr indent="0" marL="0">
              <a:buNone/>
            </a:pPr>
            <a:r>
              <a:rPr lang="en-US" sz="850" b="1" dirty="0">
                <a:solidFill>
                  <a:srgbClr val="12293A"/>
                </a:solidFill>
                <a:latin typeface="Poppins" pitchFamily="34" charset="0"/>
                <a:ea typeface="Poppins" pitchFamily="34" charset="-122"/>
                <a:cs typeface="Poppins" pitchFamily="34" charset="-120"/>
              </a:rPr>
              <a:t>TOTAL</a:t>
            </a:r>
            <a:endParaRPr lang="en-US" sz="850" dirty="0"/>
          </a:p>
        </p:txBody>
      </p:sp>
      <p:sp>
        <p:nvSpPr>
          <p:cNvPr id="88" name="Text 86"/>
          <p:cNvSpPr txBox="1"/>
          <p:nvPr/>
        </p:nvSpPr>
        <p:spPr>
          <a:xfrm>
            <a:off x="2468880" y="4844491"/>
            <a:ext cx="2377440" cy="193853"/>
          </a:xfrm>
          <a:prstGeom prst="rect">
            <a:avLst/>
          </a:prstGeom>
          <a:noFill/>
          <a:ln/>
        </p:spPr>
        <p:txBody>
          <a:bodyPr wrap="square" lIns="0" tIns="0" rIns="0" bIns="0" rtlCol="0" anchor="ctr"/>
          <a:lstStyle/>
          <a:p>
            <a:pPr indent="0" marL="0">
              <a:buNone/>
            </a:pPr>
            <a:r>
              <a:rPr lang="en-US" sz="700" dirty="0">
                <a:solidFill>
                  <a:srgbClr val="5E7280"/>
                </a:solidFill>
                <a:latin typeface="Poppins" pitchFamily="34" charset="0"/>
                <a:ea typeface="Poppins" pitchFamily="34" charset="-122"/>
                <a:cs typeface="Poppins" pitchFamily="34" charset="-120"/>
              </a:rPr>
              <a:t>9 PS people × 38h = 342h available</a:t>
            </a:r>
            <a:endParaRPr lang="en-US" sz="700" dirty="0"/>
          </a:p>
        </p:txBody>
      </p:sp>
      <p:sp>
        <p:nvSpPr>
          <p:cNvPr id="89" name="Text 87"/>
          <p:cNvSpPr txBox="1"/>
          <p:nvPr/>
        </p:nvSpPr>
        <p:spPr>
          <a:xfrm>
            <a:off x="5029200" y="4844491"/>
            <a:ext cx="822960" cy="193853"/>
          </a:xfrm>
          <a:prstGeom prst="rect">
            <a:avLst/>
          </a:prstGeom>
          <a:noFill/>
          <a:ln/>
        </p:spPr>
        <p:txBody>
          <a:bodyPr wrap="square" lIns="0" tIns="0" rIns="0" bIns="0" rtlCol="0" anchor="ctr"/>
          <a:lstStyle/>
          <a:p>
            <a:pPr algn="r" indent="0" marL="0">
              <a:buNone/>
            </a:pPr>
            <a:r>
              <a:rPr lang="en-US" sz="950" b="1" dirty="0">
                <a:solidFill>
                  <a:srgbClr val="2C8394"/>
                </a:solidFill>
                <a:latin typeface="Poppins" pitchFamily="34" charset="0"/>
                <a:ea typeface="Poppins" pitchFamily="34" charset="-122"/>
                <a:cs typeface="Poppins" pitchFamily="34" charset="-120"/>
              </a:rPr>
              <a:t>39.45h</a:t>
            </a:r>
            <a:endParaRPr lang="en-US" sz="950" dirty="0"/>
          </a:p>
        </p:txBody>
      </p:sp>
      <p:sp>
        <p:nvSpPr>
          <p:cNvPr id="90" name="Text 88"/>
          <p:cNvSpPr txBox="1"/>
          <p:nvPr/>
        </p:nvSpPr>
        <p:spPr>
          <a:xfrm>
            <a:off x="5943600" y="4844491"/>
            <a:ext cx="822960" cy="193853"/>
          </a:xfrm>
          <a:prstGeom prst="rect">
            <a:avLst/>
          </a:prstGeom>
          <a:noFill/>
          <a:ln/>
        </p:spPr>
        <p:txBody>
          <a:bodyPr wrap="square" lIns="0" tIns="0" rIns="0" bIns="0" rtlCol="0" anchor="ctr"/>
          <a:lstStyle/>
          <a:p>
            <a:pPr algn="r" indent="0" marL="0">
              <a:buNone/>
            </a:pPr>
            <a:r>
              <a:rPr lang="en-US" sz="950" b="1" dirty="0">
                <a:solidFill>
                  <a:srgbClr val="C88A2E"/>
                </a:solidFill>
                <a:latin typeface="Poppins" pitchFamily="34" charset="0"/>
                <a:ea typeface="Poppins" pitchFamily="34" charset="-122"/>
                <a:cs typeface="Poppins" pitchFamily="34" charset="-120"/>
              </a:rPr>
              <a:t>11.5%</a:t>
            </a:r>
            <a:endParaRPr lang="en-US" sz="950" dirty="0"/>
          </a:p>
        </p:txBody>
      </p:sp>
      <p:sp>
        <p:nvSpPr>
          <p:cNvPr id="91" name="Text 89"/>
          <p:cNvSpPr txBox="1"/>
          <p:nvPr/>
        </p:nvSpPr>
        <p:spPr>
          <a:xfrm>
            <a:off x="640080" y="5029200"/>
            <a:ext cx="6126480" cy="310896"/>
          </a:xfrm>
          <a:prstGeom prst="rect">
            <a:avLst/>
          </a:prstGeom>
          <a:noFill/>
          <a:ln/>
        </p:spPr>
        <p:txBody>
          <a:bodyPr wrap="square" lIns="0" tIns="0" rIns="0" bIns="0" rtlCol="0" anchor="t"/>
          <a:lstStyle/>
          <a:p>
            <a:pPr indent="0" marL="0">
              <a:buNone/>
            </a:pPr>
            <a:r>
              <a:rPr lang="en-US" sz="580" dirty="0">
                <a:solidFill>
                  <a:srgbClr val="8FA1AC"/>
                </a:solidFill>
                <a:latin typeface="Poppins" pitchFamily="34" charset="0"/>
                <a:ea typeface="Poppins" pitchFamily="34" charset="-122"/>
                <a:cs typeface="Poppins" pitchFamily="34" charset="-120"/>
              </a:rPr>
              <a:t>Available staff = the 9 Professional Services people holding PS-pipeline tickets this week, at 38h each. No leave reported. Lopez, Hikuroa, Magabo, Ho, Fenwick and Hettiarachchy hold PS tickets but are not PS staff — they and their hours are excluded; none carried hours this week.</a:t>
            </a:r>
            <a:endParaRPr lang="en-US" sz="580" dirty="0"/>
          </a:p>
        </p:txBody>
      </p:sp>
      <p:sp>
        <p:nvSpPr>
          <p:cNvPr id="92" name="Shape 90"/>
          <p:cNvSpPr/>
          <p:nvPr/>
        </p:nvSpPr>
        <p:spPr>
          <a:xfrm>
            <a:off x="7178040" y="2395728"/>
            <a:ext cx="4599432" cy="1481328"/>
          </a:xfrm>
          <a:prstGeom prst="roundRect">
            <a:avLst>
              <a:gd name="adj" fmla="val 4321"/>
            </a:avLst>
          </a:prstGeom>
          <a:solidFill>
            <a:srgbClr val="FFFFFF"/>
          </a:solidFill>
          <a:ln/>
          <a:effectLst>
            <a:outerShdw sx="100000" sy="100000" kx="0" ky="0" algn="bl" rotWithShape="0" blurRad="76200" dist="25400" dir="5400000">
              <a:srgbClr val="9AAAB5">
                <a:alpha val="35000"/>
              </a:srgbClr>
            </a:outerShdw>
          </a:effectLst>
        </p:spPr>
      </p:sp>
      <p:sp>
        <p:nvSpPr>
          <p:cNvPr id="93" name="Text 91"/>
          <p:cNvSpPr txBox="1"/>
          <p:nvPr/>
        </p:nvSpPr>
        <p:spPr>
          <a:xfrm>
            <a:off x="7379208" y="2468880"/>
            <a:ext cx="4197096" cy="219456"/>
          </a:xfrm>
          <a:prstGeom prst="rect">
            <a:avLst/>
          </a:prstGeom>
          <a:noFill/>
          <a:ln/>
        </p:spPr>
        <p:txBody>
          <a:bodyPr wrap="square" lIns="0" tIns="0" rIns="0" bIns="0" rtlCol="0" anchor="ctr"/>
          <a:lstStyle/>
          <a:p>
            <a:pPr indent="0" marL="0">
              <a:buNone/>
            </a:pPr>
            <a:r>
              <a:rPr lang="en-US" sz="1100" b="1" dirty="0">
                <a:solidFill>
                  <a:srgbClr val="2C8394"/>
                </a:solidFill>
                <a:latin typeface="Poppins" pitchFamily="34" charset="0"/>
                <a:ea typeface="Poppins" pitchFamily="34" charset="-122"/>
                <a:cs typeface="Poppins" pitchFamily="34" charset="-120"/>
              </a:rPr>
              <a:t>BILLABLE BY PS WORK  </a:t>
            </a:r>
            <a:pPr indent="0" marL="0">
              <a:buNone/>
            </a:pPr>
            <a:r>
              <a:rPr lang="en-US" sz="650" dirty="0">
                <a:solidFill>
                  <a:srgbClr val="8FA1AC"/>
                </a:solidFill>
                <a:latin typeface="Poppins" pitchFamily="34" charset="0"/>
                <a:ea typeface="Poppins" pitchFamily="34" charset="-122"/>
                <a:cs typeface="Poppins" pitchFamily="34" charset="-120"/>
              </a:rPr>
              <a:t>share of hours logged</a:t>
            </a:r>
            <a:endParaRPr lang="en-US" sz="1100" dirty="0"/>
          </a:p>
        </p:txBody>
      </p:sp>
      <p:sp>
        <p:nvSpPr>
          <p:cNvPr id="94" name="Text 92"/>
          <p:cNvSpPr txBox="1"/>
          <p:nvPr/>
        </p:nvSpPr>
        <p:spPr>
          <a:xfrm>
            <a:off x="7379208" y="2706624"/>
            <a:ext cx="1371600" cy="164592"/>
          </a:xfrm>
          <a:prstGeom prst="rect">
            <a:avLst/>
          </a:prstGeom>
          <a:noFill/>
          <a:ln/>
        </p:spPr>
        <p:txBody>
          <a:bodyPr wrap="square" lIns="0" tIns="0" rIns="0" bIns="0" rtlCol="0" anchor="ctr"/>
          <a:lstStyle/>
          <a:p>
            <a:pPr algn="l" indent="0" marL="0">
              <a:buNone/>
            </a:pPr>
            <a:r>
              <a:rPr lang="en-US" sz="680" b="1" dirty="0">
                <a:solidFill>
                  <a:srgbClr val="8FA1AC"/>
                </a:solidFill>
                <a:latin typeface="Poppins" pitchFamily="34" charset="0"/>
                <a:ea typeface="Poppins" pitchFamily="34" charset="-122"/>
                <a:cs typeface="Poppins" pitchFamily="34" charset="-120"/>
              </a:rPr>
              <a:t>SERVICE TYPE</a:t>
            </a:r>
            <a:endParaRPr lang="en-US" sz="680" dirty="0"/>
          </a:p>
        </p:txBody>
      </p:sp>
      <p:sp>
        <p:nvSpPr>
          <p:cNvPr id="95" name="Text 93"/>
          <p:cNvSpPr txBox="1"/>
          <p:nvPr/>
        </p:nvSpPr>
        <p:spPr>
          <a:xfrm>
            <a:off x="10287000" y="2706624"/>
            <a:ext cx="640080" cy="164592"/>
          </a:xfrm>
          <a:prstGeom prst="rect">
            <a:avLst/>
          </a:prstGeom>
          <a:noFill/>
          <a:ln/>
        </p:spPr>
        <p:txBody>
          <a:bodyPr wrap="square" lIns="0" tIns="0" rIns="0" bIns="0" rtlCol="0" anchor="ctr"/>
          <a:lstStyle/>
          <a:p>
            <a:pPr algn="r" indent="0" marL="0">
              <a:buNone/>
            </a:pPr>
            <a:r>
              <a:rPr lang="en-US" sz="680" b="1" dirty="0">
                <a:solidFill>
                  <a:srgbClr val="8FA1AC"/>
                </a:solidFill>
                <a:latin typeface="Poppins" pitchFamily="34" charset="0"/>
                <a:ea typeface="Poppins" pitchFamily="34" charset="-122"/>
                <a:cs typeface="Poppins" pitchFamily="34" charset="-120"/>
              </a:rPr>
              <a:t>HOURS</a:t>
            </a:r>
            <a:endParaRPr lang="en-US" sz="680" dirty="0"/>
          </a:p>
        </p:txBody>
      </p:sp>
      <p:sp>
        <p:nvSpPr>
          <p:cNvPr id="96" name="Text 94"/>
          <p:cNvSpPr txBox="1"/>
          <p:nvPr/>
        </p:nvSpPr>
        <p:spPr>
          <a:xfrm>
            <a:off x="10972800" y="2706624"/>
            <a:ext cx="603504" cy="164592"/>
          </a:xfrm>
          <a:prstGeom prst="rect">
            <a:avLst/>
          </a:prstGeom>
          <a:noFill/>
          <a:ln/>
        </p:spPr>
        <p:txBody>
          <a:bodyPr wrap="square" lIns="0" tIns="0" rIns="0" bIns="0" rtlCol="0" anchor="ctr"/>
          <a:lstStyle/>
          <a:p>
            <a:pPr algn="r" indent="0" marL="0">
              <a:buNone/>
            </a:pPr>
            <a:r>
              <a:rPr lang="en-US" sz="680" b="1" dirty="0">
                <a:solidFill>
                  <a:srgbClr val="8FA1AC"/>
                </a:solidFill>
                <a:latin typeface="Poppins" pitchFamily="34" charset="0"/>
                <a:ea typeface="Poppins" pitchFamily="34" charset="-122"/>
                <a:cs typeface="Poppins" pitchFamily="34" charset="-120"/>
              </a:rPr>
              <a:t>SHARE</a:t>
            </a:r>
            <a:endParaRPr lang="en-US" sz="680" dirty="0"/>
          </a:p>
        </p:txBody>
      </p:sp>
      <p:sp>
        <p:nvSpPr>
          <p:cNvPr id="97" name="Text 95"/>
          <p:cNvSpPr txBox="1"/>
          <p:nvPr/>
        </p:nvSpPr>
        <p:spPr>
          <a:xfrm>
            <a:off x="7379208" y="2880360"/>
            <a:ext cx="1371600" cy="151790"/>
          </a:xfrm>
          <a:prstGeom prst="rect">
            <a:avLst/>
          </a:prstGeom>
          <a:noFill/>
          <a:ln/>
        </p:spPr>
        <p:txBody>
          <a:bodyPr wrap="square" lIns="0" tIns="0" rIns="0" bIns="0" rtlCol="0" anchor="ctr"/>
          <a:lstStyle/>
          <a:p>
            <a:pPr indent="0" marL="0">
              <a:buNone/>
            </a:pPr>
            <a:r>
              <a:rPr lang="en-US" sz="700" b="1" dirty="0">
                <a:solidFill>
                  <a:srgbClr val="12293A"/>
                </a:solidFill>
                <a:latin typeface="Poppins" pitchFamily="34" charset="0"/>
                <a:ea typeface="Poppins" pitchFamily="34" charset="-122"/>
                <a:cs typeface="Poppins" pitchFamily="34" charset="-120"/>
              </a:rPr>
              <a:t>Tech</a:t>
            </a:r>
            <a:endParaRPr lang="en-US" sz="700" dirty="0"/>
          </a:p>
        </p:txBody>
      </p:sp>
      <p:sp>
        <p:nvSpPr>
          <p:cNvPr id="98" name="Shape 96"/>
          <p:cNvSpPr/>
          <p:nvPr/>
        </p:nvSpPr>
        <p:spPr>
          <a:xfrm>
            <a:off x="8823960" y="2928823"/>
            <a:ext cx="1371600" cy="54864"/>
          </a:xfrm>
          <a:prstGeom prst="roundRect">
            <a:avLst>
              <a:gd name="adj" fmla="val 50000"/>
            </a:avLst>
          </a:prstGeom>
          <a:solidFill>
            <a:srgbClr val="E2EAEE"/>
          </a:solidFill>
          <a:ln/>
        </p:spPr>
      </p:sp>
      <p:sp>
        <p:nvSpPr>
          <p:cNvPr id="99" name="Shape 97"/>
          <p:cNvSpPr/>
          <p:nvPr/>
        </p:nvSpPr>
        <p:spPr>
          <a:xfrm>
            <a:off x="8823960" y="2928823"/>
            <a:ext cx="1371600" cy="54864"/>
          </a:xfrm>
          <a:prstGeom prst="roundRect">
            <a:avLst>
              <a:gd name="adj" fmla="val 50000"/>
            </a:avLst>
          </a:prstGeom>
          <a:solidFill>
            <a:srgbClr val="2C8394"/>
          </a:solidFill>
          <a:ln/>
        </p:spPr>
      </p:sp>
      <p:sp>
        <p:nvSpPr>
          <p:cNvPr id="100" name="Text 98"/>
          <p:cNvSpPr txBox="1"/>
          <p:nvPr/>
        </p:nvSpPr>
        <p:spPr>
          <a:xfrm>
            <a:off x="10287000" y="2880360"/>
            <a:ext cx="640080" cy="151790"/>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23.09h</a:t>
            </a:r>
            <a:endParaRPr lang="en-US" sz="750" dirty="0"/>
          </a:p>
        </p:txBody>
      </p:sp>
      <p:sp>
        <p:nvSpPr>
          <p:cNvPr id="101" name="Text 99"/>
          <p:cNvSpPr txBox="1"/>
          <p:nvPr/>
        </p:nvSpPr>
        <p:spPr>
          <a:xfrm>
            <a:off x="10972800" y="2880360"/>
            <a:ext cx="603504" cy="151790"/>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58.5%</a:t>
            </a:r>
            <a:endParaRPr lang="en-US" sz="750" dirty="0"/>
          </a:p>
        </p:txBody>
      </p:sp>
      <p:sp>
        <p:nvSpPr>
          <p:cNvPr id="102" name="Text 100"/>
          <p:cNvSpPr txBox="1"/>
          <p:nvPr/>
        </p:nvSpPr>
        <p:spPr>
          <a:xfrm>
            <a:off x="7379208" y="3032150"/>
            <a:ext cx="1371600" cy="151790"/>
          </a:xfrm>
          <a:prstGeom prst="rect">
            <a:avLst/>
          </a:prstGeom>
          <a:noFill/>
          <a:ln/>
        </p:spPr>
        <p:txBody>
          <a:bodyPr wrap="square" lIns="0" tIns="0" rIns="0" bIns="0" rtlCol="0" anchor="ctr"/>
          <a:lstStyle/>
          <a:p>
            <a:pPr indent="0" marL="0">
              <a:buNone/>
            </a:pPr>
            <a:r>
              <a:rPr lang="en-US" sz="700" b="1" dirty="0">
                <a:solidFill>
                  <a:srgbClr val="12293A"/>
                </a:solidFill>
                <a:latin typeface="Poppins" pitchFamily="34" charset="0"/>
                <a:ea typeface="Poppins" pitchFamily="34" charset="-122"/>
                <a:cs typeface="Poppins" pitchFamily="34" charset="-120"/>
              </a:rPr>
              <a:t>Onboarding</a:t>
            </a:r>
            <a:endParaRPr lang="en-US" sz="700" dirty="0"/>
          </a:p>
        </p:txBody>
      </p:sp>
      <p:sp>
        <p:nvSpPr>
          <p:cNvPr id="103" name="Shape 101"/>
          <p:cNvSpPr/>
          <p:nvPr/>
        </p:nvSpPr>
        <p:spPr>
          <a:xfrm>
            <a:off x="8823960" y="3080614"/>
            <a:ext cx="1371600" cy="54864"/>
          </a:xfrm>
          <a:prstGeom prst="roundRect">
            <a:avLst>
              <a:gd name="adj" fmla="val 50000"/>
            </a:avLst>
          </a:prstGeom>
          <a:solidFill>
            <a:srgbClr val="E2EAEE"/>
          </a:solidFill>
          <a:ln/>
        </p:spPr>
      </p:sp>
      <p:sp>
        <p:nvSpPr>
          <p:cNvPr id="104" name="Shape 102"/>
          <p:cNvSpPr/>
          <p:nvPr/>
        </p:nvSpPr>
        <p:spPr>
          <a:xfrm>
            <a:off x="8823960" y="3080614"/>
            <a:ext cx="386115" cy="54864"/>
          </a:xfrm>
          <a:prstGeom prst="roundRect">
            <a:avLst>
              <a:gd name="adj" fmla="val 50000"/>
            </a:avLst>
          </a:prstGeom>
          <a:solidFill>
            <a:srgbClr val="2C8394"/>
          </a:solidFill>
          <a:ln/>
        </p:spPr>
      </p:sp>
      <p:sp>
        <p:nvSpPr>
          <p:cNvPr id="105" name="Text 103"/>
          <p:cNvSpPr txBox="1"/>
          <p:nvPr/>
        </p:nvSpPr>
        <p:spPr>
          <a:xfrm>
            <a:off x="10287000" y="3032150"/>
            <a:ext cx="640080" cy="151790"/>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6.50h</a:t>
            </a:r>
            <a:endParaRPr lang="en-US" sz="750" dirty="0"/>
          </a:p>
        </p:txBody>
      </p:sp>
      <p:sp>
        <p:nvSpPr>
          <p:cNvPr id="106" name="Text 104"/>
          <p:cNvSpPr txBox="1"/>
          <p:nvPr/>
        </p:nvSpPr>
        <p:spPr>
          <a:xfrm>
            <a:off x="10972800" y="3032150"/>
            <a:ext cx="603504" cy="151790"/>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16.5%</a:t>
            </a:r>
            <a:endParaRPr lang="en-US" sz="750" dirty="0"/>
          </a:p>
        </p:txBody>
      </p:sp>
      <p:sp>
        <p:nvSpPr>
          <p:cNvPr id="107" name="Text 105"/>
          <p:cNvSpPr txBox="1"/>
          <p:nvPr/>
        </p:nvSpPr>
        <p:spPr>
          <a:xfrm>
            <a:off x="7379208" y="3183941"/>
            <a:ext cx="1371600" cy="151790"/>
          </a:xfrm>
          <a:prstGeom prst="rect">
            <a:avLst/>
          </a:prstGeom>
          <a:noFill/>
          <a:ln/>
        </p:spPr>
        <p:txBody>
          <a:bodyPr wrap="square" lIns="0" tIns="0" rIns="0" bIns="0" rtlCol="0" anchor="ctr"/>
          <a:lstStyle/>
          <a:p>
            <a:pPr indent="0" marL="0">
              <a:buNone/>
            </a:pPr>
            <a:r>
              <a:rPr lang="en-US" sz="700" b="1" dirty="0">
                <a:solidFill>
                  <a:srgbClr val="12293A"/>
                </a:solidFill>
                <a:latin typeface="Poppins" pitchFamily="34" charset="0"/>
                <a:ea typeface="Poppins" pitchFamily="34" charset="-122"/>
                <a:cs typeface="Poppins" pitchFamily="34" charset="-120"/>
              </a:rPr>
              <a:t>Training</a:t>
            </a:r>
            <a:endParaRPr lang="en-US" sz="700" dirty="0"/>
          </a:p>
        </p:txBody>
      </p:sp>
      <p:sp>
        <p:nvSpPr>
          <p:cNvPr id="108" name="Shape 106"/>
          <p:cNvSpPr/>
          <p:nvPr/>
        </p:nvSpPr>
        <p:spPr>
          <a:xfrm>
            <a:off x="8823960" y="3232404"/>
            <a:ext cx="1371600" cy="54864"/>
          </a:xfrm>
          <a:prstGeom prst="roundRect">
            <a:avLst>
              <a:gd name="adj" fmla="val 50000"/>
            </a:avLst>
          </a:prstGeom>
          <a:solidFill>
            <a:srgbClr val="E2EAEE"/>
          </a:solidFill>
          <a:ln/>
        </p:spPr>
      </p:sp>
      <p:sp>
        <p:nvSpPr>
          <p:cNvPr id="109" name="Shape 107"/>
          <p:cNvSpPr/>
          <p:nvPr/>
        </p:nvSpPr>
        <p:spPr>
          <a:xfrm>
            <a:off x="8823960" y="3232404"/>
            <a:ext cx="386115" cy="54864"/>
          </a:xfrm>
          <a:prstGeom prst="roundRect">
            <a:avLst>
              <a:gd name="adj" fmla="val 50000"/>
            </a:avLst>
          </a:prstGeom>
          <a:solidFill>
            <a:srgbClr val="2C8394"/>
          </a:solidFill>
          <a:ln/>
        </p:spPr>
      </p:sp>
      <p:sp>
        <p:nvSpPr>
          <p:cNvPr id="110" name="Text 108"/>
          <p:cNvSpPr txBox="1"/>
          <p:nvPr/>
        </p:nvSpPr>
        <p:spPr>
          <a:xfrm>
            <a:off x="10287000" y="3183941"/>
            <a:ext cx="640080" cy="151790"/>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6.50h</a:t>
            </a:r>
            <a:endParaRPr lang="en-US" sz="750" dirty="0"/>
          </a:p>
        </p:txBody>
      </p:sp>
      <p:sp>
        <p:nvSpPr>
          <p:cNvPr id="111" name="Text 109"/>
          <p:cNvSpPr txBox="1"/>
          <p:nvPr/>
        </p:nvSpPr>
        <p:spPr>
          <a:xfrm>
            <a:off x="10972800" y="3183941"/>
            <a:ext cx="603504" cy="151790"/>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16.5%</a:t>
            </a:r>
            <a:endParaRPr lang="en-US" sz="750" dirty="0"/>
          </a:p>
        </p:txBody>
      </p:sp>
      <p:sp>
        <p:nvSpPr>
          <p:cNvPr id="112" name="Text 110"/>
          <p:cNvSpPr txBox="1"/>
          <p:nvPr/>
        </p:nvSpPr>
        <p:spPr>
          <a:xfrm>
            <a:off x="7379208" y="3335731"/>
            <a:ext cx="1371600" cy="151790"/>
          </a:xfrm>
          <a:prstGeom prst="rect">
            <a:avLst/>
          </a:prstGeom>
          <a:noFill/>
          <a:ln/>
        </p:spPr>
        <p:txBody>
          <a:bodyPr wrap="square" lIns="0" tIns="0" rIns="0" bIns="0" rtlCol="0" anchor="ctr"/>
          <a:lstStyle/>
          <a:p>
            <a:pPr indent="0" marL="0">
              <a:buNone/>
            </a:pPr>
            <a:r>
              <a:rPr lang="en-US" sz="700" b="1" dirty="0">
                <a:solidFill>
                  <a:srgbClr val="12293A"/>
                </a:solidFill>
                <a:latin typeface="Poppins" pitchFamily="34" charset="0"/>
                <a:ea typeface="Poppins" pitchFamily="34" charset="-122"/>
                <a:cs typeface="Poppins" pitchFamily="34" charset="-120"/>
              </a:rPr>
              <a:t>Integration</a:t>
            </a:r>
            <a:endParaRPr lang="en-US" sz="700" dirty="0"/>
          </a:p>
        </p:txBody>
      </p:sp>
      <p:sp>
        <p:nvSpPr>
          <p:cNvPr id="113" name="Shape 111"/>
          <p:cNvSpPr/>
          <p:nvPr/>
        </p:nvSpPr>
        <p:spPr>
          <a:xfrm>
            <a:off x="8823960" y="3384194"/>
            <a:ext cx="1371600" cy="54864"/>
          </a:xfrm>
          <a:prstGeom prst="roundRect">
            <a:avLst>
              <a:gd name="adj" fmla="val 50000"/>
            </a:avLst>
          </a:prstGeom>
          <a:solidFill>
            <a:srgbClr val="E2EAEE"/>
          </a:solidFill>
          <a:ln/>
        </p:spPr>
      </p:sp>
      <p:sp>
        <p:nvSpPr>
          <p:cNvPr id="114" name="Shape 112"/>
          <p:cNvSpPr/>
          <p:nvPr/>
        </p:nvSpPr>
        <p:spPr>
          <a:xfrm>
            <a:off x="8823960" y="3384194"/>
            <a:ext cx="199592" cy="54864"/>
          </a:xfrm>
          <a:prstGeom prst="roundRect">
            <a:avLst>
              <a:gd name="adj" fmla="val 50000"/>
            </a:avLst>
          </a:prstGeom>
          <a:solidFill>
            <a:srgbClr val="2C8394"/>
          </a:solidFill>
          <a:ln/>
        </p:spPr>
      </p:sp>
      <p:sp>
        <p:nvSpPr>
          <p:cNvPr id="115" name="Text 113"/>
          <p:cNvSpPr txBox="1"/>
          <p:nvPr/>
        </p:nvSpPr>
        <p:spPr>
          <a:xfrm>
            <a:off x="10287000" y="3335731"/>
            <a:ext cx="640080" cy="151790"/>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3.36h</a:t>
            </a:r>
            <a:endParaRPr lang="en-US" sz="750" dirty="0"/>
          </a:p>
        </p:txBody>
      </p:sp>
      <p:sp>
        <p:nvSpPr>
          <p:cNvPr id="116" name="Text 114"/>
          <p:cNvSpPr txBox="1"/>
          <p:nvPr/>
        </p:nvSpPr>
        <p:spPr>
          <a:xfrm>
            <a:off x="10972800" y="3335731"/>
            <a:ext cx="603504" cy="151790"/>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8.5%</a:t>
            </a:r>
            <a:endParaRPr lang="en-US" sz="750" dirty="0"/>
          </a:p>
        </p:txBody>
      </p:sp>
      <p:sp>
        <p:nvSpPr>
          <p:cNvPr id="117" name="Text 115"/>
          <p:cNvSpPr txBox="1"/>
          <p:nvPr/>
        </p:nvSpPr>
        <p:spPr>
          <a:xfrm>
            <a:off x="7379208" y="3487522"/>
            <a:ext cx="1371600" cy="151790"/>
          </a:xfrm>
          <a:prstGeom prst="rect">
            <a:avLst/>
          </a:prstGeom>
          <a:noFill/>
          <a:ln/>
        </p:spPr>
        <p:txBody>
          <a:bodyPr wrap="square" lIns="0" tIns="0" rIns="0" bIns="0" rtlCol="0" anchor="ctr"/>
          <a:lstStyle/>
          <a:p>
            <a:pPr indent="0" marL="0">
              <a:buNone/>
            </a:pPr>
            <a:r>
              <a:rPr lang="en-US" sz="700" dirty="0">
                <a:solidFill>
                  <a:srgbClr val="5E7280"/>
                </a:solidFill>
                <a:latin typeface="Poppins" pitchFamily="34" charset="0"/>
                <a:ea typeface="Poppins" pitchFamily="34" charset="-122"/>
                <a:cs typeface="Poppins" pitchFamily="34" charset="-120"/>
              </a:rPr>
              <a:t>Warranty</a:t>
            </a:r>
            <a:endParaRPr lang="en-US" sz="700" dirty="0"/>
          </a:p>
        </p:txBody>
      </p:sp>
      <p:sp>
        <p:nvSpPr>
          <p:cNvPr id="118" name="Shape 116"/>
          <p:cNvSpPr/>
          <p:nvPr/>
        </p:nvSpPr>
        <p:spPr>
          <a:xfrm>
            <a:off x="8823960" y="3535985"/>
            <a:ext cx="1371600" cy="54864"/>
          </a:xfrm>
          <a:prstGeom prst="roundRect">
            <a:avLst>
              <a:gd name="adj" fmla="val 50000"/>
            </a:avLst>
          </a:prstGeom>
          <a:solidFill>
            <a:srgbClr val="E2EAEE"/>
          </a:solidFill>
          <a:ln/>
        </p:spPr>
      </p:sp>
      <p:sp>
        <p:nvSpPr>
          <p:cNvPr id="119" name="Text 117"/>
          <p:cNvSpPr txBox="1"/>
          <p:nvPr/>
        </p:nvSpPr>
        <p:spPr>
          <a:xfrm>
            <a:off x="10287000" y="3487522"/>
            <a:ext cx="640080" cy="151790"/>
          </a:xfrm>
          <a:prstGeom prst="rect">
            <a:avLst/>
          </a:prstGeom>
          <a:noFill/>
          <a:ln/>
        </p:spPr>
        <p:txBody>
          <a:bodyPr wrap="square" lIns="0" tIns="0" rIns="0" bIns="0" rtlCol="0" anchor="ctr"/>
          <a:lstStyle/>
          <a:p>
            <a:pPr algn="r" indent="0" marL="0">
              <a:buNone/>
            </a:pPr>
            <a:r>
              <a:rPr lang="en-US" sz="750" dirty="0">
                <a:solidFill>
                  <a:srgbClr val="8FA1AC"/>
                </a:solidFill>
                <a:latin typeface="Poppins" pitchFamily="34" charset="0"/>
                <a:ea typeface="Poppins" pitchFamily="34" charset="-122"/>
                <a:cs typeface="Poppins" pitchFamily="34" charset="-120"/>
              </a:rPr>
              <a:t>—</a:t>
            </a:r>
            <a:endParaRPr lang="en-US" sz="750" dirty="0"/>
          </a:p>
        </p:txBody>
      </p:sp>
      <p:sp>
        <p:nvSpPr>
          <p:cNvPr id="120" name="Text 118"/>
          <p:cNvSpPr txBox="1"/>
          <p:nvPr/>
        </p:nvSpPr>
        <p:spPr>
          <a:xfrm>
            <a:off x="10972800" y="3487522"/>
            <a:ext cx="603504" cy="151790"/>
          </a:xfrm>
          <a:prstGeom prst="rect">
            <a:avLst/>
          </a:prstGeom>
          <a:noFill/>
          <a:ln/>
        </p:spPr>
        <p:txBody>
          <a:bodyPr wrap="square" lIns="0" tIns="0" rIns="0" bIns="0" rtlCol="0" anchor="ctr"/>
          <a:lstStyle/>
          <a:p>
            <a:pPr algn="r" indent="0" marL="0">
              <a:buNone/>
            </a:pPr>
            <a:r>
              <a:rPr lang="en-US" sz="600" dirty="0">
                <a:solidFill>
                  <a:srgbClr val="8FA1AC"/>
                </a:solidFill>
                <a:latin typeface="Poppins" pitchFamily="34" charset="0"/>
                <a:ea typeface="Poppins" pitchFamily="34" charset="-122"/>
                <a:cs typeface="Poppins" pitchFamily="34" charset="-120"/>
              </a:rPr>
              <a:t>none</a:t>
            </a:r>
            <a:endParaRPr lang="en-US" sz="600" dirty="0"/>
          </a:p>
        </p:txBody>
      </p:sp>
      <p:sp>
        <p:nvSpPr>
          <p:cNvPr id="121" name="Shape 119"/>
          <p:cNvSpPr/>
          <p:nvPr/>
        </p:nvSpPr>
        <p:spPr>
          <a:xfrm>
            <a:off x="7379208" y="3657600"/>
            <a:ext cx="4197096" cy="10973"/>
          </a:xfrm>
          <a:prstGeom prst="rect">
            <a:avLst/>
          </a:prstGeom>
          <a:solidFill>
            <a:srgbClr val="12293A"/>
          </a:solidFill>
          <a:ln/>
        </p:spPr>
      </p:sp>
      <p:sp>
        <p:nvSpPr>
          <p:cNvPr id="122" name="Text 120"/>
          <p:cNvSpPr txBox="1"/>
          <p:nvPr/>
        </p:nvSpPr>
        <p:spPr>
          <a:xfrm>
            <a:off x="7379208" y="3675888"/>
            <a:ext cx="1371600" cy="182880"/>
          </a:xfrm>
          <a:prstGeom prst="rect">
            <a:avLst/>
          </a:prstGeom>
          <a:noFill/>
          <a:ln/>
        </p:spPr>
        <p:txBody>
          <a:bodyPr wrap="square" lIns="0" tIns="0" rIns="0" bIns="0" rtlCol="0" anchor="ctr"/>
          <a:lstStyle/>
          <a:p>
            <a:pPr indent="0" marL="0">
              <a:buNone/>
            </a:pPr>
            <a:r>
              <a:rPr lang="en-US" sz="800" b="1" dirty="0">
                <a:solidFill>
                  <a:srgbClr val="12293A"/>
                </a:solidFill>
                <a:latin typeface="Poppins" pitchFamily="34" charset="0"/>
                <a:ea typeface="Poppins" pitchFamily="34" charset="-122"/>
                <a:cs typeface="Poppins" pitchFamily="34" charset="-120"/>
              </a:rPr>
              <a:t>TOTAL</a:t>
            </a:r>
            <a:endParaRPr lang="en-US" sz="800" dirty="0"/>
          </a:p>
        </p:txBody>
      </p:sp>
      <p:sp>
        <p:nvSpPr>
          <p:cNvPr id="123" name="Text 121"/>
          <p:cNvSpPr txBox="1"/>
          <p:nvPr/>
        </p:nvSpPr>
        <p:spPr>
          <a:xfrm>
            <a:off x="8823960" y="3675888"/>
            <a:ext cx="1371600" cy="182880"/>
          </a:xfrm>
          <a:prstGeom prst="rect">
            <a:avLst/>
          </a:prstGeom>
          <a:noFill/>
          <a:ln/>
        </p:spPr>
        <p:txBody>
          <a:bodyPr wrap="square" lIns="0" tIns="0" rIns="0" bIns="0" rtlCol="0" anchor="ctr"/>
          <a:lstStyle/>
          <a:p>
            <a:pPr indent="0" marL="0">
              <a:buNone/>
            </a:pPr>
            <a:r>
              <a:rPr lang="en-US" sz="630" dirty="0">
                <a:solidFill>
                  <a:srgbClr val="5E7280"/>
                </a:solidFill>
                <a:latin typeface="Poppins" pitchFamily="34" charset="0"/>
                <a:ea typeface="Poppins" pitchFamily="34" charset="-122"/>
                <a:cs typeface="Poppins" pitchFamily="34" charset="-120"/>
              </a:rPr>
              <a:t>27 PS items carry time</a:t>
            </a:r>
            <a:endParaRPr lang="en-US" sz="630" dirty="0"/>
          </a:p>
        </p:txBody>
      </p:sp>
      <p:sp>
        <p:nvSpPr>
          <p:cNvPr id="124" name="Text 122"/>
          <p:cNvSpPr txBox="1"/>
          <p:nvPr/>
        </p:nvSpPr>
        <p:spPr>
          <a:xfrm>
            <a:off x="10287000" y="3675888"/>
            <a:ext cx="640080" cy="182880"/>
          </a:xfrm>
          <a:prstGeom prst="rect">
            <a:avLst/>
          </a:prstGeom>
          <a:noFill/>
          <a:ln/>
        </p:spPr>
        <p:txBody>
          <a:bodyPr wrap="square" lIns="0" tIns="0" rIns="0" bIns="0" rtlCol="0" anchor="ctr"/>
          <a:lstStyle/>
          <a:p>
            <a:pPr algn="r" indent="0" marL="0">
              <a:buNone/>
            </a:pPr>
            <a:r>
              <a:rPr lang="en-US" sz="850" b="1" dirty="0">
                <a:solidFill>
                  <a:srgbClr val="2C8394"/>
                </a:solidFill>
                <a:latin typeface="Poppins" pitchFamily="34" charset="0"/>
                <a:ea typeface="Poppins" pitchFamily="34" charset="-122"/>
                <a:cs typeface="Poppins" pitchFamily="34" charset="-120"/>
              </a:rPr>
              <a:t>39.45h</a:t>
            </a:r>
            <a:endParaRPr lang="en-US" sz="850" dirty="0"/>
          </a:p>
        </p:txBody>
      </p:sp>
      <p:sp>
        <p:nvSpPr>
          <p:cNvPr id="125" name="Text 123"/>
          <p:cNvSpPr txBox="1"/>
          <p:nvPr/>
        </p:nvSpPr>
        <p:spPr>
          <a:xfrm>
            <a:off x="10972800" y="3675888"/>
            <a:ext cx="603504" cy="182880"/>
          </a:xfrm>
          <a:prstGeom prst="rect">
            <a:avLst/>
          </a:prstGeom>
          <a:noFill/>
          <a:ln/>
        </p:spPr>
        <p:txBody>
          <a:bodyPr wrap="square" lIns="0" tIns="0" rIns="0" bIns="0" rtlCol="0" anchor="ctr"/>
          <a:lstStyle/>
          <a:p>
            <a:pPr algn="r" indent="0" marL="0">
              <a:buNone/>
            </a:pPr>
            <a:r>
              <a:rPr lang="en-US" sz="750" b="1" dirty="0">
                <a:solidFill>
                  <a:srgbClr val="5E7280"/>
                </a:solidFill>
                <a:latin typeface="Poppins" pitchFamily="34" charset="0"/>
                <a:ea typeface="Poppins" pitchFamily="34" charset="-122"/>
                <a:cs typeface="Poppins" pitchFamily="34" charset="-120"/>
              </a:rPr>
              <a:t>100%</a:t>
            </a:r>
            <a:endParaRPr lang="en-US" sz="750" dirty="0"/>
          </a:p>
        </p:txBody>
      </p:sp>
      <p:sp>
        <p:nvSpPr>
          <p:cNvPr id="126" name="Shape 124"/>
          <p:cNvSpPr/>
          <p:nvPr/>
        </p:nvSpPr>
        <p:spPr>
          <a:xfrm>
            <a:off x="7178040" y="3968496"/>
            <a:ext cx="4599432" cy="1389888"/>
          </a:xfrm>
          <a:prstGeom prst="roundRect">
            <a:avLst>
              <a:gd name="adj" fmla="val 4605"/>
            </a:avLst>
          </a:prstGeom>
          <a:solidFill>
            <a:srgbClr val="FFFFFF"/>
          </a:solidFill>
          <a:ln/>
          <a:effectLst>
            <a:outerShdw sx="100000" sy="100000" kx="0" ky="0" algn="bl" rotWithShape="0" blurRad="76200" dist="25400" dir="5400000">
              <a:srgbClr val="9AAAB5">
                <a:alpha val="35000"/>
              </a:srgbClr>
            </a:outerShdw>
          </a:effectLst>
        </p:spPr>
      </p:sp>
      <p:sp>
        <p:nvSpPr>
          <p:cNvPr id="127" name="Text 125"/>
          <p:cNvSpPr txBox="1"/>
          <p:nvPr/>
        </p:nvSpPr>
        <p:spPr>
          <a:xfrm>
            <a:off x="7379208" y="4032504"/>
            <a:ext cx="4197096" cy="219456"/>
          </a:xfrm>
          <a:prstGeom prst="rect">
            <a:avLst/>
          </a:prstGeom>
          <a:noFill/>
          <a:ln/>
        </p:spPr>
        <p:txBody>
          <a:bodyPr wrap="square" lIns="0" tIns="0" rIns="0" bIns="0" rtlCol="0" anchor="ctr"/>
          <a:lstStyle/>
          <a:p>
            <a:pPr indent="0" marL="0">
              <a:buNone/>
            </a:pPr>
            <a:r>
              <a:rPr lang="en-US" sz="1100" b="1" dirty="0">
                <a:solidFill>
                  <a:srgbClr val="2C8394"/>
                </a:solidFill>
                <a:latin typeface="Poppins" pitchFamily="34" charset="0"/>
                <a:ea typeface="Poppins" pitchFamily="34" charset="-122"/>
                <a:cs typeface="Poppins" pitchFamily="34" charset="-120"/>
              </a:rPr>
              <a:t>WEEK ON WEEK  </a:t>
            </a:r>
            <a:pPr indent="0" marL="0">
              <a:buNone/>
            </a:pPr>
            <a:r>
              <a:rPr lang="en-US" sz="650" dirty="0">
                <a:solidFill>
                  <a:srgbClr val="8FA1AC"/>
                </a:solidFill>
                <a:latin typeface="Poppins" pitchFamily="34" charset="0"/>
                <a:ea typeface="Poppins" pitchFamily="34" charset="-122"/>
                <a:cs typeface="Poppins" pitchFamily="34" charset="-120"/>
              </a:rPr>
              <a:t>as the weeks stand today</a:t>
            </a:r>
            <a:endParaRPr lang="en-US" sz="1100" dirty="0"/>
          </a:p>
        </p:txBody>
      </p:sp>
      <p:sp>
        <p:nvSpPr>
          <p:cNvPr id="128" name="Text 126"/>
          <p:cNvSpPr txBox="1"/>
          <p:nvPr/>
        </p:nvSpPr>
        <p:spPr>
          <a:xfrm>
            <a:off x="7379208" y="4261104"/>
            <a:ext cx="960120" cy="164592"/>
          </a:xfrm>
          <a:prstGeom prst="rect">
            <a:avLst/>
          </a:prstGeom>
          <a:noFill/>
          <a:ln/>
        </p:spPr>
        <p:txBody>
          <a:bodyPr wrap="square" lIns="0" tIns="0" rIns="0" bIns="0" rtlCol="0" anchor="ctr"/>
          <a:lstStyle/>
          <a:p>
            <a:pPr algn="l" indent="0" marL="0">
              <a:buNone/>
            </a:pPr>
            <a:r>
              <a:rPr lang="en-US" sz="630" b="1" dirty="0">
                <a:solidFill>
                  <a:srgbClr val="8FA1AC"/>
                </a:solidFill>
                <a:latin typeface="Poppins" pitchFamily="34" charset="0"/>
                <a:ea typeface="Poppins" pitchFamily="34" charset="-122"/>
                <a:cs typeface="Poppins" pitchFamily="34" charset="-120"/>
              </a:rPr>
              <a:t>WEEK</a:t>
            </a:r>
            <a:endParaRPr lang="en-US" sz="630" dirty="0"/>
          </a:p>
        </p:txBody>
      </p:sp>
      <p:sp>
        <p:nvSpPr>
          <p:cNvPr id="129" name="Text 127"/>
          <p:cNvSpPr txBox="1"/>
          <p:nvPr/>
        </p:nvSpPr>
        <p:spPr>
          <a:xfrm>
            <a:off x="8385048" y="4261104"/>
            <a:ext cx="457200" cy="164592"/>
          </a:xfrm>
          <a:prstGeom prst="rect">
            <a:avLst/>
          </a:prstGeom>
          <a:noFill/>
          <a:ln/>
        </p:spPr>
        <p:txBody>
          <a:bodyPr wrap="square" lIns="0" tIns="0" rIns="0" bIns="0" rtlCol="0" anchor="ctr"/>
          <a:lstStyle/>
          <a:p>
            <a:pPr algn="r" indent="0" marL="0">
              <a:buNone/>
            </a:pPr>
            <a:r>
              <a:rPr lang="en-US" sz="630" b="1" dirty="0">
                <a:solidFill>
                  <a:srgbClr val="8FA1AC"/>
                </a:solidFill>
                <a:latin typeface="Poppins" pitchFamily="34" charset="0"/>
                <a:ea typeface="Poppins" pitchFamily="34" charset="-122"/>
                <a:cs typeface="Poppins" pitchFamily="34" charset="-120"/>
              </a:rPr>
              <a:t>ITEMS</a:t>
            </a:r>
            <a:endParaRPr lang="en-US" sz="630" dirty="0"/>
          </a:p>
        </p:txBody>
      </p:sp>
      <p:sp>
        <p:nvSpPr>
          <p:cNvPr id="130" name="Text 128"/>
          <p:cNvSpPr txBox="1"/>
          <p:nvPr/>
        </p:nvSpPr>
        <p:spPr>
          <a:xfrm>
            <a:off x="8897112" y="4261104"/>
            <a:ext cx="777240" cy="164592"/>
          </a:xfrm>
          <a:prstGeom prst="rect">
            <a:avLst/>
          </a:prstGeom>
          <a:noFill/>
          <a:ln/>
        </p:spPr>
        <p:txBody>
          <a:bodyPr wrap="square" lIns="0" tIns="0" rIns="0" bIns="0" rtlCol="0" anchor="ctr"/>
          <a:lstStyle/>
          <a:p>
            <a:pPr algn="r" indent="0" marL="0">
              <a:buNone/>
            </a:pPr>
            <a:r>
              <a:rPr lang="en-US" sz="630" b="1" dirty="0">
                <a:solidFill>
                  <a:srgbClr val="8FA1AC"/>
                </a:solidFill>
                <a:latin typeface="Poppins" pitchFamily="34" charset="0"/>
                <a:ea typeface="Poppins" pitchFamily="34" charset="-122"/>
                <a:cs typeface="Poppins" pitchFamily="34" charset="-120"/>
              </a:rPr>
              <a:t>HOURS NOW</a:t>
            </a:r>
            <a:endParaRPr lang="en-US" sz="630" dirty="0"/>
          </a:p>
        </p:txBody>
      </p:sp>
      <p:sp>
        <p:nvSpPr>
          <p:cNvPr id="131" name="Text 129"/>
          <p:cNvSpPr txBox="1"/>
          <p:nvPr/>
        </p:nvSpPr>
        <p:spPr>
          <a:xfrm>
            <a:off x="9729216" y="4261104"/>
            <a:ext cx="457200" cy="164592"/>
          </a:xfrm>
          <a:prstGeom prst="rect">
            <a:avLst/>
          </a:prstGeom>
          <a:noFill/>
          <a:ln/>
        </p:spPr>
        <p:txBody>
          <a:bodyPr wrap="square" lIns="0" tIns="0" rIns="0" bIns="0" rtlCol="0" anchor="ctr"/>
          <a:lstStyle/>
          <a:p>
            <a:pPr algn="r" indent="0" marL="0">
              <a:buNone/>
            </a:pPr>
            <a:r>
              <a:rPr lang="en-US" sz="630" b="1" dirty="0">
                <a:solidFill>
                  <a:srgbClr val="8FA1AC"/>
                </a:solidFill>
                <a:latin typeface="Poppins" pitchFamily="34" charset="0"/>
                <a:ea typeface="Poppins" pitchFamily="34" charset="-122"/>
                <a:cs typeface="Poppins" pitchFamily="34" charset="-120"/>
              </a:rPr>
              <a:t>UTIL</a:t>
            </a:r>
            <a:endParaRPr lang="en-US" sz="630" dirty="0"/>
          </a:p>
        </p:txBody>
      </p:sp>
      <p:sp>
        <p:nvSpPr>
          <p:cNvPr id="132" name="Text 130"/>
          <p:cNvSpPr txBox="1"/>
          <p:nvPr/>
        </p:nvSpPr>
        <p:spPr>
          <a:xfrm>
            <a:off x="10241280" y="4261104"/>
            <a:ext cx="1335024" cy="164592"/>
          </a:xfrm>
          <a:prstGeom prst="rect">
            <a:avLst/>
          </a:prstGeom>
          <a:noFill/>
          <a:ln/>
        </p:spPr>
        <p:txBody>
          <a:bodyPr wrap="square" lIns="0" tIns="0" rIns="0" bIns="0" rtlCol="0" anchor="ctr"/>
          <a:lstStyle/>
          <a:p>
            <a:pPr algn="r" indent="0" marL="0">
              <a:buNone/>
            </a:pPr>
            <a:r>
              <a:rPr lang="en-US" sz="630" b="1" dirty="0">
                <a:solidFill>
                  <a:srgbClr val="8FA1AC"/>
                </a:solidFill>
                <a:latin typeface="Poppins" pitchFamily="34" charset="0"/>
                <a:ea typeface="Poppins" pitchFamily="34" charset="-122"/>
                <a:cs typeface="Poppins" pitchFamily="34" charset="-120"/>
              </a:rPr>
              <a:t>AS FIRST REPORTED</a:t>
            </a:r>
            <a:endParaRPr lang="en-US" sz="630" dirty="0"/>
          </a:p>
        </p:txBody>
      </p:sp>
      <p:sp>
        <p:nvSpPr>
          <p:cNvPr id="133" name="Shape 131"/>
          <p:cNvSpPr/>
          <p:nvPr/>
        </p:nvSpPr>
        <p:spPr>
          <a:xfrm>
            <a:off x="7379208" y="4585716"/>
            <a:ext cx="4197096" cy="5486"/>
          </a:xfrm>
          <a:prstGeom prst="rect">
            <a:avLst/>
          </a:prstGeom>
          <a:solidFill>
            <a:srgbClr val="E2EAEE"/>
          </a:solidFill>
          <a:ln/>
        </p:spPr>
      </p:sp>
      <p:sp>
        <p:nvSpPr>
          <p:cNvPr id="134" name="Text 132"/>
          <p:cNvSpPr txBox="1"/>
          <p:nvPr/>
        </p:nvSpPr>
        <p:spPr>
          <a:xfrm>
            <a:off x="7379208" y="4443984"/>
            <a:ext cx="960120" cy="150876"/>
          </a:xfrm>
          <a:prstGeom prst="rect">
            <a:avLst/>
          </a:prstGeom>
          <a:noFill/>
          <a:ln/>
        </p:spPr>
        <p:txBody>
          <a:bodyPr wrap="square" lIns="0" tIns="0" rIns="0" bIns="0" rtlCol="0" anchor="ctr"/>
          <a:lstStyle/>
          <a:p>
            <a:pPr indent="0" marL="0">
              <a:buNone/>
            </a:pPr>
            <a:r>
              <a:rPr lang="en-US" sz="700" b="1" dirty="0">
                <a:solidFill>
                  <a:srgbClr val="12293A"/>
                </a:solidFill>
                <a:latin typeface="Poppins" pitchFamily="34" charset="0"/>
                <a:ea typeface="Poppins" pitchFamily="34" charset="-122"/>
                <a:cs typeface="Poppins" pitchFamily="34" charset="-120"/>
              </a:rPr>
              <a:t>21–27 Sep</a:t>
            </a:r>
            <a:endParaRPr lang="en-US" sz="700" dirty="0"/>
          </a:p>
        </p:txBody>
      </p:sp>
      <p:sp>
        <p:nvSpPr>
          <p:cNvPr id="135" name="Text 133"/>
          <p:cNvSpPr txBox="1"/>
          <p:nvPr/>
        </p:nvSpPr>
        <p:spPr>
          <a:xfrm>
            <a:off x="8385048" y="4443984"/>
            <a:ext cx="457200" cy="150876"/>
          </a:xfrm>
          <a:prstGeom prst="rect">
            <a:avLst/>
          </a:prstGeom>
          <a:noFill/>
          <a:ln/>
        </p:spPr>
        <p:txBody>
          <a:bodyPr wrap="square" lIns="0" tIns="0" rIns="0" bIns="0" rtlCol="0" anchor="ctr"/>
          <a:lstStyle/>
          <a:p>
            <a:pPr algn="r" indent="0" marL="0">
              <a:buNone/>
            </a:pPr>
            <a:r>
              <a:rPr lang="en-US" sz="700" dirty="0">
                <a:solidFill>
                  <a:srgbClr val="5E7280"/>
                </a:solidFill>
                <a:latin typeface="Poppins" pitchFamily="34" charset="0"/>
                <a:ea typeface="Poppins" pitchFamily="34" charset="-122"/>
                <a:cs typeface="Poppins" pitchFamily="34" charset="-120"/>
              </a:rPr>
              <a:t>27</a:t>
            </a:r>
            <a:endParaRPr lang="en-US" sz="700" dirty="0"/>
          </a:p>
        </p:txBody>
      </p:sp>
      <p:sp>
        <p:nvSpPr>
          <p:cNvPr id="136" name="Text 134"/>
          <p:cNvSpPr txBox="1"/>
          <p:nvPr/>
        </p:nvSpPr>
        <p:spPr>
          <a:xfrm>
            <a:off x="8897112" y="4443984"/>
            <a:ext cx="777240" cy="150876"/>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44.50h</a:t>
            </a:r>
            <a:endParaRPr lang="en-US" sz="750" dirty="0"/>
          </a:p>
        </p:txBody>
      </p:sp>
      <p:sp>
        <p:nvSpPr>
          <p:cNvPr id="137" name="Text 135"/>
          <p:cNvSpPr txBox="1"/>
          <p:nvPr/>
        </p:nvSpPr>
        <p:spPr>
          <a:xfrm>
            <a:off x="9729216" y="4443984"/>
            <a:ext cx="457200" cy="150876"/>
          </a:xfrm>
          <a:prstGeom prst="rect">
            <a:avLst/>
          </a:prstGeom>
          <a:noFill/>
          <a:ln/>
        </p:spPr>
        <p:txBody>
          <a:bodyPr wrap="square" lIns="0" tIns="0" rIns="0" bIns="0" rtlCol="0" anchor="ctr"/>
          <a:lstStyle/>
          <a:p>
            <a:pPr algn="r" indent="0" marL="0">
              <a:buNone/>
            </a:pPr>
            <a:r>
              <a:rPr lang="en-US" sz="750" b="1" dirty="0">
                <a:solidFill>
                  <a:srgbClr val="C88A2E"/>
                </a:solidFill>
                <a:latin typeface="Poppins" pitchFamily="34" charset="0"/>
                <a:ea typeface="Poppins" pitchFamily="34" charset="-122"/>
                <a:cs typeface="Poppins" pitchFamily="34" charset="-120"/>
              </a:rPr>
              <a:t>13.0%</a:t>
            </a:r>
            <a:endParaRPr lang="en-US" sz="750" dirty="0"/>
          </a:p>
        </p:txBody>
      </p:sp>
      <p:sp>
        <p:nvSpPr>
          <p:cNvPr id="138" name="Text 136"/>
          <p:cNvSpPr txBox="1"/>
          <p:nvPr/>
        </p:nvSpPr>
        <p:spPr>
          <a:xfrm>
            <a:off x="10241280" y="4443984"/>
            <a:ext cx="1335024" cy="150876"/>
          </a:xfrm>
          <a:prstGeom prst="rect">
            <a:avLst/>
          </a:prstGeom>
          <a:noFill/>
          <a:ln/>
        </p:spPr>
        <p:txBody>
          <a:bodyPr wrap="square" lIns="0" tIns="0" rIns="0" bIns="0" rtlCol="0" anchor="ctr"/>
          <a:lstStyle/>
          <a:p>
            <a:pPr algn="r" indent="0" marL="0">
              <a:buNone/>
            </a:pPr>
            <a:r>
              <a:rPr lang="en-US" sz="610" b="1" dirty="0">
                <a:solidFill>
                  <a:srgbClr val="B4552D"/>
                </a:solidFill>
                <a:latin typeface="Poppins" pitchFamily="34" charset="0"/>
                <a:ea typeface="Poppins" pitchFamily="34" charset="-122"/>
                <a:cs typeface="Poppins" pitchFamily="34" charset="-120"/>
              </a:rPr>
              <a:t>20.75h · 6.1%   ▲ +23.75h</a:t>
            </a:r>
            <a:endParaRPr lang="en-US" sz="610" dirty="0"/>
          </a:p>
        </p:txBody>
      </p:sp>
      <p:sp>
        <p:nvSpPr>
          <p:cNvPr id="139" name="Shape 137"/>
          <p:cNvSpPr/>
          <p:nvPr/>
        </p:nvSpPr>
        <p:spPr>
          <a:xfrm>
            <a:off x="7379208" y="4736592"/>
            <a:ext cx="4197096" cy="5486"/>
          </a:xfrm>
          <a:prstGeom prst="rect">
            <a:avLst/>
          </a:prstGeom>
          <a:solidFill>
            <a:srgbClr val="E2EAEE"/>
          </a:solidFill>
          <a:ln/>
        </p:spPr>
      </p:sp>
      <p:sp>
        <p:nvSpPr>
          <p:cNvPr id="140" name="Text 138"/>
          <p:cNvSpPr txBox="1"/>
          <p:nvPr/>
        </p:nvSpPr>
        <p:spPr>
          <a:xfrm>
            <a:off x="7379208" y="4594860"/>
            <a:ext cx="960120" cy="150876"/>
          </a:xfrm>
          <a:prstGeom prst="rect">
            <a:avLst/>
          </a:prstGeom>
          <a:noFill/>
          <a:ln/>
        </p:spPr>
        <p:txBody>
          <a:bodyPr wrap="square" lIns="0" tIns="0" rIns="0" bIns="0" rtlCol="0" anchor="ctr"/>
          <a:lstStyle/>
          <a:p>
            <a:pPr indent="0" marL="0">
              <a:buNone/>
            </a:pPr>
            <a:r>
              <a:rPr lang="en-US" sz="700" b="1" dirty="0">
                <a:solidFill>
                  <a:srgbClr val="12293A"/>
                </a:solidFill>
                <a:latin typeface="Poppins" pitchFamily="34" charset="0"/>
                <a:ea typeface="Poppins" pitchFamily="34" charset="-122"/>
                <a:cs typeface="Poppins" pitchFamily="34" charset="-120"/>
              </a:rPr>
              <a:t>28 Sep–4 Oct</a:t>
            </a:r>
            <a:endParaRPr lang="en-US" sz="700" dirty="0"/>
          </a:p>
        </p:txBody>
      </p:sp>
      <p:sp>
        <p:nvSpPr>
          <p:cNvPr id="141" name="Text 139"/>
          <p:cNvSpPr txBox="1"/>
          <p:nvPr/>
        </p:nvSpPr>
        <p:spPr>
          <a:xfrm>
            <a:off x="8385048" y="4594860"/>
            <a:ext cx="457200" cy="150876"/>
          </a:xfrm>
          <a:prstGeom prst="rect">
            <a:avLst/>
          </a:prstGeom>
          <a:noFill/>
          <a:ln/>
        </p:spPr>
        <p:txBody>
          <a:bodyPr wrap="square" lIns="0" tIns="0" rIns="0" bIns="0" rtlCol="0" anchor="ctr"/>
          <a:lstStyle/>
          <a:p>
            <a:pPr algn="r" indent="0" marL="0">
              <a:buNone/>
            </a:pPr>
            <a:r>
              <a:rPr lang="en-US" sz="700" dirty="0">
                <a:solidFill>
                  <a:srgbClr val="5E7280"/>
                </a:solidFill>
                <a:latin typeface="Poppins" pitchFamily="34" charset="0"/>
                <a:ea typeface="Poppins" pitchFamily="34" charset="-122"/>
                <a:cs typeface="Poppins" pitchFamily="34" charset="-120"/>
              </a:rPr>
              <a:t>30</a:t>
            </a:r>
            <a:endParaRPr lang="en-US" sz="700" dirty="0"/>
          </a:p>
        </p:txBody>
      </p:sp>
      <p:sp>
        <p:nvSpPr>
          <p:cNvPr id="142" name="Text 140"/>
          <p:cNvSpPr txBox="1"/>
          <p:nvPr/>
        </p:nvSpPr>
        <p:spPr>
          <a:xfrm>
            <a:off x="8897112" y="4594860"/>
            <a:ext cx="777240" cy="150876"/>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81.96h</a:t>
            </a:r>
            <a:endParaRPr lang="en-US" sz="750" dirty="0"/>
          </a:p>
        </p:txBody>
      </p:sp>
      <p:sp>
        <p:nvSpPr>
          <p:cNvPr id="143" name="Text 141"/>
          <p:cNvSpPr txBox="1"/>
          <p:nvPr/>
        </p:nvSpPr>
        <p:spPr>
          <a:xfrm>
            <a:off x="9729216" y="4594860"/>
            <a:ext cx="457200" cy="150876"/>
          </a:xfrm>
          <a:prstGeom prst="rect">
            <a:avLst/>
          </a:prstGeom>
          <a:noFill/>
          <a:ln/>
        </p:spPr>
        <p:txBody>
          <a:bodyPr wrap="square" lIns="0" tIns="0" rIns="0" bIns="0" rtlCol="0" anchor="ctr"/>
          <a:lstStyle/>
          <a:p>
            <a:pPr algn="r" indent="0" marL="0">
              <a:buNone/>
            </a:pPr>
            <a:r>
              <a:rPr lang="en-US" sz="750" b="1" dirty="0">
                <a:solidFill>
                  <a:srgbClr val="C88A2E"/>
                </a:solidFill>
                <a:latin typeface="Poppins" pitchFamily="34" charset="0"/>
                <a:ea typeface="Poppins" pitchFamily="34" charset="-122"/>
                <a:cs typeface="Poppins" pitchFamily="34" charset="-120"/>
              </a:rPr>
              <a:t>30.8%</a:t>
            </a:r>
            <a:endParaRPr lang="en-US" sz="750" dirty="0"/>
          </a:p>
        </p:txBody>
      </p:sp>
      <p:sp>
        <p:nvSpPr>
          <p:cNvPr id="144" name="Text 142"/>
          <p:cNvSpPr txBox="1"/>
          <p:nvPr/>
        </p:nvSpPr>
        <p:spPr>
          <a:xfrm>
            <a:off x="10241280" y="4594860"/>
            <a:ext cx="1335024" cy="150876"/>
          </a:xfrm>
          <a:prstGeom prst="rect">
            <a:avLst/>
          </a:prstGeom>
          <a:noFill/>
          <a:ln/>
        </p:spPr>
        <p:txBody>
          <a:bodyPr wrap="square" lIns="0" tIns="0" rIns="0" bIns="0" rtlCol="0" anchor="ctr"/>
          <a:lstStyle/>
          <a:p>
            <a:pPr algn="r" indent="0" marL="0">
              <a:buNone/>
            </a:pPr>
            <a:r>
              <a:rPr lang="en-US" sz="610" b="1" dirty="0">
                <a:solidFill>
                  <a:srgbClr val="C88A2E"/>
                </a:solidFill>
                <a:latin typeface="Poppins" pitchFamily="34" charset="0"/>
                <a:ea typeface="Poppins" pitchFamily="34" charset="-122"/>
                <a:cs typeface="Poppins" pitchFamily="34" charset="-120"/>
              </a:rPr>
              <a:t>88.87h · 33.4%   ▼ −6.91h</a:t>
            </a:r>
            <a:endParaRPr lang="en-US" sz="610" dirty="0"/>
          </a:p>
        </p:txBody>
      </p:sp>
      <p:sp>
        <p:nvSpPr>
          <p:cNvPr id="145" name="Shape 143"/>
          <p:cNvSpPr/>
          <p:nvPr/>
        </p:nvSpPr>
        <p:spPr>
          <a:xfrm>
            <a:off x="7379208" y="4887468"/>
            <a:ext cx="4197096" cy="5486"/>
          </a:xfrm>
          <a:prstGeom prst="rect">
            <a:avLst/>
          </a:prstGeom>
          <a:solidFill>
            <a:srgbClr val="E2EAEE"/>
          </a:solidFill>
          <a:ln/>
        </p:spPr>
      </p:sp>
      <p:sp>
        <p:nvSpPr>
          <p:cNvPr id="146" name="Text 144"/>
          <p:cNvSpPr txBox="1"/>
          <p:nvPr/>
        </p:nvSpPr>
        <p:spPr>
          <a:xfrm>
            <a:off x="7379208" y="4745736"/>
            <a:ext cx="960120" cy="150876"/>
          </a:xfrm>
          <a:prstGeom prst="rect">
            <a:avLst/>
          </a:prstGeom>
          <a:noFill/>
          <a:ln/>
        </p:spPr>
        <p:txBody>
          <a:bodyPr wrap="square" lIns="0" tIns="0" rIns="0" bIns="0" rtlCol="0" anchor="ctr"/>
          <a:lstStyle/>
          <a:p>
            <a:pPr indent="0" marL="0">
              <a:buNone/>
            </a:pPr>
            <a:r>
              <a:rPr lang="en-US" sz="700" b="1" dirty="0">
                <a:solidFill>
                  <a:srgbClr val="12293A"/>
                </a:solidFill>
                <a:latin typeface="Poppins" pitchFamily="34" charset="0"/>
                <a:ea typeface="Poppins" pitchFamily="34" charset="-122"/>
                <a:cs typeface="Poppins" pitchFamily="34" charset="-120"/>
              </a:rPr>
              <a:t>5–11 Oct</a:t>
            </a:r>
            <a:endParaRPr lang="en-US" sz="700" dirty="0"/>
          </a:p>
        </p:txBody>
      </p:sp>
      <p:sp>
        <p:nvSpPr>
          <p:cNvPr id="147" name="Text 145"/>
          <p:cNvSpPr txBox="1"/>
          <p:nvPr/>
        </p:nvSpPr>
        <p:spPr>
          <a:xfrm>
            <a:off x="8385048" y="4745736"/>
            <a:ext cx="457200" cy="150876"/>
          </a:xfrm>
          <a:prstGeom prst="rect">
            <a:avLst/>
          </a:prstGeom>
          <a:noFill/>
          <a:ln/>
        </p:spPr>
        <p:txBody>
          <a:bodyPr wrap="square" lIns="0" tIns="0" rIns="0" bIns="0" rtlCol="0" anchor="ctr"/>
          <a:lstStyle/>
          <a:p>
            <a:pPr algn="r" indent="0" marL="0">
              <a:buNone/>
            </a:pPr>
            <a:r>
              <a:rPr lang="en-US" sz="700" dirty="0">
                <a:solidFill>
                  <a:srgbClr val="5E7280"/>
                </a:solidFill>
                <a:latin typeface="Poppins" pitchFamily="34" charset="0"/>
                <a:ea typeface="Poppins" pitchFamily="34" charset="-122"/>
                <a:cs typeface="Poppins" pitchFamily="34" charset="-120"/>
              </a:rPr>
              <a:t>19</a:t>
            </a:r>
            <a:endParaRPr lang="en-US" sz="700" dirty="0"/>
          </a:p>
        </p:txBody>
      </p:sp>
      <p:sp>
        <p:nvSpPr>
          <p:cNvPr id="148" name="Text 146"/>
          <p:cNvSpPr txBox="1"/>
          <p:nvPr/>
        </p:nvSpPr>
        <p:spPr>
          <a:xfrm>
            <a:off x="8897112" y="4745736"/>
            <a:ext cx="777240" cy="150876"/>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30.25h</a:t>
            </a:r>
            <a:endParaRPr lang="en-US" sz="750" dirty="0"/>
          </a:p>
        </p:txBody>
      </p:sp>
      <p:sp>
        <p:nvSpPr>
          <p:cNvPr id="149" name="Text 147"/>
          <p:cNvSpPr txBox="1"/>
          <p:nvPr/>
        </p:nvSpPr>
        <p:spPr>
          <a:xfrm>
            <a:off x="9729216" y="4745736"/>
            <a:ext cx="457200" cy="150876"/>
          </a:xfrm>
          <a:prstGeom prst="rect">
            <a:avLst/>
          </a:prstGeom>
          <a:noFill/>
          <a:ln/>
        </p:spPr>
        <p:txBody>
          <a:bodyPr wrap="square" lIns="0" tIns="0" rIns="0" bIns="0" rtlCol="0" anchor="ctr"/>
          <a:lstStyle/>
          <a:p>
            <a:pPr algn="r" indent="0" marL="0">
              <a:buNone/>
            </a:pPr>
            <a:r>
              <a:rPr lang="en-US" sz="750" b="1" dirty="0">
                <a:solidFill>
                  <a:srgbClr val="C88A2E"/>
                </a:solidFill>
                <a:latin typeface="Poppins" pitchFamily="34" charset="0"/>
                <a:ea typeface="Poppins" pitchFamily="34" charset="-122"/>
                <a:cs typeface="Poppins" pitchFamily="34" charset="-120"/>
              </a:rPr>
              <a:t>8.8%</a:t>
            </a:r>
            <a:endParaRPr lang="en-US" sz="750" dirty="0"/>
          </a:p>
        </p:txBody>
      </p:sp>
      <p:sp>
        <p:nvSpPr>
          <p:cNvPr id="150" name="Text 148"/>
          <p:cNvSpPr txBox="1"/>
          <p:nvPr/>
        </p:nvSpPr>
        <p:spPr>
          <a:xfrm>
            <a:off x="10241280" y="4745736"/>
            <a:ext cx="1335024" cy="150876"/>
          </a:xfrm>
          <a:prstGeom prst="rect">
            <a:avLst/>
          </a:prstGeom>
          <a:noFill/>
          <a:ln/>
        </p:spPr>
        <p:txBody>
          <a:bodyPr wrap="square" lIns="0" tIns="0" rIns="0" bIns="0" rtlCol="0" anchor="ctr"/>
          <a:lstStyle/>
          <a:p>
            <a:pPr algn="r" indent="0" marL="0">
              <a:buNone/>
            </a:pPr>
            <a:r>
              <a:rPr lang="en-US" sz="610" b="1" dirty="0">
                <a:solidFill>
                  <a:srgbClr val="B4552D"/>
                </a:solidFill>
                <a:latin typeface="Poppins" pitchFamily="34" charset="0"/>
                <a:ea typeface="Poppins" pitchFamily="34" charset="-122"/>
                <a:cs typeface="Poppins" pitchFamily="34" charset="-120"/>
              </a:rPr>
              <a:t>21.25h · 6.2%   ▲ +9.00h</a:t>
            </a:r>
            <a:endParaRPr lang="en-US" sz="610" dirty="0"/>
          </a:p>
        </p:txBody>
      </p:sp>
      <p:sp>
        <p:nvSpPr>
          <p:cNvPr id="151" name="Shape 149"/>
          <p:cNvSpPr/>
          <p:nvPr/>
        </p:nvSpPr>
        <p:spPr>
          <a:xfrm>
            <a:off x="7379208" y="5038344"/>
            <a:ext cx="4197096" cy="5486"/>
          </a:xfrm>
          <a:prstGeom prst="rect">
            <a:avLst/>
          </a:prstGeom>
          <a:solidFill>
            <a:srgbClr val="E2EAEE"/>
          </a:solidFill>
          <a:ln/>
        </p:spPr>
      </p:sp>
      <p:sp>
        <p:nvSpPr>
          <p:cNvPr id="152" name="Text 150"/>
          <p:cNvSpPr txBox="1"/>
          <p:nvPr/>
        </p:nvSpPr>
        <p:spPr>
          <a:xfrm>
            <a:off x="7379208" y="4896612"/>
            <a:ext cx="960120" cy="150876"/>
          </a:xfrm>
          <a:prstGeom prst="rect">
            <a:avLst/>
          </a:prstGeom>
          <a:noFill/>
          <a:ln/>
        </p:spPr>
        <p:txBody>
          <a:bodyPr wrap="square" lIns="0" tIns="0" rIns="0" bIns="0" rtlCol="0" anchor="ctr"/>
          <a:lstStyle/>
          <a:p>
            <a:pPr indent="0" marL="0">
              <a:buNone/>
            </a:pPr>
            <a:r>
              <a:rPr lang="en-US" sz="700" b="1" dirty="0">
                <a:solidFill>
                  <a:srgbClr val="2C8394"/>
                </a:solidFill>
                <a:latin typeface="Poppins" pitchFamily="34" charset="0"/>
                <a:ea typeface="Poppins" pitchFamily="34" charset="-122"/>
                <a:cs typeface="Poppins" pitchFamily="34" charset="-120"/>
              </a:rPr>
              <a:t>12–18 Oct  ●</a:t>
            </a:r>
            <a:endParaRPr lang="en-US" sz="700" dirty="0"/>
          </a:p>
        </p:txBody>
      </p:sp>
      <p:sp>
        <p:nvSpPr>
          <p:cNvPr id="153" name="Text 151"/>
          <p:cNvSpPr txBox="1"/>
          <p:nvPr/>
        </p:nvSpPr>
        <p:spPr>
          <a:xfrm>
            <a:off x="8385048" y="4896612"/>
            <a:ext cx="457200" cy="150876"/>
          </a:xfrm>
          <a:prstGeom prst="rect">
            <a:avLst/>
          </a:prstGeom>
          <a:noFill/>
          <a:ln/>
        </p:spPr>
        <p:txBody>
          <a:bodyPr wrap="square" lIns="0" tIns="0" rIns="0" bIns="0" rtlCol="0" anchor="ctr"/>
          <a:lstStyle/>
          <a:p>
            <a:pPr algn="r" indent="0" marL="0">
              <a:buNone/>
            </a:pPr>
            <a:r>
              <a:rPr lang="en-US" sz="700" dirty="0">
                <a:solidFill>
                  <a:srgbClr val="5E7280"/>
                </a:solidFill>
                <a:latin typeface="Poppins" pitchFamily="34" charset="0"/>
                <a:ea typeface="Poppins" pitchFamily="34" charset="-122"/>
                <a:cs typeface="Poppins" pitchFamily="34" charset="-120"/>
              </a:rPr>
              <a:t>27</a:t>
            </a:r>
            <a:endParaRPr lang="en-US" sz="700" dirty="0"/>
          </a:p>
        </p:txBody>
      </p:sp>
      <p:sp>
        <p:nvSpPr>
          <p:cNvPr id="154" name="Text 152"/>
          <p:cNvSpPr txBox="1"/>
          <p:nvPr/>
        </p:nvSpPr>
        <p:spPr>
          <a:xfrm>
            <a:off x="8897112" y="4896612"/>
            <a:ext cx="777240" cy="150876"/>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39.45h</a:t>
            </a:r>
            <a:endParaRPr lang="en-US" sz="750" dirty="0"/>
          </a:p>
        </p:txBody>
      </p:sp>
      <p:sp>
        <p:nvSpPr>
          <p:cNvPr id="155" name="Text 153"/>
          <p:cNvSpPr txBox="1"/>
          <p:nvPr/>
        </p:nvSpPr>
        <p:spPr>
          <a:xfrm>
            <a:off x="9729216" y="4896612"/>
            <a:ext cx="457200" cy="150876"/>
          </a:xfrm>
          <a:prstGeom prst="rect">
            <a:avLst/>
          </a:prstGeom>
          <a:noFill/>
          <a:ln/>
        </p:spPr>
        <p:txBody>
          <a:bodyPr wrap="square" lIns="0" tIns="0" rIns="0" bIns="0" rtlCol="0" anchor="ctr"/>
          <a:lstStyle/>
          <a:p>
            <a:pPr algn="r" indent="0" marL="0">
              <a:buNone/>
            </a:pPr>
            <a:r>
              <a:rPr lang="en-US" sz="750" b="1" dirty="0">
                <a:solidFill>
                  <a:srgbClr val="C88A2E"/>
                </a:solidFill>
                <a:latin typeface="Poppins" pitchFamily="34" charset="0"/>
                <a:ea typeface="Poppins" pitchFamily="34" charset="-122"/>
                <a:cs typeface="Poppins" pitchFamily="34" charset="-120"/>
              </a:rPr>
              <a:t>11.5%</a:t>
            </a:r>
            <a:endParaRPr lang="en-US" sz="750" dirty="0"/>
          </a:p>
        </p:txBody>
      </p:sp>
      <p:sp>
        <p:nvSpPr>
          <p:cNvPr id="156" name="Text 154"/>
          <p:cNvSpPr txBox="1"/>
          <p:nvPr/>
        </p:nvSpPr>
        <p:spPr>
          <a:xfrm>
            <a:off x="10241280" y="4896612"/>
            <a:ext cx="1335024" cy="150876"/>
          </a:xfrm>
          <a:prstGeom prst="rect">
            <a:avLst/>
          </a:prstGeom>
          <a:noFill/>
          <a:ln/>
        </p:spPr>
        <p:txBody>
          <a:bodyPr wrap="square" lIns="0" tIns="0" rIns="0" bIns="0" rtlCol="0" anchor="ctr"/>
          <a:lstStyle/>
          <a:p>
            <a:pPr algn="r" indent="0" marL="0">
              <a:buNone/>
            </a:pPr>
            <a:r>
              <a:rPr lang="en-US" sz="630" dirty="0">
                <a:solidFill>
                  <a:srgbClr val="8FA1AC"/>
                </a:solidFill>
                <a:latin typeface="Poppins" pitchFamily="34" charset="0"/>
                <a:ea typeface="Poppins" pitchFamily="34" charset="-122"/>
                <a:cs typeface="Poppins" pitchFamily="34" charset="-120"/>
              </a:rPr>
              <a:t>first report</a:t>
            </a:r>
            <a:endParaRPr lang="en-US" sz="630" dirty="0"/>
          </a:p>
        </p:txBody>
      </p:sp>
      <p:sp>
        <p:nvSpPr>
          <p:cNvPr id="157" name="Text 155"/>
          <p:cNvSpPr txBox="1"/>
          <p:nvPr/>
        </p:nvSpPr>
        <p:spPr>
          <a:xfrm>
            <a:off x="7379208" y="5084064"/>
            <a:ext cx="4197096" cy="237744"/>
          </a:xfrm>
          <a:prstGeom prst="rect">
            <a:avLst/>
          </a:prstGeom>
          <a:noFill/>
          <a:ln/>
        </p:spPr>
        <p:txBody>
          <a:bodyPr wrap="square" lIns="0" tIns="0" rIns="0" bIns="0" rtlCol="0" anchor="t"/>
          <a:lstStyle/>
          <a:p>
            <a:pPr indent="0" marL="0">
              <a:buNone/>
            </a:pPr>
            <a:r>
              <a:rPr lang="en-US" sz="580" dirty="0">
                <a:solidFill>
                  <a:srgbClr val="8FA1AC"/>
                </a:solidFill>
                <a:latin typeface="Poppins" pitchFamily="34" charset="0"/>
                <a:ea typeface="Poppins" pitchFamily="34" charset="-122"/>
                <a:cs typeface="Poppins" pitchFamily="34" charset="-120"/>
              </a:rPr>
              <a:t>Base is available staff × 38h: 9 every week except 28 Sep–4 Oct (7, Rhys and Rodney on leave). PS-pipeline tickets by Sydney week.</a:t>
            </a:r>
            <a:endParaRPr lang="en-US" sz="580" dirty="0"/>
          </a:p>
        </p:txBody>
      </p:sp>
      <p:sp>
        <p:nvSpPr>
          <p:cNvPr id="158" name="Shape 156"/>
          <p:cNvSpPr/>
          <p:nvPr/>
        </p:nvSpPr>
        <p:spPr>
          <a:xfrm>
            <a:off x="411480" y="5431536"/>
            <a:ext cx="11365992" cy="1024128"/>
          </a:xfrm>
          <a:prstGeom prst="roundRect">
            <a:avLst>
              <a:gd name="adj" fmla="val 6250"/>
            </a:avLst>
          </a:prstGeom>
          <a:solidFill>
            <a:srgbClr val="FFFFFF"/>
          </a:solidFill>
          <a:ln/>
          <a:effectLst>
            <a:outerShdw sx="100000" sy="100000" kx="0" ky="0" algn="bl" rotWithShape="0" blurRad="76200" dist="25400" dir="5400000">
              <a:srgbClr val="9AAAB5">
                <a:alpha val="35000"/>
              </a:srgbClr>
            </a:outerShdw>
          </a:effectLst>
        </p:spPr>
      </p:sp>
      <p:sp>
        <p:nvSpPr>
          <p:cNvPr id="159" name="Text 157"/>
          <p:cNvSpPr txBox="1"/>
          <p:nvPr/>
        </p:nvSpPr>
        <p:spPr>
          <a:xfrm>
            <a:off x="612648" y="5541264"/>
            <a:ext cx="11000232"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AI SUMMARY</a:t>
            </a:r>
            <a:endParaRPr lang="en-US" sz="1200" dirty="0"/>
          </a:p>
        </p:txBody>
      </p:sp>
      <p:sp>
        <p:nvSpPr>
          <p:cNvPr id="160" name="Text 158"/>
          <p:cNvSpPr txBox="1"/>
          <p:nvPr/>
        </p:nvSpPr>
        <p:spPr>
          <a:xfrm>
            <a:off x="612648" y="5852160"/>
            <a:ext cx="10954512" cy="475488"/>
          </a:xfrm>
          <a:prstGeom prst="rect">
            <a:avLst/>
          </a:prstGeom>
          <a:noFill/>
          <a:ln/>
        </p:spPr>
        <p:txBody>
          <a:bodyPr wrap="square" lIns="0" tIns="0" rIns="0" bIns="0" rtlCol="0" anchor="t"/>
          <a:lstStyle/>
          <a:p>
            <a:pPr indent="0" marL="0">
              <a:buNone/>
            </a:pPr>
            <a:r>
              <a:rPr lang="en-US" sz="900" b="1" dirty="0">
                <a:solidFill>
                  <a:srgbClr val="B4552D"/>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Last week restated up 42% in seven days.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5–11 Oct went out at 21.25h (6.2%) and now reads 30.25h (8.8%); 21–27 Sep has grown again to 44.50h from the 20.75h first published. Only 28 Sep–4 Oct sits below its first number, and that is the attribution fix from last week. Treat 11.5% as a floor.</a:t>
            </a:r>
            <a:endParaRPr lang="en-US" sz="900" dirty="0"/>
          </a:p>
          <a:p>
            <a:pPr indent="0" marL="0">
              <a:buNone/>
            </a:pPr>
            <a:r>
              <a:rPr lang="en-US" sz="900" b="1" dirty="0">
                <a:solidFill>
                  <a:srgbClr val="C88A2E"/>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The manager logged more than the team.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Rhys Woolcock 19.50h — half the week — against Joshua Casey 6.50h and Rodney Nolan 5.75h; Isayah Kuhlmann and Karim AlRifaii logged nothing. Strip Rhys out and utilisation is 5.8%.</a:t>
            </a:r>
            <a:endParaRPr lang="en-US" sz="900" dirty="0"/>
          </a:p>
        </p:txBody>
      </p:sp>
      <p:sp>
        <p:nvSpPr>
          <p:cNvPr id="161" name="Shape 159"/>
          <p:cNvSpPr/>
          <p:nvPr/>
        </p:nvSpPr>
        <p:spPr>
          <a:xfrm>
            <a:off x="5925312" y="6510528"/>
            <a:ext cx="5852160" cy="256032"/>
          </a:xfrm>
          <a:prstGeom prst="roundRect">
            <a:avLst>
              <a:gd name="adj" fmla="val 46429"/>
            </a:avLst>
          </a:prstGeom>
          <a:solidFill>
            <a:srgbClr val="12293A"/>
          </a:solidFill>
          <a:ln/>
        </p:spPr>
      </p:sp>
      <p:sp>
        <p:nvSpPr>
          <p:cNvPr id="162" name="Text 160"/>
          <p:cNvSpPr txBox="1"/>
          <p:nvPr/>
        </p:nvSpPr>
        <p:spPr>
          <a:xfrm>
            <a:off x="5925312" y="6510528"/>
            <a:ext cx="5852160" cy="256032"/>
          </a:xfrm>
          <a:prstGeom prst="rect">
            <a:avLst/>
          </a:prstGeom>
          <a:noFill/>
          <a:ln/>
        </p:spPr>
        <p:txBody>
          <a:bodyPr wrap="square" lIns="0" tIns="0" rIns="0" bIns="0" rtlCol="0" anchor="ctr"/>
          <a:lstStyle/>
          <a:p>
            <a:pPr algn="ctr" indent="0" marL="0">
              <a:buNone/>
            </a:pPr>
            <a:r>
              <a:rPr lang="en-US" sz="700" b="1" dirty="0">
                <a:solidFill>
                  <a:srgbClr val="FFFFFF"/>
                </a:solidFill>
                <a:latin typeface="Poppins" pitchFamily="34" charset="0"/>
                <a:ea typeface="Poppins" pitchFamily="34" charset="-122"/>
                <a:cs typeface="Poppins" pitchFamily="34" charset="-120"/>
              </a:rPr>
              <a:t>Source: HubSpot PS-pipeline tickets · actual_hours + training_actual_hours, Sydney weeks — live, read-only</a:t>
            </a:r>
            <a:endParaRPr lang="en-US" sz="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2F6F8"/>
        </a:solidFill>
      </p:bgPr>
    </p:bg>
    <p:spTree>
      <p:nvGrpSpPr>
        <p:cNvPr id="1" name=""/>
        <p:cNvGrpSpPr/>
        <p:nvPr/>
      </p:nvGrpSpPr>
      <p:grpSpPr>
        <a:xfrm>
          <a:off x="0" y="0"/>
          <a:ext cx="0" cy="0"/>
          <a:chOff x="0" y="0"/>
          <a:chExt cx="0" cy="0"/>
        </a:xfrm>
      </p:grpSpPr>
      <p:sp>
        <p:nvSpPr>
          <p:cNvPr id="2" name="Shape 0"/>
          <p:cNvSpPr/>
          <p:nvPr/>
        </p:nvSpPr>
        <p:spPr>
          <a:xfrm>
            <a:off x="0" y="0"/>
            <a:ext cx="12188952" cy="841248"/>
          </a:xfrm>
          <a:prstGeom prst="rect">
            <a:avLst/>
          </a:prstGeom>
          <a:solidFill>
            <a:srgbClr val="12293A"/>
          </a:solidFill>
          <a:ln/>
        </p:spPr>
      </p:sp>
      <p:sp>
        <p:nvSpPr>
          <p:cNvPr id="3" name="Shape 1"/>
          <p:cNvSpPr/>
          <p:nvPr/>
        </p:nvSpPr>
        <p:spPr>
          <a:xfrm>
            <a:off x="384048" y="155448"/>
            <a:ext cx="731520" cy="530352"/>
          </a:xfrm>
          <a:prstGeom prst="roundRect">
            <a:avLst>
              <a:gd name="adj" fmla="val 15517"/>
            </a:avLst>
          </a:prstGeom>
          <a:solidFill>
            <a:srgbClr val="FFFFFF"/>
          </a:solidFill>
          <a:ln/>
        </p:spPr>
      </p:sp>
      <p:sp>
        <p:nvSpPr>
          <p:cNvPr id="4" name="Text 2"/>
          <p:cNvSpPr txBox="1"/>
          <p:nvPr/>
        </p:nvSpPr>
        <p:spPr>
          <a:xfrm>
            <a:off x="384048" y="155448"/>
            <a:ext cx="731520" cy="530352"/>
          </a:xfrm>
          <a:prstGeom prst="rect">
            <a:avLst/>
          </a:prstGeom>
          <a:noFill/>
          <a:ln/>
        </p:spPr>
        <p:txBody>
          <a:bodyPr wrap="square" lIns="0" tIns="0" rIns="0" bIns="0" rtlCol="0" anchor="ctr"/>
          <a:lstStyle/>
          <a:p>
            <a:pPr algn="ctr" indent="0" marL="0">
              <a:buNone/>
            </a:pPr>
            <a:r>
              <a:rPr lang="en-US" sz="1500" b="1" dirty="0">
                <a:solidFill>
                  <a:srgbClr val="12293A"/>
                </a:solidFill>
                <a:latin typeface="Poppins" pitchFamily="34" charset="0"/>
                <a:ea typeface="Poppins" pitchFamily="34" charset="-122"/>
                <a:cs typeface="Poppins" pitchFamily="34" charset="-120"/>
              </a:rPr>
              <a:t>H&amp;L</a:t>
            </a:r>
            <a:endParaRPr lang="en-US" sz="1500" dirty="0"/>
          </a:p>
        </p:txBody>
      </p:sp>
      <p:sp>
        <p:nvSpPr>
          <p:cNvPr id="5" name="Text 3"/>
          <p:cNvSpPr txBox="1"/>
          <p:nvPr/>
        </p:nvSpPr>
        <p:spPr>
          <a:xfrm>
            <a:off x="1298448" y="54864"/>
            <a:ext cx="7223760" cy="475488"/>
          </a:xfrm>
          <a:prstGeom prst="rect">
            <a:avLst/>
          </a:prstGeom>
          <a:noFill/>
          <a:ln/>
        </p:spPr>
        <p:txBody>
          <a:bodyPr wrap="square" lIns="0" tIns="0" rIns="0" bIns="0" rtlCol="0" anchor="ctr"/>
          <a:lstStyle/>
          <a:p>
            <a:pPr indent="0" marL="0">
              <a:buNone/>
            </a:pPr>
            <a:r>
              <a:rPr lang="en-US" sz="2300" b="1" dirty="0">
                <a:solidFill>
                  <a:srgbClr val="FFFFFF"/>
                </a:solidFill>
                <a:latin typeface="Poppins" pitchFamily="34" charset="0"/>
                <a:ea typeface="Poppins" pitchFamily="34" charset="-122"/>
                <a:cs typeface="Poppins" pitchFamily="34" charset="-120"/>
              </a:rPr>
              <a:t>Closed Won — Not Yet Live</a:t>
            </a:r>
            <a:endParaRPr lang="en-US" sz="2300" dirty="0"/>
          </a:p>
        </p:txBody>
      </p:sp>
      <p:sp>
        <p:nvSpPr>
          <p:cNvPr id="6" name="Text 4"/>
          <p:cNvSpPr txBox="1"/>
          <p:nvPr/>
        </p:nvSpPr>
        <p:spPr>
          <a:xfrm>
            <a:off x="1316736" y="512064"/>
            <a:ext cx="7040880" cy="256032"/>
          </a:xfrm>
          <a:prstGeom prst="rect">
            <a:avLst/>
          </a:prstGeom>
          <a:noFill/>
          <a:ln/>
        </p:spPr>
        <p:txBody>
          <a:bodyPr wrap="square" lIns="0" tIns="0" rIns="0" bIns="0" rtlCol="0" anchor="ctr"/>
          <a:lstStyle/>
          <a:p>
            <a:pPr indent="0" marL="0">
              <a:buNone/>
            </a:pPr>
            <a:r>
              <a:rPr lang="en-US" sz="1050" dirty="0">
                <a:solidFill>
                  <a:srgbClr val="6FAEBB"/>
                </a:solidFill>
                <a:latin typeface="Poppins" pitchFamily="34" charset="0"/>
                <a:ea typeface="Poppins" pitchFamily="34" charset="-122"/>
                <a:cs typeface="Poppins" pitchFamily="34" charset="-120"/>
              </a:rPr>
              <a:t>Professional Services</a:t>
            </a:r>
            <a:endParaRPr lang="en-US" sz="1050" dirty="0"/>
          </a:p>
        </p:txBody>
      </p:sp>
      <p:sp>
        <p:nvSpPr>
          <p:cNvPr id="7" name="Shape 5"/>
          <p:cNvSpPr/>
          <p:nvPr/>
        </p:nvSpPr>
        <p:spPr>
          <a:xfrm>
            <a:off x="8686800" y="246888"/>
            <a:ext cx="1965960" cy="347472"/>
          </a:xfrm>
          <a:prstGeom prst="roundRect">
            <a:avLst>
              <a:gd name="adj" fmla="val 50000"/>
            </a:avLst>
          </a:prstGeom>
          <a:solidFill>
            <a:srgbClr val="3D8F5F"/>
          </a:solidFill>
          <a:ln w="9525">
            <a:solidFill>
              <a:srgbClr val="FFFFFF">
                <a:alpha val="45000"/>
              </a:srgbClr>
            </a:solidFill>
            <a:prstDash val="solid"/>
          </a:ln>
        </p:spPr>
      </p:sp>
      <p:sp>
        <p:nvSpPr>
          <p:cNvPr id="8" name="Text 6"/>
          <p:cNvSpPr txBox="1"/>
          <p:nvPr/>
        </p:nvSpPr>
        <p:spPr>
          <a:xfrm>
            <a:off x="8686800" y="246888"/>
            <a:ext cx="1965960" cy="347472"/>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2  ·  DID WE DELIVER?</a:t>
            </a:r>
            <a:endParaRPr lang="en-US" sz="850" dirty="0"/>
          </a:p>
        </p:txBody>
      </p:sp>
      <p:sp>
        <p:nvSpPr>
          <p:cNvPr id="9" name="Shape 7"/>
          <p:cNvSpPr/>
          <p:nvPr/>
        </p:nvSpPr>
        <p:spPr>
          <a:xfrm>
            <a:off x="10872216" y="0"/>
            <a:ext cx="841248" cy="841248"/>
          </a:xfrm>
          <a:prstGeom prst="ellipse">
            <a:avLst/>
          </a:prstGeom>
          <a:solidFill>
            <a:srgbClr val="1C5765"/>
          </a:solidFill>
          <a:ln/>
        </p:spPr>
      </p:sp>
      <p:sp>
        <p:nvSpPr>
          <p:cNvPr id="10" name="Shape 8"/>
          <p:cNvSpPr/>
          <p:nvPr/>
        </p:nvSpPr>
        <p:spPr>
          <a:xfrm>
            <a:off x="10968228" y="96012"/>
            <a:ext cx="649224" cy="649224"/>
          </a:xfrm>
          <a:prstGeom prst="ellipse">
            <a:avLst/>
          </a:prstGeom>
          <a:solidFill>
            <a:srgbClr val="2C8394"/>
          </a:solidFill>
          <a:ln/>
        </p:spPr>
      </p:sp>
      <p:sp>
        <p:nvSpPr>
          <p:cNvPr id="11" name="Shape 9"/>
          <p:cNvSpPr/>
          <p:nvPr/>
        </p:nvSpPr>
        <p:spPr>
          <a:xfrm>
            <a:off x="11064240" y="192024"/>
            <a:ext cx="457200" cy="457200"/>
          </a:xfrm>
          <a:prstGeom prst="ellipse">
            <a:avLst/>
          </a:prstGeom>
          <a:solidFill>
            <a:srgbClr val="6FAEBB"/>
          </a:solidFill>
          <a:ln/>
        </p:spPr>
      </p:sp>
      <p:sp>
        <p:nvSpPr>
          <p:cNvPr id="12" name="Shape 10"/>
          <p:cNvSpPr/>
          <p:nvPr/>
        </p:nvSpPr>
        <p:spPr>
          <a:xfrm>
            <a:off x="11160252" y="288036"/>
            <a:ext cx="265176" cy="265176"/>
          </a:xfrm>
          <a:prstGeom prst="ellipse">
            <a:avLst/>
          </a:prstGeom>
          <a:solidFill>
            <a:srgbClr val="E4F1F4"/>
          </a:solidFill>
          <a:ln/>
        </p:spPr>
      </p:sp>
      <p:sp>
        <p:nvSpPr>
          <p:cNvPr id="13" name="Shape 11"/>
          <p:cNvSpPr/>
          <p:nvPr/>
        </p:nvSpPr>
        <p:spPr>
          <a:xfrm>
            <a:off x="411480" y="987552"/>
            <a:ext cx="2788920" cy="1097280"/>
          </a:xfrm>
          <a:prstGeom prst="roundRect">
            <a:avLst>
              <a:gd name="adj" fmla="val 5833"/>
            </a:avLst>
          </a:prstGeom>
          <a:solidFill>
            <a:srgbClr val="FFFFFF"/>
          </a:solidFill>
          <a:ln/>
          <a:effectLst>
            <a:outerShdw sx="100000" sy="100000" kx="0" ky="0" algn="bl" rotWithShape="0" blurRad="76200" dist="25400" dir="5400000">
              <a:srgbClr val="9AAAB5">
                <a:alpha val="35000"/>
              </a:srgbClr>
            </a:outerShdw>
          </a:effectLst>
        </p:spPr>
      </p:sp>
      <p:sp>
        <p:nvSpPr>
          <p:cNvPr id="14" name="Text 12"/>
          <p:cNvSpPr txBox="1"/>
          <p:nvPr/>
        </p:nvSpPr>
        <p:spPr>
          <a:xfrm>
            <a:off x="576072" y="1078992"/>
            <a:ext cx="2459736"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WON, NOT YET BILLING</a:t>
            </a:r>
            <a:endParaRPr lang="en-US" sz="950" dirty="0"/>
          </a:p>
        </p:txBody>
      </p:sp>
      <p:sp>
        <p:nvSpPr>
          <p:cNvPr id="15" name="Text 13"/>
          <p:cNvSpPr txBox="1"/>
          <p:nvPr/>
        </p:nvSpPr>
        <p:spPr>
          <a:xfrm>
            <a:off x="557784" y="1261872"/>
            <a:ext cx="2496312" cy="310896"/>
          </a:xfrm>
          <a:prstGeom prst="rect">
            <a:avLst/>
          </a:prstGeom>
          <a:noFill/>
          <a:ln/>
        </p:spPr>
        <p:txBody>
          <a:bodyPr wrap="square" lIns="0" tIns="0" rIns="0" bIns="0" rtlCol="0" anchor="ctr"/>
          <a:lstStyle/>
          <a:p>
            <a:pPr indent="0" marL="0">
              <a:buNone/>
            </a:pPr>
            <a:r>
              <a:rPr lang="en-US" sz="2600" b="1" dirty="0">
                <a:solidFill>
                  <a:srgbClr val="B4552D"/>
                </a:solidFill>
                <a:latin typeface="Poppins" pitchFamily="34" charset="0"/>
                <a:ea typeface="Poppins" pitchFamily="34" charset="-122"/>
                <a:cs typeface="Poppins" pitchFamily="34" charset="-120"/>
              </a:rPr>
              <a:t>20</a:t>
            </a:r>
            <a:endParaRPr lang="en-US" sz="2600" dirty="0"/>
          </a:p>
        </p:txBody>
      </p:sp>
      <p:sp>
        <p:nvSpPr>
          <p:cNvPr id="16" name="Text 14"/>
          <p:cNvSpPr txBox="1"/>
          <p:nvPr/>
        </p:nvSpPr>
        <p:spPr>
          <a:xfrm>
            <a:off x="576072" y="1609344"/>
            <a:ext cx="2459736"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of the 95 deals won with recurring revenue in 2026</a:t>
            </a:r>
            <a:endParaRPr lang="en-US" sz="780" dirty="0"/>
          </a:p>
        </p:txBody>
      </p:sp>
      <p:sp>
        <p:nvSpPr>
          <p:cNvPr id="17" name="Shape 15"/>
          <p:cNvSpPr/>
          <p:nvPr/>
        </p:nvSpPr>
        <p:spPr>
          <a:xfrm>
            <a:off x="3383280" y="987552"/>
            <a:ext cx="2788920" cy="1097280"/>
          </a:xfrm>
          <a:prstGeom prst="roundRect">
            <a:avLst>
              <a:gd name="adj" fmla="val 5833"/>
            </a:avLst>
          </a:prstGeom>
          <a:solidFill>
            <a:srgbClr val="FFFFFF"/>
          </a:solidFill>
          <a:ln/>
          <a:effectLst>
            <a:outerShdw sx="100000" sy="100000" kx="0" ky="0" algn="bl" rotWithShape="0" blurRad="76200" dist="25400" dir="5400000">
              <a:srgbClr val="9AAAB5">
                <a:alpha val="35000"/>
              </a:srgbClr>
            </a:outerShdw>
          </a:effectLst>
        </p:spPr>
      </p:sp>
      <p:sp>
        <p:nvSpPr>
          <p:cNvPr id="18" name="Text 16"/>
          <p:cNvSpPr txBox="1"/>
          <p:nvPr/>
        </p:nvSpPr>
        <p:spPr>
          <a:xfrm>
            <a:off x="3547872" y="1078992"/>
            <a:ext cx="2459736"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ARR AT STAKE</a:t>
            </a:r>
            <a:endParaRPr lang="en-US" sz="950" dirty="0"/>
          </a:p>
        </p:txBody>
      </p:sp>
      <p:sp>
        <p:nvSpPr>
          <p:cNvPr id="19" name="Text 17"/>
          <p:cNvSpPr txBox="1"/>
          <p:nvPr/>
        </p:nvSpPr>
        <p:spPr>
          <a:xfrm>
            <a:off x="3529584" y="1261872"/>
            <a:ext cx="2496312" cy="310896"/>
          </a:xfrm>
          <a:prstGeom prst="rect">
            <a:avLst/>
          </a:prstGeom>
          <a:noFill/>
          <a:ln/>
        </p:spPr>
        <p:txBody>
          <a:bodyPr wrap="square" lIns="0" tIns="0" rIns="0" bIns="0" rtlCol="0" anchor="ctr"/>
          <a:lstStyle/>
          <a:p>
            <a:pPr indent="0" marL="0">
              <a:buNone/>
            </a:pPr>
            <a:r>
              <a:rPr lang="en-US" sz="2600" b="1" dirty="0">
                <a:solidFill>
                  <a:srgbClr val="B4552D"/>
                </a:solidFill>
                <a:latin typeface="Poppins" pitchFamily="34" charset="0"/>
                <a:ea typeface="Poppins" pitchFamily="34" charset="-122"/>
                <a:cs typeface="Poppins" pitchFamily="34" charset="-120"/>
              </a:rPr>
              <a:t>$240k</a:t>
            </a:r>
            <a:endParaRPr lang="en-US" sz="2600" dirty="0"/>
          </a:p>
        </p:txBody>
      </p:sp>
      <p:sp>
        <p:nvSpPr>
          <p:cNvPr id="20" name="Text 18"/>
          <p:cNvSpPr txBox="1"/>
          <p:nvPr/>
        </p:nvSpPr>
        <p:spPr>
          <a:xfrm>
            <a:off x="3547872" y="1609344"/>
            <a:ext cx="2459736"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$20,038/mo signed and not invoiced</a:t>
            </a:r>
            <a:endParaRPr lang="en-US" sz="780" dirty="0"/>
          </a:p>
        </p:txBody>
      </p:sp>
      <p:sp>
        <p:nvSpPr>
          <p:cNvPr id="21" name="Shape 19"/>
          <p:cNvSpPr/>
          <p:nvPr/>
        </p:nvSpPr>
        <p:spPr>
          <a:xfrm>
            <a:off x="6355080" y="987552"/>
            <a:ext cx="2788920" cy="1097280"/>
          </a:xfrm>
          <a:prstGeom prst="roundRect">
            <a:avLst>
              <a:gd name="adj" fmla="val 5833"/>
            </a:avLst>
          </a:prstGeom>
          <a:solidFill>
            <a:srgbClr val="FFFFFF"/>
          </a:solidFill>
          <a:ln/>
          <a:effectLst>
            <a:outerShdw sx="100000" sy="100000" kx="0" ky="0" algn="bl" rotWithShape="0" blurRad="76200" dist="25400" dir="5400000">
              <a:srgbClr val="9AAAB5">
                <a:alpha val="35000"/>
              </a:srgbClr>
            </a:outerShdw>
          </a:effectLst>
        </p:spPr>
      </p:sp>
      <p:sp>
        <p:nvSpPr>
          <p:cNvPr id="22" name="Text 20"/>
          <p:cNvSpPr txBox="1"/>
          <p:nvPr/>
        </p:nvSpPr>
        <p:spPr>
          <a:xfrm>
            <a:off x="6519672" y="1078992"/>
            <a:ext cx="2459736"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OLDEST</a:t>
            </a:r>
            <a:endParaRPr lang="en-US" sz="950" dirty="0"/>
          </a:p>
        </p:txBody>
      </p:sp>
      <p:sp>
        <p:nvSpPr>
          <p:cNvPr id="23" name="Text 21"/>
          <p:cNvSpPr txBox="1"/>
          <p:nvPr/>
        </p:nvSpPr>
        <p:spPr>
          <a:xfrm>
            <a:off x="6501384" y="1261872"/>
            <a:ext cx="2496312" cy="310896"/>
          </a:xfrm>
          <a:prstGeom prst="rect">
            <a:avLst/>
          </a:prstGeom>
          <a:noFill/>
          <a:ln/>
        </p:spPr>
        <p:txBody>
          <a:bodyPr wrap="square" lIns="0" tIns="0" rIns="0" bIns="0" rtlCol="0" anchor="ctr"/>
          <a:lstStyle/>
          <a:p>
            <a:pPr indent="0" marL="0">
              <a:buNone/>
            </a:pPr>
            <a:r>
              <a:rPr lang="en-US" sz="2600" b="1" dirty="0">
                <a:solidFill>
                  <a:srgbClr val="B4552D"/>
                </a:solidFill>
                <a:latin typeface="Poppins" pitchFamily="34" charset="0"/>
                <a:ea typeface="Poppins" pitchFamily="34" charset="-122"/>
                <a:cs typeface="Poppins" pitchFamily="34" charset="-120"/>
              </a:rPr>
              <a:t>209 Days</a:t>
            </a:r>
            <a:endParaRPr lang="en-US" sz="2600" dirty="0"/>
          </a:p>
        </p:txBody>
      </p:sp>
      <p:sp>
        <p:nvSpPr>
          <p:cNvPr id="24" name="Text 22"/>
          <p:cNvSpPr txBox="1"/>
          <p:nvPr/>
        </p:nvSpPr>
        <p:spPr>
          <a:xfrm>
            <a:off x="6519672" y="1609344"/>
            <a:ext cx="2459736"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The Berrigan — closed 23 March</a:t>
            </a:r>
            <a:endParaRPr lang="en-US" sz="780" dirty="0"/>
          </a:p>
        </p:txBody>
      </p:sp>
      <p:sp>
        <p:nvSpPr>
          <p:cNvPr id="25" name="Shape 23"/>
          <p:cNvSpPr/>
          <p:nvPr/>
        </p:nvSpPr>
        <p:spPr>
          <a:xfrm>
            <a:off x="9326880" y="987552"/>
            <a:ext cx="2450592" cy="1097280"/>
          </a:xfrm>
          <a:prstGeom prst="roundRect">
            <a:avLst>
              <a:gd name="adj" fmla="val 5833"/>
            </a:avLst>
          </a:prstGeom>
          <a:solidFill>
            <a:srgbClr val="FFFFFF"/>
          </a:solidFill>
          <a:ln/>
          <a:effectLst>
            <a:outerShdw sx="100000" sy="100000" kx="0" ky="0" algn="bl" rotWithShape="0" blurRad="76200" dist="25400" dir="5400000">
              <a:srgbClr val="9AAAB5">
                <a:alpha val="35000"/>
              </a:srgbClr>
            </a:outerShdw>
          </a:effectLst>
        </p:spPr>
      </p:sp>
      <p:sp>
        <p:nvSpPr>
          <p:cNvPr id="26" name="Text 24"/>
          <p:cNvSpPr txBox="1"/>
          <p:nvPr/>
        </p:nvSpPr>
        <p:spPr>
          <a:xfrm>
            <a:off x="9491472" y="1078992"/>
            <a:ext cx="2121408"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MEDIAN AGE</a:t>
            </a:r>
            <a:endParaRPr lang="en-US" sz="950" dirty="0"/>
          </a:p>
        </p:txBody>
      </p:sp>
      <p:sp>
        <p:nvSpPr>
          <p:cNvPr id="27" name="Text 25"/>
          <p:cNvSpPr txBox="1"/>
          <p:nvPr/>
        </p:nvSpPr>
        <p:spPr>
          <a:xfrm>
            <a:off x="9473184" y="1261872"/>
            <a:ext cx="2157984" cy="310896"/>
          </a:xfrm>
          <a:prstGeom prst="rect">
            <a:avLst/>
          </a:prstGeom>
          <a:noFill/>
          <a:ln/>
        </p:spPr>
        <p:txBody>
          <a:bodyPr wrap="square" lIns="0" tIns="0" rIns="0" bIns="0" rtlCol="0" anchor="ctr"/>
          <a:lstStyle/>
          <a:p>
            <a:pPr indent="0" marL="0">
              <a:buNone/>
            </a:pPr>
            <a:r>
              <a:rPr lang="en-US" sz="2600" b="1" dirty="0">
                <a:solidFill>
                  <a:srgbClr val="12293A"/>
                </a:solidFill>
                <a:latin typeface="Poppins" pitchFamily="34" charset="0"/>
                <a:ea typeface="Poppins" pitchFamily="34" charset="-122"/>
                <a:cs typeface="Poppins" pitchFamily="34" charset="-120"/>
              </a:rPr>
              <a:t>31 Days</a:t>
            </a:r>
            <a:endParaRPr lang="en-US" sz="2600" dirty="0"/>
          </a:p>
        </p:txBody>
      </p:sp>
      <p:sp>
        <p:nvSpPr>
          <p:cNvPr id="28" name="Text 26"/>
          <p:cNvSpPr txBox="1"/>
          <p:nvPr/>
        </p:nvSpPr>
        <p:spPr>
          <a:xfrm>
            <a:off x="9491472" y="1609344"/>
            <a:ext cx="2121408"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since close</a:t>
            </a:r>
            <a:endParaRPr lang="en-US" sz="780" dirty="0"/>
          </a:p>
        </p:txBody>
      </p:sp>
      <p:sp>
        <p:nvSpPr>
          <p:cNvPr id="29" name="Shape 27"/>
          <p:cNvSpPr/>
          <p:nvPr/>
        </p:nvSpPr>
        <p:spPr>
          <a:xfrm>
            <a:off x="411480" y="2212848"/>
            <a:ext cx="6675120" cy="4096512"/>
          </a:xfrm>
          <a:prstGeom prst="roundRect">
            <a:avLst>
              <a:gd name="adj" fmla="val 1563"/>
            </a:avLst>
          </a:prstGeom>
          <a:solidFill>
            <a:srgbClr val="FFFFFF"/>
          </a:solidFill>
          <a:ln/>
          <a:effectLst>
            <a:outerShdw sx="100000" sy="100000" kx="0" ky="0" algn="bl" rotWithShape="0" blurRad="76200" dist="25400" dir="5400000">
              <a:srgbClr val="9AAAB5">
                <a:alpha val="35000"/>
              </a:srgbClr>
            </a:outerShdw>
          </a:effectLst>
        </p:spPr>
      </p:sp>
      <p:sp>
        <p:nvSpPr>
          <p:cNvPr id="30" name="Text 28"/>
          <p:cNvSpPr txBox="1"/>
          <p:nvPr/>
        </p:nvSpPr>
        <p:spPr>
          <a:xfrm>
            <a:off x="612648" y="2322576"/>
            <a:ext cx="6272784" cy="237744"/>
          </a:xfrm>
          <a:prstGeom prst="rect">
            <a:avLst/>
          </a:prstGeom>
          <a:noFill/>
          <a:ln/>
        </p:spPr>
        <p:txBody>
          <a:bodyPr wrap="square" lIns="0" tIns="0" rIns="0" bIns="0" rtlCol="0" anchor="ctr"/>
          <a:lstStyle/>
          <a:p>
            <a:pPr indent="0" marL="0">
              <a:buNone/>
            </a:pPr>
            <a:r>
              <a:rPr lang="en-US" sz="1100" b="1" dirty="0">
                <a:solidFill>
                  <a:srgbClr val="2C8394"/>
                </a:solidFill>
                <a:latin typeface="Poppins" pitchFamily="34" charset="0"/>
                <a:ea typeface="Poppins" pitchFamily="34" charset="-122"/>
                <a:cs typeface="Poppins" pitchFamily="34" charset="-120"/>
              </a:rPr>
              <a:t>WON WITH RECURRING REVENUE, NO INVOICE RAISED   </a:t>
            </a:r>
            <a:pPr indent="0" marL="0">
              <a:buNone/>
            </a:pPr>
            <a:r>
              <a:rPr lang="en-US" sz="650" dirty="0">
                <a:solidFill>
                  <a:srgbClr val="8FA1AC"/>
                </a:solidFill>
                <a:latin typeface="Poppins" pitchFamily="34" charset="0"/>
                <a:ea typeface="Poppins" pitchFamily="34" charset="-122"/>
                <a:cs typeface="Poppins" pitchFamily="34" charset="-120"/>
              </a:rPr>
              <a:t>matched on debtor ID and venue name</a:t>
            </a:r>
            <a:endParaRPr lang="en-US" sz="1100" dirty="0"/>
          </a:p>
        </p:txBody>
      </p:sp>
      <p:sp>
        <p:nvSpPr>
          <p:cNvPr id="31" name="Text 29"/>
          <p:cNvSpPr txBox="1"/>
          <p:nvPr/>
        </p:nvSpPr>
        <p:spPr>
          <a:xfrm>
            <a:off x="612648" y="2615184"/>
            <a:ext cx="2743200" cy="182880"/>
          </a:xfrm>
          <a:prstGeom prst="rect">
            <a:avLst/>
          </a:prstGeom>
          <a:noFill/>
          <a:ln/>
        </p:spPr>
        <p:txBody>
          <a:bodyPr wrap="square" lIns="0" tIns="0" rIns="0" bIns="0" rtlCol="0" anchor="ctr"/>
          <a:lstStyle/>
          <a:p>
            <a:pPr algn="l" indent="0" marL="0">
              <a:buNone/>
            </a:pPr>
            <a:r>
              <a:rPr lang="en-US" sz="680" b="1" dirty="0">
                <a:solidFill>
                  <a:srgbClr val="5E7280"/>
                </a:solidFill>
                <a:latin typeface="Poppins" pitchFamily="34" charset="0"/>
                <a:ea typeface="Poppins" pitchFamily="34" charset="-122"/>
                <a:cs typeface="Poppins" pitchFamily="34" charset="-120"/>
              </a:rPr>
              <a:t>VENUE</a:t>
            </a:r>
            <a:endParaRPr lang="en-US" sz="680" dirty="0"/>
          </a:p>
        </p:txBody>
      </p:sp>
      <p:sp>
        <p:nvSpPr>
          <p:cNvPr id="32" name="Text 30"/>
          <p:cNvSpPr txBox="1"/>
          <p:nvPr/>
        </p:nvSpPr>
        <p:spPr>
          <a:xfrm>
            <a:off x="3374136" y="2615184"/>
            <a:ext cx="1371600" cy="182880"/>
          </a:xfrm>
          <a:prstGeom prst="rect">
            <a:avLst/>
          </a:prstGeom>
          <a:noFill/>
          <a:ln/>
        </p:spPr>
        <p:txBody>
          <a:bodyPr wrap="square" lIns="0" tIns="0" rIns="0" bIns="0" rtlCol="0" anchor="ctr"/>
          <a:lstStyle/>
          <a:p>
            <a:pPr algn="l" indent="0" marL="0">
              <a:buNone/>
            </a:pPr>
            <a:r>
              <a:rPr lang="en-US" sz="680" b="1" dirty="0">
                <a:solidFill>
                  <a:srgbClr val="5E7280"/>
                </a:solidFill>
                <a:latin typeface="Poppins" pitchFamily="34" charset="0"/>
                <a:ea typeface="Poppins" pitchFamily="34" charset="-122"/>
                <a:cs typeface="Poppins" pitchFamily="34" charset="-120"/>
              </a:rPr>
              <a:t>ACCOUNT MANAGER</a:t>
            </a:r>
            <a:endParaRPr lang="en-US" sz="680" dirty="0"/>
          </a:p>
        </p:txBody>
      </p:sp>
      <p:sp>
        <p:nvSpPr>
          <p:cNvPr id="33" name="Text 31"/>
          <p:cNvSpPr txBox="1"/>
          <p:nvPr/>
        </p:nvSpPr>
        <p:spPr>
          <a:xfrm>
            <a:off x="4782312" y="2615184"/>
            <a:ext cx="731520" cy="182880"/>
          </a:xfrm>
          <a:prstGeom prst="rect">
            <a:avLst/>
          </a:prstGeom>
          <a:noFill/>
          <a:ln/>
        </p:spPr>
        <p:txBody>
          <a:bodyPr wrap="square" lIns="0" tIns="0" rIns="0" bIns="0" rtlCol="0" anchor="ctr"/>
          <a:lstStyle/>
          <a:p>
            <a:pPr algn="l" indent="0" marL="0">
              <a:buNone/>
            </a:pPr>
            <a:r>
              <a:rPr lang="en-US" sz="680" b="1" dirty="0">
                <a:solidFill>
                  <a:srgbClr val="5E7280"/>
                </a:solidFill>
                <a:latin typeface="Poppins" pitchFamily="34" charset="0"/>
                <a:ea typeface="Poppins" pitchFamily="34" charset="-122"/>
                <a:cs typeface="Poppins" pitchFamily="34" charset="-120"/>
              </a:rPr>
              <a:t>CLOSED</a:t>
            </a:r>
            <a:endParaRPr lang="en-US" sz="680" dirty="0"/>
          </a:p>
        </p:txBody>
      </p:sp>
      <p:sp>
        <p:nvSpPr>
          <p:cNvPr id="34" name="Text 32"/>
          <p:cNvSpPr txBox="1"/>
          <p:nvPr/>
        </p:nvSpPr>
        <p:spPr>
          <a:xfrm>
            <a:off x="5532120" y="2615184"/>
            <a:ext cx="457200" cy="182880"/>
          </a:xfrm>
          <a:prstGeom prst="rect">
            <a:avLst/>
          </a:prstGeom>
          <a:noFill/>
          <a:ln/>
        </p:spPr>
        <p:txBody>
          <a:bodyPr wrap="square" lIns="0" tIns="0" rIns="0" bIns="0" rtlCol="0" anchor="ctr"/>
          <a:lstStyle/>
          <a:p>
            <a:pPr algn="r" indent="0" marL="0">
              <a:buNone/>
            </a:pPr>
            <a:r>
              <a:rPr lang="en-US" sz="680" b="1" dirty="0">
                <a:solidFill>
                  <a:srgbClr val="5E7280"/>
                </a:solidFill>
                <a:latin typeface="Poppins" pitchFamily="34" charset="0"/>
                <a:ea typeface="Poppins" pitchFamily="34" charset="-122"/>
                <a:cs typeface="Poppins" pitchFamily="34" charset="-120"/>
              </a:rPr>
              <a:t>DAYS</a:t>
            </a:r>
            <a:endParaRPr lang="en-US" sz="680" dirty="0"/>
          </a:p>
        </p:txBody>
      </p:sp>
      <p:sp>
        <p:nvSpPr>
          <p:cNvPr id="35" name="Text 33"/>
          <p:cNvSpPr txBox="1"/>
          <p:nvPr/>
        </p:nvSpPr>
        <p:spPr>
          <a:xfrm>
            <a:off x="6025896" y="2615184"/>
            <a:ext cx="768096" cy="182880"/>
          </a:xfrm>
          <a:prstGeom prst="rect">
            <a:avLst/>
          </a:prstGeom>
          <a:noFill/>
          <a:ln/>
        </p:spPr>
        <p:txBody>
          <a:bodyPr wrap="square" lIns="0" tIns="0" rIns="0" bIns="0" rtlCol="0" anchor="ctr"/>
          <a:lstStyle/>
          <a:p>
            <a:pPr algn="r" indent="0" marL="0">
              <a:buNone/>
            </a:pPr>
            <a:r>
              <a:rPr lang="en-US" sz="680" b="1" dirty="0">
                <a:solidFill>
                  <a:srgbClr val="5E7280"/>
                </a:solidFill>
                <a:latin typeface="Poppins" pitchFamily="34" charset="0"/>
                <a:ea typeface="Poppins" pitchFamily="34" charset="-122"/>
                <a:cs typeface="Poppins" pitchFamily="34" charset="-120"/>
              </a:rPr>
              <a:t>MRR/MO</a:t>
            </a:r>
            <a:endParaRPr lang="en-US" sz="680" dirty="0"/>
          </a:p>
        </p:txBody>
      </p:sp>
      <p:sp>
        <p:nvSpPr>
          <p:cNvPr id="36" name="Text 34"/>
          <p:cNvSpPr txBox="1"/>
          <p:nvPr/>
        </p:nvSpPr>
        <p:spPr>
          <a:xfrm>
            <a:off x="612648" y="2834640"/>
            <a:ext cx="2743200" cy="154534"/>
          </a:xfrm>
          <a:prstGeom prst="rect">
            <a:avLst/>
          </a:prstGeom>
          <a:noFill/>
          <a:ln/>
        </p:spPr>
        <p:txBody>
          <a:bodyPr wrap="square" lIns="0" tIns="0" rIns="0" bIns="0" rtlCol="0" anchor="ctr"/>
          <a:lstStyle/>
          <a:p>
            <a:pPr indent="0" marL="0">
              <a:buNone/>
            </a:pPr>
            <a:r>
              <a:rPr lang="en-US" sz="720" b="1" dirty="0">
                <a:solidFill>
                  <a:srgbClr val="12293A"/>
                </a:solidFill>
                <a:latin typeface="Poppins" pitchFamily="34" charset="0"/>
                <a:ea typeface="Poppins" pitchFamily="34" charset="-122"/>
                <a:cs typeface="Poppins" pitchFamily="34" charset="-120"/>
              </a:rPr>
              <a:t>Oscars Hotels</a:t>
            </a:r>
            <a:endParaRPr lang="en-US" sz="720" dirty="0"/>
          </a:p>
        </p:txBody>
      </p:sp>
      <p:sp>
        <p:nvSpPr>
          <p:cNvPr id="37" name="Text 35"/>
          <p:cNvSpPr txBox="1"/>
          <p:nvPr/>
        </p:nvSpPr>
        <p:spPr>
          <a:xfrm>
            <a:off x="3374136" y="2834640"/>
            <a:ext cx="1371600" cy="154534"/>
          </a:xfrm>
          <a:prstGeom prst="rect">
            <a:avLst/>
          </a:prstGeom>
          <a:noFill/>
          <a:ln/>
        </p:spPr>
        <p:txBody>
          <a:bodyPr wrap="square" lIns="0" tIns="0" rIns="0" bIns="0" rtlCol="0" anchor="ctr"/>
          <a:lstStyle/>
          <a:p>
            <a:pPr indent="0" marL="0">
              <a:buNone/>
            </a:pPr>
            <a:r>
              <a:rPr lang="en-US" sz="700" dirty="0">
                <a:solidFill>
                  <a:srgbClr val="5E7280"/>
                </a:solidFill>
                <a:latin typeface="Poppins" pitchFamily="34" charset="0"/>
                <a:ea typeface="Poppins" pitchFamily="34" charset="-122"/>
                <a:cs typeface="Poppins" pitchFamily="34" charset="-120"/>
              </a:rPr>
              <a:t>Bradford Young</a:t>
            </a:r>
            <a:endParaRPr lang="en-US" sz="700" dirty="0"/>
          </a:p>
        </p:txBody>
      </p:sp>
      <p:sp>
        <p:nvSpPr>
          <p:cNvPr id="38" name="Text 36"/>
          <p:cNvSpPr txBox="1"/>
          <p:nvPr/>
        </p:nvSpPr>
        <p:spPr>
          <a:xfrm>
            <a:off x="4782312" y="2834640"/>
            <a:ext cx="731520" cy="154534"/>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31 Mar</a:t>
            </a:r>
            <a:endParaRPr lang="en-US" sz="700" dirty="0"/>
          </a:p>
        </p:txBody>
      </p:sp>
      <p:sp>
        <p:nvSpPr>
          <p:cNvPr id="39" name="Text 37"/>
          <p:cNvSpPr txBox="1"/>
          <p:nvPr/>
        </p:nvSpPr>
        <p:spPr>
          <a:xfrm>
            <a:off x="5532120" y="2834640"/>
            <a:ext cx="457200" cy="154534"/>
          </a:xfrm>
          <a:prstGeom prst="rect">
            <a:avLst/>
          </a:prstGeom>
          <a:noFill/>
          <a:ln/>
        </p:spPr>
        <p:txBody>
          <a:bodyPr wrap="square" lIns="0" tIns="0" rIns="0" bIns="0" rtlCol="0" anchor="ctr"/>
          <a:lstStyle/>
          <a:p>
            <a:pPr algn="r" indent="0" marL="0">
              <a:buNone/>
            </a:pPr>
            <a:r>
              <a:rPr lang="en-US" sz="720" b="1" dirty="0">
                <a:solidFill>
                  <a:srgbClr val="B4552D"/>
                </a:solidFill>
                <a:latin typeface="Poppins" pitchFamily="34" charset="0"/>
                <a:ea typeface="Poppins" pitchFamily="34" charset="-122"/>
                <a:cs typeface="Poppins" pitchFamily="34" charset="-120"/>
              </a:rPr>
              <a:t>201</a:t>
            </a:r>
            <a:endParaRPr lang="en-US" sz="720" dirty="0"/>
          </a:p>
        </p:txBody>
      </p:sp>
      <p:sp>
        <p:nvSpPr>
          <p:cNvPr id="40" name="Text 38"/>
          <p:cNvSpPr txBox="1"/>
          <p:nvPr/>
        </p:nvSpPr>
        <p:spPr>
          <a:xfrm>
            <a:off x="6025896" y="2834640"/>
            <a:ext cx="768096" cy="154534"/>
          </a:xfrm>
          <a:prstGeom prst="rect">
            <a:avLst/>
          </a:prstGeom>
          <a:noFill/>
          <a:ln/>
        </p:spPr>
        <p:txBody>
          <a:bodyPr wrap="square" lIns="0" tIns="0" rIns="0" bIns="0" rtlCol="0" anchor="ctr"/>
          <a:lstStyle/>
          <a:p>
            <a:pPr algn="r" indent="0" marL="0">
              <a:buNone/>
            </a:pPr>
            <a:r>
              <a:rPr lang="en-US" sz="720" b="1" dirty="0">
                <a:solidFill>
                  <a:srgbClr val="12293A"/>
                </a:solidFill>
                <a:latin typeface="Poppins" pitchFamily="34" charset="0"/>
                <a:ea typeface="Poppins" pitchFamily="34" charset="-122"/>
                <a:cs typeface="Poppins" pitchFamily="34" charset="-120"/>
              </a:rPr>
              <a:t>$12,880</a:t>
            </a:r>
            <a:endParaRPr lang="en-US" sz="720" dirty="0"/>
          </a:p>
        </p:txBody>
      </p:sp>
      <p:sp>
        <p:nvSpPr>
          <p:cNvPr id="41" name="Shape 39"/>
          <p:cNvSpPr/>
          <p:nvPr/>
        </p:nvSpPr>
        <p:spPr>
          <a:xfrm>
            <a:off x="539496" y="2989174"/>
            <a:ext cx="6419088" cy="154534"/>
          </a:xfrm>
          <a:prstGeom prst="rect">
            <a:avLst/>
          </a:prstGeom>
          <a:solidFill>
            <a:srgbClr val="F2F6F8"/>
          </a:solidFill>
          <a:ln/>
        </p:spPr>
      </p:sp>
      <p:sp>
        <p:nvSpPr>
          <p:cNvPr id="42" name="Text 40"/>
          <p:cNvSpPr txBox="1"/>
          <p:nvPr/>
        </p:nvSpPr>
        <p:spPr>
          <a:xfrm>
            <a:off x="612648" y="2989174"/>
            <a:ext cx="2743200" cy="154534"/>
          </a:xfrm>
          <a:prstGeom prst="rect">
            <a:avLst/>
          </a:prstGeom>
          <a:noFill/>
          <a:ln/>
        </p:spPr>
        <p:txBody>
          <a:bodyPr wrap="square" lIns="0" tIns="0" rIns="0" bIns="0" rtlCol="0" anchor="ctr"/>
          <a:lstStyle/>
          <a:p>
            <a:pPr indent="0" marL="0">
              <a:buNone/>
            </a:pPr>
            <a:r>
              <a:rPr lang="en-US" sz="720" dirty="0">
                <a:solidFill>
                  <a:srgbClr val="5E7280"/>
                </a:solidFill>
                <a:latin typeface="Poppins" pitchFamily="34" charset="0"/>
                <a:ea typeface="Poppins" pitchFamily="34" charset="-122"/>
                <a:cs typeface="Poppins" pitchFamily="34" charset="-120"/>
              </a:rPr>
              <a:t>Mt Henry Tavern</a:t>
            </a:r>
            <a:endParaRPr lang="en-US" sz="720" dirty="0"/>
          </a:p>
        </p:txBody>
      </p:sp>
      <p:sp>
        <p:nvSpPr>
          <p:cNvPr id="43" name="Text 41"/>
          <p:cNvSpPr txBox="1"/>
          <p:nvPr/>
        </p:nvSpPr>
        <p:spPr>
          <a:xfrm>
            <a:off x="3374136" y="2989174"/>
            <a:ext cx="1371600" cy="154534"/>
          </a:xfrm>
          <a:prstGeom prst="rect">
            <a:avLst/>
          </a:prstGeom>
          <a:noFill/>
          <a:ln/>
        </p:spPr>
        <p:txBody>
          <a:bodyPr wrap="square" lIns="0" tIns="0" rIns="0" bIns="0" rtlCol="0" anchor="ctr"/>
          <a:lstStyle/>
          <a:p>
            <a:pPr indent="0" marL="0">
              <a:buNone/>
            </a:pPr>
            <a:r>
              <a:rPr lang="en-US" sz="700" dirty="0">
                <a:solidFill>
                  <a:srgbClr val="5E7280"/>
                </a:solidFill>
                <a:latin typeface="Poppins" pitchFamily="34" charset="0"/>
                <a:ea typeface="Poppins" pitchFamily="34" charset="-122"/>
                <a:cs typeface="Poppins" pitchFamily="34" charset="-120"/>
              </a:rPr>
              <a:t>Bjorn Magabo</a:t>
            </a:r>
            <a:endParaRPr lang="en-US" sz="700" dirty="0"/>
          </a:p>
        </p:txBody>
      </p:sp>
      <p:sp>
        <p:nvSpPr>
          <p:cNvPr id="44" name="Text 42"/>
          <p:cNvSpPr txBox="1"/>
          <p:nvPr/>
        </p:nvSpPr>
        <p:spPr>
          <a:xfrm>
            <a:off x="4782312" y="2989174"/>
            <a:ext cx="731520" cy="154534"/>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1 Oct</a:t>
            </a:r>
            <a:endParaRPr lang="en-US" sz="700" dirty="0"/>
          </a:p>
        </p:txBody>
      </p:sp>
      <p:sp>
        <p:nvSpPr>
          <p:cNvPr id="45" name="Text 43"/>
          <p:cNvSpPr txBox="1"/>
          <p:nvPr/>
        </p:nvSpPr>
        <p:spPr>
          <a:xfrm>
            <a:off x="5532120" y="2989174"/>
            <a:ext cx="457200" cy="154534"/>
          </a:xfrm>
          <a:prstGeom prst="rect">
            <a:avLst/>
          </a:prstGeom>
          <a:noFill/>
          <a:ln/>
        </p:spPr>
        <p:txBody>
          <a:bodyPr wrap="square" lIns="0" tIns="0" rIns="0" bIns="0" rtlCol="0" anchor="ctr"/>
          <a:lstStyle/>
          <a:p>
            <a:pPr algn="r" indent="0" marL="0">
              <a:buNone/>
            </a:pPr>
            <a:r>
              <a:rPr lang="en-US" sz="720" b="1" dirty="0">
                <a:solidFill>
                  <a:srgbClr val="5E7280"/>
                </a:solidFill>
                <a:latin typeface="Poppins" pitchFamily="34" charset="0"/>
                <a:ea typeface="Poppins" pitchFamily="34" charset="-122"/>
                <a:cs typeface="Poppins" pitchFamily="34" charset="-120"/>
              </a:rPr>
              <a:t>17</a:t>
            </a:r>
            <a:endParaRPr lang="en-US" sz="720" dirty="0"/>
          </a:p>
        </p:txBody>
      </p:sp>
      <p:sp>
        <p:nvSpPr>
          <p:cNvPr id="46" name="Text 44"/>
          <p:cNvSpPr txBox="1"/>
          <p:nvPr/>
        </p:nvSpPr>
        <p:spPr>
          <a:xfrm>
            <a:off x="6025896" y="2989174"/>
            <a:ext cx="768096" cy="154534"/>
          </a:xfrm>
          <a:prstGeom prst="rect">
            <a:avLst/>
          </a:prstGeom>
          <a:noFill/>
          <a:ln/>
        </p:spPr>
        <p:txBody>
          <a:bodyPr wrap="square" lIns="0" tIns="0" rIns="0" bIns="0" rtlCol="0" anchor="ctr"/>
          <a:lstStyle/>
          <a:p>
            <a:pPr algn="r" indent="0" marL="0">
              <a:buNone/>
            </a:pPr>
            <a:r>
              <a:rPr lang="en-US" sz="720" b="1" dirty="0">
                <a:solidFill>
                  <a:srgbClr val="12293A"/>
                </a:solidFill>
                <a:latin typeface="Poppins" pitchFamily="34" charset="0"/>
                <a:ea typeface="Poppins" pitchFamily="34" charset="-122"/>
                <a:cs typeface="Poppins" pitchFamily="34" charset="-120"/>
              </a:rPr>
              <a:t>$905</a:t>
            </a:r>
            <a:endParaRPr lang="en-US" sz="720" dirty="0"/>
          </a:p>
        </p:txBody>
      </p:sp>
      <p:sp>
        <p:nvSpPr>
          <p:cNvPr id="47" name="Text 45"/>
          <p:cNvSpPr txBox="1"/>
          <p:nvPr/>
        </p:nvSpPr>
        <p:spPr>
          <a:xfrm>
            <a:off x="612648" y="3143707"/>
            <a:ext cx="2743200" cy="154534"/>
          </a:xfrm>
          <a:prstGeom prst="rect">
            <a:avLst/>
          </a:prstGeom>
          <a:noFill/>
          <a:ln/>
        </p:spPr>
        <p:txBody>
          <a:bodyPr wrap="square" lIns="0" tIns="0" rIns="0" bIns="0" rtlCol="0" anchor="ctr"/>
          <a:lstStyle/>
          <a:p>
            <a:pPr indent="0" marL="0">
              <a:buNone/>
            </a:pPr>
            <a:r>
              <a:rPr lang="en-US" sz="720" dirty="0">
                <a:solidFill>
                  <a:srgbClr val="5E7280"/>
                </a:solidFill>
                <a:latin typeface="Poppins" pitchFamily="34" charset="0"/>
                <a:ea typeface="Poppins" pitchFamily="34" charset="-122"/>
                <a:cs typeface="Poppins" pitchFamily="34" charset="-120"/>
              </a:rPr>
              <a:t>Caves House Hotel</a:t>
            </a:r>
            <a:endParaRPr lang="en-US" sz="720" dirty="0"/>
          </a:p>
        </p:txBody>
      </p:sp>
      <p:sp>
        <p:nvSpPr>
          <p:cNvPr id="48" name="Text 46"/>
          <p:cNvSpPr txBox="1"/>
          <p:nvPr/>
        </p:nvSpPr>
        <p:spPr>
          <a:xfrm>
            <a:off x="3374136" y="3143707"/>
            <a:ext cx="1371600" cy="154534"/>
          </a:xfrm>
          <a:prstGeom prst="rect">
            <a:avLst/>
          </a:prstGeom>
          <a:noFill/>
          <a:ln/>
        </p:spPr>
        <p:txBody>
          <a:bodyPr wrap="square" lIns="0" tIns="0" rIns="0" bIns="0" rtlCol="0" anchor="ctr"/>
          <a:lstStyle/>
          <a:p>
            <a:pPr indent="0" marL="0">
              <a:buNone/>
            </a:pPr>
            <a:r>
              <a:rPr lang="en-US" sz="700" dirty="0">
                <a:solidFill>
                  <a:srgbClr val="5E7280"/>
                </a:solidFill>
                <a:latin typeface="Poppins" pitchFamily="34" charset="0"/>
                <a:ea typeface="Poppins" pitchFamily="34" charset="-122"/>
                <a:cs typeface="Poppins" pitchFamily="34" charset="-120"/>
              </a:rPr>
              <a:t>Bjorn Magabo</a:t>
            </a:r>
            <a:endParaRPr lang="en-US" sz="700" dirty="0"/>
          </a:p>
        </p:txBody>
      </p:sp>
      <p:sp>
        <p:nvSpPr>
          <p:cNvPr id="49" name="Text 47"/>
          <p:cNvSpPr txBox="1"/>
          <p:nvPr/>
        </p:nvSpPr>
        <p:spPr>
          <a:xfrm>
            <a:off x="4782312" y="3143707"/>
            <a:ext cx="731520" cy="154534"/>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11 Aug</a:t>
            </a:r>
            <a:endParaRPr lang="en-US" sz="700" dirty="0"/>
          </a:p>
        </p:txBody>
      </p:sp>
      <p:sp>
        <p:nvSpPr>
          <p:cNvPr id="50" name="Text 48"/>
          <p:cNvSpPr txBox="1"/>
          <p:nvPr/>
        </p:nvSpPr>
        <p:spPr>
          <a:xfrm>
            <a:off x="5532120" y="3143707"/>
            <a:ext cx="457200" cy="154534"/>
          </a:xfrm>
          <a:prstGeom prst="rect">
            <a:avLst/>
          </a:prstGeom>
          <a:noFill/>
          <a:ln/>
        </p:spPr>
        <p:txBody>
          <a:bodyPr wrap="square" lIns="0" tIns="0" rIns="0" bIns="0" rtlCol="0" anchor="ctr"/>
          <a:lstStyle/>
          <a:p>
            <a:pPr algn="r" indent="0" marL="0">
              <a:buNone/>
            </a:pPr>
            <a:r>
              <a:rPr lang="en-US" sz="720" b="1" dirty="0">
                <a:solidFill>
                  <a:srgbClr val="5E7280"/>
                </a:solidFill>
                <a:latin typeface="Poppins" pitchFamily="34" charset="0"/>
                <a:ea typeface="Poppins" pitchFamily="34" charset="-122"/>
                <a:cs typeface="Poppins" pitchFamily="34" charset="-120"/>
              </a:rPr>
              <a:t>68</a:t>
            </a:r>
            <a:endParaRPr lang="en-US" sz="720" dirty="0"/>
          </a:p>
        </p:txBody>
      </p:sp>
      <p:sp>
        <p:nvSpPr>
          <p:cNvPr id="51" name="Text 49"/>
          <p:cNvSpPr txBox="1"/>
          <p:nvPr/>
        </p:nvSpPr>
        <p:spPr>
          <a:xfrm>
            <a:off x="6025896" y="3143707"/>
            <a:ext cx="768096" cy="154534"/>
          </a:xfrm>
          <a:prstGeom prst="rect">
            <a:avLst/>
          </a:prstGeom>
          <a:noFill/>
          <a:ln/>
        </p:spPr>
        <p:txBody>
          <a:bodyPr wrap="square" lIns="0" tIns="0" rIns="0" bIns="0" rtlCol="0" anchor="ctr"/>
          <a:lstStyle/>
          <a:p>
            <a:pPr algn="r" indent="0" marL="0">
              <a:buNone/>
            </a:pPr>
            <a:r>
              <a:rPr lang="en-US" sz="720" b="1" dirty="0">
                <a:solidFill>
                  <a:srgbClr val="12293A"/>
                </a:solidFill>
                <a:latin typeface="Poppins" pitchFamily="34" charset="0"/>
                <a:ea typeface="Poppins" pitchFamily="34" charset="-122"/>
                <a:cs typeface="Poppins" pitchFamily="34" charset="-120"/>
              </a:rPr>
              <a:t>$669</a:t>
            </a:r>
            <a:endParaRPr lang="en-US" sz="720" dirty="0"/>
          </a:p>
        </p:txBody>
      </p:sp>
      <p:sp>
        <p:nvSpPr>
          <p:cNvPr id="52" name="Shape 50"/>
          <p:cNvSpPr/>
          <p:nvPr/>
        </p:nvSpPr>
        <p:spPr>
          <a:xfrm>
            <a:off x="539496" y="3298241"/>
            <a:ext cx="6419088" cy="154534"/>
          </a:xfrm>
          <a:prstGeom prst="rect">
            <a:avLst/>
          </a:prstGeom>
          <a:solidFill>
            <a:srgbClr val="F2F6F8"/>
          </a:solidFill>
          <a:ln/>
        </p:spPr>
      </p:sp>
      <p:sp>
        <p:nvSpPr>
          <p:cNvPr id="53" name="Text 51"/>
          <p:cNvSpPr txBox="1"/>
          <p:nvPr/>
        </p:nvSpPr>
        <p:spPr>
          <a:xfrm>
            <a:off x="612648" y="3298241"/>
            <a:ext cx="2743200" cy="154534"/>
          </a:xfrm>
          <a:prstGeom prst="rect">
            <a:avLst/>
          </a:prstGeom>
          <a:noFill/>
          <a:ln/>
        </p:spPr>
        <p:txBody>
          <a:bodyPr wrap="square" lIns="0" tIns="0" rIns="0" bIns="0" rtlCol="0" anchor="ctr"/>
          <a:lstStyle/>
          <a:p>
            <a:pPr indent="0" marL="0">
              <a:buNone/>
            </a:pPr>
            <a:r>
              <a:rPr lang="en-US" sz="720" dirty="0">
                <a:solidFill>
                  <a:srgbClr val="5E7280"/>
                </a:solidFill>
                <a:latin typeface="Poppins" pitchFamily="34" charset="0"/>
                <a:ea typeface="Poppins" pitchFamily="34" charset="-122"/>
                <a:cs typeface="Poppins" pitchFamily="34" charset="-120"/>
              </a:rPr>
              <a:t>Pier Hotel - Pt Lincoln</a:t>
            </a:r>
            <a:endParaRPr lang="en-US" sz="720" dirty="0"/>
          </a:p>
        </p:txBody>
      </p:sp>
      <p:sp>
        <p:nvSpPr>
          <p:cNvPr id="54" name="Text 52"/>
          <p:cNvSpPr txBox="1"/>
          <p:nvPr/>
        </p:nvSpPr>
        <p:spPr>
          <a:xfrm>
            <a:off x="3374136" y="3298241"/>
            <a:ext cx="1371600" cy="154534"/>
          </a:xfrm>
          <a:prstGeom prst="rect">
            <a:avLst/>
          </a:prstGeom>
          <a:noFill/>
          <a:ln/>
        </p:spPr>
        <p:txBody>
          <a:bodyPr wrap="square" lIns="0" tIns="0" rIns="0" bIns="0" rtlCol="0" anchor="ctr"/>
          <a:lstStyle/>
          <a:p>
            <a:pPr indent="0" marL="0">
              <a:buNone/>
            </a:pPr>
            <a:r>
              <a:rPr lang="en-US" sz="700" dirty="0">
                <a:solidFill>
                  <a:srgbClr val="5E7280"/>
                </a:solidFill>
                <a:latin typeface="Poppins" pitchFamily="34" charset="0"/>
                <a:ea typeface="Poppins" pitchFamily="34" charset="-122"/>
                <a:cs typeface="Poppins" pitchFamily="34" charset="-120"/>
              </a:rPr>
              <a:t>Bradford Young</a:t>
            </a:r>
            <a:endParaRPr lang="en-US" sz="700" dirty="0"/>
          </a:p>
        </p:txBody>
      </p:sp>
      <p:sp>
        <p:nvSpPr>
          <p:cNvPr id="55" name="Text 53"/>
          <p:cNvSpPr txBox="1"/>
          <p:nvPr/>
        </p:nvSpPr>
        <p:spPr>
          <a:xfrm>
            <a:off x="4782312" y="3298241"/>
            <a:ext cx="731520" cy="154534"/>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30 Sep</a:t>
            </a:r>
            <a:endParaRPr lang="en-US" sz="700" dirty="0"/>
          </a:p>
        </p:txBody>
      </p:sp>
      <p:sp>
        <p:nvSpPr>
          <p:cNvPr id="56" name="Text 54"/>
          <p:cNvSpPr txBox="1"/>
          <p:nvPr/>
        </p:nvSpPr>
        <p:spPr>
          <a:xfrm>
            <a:off x="5532120" y="3298241"/>
            <a:ext cx="457200" cy="154534"/>
          </a:xfrm>
          <a:prstGeom prst="rect">
            <a:avLst/>
          </a:prstGeom>
          <a:noFill/>
          <a:ln/>
        </p:spPr>
        <p:txBody>
          <a:bodyPr wrap="square" lIns="0" tIns="0" rIns="0" bIns="0" rtlCol="0" anchor="ctr"/>
          <a:lstStyle/>
          <a:p>
            <a:pPr algn="r" indent="0" marL="0">
              <a:buNone/>
            </a:pPr>
            <a:r>
              <a:rPr lang="en-US" sz="720" b="1" dirty="0">
                <a:solidFill>
                  <a:srgbClr val="5E7280"/>
                </a:solidFill>
                <a:latin typeface="Poppins" pitchFamily="34" charset="0"/>
                <a:ea typeface="Poppins" pitchFamily="34" charset="-122"/>
                <a:cs typeface="Poppins" pitchFamily="34" charset="-120"/>
              </a:rPr>
              <a:t>18</a:t>
            </a:r>
            <a:endParaRPr lang="en-US" sz="720" dirty="0"/>
          </a:p>
        </p:txBody>
      </p:sp>
      <p:sp>
        <p:nvSpPr>
          <p:cNvPr id="57" name="Text 55"/>
          <p:cNvSpPr txBox="1"/>
          <p:nvPr/>
        </p:nvSpPr>
        <p:spPr>
          <a:xfrm>
            <a:off x="6025896" y="3298241"/>
            <a:ext cx="768096" cy="154534"/>
          </a:xfrm>
          <a:prstGeom prst="rect">
            <a:avLst/>
          </a:prstGeom>
          <a:noFill/>
          <a:ln/>
        </p:spPr>
        <p:txBody>
          <a:bodyPr wrap="square" lIns="0" tIns="0" rIns="0" bIns="0" rtlCol="0" anchor="ctr"/>
          <a:lstStyle/>
          <a:p>
            <a:pPr algn="r" indent="0" marL="0">
              <a:buNone/>
            </a:pPr>
            <a:r>
              <a:rPr lang="en-US" sz="720" b="1" dirty="0">
                <a:solidFill>
                  <a:srgbClr val="12293A"/>
                </a:solidFill>
                <a:latin typeface="Poppins" pitchFamily="34" charset="0"/>
                <a:ea typeface="Poppins" pitchFamily="34" charset="-122"/>
                <a:cs typeface="Poppins" pitchFamily="34" charset="-120"/>
              </a:rPr>
              <a:t>$648</a:t>
            </a:r>
            <a:endParaRPr lang="en-US" sz="720" dirty="0"/>
          </a:p>
        </p:txBody>
      </p:sp>
      <p:sp>
        <p:nvSpPr>
          <p:cNvPr id="58" name="Text 56"/>
          <p:cNvSpPr txBox="1"/>
          <p:nvPr/>
        </p:nvSpPr>
        <p:spPr>
          <a:xfrm>
            <a:off x="612648" y="3452774"/>
            <a:ext cx="2743200" cy="154534"/>
          </a:xfrm>
          <a:prstGeom prst="rect">
            <a:avLst/>
          </a:prstGeom>
          <a:noFill/>
          <a:ln/>
        </p:spPr>
        <p:txBody>
          <a:bodyPr wrap="square" lIns="0" tIns="0" rIns="0" bIns="0" rtlCol="0" anchor="ctr"/>
          <a:lstStyle/>
          <a:p>
            <a:pPr indent="0" marL="0">
              <a:buNone/>
            </a:pPr>
            <a:r>
              <a:rPr lang="en-US" sz="720" dirty="0">
                <a:solidFill>
                  <a:srgbClr val="5E7280"/>
                </a:solidFill>
                <a:latin typeface="Poppins" pitchFamily="34" charset="0"/>
                <a:ea typeface="Poppins" pitchFamily="34" charset="-122"/>
                <a:cs typeface="Poppins" pitchFamily="34" charset="-120"/>
              </a:rPr>
              <a:t>The Iris Pavilion</a:t>
            </a:r>
            <a:endParaRPr lang="en-US" sz="720" dirty="0"/>
          </a:p>
        </p:txBody>
      </p:sp>
      <p:sp>
        <p:nvSpPr>
          <p:cNvPr id="59" name="Text 57"/>
          <p:cNvSpPr txBox="1"/>
          <p:nvPr/>
        </p:nvSpPr>
        <p:spPr>
          <a:xfrm>
            <a:off x="3374136" y="3452774"/>
            <a:ext cx="1371600" cy="154534"/>
          </a:xfrm>
          <a:prstGeom prst="rect">
            <a:avLst/>
          </a:prstGeom>
          <a:noFill/>
          <a:ln/>
        </p:spPr>
        <p:txBody>
          <a:bodyPr wrap="square" lIns="0" tIns="0" rIns="0" bIns="0" rtlCol="0" anchor="ctr"/>
          <a:lstStyle/>
          <a:p>
            <a:pPr indent="0" marL="0">
              <a:buNone/>
            </a:pPr>
            <a:r>
              <a:rPr lang="en-US" sz="700" dirty="0">
                <a:solidFill>
                  <a:srgbClr val="5E7280"/>
                </a:solidFill>
                <a:latin typeface="Poppins" pitchFamily="34" charset="0"/>
                <a:ea typeface="Poppins" pitchFamily="34" charset="-122"/>
                <a:cs typeface="Poppins" pitchFamily="34" charset="-120"/>
              </a:rPr>
              <a:t>Bjorn Magabo</a:t>
            </a:r>
            <a:endParaRPr lang="en-US" sz="700" dirty="0"/>
          </a:p>
        </p:txBody>
      </p:sp>
      <p:sp>
        <p:nvSpPr>
          <p:cNvPr id="60" name="Text 58"/>
          <p:cNvSpPr txBox="1"/>
          <p:nvPr/>
        </p:nvSpPr>
        <p:spPr>
          <a:xfrm>
            <a:off x="4782312" y="3452774"/>
            <a:ext cx="731520" cy="154534"/>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30 Sep</a:t>
            </a:r>
            <a:endParaRPr lang="en-US" sz="700" dirty="0"/>
          </a:p>
        </p:txBody>
      </p:sp>
      <p:sp>
        <p:nvSpPr>
          <p:cNvPr id="61" name="Text 59"/>
          <p:cNvSpPr txBox="1"/>
          <p:nvPr/>
        </p:nvSpPr>
        <p:spPr>
          <a:xfrm>
            <a:off x="5532120" y="3452774"/>
            <a:ext cx="457200" cy="154534"/>
          </a:xfrm>
          <a:prstGeom prst="rect">
            <a:avLst/>
          </a:prstGeom>
          <a:noFill/>
          <a:ln/>
        </p:spPr>
        <p:txBody>
          <a:bodyPr wrap="square" lIns="0" tIns="0" rIns="0" bIns="0" rtlCol="0" anchor="ctr"/>
          <a:lstStyle/>
          <a:p>
            <a:pPr algn="r" indent="0" marL="0">
              <a:buNone/>
            </a:pPr>
            <a:r>
              <a:rPr lang="en-US" sz="720" b="1" dirty="0">
                <a:solidFill>
                  <a:srgbClr val="5E7280"/>
                </a:solidFill>
                <a:latin typeface="Poppins" pitchFamily="34" charset="0"/>
                <a:ea typeface="Poppins" pitchFamily="34" charset="-122"/>
                <a:cs typeface="Poppins" pitchFamily="34" charset="-120"/>
              </a:rPr>
              <a:t>18</a:t>
            </a:r>
            <a:endParaRPr lang="en-US" sz="720" dirty="0"/>
          </a:p>
        </p:txBody>
      </p:sp>
      <p:sp>
        <p:nvSpPr>
          <p:cNvPr id="62" name="Text 60"/>
          <p:cNvSpPr txBox="1"/>
          <p:nvPr/>
        </p:nvSpPr>
        <p:spPr>
          <a:xfrm>
            <a:off x="6025896" y="3452774"/>
            <a:ext cx="768096" cy="154534"/>
          </a:xfrm>
          <a:prstGeom prst="rect">
            <a:avLst/>
          </a:prstGeom>
          <a:noFill/>
          <a:ln/>
        </p:spPr>
        <p:txBody>
          <a:bodyPr wrap="square" lIns="0" tIns="0" rIns="0" bIns="0" rtlCol="0" anchor="ctr"/>
          <a:lstStyle/>
          <a:p>
            <a:pPr algn="r" indent="0" marL="0">
              <a:buNone/>
            </a:pPr>
            <a:r>
              <a:rPr lang="en-US" sz="720" b="1" dirty="0">
                <a:solidFill>
                  <a:srgbClr val="12293A"/>
                </a:solidFill>
                <a:latin typeface="Poppins" pitchFamily="34" charset="0"/>
                <a:ea typeface="Poppins" pitchFamily="34" charset="-122"/>
                <a:cs typeface="Poppins" pitchFamily="34" charset="-120"/>
              </a:rPr>
              <a:t>$623</a:t>
            </a:r>
            <a:endParaRPr lang="en-US" sz="720" dirty="0"/>
          </a:p>
        </p:txBody>
      </p:sp>
      <p:sp>
        <p:nvSpPr>
          <p:cNvPr id="63" name="Shape 61"/>
          <p:cNvSpPr/>
          <p:nvPr/>
        </p:nvSpPr>
        <p:spPr>
          <a:xfrm>
            <a:off x="539496" y="3607308"/>
            <a:ext cx="6419088" cy="154534"/>
          </a:xfrm>
          <a:prstGeom prst="rect">
            <a:avLst/>
          </a:prstGeom>
          <a:solidFill>
            <a:srgbClr val="F2F6F8"/>
          </a:solidFill>
          <a:ln/>
        </p:spPr>
      </p:sp>
      <p:sp>
        <p:nvSpPr>
          <p:cNvPr id="64" name="Text 62"/>
          <p:cNvSpPr txBox="1"/>
          <p:nvPr/>
        </p:nvSpPr>
        <p:spPr>
          <a:xfrm>
            <a:off x="612648" y="3607308"/>
            <a:ext cx="2743200" cy="154534"/>
          </a:xfrm>
          <a:prstGeom prst="rect">
            <a:avLst/>
          </a:prstGeom>
          <a:noFill/>
          <a:ln/>
        </p:spPr>
        <p:txBody>
          <a:bodyPr wrap="square" lIns="0" tIns="0" rIns="0" bIns="0" rtlCol="0" anchor="ctr"/>
          <a:lstStyle/>
          <a:p>
            <a:pPr indent="0" marL="0">
              <a:buNone/>
            </a:pPr>
            <a:r>
              <a:rPr lang="en-US" sz="720" b="1" dirty="0">
                <a:solidFill>
                  <a:srgbClr val="12293A"/>
                </a:solidFill>
                <a:latin typeface="Poppins" pitchFamily="34" charset="0"/>
                <a:ea typeface="Poppins" pitchFamily="34" charset="-122"/>
                <a:cs typeface="Poppins" pitchFamily="34" charset="-120"/>
              </a:rPr>
              <a:t>The Berrigan</a:t>
            </a:r>
            <a:endParaRPr lang="en-US" sz="720" dirty="0"/>
          </a:p>
        </p:txBody>
      </p:sp>
      <p:sp>
        <p:nvSpPr>
          <p:cNvPr id="65" name="Text 63"/>
          <p:cNvSpPr txBox="1"/>
          <p:nvPr/>
        </p:nvSpPr>
        <p:spPr>
          <a:xfrm>
            <a:off x="3374136" y="3607308"/>
            <a:ext cx="1371600" cy="154534"/>
          </a:xfrm>
          <a:prstGeom prst="rect">
            <a:avLst/>
          </a:prstGeom>
          <a:noFill/>
          <a:ln/>
        </p:spPr>
        <p:txBody>
          <a:bodyPr wrap="square" lIns="0" tIns="0" rIns="0" bIns="0" rtlCol="0" anchor="ctr"/>
          <a:lstStyle/>
          <a:p>
            <a:pPr indent="0" marL="0">
              <a:buNone/>
            </a:pPr>
            <a:r>
              <a:rPr lang="en-US" sz="700" dirty="0">
                <a:solidFill>
                  <a:srgbClr val="5E7280"/>
                </a:solidFill>
                <a:latin typeface="Poppins" pitchFamily="34" charset="0"/>
                <a:ea typeface="Poppins" pitchFamily="34" charset="-122"/>
                <a:cs typeface="Poppins" pitchFamily="34" charset="-120"/>
              </a:rPr>
              <a:t>Bjorn Magabo</a:t>
            </a:r>
            <a:endParaRPr lang="en-US" sz="700" dirty="0"/>
          </a:p>
        </p:txBody>
      </p:sp>
      <p:sp>
        <p:nvSpPr>
          <p:cNvPr id="66" name="Text 64"/>
          <p:cNvSpPr txBox="1"/>
          <p:nvPr/>
        </p:nvSpPr>
        <p:spPr>
          <a:xfrm>
            <a:off x="4782312" y="3607308"/>
            <a:ext cx="731520" cy="154534"/>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23 Mar</a:t>
            </a:r>
            <a:endParaRPr lang="en-US" sz="700" dirty="0"/>
          </a:p>
        </p:txBody>
      </p:sp>
      <p:sp>
        <p:nvSpPr>
          <p:cNvPr id="67" name="Text 65"/>
          <p:cNvSpPr txBox="1"/>
          <p:nvPr/>
        </p:nvSpPr>
        <p:spPr>
          <a:xfrm>
            <a:off x="5532120" y="3607308"/>
            <a:ext cx="457200" cy="154534"/>
          </a:xfrm>
          <a:prstGeom prst="rect">
            <a:avLst/>
          </a:prstGeom>
          <a:noFill/>
          <a:ln/>
        </p:spPr>
        <p:txBody>
          <a:bodyPr wrap="square" lIns="0" tIns="0" rIns="0" bIns="0" rtlCol="0" anchor="ctr"/>
          <a:lstStyle/>
          <a:p>
            <a:pPr algn="r" indent="0" marL="0">
              <a:buNone/>
            </a:pPr>
            <a:r>
              <a:rPr lang="en-US" sz="720" b="1" dirty="0">
                <a:solidFill>
                  <a:srgbClr val="B4552D"/>
                </a:solidFill>
                <a:latin typeface="Poppins" pitchFamily="34" charset="0"/>
                <a:ea typeface="Poppins" pitchFamily="34" charset="-122"/>
                <a:cs typeface="Poppins" pitchFamily="34" charset="-120"/>
              </a:rPr>
              <a:t>209</a:t>
            </a:r>
            <a:endParaRPr lang="en-US" sz="720" dirty="0"/>
          </a:p>
        </p:txBody>
      </p:sp>
      <p:sp>
        <p:nvSpPr>
          <p:cNvPr id="68" name="Text 66"/>
          <p:cNvSpPr txBox="1"/>
          <p:nvPr/>
        </p:nvSpPr>
        <p:spPr>
          <a:xfrm>
            <a:off x="6025896" y="3607308"/>
            <a:ext cx="768096" cy="154534"/>
          </a:xfrm>
          <a:prstGeom prst="rect">
            <a:avLst/>
          </a:prstGeom>
          <a:noFill/>
          <a:ln/>
        </p:spPr>
        <p:txBody>
          <a:bodyPr wrap="square" lIns="0" tIns="0" rIns="0" bIns="0" rtlCol="0" anchor="ctr"/>
          <a:lstStyle/>
          <a:p>
            <a:pPr algn="r" indent="0" marL="0">
              <a:buNone/>
            </a:pPr>
            <a:r>
              <a:rPr lang="en-US" sz="720" b="1" dirty="0">
                <a:solidFill>
                  <a:srgbClr val="12293A"/>
                </a:solidFill>
                <a:latin typeface="Poppins" pitchFamily="34" charset="0"/>
                <a:ea typeface="Poppins" pitchFamily="34" charset="-122"/>
                <a:cs typeface="Poppins" pitchFamily="34" charset="-120"/>
              </a:rPr>
              <a:t>$475</a:t>
            </a:r>
            <a:endParaRPr lang="en-US" sz="720" dirty="0"/>
          </a:p>
        </p:txBody>
      </p:sp>
      <p:sp>
        <p:nvSpPr>
          <p:cNvPr id="69" name="Text 67"/>
          <p:cNvSpPr txBox="1"/>
          <p:nvPr/>
        </p:nvSpPr>
        <p:spPr>
          <a:xfrm>
            <a:off x="612648" y="3761842"/>
            <a:ext cx="2743200" cy="154534"/>
          </a:xfrm>
          <a:prstGeom prst="rect">
            <a:avLst/>
          </a:prstGeom>
          <a:noFill/>
          <a:ln/>
        </p:spPr>
        <p:txBody>
          <a:bodyPr wrap="square" lIns="0" tIns="0" rIns="0" bIns="0" rtlCol="0" anchor="ctr"/>
          <a:lstStyle/>
          <a:p>
            <a:pPr indent="0" marL="0">
              <a:buNone/>
            </a:pPr>
            <a:r>
              <a:rPr lang="en-US" sz="720" dirty="0">
                <a:solidFill>
                  <a:srgbClr val="5E7280"/>
                </a:solidFill>
                <a:latin typeface="Poppins" pitchFamily="34" charset="0"/>
                <a:ea typeface="Poppins" pitchFamily="34" charset="-122"/>
                <a:cs typeface="Poppins" pitchFamily="34" charset="-120"/>
              </a:rPr>
              <a:t>Bar Carolina</a:t>
            </a:r>
            <a:endParaRPr lang="en-US" sz="720" dirty="0"/>
          </a:p>
        </p:txBody>
      </p:sp>
      <p:sp>
        <p:nvSpPr>
          <p:cNvPr id="70" name="Text 68"/>
          <p:cNvSpPr txBox="1"/>
          <p:nvPr/>
        </p:nvSpPr>
        <p:spPr>
          <a:xfrm>
            <a:off x="3374136" y="3761842"/>
            <a:ext cx="1371600" cy="154534"/>
          </a:xfrm>
          <a:prstGeom prst="rect">
            <a:avLst/>
          </a:prstGeom>
          <a:noFill/>
          <a:ln/>
        </p:spPr>
        <p:txBody>
          <a:bodyPr wrap="square" lIns="0" tIns="0" rIns="0" bIns="0" rtlCol="0" anchor="ctr"/>
          <a:lstStyle/>
          <a:p>
            <a:pPr indent="0" marL="0">
              <a:buNone/>
            </a:pPr>
            <a:r>
              <a:rPr lang="en-US" sz="700" dirty="0">
                <a:solidFill>
                  <a:srgbClr val="5E7280"/>
                </a:solidFill>
                <a:latin typeface="Poppins" pitchFamily="34" charset="0"/>
                <a:ea typeface="Poppins" pitchFamily="34" charset="-122"/>
                <a:cs typeface="Poppins" pitchFamily="34" charset="-120"/>
              </a:rPr>
              <a:t>Phuong Ho</a:t>
            </a:r>
            <a:endParaRPr lang="en-US" sz="700" dirty="0"/>
          </a:p>
        </p:txBody>
      </p:sp>
      <p:sp>
        <p:nvSpPr>
          <p:cNvPr id="71" name="Text 69"/>
          <p:cNvSpPr txBox="1"/>
          <p:nvPr/>
        </p:nvSpPr>
        <p:spPr>
          <a:xfrm>
            <a:off x="4782312" y="3761842"/>
            <a:ext cx="731520" cy="154534"/>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7 Oct</a:t>
            </a:r>
            <a:endParaRPr lang="en-US" sz="700" dirty="0"/>
          </a:p>
        </p:txBody>
      </p:sp>
      <p:sp>
        <p:nvSpPr>
          <p:cNvPr id="72" name="Text 70"/>
          <p:cNvSpPr txBox="1"/>
          <p:nvPr/>
        </p:nvSpPr>
        <p:spPr>
          <a:xfrm>
            <a:off x="5532120" y="3761842"/>
            <a:ext cx="457200" cy="154534"/>
          </a:xfrm>
          <a:prstGeom prst="rect">
            <a:avLst/>
          </a:prstGeom>
          <a:noFill/>
          <a:ln/>
        </p:spPr>
        <p:txBody>
          <a:bodyPr wrap="square" lIns="0" tIns="0" rIns="0" bIns="0" rtlCol="0" anchor="ctr"/>
          <a:lstStyle/>
          <a:p>
            <a:pPr algn="r" indent="0" marL="0">
              <a:buNone/>
            </a:pPr>
            <a:r>
              <a:rPr lang="en-US" sz="720" b="1" dirty="0">
                <a:solidFill>
                  <a:srgbClr val="5E7280"/>
                </a:solidFill>
                <a:latin typeface="Poppins" pitchFamily="34" charset="0"/>
                <a:ea typeface="Poppins" pitchFamily="34" charset="-122"/>
                <a:cs typeface="Poppins" pitchFamily="34" charset="-120"/>
              </a:rPr>
              <a:t>11</a:t>
            </a:r>
            <a:endParaRPr lang="en-US" sz="720" dirty="0"/>
          </a:p>
        </p:txBody>
      </p:sp>
      <p:sp>
        <p:nvSpPr>
          <p:cNvPr id="73" name="Text 71"/>
          <p:cNvSpPr txBox="1"/>
          <p:nvPr/>
        </p:nvSpPr>
        <p:spPr>
          <a:xfrm>
            <a:off x="6025896" y="3761842"/>
            <a:ext cx="768096" cy="154534"/>
          </a:xfrm>
          <a:prstGeom prst="rect">
            <a:avLst/>
          </a:prstGeom>
          <a:noFill/>
          <a:ln/>
        </p:spPr>
        <p:txBody>
          <a:bodyPr wrap="square" lIns="0" tIns="0" rIns="0" bIns="0" rtlCol="0" anchor="ctr"/>
          <a:lstStyle/>
          <a:p>
            <a:pPr algn="r" indent="0" marL="0">
              <a:buNone/>
            </a:pPr>
            <a:r>
              <a:rPr lang="en-US" sz="720" b="1" dirty="0">
                <a:solidFill>
                  <a:srgbClr val="12293A"/>
                </a:solidFill>
                <a:latin typeface="Poppins" pitchFamily="34" charset="0"/>
                <a:ea typeface="Poppins" pitchFamily="34" charset="-122"/>
                <a:cs typeface="Poppins" pitchFamily="34" charset="-120"/>
              </a:rPr>
              <a:t>$474</a:t>
            </a:r>
            <a:endParaRPr lang="en-US" sz="720" dirty="0"/>
          </a:p>
        </p:txBody>
      </p:sp>
      <p:sp>
        <p:nvSpPr>
          <p:cNvPr id="74" name="Shape 72"/>
          <p:cNvSpPr/>
          <p:nvPr/>
        </p:nvSpPr>
        <p:spPr>
          <a:xfrm>
            <a:off x="539496" y="3916375"/>
            <a:ext cx="6419088" cy="154534"/>
          </a:xfrm>
          <a:prstGeom prst="rect">
            <a:avLst/>
          </a:prstGeom>
          <a:solidFill>
            <a:srgbClr val="F2F6F8"/>
          </a:solidFill>
          <a:ln/>
        </p:spPr>
      </p:sp>
      <p:sp>
        <p:nvSpPr>
          <p:cNvPr id="75" name="Text 73"/>
          <p:cNvSpPr txBox="1"/>
          <p:nvPr/>
        </p:nvSpPr>
        <p:spPr>
          <a:xfrm>
            <a:off x="612648" y="3916375"/>
            <a:ext cx="2743200" cy="154534"/>
          </a:xfrm>
          <a:prstGeom prst="rect">
            <a:avLst/>
          </a:prstGeom>
          <a:noFill/>
          <a:ln/>
        </p:spPr>
        <p:txBody>
          <a:bodyPr wrap="square" lIns="0" tIns="0" rIns="0" bIns="0" rtlCol="0" anchor="ctr"/>
          <a:lstStyle/>
          <a:p>
            <a:pPr indent="0" marL="0">
              <a:buNone/>
            </a:pPr>
            <a:r>
              <a:rPr lang="en-US" sz="720" b="1" dirty="0">
                <a:solidFill>
                  <a:srgbClr val="12293A"/>
                </a:solidFill>
                <a:latin typeface="Poppins" pitchFamily="34" charset="0"/>
                <a:ea typeface="Poppins" pitchFamily="34" charset="-122"/>
                <a:cs typeface="Poppins" pitchFamily="34" charset="-120"/>
              </a:rPr>
              <a:t>Hotel Augusta</a:t>
            </a:r>
            <a:endParaRPr lang="en-US" sz="720" dirty="0"/>
          </a:p>
        </p:txBody>
      </p:sp>
      <p:sp>
        <p:nvSpPr>
          <p:cNvPr id="76" name="Text 74"/>
          <p:cNvSpPr txBox="1"/>
          <p:nvPr/>
        </p:nvSpPr>
        <p:spPr>
          <a:xfrm>
            <a:off x="3374136" y="3916375"/>
            <a:ext cx="1371600" cy="154534"/>
          </a:xfrm>
          <a:prstGeom prst="rect">
            <a:avLst/>
          </a:prstGeom>
          <a:noFill/>
          <a:ln/>
        </p:spPr>
        <p:txBody>
          <a:bodyPr wrap="square" lIns="0" tIns="0" rIns="0" bIns="0" rtlCol="0" anchor="ctr"/>
          <a:lstStyle/>
          <a:p>
            <a:pPr indent="0" marL="0">
              <a:buNone/>
            </a:pPr>
            <a:r>
              <a:rPr lang="en-US" sz="700" dirty="0">
                <a:solidFill>
                  <a:srgbClr val="5E7280"/>
                </a:solidFill>
                <a:latin typeface="Poppins" pitchFamily="34" charset="0"/>
                <a:ea typeface="Poppins" pitchFamily="34" charset="-122"/>
                <a:cs typeface="Poppins" pitchFamily="34" charset="-120"/>
              </a:rPr>
              <a:t>Bradford Young</a:t>
            </a:r>
            <a:endParaRPr lang="en-US" sz="700" dirty="0"/>
          </a:p>
        </p:txBody>
      </p:sp>
      <p:sp>
        <p:nvSpPr>
          <p:cNvPr id="77" name="Text 75"/>
          <p:cNvSpPr txBox="1"/>
          <p:nvPr/>
        </p:nvSpPr>
        <p:spPr>
          <a:xfrm>
            <a:off x="4782312" y="3916375"/>
            <a:ext cx="731520" cy="154534"/>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18 Jun</a:t>
            </a:r>
            <a:endParaRPr lang="en-US" sz="700" dirty="0"/>
          </a:p>
        </p:txBody>
      </p:sp>
      <p:sp>
        <p:nvSpPr>
          <p:cNvPr id="78" name="Text 76"/>
          <p:cNvSpPr txBox="1"/>
          <p:nvPr/>
        </p:nvSpPr>
        <p:spPr>
          <a:xfrm>
            <a:off x="5532120" y="3916375"/>
            <a:ext cx="457200" cy="154534"/>
          </a:xfrm>
          <a:prstGeom prst="rect">
            <a:avLst/>
          </a:prstGeom>
          <a:noFill/>
          <a:ln/>
        </p:spPr>
        <p:txBody>
          <a:bodyPr wrap="square" lIns="0" tIns="0" rIns="0" bIns="0" rtlCol="0" anchor="ctr"/>
          <a:lstStyle/>
          <a:p>
            <a:pPr algn="r" indent="0" marL="0">
              <a:buNone/>
            </a:pPr>
            <a:r>
              <a:rPr lang="en-US" sz="720" b="1" dirty="0">
                <a:solidFill>
                  <a:srgbClr val="C88A2E"/>
                </a:solidFill>
                <a:latin typeface="Poppins" pitchFamily="34" charset="0"/>
                <a:ea typeface="Poppins" pitchFamily="34" charset="-122"/>
                <a:cs typeface="Poppins" pitchFamily="34" charset="-120"/>
              </a:rPr>
              <a:t>122</a:t>
            </a:r>
            <a:endParaRPr lang="en-US" sz="720" dirty="0"/>
          </a:p>
        </p:txBody>
      </p:sp>
      <p:sp>
        <p:nvSpPr>
          <p:cNvPr id="79" name="Text 77"/>
          <p:cNvSpPr txBox="1"/>
          <p:nvPr/>
        </p:nvSpPr>
        <p:spPr>
          <a:xfrm>
            <a:off x="6025896" y="3916375"/>
            <a:ext cx="768096" cy="154534"/>
          </a:xfrm>
          <a:prstGeom prst="rect">
            <a:avLst/>
          </a:prstGeom>
          <a:noFill/>
          <a:ln/>
        </p:spPr>
        <p:txBody>
          <a:bodyPr wrap="square" lIns="0" tIns="0" rIns="0" bIns="0" rtlCol="0" anchor="ctr"/>
          <a:lstStyle/>
          <a:p>
            <a:pPr algn="r" indent="0" marL="0">
              <a:buNone/>
            </a:pPr>
            <a:r>
              <a:rPr lang="en-US" sz="720" b="1" dirty="0">
                <a:solidFill>
                  <a:srgbClr val="12293A"/>
                </a:solidFill>
                <a:latin typeface="Poppins" pitchFamily="34" charset="0"/>
                <a:ea typeface="Poppins" pitchFamily="34" charset="-122"/>
                <a:cs typeface="Poppins" pitchFamily="34" charset="-120"/>
              </a:rPr>
              <a:t>$410</a:t>
            </a:r>
            <a:endParaRPr lang="en-US" sz="720" dirty="0"/>
          </a:p>
        </p:txBody>
      </p:sp>
      <p:sp>
        <p:nvSpPr>
          <p:cNvPr id="80" name="Text 78"/>
          <p:cNvSpPr txBox="1"/>
          <p:nvPr/>
        </p:nvSpPr>
        <p:spPr>
          <a:xfrm>
            <a:off x="612648" y="4070909"/>
            <a:ext cx="2743200" cy="154534"/>
          </a:xfrm>
          <a:prstGeom prst="rect">
            <a:avLst/>
          </a:prstGeom>
          <a:noFill/>
          <a:ln/>
        </p:spPr>
        <p:txBody>
          <a:bodyPr wrap="square" lIns="0" tIns="0" rIns="0" bIns="0" rtlCol="0" anchor="ctr"/>
          <a:lstStyle/>
          <a:p>
            <a:pPr indent="0" marL="0">
              <a:buNone/>
            </a:pPr>
            <a:r>
              <a:rPr lang="en-US" sz="720" dirty="0">
                <a:solidFill>
                  <a:srgbClr val="5E7280"/>
                </a:solidFill>
                <a:latin typeface="Poppins" pitchFamily="34" charset="0"/>
                <a:ea typeface="Poppins" pitchFamily="34" charset="-122"/>
                <a:cs typeface="Poppins" pitchFamily="34" charset="-120"/>
              </a:rPr>
              <a:t>The Star Hotel (Milton)</a:t>
            </a:r>
            <a:endParaRPr lang="en-US" sz="720" dirty="0"/>
          </a:p>
        </p:txBody>
      </p:sp>
      <p:sp>
        <p:nvSpPr>
          <p:cNvPr id="81" name="Text 79"/>
          <p:cNvSpPr txBox="1"/>
          <p:nvPr/>
        </p:nvSpPr>
        <p:spPr>
          <a:xfrm>
            <a:off x="3374136" y="4070909"/>
            <a:ext cx="1371600" cy="154534"/>
          </a:xfrm>
          <a:prstGeom prst="rect">
            <a:avLst/>
          </a:prstGeom>
          <a:noFill/>
          <a:ln/>
        </p:spPr>
        <p:txBody>
          <a:bodyPr wrap="square" lIns="0" tIns="0" rIns="0" bIns="0" rtlCol="0" anchor="ctr"/>
          <a:lstStyle/>
          <a:p>
            <a:pPr indent="0" marL="0">
              <a:buNone/>
            </a:pPr>
            <a:r>
              <a:rPr lang="en-US" sz="700" dirty="0">
                <a:solidFill>
                  <a:srgbClr val="5E7280"/>
                </a:solidFill>
                <a:latin typeface="Poppins" pitchFamily="34" charset="0"/>
                <a:ea typeface="Poppins" pitchFamily="34" charset="-122"/>
                <a:cs typeface="Poppins" pitchFamily="34" charset="-120"/>
              </a:rPr>
              <a:t>Brett Gorman</a:t>
            </a:r>
            <a:endParaRPr lang="en-US" sz="700" dirty="0"/>
          </a:p>
        </p:txBody>
      </p:sp>
      <p:sp>
        <p:nvSpPr>
          <p:cNvPr id="82" name="Text 80"/>
          <p:cNvSpPr txBox="1"/>
          <p:nvPr/>
        </p:nvSpPr>
        <p:spPr>
          <a:xfrm>
            <a:off x="4782312" y="4070909"/>
            <a:ext cx="731520" cy="154534"/>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12 Oct</a:t>
            </a:r>
            <a:endParaRPr lang="en-US" sz="700" dirty="0"/>
          </a:p>
        </p:txBody>
      </p:sp>
      <p:sp>
        <p:nvSpPr>
          <p:cNvPr id="83" name="Text 81"/>
          <p:cNvSpPr txBox="1"/>
          <p:nvPr/>
        </p:nvSpPr>
        <p:spPr>
          <a:xfrm>
            <a:off x="5532120" y="4070909"/>
            <a:ext cx="457200" cy="154534"/>
          </a:xfrm>
          <a:prstGeom prst="rect">
            <a:avLst/>
          </a:prstGeom>
          <a:noFill/>
          <a:ln/>
        </p:spPr>
        <p:txBody>
          <a:bodyPr wrap="square" lIns="0" tIns="0" rIns="0" bIns="0" rtlCol="0" anchor="ctr"/>
          <a:lstStyle/>
          <a:p>
            <a:pPr algn="r" indent="0" marL="0">
              <a:buNone/>
            </a:pPr>
            <a:r>
              <a:rPr lang="en-US" sz="720" b="1" dirty="0">
                <a:solidFill>
                  <a:srgbClr val="5E7280"/>
                </a:solidFill>
                <a:latin typeface="Poppins" pitchFamily="34" charset="0"/>
                <a:ea typeface="Poppins" pitchFamily="34" charset="-122"/>
                <a:cs typeface="Poppins" pitchFamily="34" charset="-120"/>
              </a:rPr>
              <a:t>6</a:t>
            </a:r>
            <a:endParaRPr lang="en-US" sz="720" dirty="0"/>
          </a:p>
        </p:txBody>
      </p:sp>
      <p:sp>
        <p:nvSpPr>
          <p:cNvPr id="84" name="Text 82"/>
          <p:cNvSpPr txBox="1"/>
          <p:nvPr/>
        </p:nvSpPr>
        <p:spPr>
          <a:xfrm>
            <a:off x="6025896" y="4070909"/>
            <a:ext cx="768096" cy="154534"/>
          </a:xfrm>
          <a:prstGeom prst="rect">
            <a:avLst/>
          </a:prstGeom>
          <a:noFill/>
          <a:ln/>
        </p:spPr>
        <p:txBody>
          <a:bodyPr wrap="square" lIns="0" tIns="0" rIns="0" bIns="0" rtlCol="0" anchor="ctr"/>
          <a:lstStyle/>
          <a:p>
            <a:pPr algn="r" indent="0" marL="0">
              <a:buNone/>
            </a:pPr>
            <a:r>
              <a:rPr lang="en-US" sz="720" b="1" dirty="0">
                <a:solidFill>
                  <a:srgbClr val="12293A"/>
                </a:solidFill>
                <a:latin typeface="Poppins" pitchFamily="34" charset="0"/>
                <a:ea typeface="Poppins" pitchFamily="34" charset="-122"/>
                <a:cs typeface="Poppins" pitchFamily="34" charset="-120"/>
              </a:rPr>
              <a:t>$392</a:t>
            </a:r>
            <a:endParaRPr lang="en-US" sz="720" dirty="0"/>
          </a:p>
        </p:txBody>
      </p:sp>
      <p:sp>
        <p:nvSpPr>
          <p:cNvPr id="85" name="Shape 83"/>
          <p:cNvSpPr/>
          <p:nvPr/>
        </p:nvSpPr>
        <p:spPr>
          <a:xfrm>
            <a:off x="539496" y="4225442"/>
            <a:ext cx="6419088" cy="154534"/>
          </a:xfrm>
          <a:prstGeom prst="rect">
            <a:avLst/>
          </a:prstGeom>
          <a:solidFill>
            <a:srgbClr val="F2F6F8"/>
          </a:solidFill>
          <a:ln/>
        </p:spPr>
      </p:sp>
      <p:sp>
        <p:nvSpPr>
          <p:cNvPr id="86" name="Text 84"/>
          <p:cNvSpPr txBox="1"/>
          <p:nvPr/>
        </p:nvSpPr>
        <p:spPr>
          <a:xfrm>
            <a:off x="612648" y="4225442"/>
            <a:ext cx="2743200" cy="154534"/>
          </a:xfrm>
          <a:prstGeom prst="rect">
            <a:avLst/>
          </a:prstGeom>
          <a:noFill/>
          <a:ln/>
        </p:spPr>
        <p:txBody>
          <a:bodyPr wrap="square" lIns="0" tIns="0" rIns="0" bIns="0" rtlCol="0" anchor="ctr"/>
          <a:lstStyle/>
          <a:p>
            <a:pPr indent="0" marL="0">
              <a:buNone/>
            </a:pPr>
            <a:r>
              <a:rPr lang="en-US" sz="720" dirty="0">
                <a:solidFill>
                  <a:srgbClr val="5E7280"/>
                </a:solidFill>
                <a:latin typeface="Poppins" pitchFamily="34" charset="0"/>
                <a:ea typeface="Poppins" pitchFamily="34" charset="-122"/>
                <a:cs typeface="Poppins" pitchFamily="34" charset="-120"/>
              </a:rPr>
              <a:t>Bar Orient</a:t>
            </a:r>
            <a:endParaRPr lang="en-US" sz="720" dirty="0"/>
          </a:p>
        </p:txBody>
      </p:sp>
      <p:sp>
        <p:nvSpPr>
          <p:cNvPr id="87" name="Text 85"/>
          <p:cNvSpPr txBox="1"/>
          <p:nvPr/>
        </p:nvSpPr>
        <p:spPr>
          <a:xfrm>
            <a:off x="3374136" y="4225442"/>
            <a:ext cx="1371600" cy="154534"/>
          </a:xfrm>
          <a:prstGeom prst="rect">
            <a:avLst/>
          </a:prstGeom>
          <a:noFill/>
          <a:ln/>
        </p:spPr>
        <p:txBody>
          <a:bodyPr wrap="square" lIns="0" tIns="0" rIns="0" bIns="0" rtlCol="0" anchor="ctr"/>
          <a:lstStyle/>
          <a:p>
            <a:pPr indent="0" marL="0">
              <a:buNone/>
            </a:pPr>
            <a:r>
              <a:rPr lang="en-US" sz="700" dirty="0">
                <a:solidFill>
                  <a:srgbClr val="5E7280"/>
                </a:solidFill>
                <a:latin typeface="Poppins" pitchFamily="34" charset="0"/>
                <a:ea typeface="Poppins" pitchFamily="34" charset="-122"/>
                <a:cs typeface="Poppins" pitchFamily="34" charset="-120"/>
              </a:rPr>
              <a:t>Bjorn Magabo</a:t>
            </a:r>
            <a:endParaRPr lang="en-US" sz="700" dirty="0"/>
          </a:p>
        </p:txBody>
      </p:sp>
      <p:sp>
        <p:nvSpPr>
          <p:cNvPr id="88" name="Text 86"/>
          <p:cNvSpPr txBox="1"/>
          <p:nvPr/>
        </p:nvSpPr>
        <p:spPr>
          <a:xfrm>
            <a:off x="4782312" y="4225442"/>
            <a:ext cx="731520" cy="154534"/>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17 Sep</a:t>
            </a:r>
            <a:endParaRPr lang="en-US" sz="700" dirty="0"/>
          </a:p>
        </p:txBody>
      </p:sp>
      <p:sp>
        <p:nvSpPr>
          <p:cNvPr id="89" name="Text 87"/>
          <p:cNvSpPr txBox="1"/>
          <p:nvPr/>
        </p:nvSpPr>
        <p:spPr>
          <a:xfrm>
            <a:off x="5532120" y="4225442"/>
            <a:ext cx="457200" cy="154534"/>
          </a:xfrm>
          <a:prstGeom prst="rect">
            <a:avLst/>
          </a:prstGeom>
          <a:noFill/>
          <a:ln/>
        </p:spPr>
        <p:txBody>
          <a:bodyPr wrap="square" lIns="0" tIns="0" rIns="0" bIns="0" rtlCol="0" anchor="ctr"/>
          <a:lstStyle/>
          <a:p>
            <a:pPr algn="r" indent="0" marL="0">
              <a:buNone/>
            </a:pPr>
            <a:r>
              <a:rPr lang="en-US" sz="720" b="1" dirty="0">
                <a:solidFill>
                  <a:srgbClr val="5E7280"/>
                </a:solidFill>
                <a:latin typeface="Poppins" pitchFamily="34" charset="0"/>
                <a:ea typeface="Poppins" pitchFamily="34" charset="-122"/>
                <a:cs typeface="Poppins" pitchFamily="34" charset="-120"/>
              </a:rPr>
              <a:t>31</a:t>
            </a:r>
            <a:endParaRPr lang="en-US" sz="720" dirty="0"/>
          </a:p>
        </p:txBody>
      </p:sp>
      <p:sp>
        <p:nvSpPr>
          <p:cNvPr id="90" name="Text 88"/>
          <p:cNvSpPr txBox="1"/>
          <p:nvPr/>
        </p:nvSpPr>
        <p:spPr>
          <a:xfrm>
            <a:off x="6025896" y="4225442"/>
            <a:ext cx="768096" cy="154534"/>
          </a:xfrm>
          <a:prstGeom prst="rect">
            <a:avLst/>
          </a:prstGeom>
          <a:noFill/>
          <a:ln/>
        </p:spPr>
        <p:txBody>
          <a:bodyPr wrap="square" lIns="0" tIns="0" rIns="0" bIns="0" rtlCol="0" anchor="ctr"/>
          <a:lstStyle/>
          <a:p>
            <a:pPr algn="r" indent="0" marL="0">
              <a:buNone/>
            </a:pPr>
            <a:r>
              <a:rPr lang="en-US" sz="720" b="1" dirty="0">
                <a:solidFill>
                  <a:srgbClr val="12293A"/>
                </a:solidFill>
                <a:latin typeface="Poppins" pitchFamily="34" charset="0"/>
                <a:ea typeface="Poppins" pitchFamily="34" charset="-122"/>
                <a:cs typeface="Poppins" pitchFamily="34" charset="-120"/>
              </a:rPr>
              <a:t>$377</a:t>
            </a:r>
            <a:endParaRPr lang="en-US" sz="720" dirty="0"/>
          </a:p>
        </p:txBody>
      </p:sp>
      <p:sp>
        <p:nvSpPr>
          <p:cNvPr id="91" name="Text 89"/>
          <p:cNvSpPr txBox="1"/>
          <p:nvPr/>
        </p:nvSpPr>
        <p:spPr>
          <a:xfrm>
            <a:off x="612648" y="4379976"/>
            <a:ext cx="2743200" cy="154534"/>
          </a:xfrm>
          <a:prstGeom prst="rect">
            <a:avLst/>
          </a:prstGeom>
          <a:noFill/>
          <a:ln/>
        </p:spPr>
        <p:txBody>
          <a:bodyPr wrap="square" lIns="0" tIns="0" rIns="0" bIns="0" rtlCol="0" anchor="ctr"/>
          <a:lstStyle/>
          <a:p>
            <a:pPr indent="0" marL="0">
              <a:buNone/>
            </a:pPr>
            <a:r>
              <a:rPr lang="en-US" sz="720" b="1" dirty="0">
                <a:solidFill>
                  <a:srgbClr val="12293A"/>
                </a:solidFill>
                <a:latin typeface="Poppins" pitchFamily="34" charset="0"/>
                <a:ea typeface="Poppins" pitchFamily="34" charset="-122"/>
                <a:cs typeface="Poppins" pitchFamily="34" charset="-120"/>
              </a:rPr>
              <a:t>The Rusty Gurnard</a:t>
            </a:r>
            <a:endParaRPr lang="en-US" sz="720" dirty="0"/>
          </a:p>
        </p:txBody>
      </p:sp>
      <p:sp>
        <p:nvSpPr>
          <p:cNvPr id="92" name="Text 90"/>
          <p:cNvSpPr txBox="1"/>
          <p:nvPr/>
        </p:nvSpPr>
        <p:spPr>
          <a:xfrm>
            <a:off x="3374136" y="4379976"/>
            <a:ext cx="1371600" cy="154534"/>
          </a:xfrm>
          <a:prstGeom prst="rect">
            <a:avLst/>
          </a:prstGeom>
          <a:noFill/>
          <a:ln/>
        </p:spPr>
        <p:txBody>
          <a:bodyPr wrap="square" lIns="0" tIns="0" rIns="0" bIns="0" rtlCol="0" anchor="ctr"/>
          <a:lstStyle/>
          <a:p>
            <a:pPr indent="0" marL="0">
              <a:buNone/>
            </a:pPr>
            <a:r>
              <a:rPr lang="en-US" sz="700" dirty="0">
                <a:solidFill>
                  <a:srgbClr val="5E7280"/>
                </a:solidFill>
                <a:latin typeface="Poppins" pitchFamily="34" charset="0"/>
                <a:ea typeface="Poppins" pitchFamily="34" charset="-122"/>
                <a:cs typeface="Poppins" pitchFamily="34" charset="-120"/>
              </a:rPr>
              <a:t>Phuong Ho</a:t>
            </a:r>
            <a:endParaRPr lang="en-US" sz="700" dirty="0"/>
          </a:p>
        </p:txBody>
      </p:sp>
      <p:sp>
        <p:nvSpPr>
          <p:cNvPr id="93" name="Text 91"/>
          <p:cNvSpPr txBox="1"/>
          <p:nvPr/>
        </p:nvSpPr>
        <p:spPr>
          <a:xfrm>
            <a:off x="4782312" y="4379976"/>
            <a:ext cx="731520" cy="154534"/>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26 Jun</a:t>
            </a:r>
            <a:endParaRPr lang="en-US" sz="700" dirty="0"/>
          </a:p>
        </p:txBody>
      </p:sp>
      <p:sp>
        <p:nvSpPr>
          <p:cNvPr id="94" name="Text 92"/>
          <p:cNvSpPr txBox="1"/>
          <p:nvPr/>
        </p:nvSpPr>
        <p:spPr>
          <a:xfrm>
            <a:off x="5532120" y="4379976"/>
            <a:ext cx="457200" cy="154534"/>
          </a:xfrm>
          <a:prstGeom prst="rect">
            <a:avLst/>
          </a:prstGeom>
          <a:noFill/>
          <a:ln/>
        </p:spPr>
        <p:txBody>
          <a:bodyPr wrap="square" lIns="0" tIns="0" rIns="0" bIns="0" rtlCol="0" anchor="ctr"/>
          <a:lstStyle/>
          <a:p>
            <a:pPr algn="r" indent="0" marL="0">
              <a:buNone/>
            </a:pPr>
            <a:r>
              <a:rPr lang="en-US" sz="720" b="1" dirty="0">
                <a:solidFill>
                  <a:srgbClr val="C88A2E"/>
                </a:solidFill>
                <a:latin typeface="Poppins" pitchFamily="34" charset="0"/>
                <a:ea typeface="Poppins" pitchFamily="34" charset="-122"/>
                <a:cs typeface="Poppins" pitchFamily="34" charset="-120"/>
              </a:rPr>
              <a:t>114</a:t>
            </a:r>
            <a:endParaRPr lang="en-US" sz="720" dirty="0"/>
          </a:p>
        </p:txBody>
      </p:sp>
      <p:sp>
        <p:nvSpPr>
          <p:cNvPr id="95" name="Text 93"/>
          <p:cNvSpPr txBox="1"/>
          <p:nvPr/>
        </p:nvSpPr>
        <p:spPr>
          <a:xfrm>
            <a:off x="6025896" y="4379976"/>
            <a:ext cx="768096" cy="154534"/>
          </a:xfrm>
          <a:prstGeom prst="rect">
            <a:avLst/>
          </a:prstGeom>
          <a:noFill/>
          <a:ln/>
        </p:spPr>
        <p:txBody>
          <a:bodyPr wrap="square" lIns="0" tIns="0" rIns="0" bIns="0" rtlCol="0" anchor="ctr"/>
          <a:lstStyle/>
          <a:p>
            <a:pPr algn="r" indent="0" marL="0">
              <a:buNone/>
            </a:pPr>
            <a:r>
              <a:rPr lang="en-US" sz="720" b="1" dirty="0">
                <a:solidFill>
                  <a:srgbClr val="12293A"/>
                </a:solidFill>
                <a:latin typeface="Poppins" pitchFamily="34" charset="0"/>
                <a:ea typeface="Poppins" pitchFamily="34" charset="-122"/>
                <a:cs typeface="Poppins" pitchFamily="34" charset="-120"/>
              </a:rPr>
              <a:t>$377</a:t>
            </a:r>
            <a:endParaRPr lang="en-US" sz="720" dirty="0"/>
          </a:p>
        </p:txBody>
      </p:sp>
      <p:sp>
        <p:nvSpPr>
          <p:cNvPr id="96" name="Shape 94"/>
          <p:cNvSpPr/>
          <p:nvPr/>
        </p:nvSpPr>
        <p:spPr>
          <a:xfrm>
            <a:off x="539496" y="4534510"/>
            <a:ext cx="6419088" cy="154534"/>
          </a:xfrm>
          <a:prstGeom prst="rect">
            <a:avLst/>
          </a:prstGeom>
          <a:solidFill>
            <a:srgbClr val="F2F6F8"/>
          </a:solidFill>
          <a:ln/>
        </p:spPr>
      </p:sp>
      <p:sp>
        <p:nvSpPr>
          <p:cNvPr id="97" name="Text 95"/>
          <p:cNvSpPr txBox="1"/>
          <p:nvPr/>
        </p:nvSpPr>
        <p:spPr>
          <a:xfrm>
            <a:off x="612648" y="4534510"/>
            <a:ext cx="2743200" cy="154534"/>
          </a:xfrm>
          <a:prstGeom prst="rect">
            <a:avLst/>
          </a:prstGeom>
          <a:noFill/>
          <a:ln/>
        </p:spPr>
        <p:txBody>
          <a:bodyPr wrap="square" lIns="0" tIns="0" rIns="0" bIns="0" rtlCol="0" anchor="ctr"/>
          <a:lstStyle/>
          <a:p>
            <a:pPr indent="0" marL="0">
              <a:buNone/>
            </a:pPr>
            <a:r>
              <a:rPr lang="en-US" sz="720" b="1" dirty="0">
                <a:solidFill>
                  <a:srgbClr val="12293A"/>
                </a:solidFill>
                <a:latin typeface="Poppins" pitchFamily="34" charset="0"/>
                <a:ea typeface="Poppins" pitchFamily="34" charset="-122"/>
                <a:cs typeface="Poppins" pitchFamily="34" charset="-120"/>
              </a:rPr>
              <a:t>Riverton Hotel</a:t>
            </a:r>
            <a:endParaRPr lang="en-US" sz="720" dirty="0"/>
          </a:p>
        </p:txBody>
      </p:sp>
      <p:sp>
        <p:nvSpPr>
          <p:cNvPr id="98" name="Text 96"/>
          <p:cNvSpPr txBox="1"/>
          <p:nvPr/>
        </p:nvSpPr>
        <p:spPr>
          <a:xfrm>
            <a:off x="3374136" y="4534510"/>
            <a:ext cx="1371600" cy="154534"/>
          </a:xfrm>
          <a:prstGeom prst="rect">
            <a:avLst/>
          </a:prstGeom>
          <a:noFill/>
          <a:ln/>
        </p:spPr>
        <p:txBody>
          <a:bodyPr wrap="square" lIns="0" tIns="0" rIns="0" bIns="0" rtlCol="0" anchor="ctr"/>
          <a:lstStyle/>
          <a:p>
            <a:pPr indent="0" marL="0">
              <a:buNone/>
            </a:pPr>
            <a:r>
              <a:rPr lang="en-US" sz="700" dirty="0">
                <a:solidFill>
                  <a:srgbClr val="5E7280"/>
                </a:solidFill>
                <a:latin typeface="Poppins" pitchFamily="34" charset="0"/>
                <a:ea typeface="Poppins" pitchFamily="34" charset="-122"/>
                <a:cs typeface="Poppins" pitchFamily="34" charset="-120"/>
              </a:rPr>
              <a:t>Bradford Young</a:t>
            </a:r>
            <a:endParaRPr lang="en-US" sz="700" dirty="0"/>
          </a:p>
        </p:txBody>
      </p:sp>
      <p:sp>
        <p:nvSpPr>
          <p:cNvPr id="99" name="Text 97"/>
          <p:cNvSpPr txBox="1"/>
          <p:nvPr/>
        </p:nvSpPr>
        <p:spPr>
          <a:xfrm>
            <a:off x="4782312" y="4534510"/>
            <a:ext cx="731520" cy="154534"/>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17 Apr</a:t>
            </a:r>
            <a:endParaRPr lang="en-US" sz="700" dirty="0"/>
          </a:p>
        </p:txBody>
      </p:sp>
      <p:sp>
        <p:nvSpPr>
          <p:cNvPr id="100" name="Text 98"/>
          <p:cNvSpPr txBox="1"/>
          <p:nvPr/>
        </p:nvSpPr>
        <p:spPr>
          <a:xfrm>
            <a:off x="5532120" y="4534510"/>
            <a:ext cx="457200" cy="154534"/>
          </a:xfrm>
          <a:prstGeom prst="rect">
            <a:avLst/>
          </a:prstGeom>
          <a:noFill/>
          <a:ln/>
        </p:spPr>
        <p:txBody>
          <a:bodyPr wrap="square" lIns="0" tIns="0" rIns="0" bIns="0" rtlCol="0" anchor="ctr"/>
          <a:lstStyle/>
          <a:p>
            <a:pPr algn="r" indent="0" marL="0">
              <a:buNone/>
            </a:pPr>
            <a:r>
              <a:rPr lang="en-US" sz="720" b="1" dirty="0">
                <a:solidFill>
                  <a:srgbClr val="B4552D"/>
                </a:solidFill>
                <a:latin typeface="Poppins" pitchFamily="34" charset="0"/>
                <a:ea typeface="Poppins" pitchFamily="34" charset="-122"/>
                <a:cs typeface="Poppins" pitchFamily="34" charset="-120"/>
              </a:rPr>
              <a:t>184</a:t>
            </a:r>
            <a:endParaRPr lang="en-US" sz="720" dirty="0"/>
          </a:p>
        </p:txBody>
      </p:sp>
      <p:sp>
        <p:nvSpPr>
          <p:cNvPr id="101" name="Text 99"/>
          <p:cNvSpPr txBox="1"/>
          <p:nvPr/>
        </p:nvSpPr>
        <p:spPr>
          <a:xfrm>
            <a:off x="6025896" y="4534510"/>
            <a:ext cx="768096" cy="154534"/>
          </a:xfrm>
          <a:prstGeom prst="rect">
            <a:avLst/>
          </a:prstGeom>
          <a:noFill/>
          <a:ln/>
        </p:spPr>
        <p:txBody>
          <a:bodyPr wrap="square" lIns="0" tIns="0" rIns="0" bIns="0" rtlCol="0" anchor="ctr"/>
          <a:lstStyle/>
          <a:p>
            <a:pPr algn="r" indent="0" marL="0">
              <a:buNone/>
            </a:pPr>
            <a:r>
              <a:rPr lang="en-US" sz="720" b="1" dirty="0">
                <a:solidFill>
                  <a:srgbClr val="12293A"/>
                </a:solidFill>
                <a:latin typeface="Poppins" pitchFamily="34" charset="0"/>
                <a:ea typeface="Poppins" pitchFamily="34" charset="-122"/>
                <a:cs typeface="Poppins" pitchFamily="34" charset="-120"/>
              </a:rPr>
              <a:t>$315</a:t>
            </a:r>
            <a:endParaRPr lang="en-US" sz="720" dirty="0"/>
          </a:p>
        </p:txBody>
      </p:sp>
      <p:sp>
        <p:nvSpPr>
          <p:cNvPr id="102" name="Text 100"/>
          <p:cNvSpPr txBox="1"/>
          <p:nvPr/>
        </p:nvSpPr>
        <p:spPr>
          <a:xfrm>
            <a:off x="612648" y="4689043"/>
            <a:ext cx="2743200" cy="154534"/>
          </a:xfrm>
          <a:prstGeom prst="rect">
            <a:avLst/>
          </a:prstGeom>
          <a:noFill/>
          <a:ln/>
        </p:spPr>
        <p:txBody>
          <a:bodyPr wrap="square" lIns="0" tIns="0" rIns="0" bIns="0" rtlCol="0" anchor="ctr"/>
          <a:lstStyle/>
          <a:p>
            <a:pPr indent="0" marL="0">
              <a:buNone/>
            </a:pPr>
            <a:r>
              <a:rPr lang="en-US" sz="720" dirty="0">
                <a:solidFill>
                  <a:srgbClr val="5E7280"/>
                </a:solidFill>
                <a:latin typeface="Poppins" pitchFamily="34" charset="0"/>
                <a:ea typeface="Poppins" pitchFamily="34" charset="-122"/>
                <a:cs typeface="Poppins" pitchFamily="34" charset="-120"/>
              </a:rPr>
              <a:t>AVC - Bellevue Bar &amp; Terrace</a:t>
            </a:r>
            <a:endParaRPr lang="en-US" sz="720" dirty="0"/>
          </a:p>
        </p:txBody>
      </p:sp>
      <p:sp>
        <p:nvSpPr>
          <p:cNvPr id="103" name="Text 101"/>
          <p:cNvSpPr txBox="1"/>
          <p:nvPr/>
        </p:nvSpPr>
        <p:spPr>
          <a:xfrm>
            <a:off x="3374136" y="4689043"/>
            <a:ext cx="1371600" cy="154534"/>
          </a:xfrm>
          <a:prstGeom prst="rect">
            <a:avLst/>
          </a:prstGeom>
          <a:noFill/>
          <a:ln/>
        </p:spPr>
        <p:txBody>
          <a:bodyPr wrap="square" lIns="0" tIns="0" rIns="0" bIns="0" rtlCol="0" anchor="ctr"/>
          <a:lstStyle/>
          <a:p>
            <a:pPr indent="0" marL="0">
              <a:buNone/>
            </a:pPr>
            <a:r>
              <a:rPr lang="en-US" sz="700" dirty="0">
                <a:solidFill>
                  <a:srgbClr val="5E7280"/>
                </a:solidFill>
                <a:latin typeface="Poppins" pitchFamily="34" charset="0"/>
                <a:ea typeface="Poppins" pitchFamily="34" charset="-122"/>
                <a:cs typeface="Poppins" pitchFamily="34" charset="-120"/>
              </a:rPr>
              <a:t>Jasmine Hikuroa</a:t>
            </a:r>
            <a:endParaRPr lang="en-US" sz="700" dirty="0"/>
          </a:p>
        </p:txBody>
      </p:sp>
      <p:sp>
        <p:nvSpPr>
          <p:cNvPr id="104" name="Text 102"/>
          <p:cNvSpPr txBox="1"/>
          <p:nvPr/>
        </p:nvSpPr>
        <p:spPr>
          <a:xfrm>
            <a:off x="4782312" y="4689043"/>
            <a:ext cx="731520" cy="154534"/>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15 Oct</a:t>
            </a:r>
            <a:endParaRPr lang="en-US" sz="700" dirty="0"/>
          </a:p>
        </p:txBody>
      </p:sp>
      <p:sp>
        <p:nvSpPr>
          <p:cNvPr id="105" name="Text 103"/>
          <p:cNvSpPr txBox="1"/>
          <p:nvPr/>
        </p:nvSpPr>
        <p:spPr>
          <a:xfrm>
            <a:off x="5532120" y="4689043"/>
            <a:ext cx="457200" cy="154534"/>
          </a:xfrm>
          <a:prstGeom prst="rect">
            <a:avLst/>
          </a:prstGeom>
          <a:noFill/>
          <a:ln/>
        </p:spPr>
        <p:txBody>
          <a:bodyPr wrap="square" lIns="0" tIns="0" rIns="0" bIns="0" rtlCol="0" anchor="ctr"/>
          <a:lstStyle/>
          <a:p>
            <a:pPr algn="r" indent="0" marL="0">
              <a:buNone/>
            </a:pPr>
            <a:r>
              <a:rPr lang="en-US" sz="720" b="1" dirty="0">
                <a:solidFill>
                  <a:srgbClr val="5E7280"/>
                </a:solidFill>
                <a:latin typeface="Poppins" pitchFamily="34" charset="0"/>
                <a:ea typeface="Poppins" pitchFamily="34" charset="-122"/>
                <a:cs typeface="Poppins" pitchFamily="34" charset="-120"/>
              </a:rPr>
              <a:t>3</a:t>
            </a:r>
            <a:endParaRPr lang="en-US" sz="720" dirty="0"/>
          </a:p>
        </p:txBody>
      </p:sp>
      <p:sp>
        <p:nvSpPr>
          <p:cNvPr id="106" name="Text 104"/>
          <p:cNvSpPr txBox="1"/>
          <p:nvPr/>
        </p:nvSpPr>
        <p:spPr>
          <a:xfrm>
            <a:off x="6025896" y="4689043"/>
            <a:ext cx="768096" cy="154534"/>
          </a:xfrm>
          <a:prstGeom prst="rect">
            <a:avLst/>
          </a:prstGeom>
          <a:noFill/>
          <a:ln/>
        </p:spPr>
        <p:txBody>
          <a:bodyPr wrap="square" lIns="0" tIns="0" rIns="0" bIns="0" rtlCol="0" anchor="ctr"/>
          <a:lstStyle/>
          <a:p>
            <a:pPr algn="r" indent="0" marL="0">
              <a:buNone/>
            </a:pPr>
            <a:r>
              <a:rPr lang="en-US" sz="720" b="1" dirty="0">
                <a:solidFill>
                  <a:srgbClr val="12293A"/>
                </a:solidFill>
                <a:latin typeface="Poppins" pitchFamily="34" charset="0"/>
                <a:ea typeface="Poppins" pitchFamily="34" charset="-122"/>
                <a:cs typeface="Poppins" pitchFamily="34" charset="-120"/>
              </a:rPr>
              <a:t>$294</a:t>
            </a:r>
            <a:endParaRPr lang="en-US" sz="720" dirty="0"/>
          </a:p>
        </p:txBody>
      </p:sp>
      <p:sp>
        <p:nvSpPr>
          <p:cNvPr id="107" name="Shape 105"/>
          <p:cNvSpPr/>
          <p:nvPr/>
        </p:nvSpPr>
        <p:spPr>
          <a:xfrm>
            <a:off x="539496" y="4843577"/>
            <a:ext cx="6419088" cy="154534"/>
          </a:xfrm>
          <a:prstGeom prst="rect">
            <a:avLst/>
          </a:prstGeom>
          <a:solidFill>
            <a:srgbClr val="F2F6F8"/>
          </a:solidFill>
          <a:ln/>
        </p:spPr>
      </p:sp>
      <p:sp>
        <p:nvSpPr>
          <p:cNvPr id="108" name="Text 106"/>
          <p:cNvSpPr txBox="1"/>
          <p:nvPr/>
        </p:nvSpPr>
        <p:spPr>
          <a:xfrm>
            <a:off x="612648" y="4843577"/>
            <a:ext cx="2743200" cy="154534"/>
          </a:xfrm>
          <a:prstGeom prst="rect">
            <a:avLst/>
          </a:prstGeom>
          <a:noFill/>
          <a:ln/>
        </p:spPr>
        <p:txBody>
          <a:bodyPr wrap="square" lIns="0" tIns="0" rIns="0" bIns="0" rtlCol="0" anchor="ctr"/>
          <a:lstStyle/>
          <a:p>
            <a:pPr indent="0" marL="0">
              <a:buNone/>
            </a:pPr>
            <a:r>
              <a:rPr lang="en-US" sz="720" dirty="0">
                <a:solidFill>
                  <a:srgbClr val="5E7280"/>
                </a:solidFill>
                <a:latin typeface="Poppins" pitchFamily="34" charset="0"/>
                <a:ea typeface="Poppins" pitchFamily="34" charset="-122"/>
                <a:cs typeface="Poppins" pitchFamily="34" charset="-120"/>
              </a:rPr>
              <a:t>AVC - Carson</a:t>
            </a:r>
            <a:endParaRPr lang="en-US" sz="720" dirty="0"/>
          </a:p>
        </p:txBody>
      </p:sp>
      <p:sp>
        <p:nvSpPr>
          <p:cNvPr id="109" name="Text 107"/>
          <p:cNvSpPr txBox="1"/>
          <p:nvPr/>
        </p:nvSpPr>
        <p:spPr>
          <a:xfrm>
            <a:off x="3374136" y="4843577"/>
            <a:ext cx="1371600" cy="154534"/>
          </a:xfrm>
          <a:prstGeom prst="rect">
            <a:avLst/>
          </a:prstGeom>
          <a:noFill/>
          <a:ln/>
        </p:spPr>
        <p:txBody>
          <a:bodyPr wrap="square" lIns="0" tIns="0" rIns="0" bIns="0" rtlCol="0" anchor="ctr"/>
          <a:lstStyle/>
          <a:p>
            <a:pPr indent="0" marL="0">
              <a:buNone/>
            </a:pPr>
            <a:r>
              <a:rPr lang="en-US" sz="700" dirty="0">
                <a:solidFill>
                  <a:srgbClr val="5E7280"/>
                </a:solidFill>
                <a:latin typeface="Poppins" pitchFamily="34" charset="0"/>
                <a:ea typeface="Poppins" pitchFamily="34" charset="-122"/>
                <a:cs typeface="Poppins" pitchFamily="34" charset="-120"/>
              </a:rPr>
              <a:t>Jasmine Hikuroa</a:t>
            </a:r>
            <a:endParaRPr lang="en-US" sz="700" dirty="0"/>
          </a:p>
        </p:txBody>
      </p:sp>
      <p:sp>
        <p:nvSpPr>
          <p:cNvPr id="110" name="Text 108"/>
          <p:cNvSpPr txBox="1"/>
          <p:nvPr/>
        </p:nvSpPr>
        <p:spPr>
          <a:xfrm>
            <a:off x="4782312" y="4843577"/>
            <a:ext cx="731520" cy="154534"/>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15 Oct</a:t>
            </a:r>
            <a:endParaRPr lang="en-US" sz="700" dirty="0"/>
          </a:p>
        </p:txBody>
      </p:sp>
      <p:sp>
        <p:nvSpPr>
          <p:cNvPr id="111" name="Text 109"/>
          <p:cNvSpPr txBox="1"/>
          <p:nvPr/>
        </p:nvSpPr>
        <p:spPr>
          <a:xfrm>
            <a:off x="5532120" y="4843577"/>
            <a:ext cx="457200" cy="154534"/>
          </a:xfrm>
          <a:prstGeom prst="rect">
            <a:avLst/>
          </a:prstGeom>
          <a:noFill/>
          <a:ln/>
        </p:spPr>
        <p:txBody>
          <a:bodyPr wrap="square" lIns="0" tIns="0" rIns="0" bIns="0" rtlCol="0" anchor="ctr"/>
          <a:lstStyle/>
          <a:p>
            <a:pPr algn="r" indent="0" marL="0">
              <a:buNone/>
            </a:pPr>
            <a:r>
              <a:rPr lang="en-US" sz="720" b="1" dirty="0">
                <a:solidFill>
                  <a:srgbClr val="5E7280"/>
                </a:solidFill>
                <a:latin typeface="Poppins" pitchFamily="34" charset="0"/>
                <a:ea typeface="Poppins" pitchFamily="34" charset="-122"/>
                <a:cs typeface="Poppins" pitchFamily="34" charset="-120"/>
              </a:rPr>
              <a:t>3</a:t>
            </a:r>
            <a:endParaRPr lang="en-US" sz="720" dirty="0"/>
          </a:p>
        </p:txBody>
      </p:sp>
      <p:sp>
        <p:nvSpPr>
          <p:cNvPr id="112" name="Text 110"/>
          <p:cNvSpPr txBox="1"/>
          <p:nvPr/>
        </p:nvSpPr>
        <p:spPr>
          <a:xfrm>
            <a:off x="6025896" y="4843577"/>
            <a:ext cx="768096" cy="154534"/>
          </a:xfrm>
          <a:prstGeom prst="rect">
            <a:avLst/>
          </a:prstGeom>
          <a:noFill/>
          <a:ln/>
        </p:spPr>
        <p:txBody>
          <a:bodyPr wrap="square" lIns="0" tIns="0" rIns="0" bIns="0" rtlCol="0" anchor="ctr"/>
          <a:lstStyle/>
          <a:p>
            <a:pPr algn="r" indent="0" marL="0">
              <a:buNone/>
            </a:pPr>
            <a:r>
              <a:rPr lang="en-US" sz="720" b="1" dirty="0">
                <a:solidFill>
                  <a:srgbClr val="12293A"/>
                </a:solidFill>
                <a:latin typeface="Poppins" pitchFamily="34" charset="0"/>
                <a:ea typeface="Poppins" pitchFamily="34" charset="-122"/>
                <a:cs typeface="Poppins" pitchFamily="34" charset="-120"/>
              </a:rPr>
              <a:t>$294</a:t>
            </a:r>
            <a:endParaRPr lang="en-US" sz="720" dirty="0"/>
          </a:p>
        </p:txBody>
      </p:sp>
      <p:sp>
        <p:nvSpPr>
          <p:cNvPr id="113" name="Text 111"/>
          <p:cNvSpPr txBox="1"/>
          <p:nvPr/>
        </p:nvSpPr>
        <p:spPr>
          <a:xfrm>
            <a:off x="612648" y="4998110"/>
            <a:ext cx="2743200" cy="154534"/>
          </a:xfrm>
          <a:prstGeom prst="rect">
            <a:avLst/>
          </a:prstGeom>
          <a:noFill/>
          <a:ln/>
        </p:spPr>
        <p:txBody>
          <a:bodyPr wrap="square" lIns="0" tIns="0" rIns="0" bIns="0" rtlCol="0" anchor="ctr"/>
          <a:lstStyle/>
          <a:p>
            <a:pPr indent="0" marL="0">
              <a:buNone/>
            </a:pPr>
            <a:r>
              <a:rPr lang="en-US" sz="720" dirty="0">
                <a:solidFill>
                  <a:srgbClr val="5E7280"/>
                </a:solidFill>
                <a:latin typeface="Poppins" pitchFamily="34" charset="0"/>
                <a:ea typeface="Poppins" pitchFamily="34" charset="-122"/>
                <a:cs typeface="Poppins" pitchFamily="34" charset="-120"/>
              </a:rPr>
              <a:t>Wayi Restaurant</a:t>
            </a:r>
            <a:endParaRPr lang="en-US" sz="720" dirty="0"/>
          </a:p>
        </p:txBody>
      </p:sp>
      <p:sp>
        <p:nvSpPr>
          <p:cNvPr id="114" name="Text 112"/>
          <p:cNvSpPr txBox="1"/>
          <p:nvPr/>
        </p:nvSpPr>
        <p:spPr>
          <a:xfrm>
            <a:off x="3374136" y="4998110"/>
            <a:ext cx="1371600" cy="154534"/>
          </a:xfrm>
          <a:prstGeom prst="rect">
            <a:avLst/>
          </a:prstGeom>
          <a:noFill/>
          <a:ln/>
        </p:spPr>
        <p:txBody>
          <a:bodyPr wrap="square" lIns="0" tIns="0" rIns="0" bIns="0" rtlCol="0" anchor="ctr"/>
          <a:lstStyle/>
          <a:p>
            <a:pPr indent="0" marL="0">
              <a:buNone/>
            </a:pPr>
            <a:r>
              <a:rPr lang="en-US" sz="700" dirty="0">
                <a:solidFill>
                  <a:srgbClr val="5E7280"/>
                </a:solidFill>
                <a:latin typeface="Poppins" pitchFamily="34" charset="0"/>
                <a:ea typeface="Poppins" pitchFamily="34" charset="-122"/>
                <a:cs typeface="Poppins" pitchFamily="34" charset="-120"/>
              </a:rPr>
              <a:t>Jasmine Hikuroa</a:t>
            </a:r>
            <a:endParaRPr lang="en-US" sz="700" dirty="0"/>
          </a:p>
        </p:txBody>
      </p:sp>
      <p:sp>
        <p:nvSpPr>
          <p:cNvPr id="115" name="Text 113"/>
          <p:cNvSpPr txBox="1"/>
          <p:nvPr/>
        </p:nvSpPr>
        <p:spPr>
          <a:xfrm>
            <a:off x="4782312" y="4998110"/>
            <a:ext cx="731520" cy="154534"/>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17 Sep</a:t>
            </a:r>
            <a:endParaRPr lang="en-US" sz="700" dirty="0"/>
          </a:p>
        </p:txBody>
      </p:sp>
      <p:sp>
        <p:nvSpPr>
          <p:cNvPr id="116" name="Text 114"/>
          <p:cNvSpPr txBox="1"/>
          <p:nvPr/>
        </p:nvSpPr>
        <p:spPr>
          <a:xfrm>
            <a:off x="5532120" y="4998110"/>
            <a:ext cx="457200" cy="154534"/>
          </a:xfrm>
          <a:prstGeom prst="rect">
            <a:avLst/>
          </a:prstGeom>
          <a:noFill/>
          <a:ln/>
        </p:spPr>
        <p:txBody>
          <a:bodyPr wrap="square" lIns="0" tIns="0" rIns="0" bIns="0" rtlCol="0" anchor="ctr"/>
          <a:lstStyle/>
          <a:p>
            <a:pPr algn="r" indent="0" marL="0">
              <a:buNone/>
            </a:pPr>
            <a:r>
              <a:rPr lang="en-US" sz="720" b="1" dirty="0">
                <a:solidFill>
                  <a:srgbClr val="5E7280"/>
                </a:solidFill>
                <a:latin typeface="Poppins" pitchFamily="34" charset="0"/>
                <a:ea typeface="Poppins" pitchFamily="34" charset="-122"/>
                <a:cs typeface="Poppins" pitchFamily="34" charset="-120"/>
              </a:rPr>
              <a:t>31</a:t>
            </a:r>
            <a:endParaRPr lang="en-US" sz="720" dirty="0"/>
          </a:p>
        </p:txBody>
      </p:sp>
      <p:sp>
        <p:nvSpPr>
          <p:cNvPr id="117" name="Text 115"/>
          <p:cNvSpPr txBox="1"/>
          <p:nvPr/>
        </p:nvSpPr>
        <p:spPr>
          <a:xfrm>
            <a:off x="6025896" y="4998110"/>
            <a:ext cx="768096" cy="154534"/>
          </a:xfrm>
          <a:prstGeom prst="rect">
            <a:avLst/>
          </a:prstGeom>
          <a:noFill/>
          <a:ln/>
        </p:spPr>
        <p:txBody>
          <a:bodyPr wrap="square" lIns="0" tIns="0" rIns="0" bIns="0" rtlCol="0" anchor="ctr"/>
          <a:lstStyle/>
          <a:p>
            <a:pPr algn="r" indent="0" marL="0">
              <a:buNone/>
            </a:pPr>
            <a:r>
              <a:rPr lang="en-US" sz="720" b="1" dirty="0">
                <a:solidFill>
                  <a:srgbClr val="12293A"/>
                </a:solidFill>
                <a:latin typeface="Poppins" pitchFamily="34" charset="0"/>
                <a:ea typeface="Poppins" pitchFamily="34" charset="-122"/>
                <a:cs typeface="Poppins" pitchFamily="34" charset="-120"/>
              </a:rPr>
              <a:t>$250</a:t>
            </a:r>
            <a:endParaRPr lang="en-US" sz="720" dirty="0"/>
          </a:p>
        </p:txBody>
      </p:sp>
      <p:sp>
        <p:nvSpPr>
          <p:cNvPr id="118" name="Shape 116"/>
          <p:cNvSpPr/>
          <p:nvPr/>
        </p:nvSpPr>
        <p:spPr>
          <a:xfrm>
            <a:off x="539496" y="5152644"/>
            <a:ext cx="6419088" cy="154534"/>
          </a:xfrm>
          <a:prstGeom prst="rect">
            <a:avLst/>
          </a:prstGeom>
          <a:solidFill>
            <a:srgbClr val="F2F6F8"/>
          </a:solidFill>
          <a:ln/>
        </p:spPr>
      </p:sp>
      <p:sp>
        <p:nvSpPr>
          <p:cNvPr id="119" name="Text 117"/>
          <p:cNvSpPr txBox="1"/>
          <p:nvPr/>
        </p:nvSpPr>
        <p:spPr>
          <a:xfrm>
            <a:off x="612648" y="5152644"/>
            <a:ext cx="2743200" cy="154534"/>
          </a:xfrm>
          <a:prstGeom prst="rect">
            <a:avLst/>
          </a:prstGeom>
          <a:noFill/>
          <a:ln/>
        </p:spPr>
        <p:txBody>
          <a:bodyPr wrap="square" lIns="0" tIns="0" rIns="0" bIns="0" rtlCol="0" anchor="ctr"/>
          <a:lstStyle/>
          <a:p>
            <a:pPr indent="0" marL="0">
              <a:buNone/>
            </a:pPr>
            <a:r>
              <a:rPr lang="en-US" sz="720" b="1" dirty="0">
                <a:solidFill>
                  <a:srgbClr val="12293A"/>
                </a:solidFill>
                <a:latin typeface="Poppins" pitchFamily="34" charset="0"/>
                <a:ea typeface="Poppins" pitchFamily="34" charset="-122"/>
                <a:cs typeface="Poppins" pitchFamily="34" charset="-120"/>
              </a:rPr>
              <a:t>Kirra Beach House</a:t>
            </a:r>
            <a:endParaRPr lang="en-US" sz="720" dirty="0"/>
          </a:p>
        </p:txBody>
      </p:sp>
      <p:sp>
        <p:nvSpPr>
          <p:cNvPr id="120" name="Text 118"/>
          <p:cNvSpPr txBox="1"/>
          <p:nvPr/>
        </p:nvSpPr>
        <p:spPr>
          <a:xfrm>
            <a:off x="3374136" y="5152644"/>
            <a:ext cx="1371600" cy="154534"/>
          </a:xfrm>
          <a:prstGeom prst="rect">
            <a:avLst/>
          </a:prstGeom>
          <a:noFill/>
          <a:ln/>
        </p:spPr>
        <p:txBody>
          <a:bodyPr wrap="square" lIns="0" tIns="0" rIns="0" bIns="0" rtlCol="0" anchor="ctr"/>
          <a:lstStyle/>
          <a:p>
            <a:pPr indent="0" marL="0">
              <a:buNone/>
            </a:pPr>
            <a:r>
              <a:rPr lang="en-US" sz="700" dirty="0">
                <a:solidFill>
                  <a:srgbClr val="5E7280"/>
                </a:solidFill>
                <a:latin typeface="Poppins" pitchFamily="34" charset="0"/>
                <a:ea typeface="Poppins" pitchFamily="34" charset="-122"/>
                <a:cs typeface="Poppins" pitchFamily="34" charset="-120"/>
              </a:rPr>
              <a:t>Brett Gorman</a:t>
            </a:r>
            <a:endParaRPr lang="en-US" sz="700" dirty="0"/>
          </a:p>
        </p:txBody>
      </p:sp>
      <p:sp>
        <p:nvSpPr>
          <p:cNvPr id="121" name="Text 119"/>
          <p:cNvSpPr txBox="1"/>
          <p:nvPr/>
        </p:nvSpPr>
        <p:spPr>
          <a:xfrm>
            <a:off x="4782312" y="5152644"/>
            <a:ext cx="731520" cy="154534"/>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8 Jun</a:t>
            </a:r>
            <a:endParaRPr lang="en-US" sz="700" dirty="0"/>
          </a:p>
        </p:txBody>
      </p:sp>
      <p:sp>
        <p:nvSpPr>
          <p:cNvPr id="122" name="Text 120"/>
          <p:cNvSpPr txBox="1"/>
          <p:nvPr/>
        </p:nvSpPr>
        <p:spPr>
          <a:xfrm>
            <a:off x="5532120" y="5152644"/>
            <a:ext cx="457200" cy="154534"/>
          </a:xfrm>
          <a:prstGeom prst="rect">
            <a:avLst/>
          </a:prstGeom>
          <a:noFill/>
          <a:ln/>
        </p:spPr>
        <p:txBody>
          <a:bodyPr wrap="square" lIns="0" tIns="0" rIns="0" bIns="0" rtlCol="0" anchor="ctr"/>
          <a:lstStyle/>
          <a:p>
            <a:pPr algn="r" indent="0" marL="0">
              <a:buNone/>
            </a:pPr>
            <a:r>
              <a:rPr lang="en-US" sz="720" b="1" dirty="0">
                <a:solidFill>
                  <a:srgbClr val="C88A2E"/>
                </a:solidFill>
                <a:latin typeface="Poppins" pitchFamily="34" charset="0"/>
                <a:ea typeface="Poppins" pitchFamily="34" charset="-122"/>
                <a:cs typeface="Poppins" pitchFamily="34" charset="-120"/>
              </a:rPr>
              <a:t>132</a:t>
            </a:r>
            <a:endParaRPr lang="en-US" sz="720" dirty="0"/>
          </a:p>
        </p:txBody>
      </p:sp>
      <p:sp>
        <p:nvSpPr>
          <p:cNvPr id="123" name="Text 121"/>
          <p:cNvSpPr txBox="1"/>
          <p:nvPr/>
        </p:nvSpPr>
        <p:spPr>
          <a:xfrm>
            <a:off x="6025896" y="5152644"/>
            <a:ext cx="768096" cy="154534"/>
          </a:xfrm>
          <a:prstGeom prst="rect">
            <a:avLst/>
          </a:prstGeom>
          <a:noFill/>
          <a:ln/>
        </p:spPr>
        <p:txBody>
          <a:bodyPr wrap="square" lIns="0" tIns="0" rIns="0" bIns="0" rtlCol="0" anchor="ctr"/>
          <a:lstStyle/>
          <a:p>
            <a:pPr algn="r" indent="0" marL="0">
              <a:buNone/>
            </a:pPr>
            <a:r>
              <a:rPr lang="en-US" sz="720" b="1" dirty="0">
                <a:solidFill>
                  <a:srgbClr val="12293A"/>
                </a:solidFill>
                <a:latin typeface="Poppins" pitchFamily="34" charset="0"/>
                <a:ea typeface="Poppins" pitchFamily="34" charset="-122"/>
                <a:cs typeface="Poppins" pitchFamily="34" charset="-120"/>
              </a:rPr>
              <a:t>$180</a:t>
            </a:r>
            <a:endParaRPr lang="en-US" sz="720" dirty="0"/>
          </a:p>
        </p:txBody>
      </p:sp>
      <p:sp>
        <p:nvSpPr>
          <p:cNvPr id="124" name="Text 122"/>
          <p:cNvSpPr txBox="1"/>
          <p:nvPr/>
        </p:nvSpPr>
        <p:spPr>
          <a:xfrm>
            <a:off x="612648" y="5307178"/>
            <a:ext cx="2743200" cy="154534"/>
          </a:xfrm>
          <a:prstGeom prst="rect">
            <a:avLst/>
          </a:prstGeom>
          <a:noFill/>
          <a:ln/>
        </p:spPr>
        <p:txBody>
          <a:bodyPr wrap="square" lIns="0" tIns="0" rIns="0" bIns="0" rtlCol="0" anchor="ctr"/>
          <a:lstStyle/>
          <a:p>
            <a:pPr indent="0" marL="0">
              <a:buNone/>
            </a:pPr>
            <a:r>
              <a:rPr lang="en-US" sz="720" dirty="0">
                <a:solidFill>
                  <a:srgbClr val="5E7280"/>
                </a:solidFill>
                <a:latin typeface="Poppins" pitchFamily="34" charset="0"/>
                <a:ea typeface="Poppins" pitchFamily="34" charset="-122"/>
                <a:cs typeface="Poppins" pitchFamily="34" charset="-120"/>
              </a:rPr>
              <a:t>Irymple Hotel</a:t>
            </a:r>
            <a:endParaRPr lang="en-US" sz="720" dirty="0"/>
          </a:p>
        </p:txBody>
      </p:sp>
      <p:sp>
        <p:nvSpPr>
          <p:cNvPr id="125" name="Text 123"/>
          <p:cNvSpPr txBox="1"/>
          <p:nvPr/>
        </p:nvSpPr>
        <p:spPr>
          <a:xfrm>
            <a:off x="3374136" y="5307178"/>
            <a:ext cx="1371600" cy="154534"/>
          </a:xfrm>
          <a:prstGeom prst="rect">
            <a:avLst/>
          </a:prstGeom>
          <a:noFill/>
          <a:ln/>
        </p:spPr>
        <p:txBody>
          <a:bodyPr wrap="square" lIns="0" tIns="0" rIns="0" bIns="0" rtlCol="0" anchor="ctr"/>
          <a:lstStyle/>
          <a:p>
            <a:pPr indent="0" marL="0">
              <a:buNone/>
            </a:pPr>
            <a:r>
              <a:rPr lang="en-US" sz="700" dirty="0">
                <a:solidFill>
                  <a:srgbClr val="5E7280"/>
                </a:solidFill>
                <a:latin typeface="Poppins" pitchFamily="34" charset="0"/>
                <a:ea typeface="Poppins" pitchFamily="34" charset="-122"/>
                <a:cs typeface="Poppins" pitchFamily="34" charset="-120"/>
              </a:rPr>
              <a:t>Phuong Ho</a:t>
            </a:r>
            <a:endParaRPr lang="en-US" sz="700" dirty="0"/>
          </a:p>
        </p:txBody>
      </p:sp>
      <p:sp>
        <p:nvSpPr>
          <p:cNvPr id="126" name="Text 124"/>
          <p:cNvSpPr txBox="1"/>
          <p:nvPr/>
        </p:nvSpPr>
        <p:spPr>
          <a:xfrm>
            <a:off x="4782312" y="5307178"/>
            <a:ext cx="731520" cy="154534"/>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2 Oct</a:t>
            </a:r>
            <a:endParaRPr lang="en-US" sz="700" dirty="0"/>
          </a:p>
        </p:txBody>
      </p:sp>
      <p:sp>
        <p:nvSpPr>
          <p:cNvPr id="127" name="Text 125"/>
          <p:cNvSpPr txBox="1"/>
          <p:nvPr/>
        </p:nvSpPr>
        <p:spPr>
          <a:xfrm>
            <a:off x="5532120" y="5307178"/>
            <a:ext cx="457200" cy="154534"/>
          </a:xfrm>
          <a:prstGeom prst="rect">
            <a:avLst/>
          </a:prstGeom>
          <a:noFill/>
          <a:ln/>
        </p:spPr>
        <p:txBody>
          <a:bodyPr wrap="square" lIns="0" tIns="0" rIns="0" bIns="0" rtlCol="0" anchor="ctr"/>
          <a:lstStyle/>
          <a:p>
            <a:pPr algn="r" indent="0" marL="0">
              <a:buNone/>
            </a:pPr>
            <a:r>
              <a:rPr lang="en-US" sz="720" b="1" dirty="0">
                <a:solidFill>
                  <a:srgbClr val="5E7280"/>
                </a:solidFill>
                <a:latin typeface="Poppins" pitchFamily="34" charset="0"/>
                <a:ea typeface="Poppins" pitchFamily="34" charset="-122"/>
                <a:cs typeface="Poppins" pitchFamily="34" charset="-120"/>
              </a:rPr>
              <a:t>16</a:t>
            </a:r>
            <a:endParaRPr lang="en-US" sz="720" dirty="0"/>
          </a:p>
        </p:txBody>
      </p:sp>
      <p:sp>
        <p:nvSpPr>
          <p:cNvPr id="128" name="Text 126"/>
          <p:cNvSpPr txBox="1"/>
          <p:nvPr/>
        </p:nvSpPr>
        <p:spPr>
          <a:xfrm>
            <a:off x="6025896" y="5307178"/>
            <a:ext cx="768096" cy="154534"/>
          </a:xfrm>
          <a:prstGeom prst="rect">
            <a:avLst/>
          </a:prstGeom>
          <a:noFill/>
          <a:ln/>
        </p:spPr>
        <p:txBody>
          <a:bodyPr wrap="square" lIns="0" tIns="0" rIns="0" bIns="0" rtlCol="0" anchor="ctr"/>
          <a:lstStyle/>
          <a:p>
            <a:pPr algn="r" indent="0" marL="0">
              <a:buNone/>
            </a:pPr>
            <a:r>
              <a:rPr lang="en-US" sz="720" b="1" dirty="0">
                <a:solidFill>
                  <a:srgbClr val="12293A"/>
                </a:solidFill>
                <a:latin typeface="Poppins" pitchFamily="34" charset="0"/>
                <a:ea typeface="Poppins" pitchFamily="34" charset="-122"/>
                <a:cs typeface="Poppins" pitchFamily="34" charset="-120"/>
              </a:rPr>
              <a:t>$147</a:t>
            </a:r>
            <a:endParaRPr lang="en-US" sz="720" dirty="0"/>
          </a:p>
        </p:txBody>
      </p:sp>
      <p:sp>
        <p:nvSpPr>
          <p:cNvPr id="129" name="Shape 127"/>
          <p:cNvSpPr/>
          <p:nvPr/>
        </p:nvSpPr>
        <p:spPr>
          <a:xfrm>
            <a:off x="539496" y="5461711"/>
            <a:ext cx="6419088" cy="154534"/>
          </a:xfrm>
          <a:prstGeom prst="rect">
            <a:avLst/>
          </a:prstGeom>
          <a:solidFill>
            <a:srgbClr val="F2F6F8"/>
          </a:solidFill>
          <a:ln/>
        </p:spPr>
      </p:sp>
      <p:sp>
        <p:nvSpPr>
          <p:cNvPr id="130" name="Text 128"/>
          <p:cNvSpPr txBox="1"/>
          <p:nvPr/>
        </p:nvSpPr>
        <p:spPr>
          <a:xfrm>
            <a:off x="612648" y="5461711"/>
            <a:ext cx="2743200" cy="154534"/>
          </a:xfrm>
          <a:prstGeom prst="rect">
            <a:avLst/>
          </a:prstGeom>
          <a:noFill/>
          <a:ln/>
        </p:spPr>
        <p:txBody>
          <a:bodyPr wrap="square" lIns="0" tIns="0" rIns="0" bIns="0" rtlCol="0" anchor="ctr"/>
          <a:lstStyle/>
          <a:p>
            <a:pPr indent="0" marL="0">
              <a:buNone/>
            </a:pPr>
            <a:r>
              <a:rPr lang="en-US" sz="720" b="1" dirty="0">
                <a:solidFill>
                  <a:srgbClr val="12293A"/>
                </a:solidFill>
                <a:latin typeface="Poppins" pitchFamily="34" charset="0"/>
                <a:ea typeface="Poppins" pitchFamily="34" charset="-122"/>
                <a:cs typeface="Poppins" pitchFamily="34" charset="-120"/>
              </a:rPr>
              <a:t>Little Ship Club</a:t>
            </a:r>
            <a:endParaRPr lang="en-US" sz="720" dirty="0"/>
          </a:p>
        </p:txBody>
      </p:sp>
      <p:sp>
        <p:nvSpPr>
          <p:cNvPr id="131" name="Text 129"/>
          <p:cNvSpPr txBox="1"/>
          <p:nvPr/>
        </p:nvSpPr>
        <p:spPr>
          <a:xfrm>
            <a:off x="3374136" y="5461711"/>
            <a:ext cx="1371600" cy="154534"/>
          </a:xfrm>
          <a:prstGeom prst="rect">
            <a:avLst/>
          </a:prstGeom>
          <a:noFill/>
          <a:ln/>
        </p:spPr>
        <p:txBody>
          <a:bodyPr wrap="square" lIns="0" tIns="0" rIns="0" bIns="0" rtlCol="0" anchor="ctr"/>
          <a:lstStyle/>
          <a:p>
            <a:pPr indent="0" marL="0">
              <a:buNone/>
            </a:pPr>
            <a:r>
              <a:rPr lang="en-US" sz="700" dirty="0">
                <a:solidFill>
                  <a:srgbClr val="5E7280"/>
                </a:solidFill>
                <a:latin typeface="Poppins" pitchFamily="34" charset="0"/>
                <a:ea typeface="Poppins" pitchFamily="34" charset="-122"/>
                <a:cs typeface="Poppins" pitchFamily="34" charset="-120"/>
              </a:rPr>
              <a:t>Brett Gorman</a:t>
            </a:r>
            <a:endParaRPr lang="en-US" sz="700" dirty="0"/>
          </a:p>
        </p:txBody>
      </p:sp>
      <p:sp>
        <p:nvSpPr>
          <p:cNvPr id="132" name="Text 130"/>
          <p:cNvSpPr txBox="1"/>
          <p:nvPr/>
        </p:nvSpPr>
        <p:spPr>
          <a:xfrm>
            <a:off x="4782312" y="5461711"/>
            <a:ext cx="731520" cy="154534"/>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26 May</a:t>
            </a:r>
            <a:endParaRPr lang="en-US" sz="700" dirty="0"/>
          </a:p>
        </p:txBody>
      </p:sp>
      <p:sp>
        <p:nvSpPr>
          <p:cNvPr id="133" name="Text 131"/>
          <p:cNvSpPr txBox="1"/>
          <p:nvPr/>
        </p:nvSpPr>
        <p:spPr>
          <a:xfrm>
            <a:off x="5532120" y="5461711"/>
            <a:ext cx="457200" cy="154534"/>
          </a:xfrm>
          <a:prstGeom prst="rect">
            <a:avLst/>
          </a:prstGeom>
          <a:noFill/>
          <a:ln/>
        </p:spPr>
        <p:txBody>
          <a:bodyPr wrap="square" lIns="0" tIns="0" rIns="0" bIns="0" rtlCol="0" anchor="ctr"/>
          <a:lstStyle/>
          <a:p>
            <a:pPr algn="r" indent="0" marL="0">
              <a:buNone/>
            </a:pPr>
            <a:r>
              <a:rPr lang="en-US" sz="720" b="1" dirty="0">
                <a:solidFill>
                  <a:srgbClr val="C88A2E"/>
                </a:solidFill>
                <a:latin typeface="Poppins" pitchFamily="34" charset="0"/>
                <a:ea typeface="Poppins" pitchFamily="34" charset="-122"/>
                <a:cs typeface="Poppins" pitchFamily="34" charset="-120"/>
              </a:rPr>
              <a:t>145</a:t>
            </a:r>
            <a:endParaRPr lang="en-US" sz="720" dirty="0"/>
          </a:p>
        </p:txBody>
      </p:sp>
      <p:sp>
        <p:nvSpPr>
          <p:cNvPr id="134" name="Text 132"/>
          <p:cNvSpPr txBox="1"/>
          <p:nvPr/>
        </p:nvSpPr>
        <p:spPr>
          <a:xfrm>
            <a:off x="6025896" y="5461711"/>
            <a:ext cx="768096" cy="154534"/>
          </a:xfrm>
          <a:prstGeom prst="rect">
            <a:avLst/>
          </a:prstGeom>
          <a:noFill/>
          <a:ln/>
        </p:spPr>
        <p:txBody>
          <a:bodyPr wrap="square" lIns="0" tIns="0" rIns="0" bIns="0" rtlCol="0" anchor="ctr"/>
          <a:lstStyle/>
          <a:p>
            <a:pPr algn="r" indent="0" marL="0">
              <a:buNone/>
            </a:pPr>
            <a:r>
              <a:rPr lang="en-US" sz="720" b="1" dirty="0">
                <a:solidFill>
                  <a:srgbClr val="12293A"/>
                </a:solidFill>
                <a:latin typeface="Poppins" pitchFamily="34" charset="0"/>
                <a:ea typeface="Poppins" pitchFamily="34" charset="-122"/>
                <a:cs typeface="Poppins" pitchFamily="34" charset="-120"/>
              </a:rPr>
              <a:t>$116</a:t>
            </a:r>
            <a:endParaRPr lang="en-US" sz="720" dirty="0"/>
          </a:p>
        </p:txBody>
      </p:sp>
      <p:sp>
        <p:nvSpPr>
          <p:cNvPr id="135" name="Text 133"/>
          <p:cNvSpPr txBox="1"/>
          <p:nvPr/>
        </p:nvSpPr>
        <p:spPr>
          <a:xfrm>
            <a:off x="612648" y="5616245"/>
            <a:ext cx="2743200" cy="154534"/>
          </a:xfrm>
          <a:prstGeom prst="rect">
            <a:avLst/>
          </a:prstGeom>
          <a:noFill/>
          <a:ln/>
        </p:spPr>
        <p:txBody>
          <a:bodyPr wrap="square" lIns="0" tIns="0" rIns="0" bIns="0" rtlCol="0" anchor="ctr"/>
          <a:lstStyle/>
          <a:p>
            <a:pPr indent="0" marL="0">
              <a:buNone/>
            </a:pPr>
            <a:r>
              <a:rPr lang="en-US" sz="720" dirty="0">
                <a:solidFill>
                  <a:srgbClr val="5E7280"/>
                </a:solidFill>
                <a:latin typeface="Poppins" pitchFamily="34" charset="0"/>
                <a:ea typeface="Poppins" pitchFamily="34" charset="-122"/>
                <a:cs typeface="Poppins" pitchFamily="34" charset="-120"/>
              </a:rPr>
              <a:t>Crossing Inn - Leedal</a:t>
            </a:r>
            <a:endParaRPr lang="en-US" sz="720" dirty="0"/>
          </a:p>
        </p:txBody>
      </p:sp>
      <p:sp>
        <p:nvSpPr>
          <p:cNvPr id="136" name="Text 134"/>
          <p:cNvSpPr txBox="1"/>
          <p:nvPr/>
        </p:nvSpPr>
        <p:spPr>
          <a:xfrm>
            <a:off x="3374136" y="5616245"/>
            <a:ext cx="1371600" cy="154534"/>
          </a:xfrm>
          <a:prstGeom prst="rect">
            <a:avLst/>
          </a:prstGeom>
          <a:noFill/>
          <a:ln/>
        </p:spPr>
        <p:txBody>
          <a:bodyPr wrap="square" lIns="0" tIns="0" rIns="0" bIns="0" rtlCol="0" anchor="ctr"/>
          <a:lstStyle/>
          <a:p>
            <a:pPr indent="0" marL="0">
              <a:buNone/>
            </a:pPr>
            <a:r>
              <a:rPr lang="en-US" sz="700" dirty="0">
                <a:solidFill>
                  <a:srgbClr val="5E7280"/>
                </a:solidFill>
                <a:latin typeface="Poppins" pitchFamily="34" charset="0"/>
                <a:ea typeface="Poppins" pitchFamily="34" charset="-122"/>
                <a:cs typeface="Poppins" pitchFamily="34" charset="-120"/>
              </a:rPr>
              <a:t>Bjorn Magabo</a:t>
            </a:r>
            <a:endParaRPr lang="en-US" sz="700" dirty="0"/>
          </a:p>
        </p:txBody>
      </p:sp>
      <p:sp>
        <p:nvSpPr>
          <p:cNvPr id="137" name="Text 135"/>
          <p:cNvSpPr txBox="1"/>
          <p:nvPr/>
        </p:nvSpPr>
        <p:spPr>
          <a:xfrm>
            <a:off x="4782312" y="5616245"/>
            <a:ext cx="731520" cy="154534"/>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1 Oct</a:t>
            </a:r>
            <a:endParaRPr lang="en-US" sz="700" dirty="0"/>
          </a:p>
        </p:txBody>
      </p:sp>
      <p:sp>
        <p:nvSpPr>
          <p:cNvPr id="138" name="Text 136"/>
          <p:cNvSpPr txBox="1"/>
          <p:nvPr/>
        </p:nvSpPr>
        <p:spPr>
          <a:xfrm>
            <a:off x="5532120" y="5616245"/>
            <a:ext cx="457200" cy="154534"/>
          </a:xfrm>
          <a:prstGeom prst="rect">
            <a:avLst/>
          </a:prstGeom>
          <a:noFill/>
          <a:ln/>
        </p:spPr>
        <p:txBody>
          <a:bodyPr wrap="square" lIns="0" tIns="0" rIns="0" bIns="0" rtlCol="0" anchor="ctr"/>
          <a:lstStyle/>
          <a:p>
            <a:pPr algn="r" indent="0" marL="0">
              <a:buNone/>
            </a:pPr>
            <a:r>
              <a:rPr lang="en-US" sz="720" b="1" dirty="0">
                <a:solidFill>
                  <a:srgbClr val="5E7280"/>
                </a:solidFill>
                <a:latin typeface="Poppins" pitchFamily="34" charset="0"/>
                <a:ea typeface="Poppins" pitchFamily="34" charset="-122"/>
                <a:cs typeface="Poppins" pitchFamily="34" charset="-120"/>
              </a:rPr>
              <a:t>17</a:t>
            </a:r>
            <a:endParaRPr lang="en-US" sz="720" dirty="0"/>
          </a:p>
        </p:txBody>
      </p:sp>
      <p:sp>
        <p:nvSpPr>
          <p:cNvPr id="139" name="Text 137"/>
          <p:cNvSpPr txBox="1"/>
          <p:nvPr/>
        </p:nvSpPr>
        <p:spPr>
          <a:xfrm>
            <a:off x="6025896" y="5616245"/>
            <a:ext cx="768096" cy="154534"/>
          </a:xfrm>
          <a:prstGeom prst="rect">
            <a:avLst/>
          </a:prstGeom>
          <a:noFill/>
          <a:ln/>
        </p:spPr>
        <p:txBody>
          <a:bodyPr wrap="square" lIns="0" tIns="0" rIns="0" bIns="0" rtlCol="0" anchor="ctr"/>
          <a:lstStyle/>
          <a:p>
            <a:pPr algn="r" indent="0" marL="0">
              <a:buNone/>
            </a:pPr>
            <a:r>
              <a:rPr lang="en-US" sz="720" b="1" dirty="0">
                <a:solidFill>
                  <a:srgbClr val="12293A"/>
                </a:solidFill>
                <a:latin typeface="Poppins" pitchFamily="34" charset="0"/>
                <a:ea typeface="Poppins" pitchFamily="34" charset="-122"/>
                <a:cs typeface="Poppins" pitchFamily="34" charset="-120"/>
              </a:rPr>
              <a:t>$106</a:t>
            </a:r>
            <a:endParaRPr lang="en-US" sz="720" dirty="0"/>
          </a:p>
        </p:txBody>
      </p:sp>
      <p:sp>
        <p:nvSpPr>
          <p:cNvPr id="140" name="Shape 138"/>
          <p:cNvSpPr/>
          <p:nvPr/>
        </p:nvSpPr>
        <p:spPr>
          <a:xfrm>
            <a:off x="539496" y="5770778"/>
            <a:ext cx="6419088" cy="154534"/>
          </a:xfrm>
          <a:prstGeom prst="rect">
            <a:avLst/>
          </a:prstGeom>
          <a:solidFill>
            <a:srgbClr val="F2F6F8"/>
          </a:solidFill>
          <a:ln/>
        </p:spPr>
      </p:sp>
      <p:sp>
        <p:nvSpPr>
          <p:cNvPr id="141" name="Text 139"/>
          <p:cNvSpPr txBox="1"/>
          <p:nvPr/>
        </p:nvSpPr>
        <p:spPr>
          <a:xfrm>
            <a:off x="612648" y="5770778"/>
            <a:ext cx="2743200" cy="154534"/>
          </a:xfrm>
          <a:prstGeom prst="rect">
            <a:avLst/>
          </a:prstGeom>
          <a:noFill/>
          <a:ln/>
        </p:spPr>
        <p:txBody>
          <a:bodyPr wrap="square" lIns="0" tIns="0" rIns="0" bIns="0" rtlCol="0" anchor="ctr"/>
          <a:lstStyle/>
          <a:p>
            <a:pPr indent="0" marL="0">
              <a:buNone/>
            </a:pPr>
            <a:r>
              <a:rPr lang="en-US" sz="720" dirty="0">
                <a:solidFill>
                  <a:srgbClr val="5E7280"/>
                </a:solidFill>
                <a:latin typeface="Poppins" pitchFamily="34" charset="0"/>
                <a:ea typeface="Poppins" pitchFamily="34" charset="-122"/>
                <a:cs typeface="Poppins" pitchFamily="34" charset="-120"/>
              </a:rPr>
              <a:t>Jabiru Golf Club</a:t>
            </a:r>
            <a:endParaRPr lang="en-US" sz="720" dirty="0"/>
          </a:p>
        </p:txBody>
      </p:sp>
      <p:sp>
        <p:nvSpPr>
          <p:cNvPr id="142" name="Text 140"/>
          <p:cNvSpPr txBox="1"/>
          <p:nvPr/>
        </p:nvSpPr>
        <p:spPr>
          <a:xfrm>
            <a:off x="3374136" y="5770778"/>
            <a:ext cx="1371600" cy="154534"/>
          </a:xfrm>
          <a:prstGeom prst="rect">
            <a:avLst/>
          </a:prstGeom>
          <a:noFill/>
          <a:ln/>
        </p:spPr>
        <p:txBody>
          <a:bodyPr wrap="square" lIns="0" tIns="0" rIns="0" bIns="0" rtlCol="0" anchor="ctr"/>
          <a:lstStyle/>
          <a:p>
            <a:pPr indent="0" marL="0">
              <a:buNone/>
            </a:pPr>
            <a:r>
              <a:rPr lang="en-US" sz="700" dirty="0">
                <a:solidFill>
                  <a:srgbClr val="5E7280"/>
                </a:solidFill>
                <a:latin typeface="Poppins" pitchFamily="34" charset="0"/>
                <a:ea typeface="Poppins" pitchFamily="34" charset="-122"/>
                <a:cs typeface="Poppins" pitchFamily="34" charset="-120"/>
              </a:rPr>
              <a:t>Bjorn Magabo</a:t>
            </a:r>
            <a:endParaRPr lang="en-US" sz="700" dirty="0"/>
          </a:p>
        </p:txBody>
      </p:sp>
      <p:sp>
        <p:nvSpPr>
          <p:cNvPr id="143" name="Text 141"/>
          <p:cNvSpPr txBox="1"/>
          <p:nvPr/>
        </p:nvSpPr>
        <p:spPr>
          <a:xfrm>
            <a:off x="4782312" y="5770778"/>
            <a:ext cx="731520" cy="154534"/>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18 Sep</a:t>
            </a:r>
            <a:endParaRPr lang="en-US" sz="700" dirty="0"/>
          </a:p>
        </p:txBody>
      </p:sp>
      <p:sp>
        <p:nvSpPr>
          <p:cNvPr id="144" name="Text 142"/>
          <p:cNvSpPr txBox="1"/>
          <p:nvPr/>
        </p:nvSpPr>
        <p:spPr>
          <a:xfrm>
            <a:off x="5532120" y="5770778"/>
            <a:ext cx="457200" cy="154534"/>
          </a:xfrm>
          <a:prstGeom prst="rect">
            <a:avLst/>
          </a:prstGeom>
          <a:noFill/>
          <a:ln/>
        </p:spPr>
        <p:txBody>
          <a:bodyPr wrap="square" lIns="0" tIns="0" rIns="0" bIns="0" rtlCol="0" anchor="ctr"/>
          <a:lstStyle/>
          <a:p>
            <a:pPr algn="r" indent="0" marL="0">
              <a:buNone/>
            </a:pPr>
            <a:r>
              <a:rPr lang="en-US" sz="720" b="1" dirty="0">
                <a:solidFill>
                  <a:srgbClr val="5E7280"/>
                </a:solidFill>
                <a:latin typeface="Poppins" pitchFamily="34" charset="0"/>
                <a:ea typeface="Poppins" pitchFamily="34" charset="-122"/>
                <a:cs typeface="Poppins" pitchFamily="34" charset="-120"/>
              </a:rPr>
              <a:t>30</a:t>
            </a:r>
            <a:endParaRPr lang="en-US" sz="720" dirty="0"/>
          </a:p>
        </p:txBody>
      </p:sp>
      <p:sp>
        <p:nvSpPr>
          <p:cNvPr id="145" name="Text 143"/>
          <p:cNvSpPr txBox="1"/>
          <p:nvPr/>
        </p:nvSpPr>
        <p:spPr>
          <a:xfrm>
            <a:off x="6025896" y="5770778"/>
            <a:ext cx="768096" cy="154534"/>
          </a:xfrm>
          <a:prstGeom prst="rect">
            <a:avLst/>
          </a:prstGeom>
          <a:noFill/>
          <a:ln/>
        </p:spPr>
        <p:txBody>
          <a:bodyPr wrap="square" lIns="0" tIns="0" rIns="0" bIns="0" rtlCol="0" anchor="ctr"/>
          <a:lstStyle/>
          <a:p>
            <a:pPr algn="r" indent="0" marL="0">
              <a:buNone/>
            </a:pPr>
            <a:r>
              <a:rPr lang="en-US" sz="720" b="1" dirty="0">
                <a:solidFill>
                  <a:srgbClr val="12293A"/>
                </a:solidFill>
                <a:latin typeface="Poppins" pitchFamily="34" charset="0"/>
                <a:ea typeface="Poppins" pitchFamily="34" charset="-122"/>
                <a:cs typeface="Poppins" pitchFamily="34" charset="-120"/>
              </a:rPr>
              <a:t>$106</a:t>
            </a:r>
            <a:endParaRPr lang="en-US" sz="720" dirty="0"/>
          </a:p>
        </p:txBody>
      </p:sp>
      <p:sp>
        <p:nvSpPr>
          <p:cNvPr id="146" name="Shape 144"/>
          <p:cNvSpPr/>
          <p:nvPr/>
        </p:nvSpPr>
        <p:spPr>
          <a:xfrm>
            <a:off x="612648" y="5961888"/>
            <a:ext cx="6272784" cy="10973"/>
          </a:xfrm>
          <a:prstGeom prst="rect">
            <a:avLst/>
          </a:prstGeom>
          <a:solidFill>
            <a:srgbClr val="12293A"/>
          </a:solidFill>
          <a:ln/>
        </p:spPr>
      </p:sp>
      <p:sp>
        <p:nvSpPr>
          <p:cNvPr id="147" name="Text 145"/>
          <p:cNvSpPr txBox="1"/>
          <p:nvPr/>
        </p:nvSpPr>
        <p:spPr>
          <a:xfrm>
            <a:off x="612648" y="5998464"/>
            <a:ext cx="1828800" cy="219456"/>
          </a:xfrm>
          <a:prstGeom prst="rect">
            <a:avLst/>
          </a:prstGeom>
          <a:noFill/>
          <a:ln/>
        </p:spPr>
        <p:txBody>
          <a:bodyPr wrap="square" lIns="0" tIns="0" rIns="0" bIns="0" rtlCol="0" anchor="ctr"/>
          <a:lstStyle/>
          <a:p>
            <a:pPr indent="0" marL="0">
              <a:buNone/>
            </a:pPr>
            <a:r>
              <a:rPr lang="en-US" sz="800" b="1" dirty="0">
                <a:solidFill>
                  <a:srgbClr val="12293A"/>
                </a:solidFill>
                <a:latin typeface="Poppins" pitchFamily="34" charset="0"/>
                <a:ea typeface="Poppins" pitchFamily="34" charset="-122"/>
                <a:cs typeface="Poppins" pitchFamily="34" charset="-120"/>
              </a:rPr>
              <a:t>TOTAL</a:t>
            </a:r>
            <a:endParaRPr lang="en-US" sz="800" dirty="0"/>
          </a:p>
        </p:txBody>
      </p:sp>
      <p:sp>
        <p:nvSpPr>
          <p:cNvPr id="148" name="Text 146"/>
          <p:cNvSpPr txBox="1"/>
          <p:nvPr/>
        </p:nvSpPr>
        <p:spPr>
          <a:xfrm>
            <a:off x="5257800" y="5998464"/>
            <a:ext cx="1536192" cy="219456"/>
          </a:xfrm>
          <a:prstGeom prst="rect">
            <a:avLst/>
          </a:prstGeom>
          <a:noFill/>
          <a:ln/>
        </p:spPr>
        <p:txBody>
          <a:bodyPr wrap="square" lIns="0" tIns="0" rIns="0" bIns="0" rtlCol="0" anchor="ctr"/>
          <a:lstStyle/>
          <a:p>
            <a:pPr algn="r" indent="0" marL="0">
              <a:buNone/>
            </a:pPr>
            <a:r>
              <a:rPr lang="en-US" sz="800" b="1" dirty="0">
                <a:solidFill>
                  <a:srgbClr val="B4552D"/>
                </a:solidFill>
                <a:latin typeface="Poppins" pitchFamily="34" charset="0"/>
                <a:ea typeface="Poppins" pitchFamily="34" charset="-122"/>
                <a:cs typeface="Poppins" pitchFamily="34" charset="-120"/>
              </a:rPr>
              <a:t>$20,038/mo</a:t>
            </a:r>
            <a:endParaRPr lang="en-US" sz="800" dirty="0"/>
          </a:p>
        </p:txBody>
      </p:sp>
      <p:sp>
        <p:nvSpPr>
          <p:cNvPr id="149" name="Shape 147"/>
          <p:cNvSpPr/>
          <p:nvPr/>
        </p:nvSpPr>
        <p:spPr>
          <a:xfrm>
            <a:off x="7269480" y="2212848"/>
            <a:ext cx="4507992" cy="1325880"/>
          </a:xfrm>
          <a:prstGeom prst="roundRect">
            <a:avLst>
              <a:gd name="adj" fmla="val 4828"/>
            </a:avLst>
          </a:prstGeom>
          <a:solidFill>
            <a:srgbClr val="FFFFFF"/>
          </a:solidFill>
          <a:ln/>
          <a:effectLst>
            <a:outerShdw sx="100000" sy="100000" kx="0" ky="0" algn="bl" rotWithShape="0" blurRad="76200" dist="25400" dir="5400000">
              <a:srgbClr val="9AAAB5">
                <a:alpha val="35000"/>
              </a:srgbClr>
            </a:outerShdw>
          </a:effectLst>
        </p:spPr>
      </p:sp>
      <p:sp>
        <p:nvSpPr>
          <p:cNvPr id="150" name="Text 148"/>
          <p:cNvSpPr txBox="1"/>
          <p:nvPr/>
        </p:nvSpPr>
        <p:spPr>
          <a:xfrm>
            <a:off x="7470648" y="2322576"/>
            <a:ext cx="4023360"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AGEING — DAYS SINCE CLOSE</a:t>
            </a:r>
            <a:endParaRPr lang="en-US" sz="1200" dirty="0"/>
          </a:p>
        </p:txBody>
      </p:sp>
      <p:sp>
        <p:nvSpPr>
          <p:cNvPr id="151" name="Text 149"/>
          <p:cNvSpPr txBox="1"/>
          <p:nvPr/>
        </p:nvSpPr>
        <p:spPr>
          <a:xfrm>
            <a:off x="7470648" y="2633472"/>
            <a:ext cx="914400" cy="182880"/>
          </a:xfrm>
          <a:prstGeom prst="rect">
            <a:avLst/>
          </a:prstGeom>
          <a:noFill/>
          <a:ln/>
        </p:spPr>
        <p:txBody>
          <a:bodyPr wrap="square" lIns="0" tIns="0" rIns="0" bIns="0" rtlCol="0" anchor="ctr"/>
          <a:lstStyle/>
          <a:p>
            <a:pPr indent="0" marL="0">
              <a:buNone/>
            </a:pPr>
            <a:r>
              <a:rPr lang="en-US" sz="680" b="1" dirty="0">
                <a:solidFill>
                  <a:srgbClr val="5E7280"/>
                </a:solidFill>
                <a:latin typeface="Poppins" pitchFamily="34" charset="0"/>
                <a:ea typeface="Poppins" pitchFamily="34" charset="-122"/>
                <a:cs typeface="Poppins" pitchFamily="34" charset="-120"/>
              </a:rPr>
              <a:t>0–30 days</a:t>
            </a:r>
            <a:endParaRPr lang="en-US" sz="680" dirty="0"/>
          </a:p>
        </p:txBody>
      </p:sp>
      <p:sp>
        <p:nvSpPr>
          <p:cNvPr id="152" name="Shape 150"/>
          <p:cNvSpPr/>
          <p:nvPr/>
        </p:nvSpPr>
        <p:spPr>
          <a:xfrm>
            <a:off x="8458200" y="2674620"/>
            <a:ext cx="1600200" cy="100584"/>
          </a:xfrm>
          <a:prstGeom prst="rect">
            <a:avLst/>
          </a:prstGeom>
          <a:solidFill>
            <a:srgbClr val="3D8F5F"/>
          </a:solidFill>
          <a:ln/>
        </p:spPr>
      </p:sp>
      <p:sp>
        <p:nvSpPr>
          <p:cNvPr id="153" name="Text 151"/>
          <p:cNvSpPr txBox="1"/>
          <p:nvPr/>
        </p:nvSpPr>
        <p:spPr>
          <a:xfrm>
            <a:off x="10122408" y="2633472"/>
            <a:ext cx="694944" cy="182880"/>
          </a:xfrm>
          <a:prstGeom prst="rect">
            <a:avLst/>
          </a:prstGeom>
          <a:noFill/>
          <a:ln/>
        </p:spPr>
        <p:txBody>
          <a:bodyPr wrap="square" lIns="0" tIns="0" rIns="0" bIns="0" rtlCol="0" anchor="ctr"/>
          <a:lstStyle/>
          <a:p>
            <a:pPr algn="r" indent="0" marL="0">
              <a:buNone/>
            </a:pPr>
            <a:r>
              <a:rPr lang="en-US" sz="680" dirty="0">
                <a:solidFill>
                  <a:srgbClr val="5E7280"/>
                </a:solidFill>
                <a:latin typeface="Poppins" pitchFamily="34" charset="0"/>
                <a:ea typeface="Poppins" pitchFamily="34" charset="-122"/>
                <a:cs typeface="Poppins" pitchFamily="34" charset="-120"/>
              </a:rPr>
              <a:t>10 deals</a:t>
            </a:r>
            <a:endParaRPr lang="en-US" sz="680" dirty="0"/>
          </a:p>
        </p:txBody>
      </p:sp>
      <p:sp>
        <p:nvSpPr>
          <p:cNvPr id="154" name="Text 152"/>
          <p:cNvSpPr txBox="1"/>
          <p:nvPr/>
        </p:nvSpPr>
        <p:spPr>
          <a:xfrm>
            <a:off x="10835640" y="2633472"/>
            <a:ext cx="740664" cy="182880"/>
          </a:xfrm>
          <a:prstGeom prst="rect">
            <a:avLst/>
          </a:prstGeom>
          <a:noFill/>
          <a:ln/>
        </p:spPr>
        <p:txBody>
          <a:bodyPr wrap="square" lIns="0" tIns="0" rIns="0" bIns="0" rtlCol="0" anchor="ctr"/>
          <a:lstStyle/>
          <a:p>
            <a:pPr algn="r" indent="0" marL="0">
              <a:buNone/>
            </a:pPr>
            <a:r>
              <a:rPr lang="en-US" sz="700" b="1" dirty="0">
                <a:solidFill>
                  <a:srgbClr val="12293A"/>
                </a:solidFill>
                <a:latin typeface="Poppins" pitchFamily="34" charset="0"/>
                <a:ea typeface="Poppins" pitchFamily="34" charset="-122"/>
                <a:cs typeface="Poppins" pitchFamily="34" charset="-120"/>
              </a:rPr>
              <a:t>$3,989/mo</a:t>
            </a:r>
            <a:endParaRPr lang="en-US" sz="700" dirty="0"/>
          </a:p>
        </p:txBody>
      </p:sp>
      <p:sp>
        <p:nvSpPr>
          <p:cNvPr id="155" name="Text 153"/>
          <p:cNvSpPr txBox="1"/>
          <p:nvPr/>
        </p:nvSpPr>
        <p:spPr>
          <a:xfrm>
            <a:off x="7470648" y="2834640"/>
            <a:ext cx="914400" cy="182880"/>
          </a:xfrm>
          <a:prstGeom prst="rect">
            <a:avLst/>
          </a:prstGeom>
          <a:noFill/>
          <a:ln/>
        </p:spPr>
        <p:txBody>
          <a:bodyPr wrap="square" lIns="0" tIns="0" rIns="0" bIns="0" rtlCol="0" anchor="ctr"/>
          <a:lstStyle/>
          <a:p>
            <a:pPr indent="0" marL="0">
              <a:buNone/>
            </a:pPr>
            <a:r>
              <a:rPr lang="en-US" sz="680" b="1" dirty="0">
                <a:solidFill>
                  <a:srgbClr val="5E7280"/>
                </a:solidFill>
                <a:latin typeface="Poppins" pitchFamily="34" charset="0"/>
                <a:ea typeface="Poppins" pitchFamily="34" charset="-122"/>
                <a:cs typeface="Poppins" pitchFamily="34" charset="-120"/>
              </a:rPr>
              <a:t>31–90 days</a:t>
            </a:r>
            <a:endParaRPr lang="en-US" sz="680" dirty="0"/>
          </a:p>
        </p:txBody>
      </p:sp>
      <p:sp>
        <p:nvSpPr>
          <p:cNvPr id="156" name="Shape 154"/>
          <p:cNvSpPr/>
          <p:nvPr/>
        </p:nvSpPr>
        <p:spPr>
          <a:xfrm>
            <a:off x="8458200" y="2875788"/>
            <a:ext cx="480060" cy="100584"/>
          </a:xfrm>
          <a:prstGeom prst="rect">
            <a:avLst/>
          </a:prstGeom>
          <a:solidFill>
            <a:srgbClr val="C88A2E"/>
          </a:solidFill>
          <a:ln/>
        </p:spPr>
      </p:sp>
      <p:sp>
        <p:nvSpPr>
          <p:cNvPr id="157" name="Text 155"/>
          <p:cNvSpPr txBox="1"/>
          <p:nvPr/>
        </p:nvSpPr>
        <p:spPr>
          <a:xfrm>
            <a:off x="10122408" y="2834640"/>
            <a:ext cx="694944" cy="182880"/>
          </a:xfrm>
          <a:prstGeom prst="rect">
            <a:avLst/>
          </a:prstGeom>
          <a:noFill/>
          <a:ln/>
        </p:spPr>
        <p:txBody>
          <a:bodyPr wrap="square" lIns="0" tIns="0" rIns="0" bIns="0" rtlCol="0" anchor="ctr"/>
          <a:lstStyle/>
          <a:p>
            <a:pPr algn="r" indent="0" marL="0">
              <a:buNone/>
            </a:pPr>
            <a:r>
              <a:rPr lang="en-US" sz="680" dirty="0">
                <a:solidFill>
                  <a:srgbClr val="5E7280"/>
                </a:solidFill>
                <a:latin typeface="Poppins" pitchFamily="34" charset="0"/>
                <a:ea typeface="Poppins" pitchFamily="34" charset="-122"/>
                <a:cs typeface="Poppins" pitchFamily="34" charset="-120"/>
              </a:rPr>
              <a:t>3 deals</a:t>
            </a:r>
            <a:endParaRPr lang="en-US" sz="680" dirty="0"/>
          </a:p>
        </p:txBody>
      </p:sp>
      <p:sp>
        <p:nvSpPr>
          <p:cNvPr id="158" name="Text 156"/>
          <p:cNvSpPr txBox="1"/>
          <p:nvPr/>
        </p:nvSpPr>
        <p:spPr>
          <a:xfrm>
            <a:off x="10835640" y="2834640"/>
            <a:ext cx="740664" cy="182880"/>
          </a:xfrm>
          <a:prstGeom prst="rect">
            <a:avLst/>
          </a:prstGeom>
          <a:noFill/>
          <a:ln/>
        </p:spPr>
        <p:txBody>
          <a:bodyPr wrap="square" lIns="0" tIns="0" rIns="0" bIns="0" rtlCol="0" anchor="ctr"/>
          <a:lstStyle/>
          <a:p>
            <a:pPr algn="r" indent="0" marL="0">
              <a:buNone/>
            </a:pPr>
            <a:r>
              <a:rPr lang="en-US" sz="700" b="1" dirty="0">
                <a:solidFill>
                  <a:srgbClr val="12293A"/>
                </a:solidFill>
                <a:latin typeface="Poppins" pitchFamily="34" charset="0"/>
                <a:ea typeface="Poppins" pitchFamily="34" charset="-122"/>
                <a:cs typeface="Poppins" pitchFamily="34" charset="-120"/>
              </a:rPr>
              <a:t>$1,296/mo</a:t>
            </a:r>
            <a:endParaRPr lang="en-US" sz="700" dirty="0"/>
          </a:p>
        </p:txBody>
      </p:sp>
      <p:sp>
        <p:nvSpPr>
          <p:cNvPr id="159" name="Text 157"/>
          <p:cNvSpPr txBox="1"/>
          <p:nvPr/>
        </p:nvSpPr>
        <p:spPr>
          <a:xfrm>
            <a:off x="7470648" y="3035808"/>
            <a:ext cx="914400" cy="182880"/>
          </a:xfrm>
          <a:prstGeom prst="rect">
            <a:avLst/>
          </a:prstGeom>
          <a:noFill/>
          <a:ln/>
        </p:spPr>
        <p:txBody>
          <a:bodyPr wrap="square" lIns="0" tIns="0" rIns="0" bIns="0" rtlCol="0" anchor="ctr"/>
          <a:lstStyle/>
          <a:p>
            <a:pPr indent="0" marL="0">
              <a:buNone/>
            </a:pPr>
            <a:r>
              <a:rPr lang="en-US" sz="680" b="1" dirty="0">
                <a:solidFill>
                  <a:srgbClr val="5E7280"/>
                </a:solidFill>
                <a:latin typeface="Poppins" pitchFamily="34" charset="0"/>
                <a:ea typeface="Poppins" pitchFamily="34" charset="-122"/>
                <a:cs typeface="Poppins" pitchFamily="34" charset="-120"/>
              </a:rPr>
              <a:t>91–180 days</a:t>
            </a:r>
            <a:endParaRPr lang="en-US" sz="680" dirty="0"/>
          </a:p>
        </p:txBody>
      </p:sp>
      <p:sp>
        <p:nvSpPr>
          <p:cNvPr id="160" name="Shape 158"/>
          <p:cNvSpPr/>
          <p:nvPr/>
        </p:nvSpPr>
        <p:spPr>
          <a:xfrm>
            <a:off x="8458200" y="3076956"/>
            <a:ext cx="640080" cy="100584"/>
          </a:xfrm>
          <a:prstGeom prst="rect">
            <a:avLst/>
          </a:prstGeom>
          <a:solidFill>
            <a:srgbClr val="B4552D"/>
          </a:solidFill>
          <a:ln/>
        </p:spPr>
      </p:sp>
      <p:sp>
        <p:nvSpPr>
          <p:cNvPr id="161" name="Text 159"/>
          <p:cNvSpPr txBox="1"/>
          <p:nvPr/>
        </p:nvSpPr>
        <p:spPr>
          <a:xfrm>
            <a:off x="10122408" y="3035808"/>
            <a:ext cx="694944" cy="182880"/>
          </a:xfrm>
          <a:prstGeom prst="rect">
            <a:avLst/>
          </a:prstGeom>
          <a:noFill/>
          <a:ln/>
        </p:spPr>
        <p:txBody>
          <a:bodyPr wrap="square" lIns="0" tIns="0" rIns="0" bIns="0" rtlCol="0" anchor="ctr"/>
          <a:lstStyle/>
          <a:p>
            <a:pPr algn="r" indent="0" marL="0">
              <a:buNone/>
            </a:pPr>
            <a:r>
              <a:rPr lang="en-US" sz="680" dirty="0">
                <a:solidFill>
                  <a:srgbClr val="5E7280"/>
                </a:solidFill>
                <a:latin typeface="Poppins" pitchFamily="34" charset="0"/>
                <a:ea typeface="Poppins" pitchFamily="34" charset="-122"/>
                <a:cs typeface="Poppins" pitchFamily="34" charset="-120"/>
              </a:rPr>
              <a:t>4 deals</a:t>
            </a:r>
            <a:endParaRPr lang="en-US" sz="680" dirty="0"/>
          </a:p>
        </p:txBody>
      </p:sp>
      <p:sp>
        <p:nvSpPr>
          <p:cNvPr id="162" name="Text 160"/>
          <p:cNvSpPr txBox="1"/>
          <p:nvPr/>
        </p:nvSpPr>
        <p:spPr>
          <a:xfrm>
            <a:off x="10835640" y="3035808"/>
            <a:ext cx="740664" cy="182880"/>
          </a:xfrm>
          <a:prstGeom prst="rect">
            <a:avLst/>
          </a:prstGeom>
          <a:noFill/>
          <a:ln/>
        </p:spPr>
        <p:txBody>
          <a:bodyPr wrap="square" lIns="0" tIns="0" rIns="0" bIns="0" rtlCol="0" anchor="ctr"/>
          <a:lstStyle/>
          <a:p>
            <a:pPr algn="r" indent="0" marL="0">
              <a:buNone/>
            </a:pPr>
            <a:r>
              <a:rPr lang="en-US" sz="700" b="1" dirty="0">
                <a:solidFill>
                  <a:srgbClr val="12293A"/>
                </a:solidFill>
                <a:latin typeface="Poppins" pitchFamily="34" charset="0"/>
                <a:ea typeface="Poppins" pitchFamily="34" charset="-122"/>
                <a:cs typeface="Poppins" pitchFamily="34" charset="-120"/>
              </a:rPr>
              <a:t>$1,083/mo</a:t>
            </a:r>
            <a:endParaRPr lang="en-US" sz="700" dirty="0"/>
          </a:p>
        </p:txBody>
      </p:sp>
      <p:sp>
        <p:nvSpPr>
          <p:cNvPr id="163" name="Text 161"/>
          <p:cNvSpPr txBox="1"/>
          <p:nvPr/>
        </p:nvSpPr>
        <p:spPr>
          <a:xfrm>
            <a:off x="7470648" y="3236976"/>
            <a:ext cx="914400" cy="182880"/>
          </a:xfrm>
          <a:prstGeom prst="rect">
            <a:avLst/>
          </a:prstGeom>
          <a:noFill/>
          <a:ln/>
        </p:spPr>
        <p:txBody>
          <a:bodyPr wrap="square" lIns="0" tIns="0" rIns="0" bIns="0" rtlCol="0" anchor="ctr"/>
          <a:lstStyle/>
          <a:p>
            <a:pPr indent="0" marL="0">
              <a:buNone/>
            </a:pPr>
            <a:r>
              <a:rPr lang="en-US" sz="680" b="1" dirty="0">
                <a:solidFill>
                  <a:srgbClr val="5E7280"/>
                </a:solidFill>
                <a:latin typeface="Poppins" pitchFamily="34" charset="0"/>
                <a:ea typeface="Poppins" pitchFamily="34" charset="-122"/>
                <a:cs typeface="Poppins" pitchFamily="34" charset="-120"/>
              </a:rPr>
              <a:t>180+ days</a:t>
            </a:r>
            <a:endParaRPr lang="en-US" sz="680" dirty="0"/>
          </a:p>
        </p:txBody>
      </p:sp>
      <p:sp>
        <p:nvSpPr>
          <p:cNvPr id="164" name="Shape 162"/>
          <p:cNvSpPr/>
          <p:nvPr/>
        </p:nvSpPr>
        <p:spPr>
          <a:xfrm>
            <a:off x="8458200" y="3278124"/>
            <a:ext cx="480060" cy="100584"/>
          </a:xfrm>
          <a:prstGeom prst="rect">
            <a:avLst/>
          </a:prstGeom>
          <a:solidFill>
            <a:srgbClr val="7A3B21"/>
          </a:solidFill>
          <a:ln/>
        </p:spPr>
      </p:sp>
      <p:sp>
        <p:nvSpPr>
          <p:cNvPr id="165" name="Text 163"/>
          <p:cNvSpPr txBox="1"/>
          <p:nvPr/>
        </p:nvSpPr>
        <p:spPr>
          <a:xfrm>
            <a:off x="10122408" y="3236976"/>
            <a:ext cx="694944" cy="182880"/>
          </a:xfrm>
          <a:prstGeom prst="rect">
            <a:avLst/>
          </a:prstGeom>
          <a:noFill/>
          <a:ln/>
        </p:spPr>
        <p:txBody>
          <a:bodyPr wrap="square" lIns="0" tIns="0" rIns="0" bIns="0" rtlCol="0" anchor="ctr"/>
          <a:lstStyle/>
          <a:p>
            <a:pPr algn="r" indent="0" marL="0">
              <a:buNone/>
            </a:pPr>
            <a:r>
              <a:rPr lang="en-US" sz="680" dirty="0">
                <a:solidFill>
                  <a:srgbClr val="5E7280"/>
                </a:solidFill>
                <a:latin typeface="Poppins" pitchFamily="34" charset="0"/>
                <a:ea typeface="Poppins" pitchFamily="34" charset="-122"/>
                <a:cs typeface="Poppins" pitchFamily="34" charset="-120"/>
              </a:rPr>
              <a:t>3 deals</a:t>
            </a:r>
            <a:endParaRPr lang="en-US" sz="680" dirty="0"/>
          </a:p>
        </p:txBody>
      </p:sp>
      <p:sp>
        <p:nvSpPr>
          <p:cNvPr id="166" name="Text 164"/>
          <p:cNvSpPr txBox="1"/>
          <p:nvPr/>
        </p:nvSpPr>
        <p:spPr>
          <a:xfrm>
            <a:off x="10835640" y="3236976"/>
            <a:ext cx="740664" cy="182880"/>
          </a:xfrm>
          <a:prstGeom prst="rect">
            <a:avLst/>
          </a:prstGeom>
          <a:noFill/>
          <a:ln/>
        </p:spPr>
        <p:txBody>
          <a:bodyPr wrap="square" lIns="0" tIns="0" rIns="0" bIns="0" rtlCol="0" anchor="ctr"/>
          <a:lstStyle/>
          <a:p>
            <a:pPr algn="r" indent="0" marL="0">
              <a:buNone/>
            </a:pPr>
            <a:r>
              <a:rPr lang="en-US" sz="700" b="1" dirty="0">
                <a:solidFill>
                  <a:srgbClr val="12293A"/>
                </a:solidFill>
                <a:latin typeface="Poppins" pitchFamily="34" charset="0"/>
                <a:ea typeface="Poppins" pitchFamily="34" charset="-122"/>
                <a:cs typeface="Poppins" pitchFamily="34" charset="-120"/>
              </a:rPr>
              <a:t>$13,670/mo</a:t>
            </a:r>
            <a:endParaRPr lang="en-US" sz="700" dirty="0"/>
          </a:p>
        </p:txBody>
      </p:sp>
      <p:sp>
        <p:nvSpPr>
          <p:cNvPr id="167" name="Shape 165"/>
          <p:cNvSpPr/>
          <p:nvPr/>
        </p:nvSpPr>
        <p:spPr>
          <a:xfrm>
            <a:off x="7269480" y="3657600"/>
            <a:ext cx="4507992" cy="1298448"/>
          </a:xfrm>
          <a:prstGeom prst="roundRect">
            <a:avLst>
              <a:gd name="adj" fmla="val 4930"/>
            </a:avLst>
          </a:prstGeom>
          <a:solidFill>
            <a:srgbClr val="FFFFFF"/>
          </a:solidFill>
          <a:ln/>
          <a:effectLst>
            <a:outerShdw sx="100000" sy="100000" kx="0" ky="0" algn="bl" rotWithShape="0" blurRad="76200" dist="25400" dir="5400000">
              <a:srgbClr val="9AAAB5">
                <a:alpha val="35000"/>
              </a:srgbClr>
            </a:outerShdw>
          </a:effectLst>
        </p:spPr>
      </p:sp>
      <p:sp>
        <p:nvSpPr>
          <p:cNvPr id="168" name="Text 166"/>
          <p:cNvSpPr txBox="1"/>
          <p:nvPr/>
        </p:nvSpPr>
        <p:spPr>
          <a:xfrm>
            <a:off x="7470648" y="3767328"/>
            <a:ext cx="4023360"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ONBOARDING PIPELINE — OPEN</a:t>
            </a:r>
            <a:endParaRPr lang="en-US" sz="1200" dirty="0"/>
          </a:p>
        </p:txBody>
      </p:sp>
      <p:sp>
        <p:nvSpPr>
          <p:cNvPr id="169" name="Shape 167"/>
          <p:cNvSpPr/>
          <p:nvPr/>
        </p:nvSpPr>
        <p:spPr>
          <a:xfrm>
            <a:off x="7470648" y="4078224"/>
            <a:ext cx="1774743" cy="310896"/>
          </a:xfrm>
          <a:prstGeom prst="rect">
            <a:avLst/>
          </a:prstGeom>
          <a:solidFill>
            <a:srgbClr val="1C5765"/>
          </a:solidFill>
          <a:ln/>
        </p:spPr>
      </p:sp>
      <p:sp>
        <p:nvSpPr>
          <p:cNvPr id="170" name="Text 168"/>
          <p:cNvSpPr txBox="1"/>
          <p:nvPr/>
        </p:nvSpPr>
        <p:spPr>
          <a:xfrm>
            <a:off x="7470648" y="4078224"/>
            <a:ext cx="1774743"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Poppins" pitchFamily="34" charset="0"/>
                <a:ea typeface="Poppins" pitchFamily="34" charset="-122"/>
                <a:cs typeface="Poppins" pitchFamily="34" charset="-120"/>
              </a:rPr>
              <a:t>30</a:t>
            </a:r>
            <a:endParaRPr lang="en-US" sz="1100" dirty="0"/>
          </a:p>
        </p:txBody>
      </p:sp>
      <p:sp>
        <p:nvSpPr>
          <p:cNvPr id="171" name="Text 169"/>
          <p:cNvSpPr txBox="1"/>
          <p:nvPr/>
        </p:nvSpPr>
        <p:spPr>
          <a:xfrm>
            <a:off x="7342632" y="4425696"/>
            <a:ext cx="2030775" cy="182880"/>
          </a:xfrm>
          <a:prstGeom prst="rect">
            <a:avLst/>
          </a:prstGeom>
          <a:noFill/>
          <a:ln/>
        </p:spPr>
        <p:txBody>
          <a:bodyPr wrap="square" lIns="0" tIns="0" rIns="0" bIns="0" rtlCol="0" anchor="ctr"/>
          <a:lstStyle/>
          <a:p>
            <a:pPr algn="ctr" indent="0" marL="0">
              <a:buNone/>
            </a:pPr>
            <a:r>
              <a:rPr lang="en-US" sz="550" b="1" dirty="0">
                <a:solidFill>
                  <a:srgbClr val="5E7280"/>
                </a:solidFill>
                <a:latin typeface="Poppins" pitchFamily="34" charset="0"/>
                <a:ea typeface="Poppins" pitchFamily="34" charset="-122"/>
                <a:cs typeface="Poppins" pitchFamily="34" charset="-120"/>
              </a:rPr>
              <a:t>DISCOVERY</a:t>
            </a:r>
            <a:endParaRPr lang="en-US" sz="550" dirty="0"/>
          </a:p>
        </p:txBody>
      </p:sp>
      <p:sp>
        <p:nvSpPr>
          <p:cNvPr id="172" name="Shape 170"/>
          <p:cNvSpPr/>
          <p:nvPr/>
        </p:nvSpPr>
        <p:spPr>
          <a:xfrm>
            <a:off x="9281967" y="4078224"/>
            <a:ext cx="1835120" cy="310896"/>
          </a:xfrm>
          <a:prstGeom prst="rect">
            <a:avLst/>
          </a:prstGeom>
          <a:solidFill>
            <a:srgbClr val="2C8394"/>
          </a:solidFill>
          <a:ln/>
        </p:spPr>
      </p:sp>
      <p:sp>
        <p:nvSpPr>
          <p:cNvPr id="173" name="Text 171"/>
          <p:cNvSpPr txBox="1"/>
          <p:nvPr/>
        </p:nvSpPr>
        <p:spPr>
          <a:xfrm>
            <a:off x="9281967" y="4078224"/>
            <a:ext cx="1835120"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Poppins" pitchFamily="34" charset="0"/>
                <a:ea typeface="Poppins" pitchFamily="34" charset="-122"/>
                <a:cs typeface="Poppins" pitchFamily="34" charset="-120"/>
              </a:rPr>
              <a:t>31</a:t>
            </a:r>
            <a:endParaRPr lang="en-US" sz="1100" dirty="0"/>
          </a:p>
        </p:txBody>
      </p:sp>
      <p:sp>
        <p:nvSpPr>
          <p:cNvPr id="174" name="Text 172"/>
          <p:cNvSpPr txBox="1"/>
          <p:nvPr/>
        </p:nvSpPr>
        <p:spPr>
          <a:xfrm>
            <a:off x="9153951" y="4425696"/>
            <a:ext cx="2091152" cy="182880"/>
          </a:xfrm>
          <a:prstGeom prst="rect">
            <a:avLst/>
          </a:prstGeom>
          <a:noFill/>
          <a:ln/>
        </p:spPr>
        <p:txBody>
          <a:bodyPr wrap="square" lIns="0" tIns="0" rIns="0" bIns="0" rtlCol="0" anchor="ctr"/>
          <a:lstStyle/>
          <a:p>
            <a:pPr algn="ctr" indent="0" marL="0">
              <a:buNone/>
            </a:pPr>
            <a:r>
              <a:rPr lang="en-US" sz="550" b="1" dirty="0">
                <a:solidFill>
                  <a:srgbClr val="5E7280"/>
                </a:solidFill>
                <a:latin typeface="Poppins" pitchFamily="34" charset="0"/>
                <a:ea typeface="Poppins" pitchFamily="34" charset="-122"/>
                <a:cs typeface="Poppins" pitchFamily="34" charset="-120"/>
              </a:rPr>
              <a:t>DB BUILD</a:t>
            </a:r>
            <a:endParaRPr lang="en-US" sz="550" dirty="0"/>
          </a:p>
        </p:txBody>
      </p:sp>
      <p:sp>
        <p:nvSpPr>
          <p:cNvPr id="175" name="Shape 173"/>
          <p:cNvSpPr/>
          <p:nvPr/>
        </p:nvSpPr>
        <p:spPr>
          <a:xfrm>
            <a:off x="11153663" y="4078224"/>
            <a:ext cx="386065" cy="310896"/>
          </a:xfrm>
          <a:prstGeom prst="rect">
            <a:avLst/>
          </a:prstGeom>
          <a:solidFill>
            <a:srgbClr val="6FAEBB"/>
          </a:solidFill>
          <a:ln/>
        </p:spPr>
      </p:sp>
      <p:sp>
        <p:nvSpPr>
          <p:cNvPr id="176" name="Text 174"/>
          <p:cNvSpPr txBox="1"/>
          <p:nvPr/>
        </p:nvSpPr>
        <p:spPr>
          <a:xfrm>
            <a:off x="11153663" y="4078224"/>
            <a:ext cx="386065"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Poppins" pitchFamily="34" charset="0"/>
                <a:ea typeface="Poppins" pitchFamily="34" charset="-122"/>
                <a:cs typeface="Poppins" pitchFamily="34" charset="-120"/>
              </a:rPr>
              <a:t>7</a:t>
            </a:r>
            <a:endParaRPr lang="en-US" sz="1100" dirty="0"/>
          </a:p>
        </p:txBody>
      </p:sp>
      <p:sp>
        <p:nvSpPr>
          <p:cNvPr id="177" name="Text 175"/>
          <p:cNvSpPr txBox="1"/>
          <p:nvPr/>
        </p:nvSpPr>
        <p:spPr>
          <a:xfrm>
            <a:off x="11025647" y="4425696"/>
            <a:ext cx="642097" cy="182880"/>
          </a:xfrm>
          <a:prstGeom prst="rect">
            <a:avLst/>
          </a:prstGeom>
          <a:noFill/>
          <a:ln/>
        </p:spPr>
        <p:txBody>
          <a:bodyPr wrap="square" lIns="0" tIns="0" rIns="0" bIns="0" rtlCol="0" anchor="ctr"/>
          <a:lstStyle/>
          <a:p>
            <a:pPr algn="ctr" indent="0" marL="0">
              <a:buNone/>
            </a:pPr>
            <a:r>
              <a:rPr lang="en-US" sz="550" b="1" dirty="0">
                <a:solidFill>
                  <a:srgbClr val="5E7280"/>
                </a:solidFill>
                <a:latin typeface="Poppins" pitchFamily="34" charset="0"/>
                <a:ea typeface="Poppins" pitchFamily="34" charset="-122"/>
                <a:cs typeface="Poppins" pitchFamily="34" charset="-120"/>
              </a:rPr>
              <a:t>READY FOR GO LIVE</a:t>
            </a:r>
            <a:endParaRPr lang="en-US" sz="550" dirty="0"/>
          </a:p>
        </p:txBody>
      </p:sp>
      <p:sp>
        <p:nvSpPr>
          <p:cNvPr id="178" name="Text 176"/>
          <p:cNvSpPr txBox="1"/>
          <p:nvPr/>
        </p:nvSpPr>
        <p:spPr>
          <a:xfrm>
            <a:off x="7470648" y="4645152"/>
            <a:ext cx="4105656" cy="256032"/>
          </a:xfrm>
          <a:prstGeom prst="rect">
            <a:avLst/>
          </a:prstGeom>
          <a:noFill/>
          <a:ln/>
        </p:spPr>
        <p:txBody>
          <a:bodyPr wrap="square" lIns="0" tIns="0" rIns="0" bIns="0" rtlCol="0" anchor="t"/>
          <a:lstStyle/>
          <a:p>
            <a:pPr indent="0" marL="0">
              <a:buNone/>
            </a:pPr>
            <a:r>
              <a:rPr lang="en-US" sz="620" dirty="0">
                <a:solidFill>
                  <a:srgbClr val="8FA1AC"/>
                </a:solidFill>
                <a:latin typeface="Poppins" pitchFamily="34" charset="0"/>
                <a:ea typeface="Poppins" pitchFamily="34" charset="-122"/>
                <a:cs typeface="Poppins" pitchFamily="34" charset="-120"/>
              </a:rPr>
              <a:t>68 open, up from 62 a fortnight ago. One carries a go-live date, so none of this can be forecast.</a:t>
            </a:r>
            <a:endParaRPr lang="en-US" sz="620" dirty="0"/>
          </a:p>
        </p:txBody>
      </p:sp>
      <p:sp>
        <p:nvSpPr>
          <p:cNvPr id="179" name="Shape 177"/>
          <p:cNvSpPr/>
          <p:nvPr/>
        </p:nvSpPr>
        <p:spPr>
          <a:xfrm>
            <a:off x="7269480" y="5074920"/>
            <a:ext cx="4507992" cy="1234440"/>
          </a:xfrm>
          <a:prstGeom prst="roundRect">
            <a:avLst>
              <a:gd name="adj" fmla="val 5185"/>
            </a:avLst>
          </a:prstGeom>
          <a:solidFill>
            <a:srgbClr val="FFFFFF"/>
          </a:solidFill>
          <a:ln/>
          <a:effectLst>
            <a:outerShdw sx="100000" sy="100000" kx="0" ky="0" algn="bl" rotWithShape="0" blurRad="76200" dist="25400" dir="5400000">
              <a:srgbClr val="9AAAB5">
                <a:alpha val="35000"/>
              </a:srgbClr>
            </a:outerShdw>
          </a:effectLst>
        </p:spPr>
      </p:sp>
      <p:sp>
        <p:nvSpPr>
          <p:cNvPr id="180" name="Text 178"/>
          <p:cNvSpPr txBox="1"/>
          <p:nvPr/>
        </p:nvSpPr>
        <p:spPr>
          <a:xfrm>
            <a:off x="7470648" y="5184648"/>
            <a:ext cx="4142232"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AI SUMMARY</a:t>
            </a:r>
            <a:endParaRPr lang="en-US" sz="1200" dirty="0"/>
          </a:p>
        </p:txBody>
      </p:sp>
      <p:sp>
        <p:nvSpPr>
          <p:cNvPr id="181" name="Text 179"/>
          <p:cNvSpPr txBox="1"/>
          <p:nvPr/>
        </p:nvSpPr>
        <p:spPr>
          <a:xfrm>
            <a:off x="7470648" y="5495544"/>
            <a:ext cx="4096512" cy="685800"/>
          </a:xfrm>
          <a:prstGeom prst="rect">
            <a:avLst/>
          </a:prstGeom>
          <a:noFill/>
          <a:ln/>
        </p:spPr>
        <p:txBody>
          <a:bodyPr wrap="square" lIns="0" tIns="0" rIns="0" bIns="0" rtlCol="0" anchor="t"/>
          <a:lstStyle/>
          <a:p>
            <a:pPr indent="0" marL="0">
              <a:buNone/>
            </a:pPr>
            <a:r>
              <a:rPr lang="en-US" sz="900" b="1" dirty="0">
                <a:solidFill>
                  <a:srgbClr val="B4552D"/>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Three deals over six months old carry 68% of the value.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Oscars Group ($12,880/mo, 201 days), The Berrigan ($475, 209) and Riverton ($315, 184). Oscars alone is $155k of the $240k.</a:t>
            </a:r>
            <a:endParaRPr lang="en-US" sz="900" dirty="0"/>
          </a:p>
          <a:p>
            <a:pPr indent="0" marL="0">
              <a:buNone/>
            </a:pPr>
            <a:r>
              <a:rPr lang="en-US" sz="900" b="1" dirty="0">
                <a:solidFill>
                  <a:srgbClr val="C88A2E"/>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Strip those three and the rest is $6,368/mo across 17 venues, median 31 days.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A normal delivery queue — but ten of the seventeen closed inside the last month, so it fills faster than it clears.</a:t>
            </a:r>
            <a:endParaRPr lang="en-US" sz="900" dirty="0"/>
          </a:p>
        </p:txBody>
      </p:sp>
      <p:sp>
        <p:nvSpPr>
          <p:cNvPr id="182" name="Text 180"/>
          <p:cNvSpPr txBox="1"/>
          <p:nvPr/>
        </p:nvSpPr>
        <p:spPr>
          <a:xfrm>
            <a:off x="411480" y="6510528"/>
            <a:ext cx="7589520" cy="256032"/>
          </a:xfrm>
          <a:prstGeom prst="rect">
            <a:avLst/>
          </a:prstGeom>
          <a:noFill/>
          <a:ln/>
        </p:spPr>
        <p:txBody>
          <a:bodyPr wrap="square" lIns="0" tIns="0" rIns="0" bIns="0" rtlCol="0" anchor="ctr"/>
          <a:lstStyle/>
          <a:p>
            <a:pPr indent="0" marL="0">
              <a:buNone/>
            </a:pPr>
            <a:r>
              <a:rPr lang="en-US" sz="750" dirty="0">
                <a:solidFill>
                  <a:srgbClr val="8FA1AC"/>
                </a:solidFill>
                <a:latin typeface="Poppins" pitchFamily="34" charset="0"/>
                <a:ea typeface="Poppins" pitchFamily="34" charset="-122"/>
                <a:cs typeface="Poppins" pitchFamily="34" charset="-120"/>
              </a:rPr>
              <a:t>Not yet billing = won with recurring revenue in 2026, no row on the register. A live venue is billing.</a:t>
            </a:r>
            <a:endParaRPr lang="en-US" sz="750" dirty="0"/>
          </a:p>
        </p:txBody>
      </p:sp>
      <p:sp>
        <p:nvSpPr>
          <p:cNvPr id="183" name="Shape 181"/>
          <p:cNvSpPr/>
          <p:nvPr/>
        </p:nvSpPr>
        <p:spPr>
          <a:xfrm>
            <a:off x="5925312" y="6510528"/>
            <a:ext cx="5852160" cy="256032"/>
          </a:xfrm>
          <a:prstGeom prst="roundRect">
            <a:avLst>
              <a:gd name="adj" fmla="val 46429"/>
            </a:avLst>
          </a:prstGeom>
          <a:solidFill>
            <a:srgbClr val="12293A"/>
          </a:solidFill>
          <a:ln/>
        </p:spPr>
      </p:sp>
      <p:sp>
        <p:nvSpPr>
          <p:cNvPr id="184" name="Text 182"/>
          <p:cNvSpPr txBox="1"/>
          <p:nvPr/>
        </p:nvSpPr>
        <p:spPr>
          <a:xfrm>
            <a:off x="5925312" y="6510528"/>
            <a:ext cx="5852160" cy="256032"/>
          </a:xfrm>
          <a:prstGeom prst="rect">
            <a:avLst/>
          </a:prstGeom>
          <a:noFill/>
          <a:ln/>
        </p:spPr>
        <p:txBody>
          <a:bodyPr wrap="square" lIns="0" tIns="0" rIns="0" bIns="0" rtlCol="0" anchor="ctr"/>
          <a:lstStyle/>
          <a:p>
            <a:pPr algn="ctr" indent="0" marL="0">
              <a:buNone/>
            </a:pPr>
            <a:r>
              <a:rPr lang="en-US" sz="700" b="1" dirty="0">
                <a:solidFill>
                  <a:srgbClr val="FFFFFF"/>
                </a:solidFill>
                <a:latin typeface="Poppins" pitchFamily="34" charset="0"/>
                <a:ea typeface="Poppins" pitchFamily="34" charset="-122"/>
                <a:cs typeface="Poppins" pitchFamily="34" charset="-120"/>
              </a:rPr>
              <a:t>Source: HubSpot closed-won deals (total_software_cost) vs MRR movement register (live, 19 Oct) · as at 18 Oct</a:t>
            </a:r>
            <a:endParaRPr lang="en-US" sz="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2F6F8"/>
        </a:solidFill>
      </p:bgPr>
    </p:bg>
    <p:spTree>
      <p:nvGrpSpPr>
        <p:cNvPr id="1" name=""/>
        <p:cNvGrpSpPr/>
        <p:nvPr/>
      </p:nvGrpSpPr>
      <p:grpSpPr>
        <a:xfrm>
          <a:off x="0" y="0"/>
          <a:ext cx="0" cy="0"/>
          <a:chOff x="0" y="0"/>
          <a:chExt cx="0" cy="0"/>
        </a:xfrm>
      </p:grpSpPr>
      <p:sp>
        <p:nvSpPr>
          <p:cNvPr id="2" name="Shape 0"/>
          <p:cNvSpPr/>
          <p:nvPr/>
        </p:nvSpPr>
        <p:spPr>
          <a:xfrm>
            <a:off x="0" y="0"/>
            <a:ext cx="12188952" cy="841248"/>
          </a:xfrm>
          <a:prstGeom prst="rect">
            <a:avLst/>
          </a:prstGeom>
          <a:solidFill>
            <a:srgbClr val="12293A"/>
          </a:solidFill>
          <a:ln/>
        </p:spPr>
      </p:sp>
      <p:sp>
        <p:nvSpPr>
          <p:cNvPr id="3" name="Shape 1"/>
          <p:cNvSpPr/>
          <p:nvPr/>
        </p:nvSpPr>
        <p:spPr>
          <a:xfrm>
            <a:off x="384048" y="155448"/>
            <a:ext cx="731520" cy="530352"/>
          </a:xfrm>
          <a:prstGeom prst="roundRect">
            <a:avLst>
              <a:gd name="adj" fmla="val 15517"/>
            </a:avLst>
          </a:prstGeom>
          <a:solidFill>
            <a:srgbClr val="FFFFFF"/>
          </a:solidFill>
          <a:ln/>
        </p:spPr>
      </p:sp>
      <p:sp>
        <p:nvSpPr>
          <p:cNvPr id="4" name="Text 2"/>
          <p:cNvSpPr txBox="1"/>
          <p:nvPr/>
        </p:nvSpPr>
        <p:spPr>
          <a:xfrm>
            <a:off x="384048" y="155448"/>
            <a:ext cx="731520" cy="530352"/>
          </a:xfrm>
          <a:prstGeom prst="rect">
            <a:avLst/>
          </a:prstGeom>
          <a:noFill/>
          <a:ln/>
        </p:spPr>
        <p:txBody>
          <a:bodyPr wrap="square" lIns="0" tIns="0" rIns="0" bIns="0" rtlCol="0" anchor="ctr"/>
          <a:lstStyle/>
          <a:p>
            <a:pPr algn="ctr" indent="0" marL="0">
              <a:buNone/>
            </a:pPr>
            <a:r>
              <a:rPr lang="en-US" sz="1500" b="1" dirty="0">
                <a:solidFill>
                  <a:srgbClr val="12293A"/>
                </a:solidFill>
                <a:latin typeface="Poppins" pitchFamily="34" charset="0"/>
                <a:ea typeface="Poppins" pitchFamily="34" charset="-122"/>
                <a:cs typeface="Poppins" pitchFamily="34" charset="-120"/>
              </a:rPr>
              <a:t>H&amp;L</a:t>
            </a:r>
            <a:endParaRPr lang="en-US" sz="1500" dirty="0"/>
          </a:p>
        </p:txBody>
      </p:sp>
      <p:sp>
        <p:nvSpPr>
          <p:cNvPr id="5" name="Text 3"/>
          <p:cNvSpPr txBox="1"/>
          <p:nvPr/>
        </p:nvSpPr>
        <p:spPr>
          <a:xfrm>
            <a:off x="1298448" y="54864"/>
            <a:ext cx="7223760" cy="475488"/>
          </a:xfrm>
          <a:prstGeom prst="rect">
            <a:avLst/>
          </a:prstGeom>
          <a:noFill/>
          <a:ln/>
        </p:spPr>
        <p:txBody>
          <a:bodyPr wrap="square" lIns="0" tIns="0" rIns="0" bIns="0" rtlCol="0" anchor="ctr"/>
          <a:lstStyle/>
          <a:p>
            <a:pPr indent="0" marL="0">
              <a:buNone/>
            </a:pPr>
            <a:r>
              <a:rPr lang="en-US" sz="2300" b="1" dirty="0">
                <a:solidFill>
                  <a:srgbClr val="FFFFFF"/>
                </a:solidFill>
                <a:latin typeface="Poppins" pitchFamily="34" charset="0"/>
                <a:ea typeface="Poppins" pitchFamily="34" charset="-122"/>
                <a:cs typeface="Poppins" pitchFamily="34" charset="-120"/>
              </a:rPr>
              <a:t>Won vs Invoiced &amp; Retention</a:t>
            </a:r>
            <a:endParaRPr lang="en-US" sz="2300" dirty="0"/>
          </a:p>
        </p:txBody>
      </p:sp>
      <p:sp>
        <p:nvSpPr>
          <p:cNvPr id="6" name="Text 4"/>
          <p:cNvSpPr txBox="1"/>
          <p:nvPr/>
        </p:nvSpPr>
        <p:spPr>
          <a:xfrm>
            <a:off x="1316736" y="512064"/>
            <a:ext cx="7040880" cy="256032"/>
          </a:xfrm>
          <a:prstGeom prst="rect">
            <a:avLst/>
          </a:prstGeom>
          <a:noFill/>
          <a:ln/>
        </p:spPr>
        <p:txBody>
          <a:bodyPr wrap="square" lIns="0" tIns="0" rIns="0" bIns="0" rtlCol="0" anchor="ctr"/>
          <a:lstStyle/>
          <a:p>
            <a:pPr indent="0" marL="0">
              <a:buNone/>
            </a:pPr>
            <a:r>
              <a:rPr lang="en-US" sz="1050" dirty="0">
                <a:solidFill>
                  <a:srgbClr val="6FAEBB"/>
                </a:solidFill>
                <a:latin typeface="Poppins" pitchFamily="34" charset="0"/>
                <a:ea typeface="Poppins" pitchFamily="34" charset="-122"/>
                <a:cs typeface="Poppins" pitchFamily="34" charset="-120"/>
              </a:rPr>
              <a:t>Sales, Professional Services &amp; Finance</a:t>
            </a:r>
            <a:endParaRPr lang="en-US" sz="1050" dirty="0"/>
          </a:p>
        </p:txBody>
      </p:sp>
      <p:sp>
        <p:nvSpPr>
          <p:cNvPr id="7" name="Shape 5"/>
          <p:cNvSpPr/>
          <p:nvPr/>
        </p:nvSpPr>
        <p:spPr>
          <a:xfrm>
            <a:off x="8686800" y="246888"/>
            <a:ext cx="1965960" cy="347472"/>
          </a:xfrm>
          <a:prstGeom prst="roundRect">
            <a:avLst>
              <a:gd name="adj" fmla="val 50000"/>
            </a:avLst>
          </a:prstGeom>
          <a:solidFill>
            <a:srgbClr val="3D8F5F"/>
          </a:solidFill>
          <a:ln w="9525">
            <a:solidFill>
              <a:srgbClr val="FFFFFF">
                <a:alpha val="45000"/>
              </a:srgbClr>
            </a:solidFill>
            <a:prstDash val="solid"/>
          </a:ln>
        </p:spPr>
      </p:sp>
      <p:sp>
        <p:nvSpPr>
          <p:cNvPr id="8" name="Text 6"/>
          <p:cNvSpPr txBox="1"/>
          <p:nvPr/>
        </p:nvSpPr>
        <p:spPr>
          <a:xfrm>
            <a:off x="8686800" y="246888"/>
            <a:ext cx="1965960" cy="347472"/>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2  ·  DID WE DELIVER?</a:t>
            </a:r>
            <a:endParaRPr lang="en-US" sz="850" dirty="0"/>
          </a:p>
        </p:txBody>
      </p:sp>
      <p:sp>
        <p:nvSpPr>
          <p:cNvPr id="9" name="Shape 7"/>
          <p:cNvSpPr/>
          <p:nvPr/>
        </p:nvSpPr>
        <p:spPr>
          <a:xfrm>
            <a:off x="10872216" y="0"/>
            <a:ext cx="841248" cy="841248"/>
          </a:xfrm>
          <a:prstGeom prst="ellipse">
            <a:avLst/>
          </a:prstGeom>
          <a:solidFill>
            <a:srgbClr val="1C5765"/>
          </a:solidFill>
          <a:ln/>
        </p:spPr>
      </p:sp>
      <p:sp>
        <p:nvSpPr>
          <p:cNvPr id="10" name="Shape 8"/>
          <p:cNvSpPr/>
          <p:nvPr/>
        </p:nvSpPr>
        <p:spPr>
          <a:xfrm>
            <a:off x="10968228" y="96012"/>
            <a:ext cx="649224" cy="649224"/>
          </a:xfrm>
          <a:prstGeom prst="ellipse">
            <a:avLst/>
          </a:prstGeom>
          <a:solidFill>
            <a:srgbClr val="2C8394"/>
          </a:solidFill>
          <a:ln/>
        </p:spPr>
      </p:sp>
      <p:sp>
        <p:nvSpPr>
          <p:cNvPr id="11" name="Shape 9"/>
          <p:cNvSpPr/>
          <p:nvPr/>
        </p:nvSpPr>
        <p:spPr>
          <a:xfrm>
            <a:off x="11064240" y="192024"/>
            <a:ext cx="457200" cy="457200"/>
          </a:xfrm>
          <a:prstGeom prst="ellipse">
            <a:avLst/>
          </a:prstGeom>
          <a:solidFill>
            <a:srgbClr val="6FAEBB"/>
          </a:solidFill>
          <a:ln/>
        </p:spPr>
      </p:sp>
      <p:sp>
        <p:nvSpPr>
          <p:cNvPr id="12" name="Shape 10"/>
          <p:cNvSpPr/>
          <p:nvPr/>
        </p:nvSpPr>
        <p:spPr>
          <a:xfrm>
            <a:off x="11160252" y="288036"/>
            <a:ext cx="265176" cy="265176"/>
          </a:xfrm>
          <a:prstGeom prst="ellipse">
            <a:avLst/>
          </a:prstGeom>
          <a:solidFill>
            <a:srgbClr val="E4F1F4"/>
          </a:solidFill>
          <a:ln/>
        </p:spPr>
      </p:sp>
      <p:sp>
        <p:nvSpPr>
          <p:cNvPr id="13" name="Shape 11"/>
          <p:cNvSpPr/>
          <p:nvPr/>
        </p:nvSpPr>
        <p:spPr>
          <a:xfrm>
            <a:off x="411480" y="1005840"/>
            <a:ext cx="6720840" cy="2880360"/>
          </a:xfrm>
          <a:prstGeom prst="roundRect">
            <a:avLst>
              <a:gd name="adj" fmla="val 2222"/>
            </a:avLst>
          </a:prstGeom>
          <a:solidFill>
            <a:srgbClr val="FFFFFF"/>
          </a:solidFill>
          <a:ln/>
          <a:effectLst>
            <a:outerShdw sx="100000" sy="100000" kx="0" ky="0" algn="bl" rotWithShape="0" blurRad="76200" dist="25400" dir="5400000">
              <a:srgbClr val="9AAAB5">
                <a:alpha val="35000"/>
              </a:srgbClr>
            </a:outerShdw>
          </a:effectLst>
        </p:spPr>
      </p:sp>
      <p:sp>
        <p:nvSpPr>
          <p:cNvPr id="14" name="Text 12"/>
          <p:cNvSpPr txBox="1"/>
          <p:nvPr/>
        </p:nvSpPr>
        <p:spPr>
          <a:xfrm>
            <a:off x="612648" y="1097280"/>
            <a:ext cx="6318504" cy="219456"/>
          </a:xfrm>
          <a:prstGeom prst="rect">
            <a:avLst/>
          </a:prstGeom>
          <a:noFill/>
          <a:ln/>
        </p:spPr>
        <p:txBody>
          <a:bodyPr wrap="square" lIns="0" tIns="0" rIns="0" bIns="0" rtlCol="0" anchor="ctr"/>
          <a:lstStyle/>
          <a:p>
            <a:pPr indent="0" marL="0">
              <a:buNone/>
            </a:pPr>
            <a:r>
              <a:rPr lang="en-US" sz="1150" b="1" dirty="0">
                <a:solidFill>
                  <a:srgbClr val="2C8394"/>
                </a:solidFill>
                <a:latin typeface="Poppins" pitchFamily="34" charset="0"/>
                <a:ea typeface="Poppins" pitchFamily="34" charset="-122"/>
                <a:cs typeface="Poppins" pitchFamily="34" charset="-120"/>
              </a:rPr>
              <a:t>NEW MRR — WON VS INVOICED BY MONTH · 2026   </a:t>
            </a:r>
            <a:pPr indent="0" marL="0">
              <a:buNone/>
            </a:pPr>
            <a:r>
              <a:rPr lang="en-US" sz="680" dirty="0">
                <a:solidFill>
                  <a:srgbClr val="3D8F5F"/>
                </a:solidFill>
                <a:latin typeface="Poppins" pitchFamily="34" charset="0"/>
                <a:ea typeface="Poppins" pitchFamily="34" charset="-122"/>
                <a:cs typeface="Poppins" pitchFamily="34" charset="-120"/>
              </a:rPr>
              <a:t>both series live</a:t>
            </a:r>
            <a:endParaRPr lang="en-US" sz="1150" dirty="0"/>
          </a:p>
        </p:txBody>
      </p:sp>
      <p:graphicFrame>
        <p:nvGraphicFramePr>
          <p:cNvPr id="15" name="Chart 0" descr=""/>
          <p:cNvGraphicFramePr/>
          <p:nvPr/>
        </p:nvGraphicFramePr>
        <p:xfrm>
          <a:off x="594360" y="1335024"/>
          <a:ext cx="6318504" cy="2167128"/>
        </p:xfrm>
        <a:graphic xmlns:a="http://schemas.openxmlformats.org/drawingml/2006/main">
          <a:graphicData uri="http://schemas.openxmlformats.org/drawingml/2006/chart">
            <c:chart xmlns:c="http://schemas.openxmlformats.org/drawingml/2006/chart" r:id="rId1"/>
          </a:graphicData>
        </a:graphic>
      </p:graphicFrame>
      <p:sp>
        <p:nvSpPr>
          <p:cNvPr id="16" name="Text 13"/>
          <p:cNvSpPr txBox="1"/>
          <p:nvPr/>
        </p:nvSpPr>
        <p:spPr>
          <a:xfrm>
            <a:off x="612648" y="3538728"/>
            <a:ext cx="6318504" cy="292608"/>
          </a:xfrm>
          <a:prstGeom prst="rect">
            <a:avLst/>
          </a:prstGeom>
          <a:noFill/>
          <a:ln/>
        </p:spPr>
        <p:txBody>
          <a:bodyPr wrap="square" lIns="0" tIns="0" rIns="0" bIns="0" rtlCol="0" anchor="t"/>
          <a:lstStyle/>
          <a:p>
            <a:pPr indent="0" marL="0">
              <a:buNone/>
            </a:pPr>
            <a:endParaRPr lang="en-US" sz="620" dirty="0"/>
          </a:p>
        </p:txBody>
      </p:sp>
      <p:sp>
        <p:nvSpPr>
          <p:cNvPr id="17" name="Shape 14"/>
          <p:cNvSpPr/>
          <p:nvPr/>
        </p:nvSpPr>
        <p:spPr>
          <a:xfrm>
            <a:off x="7269480" y="1005840"/>
            <a:ext cx="4507992" cy="896112"/>
          </a:xfrm>
          <a:prstGeom prst="roundRect">
            <a:avLst>
              <a:gd name="adj" fmla="val 7143"/>
            </a:avLst>
          </a:prstGeom>
          <a:solidFill>
            <a:srgbClr val="FFFFFF"/>
          </a:solidFill>
          <a:ln/>
          <a:effectLst>
            <a:outerShdw sx="100000" sy="100000" kx="0" ky="0" algn="bl" rotWithShape="0" blurRad="76200" dist="25400" dir="5400000">
              <a:srgbClr val="9AAAB5">
                <a:alpha val="35000"/>
              </a:srgbClr>
            </a:outerShdw>
          </a:effectLst>
        </p:spPr>
      </p:sp>
      <p:sp>
        <p:nvSpPr>
          <p:cNvPr id="18" name="Text 15"/>
          <p:cNvSpPr txBox="1"/>
          <p:nvPr/>
        </p:nvSpPr>
        <p:spPr>
          <a:xfrm>
            <a:off x="7434072" y="1097280"/>
            <a:ext cx="4178808"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AWAITING INVOICE — ARR</a:t>
            </a:r>
            <a:endParaRPr lang="en-US" sz="950" dirty="0"/>
          </a:p>
        </p:txBody>
      </p:sp>
      <p:sp>
        <p:nvSpPr>
          <p:cNvPr id="19" name="Text 16"/>
          <p:cNvSpPr txBox="1"/>
          <p:nvPr/>
        </p:nvSpPr>
        <p:spPr>
          <a:xfrm>
            <a:off x="7415784" y="1280160"/>
            <a:ext cx="4215384" cy="292608"/>
          </a:xfrm>
          <a:prstGeom prst="rect">
            <a:avLst/>
          </a:prstGeom>
          <a:noFill/>
          <a:ln/>
        </p:spPr>
        <p:txBody>
          <a:bodyPr wrap="square" lIns="0" tIns="0" rIns="0" bIns="0" rtlCol="0" anchor="ctr"/>
          <a:lstStyle/>
          <a:p>
            <a:pPr indent="0" marL="0">
              <a:buNone/>
            </a:pPr>
            <a:r>
              <a:rPr lang="en-US" sz="2000" b="1" dirty="0">
                <a:solidFill>
                  <a:srgbClr val="C88A2E"/>
                </a:solidFill>
                <a:latin typeface="Poppins" pitchFamily="34" charset="0"/>
                <a:ea typeface="Poppins" pitchFamily="34" charset="-122"/>
                <a:cs typeface="Poppins" pitchFamily="34" charset="-120"/>
              </a:rPr>
              <a:t>$240k</a:t>
            </a:r>
            <a:endParaRPr lang="en-US" sz="2000" dirty="0"/>
          </a:p>
        </p:txBody>
      </p:sp>
      <p:sp>
        <p:nvSpPr>
          <p:cNvPr id="20" name="Text 17"/>
          <p:cNvSpPr txBox="1"/>
          <p:nvPr/>
        </p:nvSpPr>
        <p:spPr>
          <a:xfrm>
            <a:off x="7434072" y="1609344"/>
            <a:ext cx="4178808" cy="23774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20 of the 95 deals won with software MRR in 2026 have no row on the register · Oscars Group is $155k of it</a:t>
            </a:r>
            <a:endParaRPr lang="en-US" sz="780" dirty="0"/>
          </a:p>
        </p:txBody>
      </p:sp>
      <p:sp>
        <p:nvSpPr>
          <p:cNvPr id="21" name="Shape 18"/>
          <p:cNvSpPr/>
          <p:nvPr/>
        </p:nvSpPr>
        <p:spPr>
          <a:xfrm>
            <a:off x="7269480" y="1993392"/>
            <a:ext cx="4507992" cy="896112"/>
          </a:xfrm>
          <a:prstGeom prst="roundRect">
            <a:avLst>
              <a:gd name="adj" fmla="val 7143"/>
            </a:avLst>
          </a:prstGeom>
          <a:solidFill>
            <a:srgbClr val="FFFFFF"/>
          </a:solidFill>
          <a:ln/>
          <a:effectLst>
            <a:outerShdw sx="100000" sy="100000" kx="0" ky="0" algn="bl" rotWithShape="0" blurRad="76200" dist="25400" dir="5400000">
              <a:srgbClr val="9AAAB5">
                <a:alpha val="35000"/>
              </a:srgbClr>
            </a:outerShdw>
          </a:effectLst>
        </p:spPr>
      </p:sp>
      <p:sp>
        <p:nvSpPr>
          <p:cNvPr id="22" name="Text 19"/>
          <p:cNvSpPr txBox="1"/>
          <p:nvPr/>
        </p:nvSpPr>
        <p:spPr>
          <a:xfrm>
            <a:off x="7434072" y="2084832"/>
            <a:ext cx="4178808"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CHURNED ARR · 2025→</a:t>
            </a:r>
            <a:endParaRPr lang="en-US" sz="950" dirty="0"/>
          </a:p>
        </p:txBody>
      </p:sp>
      <p:sp>
        <p:nvSpPr>
          <p:cNvPr id="23" name="Text 20"/>
          <p:cNvSpPr txBox="1"/>
          <p:nvPr/>
        </p:nvSpPr>
        <p:spPr>
          <a:xfrm>
            <a:off x="7415784" y="2267712"/>
            <a:ext cx="4215384" cy="292608"/>
          </a:xfrm>
          <a:prstGeom prst="rect">
            <a:avLst/>
          </a:prstGeom>
          <a:noFill/>
          <a:ln/>
        </p:spPr>
        <p:txBody>
          <a:bodyPr wrap="square" lIns="0" tIns="0" rIns="0" bIns="0" rtlCol="0" anchor="ctr"/>
          <a:lstStyle/>
          <a:p>
            <a:pPr indent="0" marL="0">
              <a:buNone/>
            </a:pPr>
            <a:r>
              <a:rPr lang="en-US" sz="2000" b="1" dirty="0">
                <a:solidFill>
                  <a:srgbClr val="B4552D"/>
                </a:solidFill>
                <a:latin typeface="Poppins" pitchFamily="34" charset="0"/>
                <a:ea typeface="Poppins" pitchFamily="34" charset="-122"/>
                <a:cs typeface="Poppins" pitchFamily="34" charset="-120"/>
              </a:rPr>
              <a:t>$1.28M</a:t>
            </a:r>
            <a:endParaRPr lang="en-US" sz="2000" dirty="0"/>
          </a:p>
        </p:txBody>
      </p:sp>
      <p:sp>
        <p:nvSpPr>
          <p:cNvPr id="24" name="Text 21"/>
          <p:cNvSpPr txBox="1"/>
          <p:nvPr/>
        </p:nvSpPr>
        <p:spPr>
          <a:xfrm>
            <a:off x="7434072" y="2596896"/>
            <a:ext cx="4178808" cy="23774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271 logos · MRR movement register, live · HubSpot churn object stopped being maintained after February</a:t>
            </a:r>
            <a:endParaRPr lang="en-US" sz="780" dirty="0"/>
          </a:p>
        </p:txBody>
      </p:sp>
      <p:sp>
        <p:nvSpPr>
          <p:cNvPr id="25" name="Shape 22"/>
          <p:cNvSpPr/>
          <p:nvPr/>
        </p:nvSpPr>
        <p:spPr>
          <a:xfrm>
            <a:off x="7269480" y="2980944"/>
            <a:ext cx="4507992" cy="905256"/>
          </a:xfrm>
          <a:prstGeom prst="roundRect">
            <a:avLst>
              <a:gd name="adj" fmla="val 7071"/>
            </a:avLst>
          </a:prstGeom>
          <a:solidFill>
            <a:srgbClr val="FFFFFF"/>
          </a:solidFill>
          <a:ln/>
          <a:effectLst>
            <a:outerShdw sx="100000" sy="100000" kx="0" ky="0" algn="bl" rotWithShape="0" blurRad="76200" dist="25400" dir="5400000">
              <a:srgbClr val="9AAAB5">
                <a:alpha val="35000"/>
              </a:srgbClr>
            </a:outerShdw>
          </a:effectLst>
        </p:spPr>
      </p:sp>
      <p:sp>
        <p:nvSpPr>
          <p:cNvPr id="26" name="Text 23"/>
          <p:cNvSpPr txBox="1"/>
          <p:nvPr/>
        </p:nvSpPr>
        <p:spPr>
          <a:xfrm>
            <a:off x="7434072" y="3072384"/>
            <a:ext cx="4178808"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NET MRR MOVEMENT · Q4</a:t>
            </a:r>
            <a:endParaRPr lang="en-US" sz="950" dirty="0"/>
          </a:p>
        </p:txBody>
      </p:sp>
      <p:sp>
        <p:nvSpPr>
          <p:cNvPr id="27" name="Text 24"/>
          <p:cNvSpPr txBox="1"/>
          <p:nvPr/>
        </p:nvSpPr>
        <p:spPr>
          <a:xfrm>
            <a:off x="7415784" y="3255264"/>
            <a:ext cx="4215384" cy="292608"/>
          </a:xfrm>
          <a:prstGeom prst="rect">
            <a:avLst/>
          </a:prstGeom>
          <a:noFill/>
          <a:ln/>
        </p:spPr>
        <p:txBody>
          <a:bodyPr wrap="square" lIns="0" tIns="0" rIns="0" bIns="0" rtlCol="0" anchor="ctr"/>
          <a:lstStyle/>
          <a:p>
            <a:pPr indent="0" marL="0">
              <a:buNone/>
            </a:pPr>
            <a:r>
              <a:rPr lang="en-US" sz="2000" b="1" dirty="0">
                <a:solidFill>
                  <a:srgbClr val="B4552D"/>
                </a:solidFill>
                <a:latin typeface="Poppins" pitchFamily="34" charset="0"/>
                <a:ea typeface="Poppins" pitchFamily="34" charset="-122"/>
                <a:cs typeface="Poppins" pitchFamily="34" charset="-120"/>
              </a:rPr>
              <a:t>-$7.7k</a:t>
            </a:r>
            <a:endParaRPr lang="en-US" sz="2000" dirty="0"/>
          </a:p>
        </p:txBody>
      </p:sp>
      <p:sp>
        <p:nvSpPr>
          <p:cNvPr id="28" name="Text 25"/>
          <p:cNvSpPr txBox="1"/>
          <p:nvPr/>
        </p:nvSpPr>
        <p:spPr>
          <a:xfrm>
            <a:off x="7434072" y="3584448"/>
            <a:ext cx="4178808" cy="246888"/>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Q4 to 18 Oct · new $3.8k − churn $9.4k − contraction $2.1k − credits $0</a:t>
            </a:r>
            <a:endParaRPr lang="en-US" sz="780" dirty="0"/>
          </a:p>
        </p:txBody>
      </p:sp>
      <p:sp>
        <p:nvSpPr>
          <p:cNvPr id="29" name="Shape 26"/>
          <p:cNvSpPr/>
          <p:nvPr/>
        </p:nvSpPr>
        <p:spPr>
          <a:xfrm>
            <a:off x="6309360" y="4023360"/>
            <a:ext cx="5468112" cy="2340864"/>
          </a:xfrm>
          <a:prstGeom prst="roundRect">
            <a:avLst>
              <a:gd name="adj" fmla="val 2734"/>
            </a:avLst>
          </a:prstGeom>
          <a:solidFill>
            <a:srgbClr val="FFFFFF"/>
          </a:solidFill>
          <a:ln/>
          <a:effectLst>
            <a:outerShdw sx="100000" sy="100000" kx="0" ky="0" algn="bl" rotWithShape="0" blurRad="76200" dist="25400" dir="5400000">
              <a:srgbClr val="9AAAB5">
                <a:alpha val="35000"/>
              </a:srgbClr>
            </a:outerShdw>
          </a:effectLst>
        </p:spPr>
      </p:sp>
      <p:sp>
        <p:nvSpPr>
          <p:cNvPr id="30" name="Text 27"/>
          <p:cNvSpPr txBox="1"/>
          <p:nvPr/>
        </p:nvSpPr>
        <p:spPr>
          <a:xfrm>
            <a:off x="6510528" y="4105656"/>
            <a:ext cx="5065776" cy="237744"/>
          </a:xfrm>
          <a:prstGeom prst="rect">
            <a:avLst/>
          </a:prstGeom>
          <a:noFill/>
          <a:ln/>
        </p:spPr>
        <p:txBody>
          <a:bodyPr wrap="square" lIns="0" tIns="0" rIns="0" bIns="0" rtlCol="0" anchor="ctr"/>
          <a:lstStyle/>
          <a:p>
            <a:pPr indent="0" marL="0">
              <a:buNone/>
            </a:pPr>
            <a:r>
              <a:rPr lang="en-US" sz="1100" b="1" dirty="0">
                <a:solidFill>
                  <a:srgbClr val="2C8394"/>
                </a:solidFill>
                <a:latin typeface="Poppins" pitchFamily="34" charset="0"/>
                <a:ea typeface="Poppins" pitchFamily="34" charset="-122"/>
                <a:cs typeface="Poppins" pitchFamily="34" charset="-120"/>
              </a:rPr>
              <a:t>TOP 10 NOT INVOICED   </a:t>
            </a:r>
            <a:pPr indent="0" marL="0">
              <a:buNone/>
            </a:pPr>
            <a:r>
              <a:rPr lang="en-US" sz="650" dirty="0">
                <a:solidFill>
                  <a:srgbClr val="8FA1AC"/>
                </a:solidFill>
                <a:latin typeface="Poppins" pitchFamily="34" charset="0"/>
                <a:ea typeface="Poppins" pitchFamily="34" charset="-122"/>
                <a:cs typeface="Poppins" pitchFamily="34" charset="-120"/>
              </a:rPr>
              <a:t>ARR — sums to the awaiting figure</a:t>
            </a:r>
            <a:endParaRPr lang="en-US" sz="1100" dirty="0"/>
          </a:p>
        </p:txBody>
      </p:sp>
      <p:sp>
        <p:nvSpPr>
          <p:cNvPr id="31" name="Text 28"/>
          <p:cNvSpPr txBox="1"/>
          <p:nvPr/>
        </p:nvSpPr>
        <p:spPr>
          <a:xfrm>
            <a:off x="6748272" y="4352544"/>
            <a:ext cx="2286000" cy="164592"/>
          </a:xfrm>
          <a:prstGeom prst="rect">
            <a:avLst/>
          </a:prstGeom>
          <a:noFill/>
          <a:ln/>
        </p:spPr>
        <p:txBody>
          <a:bodyPr wrap="square" lIns="0" tIns="0" rIns="0" bIns="0" rtlCol="0" anchor="ctr"/>
          <a:lstStyle/>
          <a:p>
            <a:pPr algn="l" indent="0" marL="0">
              <a:buNone/>
            </a:pPr>
            <a:r>
              <a:rPr lang="en-US" sz="700" b="1" dirty="0">
                <a:solidFill>
                  <a:srgbClr val="8FA1AC"/>
                </a:solidFill>
                <a:latin typeface="Poppins" pitchFamily="34" charset="0"/>
                <a:ea typeface="Poppins" pitchFamily="34" charset="-122"/>
                <a:cs typeface="Poppins" pitchFamily="34" charset="-120"/>
              </a:rPr>
              <a:t>CLIENT</a:t>
            </a:r>
            <a:endParaRPr lang="en-US" sz="700" dirty="0"/>
          </a:p>
        </p:txBody>
      </p:sp>
      <p:sp>
        <p:nvSpPr>
          <p:cNvPr id="32" name="Text 29"/>
          <p:cNvSpPr txBox="1"/>
          <p:nvPr/>
        </p:nvSpPr>
        <p:spPr>
          <a:xfrm>
            <a:off x="9052560" y="4352544"/>
            <a:ext cx="822960" cy="164592"/>
          </a:xfrm>
          <a:prstGeom prst="rect">
            <a:avLst/>
          </a:prstGeom>
          <a:noFill/>
          <a:ln/>
        </p:spPr>
        <p:txBody>
          <a:bodyPr wrap="square" lIns="0" tIns="0" rIns="0" bIns="0" rtlCol="0" anchor="ctr"/>
          <a:lstStyle/>
          <a:p>
            <a:pPr algn="r" indent="0" marL="0">
              <a:buNone/>
            </a:pPr>
            <a:r>
              <a:rPr lang="en-US" sz="700" b="1" dirty="0">
                <a:solidFill>
                  <a:srgbClr val="8FA1AC"/>
                </a:solidFill>
                <a:latin typeface="Poppins" pitchFamily="34" charset="0"/>
                <a:ea typeface="Poppins" pitchFamily="34" charset="-122"/>
                <a:cs typeface="Poppins" pitchFamily="34" charset="-120"/>
              </a:rPr>
              <a:t>ARR</a:t>
            </a:r>
            <a:endParaRPr lang="en-US" sz="700" dirty="0"/>
          </a:p>
        </p:txBody>
      </p:sp>
      <p:sp>
        <p:nvSpPr>
          <p:cNvPr id="33" name="Text 30"/>
          <p:cNvSpPr txBox="1"/>
          <p:nvPr/>
        </p:nvSpPr>
        <p:spPr>
          <a:xfrm>
            <a:off x="9921240" y="4352544"/>
            <a:ext cx="685800" cy="164592"/>
          </a:xfrm>
          <a:prstGeom prst="rect">
            <a:avLst/>
          </a:prstGeom>
          <a:noFill/>
          <a:ln/>
        </p:spPr>
        <p:txBody>
          <a:bodyPr wrap="square" lIns="0" tIns="0" rIns="0" bIns="0" rtlCol="0" anchor="ctr"/>
          <a:lstStyle/>
          <a:p>
            <a:pPr algn="r" indent="0" marL="0">
              <a:buNone/>
            </a:pPr>
            <a:r>
              <a:rPr lang="en-US" sz="700" b="1" dirty="0">
                <a:solidFill>
                  <a:srgbClr val="8FA1AC"/>
                </a:solidFill>
                <a:latin typeface="Poppins" pitchFamily="34" charset="0"/>
                <a:ea typeface="Poppins" pitchFamily="34" charset="-122"/>
                <a:cs typeface="Poppins" pitchFamily="34" charset="-120"/>
              </a:rPr>
              <a:t>MRR/mo</a:t>
            </a:r>
            <a:endParaRPr lang="en-US" sz="700" dirty="0"/>
          </a:p>
        </p:txBody>
      </p:sp>
      <p:sp>
        <p:nvSpPr>
          <p:cNvPr id="34" name="Text 31"/>
          <p:cNvSpPr txBox="1"/>
          <p:nvPr/>
        </p:nvSpPr>
        <p:spPr>
          <a:xfrm>
            <a:off x="10652760" y="4352544"/>
            <a:ext cx="457200" cy="164592"/>
          </a:xfrm>
          <a:prstGeom prst="rect">
            <a:avLst/>
          </a:prstGeom>
          <a:noFill/>
          <a:ln/>
        </p:spPr>
        <p:txBody>
          <a:bodyPr wrap="square" lIns="0" tIns="0" rIns="0" bIns="0" rtlCol="0" anchor="ctr"/>
          <a:lstStyle/>
          <a:p>
            <a:pPr algn="r" indent="0" marL="0">
              <a:buNone/>
            </a:pPr>
            <a:r>
              <a:rPr lang="en-US" sz="700" b="1" dirty="0">
                <a:solidFill>
                  <a:srgbClr val="8FA1AC"/>
                </a:solidFill>
                <a:latin typeface="Poppins" pitchFamily="34" charset="0"/>
                <a:ea typeface="Poppins" pitchFamily="34" charset="-122"/>
                <a:cs typeface="Poppins" pitchFamily="34" charset="-120"/>
              </a:rPr>
              <a:t>WON</a:t>
            </a:r>
            <a:endParaRPr lang="en-US" sz="700" dirty="0"/>
          </a:p>
        </p:txBody>
      </p:sp>
      <p:sp>
        <p:nvSpPr>
          <p:cNvPr id="35" name="Text 32"/>
          <p:cNvSpPr txBox="1"/>
          <p:nvPr/>
        </p:nvSpPr>
        <p:spPr>
          <a:xfrm>
            <a:off x="11155680" y="4352544"/>
            <a:ext cx="384048" cy="164592"/>
          </a:xfrm>
          <a:prstGeom prst="rect">
            <a:avLst/>
          </a:prstGeom>
          <a:noFill/>
          <a:ln/>
        </p:spPr>
        <p:txBody>
          <a:bodyPr wrap="square" lIns="0" tIns="0" rIns="0" bIns="0" rtlCol="0" anchor="ctr"/>
          <a:lstStyle/>
          <a:p>
            <a:pPr algn="r" indent="0" marL="0">
              <a:buNone/>
            </a:pPr>
            <a:endParaRPr lang="en-US" sz="700" dirty="0"/>
          </a:p>
        </p:txBody>
      </p:sp>
      <p:sp>
        <p:nvSpPr>
          <p:cNvPr id="36" name="Text 33"/>
          <p:cNvSpPr txBox="1"/>
          <p:nvPr/>
        </p:nvSpPr>
        <p:spPr>
          <a:xfrm>
            <a:off x="6510528" y="4535424"/>
            <a:ext cx="201168" cy="173736"/>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1</a:t>
            </a:r>
            <a:endParaRPr lang="en-US" sz="700" dirty="0"/>
          </a:p>
        </p:txBody>
      </p:sp>
      <p:sp>
        <p:nvSpPr>
          <p:cNvPr id="37" name="Text 34"/>
          <p:cNvSpPr txBox="1"/>
          <p:nvPr/>
        </p:nvSpPr>
        <p:spPr>
          <a:xfrm>
            <a:off x="6748272" y="4535424"/>
            <a:ext cx="2286000" cy="173736"/>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Oscars Hotels</a:t>
            </a:r>
            <a:endParaRPr lang="en-US" sz="750" dirty="0"/>
          </a:p>
        </p:txBody>
      </p:sp>
      <p:sp>
        <p:nvSpPr>
          <p:cNvPr id="38" name="Text 35"/>
          <p:cNvSpPr txBox="1"/>
          <p:nvPr/>
        </p:nvSpPr>
        <p:spPr>
          <a:xfrm>
            <a:off x="9052560" y="4535424"/>
            <a:ext cx="822960" cy="173736"/>
          </a:xfrm>
          <a:prstGeom prst="rect">
            <a:avLst/>
          </a:prstGeom>
          <a:noFill/>
          <a:ln/>
        </p:spPr>
        <p:txBody>
          <a:bodyPr wrap="square" lIns="0" tIns="0" rIns="0" bIns="0" rtlCol="0" anchor="ctr"/>
          <a:lstStyle/>
          <a:p>
            <a:pPr algn="r" indent="0" marL="0">
              <a:buNone/>
            </a:pPr>
            <a:r>
              <a:rPr lang="en-US" sz="750" b="1" dirty="0">
                <a:solidFill>
                  <a:srgbClr val="B4552D"/>
                </a:solidFill>
                <a:latin typeface="Poppins" pitchFamily="34" charset="0"/>
                <a:ea typeface="Poppins" pitchFamily="34" charset="-122"/>
                <a:cs typeface="Poppins" pitchFamily="34" charset="-120"/>
              </a:rPr>
              <a:t>$155k</a:t>
            </a:r>
            <a:endParaRPr lang="en-US" sz="750" dirty="0"/>
          </a:p>
        </p:txBody>
      </p:sp>
      <p:sp>
        <p:nvSpPr>
          <p:cNvPr id="39" name="Text 36"/>
          <p:cNvSpPr txBox="1"/>
          <p:nvPr/>
        </p:nvSpPr>
        <p:spPr>
          <a:xfrm>
            <a:off x="9921240" y="4535424"/>
            <a:ext cx="6858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$12,880</a:t>
            </a:r>
            <a:endParaRPr lang="en-US" sz="750" dirty="0"/>
          </a:p>
        </p:txBody>
      </p:sp>
      <p:sp>
        <p:nvSpPr>
          <p:cNvPr id="40" name="Text 37"/>
          <p:cNvSpPr txBox="1"/>
          <p:nvPr/>
        </p:nvSpPr>
        <p:spPr>
          <a:xfrm>
            <a:off x="10652760" y="4535424"/>
            <a:ext cx="4572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Mar</a:t>
            </a:r>
            <a:endParaRPr lang="en-US" sz="750" dirty="0"/>
          </a:p>
        </p:txBody>
      </p:sp>
      <p:sp>
        <p:nvSpPr>
          <p:cNvPr id="41" name="Text 38"/>
          <p:cNvSpPr txBox="1"/>
          <p:nvPr/>
        </p:nvSpPr>
        <p:spPr>
          <a:xfrm>
            <a:off x="11155680" y="4535424"/>
            <a:ext cx="384048" cy="173736"/>
          </a:xfrm>
          <a:prstGeom prst="rect">
            <a:avLst/>
          </a:prstGeom>
          <a:noFill/>
          <a:ln/>
        </p:spPr>
        <p:txBody>
          <a:bodyPr wrap="square" lIns="0" tIns="0" rIns="0" bIns="0" rtlCol="0" anchor="ctr"/>
          <a:lstStyle/>
          <a:p>
            <a:pPr algn="r" indent="0" marL="0">
              <a:buNone/>
            </a:pPr>
            <a:r>
              <a:rPr lang="en-US" sz="750" b="1" dirty="0">
                <a:solidFill>
                  <a:srgbClr val="C88A2E"/>
                </a:solidFill>
                <a:latin typeface="Poppins" pitchFamily="34" charset="0"/>
                <a:ea typeface="Poppins" pitchFamily="34" charset="-122"/>
                <a:cs typeface="Poppins" pitchFamily="34" charset="-120"/>
              </a:rPr>
              <a:t>◆</a:t>
            </a:r>
            <a:endParaRPr lang="en-US" sz="750" dirty="0"/>
          </a:p>
        </p:txBody>
      </p:sp>
      <p:sp>
        <p:nvSpPr>
          <p:cNvPr id="42" name="Text 39"/>
          <p:cNvSpPr txBox="1"/>
          <p:nvPr/>
        </p:nvSpPr>
        <p:spPr>
          <a:xfrm>
            <a:off x="6510528" y="4710989"/>
            <a:ext cx="201168" cy="173736"/>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2</a:t>
            </a:r>
            <a:endParaRPr lang="en-US" sz="700" dirty="0"/>
          </a:p>
        </p:txBody>
      </p:sp>
      <p:sp>
        <p:nvSpPr>
          <p:cNvPr id="43" name="Text 40"/>
          <p:cNvSpPr txBox="1"/>
          <p:nvPr/>
        </p:nvSpPr>
        <p:spPr>
          <a:xfrm>
            <a:off x="6748272" y="4710989"/>
            <a:ext cx="2286000" cy="173736"/>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Mt Henry Tavern</a:t>
            </a:r>
            <a:endParaRPr lang="en-US" sz="750" dirty="0"/>
          </a:p>
        </p:txBody>
      </p:sp>
      <p:sp>
        <p:nvSpPr>
          <p:cNvPr id="44" name="Text 41"/>
          <p:cNvSpPr txBox="1"/>
          <p:nvPr/>
        </p:nvSpPr>
        <p:spPr>
          <a:xfrm>
            <a:off x="9052560" y="4710989"/>
            <a:ext cx="822960" cy="173736"/>
          </a:xfrm>
          <a:prstGeom prst="rect">
            <a:avLst/>
          </a:prstGeom>
          <a:noFill/>
          <a:ln/>
        </p:spPr>
        <p:txBody>
          <a:bodyPr wrap="square" lIns="0" tIns="0" rIns="0" bIns="0" rtlCol="0" anchor="ctr"/>
          <a:lstStyle/>
          <a:p>
            <a:pPr algn="r" indent="0" marL="0">
              <a:buNone/>
            </a:pPr>
            <a:r>
              <a:rPr lang="en-US" sz="750" b="1" dirty="0">
                <a:solidFill>
                  <a:srgbClr val="B4552D"/>
                </a:solidFill>
                <a:latin typeface="Poppins" pitchFamily="34" charset="0"/>
                <a:ea typeface="Poppins" pitchFamily="34" charset="-122"/>
                <a:cs typeface="Poppins" pitchFamily="34" charset="-120"/>
              </a:rPr>
              <a:t>$11k</a:t>
            </a:r>
            <a:endParaRPr lang="en-US" sz="750" dirty="0"/>
          </a:p>
        </p:txBody>
      </p:sp>
      <p:sp>
        <p:nvSpPr>
          <p:cNvPr id="45" name="Text 42"/>
          <p:cNvSpPr txBox="1"/>
          <p:nvPr/>
        </p:nvSpPr>
        <p:spPr>
          <a:xfrm>
            <a:off x="9921240" y="4710989"/>
            <a:ext cx="6858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$905</a:t>
            </a:r>
            <a:endParaRPr lang="en-US" sz="750" dirty="0"/>
          </a:p>
        </p:txBody>
      </p:sp>
      <p:sp>
        <p:nvSpPr>
          <p:cNvPr id="46" name="Text 43"/>
          <p:cNvSpPr txBox="1"/>
          <p:nvPr/>
        </p:nvSpPr>
        <p:spPr>
          <a:xfrm>
            <a:off x="10652760" y="4710989"/>
            <a:ext cx="4572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Oct</a:t>
            </a:r>
            <a:endParaRPr lang="en-US" sz="750" dirty="0"/>
          </a:p>
        </p:txBody>
      </p:sp>
      <p:sp>
        <p:nvSpPr>
          <p:cNvPr id="47" name="Text 44"/>
          <p:cNvSpPr txBox="1"/>
          <p:nvPr/>
        </p:nvSpPr>
        <p:spPr>
          <a:xfrm>
            <a:off x="11155680" y="4710989"/>
            <a:ext cx="384048" cy="173736"/>
          </a:xfrm>
          <a:prstGeom prst="rect">
            <a:avLst/>
          </a:prstGeom>
          <a:noFill/>
          <a:ln/>
        </p:spPr>
        <p:txBody>
          <a:bodyPr wrap="square" lIns="0" tIns="0" rIns="0" bIns="0" rtlCol="0" anchor="ctr"/>
          <a:lstStyle/>
          <a:p>
            <a:pPr algn="r" indent="0" marL="0">
              <a:buNone/>
            </a:pPr>
            <a:endParaRPr lang="en-US" sz="750" dirty="0"/>
          </a:p>
        </p:txBody>
      </p:sp>
      <p:sp>
        <p:nvSpPr>
          <p:cNvPr id="48" name="Text 45"/>
          <p:cNvSpPr txBox="1"/>
          <p:nvPr/>
        </p:nvSpPr>
        <p:spPr>
          <a:xfrm>
            <a:off x="6510528" y="4886554"/>
            <a:ext cx="201168" cy="173736"/>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3</a:t>
            </a:r>
            <a:endParaRPr lang="en-US" sz="700" dirty="0"/>
          </a:p>
        </p:txBody>
      </p:sp>
      <p:sp>
        <p:nvSpPr>
          <p:cNvPr id="49" name="Text 46"/>
          <p:cNvSpPr txBox="1"/>
          <p:nvPr/>
        </p:nvSpPr>
        <p:spPr>
          <a:xfrm>
            <a:off x="6748272" y="4886554"/>
            <a:ext cx="2286000" cy="173736"/>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Caves House Hotel</a:t>
            </a:r>
            <a:endParaRPr lang="en-US" sz="750" dirty="0"/>
          </a:p>
        </p:txBody>
      </p:sp>
      <p:sp>
        <p:nvSpPr>
          <p:cNvPr id="50" name="Text 47"/>
          <p:cNvSpPr txBox="1"/>
          <p:nvPr/>
        </p:nvSpPr>
        <p:spPr>
          <a:xfrm>
            <a:off x="9052560" y="4886554"/>
            <a:ext cx="822960" cy="173736"/>
          </a:xfrm>
          <a:prstGeom prst="rect">
            <a:avLst/>
          </a:prstGeom>
          <a:noFill/>
          <a:ln/>
        </p:spPr>
        <p:txBody>
          <a:bodyPr wrap="square" lIns="0" tIns="0" rIns="0" bIns="0" rtlCol="0" anchor="ctr"/>
          <a:lstStyle/>
          <a:p>
            <a:pPr algn="r" indent="0" marL="0">
              <a:buNone/>
            </a:pPr>
            <a:r>
              <a:rPr lang="en-US" sz="750" b="1" dirty="0">
                <a:solidFill>
                  <a:srgbClr val="B4552D"/>
                </a:solidFill>
                <a:latin typeface="Poppins" pitchFamily="34" charset="0"/>
                <a:ea typeface="Poppins" pitchFamily="34" charset="-122"/>
                <a:cs typeface="Poppins" pitchFamily="34" charset="-120"/>
              </a:rPr>
              <a:t>$8k</a:t>
            </a:r>
            <a:endParaRPr lang="en-US" sz="750" dirty="0"/>
          </a:p>
        </p:txBody>
      </p:sp>
      <p:sp>
        <p:nvSpPr>
          <p:cNvPr id="51" name="Text 48"/>
          <p:cNvSpPr txBox="1"/>
          <p:nvPr/>
        </p:nvSpPr>
        <p:spPr>
          <a:xfrm>
            <a:off x="9921240" y="4886554"/>
            <a:ext cx="6858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$669</a:t>
            </a:r>
            <a:endParaRPr lang="en-US" sz="750" dirty="0"/>
          </a:p>
        </p:txBody>
      </p:sp>
      <p:sp>
        <p:nvSpPr>
          <p:cNvPr id="52" name="Text 49"/>
          <p:cNvSpPr txBox="1"/>
          <p:nvPr/>
        </p:nvSpPr>
        <p:spPr>
          <a:xfrm>
            <a:off x="10652760" y="4886554"/>
            <a:ext cx="4572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Aug</a:t>
            </a:r>
            <a:endParaRPr lang="en-US" sz="750" dirty="0"/>
          </a:p>
        </p:txBody>
      </p:sp>
      <p:sp>
        <p:nvSpPr>
          <p:cNvPr id="53" name="Text 50"/>
          <p:cNvSpPr txBox="1"/>
          <p:nvPr/>
        </p:nvSpPr>
        <p:spPr>
          <a:xfrm>
            <a:off x="11155680" y="4886554"/>
            <a:ext cx="384048" cy="173736"/>
          </a:xfrm>
          <a:prstGeom prst="rect">
            <a:avLst/>
          </a:prstGeom>
          <a:noFill/>
          <a:ln/>
        </p:spPr>
        <p:txBody>
          <a:bodyPr wrap="square" lIns="0" tIns="0" rIns="0" bIns="0" rtlCol="0" anchor="ctr"/>
          <a:lstStyle/>
          <a:p>
            <a:pPr algn="r" indent="0" marL="0">
              <a:buNone/>
            </a:pPr>
            <a:endParaRPr lang="en-US" sz="750" dirty="0"/>
          </a:p>
        </p:txBody>
      </p:sp>
      <p:sp>
        <p:nvSpPr>
          <p:cNvPr id="54" name="Text 51"/>
          <p:cNvSpPr txBox="1"/>
          <p:nvPr/>
        </p:nvSpPr>
        <p:spPr>
          <a:xfrm>
            <a:off x="6510528" y="5062118"/>
            <a:ext cx="201168" cy="173736"/>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4</a:t>
            </a:r>
            <a:endParaRPr lang="en-US" sz="700" dirty="0"/>
          </a:p>
        </p:txBody>
      </p:sp>
      <p:sp>
        <p:nvSpPr>
          <p:cNvPr id="55" name="Text 52"/>
          <p:cNvSpPr txBox="1"/>
          <p:nvPr/>
        </p:nvSpPr>
        <p:spPr>
          <a:xfrm>
            <a:off x="6748272" y="5062118"/>
            <a:ext cx="2286000" cy="173736"/>
          </a:xfrm>
          <a:prstGeom prst="rect">
            <a:avLst/>
          </a:prstGeom>
          <a:noFill/>
          <a:ln/>
        </p:spPr>
        <p:txBody>
          <a:bodyPr wrap="square" lIns="0" tIns="0" rIns="0" bIns="0" rtlCol="0" anchor="ctr"/>
          <a:lstStyle/>
          <a:p>
            <a:pPr indent="0" marL="0">
              <a:buNone/>
            </a:pPr>
            <a:r>
              <a:rPr lang="en-US" sz="750" dirty="0">
                <a:solidFill>
                  <a:srgbClr val="12293A"/>
                </a:solidFill>
                <a:latin typeface="Poppins" pitchFamily="34" charset="0"/>
                <a:ea typeface="Poppins" pitchFamily="34" charset="-122"/>
                <a:cs typeface="Poppins" pitchFamily="34" charset="-120"/>
              </a:rPr>
              <a:t>Pier Hotel - Pt Lincoln</a:t>
            </a:r>
            <a:endParaRPr lang="en-US" sz="750" dirty="0"/>
          </a:p>
        </p:txBody>
      </p:sp>
      <p:sp>
        <p:nvSpPr>
          <p:cNvPr id="56" name="Text 53"/>
          <p:cNvSpPr txBox="1"/>
          <p:nvPr/>
        </p:nvSpPr>
        <p:spPr>
          <a:xfrm>
            <a:off x="9052560" y="5062118"/>
            <a:ext cx="822960" cy="173736"/>
          </a:xfrm>
          <a:prstGeom prst="rect">
            <a:avLst/>
          </a:prstGeom>
          <a:noFill/>
          <a:ln/>
        </p:spPr>
        <p:txBody>
          <a:bodyPr wrap="square" lIns="0" tIns="0" rIns="0" bIns="0" rtlCol="0" anchor="ctr"/>
          <a:lstStyle/>
          <a:p>
            <a:pPr algn="r" indent="0" marL="0">
              <a:buNone/>
            </a:pPr>
            <a:r>
              <a:rPr lang="en-US" sz="750" b="1" dirty="0">
                <a:solidFill>
                  <a:srgbClr val="B4552D"/>
                </a:solidFill>
                <a:latin typeface="Poppins" pitchFamily="34" charset="0"/>
                <a:ea typeface="Poppins" pitchFamily="34" charset="-122"/>
                <a:cs typeface="Poppins" pitchFamily="34" charset="-120"/>
              </a:rPr>
              <a:t>$8k</a:t>
            </a:r>
            <a:endParaRPr lang="en-US" sz="750" dirty="0"/>
          </a:p>
        </p:txBody>
      </p:sp>
      <p:sp>
        <p:nvSpPr>
          <p:cNvPr id="57" name="Text 54"/>
          <p:cNvSpPr txBox="1"/>
          <p:nvPr/>
        </p:nvSpPr>
        <p:spPr>
          <a:xfrm>
            <a:off x="9921240" y="5062118"/>
            <a:ext cx="6858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$648</a:t>
            </a:r>
            <a:endParaRPr lang="en-US" sz="750" dirty="0"/>
          </a:p>
        </p:txBody>
      </p:sp>
      <p:sp>
        <p:nvSpPr>
          <p:cNvPr id="58" name="Text 55"/>
          <p:cNvSpPr txBox="1"/>
          <p:nvPr/>
        </p:nvSpPr>
        <p:spPr>
          <a:xfrm>
            <a:off x="10652760" y="5062118"/>
            <a:ext cx="4572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Sep</a:t>
            </a:r>
            <a:endParaRPr lang="en-US" sz="750" dirty="0"/>
          </a:p>
        </p:txBody>
      </p:sp>
      <p:sp>
        <p:nvSpPr>
          <p:cNvPr id="59" name="Text 56"/>
          <p:cNvSpPr txBox="1"/>
          <p:nvPr/>
        </p:nvSpPr>
        <p:spPr>
          <a:xfrm>
            <a:off x="11155680" y="5062118"/>
            <a:ext cx="384048" cy="173736"/>
          </a:xfrm>
          <a:prstGeom prst="rect">
            <a:avLst/>
          </a:prstGeom>
          <a:noFill/>
          <a:ln/>
        </p:spPr>
        <p:txBody>
          <a:bodyPr wrap="square" lIns="0" tIns="0" rIns="0" bIns="0" rtlCol="0" anchor="ctr"/>
          <a:lstStyle/>
          <a:p>
            <a:pPr algn="r" indent="0" marL="0">
              <a:buNone/>
            </a:pPr>
            <a:endParaRPr lang="en-US" sz="750" dirty="0"/>
          </a:p>
        </p:txBody>
      </p:sp>
      <p:sp>
        <p:nvSpPr>
          <p:cNvPr id="60" name="Text 57"/>
          <p:cNvSpPr txBox="1"/>
          <p:nvPr/>
        </p:nvSpPr>
        <p:spPr>
          <a:xfrm>
            <a:off x="6510528" y="5237683"/>
            <a:ext cx="201168" cy="173736"/>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5</a:t>
            </a:r>
            <a:endParaRPr lang="en-US" sz="700" dirty="0"/>
          </a:p>
        </p:txBody>
      </p:sp>
      <p:sp>
        <p:nvSpPr>
          <p:cNvPr id="61" name="Text 58"/>
          <p:cNvSpPr txBox="1"/>
          <p:nvPr/>
        </p:nvSpPr>
        <p:spPr>
          <a:xfrm>
            <a:off x="6748272" y="5237683"/>
            <a:ext cx="2286000" cy="173736"/>
          </a:xfrm>
          <a:prstGeom prst="rect">
            <a:avLst/>
          </a:prstGeom>
          <a:noFill/>
          <a:ln/>
        </p:spPr>
        <p:txBody>
          <a:bodyPr wrap="square" lIns="0" tIns="0" rIns="0" bIns="0" rtlCol="0" anchor="ctr"/>
          <a:lstStyle/>
          <a:p>
            <a:pPr indent="0" marL="0">
              <a:buNone/>
            </a:pPr>
            <a:r>
              <a:rPr lang="en-US" sz="750" dirty="0">
                <a:solidFill>
                  <a:srgbClr val="12293A"/>
                </a:solidFill>
                <a:latin typeface="Poppins" pitchFamily="34" charset="0"/>
                <a:ea typeface="Poppins" pitchFamily="34" charset="-122"/>
                <a:cs typeface="Poppins" pitchFamily="34" charset="-120"/>
              </a:rPr>
              <a:t>The Iris Pavilion</a:t>
            </a:r>
            <a:endParaRPr lang="en-US" sz="750" dirty="0"/>
          </a:p>
        </p:txBody>
      </p:sp>
      <p:sp>
        <p:nvSpPr>
          <p:cNvPr id="62" name="Text 59"/>
          <p:cNvSpPr txBox="1"/>
          <p:nvPr/>
        </p:nvSpPr>
        <p:spPr>
          <a:xfrm>
            <a:off x="9052560" y="5237683"/>
            <a:ext cx="822960" cy="173736"/>
          </a:xfrm>
          <a:prstGeom prst="rect">
            <a:avLst/>
          </a:prstGeom>
          <a:noFill/>
          <a:ln/>
        </p:spPr>
        <p:txBody>
          <a:bodyPr wrap="square" lIns="0" tIns="0" rIns="0" bIns="0" rtlCol="0" anchor="ctr"/>
          <a:lstStyle/>
          <a:p>
            <a:pPr algn="r" indent="0" marL="0">
              <a:buNone/>
            </a:pPr>
            <a:r>
              <a:rPr lang="en-US" sz="750" b="1" dirty="0">
                <a:solidFill>
                  <a:srgbClr val="B4552D"/>
                </a:solidFill>
                <a:latin typeface="Poppins" pitchFamily="34" charset="0"/>
                <a:ea typeface="Poppins" pitchFamily="34" charset="-122"/>
                <a:cs typeface="Poppins" pitchFamily="34" charset="-120"/>
              </a:rPr>
              <a:t>$7k</a:t>
            </a:r>
            <a:endParaRPr lang="en-US" sz="750" dirty="0"/>
          </a:p>
        </p:txBody>
      </p:sp>
      <p:sp>
        <p:nvSpPr>
          <p:cNvPr id="63" name="Text 60"/>
          <p:cNvSpPr txBox="1"/>
          <p:nvPr/>
        </p:nvSpPr>
        <p:spPr>
          <a:xfrm>
            <a:off x="9921240" y="5237683"/>
            <a:ext cx="6858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$623</a:t>
            </a:r>
            <a:endParaRPr lang="en-US" sz="750" dirty="0"/>
          </a:p>
        </p:txBody>
      </p:sp>
      <p:sp>
        <p:nvSpPr>
          <p:cNvPr id="64" name="Text 61"/>
          <p:cNvSpPr txBox="1"/>
          <p:nvPr/>
        </p:nvSpPr>
        <p:spPr>
          <a:xfrm>
            <a:off x="10652760" y="5237683"/>
            <a:ext cx="4572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Sep</a:t>
            </a:r>
            <a:endParaRPr lang="en-US" sz="750" dirty="0"/>
          </a:p>
        </p:txBody>
      </p:sp>
      <p:sp>
        <p:nvSpPr>
          <p:cNvPr id="65" name="Text 62"/>
          <p:cNvSpPr txBox="1"/>
          <p:nvPr/>
        </p:nvSpPr>
        <p:spPr>
          <a:xfrm>
            <a:off x="11155680" y="5237683"/>
            <a:ext cx="384048" cy="173736"/>
          </a:xfrm>
          <a:prstGeom prst="rect">
            <a:avLst/>
          </a:prstGeom>
          <a:noFill/>
          <a:ln/>
        </p:spPr>
        <p:txBody>
          <a:bodyPr wrap="square" lIns="0" tIns="0" rIns="0" bIns="0" rtlCol="0" anchor="ctr"/>
          <a:lstStyle/>
          <a:p>
            <a:pPr algn="r" indent="0" marL="0">
              <a:buNone/>
            </a:pPr>
            <a:endParaRPr lang="en-US" sz="750" dirty="0"/>
          </a:p>
        </p:txBody>
      </p:sp>
      <p:sp>
        <p:nvSpPr>
          <p:cNvPr id="66" name="Text 63"/>
          <p:cNvSpPr txBox="1"/>
          <p:nvPr/>
        </p:nvSpPr>
        <p:spPr>
          <a:xfrm>
            <a:off x="6510528" y="5413248"/>
            <a:ext cx="201168" cy="173736"/>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6</a:t>
            </a:r>
            <a:endParaRPr lang="en-US" sz="700" dirty="0"/>
          </a:p>
        </p:txBody>
      </p:sp>
      <p:sp>
        <p:nvSpPr>
          <p:cNvPr id="67" name="Text 64"/>
          <p:cNvSpPr txBox="1"/>
          <p:nvPr/>
        </p:nvSpPr>
        <p:spPr>
          <a:xfrm>
            <a:off x="6748272" y="5413248"/>
            <a:ext cx="2286000" cy="173736"/>
          </a:xfrm>
          <a:prstGeom prst="rect">
            <a:avLst/>
          </a:prstGeom>
          <a:noFill/>
          <a:ln/>
        </p:spPr>
        <p:txBody>
          <a:bodyPr wrap="square" lIns="0" tIns="0" rIns="0" bIns="0" rtlCol="0" anchor="ctr"/>
          <a:lstStyle/>
          <a:p>
            <a:pPr indent="0" marL="0">
              <a:buNone/>
            </a:pPr>
            <a:r>
              <a:rPr lang="en-US" sz="750" dirty="0">
                <a:solidFill>
                  <a:srgbClr val="12293A"/>
                </a:solidFill>
                <a:latin typeface="Poppins" pitchFamily="34" charset="0"/>
                <a:ea typeface="Poppins" pitchFamily="34" charset="-122"/>
                <a:cs typeface="Poppins" pitchFamily="34" charset="-120"/>
              </a:rPr>
              <a:t>The Berrigan</a:t>
            </a:r>
            <a:endParaRPr lang="en-US" sz="750" dirty="0"/>
          </a:p>
        </p:txBody>
      </p:sp>
      <p:sp>
        <p:nvSpPr>
          <p:cNvPr id="68" name="Text 65"/>
          <p:cNvSpPr txBox="1"/>
          <p:nvPr/>
        </p:nvSpPr>
        <p:spPr>
          <a:xfrm>
            <a:off x="9052560" y="5413248"/>
            <a:ext cx="822960" cy="173736"/>
          </a:xfrm>
          <a:prstGeom prst="rect">
            <a:avLst/>
          </a:prstGeom>
          <a:noFill/>
          <a:ln/>
        </p:spPr>
        <p:txBody>
          <a:bodyPr wrap="square" lIns="0" tIns="0" rIns="0" bIns="0" rtlCol="0" anchor="ctr"/>
          <a:lstStyle/>
          <a:p>
            <a:pPr algn="r" indent="0" marL="0">
              <a:buNone/>
            </a:pPr>
            <a:r>
              <a:rPr lang="en-US" sz="750" b="1" dirty="0">
                <a:solidFill>
                  <a:srgbClr val="B4552D"/>
                </a:solidFill>
                <a:latin typeface="Poppins" pitchFamily="34" charset="0"/>
                <a:ea typeface="Poppins" pitchFamily="34" charset="-122"/>
                <a:cs typeface="Poppins" pitchFamily="34" charset="-120"/>
              </a:rPr>
              <a:t>$6k</a:t>
            </a:r>
            <a:endParaRPr lang="en-US" sz="750" dirty="0"/>
          </a:p>
        </p:txBody>
      </p:sp>
      <p:sp>
        <p:nvSpPr>
          <p:cNvPr id="69" name="Text 66"/>
          <p:cNvSpPr txBox="1"/>
          <p:nvPr/>
        </p:nvSpPr>
        <p:spPr>
          <a:xfrm>
            <a:off x="9921240" y="5413248"/>
            <a:ext cx="6858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$475</a:t>
            </a:r>
            <a:endParaRPr lang="en-US" sz="750" dirty="0"/>
          </a:p>
        </p:txBody>
      </p:sp>
      <p:sp>
        <p:nvSpPr>
          <p:cNvPr id="70" name="Text 67"/>
          <p:cNvSpPr txBox="1"/>
          <p:nvPr/>
        </p:nvSpPr>
        <p:spPr>
          <a:xfrm>
            <a:off x="10652760" y="5413248"/>
            <a:ext cx="4572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Mar</a:t>
            </a:r>
            <a:endParaRPr lang="en-US" sz="750" dirty="0"/>
          </a:p>
        </p:txBody>
      </p:sp>
      <p:sp>
        <p:nvSpPr>
          <p:cNvPr id="71" name="Text 68"/>
          <p:cNvSpPr txBox="1"/>
          <p:nvPr/>
        </p:nvSpPr>
        <p:spPr>
          <a:xfrm>
            <a:off x="11155680" y="5413248"/>
            <a:ext cx="384048" cy="173736"/>
          </a:xfrm>
          <a:prstGeom prst="rect">
            <a:avLst/>
          </a:prstGeom>
          <a:noFill/>
          <a:ln/>
        </p:spPr>
        <p:txBody>
          <a:bodyPr wrap="square" lIns="0" tIns="0" rIns="0" bIns="0" rtlCol="0" anchor="ctr"/>
          <a:lstStyle/>
          <a:p>
            <a:pPr algn="r" indent="0" marL="0">
              <a:buNone/>
            </a:pPr>
            <a:endParaRPr lang="en-US" sz="750" dirty="0"/>
          </a:p>
        </p:txBody>
      </p:sp>
      <p:sp>
        <p:nvSpPr>
          <p:cNvPr id="72" name="Text 69"/>
          <p:cNvSpPr txBox="1"/>
          <p:nvPr/>
        </p:nvSpPr>
        <p:spPr>
          <a:xfrm>
            <a:off x="6510528" y="5588813"/>
            <a:ext cx="201168" cy="173736"/>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7</a:t>
            </a:r>
            <a:endParaRPr lang="en-US" sz="700" dirty="0"/>
          </a:p>
        </p:txBody>
      </p:sp>
      <p:sp>
        <p:nvSpPr>
          <p:cNvPr id="73" name="Text 70"/>
          <p:cNvSpPr txBox="1"/>
          <p:nvPr/>
        </p:nvSpPr>
        <p:spPr>
          <a:xfrm>
            <a:off x="6748272" y="5588813"/>
            <a:ext cx="2286000" cy="173736"/>
          </a:xfrm>
          <a:prstGeom prst="rect">
            <a:avLst/>
          </a:prstGeom>
          <a:noFill/>
          <a:ln/>
        </p:spPr>
        <p:txBody>
          <a:bodyPr wrap="square" lIns="0" tIns="0" rIns="0" bIns="0" rtlCol="0" anchor="ctr"/>
          <a:lstStyle/>
          <a:p>
            <a:pPr indent="0" marL="0">
              <a:buNone/>
            </a:pPr>
            <a:r>
              <a:rPr lang="en-US" sz="750" dirty="0">
                <a:solidFill>
                  <a:srgbClr val="12293A"/>
                </a:solidFill>
                <a:latin typeface="Poppins" pitchFamily="34" charset="0"/>
                <a:ea typeface="Poppins" pitchFamily="34" charset="-122"/>
                <a:cs typeface="Poppins" pitchFamily="34" charset="-120"/>
              </a:rPr>
              <a:t>Bar Carolina</a:t>
            </a:r>
            <a:endParaRPr lang="en-US" sz="750" dirty="0"/>
          </a:p>
        </p:txBody>
      </p:sp>
      <p:sp>
        <p:nvSpPr>
          <p:cNvPr id="74" name="Text 71"/>
          <p:cNvSpPr txBox="1"/>
          <p:nvPr/>
        </p:nvSpPr>
        <p:spPr>
          <a:xfrm>
            <a:off x="9052560" y="5588813"/>
            <a:ext cx="822960" cy="173736"/>
          </a:xfrm>
          <a:prstGeom prst="rect">
            <a:avLst/>
          </a:prstGeom>
          <a:noFill/>
          <a:ln/>
        </p:spPr>
        <p:txBody>
          <a:bodyPr wrap="square" lIns="0" tIns="0" rIns="0" bIns="0" rtlCol="0" anchor="ctr"/>
          <a:lstStyle/>
          <a:p>
            <a:pPr algn="r" indent="0" marL="0">
              <a:buNone/>
            </a:pPr>
            <a:r>
              <a:rPr lang="en-US" sz="750" b="1" dirty="0">
                <a:solidFill>
                  <a:srgbClr val="B4552D"/>
                </a:solidFill>
                <a:latin typeface="Poppins" pitchFamily="34" charset="0"/>
                <a:ea typeface="Poppins" pitchFamily="34" charset="-122"/>
                <a:cs typeface="Poppins" pitchFamily="34" charset="-120"/>
              </a:rPr>
              <a:t>$6k</a:t>
            </a:r>
            <a:endParaRPr lang="en-US" sz="750" dirty="0"/>
          </a:p>
        </p:txBody>
      </p:sp>
      <p:sp>
        <p:nvSpPr>
          <p:cNvPr id="75" name="Text 72"/>
          <p:cNvSpPr txBox="1"/>
          <p:nvPr/>
        </p:nvSpPr>
        <p:spPr>
          <a:xfrm>
            <a:off x="9921240" y="5588813"/>
            <a:ext cx="6858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$474</a:t>
            </a:r>
            <a:endParaRPr lang="en-US" sz="750" dirty="0"/>
          </a:p>
        </p:txBody>
      </p:sp>
      <p:sp>
        <p:nvSpPr>
          <p:cNvPr id="76" name="Text 73"/>
          <p:cNvSpPr txBox="1"/>
          <p:nvPr/>
        </p:nvSpPr>
        <p:spPr>
          <a:xfrm>
            <a:off x="10652760" y="5588813"/>
            <a:ext cx="4572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Oct</a:t>
            </a:r>
            <a:endParaRPr lang="en-US" sz="750" dirty="0"/>
          </a:p>
        </p:txBody>
      </p:sp>
      <p:sp>
        <p:nvSpPr>
          <p:cNvPr id="77" name="Text 74"/>
          <p:cNvSpPr txBox="1"/>
          <p:nvPr/>
        </p:nvSpPr>
        <p:spPr>
          <a:xfrm>
            <a:off x="11155680" y="5588813"/>
            <a:ext cx="384048" cy="173736"/>
          </a:xfrm>
          <a:prstGeom prst="rect">
            <a:avLst/>
          </a:prstGeom>
          <a:noFill/>
          <a:ln/>
        </p:spPr>
        <p:txBody>
          <a:bodyPr wrap="square" lIns="0" tIns="0" rIns="0" bIns="0" rtlCol="0" anchor="ctr"/>
          <a:lstStyle/>
          <a:p>
            <a:pPr algn="r" indent="0" marL="0">
              <a:buNone/>
            </a:pPr>
            <a:endParaRPr lang="en-US" sz="750" dirty="0"/>
          </a:p>
        </p:txBody>
      </p:sp>
      <p:sp>
        <p:nvSpPr>
          <p:cNvPr id="78" name="Text 75"/>
          <p:cNvSpPr txBox="1"/>
          <p:nvPr/>
        </p:nvSpPr>
        <p:spPr>
          <a:xfrm>
            <a:off x="6510528" y="5764378"/>
            <a:ext cx="201168" cy="173736"/>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8</a:t>
            </a:r>
            <a:endParaRPr lang="en-US" sz="700" dirty="0"/>
          </a:p>
        </p:txBody>
      </p:sp>
      <p:sp>
        <p:nvSpPr>
          <p:cNvPr id="79" name="Text 76"/>
          <p:cNvSpPr txBox="1"/>
          <p:nvPr/>
        </p:nvSpPr>
        <p:spPr>
          <a:xfrm>
            <a:off x="6748272" y="5764378"/>
            <a:ext cx="2286000" cy="173736"/>
          </a:xfrm>
          <a:prstGeom prst="rect">
            <a:avLst/>
          </a:prstGeom>
          <a:noFill/>
          <a:ln/>
        </p:spPr>
        <p:txBody>
          <a:bodyPr wrap="square" lIns="0" tIns="0" rIns="0" bIns="0" rtlCol="0" anchor="ctr"/>
          <a:lstStyle/>
          <a:p>
            <a:pPr indent="0" marL="0">
              <a:buNone/>
            </a:pPr>
            <a:r>
              <a:rPr lang="en-US" sz="750" dirty="0">
                <a:solidFill>
                  <a:srgbClr val="12293A"/>
                </a:solidFill>
                <a:latin typeface="Poppins" pitchFamily="34" charset="0"/>
                <a:ea typeface="Poppins" pitchFamily="34" charset="-122"/>
                <a:cs typeface="Poppins" pitchFamily="34" charset="-120"/>
              </a:rPr>
              <a:t>Hotel Augusta</a:t>
            </a:r>
            <a:endParaRPr lang="en-US" sz="750" dirty="0"/>
          </a:p>
        </p:txBody>
      </p:sp>
      <p:sp>
        <p:nvSpPr>
          <p:cNvPr id="80" name="Text 77"/>
          <p:cNvSpPr txBox="1"/>
          <p:nvPr/>
        </p:nvSpPr>
        <p:spPr>
          <a:xfrm>
            <a:off x="9052560" y="5764378"/>
            <a:ext cx="822960" cy="173736"/>
          </a:xfrm>
          <a:prstGeom prst="rect">
            <a:avLst/>
          </a:prstGeom>
          <a:noFill/>
          <a:ln/>
        </p:spPr>
        <p:txBody>
          <a:bodyPr wrap="square" lIns="0" tIns="0" rIns="0" bIns="0" rtlCol="0" anchor="ctr"/>
          <a:lstStyle/>
          <a:p>
            <a:pPr algn="r" indent="0" marL="0">
              <a:buNone/>
            </a:pPr>
            <a:r>
              <a:rPr lang="en-US" sz="750" b="1" dirty="0">
                <a:solidFill>
                  <a:srgbClr val="B4552D"/>
                </a:solidFill>
                <a:latin typeface="Poppins" pitchFamily="34" charset="0"/>
                <a:ea typeface="Poppins" pitchFamily="34" charset="-122"/>
                <a:cs typeface="Poppins" pitchFamily="34" charset="-120"/>
              </a:rPr>
              <a:t>$5k</a:t>
            </a:r>
            <a:endParaRPr lang="en-US" sz="750" dirty="0"/>
          </a:p>
        </p:txBody>
      </p:sp>
      <p:sp>
        <p:nvSpPr>
          <p:cNvPr id="81" name="Text 78"/>
          <p:cNvSpPr txBox="1"/>
          <p:nvPr/>
        </p:nvSpPr>
        <p:spPr>
          <a:xfrm>
            <a:off x="9921240" y="5764378"/>
            <a:ext cx="6858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$410</a:t>
            </a:r>
            <a:endParaRPr lang="en-US" sz="750" dirty="0"/>
          </a:p>
        </p:txBody>
      </p:sp>
      <p:sp>
        <p:nvSpPr>
          <p:cNvPr id="82" name="Text 79"/>
          <p:cNvSpPr txBox="1"/>
          <p:nvPr/>
        </p:nvSpPr>
        <p:spPr>
          <a:xfrm>
            <a:off x="10652760" y="5764378"/>
            <a:ext cx="4572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Jun</a:t>
            </a:r>
            <a:endParaRPr lang="en-US" sz="750" dirty="0"/>
          </a:p>
        </p:txBody>
      </p:sp>
      <p:sp>
        <p:nvSpPr>
          <p:cNvPr id="83" name="Text 80"/>
          <p:cNvSpPr txBox="1"/>
          <p:nvPr/>
        </p:nvSpPr>
        <p:spPr>
          <a:xfrm>
            <a:off x="11155680" y="5764378"/>
            <a:ext cx="384048" cy="173736"/>
          </a:xfrm>
          <a:prstGeom prst="rect">
            <a:avLst/>
          </a:prstGeom>
          <a:noFill/>
          <a:ln/>
        </p:spPr>
        <p:txBody>
          <a:bodyPr wrap="square" lIns="0" tIns="0" rIns="0" bIns="0" rtlCol="0" anchor="ctr"/>
          <a:lstStyle/>
          <a:p>
            <a:pPr algn="r" indent="0" marL="0">
              <a:buNone/>
            </a:pPr>
            <a:endParaRPr lang="en-US" sz="750" dirty="0"/>
          </a:p>
        </p:txBody>
      </p:sp>
      <p:sp>
        <p:nvSpPr>
          <p:cNvPr id="84" name="Text 81"/>
          <p:cNvSpPr txBox="1"/>
          <p:nvPr/>
        </p:nvSpPr>
        <p:spPr>
          <a:xfrm>
            <a:off x="6510528" y="5939942"/>
            <a:ext cx="201168" cy="173736"/>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9</a:t>
            </a:r>
            <a:endParaRPr lang="en-US" sz="700" dirty="0"/>
          </a:p>
        </p:txBody>
      </p:sp>
      <p:sp>
        <p:nvSpPr>
          <p:cNvPr id="85" name="Text 82"/>
          <p:cNvSpPr txBox="1"/>
          <p:nvPr/>
        </p:nvSpPr>
        <p:spPr>
          <a:xfrm>
            <a:off x="6748272" y="5939942"/>
            <a:ext cx="2286000" cy="173736"/>
          </a:xfrm>
          <a:prstGeom prst="rect">
            <a:avLst/>
          </a:prstGeom>
          <a:noFill/>
          <a:ln/>
        </p:spPr>
        <p:txBody>
          <a:bodyPr wrap="square" lIns="0" tIns="0" rIns="0" bIns="0" rtlCol="0" anchor="ctr"/>
          <a:lstStyle/>
          <a:p>
            <a:pPr indent="0" marL="0">
              <a:buNone/>
            </a:pPr>
            <a:r>
              <a:rPr lang="en-US" sz="750" dirty="0">
                <a:solidFill>
                  <a:srgbClr val="12293A"/>
                </a:solidFill>
                <a:latin typeface="Poppins" pitchFamily="34" charset="0"/>
                <a:ea typeface="Poppins" pitchFamily="34" charset="-122"/>
                <a:cs typeface="Poppins" pitchFamily="34" charset="-120"/>
              </a:rPr>
              <a:t>The Star Hotel (Milton)</a:t>
            </a:r>
            <a:endParaRPr lang="en-US" sz="750" dirty="0"/>
          </a:p>
        </p:txBody>
      </p:sp>
      <p:sp>
        <p:nvSpPr>
          <p:cNvPr id="86" name="Text 83"/>
          <p:cNvSpPr txBox="1"/>
          <p:nvPr/>
        </p:nvSpPr>
        <p:spPr>
          <a:xfrm>
            <a:off x="9052560" y="5939942"/>
            <a:ext cx="822960" cy="173736"/>
          </a:xfrm>
          <a:prstGeom prst="rect">
            <a:avLst/>
          </a:prstGeom>
          <a:noFill/>
          <a:ln/>
        </p:spPr>
        <p:txBody>
          <a:bodyPr wrap="square" lIns="0" tIns="0" rIns="0" bIns="0" rtlCol="0" anchor="ctr"/>
          <a:lstStyle/>
          <a:p>
            <a:pPr algn="r" indent="0" marL="0">
              <a:buNone/>
            </a:pPr>
            <a:r>
              <a:rPr lang="en-US" sz="750" b="1" dirty="0">
                <a:solidFill>
                  <a:srgbClr val="B4552D"/>
                </a:solidFill>
                <a:latin typeface="Poppins" pitchFamily="34" charset="0"/>
                <a:ea typeface="Poppins" pitchFamily="34" charset="-122"/>
                <a:cs typeface="Poppins" pitchFamily="34" charset="-120"/>
              </a:rPr>
              <a:t>$5k</a:t>
            </a:r>
            <a:endParaRPr lang="en-US" sz="750" dirty="0"/>
          </a:p>
        </p:txBody>
      </p:sp>
      <p:sp>
        <p:nvSpPr>
          <p:cNvPr id="87" name="Text 84"/>
          <p:cNvSpPr txBox="1"/>
          <p:nvPr/>
        </p:nvSpPr>
        <p:spPr>
          <a:xfrm>
            <a:off x="9921240" y="5939942"/>
            <a:ext cx="6858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$392</a:t>
            </a:r>
            <a:endParaRPr lang="en-US" sz="750" dirty="0"/>
          </a:p>
        </p:txBody>
      </p:sp>
      <p:sp>
        <p:nvSpPr>
          <p:cNvPr id="88" name="Text 85"/>
          <p:cNvSpPr txBox="1"/>
          <p:nvPr/>
        </p:nvSpPr>
        <p:spPr>
          <a:xfrm>
            <a:off x="10652760" y="5939942"/>
            <a:ext cx="4572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Oct</a:t>
            </a:r>
            <a:endParaRPr lang="en-US" sz="750" dirty="0"/>
          </a:p>
        </p:txBody>
      </p:sp>
      <p:sp>
        <p:nvSpPr>
          <p:cNvPr id="89" name="Text 86"/>
          <p:cNvSpPr txBox="1"/>
          <p:nvPr/>
        </p:nvSpPr>
        <p:spPr>
          <a:xfrm>
            <a:off x="11155680" y="5939942"/>
            <a:ext cx="384048" cy="173736"/>
          </a:xfrm>
          <a:prstGeom prst="rect">
            <a:avLst/>
          </a:prstGeom>
          <a:noFill/>
          <a:ln/>
        </p:spPr>
        <p:txBody>
          <a:bodyPr wrap="square" lIns="0" tIns="0" rIns="0" bIns="0" rtlCol="0" anchor="ctr"/>
          <a:lstStyle/>
          <a:p>
            <a:pPr algn="r" indent="0" marL="0">
              <a:buNone/>
            </a:pPr>
            <a:endParaRPr lang="en-US" sz="750" dirty="0"/>
          </a:p>
        </p:txBody>
      </p:sp>
      <p:sp>
        <p:nvSpPr>
          <p:cNvPr id="90" name="Text 87"/>
          <p:cNvSpPr txBox="1"/>
          <p:nvPr/>
        </p:nvSpPr>
        <p:spPr>
          <a:xfrm>
            <a:off x="6510528" y="6115507"/>
            <a:ext cx="201168" cy="173736"/>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10</a:t>
            </a:r>
            <a:endParaRPr lang="en-US" sz="700" dirty="0"/>
          </a:p>
        </p:txBody>
      </p:sp>
      <p:sp>
        <p:nvSpPr>
          <p:cNvPr id="91" name="Text 88"/>
          <p:cNvSpPr txBox="1"/>
          <p:nvPr/>
        </p:nvSpPr>
        <p:spPr>
          <a:xfrm>
            <a:off x="6748272" y="6115507"/>
            <a:ext cx="2286000" cy="173736"/>
          </a:xfrm>
          <a:prstGeom prst="rect">
            <a:avLst/>
          </a:prstGeom>
          <a:noFill/>
          <a:ln/>
        </p:spPr>
        <p:txBody>
          <a:bodyPr wrap="square" lIns="0" tIns="0" rIns="0" bIns="0" rtlCol="0" anchor="ctr"/>
          <a:lstStyle/>
          <a:p>
            <a:pPr indent="0" marL="0">
              <a:buNone/>
            </a:pPr>
            <a:r>
              <a:rPr lang="en-US" sz="750" dirty="0">
                <a:solidFill>
                  <a:srgbClr val="12293A"/>
                </a:solidFill>
                <a:latin typeface="Poppins" pitchFamily="34" charset="0"/>
                <a:ea typeface="Poppins" pitchFamily="34" charset="-122"/>
                <a:cs typeface="Poppins" pitchFamily="34" charset="-120"/>
              </a:rPr>
              <a:t>Bar Orient</a:t>
            </a:r>
            <a:endParaRPr lang="en-US" sz="750" dirty="0"/>
          </a:p>
        </p:txBody>
      </p:sp>
      <p:sp>
        <p:nvSpPr>
          <p:cNvPr id="92" name="Text 89"/>
          <p:cNvSpPr txBox="1"/>
          <p:nvPr/>
        </p:nvSpPr>
        <p:spPr>
          <a:xfrm>
            <a:off x="9052560" y="6115507"/>
            <a:ext cx="822960" cy="173736"/>
          </a:xfrm>
          <a:prstGeom prst="rect">
            <a:avLst/>
          </a:prstGeom>
          <a:noFill/>
          <a:ln/>
        </p:spPr>
        <p:txBody>
          <a:bodyPr wrap="square" lIns="0" tIns="0" rIns="0" bIns="0" rtlCol="0" anchor="ctr"/>
          <a:lstStyle/>
          <a:p>
            <a:pPr algn="r" indent="0" marL="0">
              <a:buNone/>
            </a:pPr>
            <a:r>
              <a:rPr lang="en-US" sz="750" b="1" dirty="0">
                <a:solidFill>
                  <a:srgbClr val="B4552D"/>
                </a:solidFill>
                <a:latin typeface="Poppins" pitchFamily="34" charset="0"/>
                <a:ea typeface="Poppins" pitchFamily="34" charset="-122"/>
                <a:cs typeface="Poppins" pitchFamily="34" charset="-120"/>
              </a:rPr>
              <a:t>$5k</a:t>
            </a:r>
            <a:endParaRPr lang="en-US" sz="750" dirty="0"/>
          </a:p>
        </p:txBody>
      </p:sp>
      <p:sp>
        <p:nvSpPr>
          <p:cNvPr id="93" name="Text 90"/>
          <p:cNvSpPr txBox="1"/>
          <p:nvPr/>
        </p:nvSpPr>
        <p:spPr>
          <a:xfrm>
            <a:off x="9921240" y="6115507"/>
            <a:ext cx="6858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$377</a:t>
            </a:r>
            <a:endParaRPr lang="en-US" sz="750" dirty="0"/>
          </a:p>
        </p:txBody>
      </p:sp>
      <p:sp>
        <p:nvSpPr>
          <p:cNvPr id="94" name="Text 91"/>
          <p:cNvSpPr txBox="1"/>
          <p:nvPr/>
        </p:nvSpPr>
        <p:spPr>
          <a:xfrm>
            <a:off x="10652760" y="6115507"/>
            <a:ext cx="4572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Sep</a:t>
            </a:r>
            <a:endParaRPr lang="en-US" sz="750" dirty="0"/>
          </a:p>
        </p:txBody>
      </p:sp>
      <p:sp>
        <p:nvSpPr>
          <p:cNvPr id="95" name="Text 92"/>
          <p:cNvSpPr txBox="1"/>
          <p:nvPr/>
        </p:nvSpPr>
        <p:spPr>
          <a:xfrm>
            <a:off x="11155680" y="6115507"/>
            <a:ext cx="384048" cy="173736"/>
          </a:xfrm>
          <a:prstGeom prst="rect">
            <a:avLst/>
          </a:prstGeom>
          <a:noFill/>
          <a:ln/>
        </p:spPr>
        <p:txBody>
          <a:bodyPr wrap="square" lIns="0" tIns="0" rIns="0" bIns="0" rtlCol="0" anchor="ctr"/>
          <a:lstStyle/>
          <a:p>
            <a:pPr algn="r" indent="0" marL="0">
              <a:buNone/>
            </a:pPr>
            <a:endParaRPr lang="en-US" sz="750" dirty="0"/>
          </a:p>
        </p:txBody>
      </p:sp>
      <p:sp>
        <p:nvSpPr>
          <p:cNvPr id="96" name="Shape 93"/>
          <p:cNvSpPr/>
          <p:nvPr/>
        </p:nvSpPr>
        <p:spPr>
          <a:xfrm>
            <a:off x="411480" y="4023360"/>
            <a:ext cx="5760720" cy="2340864"/>
          </a:xfrm>
          <a:prstGeom prst="roundRect">
            <a:avLst>
              <a:gd name="adj" fmla="val 2734"/>
            </a:avLst>
          </a:prstGeom>
          <a:solidFill>
            <a:srgbClr val="FFFFFF"/>
          </a:solidFill>
          <a:ln/>
          <a:effectLst>
            <a:outerShdw sx="100000" sy="100000" kx="0" ky="0" algn="bl" rotWithShape="0" blurRad="76200" dist="25400" dir="5400000">
              <a:srgbClr val="9AAAB5">
                <a:alpha val="35000"/>
              </a:srgbClr>
            </a:outerShdw>
          </a:effectLst>
        </p:spPr>
      </p:sp>
      <p:sp>
        <p:nvSpPr>
          <p:cNvPr id="97" name="Text 94"/>
          <p:cNvSpPr txBox="1"/>
          <p:nvPr/>
        </p:nvSpPr>
        <p:spPr>
          <a:xfrm>
            <a:off x="612648" y="4133088"/>
            <a:ext cx="5303520"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AI SUMMARY</a:t>
            </a:r>
            <a:endParaRPr lang="en-US" sz="1200" dirty="0"/>
          </a:p>
        </p:txBody>
      </p:sp>
      <p:sp>
        <p:nvSpPr>
          <p:cNvPr id="98" name="Text 95"/>
          <p:cNvSpPr txBox="1"/>
          <p:nvPr/>
        </p:nvSpPr>
        <p:spPr>
          <a:xfrm>
            <a:off x="612648" y="4425696"/>
            <a:ext cx="5349240" cy="1810512"/>
          </a:xfrm>
          <a:prstGeom prst="rect">
            <a:avLst/>
          </a:prstGeom>
          <a:noFill/>
          <a:ln/>
        </p:spPr>
        <p:txBody>
          <a:bodyPr wrap="square" lIns="0" tIns="0" rIns="0" bIns="0" rtlCol="0" anchor="t"/>
          <a:lstStyle/>
          <a:p>
            <a:pPr indent="0" marL="0">
              <a:buNone/>
            </a:pPr>
            <a:r>
              <a:rPr lang="en-US" sz="850" b="1" dirty="0">
                <a:solidFill>
                  <a:srgbClr val="B4552D"/>
                </a:solidFill>
                <a:latin typeface="Poppins" pitchFamily="34" charset="0"/>
                <a:ea typeface="Poppins" pitchFamily="34" charset="-122"/>
                <a:cs typeface="Poppins" pitchFamily="34" charset="-120"/>
              </a:rPr>
              <a:t>•  </a:t>
            </a:r>
            <a:pPr indent="0" marL="0">
              <a:buNone/>
            </a:pPr>
            <a:r>
              <a:rPr lang="en-US" sz="850" b="1" dirty="0">
                <a:solidFill>
                  <a:srgbClr val="12293A"/>
                </a:solidFill>
                <a:latin typeface="Poppins" pitchFamily="34" charset="0"/>
                <a:ea typeface="Poppins" pitchFamily="34" charset="-122"/>
                <a:cs typeface="Poppins" pitchFamily="34" charset="-120"/>
              </a:rPr>
              <a:t>October has won more than it has invoiced, for the first time since June. </a:t>
            </a:r>
            <a:pPr indent="0" marL="0">
              <a:spcAft>
                <a:spcPts val="600"/>
              </a:spcAft>
              <a:buNone/>
            </a:pPr>
            <a:r>
              <a:rPr lang="en-US" sz="850" dirty="0">
                <a:solidFill>
                  <a:srgbClr val="3A4B57"/>
                </a:solidFill>
                <a:latin typeface="Poppins" pitchFamily="34" charset="0"/>
                <a:ea typeface="Poppins" pitchFamily="34" charset="-122"/>
                <a:cs typeface="Poppins" pitchFamily="34" charset="-120"/>
              </a:rPr>
              <a:t>$5,021 won against $3,817 invoiced. Ten months of both series read live from HubSpot and the register.</a:t>
            </a:r>
            <a:endParaRPr lang="en-US" sz="850" dirty="0"/>
          </a:p>
          <a:p>
            <a:pPr indent="0" marL="0">
              <a:buNone/>
            </a:pPr>
            <a:r>
              <a:rPr lang="en-US" sz="850" b="1" dirty="0">
                <a:solidFill>
                  <a:srgbClr val="C88A2E"/>
                </a:solidFill>
                <a:latin typeface="Poppins" pitchFamily="34" charset="0"/>
                <a:ea typeface="Poppins" pitchFamily="34" charset="-122"/>
                <a:cs typeface="Poppins" pitchFamily="34" charset="-120"/>
              </a:rPr>
              <a:t>•  </a:t>
            </a:r>
            <a:pPr indent="0" marL="0">
              <a:buNone/>
            </a:pPr>
            <a:r>
              <a:rPr lang="en-US" sz="850" b="1" dirty="0">
                <a:solidFill>
                  <a:srgbClr val="12293A"/>
                </a:solidFill>
                <a:latin typeface="Poppins" pitchFamily="34" charset="0"/>
                <a:ea typeface="Poppins" pitchFamily="34" charset="-122"/>
                <a:cs typeface="Poppins" pitchFamily="34" charset="-120"/>
              </a:rPr>
              <a:t>Churn is still the whole story: $1.28M of ARR across 271 logos since Jan 2025. </a:t>
            </a:r>
            <a:pPr indent="0" marL="0">
              <a:spcAft>
                <a:spcPts val="600"/>
              </a:spcAft>
              <a:buNone/>
            </a:pPr>
            <a:r>
              <a:rPr lang="en-US" sz="850" dirty="0">
                <a:solidFill>
                  <a:srgbClr val="3A4B57"/>
                </a:solidFill>
                <a:latin typeface="Poppins" pitchFamily="34" charset="0"/>
                <a:ea typeface="Poppins" pitchFamily="34" charset="-122"/>
                <a:cs typeface="Poppins" pitchFamily="34" charset="-120"/>
              </a:rPr>
              <a:t>Q4 is −$7.7k net — $3.8k in against $9.4k of churn and $2.1k of contraction, eighteen days in. Two more logos went this week: Solotel Sackville divested, Zig Zag Lithgow to a competitor.</a:t>
            </a:r>
            <a:endParaRPr lang="en-US" sz="850" dirty="0"/>
          </a:p>
          <a:p>
            <a:pPr indent="0" marL="0">
              <a:buNone/>
            </a:pPr>
            <a:r>
              <a:rPr lang="en-US" sz="850" b="1" dirty="0">
                <a:solidFill>
                  <a:srgbClr val="2C8394"/>
                </a:solidFill>
                <a:latin typeface="Poppins" pitchFamily="34" charset="0"/>
                <a:ea typeface="Poppins" pitchFamily="34" charset="-122"/>
                <a:cs typeface="Poppins" pitchFamily="34" charset="-120"/>
              </a:rPr>
              <a:t>•  </a:t>
            </a:r>
            <a:pPr indent="0" marL="0">
              <a:buNone/>
            </a:pPr>
            <a:r>
              <a:rPr lang="en-US" sz="850" b="1" dirty="0">
                <a:solidFill>
                  <a:srgbClr val="12293A"/>
                </a:solidFill>
                <a:latin typeface="Poppins" pitchFamily="34" charset="0"/>
                <a:ea typeface="Poppins" pitchFamily="34" charset="-122"/>
                <a:cs typeface="Poppins" pitchFamily="34" charset="-120"/>
              </a:rPr>
              <a:t>$240k of ARR is won with no row on the register. </a:t>
            </a:r>
            <a:pPr indent="0" marL="0">
              <a:spcAft>
                <a:spcPts val="600"/>
              </a:spcAft>
              <a:buNone/>
            </a:pPr>
            <a:r>
              <a:rPr lang="en-US" sz="850" dirty="0">
                <a:solidFill>
                  <a:srgbClr val="3A4B57"/>
                </a:solidFill>
                <a:latin typeface="Poppins" pitchFamily="34" charset="0"/>
                <a:ea typeface="Poppins" pitchFamily="34" charset="-122"/>
                <a:cs typeface="Poppins" pitchFamily="34" charset="-120"/>
              </a:rPr>
              <a:t>20 of the 95 deals that carried software MRR in 2026. Oscars Group is $155k of it — 64%. The new PS slide breaks the whole list down by age.</a:t>
            </a:r>
            <a:endParaRPr lang="en-US" sz="850" dirty="0"/>
          </a:p>
          <a:p>
            <a:pPr indent="0" marL="0">
              <a:buNone/>
            </a:pPr>
            <a:r>
              <a:rPr lang="en-US" sz="700" dirty="0">
                <a:solidFill>
                  <a:srgbClr val="8FA1AC"/>
                </a:solidFill>
                <a:latin typeface="Poppins" pitchFamily="34" charset="0"/>
                <a:ea typeface="Poppins" pitchFamily="34" charset="-122"/>
                <a:cs typeface="Poppins" pitchFamily="34" charset="-120"/>
              </a:rPr>
              <a:t>◆ Oscars Group — signed, ~1.5x rollout, held by the old provider's contract terms. AVC new sites excluded where they are parked licences. Ten more sit below the cut, together worth $2.2k/mo. The full list is on the Closed Won — Not Yet Live slide.</a:t>
            </a:r>
            <a:endParaRPr lang="en-US" sz="850" dirty="0"/>
          </a:p>
        </p:txBody>
      </p:sp>
      <p:sp>
        <p:nvSpPr>
          <p:cNvPr id="99" name="Text 96"/>
          <p:cNvSpPr txBox="1"/>
          <p:nvPr/>
        </p:nvSpPr>
        <p:spPr>
          <a:xfrm>
            <a:off x="411480" y="6455664"/>
            <a:ext cx="7589520" cy="256032"/>
          </a:xfrm>
          <a:prstGeom prst="rect">
            <a:avLst/>
          </a:prstGeom>
          <a:noFill/>
          <a:ln/>
        </p:spPr>
        <p:txBody>
          <a:bodyPr wrap="square" lIns="0" tIns="0" rIns="0" bIns="0" rtlCol="0" anchor="ctr"/>
          <a:lstStyle/>
          <a:p>
            <a:pPr indent="0" marL="0">
              <a:buNone/>
            </a:pPr>
            <a:r>
              <a:rPr lang="en-US" sz="750" dirty="0">
                <a:solidFill>
                  <a:srgbClr val="8FA1AC"/>
                </a:solidFill>
                <a:latin typeface="Poppins" pitchFamily="34" charset="0"/>
                <a:ea typeface="Poppins" pitchFamily="34" charset="-122"/>
                <a:cs typeface="Poppins" pitchFamily="34" charset="-120"/>
              </a:rPr>
              <a:t>ARR = monthly MRR × 12 · matched on debtor ID and venue name</a:t>
            </a:r>
            <a:endParaRPr lang="en-US" sz="750" dirty="0"/>
          </a:p>
        </p:txBody>
      </p:sp>
      <p:sp>
        <p:nvSpPr>
          <p:cNvPr id="100" name="Shape 97"/>
          <p:cNvSpPr/>
          <p:nvPr/>
        </p:nvSpPr>
        <p:spPr>
          <a:xfrm>
            <a:off x="5925312" y="6510528"/>
            <a:ext cx="5852160" cy="256032"/>
          </a:xfrm>
          <a:prstGeom prst="roundRect">
            <a:avLst>
              <a:gd name="adj" fmla="val 46429"/>
            </a:avLst>
          </a:prstGeom>
          <a:solidFill>
            <a:srgbClr val="12293A"/>
          </a:solidFill>
          <a:ln/>
        </p:spPr>
      </p:sp>
      <p:sp>
        <p:nvSpPr>
          <p:cNvPr id="101" name="Text 98"/>
          <p:cNvSpPr txBox="1"/>
          <p:nvPr/>
        </p:nvSpPr>
        <p:spPr>
          <a:xfrm>
            <a:off x="5925312" y="6510528"/>
            <a:ext cx="5852160" cy="256032"/>
          </a:xfrm>
          <a:prstGeom prst="rect">
            <a:avLst/>
          </a:prstGeom>
          <a:noFill/>
          <a:ln/>
        </p:spPr>
        <p:txBody>
          <a:bodyPr wrap="square" lIns="0" tIns="0" rIns="0" bIns="0" rtlCol="0" anchor="ctr"/>
          <a:lstStyle/>
          <a:p>
            <a:pPr algn="ctr" indent="0" marL="0">
              <a:buNone/>
            </a:pPr>
            <a:r>
              <a:rPr lang="en-US" sz="700" b="1" dirty="0">
                <a:solidFill>
                  <a:srgbClr val="FFFFFF"/>
                </a:solidFill>
                <a:latin typeface="Poppins" pitchFamily="34" charset="0"/>
                <a:ea typeface="Poppins" pitchFamily="34" charset="-122"/>
                <a:cs typeface="Poppins" pitchFamily="34" charset="-120"/>
              </a:rPr>
              <a:t>Source: HubSpot closed-won deals (total_software_cost) + MRR movement register (live, 19 Oct) — all series live</a:t>
            </a:r>
            <a:endParaRPr lang="en-US" sz="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2F6F8"/>
        </a:solidFill>
      </p:bgPr>
    </p:bg>
    <p:spTree>
      <p:nvGrpSpPr>
        <p:cNvPr id="1" name=""/>
        <p:cNvGrpSpPr/>
        <p:nvPr/>
      </p:nvGrpSpPr>
      <p:grpSpPr>
        <a:xfrm>
          <a:off x="0" y="0"/>
          <a:ext cx="0" cy="0"/>
          <a:chOff x="0" y="0"/>
          <a:chExt cx="0" cy="0"/>
        </a:xfrm>
      </p:grpSpPr>
      <p:sp>
        <p:nvSpPr>
          <p:cNvPr id="2" name="Shape 0"/>
          <p:cNvSpPr/>
          <p:nvPr/>
        </p:nvSpPr>
        <p:spPr>
          <a:xfrm>
            <a:off x="0" y="0"/>
            <a:ext cx="12188952" cy="841248"/>
          </a:xfrm>
          <a:prstGeom prst="rect">
            <a:avLst/>
          </a:prstGeom>
          <a:solidFill>
            <a:srgbClr val="12293A"/>
          </a:solidFill>
          <a:ln/>
        </p:spPr>
      </p:sp>
      <p:sp>
        <p:nvSpPr>
          <p:cNvPr id="3" name="Shape 1"/>
          <p:cNvSpPr/>
          <p:nvPr/>
        </p:nvSpPr>
        <p:spPr>
          <a:xfrm>
            <a:off x="384048" y="155448"/>
            <a:ext cx="731520" cy="530352"/>
          </a:xfrm>
          <a:prstGeom prst="roundRect">
            <a:avLst>
              <a:gd name="adj" fmla="val 15517"/>
            </a:avLst>
          </a:prstGeom>
          <a:solidFill>
            <a:srgbClr val="FFFFFF"/>
          </a:solidFill>
          <a:ln/>
        </p:spPr>
      </p:sp>
      <p:sp>
        <p:nvSpPr>
          <p:cNvPr id="4" name="Text 2"/>
          <p:cNvSpPr txBox="1"/>
          <p:nvPr/>
        </p:nvSpPr>
        <p:spPr>
          <a:xfrm>
            <a:off x="384048" y="155448"/>
            <a:ext cx="731520" cy="530352"/>
          </a:xfrm>
          <a:prstGeom prst="rect">
            <a:avLst/>
          </a:prstGeom>
          <a:noFill/>
          <a:ln/>
        </p:spPr>
        <p:txBody>
          <a:bodyPr wrap="square" lIns="0" tIns="0" rIns="0" bIns="0" rtlCol="0" anchor="ctr"/>
          <a:lstStyle/>
          <a:p>
            <a:pPr algn="ctr" indent="0" marL="0">
              <a:buNone/>
            </a:pPr>
            <a:r>
              <a:rPr lang="en-US" sz="1500" b="1" dirty="0">
                <a:solidFill>
                  <a:srgbClr val="12293A"/>
                </a:solidFill>
                <a:latin typeface="Poppins" pitchFamily="34" charset="0"/>
                <a:ea typeface="Poppins" pitchFamily="34" charset="-122"/>
                <a:cs typeface="Poppins" pitchFamily="34" charset="-120"/>
              </a:rPr>
              <a:t>H&amp;L</a:t>
            </a:r>
            <a:endParaRPr lang="en-US" sz="1500" dirty="0"/>
          </a:p>
        </p:txBody>
      </p:sp>
      <p:sp>
        <p:nvSpPr>
          <p:cNvPr id="5" name="Text 3"/>
          <p:cNvSpPr txBox="1"/>
          <p:nvPr/>
        </p:nvSpPr>
        <p:spPr>
          <a:xfrm>
            <a:off x="1298448" y="54864"/>
            <a:ext cx="7223760" cy="475488"/>
          </a:xfrm>
          <a:prstGeom prst="rect">
            <a:avLst/>
          </a:prstGeom>
          <a:noFill/>
          <a:ln/>
        </p:spPr>
        <p:txBody>
          <a:bodyPr wrap="square" lIns="0" tIns="0" rIns="0" bIns="0" rtlCol="0" anchor="ctr"/>
          <a:lstStyle/>
          <a:p>
            <a:pPr indent="0" marL="0">
              <a:buNone/>
            </a:pPr>
            <a:r>
              <a:rPr lang="en-US" sz="2300" b="1" dirty="0">
                <a:solidFill>
                  <a:srgbClr val="FFFFFF"/>
                </a:solidFill>
                <a:latin typeface="Poppins" pitchFamily="34" charset="0"/>
                <a:ea typeface="Poppins" pitchFamily="34" charset="-122"/>
                <a:cs typeface="Poppins" pitchFamily="34" charset="-120"/>
              </a:rPr>
              <a:t>Backlog</a:t>
            </a:r>
            <a:endParaRPr lang="en-US" sz="2300" dirty="0"/>
          </a:p>
        </p:txBody>
      </p:sp>
      <p:sp>
        <p:nvSpPr>
          <p:cNvPr id="6" name="Text 4"/>
          <p:cNvSpPr txBox="1"/>
          <p:nvPr/>
        </p:nvSpPr>
        <p:spPr>
          <a:xfrm>
            <a:off x="1316736" y="512064"/>
            <a:ext cx="7040880" cy="256032"/>
          </a:xfrm>
          <a:prstGeom prst="rect">
            <a:avLst/>
          </a:prstGeom>
          <a:noFill/>
          <a:ln/>
        </p:spPr>
        <p:txBody>
          <a:bodyPr wrap="square" lIns="0" tIns="0" rIns="0" bIns="0" rtlCol="0" anchor="ctr"/>
          <a:lstStyle/>
          <a:p>
            <a:pPr indent="0" marL="0">
              <a:buNone/>
            </a:pPr>
            <a:r>
              <a:rPr lang="en-US" sz="1050" dirty="0">
                <a:solidFill>
                  <a:srgbClr val="6FAEBB"/>
                </a:solidFill>
                <a:latin typeface="Poppins" pitchFamily="34" charset="0"/>
                <a:ea typeface="Poppins" pitchFamily="34" charset="-122"/>
                <a:cs typeface="Poppins" pitchFamily="34" charset="-120"/>
              </a:rPr>
              <a:t>Support</a:t>
            </a:r>
            <a:endParaRPr lang="en-US" sz="1050" dirty="0"/>
          </a:p>
        </p:txBody>
      </p:sp>
      <p:sp>
        <p:nvSpPr>
          <p:cNvPr id="7" name="Shape 5"/>
          <p:cNvSpPr/>
          <p:nvPr/>
        </p:nvSpPr>
        <p:spPr>
          <a:xfrm>
            <a:off x="8686800" y="82296"/>
            <a:ext cx="1965960" cy="347472"/>
          </a:xfrm>
          <a:prstGeom prst="roundRect">
            <a:avLst>
              <a:gd name="adj" fmla="val 50000"/>
            </a:avLst>
          </a:prstGeom>
          <a:solidFill>
            <a:srgbClr val="C88A2E"/>
          </a:solidFill>
          <a:ln w="9525">
            <a:solidFill>
              <a:srgbClr val="FFFFFF">
                <a:alpha val="45000"/>
              </a:srgbClr>
            </a:solidFill>
            <a:prstDash val="solid"/>
          </a:ln>
        </p:spPr>
      </p:sp>
      <p:sp>
        <p:nvSpPr>
          <p:cNvPr id="8" name="Text 6"/>
          <p:cNvSpPr txBox="1"/>
          <p:nvPr/>
        </p:nvSpPr>
        <p:spPr>
          <a:xfrm>
            <a:off x="8686800" y="82296"/>
            <a:ext cx="1965960" cy="347472"/>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3  ·  DID WE KEEP THEM?</a:t>
            </a:r>
            <a:endParaRPr lang="en-US" sz="850" dirty="0"/>
          </a:p>
        </p:txBody>
      </p:sp>
      <p:sp>
        <p:nvSpPr>
          <p:cNvPr id="9" name="Shape 7"/>
          <p:cNvSpPr/>
          <p:nvPr/>
        </p:nvSpPr>
        <p:spPr>
          <a:xfrm>
            <a:off x="8686800" y="484632"/>
            <a:ext cx="1965960" cy="310896"/>
          </a:xfrm>
          <a:prstGeom prst="roundRect">
            <a:avLst>
              <a:gd name="adj" fmla="val 50000"/>
            </a:avLst>
          </a:prstGeom>
          <a:solidFill>
            <a:srgbClr val="B4552D"/>
          </a:solidFill>
          <a:ln/>
        </p:spPr>
      </p:sp>
      <p:sp>
        <p:nvSpPr>
          <p:cNvPr id="10" name="Text 8"/>
          <p:cNvSpPr txBox="1"/>
          <p:nvPr/>
        </p:nvSpPr>
        <p:spPr>
          <a:xfrm>
            <a:off x="8686800" y="484632"/>
            <a:ext cx="1965960" cy="310896"/>
          </a:xfrm>
          <a:prstGeom prst="rect">
            <a:avLst/>
          </a:prstGeom>
          <a:noFill/>
          <a:ln/>
        </p:spPr>
        <p:txBody>
          <a:bodyPr wrap="square" lIns="0" tIns="0" rIns="0" bIns="0" rtlCol="0" anchor="ctr"/>
          <a:lstStyle/>
          <a:p>
            <a:pPr algn="ctr" indent="0" marL="0">
              <a:buNone/>
            </a:pPr>
            <a:r>
              <a:rPr lang="en-US" sz="750" b="1" dirty="0">
                <a:solidFill>
                  <a:srgbClr val="FFFFFF"/>
                </a:solidFill>
                <a:latin typeface="Poppins" pitchFamily="34" charset="0"/>
                <a:ea typeface="Poppins" pitchFamily="34" charset="-122"/>
                <a:cs typeface="Poppins" pitchFamily="34" charset="-120"/>
              </a:rPr>
              <a:t>CUTOVER · NOW HUBSPOT</a:t>
            </a:r>
            <a:endParaRPr lang="en-US" sz="750" dirty="0"/>
          </a:p>
        </p:txBody>
      </p:sp>
      <p:sp>
        <p:nvSpPr>
          <p:cNvPr id="11" name="Shape 9"/>
          <p:cNvSpPr/>
          <p:nvPr/>
        </p:nvSpPr>
        <p:spPr>
          <a:xfrm>
            <a:off x="10872216" y="0"/>
            <a:ext cx="841248" cy="841248"/>
          </a:xfrm>
          <a:prstGeom prst="ellipse">
            <a:avLst/>
          </a:prstGeom>
          <a:solidFill>
            <a:srgbClr val="1C5765"/>
          </a:solidFill>
          <a:ln/>
        </p:spPr>
      </p:sp>
      <p:sp>
        <p:nvSpPr>
          <p:cNvPr id="12" name="Shape 10"/>
          <p:cNvSpPr/>
          <p:nvPr/>
        </p:nvSpPr>
        <p:spPr>
          <a:xfrm>
            <a:off x="10968228" y="96012"/>
            <a:ext cx="649224" cy="649224"/>
          </a:xfrm>
          <a:prstGeom prst="ellipse">
            <a:avLst/>
          </a:prstGeom>
          <a:solidFill>
            <a:srgbClr val="2C8394"/>
          </a:solidFill>
          <a:ln/>
        </p:spPr>
      </p:sp>
      <p:sp>
        <p:nvSpPr>
          <p:cNvPr id="13" name="Shape 11"/>
          <p:cNvSpPr/>
          <p:nvPr/>
        </p:nvSpPr>
        <p:spPr>
          <a:xfrm>
            <a:off x="11064240" y="192024"/>
            <a:ext cx="457200" cy="457200"/>
          </a:xfrm>
          <a:prstGeom prst="ellipse">
            <a:avLst/>
          </a:prstGeom>
          <a:solidFill>
            <a:srgbClr val="6FAEBB"/>
          </a:solidFill>
          <a:ln/>
        </p:spPr>
      </p:sp>
      <p:sp>
        <p:nvSpPr>
          <p:cNvPr id="14" name="Shape 12"/>
          <p:cNvSpPr/>
          <p:nvPr/>
        </p:nvSpPr>
        <p:spPr>
          <a:xfrm>
            <a:off x="11160252" y="288036"/>
            <a:ext cx="265176" cy="265176"/>
          </a:xfrm>
          <a:prstGeom prst="ellipse">
            <a:avLst/>
          </a:prstGeom>
          <a:solidFill>
            <a:srgbClr val="E4F1F4"/>
          </a:solidFill>
          <a:ln/>
        </p:spPr>
      </p:sp>
      <p:sp>
        <p:nvSpPr>
          <p:cNvPr id="15" name="Shape 13"/>
          <p:cNvSpPr/>
          <p:nvPr/>
        </p:nvSpPr>
        <p:spPr>
          <a:xfrm>
            <a:off x="411480" y="1024128"/>
            <a:ext cx="2697480" cy="1143000"/>
          </a:xfrm>
          <a:prstGeom prst="roundRect">
            <a:avLst>
              <a:gd name="adj" fmla="val 5600"/>
            </a:avLst>
          </a:prstGeom>
          <a:solidFill>
            <a:srgbClr val="FFFFFF"/>
          </a:solidFill>
          <a:ln/>
          <a:effectLst>
            <a:outerShdw sx="100000" sy="100000" kx="0" ky="0" algn="bl" rotWithShape="0" blurRad="76200" dist="25400" dir="5400000">
              <a:srgbClr val="9AAAB5">
                <a:alpha val="35000"/>
              </a:srgbClr>
            </a:outerShdw>
          </a:effectLst>
        </p:spPr>
      </p:sp>
      <p:sp>
        <p:nvSpPr>
          <p:cNvPr id="16" name="Text 14"/>
          <p:cNvSpPr txBox="1"/>
          <p:nvPr/>
        </p:nvSpPr>
        <p:spPr>
          <a:xfrm>
            <a:off x="576072" y="1115568"/>
            <a:ext cx="2368296"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OPEN BACKLOG</a:t>
            </a:r>
            <a:endParaRPr lang="en-US" sz="950" dirty="0"/>
          </a:p>
        </p:txBody>
      </p:sp>
      <p:sp>
        <p:nvSpPr>
          <p:cNvPr id="17" name="Text 15"/>
          <p:cNvSpPr txBox="1"/>
          <p:nvPr/>
        </p:nvSpPr>
        <p:spPr>
          <a:xfrm>
            <a:off x="557784" y="1298448"/>
            <a:ext cx="2404872" cy="356616"/>
          </a:xfrm>
          <a:prstGeom prst="rect">
            <a:avLst/>
          </a:prstGeom>
          <a:noFill/>
          <a:ln/>
        </p:spPr>
        <p:txBody>
          <a:bodyPr wrap="square" lIns="0" tIns="0" rIns="0" bIns="0" rtlCol="0" anchor="ctr"/>
          <a:lstStyle/>
          <a:p>
            <a:pPr indent="0" marL="0">
              <a:buNone/>
            </a:pPr>
            <a:r>
              <a:rPr lang="en-US" sz="2600" b="1" dirty="0">
                <a:solidFill>
                  <a:srgbClr val="B4552D"/>
                </a:solidFill>
                <a:latin typeface="Poppins" pitchFamily="34" charset="0"/>
                <a:ea typeface="Poppins" pitchFamily="34" charset="-122"/>
                <a:cs typeface="Poppins" pitchFamily="34" charset="-120"/>
              </a:rPr>
              <a:t>588</a:t>
            </a:r>
            <a:endParaRPr lang="en-US" sz="2600" dirty="0"/>
          </a:p>
        </p:txBody>
      </p:sp>
      <p:sp>
        <p:nvSpPr>
          <p:cNvPr id="18" name="Text 16"/>
          <p:cNvSpPr txBox="1"/>
          <p:nvPr/>
        </p:nvSpPr>
        <p:spPr>
          <a:xfrm>
            <a:off x="576072" y="1691640"/>
            <a:ext cx="2368296"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as at 18 Oct</a:t>
            </a:r>
            <a:endParaRPr lang="en-US" sz="780" dirty="0"/>
          </a:p>
        </p:txBody>
      </p:sp>
      <p:sp>
        <p:nvSpPr>
          <p:cNvPr id="19" name="Shape 17"/>
          <p:cNvSpPr/>
          <p:nvPr/>
        </p:nvSpPr>
        <p:spPr>
          <a:xfrm>
            <a:off x="3291840" y="1024128"/>
            <a:ext cx="2697480" cy="1143000"/>
          </a:xfrm>
          <a:prstGeom prst="roundRect">
            <a:avLst>
              <a:gd name="adj" fmla="val 5600"/>
            </a:avLst>
          </a:prstGeom>
          <a:solidFill>
            <a:srgbClr val="FFFFFF"/>
          </a:solidFill>
          <a:ln/>
          <a:effectLst>
            <a:outerShdw sx="100000" sy="100000" kx="0" ky="0" algn="bl" rotWithShape="0" blurRad="76200" dist="25400" dir="5400000">
              <a:srgbClr val="9AAAB5">
                <a:alpha val="35000"/>
              </a:srgbClr>
            </a:outerShdw>
          </a:effectLst>
        </p:spPr>
      </p:sp>
      <p:sp>
        <p:nvSpPr>
          <p:cNvPr id="20" name="Text 18"/>
          <p:cNvSpPr txBox="1"/>
          <p:nvPr/>
        </p:nvSpPr>
        <p:spPr>
          <a:xfrm>
            <a:off x="3456432" y="1115568"/>
            <a:ext cx="2368296"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OPEN PAST 30 DAYS</a:t>
            </a:r>
            <a:endParaRPr lang="en-US" sz="950" dirty="0"/>
          </a:p>
        </p:txBody>
      </p:sp>
      <p:sp>
        <p:nvSpPr>
          <p:cNvPr id="21" name="Text 19"/>
          <p:cNvSpPr txBox="1"/>
          <p:nvPr/>
        </p:nvSpPr>
        <p:spPr>
          <a:xfrm>
            <a:off x="3438144" y="1298448"/>
            <a:ext cx="2404872" cy="356616"/>
          </a:xfrm>
          <a:prstGeom prst="rect">
            <a:avLst/>
          </a:prstGeom>
          <a:noFill/>
          <a:ln/>
        </p:spPr>
        <p:txBody>
          <a:bodyPr wrap="square" lIns="0" tIns="0" rIns="0" bIns="0" rtlCol="0" anchor="ctr"/>
          <a:lstStyle/>
          <a:p>
            <a:pPr indent="0" marL="0">
              <a:buNone/>
            </a:pPr>
            <a:r>
              <a:rPr lang="en-US" sz="2600" b="1" dirty="0">
                <a:solidFill>
                  <a:srgbClr val="B4552D"/>
                </a:solidFill>
                <a:latin typeface="Poppins" pitchFamily="34" charset="0"/>
                <a:ea typeface="Poppins" pitchFamily="34" charset="-122"/>
                <a:cs typeface="Poppins" pitchFamily="34" charset="-120"/>
              </a:rPr>
              <a:t>277</a:t>
            </a:r>
            <a:endParaRPr lang="en-US" sz="2600" dirty="0"/>
          </a:p>
        </p:txBody>
      </p:sp>
      <p:sp>
        <p:nvSpPr>
          <p:cNvPr id="22" name="Text 20"/>
          <p:cNvSpPr txBox="1"/>
          <p:nvPr/>
        </p:nvSpPr>
        <p:spPr>
          <a:xfrm>
            <a:off x="3456432" y="1691640"/>
            <a:ext cx="2368296"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resolution overdue</a:t>
            </a:r>
            <a:endParaRPr lang="en-US" sz="780" dirty="0"/>
          </a:p>
        </p:txBody>
      </p:sp>
      <p:sp>
        <p:nvSpPr>
          <p:cNvPr id="23" name="Shape 21"/>
          <p:cNvSpPr/>
          <p:nvPr/>
        </p:nvSpPr>
        <p:spPr>
          <a:xfrm>
            <a:off x="6172200" y="1024128"/>
            <a:ext cx="2697480" cy="1143000"/>
          </a:xfrm>
          <a:prstGeom prst="roundRect">
            <a:avLst>
              <a:gd name="adj" fmla="val 5600"/>
            </a:avLst>
          </a:prstGeom>
          <a:solidFill>
            <a:srgbClr val="FFFFFF"/>
          </a:solidFill>
          <a:ln/>
          <a:effectLst>
            <a:outerShdw sx="100000" sy="100000" kx="0" ky="0" algn="bl" rotWithShape="0" blurRad="76200" dist="25400" dir="5400000">
              <a:srgbClr val="9AAAB5">
                <a:alpha val="35000"/>
              </a:srgbClr>
            </a:outerShdw>
          </a:effectLst>
        </p:spPr>
      </p:sp>
      <p:sp>
        <p:nvSpPr>
          <p:cNvPr id="24" name="Text 22"/>
          <p:cNvSpPr txBox="1"/>
          <p:nvPr/>
        </p:nvSpPr>
        <p:spPr>
          <a:xfrm>
            <a:off x="6336792" y="1115568"/>
            <a:ext cx="2368296"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MEDIAN TICKET AGE</a:t>
            </a:r>
            <a:endParaRPr lang="en-US" sz="950" dirty="0"/>
          </a:p>
        </p:txBody>
      </p:sp>
      <p:sp>
        <p:nvSpPr>
          <p:cNvPr id="25" name="Text 23"/>
          <p:cNvSpPr txBox="1"/>
          <p:nvPr/>
        </p:nvSpPr>
        <p:spPr>
          <a:xfrm>
            <a:off x="6318504" y="1298448"/>
            <a:ext cx="2404872" cy="356616"/>
          </a:xfrm>
          <a:prstGeom prst="rect">
            <a:avLst/>
          </a:prstGeom>
          <a:noFill/>
          <a:ln/>
        </p:spPr>
        <p:txBody>
          <a:bodyPr wrap="square" lIns="0" tIns="0" rIns="0" bIns="0" rtlCol="0" anchor="ctr"/>
          <a:lstStyle/>
          <a:p>
            <a:pPr indent="0" marL="0">
              <a:buNone/>
            </a:pPr>
            <a:r>
              <a:rPr lang="en-US" sz="2600" b="1" dirty="0">
                <a:solidFill>
                  <a:srgbClr val="B4552D"/>
                </a:solidFill>
                <a:latin typeface="Poppins" pitchFamily="34" charset="0"/>
                <a:ea typeface="Poppins" pitchFamily="34" charset="-122"/>
                <a:cs typeface="Poppins" pitchFamily="34" charset="-120"/>
              </a:rPr>
              <a:t>27 Days</a:t>
            </a:r>
            <a:endParaRPr lang="en-US" sz="2600" dirty="0"/>
          </a:p>
        </p:txBody>
      </p:sp>
      <p:sp>
        <p:nvSpPr>
          <p:cNvPr id="26" name="Text 24"/>
          <p:cNvSpPr txBox="1"/>
          <p:nvPr/>
        </p:nvSpPr>
        <p:spPr>
          <a:xfrm>
            <a:off x="6336792" y="1691640"/>
            <a:ext cx="2368296"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All open tickets</a:t>
            </a:r>
            <a:endParaRPr lang="en-US" sz="780" dirty="0"/>
          </a:p>
        </p:txBody>
      </p:sp>
      <p:sp>
        <p:nvSpPr>
          <p:cNvPr id="27" name="Shape 25"/>
          <p:cNvSpPr/>
          <p:nvPr/>
        </p:nvSpPr>
        <p:spPr>
          <a:xfrm>
            <a:off x="9052560" y="1024128"/>
            <a:ext cx="2724912" cy="1143000"/>
          </a:xfrm>
          <a:prstGeom prst="roundRect">
            <a:avLst>
              <a:gd name="adj" fmla="val 5600"/>
            </a:avLst>
          </a:prstGeom>
          <a:solidFill>
            <a:srgbClr val="FFFFFF"/>
          </a:solidFill>
          <a:ln/>
          <a:effectLst>
            <a:outerShdw sx="100000" sy="100000" kx="0" ky="0" algn="bl" rotWithShape="0" blurRad="76200" dist="25400" dir="5400000">
              <a:srgbClr val="9AAAB5">
                <a:alpha val="35000"/>
              </a:srgbClr>
            </a:outerShdw>
          </a:effectLst>
        </p:spPr>
      </p:sp>
      <p:sp>
        <p:nvSpPr>
          <p:cNvPr id="28" name="Text 26"/>
          <p:cNvSpPr txBox="1"/>
          <p:nvPr/>
        </p:nvSpPr>
        <p:spPr>
          <a:xfrm>
            <a:off x="9217152" y="1115568"/>
            <a:ext cx="2395728"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TOTAL CASES</a:t>
            </a:r>
            <a:endParaRPr lang="en-US" sz="950" dirty="0"/>
          </a:p>
        </p:txBody>
      </p:sp>
      <p:sp>
        <p:nvSpPr>
          <p:cNvPr id="29" name="Text 27"/>
          <p:cNvSpPr txBox="1"/>
          <p:nvPr/>
        </p:nvSpPr>
        <p:spPr>
          <a:xfrm>
            <a:off x="9198864" y="1298448"/>
            <a:ext cx="2432304" cy="356616"/>
          </a:xfrm>
          <a:prstGeom prst="rect">
            <a:avLst/>
          </a:prstGeom>
          <a:noFill/>
          <a:ln/>
        </p:spPr>
        <p:txBody>
          <a:bodyPr wrap="square" lIns="0" tIns="0" rIns="0" bIns="0" rtlCol="0" anchor="ctr"/>
          <a:lstStyle/>
          <a:p>
            <a:pPr indent="0" marL="0">
              <a:buNone/>
            </a:pPr>
            <a:r>
              <a:rPr lang="en-US" sz="2600" b="1" dirty="0">
                <a:solidFill>
                  <a:srgbClr val="12293A"/>
                </a:solidFill>
                <a:latin typeface="Poppins" pitchFamily="34" charset="0"/>
                <a:ea typeface="Poppins" pitchFamily="34" charset="-122"/>
                <a:cs typeface="Poppins" pitchFamily="34" charset="-120"/>
              </a:rPr>
              <a:t>15,022</a:t>
            </a:r>
            <a:endParaRPr lang="en-US" sz="2600" dirty="0"/>
          </a:p>
        </p:txBody>
      </p:sp>
      <p:sp>
        <p:nvSpPr>
          <p:cNvPr id="30" name="Text 28"/>
          <p:cNvSpPr txBox="1"/>
          <p:nvPr/>
        </p:nvSpPr>
        <p:spPr>
          <a:xfrm>
            <a:off x="9217152" y="1691640"/>
            <a:ext cx="2395728"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1 Feb 26 → 18 Oct 26 · HubSpot basis (all Support-pipeline tickets)</a:t>
            </a:r>
            <a:endParaRPr lang="en-US" sz="780" dirty="0"/>
          </a:p>
        </p:txBody>
      </p:sp>
      <p:sp>
        <p:nvSpPr>
          <p:cNvPr id="31" name="Shape 29"/>
          <p:cNvSpPr/>
          <p:nvPr/>
        </p:nvSpPr>
        <p:spPr>
          <a:xfrm>
            <a:off x="411480" y="2395728"/>
            <a:ext cx="6583680" cy="3913632"/>
          </a:xfrm>
          <a:prstGeom prst="roundRect">
            <a:avLst>
              <a:gd name="adj" fmla="val 1636"/>
            </a:avLst>
          </a:prstGeom>
          <a:solidFill>
            <a:srgbClr val="FFFFFF"/>
          </a:solidFill>
          <a:ln/>
          <a:effectLst>
            <a:outerShdw sx="100000" sy="100000" kx="0" ky="0" algn="bl" rotWithShape="0" blurRad="76200" dist="25400" dir="5400000">
              <a:srgbClr val="9AAAB5">
                <a:alpha val="35000"/>
              </a:srgbClr>
            </a:outerShdw>
          </a:effectLst>
        </p:spPr>
      </p:sp>
      <p:sp>
        <p:nvSpPr>
          <p:cNvPr id="32" name="Text 30"/>
          <p:cNvSpPr txBox="1"/>
          <p:nvPr/>
        </p:nvSpPr>
        <p:spPr>
          <a:xfrm>
            <a:off x="612648" y="2505456"/>
            <a:ext cx="5852160"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OPEN BACKLOG BY AGE BAND vs CLOSED — WEEKLY</a:t>
            </a:r>
            <a:endParaRPr lang="en-US" sz="1200" dirty="0"/>
          </a:p>
        </p:txBody>
      </p:sp>
      <p:sp>
        <p:nvSpPr>
          <p:cNvPr id="33" name="Shape 31"/>
          <p:cNvSpPr/>
          <p:nvPr/>
        </p:nvSpPr>
        <p:spPr>
          <a:xfrm>
            <a:off x="630936" y="2807208"/>
            <a:ext cx="109728" cy="109728"/>
          </a:xfrm>
          <a:prstGeom prst="rect">
            <a:avLst/>
          </a:prstGeom>
          <a:solidFill>
            <a:srgbClr val="3D8F5F"/>
          </a:solidFill>
          <a:ln/>
        </p:spPr>
      </p:sp>
      <p:sp>
        <p:nvSpPr>
          <p:cNvPr id="34" name="Text 32"/>
          <p:cNvSpPr txBox="1"/>
          <p:nvPr/>
        </p:nvSpPr>
        <p:spPr>
          <a:xfrm>
            <a:off x="768096" y="2761488"/>
            <a:ext cx="713232" cy="201168"/>
          </a:xfrm>
          <a:prstGeom prst="rect">
            <a:avLst/>
          </a:prstGeom>
          <a:noFill/>
          <a:ln/>
        </p:spPr>
        <p:txBody>
          <a:bodyPr wrap="square" lIns="0" tIns="0" rIns="0" bIns="0" rtlCol="0" anchor="ctr"/>
          <a:lstStyle/>
          <a:p>
            <a:pPr indent="0" marL="0">
              <a:buNone/>
            </a:pPr>
            <a:r>
              <a:rPr lang="en-US" sz="680" dirty="0">
                <a:solidFill>
                  <a:srgbClr val="5E7280"/>
                </a:solidFill>
                <a:latin typeface="Poppins" pitchFamily="34" charset="0"/>
                <a:ea typeface="Poppins" pitchFamily="34" charset="-122"/>
                <a:cs typeface="Poppins" pitchFamily="34" charset="-120"/>
              </a:rPr>
              <a:t>0–7 days</a:t>
            </a:r>
            <a:endParaRPr lang="en-US" sz="680" dirty="0"/>
          </a:p>
        </p:txBody>
      </p:sp>
      <p:sp>
        <p:nvSpPr>
          <p:cNvPr id="35" name="Shape 33"/>
          <p:cNvSpPr/>
          <p:nvPr/>
        </p:nvSpPr>
        <p:spPr>
          <a:xfrm>
            <a:off x="1453896" y="2807208"/>
            <a:ext cx="109728" cy="109728"/>
          </a:xfrm>
          <a:prstGeom prst="rect">
            <a:avLst/>
          </a:prstGeom>
          <a:solidFill>
            <a:srgbClr val="6FAEBB"/>
          </a:solidFill>
          <a:ln/>
        </p:spPr>
      </p:sp>
      <p:sp>
        <p:nvSpPr>
          <p:cNvPr id="36" name="Text 34"/>
          <p:cNvSpPr txBox="1"/>
          <p:nvPr/>
        </p:nvSpPr>
        <p:spPr>
          <a:xfrm>
            <a:off x="1591056" y="2761488"/>
            <a:ext cx="713232" cy="201168"/>
          </a:xfrm>
          <a:prstGeom prst="rect">
            <a:avLst/>
          </a:prstGeom>
          <a:noFill/>
          <a:ln/>
        </p:spPr>
        <p:txBody>
          <a:bodyPr wrap="square" lIns="0" tIns="0" rIns="0" bIns="0" rtlCol="0" anchor="ctr"/>
          <a:lstStyle/>
          <a:p>
            <a:pPr indent="0" marL="0">
              <a:buNone/>
            </a:pPr>
            <a:r>
              <a:rPr lang="en-US" sz="680" dirty="0">
                <a:solidFill>
                  <a:srgbClr val="5E7280"/>
                </a:solidFill>
                <a:latin typeface="Poppins" pitchFamily="34" charset="0"/>
                <a:ea typeface="Poppins" pitchFamily="34" charset="-122"/>
                <a:cs typeface="Poppins" pitchFamily="34" charset="-120"/>
              </a:rPr>
              <a:t>8–30 days</a:t>
            </a:r>
            <a:endParaRPr lang="en-US" sz="680" dirty="0"/>
          </a:p>
        </p:txBody>
      </p:sp>
      <p:sp>
        <p:nvSpPr>
          <p:cNvPr id="37" name="Shape 35"/>
          <p:cNvSpPr/>
          <p:nvPr/>
        </p:nvSpPr>
        <p:spPr>
          <a:xfrm>
            <a:off x="2276856" y="2807208"/>
            <a:ext cx="109728" cy="109728"/>
          </a:xfrm>
          <a:prstGeom prst="rect">
            <a:avLst/>
          </a:prstGeom>
          <a:solidFill>
            <a:srgbClr val="C88A2E"/>
          </a:solidFill>
          <a:ln/>
        </p:spPr>
      </p:sp>
      <p:sp>
        <p:nvSpPr>
          <p:cNvPr id="38" name="Text 36"/>
          <p:cNvSpPr txBox="1"/>
          <p:nvPr/>
        </p:nvSpPr>
        <p:spPr>
          <a:xfrm>
            <a:off x="2414016" y="2761488"/>
            <a:ext cx="713232" cy="201168"/>
          </a:xfrm>
          <a:prstGeom prst="rect">
            <a:avLst/>
          </a:prstGeom>
          <a:noFill/>
          <a:ln/>
        </p:spPr>
        <p:txBody>
          <a:bodyPr wrap="square" lIns="0" tIns="0" rIns="0" bIns="0" rtlCol="0" anchor="ctr"/>
          <a:lstStyle/>
          <a:p>
            <a:pPr indent="0" marL="0">
              <a:buNone/>
            </a:pPr>
            <a:r>
              <a:rPr lang="en-US" sz="680" dirty="0">
                <a:solidFill>
                  <a:srgbClr val="5E7280"/>
                </a:solidFill>
                <a:latin typeface="Poppins" pitchFamily="34" charset="0"/>
                <a:ea typeface="Poppins" pitchFamily="34" charset="-122"/>
                <a:cs typeface="Poppins" pitchFamily="34" charset="-120"/>
              </a:rPr>
              <a:t>31–90 days</a:t>
            </a:r>
            <a:endParaRPr lang="en-US" sz="680" dirty="0"/>
          </a:p>
        </p:txBody>
      </p:sp>
      <p:sp>
        <p:nvSpPr>
          <p:cNvPr id="39" name="Shape 37"/>
          <p:cNvSpPr/>
          <p:nvPr/>
        </p:nvSpPr>
        <p:spPr>
          <a:xfrm>
            <a:off x="3099816" y="2807208"/>
            <a:ext cx="109728" cy="109728"/>
          </a:xfrm>
          <a:prstGeom prst="rect">
            <a:avLst/>
          </a:prstGeom>
          <a:solidFill>
            <a:srgbClr val="7A3B21"/>
          </a:solidFill>
          <a:ln/>
        </p:spPr>
      </p:sp>
      <p:sp>
        <p:nvSpPr>
          <p:cNvPr id="40" name="Text 38"/>
          <p:cNvSpPr txBox="1"/>
          <p:nvPr/>
        </p:nvSpPr>
        <p:spPr>
          <a:xfrm>
            <a:off x="3236976" y="2761488"/>
            <a:ext cx="713232" cy="201168"/>
          </a:xfrm>
          <a:prstGeom prst="rect">
            <a:avLst/>
          </a:prstGeom>
          <a:noFill/>
          <a:ln/>
        </p:spPr>
        <p:txBody>
          <a:bodyPr wrap="square" lIns="0" tIns="0" rIns="0" bIns="0" rtlCol="0" anchor="ctr"/>
          <a:lstStyle/>
          <a:p>
            <a:pPr indent="0" marL="0">
              <a:buNone/>
            </a:pPr>
            <a:r>
              <a:rPr lang="en-US" sz="680" dirty="0">
                <a:solidFill>
                  <a:srgbClr val="5E7280"/>
                </a:solidFill>
                <a:latin typeface="Poppins" pitchFamily="34" charset="0"/>
                <a:ea typeface="Poppins" pitchFamily="34" charset="-122"/>
                <a:cs typeface="Poppins" pitchFamily="34" charset="-120"/>
              </a:rPr>
              <a:t>90+ days</a:t>
            </a:r>
            <a:endParaRPr lang="en-US" sz="680" dirty="0"/>
          </a:p>
        </p:txBody>
      </p:sp>
      <p:sp>
        <p:nvSpPr>
          <p:cNvPr id="41" name="Shape 39"/>
          <p:cNvSpPr/>
          <p:nvPr/>
        </p:nvSpPr>
        <p:spPr>
          <a:xfrm>
            <a:off x="3922776" y="2807208"/>
            <a:ext cx="109728" cy="109728"/>
          </a:xfrm>
          <a:prstGeom prst="rect">
            <a:avLst/>
          </a:prstGeom>
          <a:solidFill>
            <a:srgbClr val="1C5765"/>
          </a:solidFill>
          <a:ln/>
        </p:spPr>
      </p:sp>
      <p:sp>
        <p:nvSpPr>
          <p:cNvPr id="42" name="Text 40"/>
          <p:cNvSpPr txBox="1"/>
          <p:nvPr/>
        </p:nvSpPr>
        <p:spPr>
          <a:xfrm>
            <a:off x="4059936" y="2761488"/>
            <a:ext cx="914400" cy="201168"/>
          </a:xfrm>
          <a:prstGeom prst="rect">
            <a:avLst/>
          </a:prstGeom>
          <a:noFill/>
          <a:ln/>
        </p:spPr>
        <p:txBody>
          <a:bodyPr wrap="square" lIns="0" tIns="0" rIns="0" bIns="0" rtlCol="0" anchor="ctr"/>
          <a:lstStyle/>
          <a:p>
            <a:pPr indent="0" marL="0">
              <a:buNone/>
            </a:pPr>
            <a:r>
              <a:rPr lang="en-US" sz="680" b="1" dirty="0">
                <a:solidFill>
                  <a:srgbClr val="1C5765"/>
                </a:solidFill>
                <a:latin typeface="Poppins" pitchFamily="34" charset="0"/>
                <a:ea typeface="Poppins" pitchFamily="34" charset="-122"/>
                <a:cs typeface="Poppins" pitchFamily="34" charset="-120"/>
              </a:rPr>
              <a:t>closed in week</a:t>
            </a:r>
            <a:endParaRPr lang="en-US" sz="680" dirty="0"/>
          </a:p>
        </p:txBody>
      </p:sp>
      <p:sp>
        <p:nvSpPr>
          <p:cNvPr id="43" name="Shape 41"/>
          <p:cNvSpPr/>
          <p:nvPr/>
        </p:nvSpPr>
        <p:spPr>
          <a:xfrm>
            <a:off x="923544" y="5477256"/>
            <a:ext cx="5852160" cy="5486"/>
          </a:xfrm>
          <a:prstGeom prst="rect">
            <a:avLst/>
          </a:prstGeom>
          <a:solidFill>
            <a:srgbClr val="E2EAEE"/>
          </a:solidFill>
          <a:ln/>
        </p:spPr>
      </p:sp>
      <p:sp>
        <p:nvSpPr>
          <p:cNvPr id="44" name="Text 42"/>
          <p:cNvSpPr txBox="1"/>
          <p:nvPr/>
        </p:nvSpPr>
        <p:spPr>
          <a:xfrm>
            <a:off x="539496" y="5404104"/>
            <a:ext cx="402336" cy="146304"/>
          </a:xfrm>
          <a:prstGeom prst="rect">
            <a:avLst/>
          </a:prstGeom>
          <a:noFill/>
          <a:ln/>
        </p:spPr>
        <p:txBody>
          <a:bodyPr wrap="square" lIns="0" tIns="0" rIns="0" bIns="0" rtlCol="0" anchor="ctr"/>
          <a:lstStyle/>
          <a:p>
            <a:pPr algn="r" indent="0" marL="0">
              <a:buNone/>
            </a:pPr>
            <a:r>
              <a:rPr lang="en-US" sz="620" dirty="0">
                <a:solidFill>
                  <a:srgbClr val="8FA1AC"/>
                </a:solidFill>
                <a:latin typeface="Poppins" pitchFamily="34" charset="0"/>
                <a:ea typeface="Poppins" pitchFamily="34" charset="-122"/>
                <a:cs typeface="Poppins" pitchFamily="34" charset="-120"/>
              </a:rPr>
              <a:t>0</a:t>
            </a:r>
            <a:endParaRPr lang="en-US" sz="620" dirty="0"/>
          </a:p>
        </p:txBody>
      </p:sp>
      <p:sp>
        <p:nvSpPr>
          <p:cNvPr id="45" name="Shape 43"/>
          <p:cNvSpPr/>
          <p:nvPr/>
        </p:nvSpPr>
        <p:spPr>
          <a:xfrm>
            <a:off x="923544" y="4924044"/>
            <a:ext cx="5852160" cy="5486"/>
          </a:xfrm>
          <a:prstGeom prst="rect">
            <a:avLst/>
          </a:prstGeom>
          <a:solidFill>
            <a:srgbClr val="E2EAEE"/>
          </a:solidFill>
          <a:ln/>
        </p:spPr>
      </p:sp>
      <p:sp>
        <p:nvSpPr>
          <p:cNvPr id="46" name="Text 44"/>
          <p:cNvSpPr txBox="1"/>
          <p:nvPr/>
        </p:nvSpPr>
        <p:spPr>
          <a:xfrm>
            <a:off x="539496" y="4850892"/>
            <a:ext cx="402336" cy="146304"/>
          </a:xfrm>
          <a:prstGeom prst="rect">
            <a:avLst/>
          </a:prstGeom>
          <a:noFill/>
          <a:ln/>
        </p:spPr>
        <p:txBody>
          <a:bodyPr wrap="square" lIns="0" tIns="0" rIns="0" bIns="0" rtlCol="0" anchor="ctr"/>
          <a:lstStyle/>
          <a:p>
            <a:pPr algn="r" indent="0" marL="0">
              <a:buNone/>
            </a:pPr>
            <a:r>
              <a:rPr lang="en-US" sz="620" dirty="0">
                <a:solidFill>
                  <a:srgbClr val="8FA1AC"/>
                </a:solidFill>
                <a:latin typeface="Poppins" pitchFamily="34" charset="0"/>
                <a:ea typeface="Poppins" pitchFamily="34" charset="-122"/>
                <a:cs typeface="Poppins" pitchFamily="34" charset="-120"/>
              </a:rPr>
              <a:t>200</a:t>
            </a:r>
            <a:endParaRPr lang="en-US" sz="620" dirty="0"/>
          </a:p>
        </p:txBody>
      </p:sp>
      <p:sp>
        <p:nvSpPr>
          <p:cNvPr id="47" name="Shape 45"/>
          <p:cNvSpPr/>
          <p:nvPr/>
        </p:nvSpPr>
        <p:spPr>
          <a:xfrm>
            <a:off x="923544" y="4370832"/>
            <a:ext cx="5852160" cy="5486"/>
          </a:xfrm>
          <a:prstGeom prst="rect">
            <a:avLst/>
          </a:prstGeom>
          <a:solidFill>
            <a:srgbClr val="E2EAEE"/>
          </a:solidFill>
          <a:ln/>
        </p:spPr>
      </p:sp>
      <p:sp>
        <p:nvSpPr>
          <p:cNvPr id="48" name="Text 46"/>
          <p:cNvSpPr txBox="1"/>
          <p:nvPr/>
        </p:nvSpPr>
        <p:spPr>
          <a:xfrm>
            <a:off x="539496" y="4297680"/>
            <a:ext cx="402336" cy="146304"/>
          </a:xfrm>
          <a:prstGeom prst="rect">
            <a:avLst/>
          </a:prstGeom>
          <a:noFill/>
          <a:ln/>
        </p:spPr>
        <p:txBody>
          <a:bodyPr wrap="square" lIns="0" tIns="0" rIns="0" bIns="0" rtlCol="0" anchor="ctr"/>
          <a:lstStyle/>
          <a:p>
            <a:pPr algn="r" indent="0" marL="0">
              <a:buNone/>
            </a:pPr>
            <a:r>
              <a:rPr lang="en-US" sz="620" dirty="0">
                <a:solidFill>
                  <a:srgbClr val="8FA1AC"/>
                </a:solidFill>
                <a:latin typeface="Poppins" pitchFamily="34" charset="0"/>
                <a:ea typeface="Poppins" pitchFamily="34" charset="-122"/>
                <a:cs typeface="Poppins" pitchFamily="34" charset="-120"/>
              </a:rPr>
              <a:t>400</a:t>
            </a:r>
            <a:endParaRPr lang="en-US" sz="620" dirty="0"/>
          </a:p>
        </p:txBody>
      </p:sp>
      <p:sp>
        <p:nvSpPr>
          <p:cNvPr id="49" name="Shape 47"/>
          <p:cNvSpPr/>
          <p:nvPr/>
        </p:nvSpPr>
        <p:spPr>
          <a:xfrm>
            <a:off x="923544" y="3817620"/>
            <a:ext cx="5852160" cy="5486"/>
          </a:xfrm>
          <a:prstGeom prst="rect">
            <a:avLst/>
          </a:prstGeom>
          <a:solidFill>
            <a:srgbClr val="E2EAEE"/>
          </a:solidFill>
          <a:ln/>
        </p:spPr>
      </p:sp>
      <p:sp>
        <p:nvSpPr>
          <p:cNvPr id="50" name="Text 48"/>
          <p:cNvSpPr txBox="1"/>
          <p:nvPr/>
        </p:nvSpPr>
        <p:spPr>
          <a:xfrm>
            <a:off x="539496" y="3744468"/>
            <a:ext cx="402336" cy="146304"/>
          </a:xfrm>
          <a:prstGeom prst="rect">
            <a:avLst/>
          </a:prstGeom>
          <a:noFill/>
          <a:ln/>
        </p:spPr>
        <p:txBody>
          <a:bodyPr wrap="square" lIns="0" tIns="0" rIns="0" bIns="0" rtlCol="0" anchor="ctr"/>
          <a:lstStyle/>
          <a:p>
            <a:pPr algn="r" indent="0" marL="0">
              <a:buNone/>
            </a:pPr>
            <a:r>
              <a:rPr lang="en-US" sz="620" dirty="0">
                <a:solidFill>
                  <a:srgbClr val="8FA1AC"/>
                </a:solidFill>
                <a:latin typeface="Poppins" pitchFamily="34" charset="0"/>
                <a:ea typeface="Poppins" pitchFamily="34" charset="-122"/>
                <a:cs typeface="Poppins" pitchFamily="34" charset="-120"/>
              </a:rPr>
              <a:t>600</a:t>
            </a:r>
            <a:endParaRPr lang="en-US" sz="620" dirty="0"/>
          </a:p>
        </p:txBody>
      </p:sp>
      <p:sp>
        <p:nvSpPr>
          <p:cNvPr id="51" name="Shape 49"/>
          <p:cNvSpPr/>
          <p:nvPr/>
        </p:nvSpPr>
        <p:spPr>
          <a:xfrm>
            <a:off x="923544" y="3264408"/>
            <a:ext cx="5852160" cy="5486"/>
          </a:xfrm>
          <a:prstGeom prst="rect">
            <a:avLst/>
          </a:prstGeom>
          <a:solidFill>
            <a:srgbClr val="E2EAEE"/>
          </a:solidFill>
          <a:ln/>
        </p:spPr>
      </p:sp>
      <p:sp>
        <p:nvSpPr>
          <p:cNvPr id="52" name="Text 50"/>
          <p:cNvSpPr txBox="1"/>
          <p:nvPr/>
        </p:nvSpPr>
        <p:spPr>
          <a:xfrm>
            <a:off x="539496" y="3191256"/>
            <a:ext cx="402336" cy="146304"/>
          </a:xfrm>
          <a:prstGeom prst="rect">
            <a:avLst/>
          </a:prstGeom>
          <a:noFill/>
          <a:ln/>
        </p:spPr>
        <p:txBody>
          <a:bodyPr wrap="square" lIns="0" tIns="0" rIns="0" bIns="0" rtlCol="0" anchor="ctr"/>
          <a:lstStyle/>
          <a:p>
            <a:pPr algn="r" indent="0" marL="0">
              <a:buNone/>
            </a:pPr>
            <a:r>
              <a:rPr lang="en-US" sz="620" dirty="0">
                <a:solidFill>
                  <a:srgbClr val="8FA1AC"/>
                </a:solidFill>
                <a:latin typeface="Poppins" pitchFamily="34" charset="0"/>
                <a:ea typeface="Poppins" pitchFamily="34" charset="-122"/>
                <a:cs typeface="Poppins" pitchFamily="34" charset="-120"/>
              </a:rPr>
              <a:t>800</a:t>
            </a:r>
            <a:endParaRPr lang="en-US" sz="620" dirty="0"/>
          </a:p>
        </p:txBody>
      </p:sp>
      <p:sp>
        <p:nvSpPr>
          <p:cNvPr id="53" name="Shape 51"/>
          <p:cNvSpPr/>
          <p:nvPr/>
        </p:nvSpPr>
        <p:spPr>
          <a:xfrm>
            <a:off x="1034328" y="5037452"/>
            <a:ext cx="184942" cy="439804"/>
          </a:xfrm>
          <a:prstGeom prst="rect">
            <a:avLst/>
          </a:prstGeom>
          <a:solidFill>
            <a:srgbClr val="3D8F5F"/>
          </a:solidFill>
          <a:ln/>
        </p:spPr>
      </p:sp>
      <p:sp>
        <p:nvSpPr>
          <p:cNvPr id="54" name="Text 52"/>
          <p:cNvSpPr txBox="1"/>
          <p:nvPr/>
        </p:nvSpPr>
        <p:spPr>
          <a:xfrm>
            <a:off x="1034328" y="5193346"/>
            <a:ext cx="184942"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159</a:t>
            </a:r>
            <a:endParaRPr lang="en-US" sz="600" dirty="0"/>
          </a:p>
        </p:txBody>
      </p:sp>
      <p:sp>
        <p:nvSpPr>
          <p:cNvPr id="55" name="Shape 53"/>
          <p:cNvSpPr/>
          <p:nvPr/>
        </p:nvSpPr>
        <p:spPr>
          <a:xfrm>
            <a:off x="1034328" y="4437217"/>
            <a:ext cx="184942" cy="600235"/>
          </a:xfrm>
          <a:prstGeom prst="rect">
            <a:avLst/>
          </a:prstGeom>
          <a:solidFill>
            <a:srgbClr val="6FAEBB"/>
          </a:solidFill>
          <a:ln/>
        </p:spPr>
      </p:sp>
      <p:sp>
        <p:nvSpPr>
          <p:cNvPr id="56" name="Text 54"/>
          <p:cNvSpPr txBox="1"/>
          <p:nvPr/>
        </p:nvSpPr>
        <p:spPr>
          <a:xfrm>
            <a:off x="1034328" y="4673327"/>
            <a:ext cx="184942"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217</a:t>
            </a:r>
            <a:endParaRPr lang="en-US" sz="600" dirty="0"/>
          </a:p>
        </p:txBody>
      </p:sp>
      <p:sp>
        <p:nvSpPr>
          <p:cNvPr id="57" name="Shape 55"/>
          <p:cNvSpPr/>
          <p:nvPr/>
        </p:nvSpPr>
        <p:spPr>
          <a:xfrm>
            <a:off x="1034328" y="3781661"/>
            <a:ext cx="184942" cy="655556"/>
          </a:xfrm>
          <a:prstGeom prst="rect">
            <a:avLst/>
          </a:prstGeom>
          <a:solidFill>
            <a:srgbClr val="C88A2E"/>
          </a:solidFill>
          <a:ln/>
        </p:spPr>
      </p:sp>
      <p:sp>
        <p:nvSpPr>
          <p:cNvPr id="58" name="Text 56"/>
          <p:cNvSpPr txBox="1"/>
          <p:nvPr/>
        </p:nvSpPr>
        <p:spPr>
          <a:xfrm>
            <a:off x="1034328" y="4045431"/>
            <a:ext cx="184942"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237</a:t>
            </a:r>
            <a:endParaRPr lang="en-US" sz="600" dirty="0"/>
          </a:p>
        </p:txBody>
      </p:sp>
      <p:sp>
        <p:nvSpPr>
          <p:cNvPr id="59" name="Shape 57"/>
          <p:cNvSpPr/>
          <p:nvPr/>
        </p:nvSpPr>
        <p:spPr>
          <a:xfrm>
            <a:off x="1034328" y="3579739"/>
            <a:ext cx="184942" cy="201922"/>
          </a:xfrm>
          <a:prstGeom prst="rect">
            <a:avLst/>
          </a:prstGeom>
          <a:solidFill>
            <a:srgbClr val="7A3B21"/>
          </a:solidFill>
          <a:ln/>
        </p:spPr>
      </p:sp>
      <p:sp>
        <p:nvSpPr>
          <p:cNvPr id="60" name="Text 58"/>
          <p:cNvSpPr txBox="1"/>
          <p:nvPr/>
        </p:nvSpPr>
        <p:spPr>
          <a:xfrm>
            <a:off x="1034328" y="3616692"/>
            <a:ext cx="184942"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73</a:t>
            </a:r>
            <a:endParaRPr lang="en-US" sz="600" dirty="0"/>
          </a:p>
        </p:txBody>
      </p:sp>
      <p:sp>
        <p:nvSpPr>
          <p:cNvPr id="61" name="Text 59"/>
          <p:cNvSpPr txBox="1"/>
          <p:nvPr/>
        </p:nvSpPr>
        <p:spPr>
          <a:xfrm>
            <a:off x="988608" y="3424291"/>
            <a:ext cx="276382" cy="146304"/>
          </a:xfrm>
          <a:prstGeom prst="rect">
            <a:avLst/>
          </a:prstGeom>
          <a:noFill/>
          <a:ln/>
        </p:spPr>
        <p:txBody>
          <a:bodyPr wrap="square" lIns="0" tIns="0" rIns="0" bIns="0" rtlCol="0" anchor="ctr"/>
          <a:lstStyle/>
          <a:p>
            <a:pPr algn="ctr" indent="0" marL="0">
              <a:buNone/>
            </a:pPr>
            <a:r>
              <a:rPr lang="en-US" sz="620" b="1" dirty="0">
                <a:solidFill>
                  <a:srgbClr val="12293A"/>
                </a:solidFill>
                <a:latin typeface="Poppins" pitchFamily="34" charset="0"/>
                <a:ea typeface="Poppins" pitchFamily="34" charset="-122"/>
                <a:cs typeface="Poppins" pitchFamily="34" charset="-120"/>
              </a:rPr>
              <a:t>686</a:t>
            </a:r>
            <a:endParaRPr lang="en-US" sz="620" dirty="0"/>
          </a:p>
        </p:txBody>
      </p:sp>
      <p:sp>
        <p:nvSpPr>
          <p:cNvPr id="62" name="Text 60"/>
          <p:cNvSpPr txBox="1"/>
          <p:nvPr/>
        </p:nvSpPr>
        <p:spPr>
          <a:xfrm>
            <a:off x="1251273" y="5312664"/>
            <a:ext cx="184942" cy="146304"/>
          </a:xfrm>
          <a:prstGeom prst="rect">
            <a:avLst/>
          </a:prstGeom>
          <a:noFill/>
          <a:ln/>
        </p:spPr>
        <p:txBody>
          <a:bodyPr wrap="square" lIns="0" tIns="0" rIns="0" bIns="0" rtlCol="0" anchor="ctr"/>
          <a:lstStyle/>
          <a:p>
            <a:pPr algn="ctr" indent="0" marL="0">
              <a:buNone/>
            </a:pPr>
            <a:r>
              <a:rPr lang="en-US" sz="700" dirty="0">
                <a:solidFill>
                  <a:srgbClr val="8FA1AC"/>
                </a:solidFill>
                <a:latin typeface="Poppins" pitchFamily="34" charset="0"/>
                <a:ea typeface="Poppins" pitchFamily="34" charset="-122"/>
                <a:cs typeface="Poppins" pitchFamily="34" charset="-120"/>
              </a:rPr>
              <a:t>—</a:t>
            </a:r>
            <a:endParaRPr lang="en-US" sz="700" dirty="0"/>
          </a:p>
        </p:txBody>
      </p:sp>
      <p:sp>
        <p:nvSpPr>
          <p:cNvPr id="63" name="Text 61"/>
          <p:cNvSpPr txBox="1"/>
          <p:nvPr/>
        </p:nvSpPr>
        <p:spPr>
          <a:xfrm>
            <a:off x="978408" y="5513832"/>
            <a:ext cx="513727" cy="164592"/>
          </a:xfrm>
          <a:prstGeom prst="rect">
            <a:avLst/>
          </a:prstGeom>
          <a:noFill/>
          <a:ln/>
        </p:spPr>
        <p:txBody>
          <a:bodyPr wrap="square" lIns="0" tIns="0" rIns="0" bIns="0" rtlCol="0" anchor="ctr"/>
          <a:lstStyle/>
          <a:p>
            <a:pPr algn="ctr" indent="0" marL="0">
              <a:buNone/>
            </a:pPr>
            <a:r>
              <a:rPr lang="en-US" sz="650" dirty="0">
                <a:solidFill>
                  <a:srgbClr val="12293A"/>
                </a:solidFill>
                <a:latin typeface="Poppins" pitchFamily="34" charset="0"/>
                <a:ea typeface="Poppins" pitchFamily="34" charset="-122"/>
                <a:cs typeface="Poppins" pitchFamily="34" charset="-120"/>
              </a:rPr>
              <a:t>08-02</a:t>
            </a:r>
            <a:endParaRPr lang="en-US" sz="650" dirty="0"/>
          </a:p>
        </p:txBody>
      </p:sp>
      <p:sp>
        <p:nvSpPr>
          <p:cNvPr id="64" name="Shape 62"/>
          <p:cNvSpPr/>
          <p:nvPr/>
        </p:nvSpPr>
        <p:spPr>
          <a:xfrm>
            <a:off x="1548054" y="4771911"/>
            <a:ext cx="184942" cy="705345"/>
          </a:xfrm>
          <a:prstGeom prst="rect">
            <a:avLst/>
          </a:prstGeom>
          <a:solidFill>
            <a:srgbClr val="3D8F5F"/>
          </a:solidFill>
          <a:ln/>
        </p:spPr>
      </p:sp>
      <p:sp>
        <p:nvSpPr>
          <p:cNvPr id="65" name="Text 63"/>
          <p:cNvSpPr txBox="1"/>
          <p:nvPr/>
        </p:nvSpPr>
        <p:spPr>
          <a:xfrm>
            <a:off x="1548054" y="5060575"/>
            <a:ext cx="184942"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255</a:t>
            </a:r>
            <a:endParaRPr lang="en-US" sz="600" dirty="0"/>
          </a:p>
        </p:txBody>
      </p:sp>
      <p:sp>
        <p:nvSpPr>
          <p:cNvPr id="66" name="Shape 64"/>
          <p:cNvSpPr/>
          <p:nvPr/>
        </p:nvSpPr>
        <p:spPr>
          <a:xfrm>
            <a:off x="1548054" y="4141249"/>
            <a:ext cx="184942" cy="630662"/>
          </a:xfrm>
          <a:prstGeom prst="rect">
            <a:avLst/>
          </a:prstGeom>
          <a:solidFill>
            <a:srgbClr val="6FAEBB"/>
          </a:solidFill>
          <a:ln/>
        </p:spPr>
      </p:sp>
      <p:sp>
        <p:nvSpPr>
          <p:cNvPr id="67" name="Text 65"/>
          <p:cNvSpPr txBox="1"/>
          <p:nvPr/>
        </p:nvSpPr>
        <p:spPr>
          <a:xfrm>
            <a:off x="1548054" y="4392572"/>
            <a:ext cx="184942"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228</a:t>
            </a:r>
            <a:endParaRPr lang="en-US" sz="600" dirty="0"/>
          </a:p>
        </p:txBody>
      </p:sp>
      <p:sp>
        <p:nvSpPr>
          <p:cNvPr id="68" name="Shape 66"/>
          <p:cNvSpPr/>
          <p:nvPr/>
        </p:nvSpPr>
        <p:spPr>
          <a:xfrm>
            <a:off x="1548054" y="3906134"/>
            <a:ext cx="184942" cy="235115"/>
          </a:xfrm>
          <a:prstGeom prst="rect">
            <a:avLst/>
          </a:prstGeom>
          <a:solidFill>
            <a:srgbClr val="C88A2E"/>
          </a:solidFill>
          <a:ln/>
        </p:spPr>
      </p:sp>
      <p:sp>
        <p:nvSpPr>
          <p:cNvPr id="69" name="Text 67"/>
          <p:cNvSpPr txBox="1"/>
          <p:nvPr/>
        </p:nvSpPr>
        <p:spPr>
          <a:xfrm>
            <a:off x="1548054" y="3959683"/>
            <a:ext cx="184942"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85</a:t>
            </a:r>
            <a:endParaRPr lang="en-US" sz="600" dirty="0"/>
          </a:p>
        </p:txBody>
      </p:sp>
      <p:sp>
        <p:nvSpPr>
          <p:cNvPr id="70" name="Shape 68"/>
          <p:cNvSpPr/>
          <p:nvPr/>
        </p:nvSpPr>
        <p:spPr>
          <a:xfrm>
            <a:off x="1548054" y="3748469"/>
            <a:ext cx="184942" cy="157665"/>
          </a:xfrm>
          <a:prstGeom prst="rect">
            <a:avLst/>
          </a:prstGeom>
          <a:solidFill>
            <a:srgbClr val="7A3B21"/>
          </a:solidFill>
          <a:ln/>
        </p:spPr>
      </p:sp>
      <p:sp>
        <p:nvSpPr>
          <p:cNvPr id="71" name="Text 69"/>
          <p:cNvSpPr txBox="1"/>
          <p:nvPr/>
        </p:nvSpPr>
        <p:spPr>
          <a:xfrm>
            <a:off x="1548054" y="3763293"/>
            <a:ext cx="184942"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57</a:t>
            </a:r>
            <a:endParaRPr lang="en-US" sz="600" dirty="0"/>
          </a:p>
        </p:txBody>
      </p:sp>
      <p:sp>
        <p:nvSpPr>
          <p:cNvPr id="72" name="Text 70"/>
          <p:cNvSpPr txBox="1"/>
          <p:nvPr/>
        </p:nvSpPr>
        <p:spPr>
          <a:xfrm>
            <a:off x="1502334" y="3593021"/>
            <a:ext cx="276382" cy="146304"/>
          </a:xfrm>
          <a:prstGeom prst="rect">
            <a:avLst/>
          </a:prstGeom>
          <a:noFill/>
          <a:ln/>
        </p:spPr>
        <p:txBody>
          <a:bodyPr wrap="square" lIns="0" tIns="0" rIns="0" bIns="0" rtlCol="0" anchor="ctr"/>
          <a:lstStyle/>
          <a:p>
            <a:pPr algn="ctr" indent="0" marL="0">
              <a:buNone/>
            </a:pPr>
            <a:r>
              <a:rPr lang="en-US" sz="620" b="1" dirty="0">
                <a:solidFill>
                  <a:srgbClr val="12293A"/>
                </a:solidFill>
                <a:latin typeface="Poppins" pitchFamily="34" charset="0"/>
                <a:ea typeface="Poppins" pitchFamily="34" charset="-122"/>
                <a:cs typeface="Poppins" pitchFamily="34" charset="-120"/>
              </a:rPr>
              <a:t>625</a:t>
            </a:r>
            <a:endParaRPr lang="en-US" sz="620" dirty="0"/>
          </a:p>
        </p:txBody>
      </p:sp>
      <p:sp>
        <p:nvSpPr>
          <p:cNvPr id="73" name="Text 71"/>
          <p:cNvSpPr txBox="1"/>
          <p:nvPr/>
        </p:nvSpPr>
        <p:spPr>
          <a:xfrm>
            <a:off x="1765000" y="5312664"/>
            <a:ext cx="184942" cy="146304"/>
          </a:xfrm>
          <a:prstGeom prst="rect">
            <a:avLst/>
          </a:prstGeom>
          <a:noFill/>
          <a:ln/>
        </p:spPr>
        <p:txBody>
          <a:bodyPr wrap="square" lIns="0" tIns="0" rIns="0" bIns="0" rtlCol="0" anchor="ctr"/>
          <a:lstStyle/>
          <a:p>
            <a:pPr algn="ctr" indent="0" marL="0">
              <a:buNone/>
            </a:pPr>
            <a:r>
              <a:rPr lang="en-US" sz="700" dirty="0">
                <a:solidFill>
                  <a:srgbClr val="8FA1AC"/>
                </a:solidFill>
                <a:latin typeface="Poppins" pitchFamily="34" charset="0"/>
                <a:ea typeface="Poppins" pitchFamily="34" charset="-122"/>
                <a:cs typeface="Poppins" pitchFamily="34" charset="-120"/>
              </a:rPr>
              <a:t>—</a:t>
            </a:r>
            <a:endParaRPr lang="en-US" sz="700" dirty="0"/>
          </a:p>
        </p:txBody>
      </p:sp>
      <p:sp>
        <p:nvSpPr>
          <p:cNvPr id="74" name="Text 72"/>
          <p:cNvSpPr txBox="1"/>
          <p:nvPr/>
        </p:nvSpPr>
        <p:spPr>
          <a:xfrm>
            <a:off x="1492135" y="5513832"/>
            <a:ext cx="513727" cy="164592"/>
          </a:xfrm>
          <a:prstGeom prst="rect">
            <a:avLst/>
          </a:prstGeom>
          <a:noFill/>
          <a:ln/>
        </p:spPr>
        <p:txBody>
          <a:bodyPr wrap="square" lIns="0" tIns="0" rIns="0" bIns="0" rtlCol="0" anchor="ctr"/>
          <a:lstStyle/>
          <a:p>
            <a:pPr algn="ctr" indent="0" marL="0">
              <a:buNone/>
            </a:pPr>
            <a:r>
              <a:rPr lang="en-US" sz="650" dirty="0">
                <a:solidFill>
                  <a:srgbClr val="12293A"/>
                </a:solidFill>
                <a:latin typeface="Poppins" pitchFamily="34" charset="0"/>
                <a:ea typeface="Poppins" pitchFamily="34" charset="-122"/>
                <a:cs typeface="Poppins" pitchFamily="34" charset="-120"/>
              </a:rPr>
              <a:t>08-09</a:t>
            </a:r>
            <a:endParaRPr lang="en-US" sz="650" dirty="0"/>
          </a:p>
        </p:txBody>
      </p:sp>
      <p:sp>
        <p:nvSpPr>
          <p:cNvPr id="75" name="Shape 73"/>
          <p:cNvSpPr/>
          <p:nvPr/>
        </p:nvSpPr>
        <p:spPr>
          <a:xfrm>
            <a:off x="2061781" y="5001494"/>
            <a:ext cx="184942" cy="475762"/>
          </a:xfrm>
          <a:prstGeom prst="rect">
            <a:avLst/>
          </a:prstGeom>
          <a:solidFill>
            <a:srgbClr val="3D8F5F"/>
          </a:solidFill>
          <a:ln/>
        </p:spPr>
      </p:sp>
      <p:sp>
        <p:nvSpPr>
          <p:cNvPr id="76" name="Text 74"/>
          <p:cNvSpPr txBox="1"/>
          <p:nvPr/>
        </p:nvSpPr>
        <p:spPr>
          <a:xfrm>
            <a:off x="2061781" y="5175367"/>
            <a:ext cx="184942"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172</a:t>
            </a:r>
            <a:endParaRPr lang="en-US" sz="600" dirty="0"/>
          </a:p>
        </p:txBody>
      </p:sp>
      <p:sp>
        <p:nvSpPr>
          <p:cNvPr id="77" name="Shape 75"/>
          <p:cNvSpPr/>
          <p:nvPr/>
        </p:nvSpPr>
        <p:spPr>
          <a:xfrm>
            <a:off x="2061781" y="4254657"/>
            <a:ext cx="184942" cy="746836"/>
          </a:xfrm>
          <a:prstGeom prst="rect">
            <a:avLst/>
          </a:prstGeom>
          <a:solidFill>
            <a:srgbClr val="6FAEBB"/>
          </a:solidFill>
          <a:ln/>
        </p:spPr>
      </p:sp>
      <p:sp>
        <p:nvSpPr>
          <p:cNvPr id="78" name="Text 76"/>
          <p:cNvSpPr txBox="1"/>
          <p:nvPr/>
        </p:nvSpPr>
        <p:spPr>
          <a:xfrm>
            <a:off x="2061781" y="4564068"/>
            <a:ext cx="184942"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270</a:t>
            </a:r>
            <a:endParaRPr lang="en-US" sz="600" dirty="0"/>
          </a:p>
        </p:txBody>
      </p:sp>
      <p:sp>
        <p:nvSpPr>
          <p:cNvPr id="79" name="Shape 77"/>
          <p:cNvSpPr/>
          <p:nvPr/>
        </p:nvSpPr>
        <p:spPr>
          <a:xfrm>
            <a:off x="2061781" y="4005712"/>
            <a:ext cx="184942" cy="248945"/>
          </a:xfrm>
          <a:prstGeom prst="rect">
            <a:avLst/>
          </a:prstGeom>
          <a:solidFill>
            <a:srgbClr val="C88A2E"/>
          </a:solidFill>
          <a:ln/>
        </p:spPr>
      </p:sp>
      <p:sp>
        <p:nvSpPr>
          <p:cNvPr id="80" name="Text 78"/>
          <p:cNvSpPr txBox="1"/>
          <p:nvPr/>
        </p:nvSpPr>
        <p:spPr>
          <a:xfrm>
            <a:off x="2061781" y="4066177"/>
            <a:ext cx="184942"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90</a:t>
            </a:r>
            <a:endParaRPr lang="en-US" sz="600" dirty="0"/>
          </a:p>
        </p:txBody>
      </p:sp>
      <p:sp>
        <p:nvSpPr>
          <p:cNvPr id="81" name="Shape 79"/>
          <p:cNvSpPr/>
          <p:nvPr/>
        </p:nvSpPr>
        <p:spPr>
          <a:xfrm>
            <a:off x="2061781" y="3861877"/>
            <a:ext cx="184942" cy="143835"/>
          </a:xfrm>
          <a:prstGeom prst="rect">
            <a:avLst/>
          </a:prstGeom>
          <a:solidFill>
            <a:srgbClr val="7A3B21"/>
          </a:solidFill>
          <a:ln/>
        </p:spPr>
      </p:sp>
      <p:sp>
        <p:nvSpPr>
          <p:cNvPr id="82" name="Text 80"/>
          <p:cNvSpPr txBox="1"/>
          <p:nvPr/>
        </p:nvSpPr>
        <p:spPr>
          <a:xfrm>
            <a:off x="2061781" y="3869787"/>
            <a:ext cx="184942"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52</a:t>
            </a:r>
            <a:endParaRPr lang="en-US" sz="600" dirty="0"/>
          </a:p>
        </p:txBody>
      </p:sp>
      <p:sp>
        <p:nvSpPr>
          <p:cNvPr id="83" name="Text 81"/>
          <p:cNvSpPr txBox="1"/>
          <p:nvPr/>
        </p:nvSpPr>
        <p:spPr>
          <a:xfrm>
            <a:off x="2016061" y="3706429"/>
            <a:ext cx="276382" cy="146304"/>
          </a:xfrm>
          <a:prstGeom prst="rect">
            <a:avLst/>
          </a:prstGeom>
          <a:noFill/>
          <a:ln/>
        </p:spPr>
        <p:txBody>
          <a:bodyPr wrap="square" lIns="0" tIns="0" rIns="0" bIns="0" rtlCol="0" anchor="ctr"/>
          <a:lstStyle/>
          <a:p>
            <a:pPr algn="ctr" indent="0" marL="0">
              <a:buNone/>
            </a:pPr>
            <a:r>
              <a:rPr lang="en-US" sz="620" b="1" dirty="0">
                <a:solidFill>
                  <a:srgbClr val="12293A"/>
                </a:solidFill>
                <a:latin typeface="Poppins" pitchFamily="34" charset="0"/>
                <a:ea typeface="Poppins" pitchFamily="34" charset="-122"/>
                <a:cs typeface="Poppins" pitchFamily="34" charset="-120"/>
              </a:rPr>
              <a:t>584</a:t>
            </a:r>
            <a:endParaRPr lang="en-US" sz="620" dirty="0"/>
          </a:p>
        </p:txBody>
      </p:sp>
      <p:sp>
        <p:nvSpPr>
          <p:cNvPr id="84" name="Shape 82"/>
          <p:cNvSpPr/>
          <p:nvPr/>
        </p:nvSpPr>
        <p:spPr>
          <a:xfrm>
            <a:off x="2278726" y="4191038"/>
            <a:ext cx="184942" cy="1286218"/>
          </a:xfrm>
          <a:prstGeom prst="rect">
            <a:avLst/>
          </a:prstGeom>
          <a:solidFill>
            <a:srgbClr val="1C5765"/>
          </a:solidFill>
          <a:ln/>
        </p:spPr>
      </p:sp>
      <p:sp>
        <p:nvSpPr>
          <p:cNvPr id="85" name="Text 83"/>
          <p:cNvSpPr txBox="1"/>
          <p:nvPr/>
        </p:nvSpPr>
        <p:spPr>
          <a:xfrm>
            <a:off x="2233006" y="4035590"/>
            <a:ext cx="276382" cy="146304"/>
          </a:xfrm>
          <a:prstGeom prst="rect">
            <a:avLst/>
          </a:prstGeom>
          <a:noFill/>
          <a:ln/>
        </p:spPr>
        <p:txBody>
          <a:bodyPr wrap="square" lIns="0" tIns="0" rIns="0" bIns="0" rtlCol="0" anchor="ctr"/>
          <a:lstStyle/>
          <a:p>
            <a:pPr algn="ctr" indent="0" marL="0">
              <a:buNone/>
            </a:pPr>
            <a:r>
              <a:rPr lang="en-US" sz="620" b="1" dirty="0">
                <a:solidFill>
                  <a:srgbClr val="1C5765"/>
                </a:solidFill>
                <a:latin typeface="Poppins" pitchFamily="34" charset="0"/>
                <a:ea typeface="Poppins" pitchFamily="34" charset="-122"/>
                <a:cs typeface="Poppins" pitchFamily="34" charset="-120"/>
              </a:rPr>
              <a:t>465</a:t>
            </a:r>
            <a:endParaRPr lang="en-US" sz="620" dirty="0"/>
          </a:p>
        </p:txBody>
      </p:sp>
      <p:sp>
        <p:nvSpPr>
          <p:cNvPr id="86" name="Text 84"/>
          <p:cNvSpPr txBox="1"/>
          <p:nvPr/>
        </p:nvSpPr>
        <p:spPr>
          <a:xfrm>
            <a:off x="2005861" y="5513832"/>
            <a:ext cx="513727" cy="164592"/>
          </a:xfrm>
          <a:prstGeom prst="rect">
            <a:avLst/>
          </a:prstGeom>
          <a:noFill/>
          <a:ln/>
        </p:spPr>
        <p:txBody>
          <a:bodyPr wrap="square" lIns="0" tIns="0" rIns="0" bIns="0" rtlCol="0" anchor="ctr"/>
          <a:lstStyle/>
          <a:p>
            <a:pPr algn="ctr" indent="0" marL="0">
              <a:buNone/>
            </a:pPr>
            <a:r>
              <a:rPr lang="en-US" sz="650" dirty="0">
                <a:solidFill>
                  <a:srgbClr val="12293A"/>
                </a:solidFill>
                <a:latin typeface="Poppins" pitchFamily="34" charset="0"/>
                <a:ea typeface="Poppins" pitchFamily="34" charset="-122"/>
                <a:cs typeface="Poppins" pitchFamily="34" charset="-120"/>
              </a:rPr>
              <a:t>08-16</a:t>
            </a:r>
            <a:endParaRPr lang="en-US" sz="650" dirty="0"/>
          </a:p>
        </p:txBody>
      </p:sp>
      <p:sp>
        <p:nvSpPr>
          <p:cNvPr id="87" name="Shape 85"/>
          <p:cNvSpPr/>
          <p:nvPr/>
        </p:nvSpPr>
        <p:spPr>
          <a:xfrm>
            <a:off x="2575507" y="5023622"/>
            <a:ext cx="184942" cy="453634"/>
          </a:xfrm>
          <a:prstGeom prst="rect">
            <a:avLst/>
          </a:prstGeom>
          <a:solidFill>
            <a:srgbClr val="3D8F5F"/>
          </a:solidFill>
          <a:ln/>
        </p:spPr>
      </p:sp>
      <p:sp>
        <p:nvSpPr>
          <p:cNvPr id="88" name="Text 86"/>
          <p:cNvSpPr txBox="1"/>
          <p:nvPr/>
        </p:nvSpPr>
        <p:spPr>
          <a:xfrm>
            <a:off x="2575507" y="5186431"/>
            <a:ext cx="184942"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164</a:t>
            </a:r>
            <a:endParaRPr lang="en-US" sz="600" dirty="0"/>
          </a:p>
        </p:txBody>
      </p:sp>
      <p:sp>
        <p:nvSpPr>
          <p:cNvPr id="89" name="Shape 87"/>
          <p:cNvSpPr/>
          <p:nvPr/>
        </p:nvSpPr>
        <p:spPr>
          <a:xfrm>
            <a:off x="2575507" y="4196570"/>
            <a:ext cx="184942" cy="827052"/>
          </a:xfrm>
          <a:prstGeom prst="rect">
            <a:avLst/>
          </a:prstGeom>
          <a:solidFill>
            <a:srgbClr val="6FAEBB"/>
          </a:solidFill>
          <a:ln/>
        </p:spPr>
      </p:sp>
      <p:sp>
        <p:nvSpPr>
          <p:cNvPr id="90" name="Text 88"/>
          <p:cNvSpPr txBox="1"/>
          <p:nvPr/>
        </p:nvSpPr>
        <p:spPr>
          <a:xfrm>
            <a:off x="2575507" y="4546088"/>
            <a:ext cx="184942"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299</a:t>
            </a:r>
            <a:endParaRPr lang="en-US" sz="600" dirty="0"/>
          </a:p>
        </p:txBody>
      </p:sp>
      <p:sp>
        <p:nvSpPr>
          <p:cNvPr id="91" name="Shape 89"/>
          <p:cNvSpPr/>
          <p:nvPr/>
        </p:nvSpPr>
        <p:spPr>
          <a:xfrm>
            <a:off x="2575507" y="3889538"/>
            <a:ext cx="184942" cy="307033"/>
          </a:xfrm>
          <a:prstGeom prst="rect">
            <a:avLst/>
          </a:prstGeom>
          <a:solidFill>
            <a:srgbClr val="C88A2E"/>
          </a:solidFill>
          <a:ln/>
        </p:spPr>
      </p:sp>
      <p:sp>
        <p:nvSpPr>
          <p:cNvPr id="92" name="Text 90"/>
          <p:cNvSpPr txBox="1"/>
          <p:nvPr/>
        </p:nvSpPr>
        <p:spPr>
          <a:xfrm>
            <a:off x="2575507" y="3979046"/>
            <a:ext cx="184942"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111</a:t>
            </a:r>
            <a:endParaRPr lang="en-US" sz="600" dirty="0"/>
          </a:p>
        </p:txBody>
      </p:sp>
      <p:sp>
        <p:nvSpPr>
          <p:cNvPr id="93" name="Shape 91"/>
          <p:cNvSpPr/>
          <p:nvPr/>
        </p:nvSpPr>
        <p:spPr>
          <a:xfrm>
            <a:off x="2575507" y="3729106"/>
            <a:ext cx="184942" cy="160431"/>
          </a:xfrm>
          <a:prstGeom prst="rect">
            <a:avLst/>
          </a:prstGeom>
          <a:solidFill>
            <a:srgbClr val="7A3B21"/>
          </a:solidFill>
          <a:ln/>
        </p:spPr>
      </p:sp>
      <p:sp>
        <p:nvSpPr>
          <p:cNvPr id="94" name="Text 92"/>
          <p:cNvSpPr txBox="1"/>
          <p:nvPr/>
        </p:nvSpPr>
        <p:spPr>
          <a:xfrm>
            <a:off x="2575507" y="3745314"/>
            <a:ext cx="184942"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58</a:t>
            </a:r>
            <a:endParaRPr lang="en-US" sz="600" dirty="0"/>
          </a:p>
        </p:txBody>
      </p:sp>
      <p:sp>
        <p:nvSpPr>
          <p:cNvPr id="95" name="Text 93"/>
          <p:cNvSpPr txBox="1"/>
          <p:nvPr/>
        </p:nvSpPr>
        <p:spPr>
          <a:xfrm>
            <a:off x="2529787" y="3573658"/>
            <a:ext cx="276382" cy="146304"/>
          </a:xfrm>
          <a:prstGeom prst="rect">
            <a:avLst/>
          </a:prstGeom>
          <a:noFill/>
          <a:ln/>
        </p:spPr>
        <p:txBody>
          <a:bodyPr wrap="square" lIns="0" tIns="0" rIns="0" bIns="0" rtlCol="0" anchor="ctr"/>
          <a:lstStyle/>
          <a:p>
            <a:pPr algn="ctr" indent="0" marL="0">
              <a:buNone/>
            </a:pPr>
            <a:r>
              <a:rPr lang="en-US" sz="620" b="1" dirty="0">
                <a:solidFill>
                  <a:srgbClr val="12293A"/>
                </a:solidFill>
                <a:latin typeface="Poppins" pitchFamily="34" charset="0"/>
                <a:ea typeface="Poppins" pitchFamily="34" charset="-122"/>
                <a:cs typeface="Poppins" pitchFamily="34" charset="-120"/>
              </a:rPr>
              <a:t>632</a:t>
            </a:r>
            <a:endParaRPr lang="en-US" sz="620" dirty="0"/>
          </a:p>
        </p:txBody>
      </p:sp>
      <p:sp>
        <p:nvSpPr>
          <p:cNvPr id="96" name="Shape 94"/>
          <p:cNvSpPr/>
          <p:nvPr/>
        </p:nvSpPr>
        <p:spPr>
          <a:xfrm>
            <a:off x="2792453" y="4215933"/>
            <a:ext cx="184942" cy="1261323"/>
          </a:xfrm>
          <a:prstGeom prst="rect">
            <a:avLst/>
          </a:prstGeom>
          <a:solidFill>
            <a:srgbClr val="1C5765"/>
          </a:solidFill>
          <a:ln/>
        </p:spPr>
      </p:sp>
      <p:sp>
        <p:nvSpPr>
          <p:cNvPr id="97" name="Text 95"/>
          <p:cNvSpPr txBox="1"/>
          <p:nvPr/>
        </p:nvSpPr>
        <p:spPr>
          <a:xfrm>
            <a:off x="2746733" y="4060485"/>
            <a:ext cx="276382" cy="146304"/>
          </a:xfrm>
          <a:prstGeom prst="rect">
            <a:avLst/>
          </a:prstGeom>
          <a:noFill/>
          <a:ln/>
        </p:spPr>
        <p:txBody>
          <a:bodyPr wrap="square" lIns="0" tIns="0" rIns="0" bIns="0" rtlCol="0" anchor="ctr"/>
          <a:lstStyle/>
          <a:p>
            <a:pPr algn="ctr" indent="0" marL="0">
              <a:buNone/>
            </a:pPr>
            <a:r>
              <a:rPr lang="en-US" sz="620" b="1" dirty="0">
                <a:solidFill>
                  <a:srgbClr val="1C5765"/>
                </a:solidFill>
                <a:latin typeface="Poppins" pitchFamily="34" charset="0"/>
                <a:ea typeface="Poppins" pitchFamily="34" charset="-122"/>
                <a:cs typeface="Poppins" pitchFamily="34" charset="-120"/>
              </a:rPr>
              <a:t>456</a:t>
            </a:r>
            <a:endParaRPr lang="en-US" sz="620" dirty="0"/>
          </a:p>
        </p:txBody>
      </p:sp>
      <p:sp>
        <p:nvSpPr>
          <p:cNvPr id="98" name="Text 96"/>
          <p:cNvSpPr txBox="1"/>
          <p:nvPr/>
        </p:nvSpPr>
        <p:spPr>
          <a:xfrm>
            <a:off x="2519588" y="5513832"/>
            <a:ext cx="513727" cy="164592"/>
          </a:xfrm>
          <a:prstGeom prst="rect">
            <a:avLst/>
          </a:prstGeom>
          <a:noFill/>
          <a:ln/>
        </p:spPr>
        <p:txBody>
          <a:bodyPr wrap="square" lIns="0" tIns="0" rIns="0" bIns="0" rtlCol="0" anchor="ctr"/>
          <a:lstStyle/>
          <a:p>
            <a:pPr algn="ctr" indent="0" marL="0">
              <a:buNone/>
            </a:pPr>
            <a:r>
              <a:rPr lang="en-US" sz="650" dirty="0">
                <a:solidFill>
                  <a:srgbClr val="12293A"/>
                </a:solidFill>
                <a:latin typeface="Poppins" pitchFamily="34" charset="0"/>
                <a:ea typeface="Poppins" pitchFamily="34" charset="-122"/>
                <a:cs typeface="Poppins" pitchFamily="34" charset="-120"/>
              </a:rPr>
              <a:t>08-23</a:t>
            </a:r>
            <a:endParaRPr lang="en-US" sz="650" dirty="0"/>
          </a:p>
        </p:txBody>
      </p:sp>
      <p:sp>
        <p:nvSpPr>
          <p:cNvPr id="99" name="Shape 97"/>
          <p:cNvSpPr/>
          <p:nvPr/>
        </p:nvSpPr>
        <p:spPr>
          <a:xfrm>
            <a:off x="3089234" y="5059581"/>
            <a:ext cx="184942" cy="417675"/>
          </a:xfrm>
          <a:prstGeom prst="rect">
            <a:avLst/>
          </a:prstGeom>
          <a:solidFill>
            <a:srgbClr val="3D8F5F"/>
          </a:solidFill>
          <a:ln/>
        </p:spPr>
      </p:sp>
      <p:sp>
        <p:nvSpPr>
          <p:cNvPr id="100" name="Text 98"/>
          <p:cNvSpPr txBox="1"/>
          <p:nvPr/>
        </p:nvSpPr>
        <p:spPr>
          <a:xfrm>
            <a:off x="3089234" y="5204410"/>
            <a:ext cx="184942"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151</a:t>
            </a:r>
            <a:endParaRPr lang="en-US" sz="600" dirty="0"/>
          </a:p>
        </p:txBody>
      </p:sp>
      <p:sp>
        <p:nvSpPr>
          <p:cNvPr id="101" name="Shape 99"/>
          <p:cNvSpPr/>
          <p:nvPr/>
        </p:nvSpPr>
        <p:spPr>
          <a:xfrm>
            <a:off x="3089234" y="4238061"/>
            <a:ext cx="184942" cy="821520"/>
          </a:xfrm>
          <a:prstGeom prst="rect">
            <a:avLst/>
          </a:prstGeom>
          <a:solidFill>
            <a:srgbClr val="6FAEBB"/>
          </a:solidFill>
          <a:ln/>
        </p:spPr>
      </p:sp>
      <p:sp>
        <p:nvSpPr>
          <p:cNvPr id="102" name="Text 100"/>
          <p:cNvSpPr txBox="1"/>
          <p:nvPr/>
        </p:nvSpPr>
        <p:spPr>
          <a:xfrm>
            <a:off x="3089234" y="4584813"/>
            <a:ext cx="184942"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297</a:t>
            </a:r>
            <a:endParaRPr lang="en-US" sz="600" dirty="0"/>
          </a:p>
        </p:txBody>
      </p:sp>
      <p:sp>
        <p:nvSpPr>
          <p:cNvPr id="103" name="Shape 101"/>
          <p:cNvSpPr/>
          <p:nvPr/>
        </p:nvSpPr>
        <p:spPr>
          <a:xfrm>
            <a:off x="3089234" y="4019542"/>
            <a:ext cx="184942" cy="218519"/>
          </a:xfrm>
          <a:prstGeom prst="rect">
            <a:avLst/>
          </a:prstGeom>
          <a:solidFill>
            <a:srgbClr val="C88A2E"/>
          </a:solidFill>
          <a:ln/>
        </p:spPr>
      </p:sp>
      <p:sp>
        <p:nvSpPr>
          <p:cNvPr id="104" name="Text 102"/>
          <p:cNvSpPr txBox="1"/>
          <p:nvPr/>
        </p:nvSpPr>
        <p:spPr>
          <a:xfrm>
            <a:off x="3089234" y="4064794"/>
            <a:ext cx="184942"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79</a:t>
            </a:r>
            <a:endParaRPr lang="en-US" sz="600" dirty="0"/>
          </a:p>
        </p:txBody>
      </p:sp>
      <p:sp>
        <p:nvSpPr>
          <p:cNvPr id="105" name="Shape 103"/>
          <p:cNvSpPr/>
          <p:nvPr/>
        </p:nvSpPr>
        <p:spPr>
          <a:xfrm>
            <a:off x="3089234" y="3856345"/>
            <a:ext cx="184942" cy="163198"/>
          </a:xfrm>
          <a:prstGeom prst="rect">
            <a:avLst/>
          </a:prstGeom>
          <a:solidFill>
            <a:srgbClr val="7A3B21"/>
          </a:solidFill>
          <a:ln/>
        </p:spPr>
      </p:sp>
      <p:sp>
        <p:nvSpPr>
          <p:cNvPr id="106" name="Text 104"/>
          <p:cNvSpPr txBox="1"/>
          <p:nvPr/>
        </p:nvSpPr>
        <p:spPr>
          <a:xfrm>
            <a:off x="3089234" y="3873936"/>
            <a:ext cx="184942"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59</a:t>
            </a:r>
            <a:endParaRPr lang="en-US" sz="600" dirty="0"/>
          </a:p>
        </p:txBody>
      </p:sp>
      <p:sp>
        <p:nvSpPr>
          <p:cNvPr id="107" name="Text 105"/>
          <p:cNvSpPr txBox="1"/>
          <p:nvPr/>
        </p:nvSpPr>
        <p:spPr>
          <a:xfrm>
            <a:off x="3043514" y="3700897"/>
            <a:ext cx="276382" cy="146304"/>
          </a:xfrm>
          <a:prstGeom prst="rect">
            <a:avLst/>
          </a:prstGeom>
          <a:noFill/>
          <a:ln/>
        </p:spPr>
        <p:txBody>
          <a:bodyPr wrap="square" lIns="0" tIns="0" rIns="0" bIns="0" rtlCol="0" anchor="ctr"/>
          <a:lstStyle/>
          <a:p>
            <a:pPr algn="ctr" indent="0" marL="0">
              <a:buNone/>
            </a:pPr>
            <a:r>
              <a:rPr lang="en-US" sz="620" b="1" dirty="0">
                <a:solidFill>
                  <a:srgbClr val="12293A"/>
                </a:solidFill>
                <a:latin typeface="Poppins" pitchFamily="34" charset="0"/>
                <a:ea typeface="Poppins" pitchFamily="34" charset="-122"/>
                <a:cs typeface="Poppins" pitchFamily="34" charset="-120"/>
              </a:rPr>
              <a:t>586</a:t>
            </a:r>
            <a:endParaRPr lang="en-US" sz="620" dirty="0"/>
          </a:p>
        </p:txBody>
      </p:sp>
      <p:sp>
        <p:nvSpPr>
          <p:cNvPr id="108" name="Shape 106"/>
          <p:cNvSpPr/>
          <p:nvPr/>
        </p:nvSpPr>
        <p:spPr>
          <a:xfrm>
            <a:off x="3306179" y="4528497"/>
            <a:ext cx="184942" cy="948759"/>
          </a:xfrm>
          <a:prstGeom prst="rect">
            <a:avLst/>
          </a:prstGeom>
          <a:solidFill>
            <a:srgbClr val="1C5765"/>
          </a:solidFill>
          <a:ln/>
        </p:spPr>
      </p:sp>
      <p:sp>
        <p:nvSpPr>
          <p:cNvPr id="109" name="Text 107"/>
          <p:cNvSpPr txBox="1"/>
          <p:nvPr/>
        </p:nvSpPr>
        <p:spPr>
          <a:xfrm>
            <a:off x="3260459" y="4373049"/>
            <a:ext cx="276382" cy="146304"/>
          </a:xfrm>
          <a:prstGeom prst="rect">
            <a:avLst/>
          </a:prstGeom>
          <a:noFill/>
          <a:ln/>
        </p:spPr>
        <p:txBody>
          <a:bodyPr wrap="square" lIns="0" tIns="0" rIns="0" bIns="0" rtlCol="0" anchor="ctr"/>
          <a:lstStyle/>
          <a:p>
            <a:pPr algn="ctr" indent="0" marL="0">
              <a:buNone/>
            </a:pPr>
            <a:r>
              <a:rPr lang="en-US" sz="620" b="1" dirty="0">
                <a:solidFill>
                  <a:srgbClr val="1C5765"/>
                </a:solidFill>
                <a:latin typeface="Poppins" pitchFamily="34" charset="0"/>
                <a:ea typeface="Poppins" pitchFamily="34" charset="-122"/>
                <a:cs typeface="Poppins" pitchFamily="34" charset="-120"/>
              </a:rPr>
              <a:t>343</a:t>
            </a:r>
            <a:endParaRPr lang="en-US" sz="620" dirty="0"/>
          </a:p>
        </p:txBody>
      </p:sp>
      <p:sp>
        <p:nvSpPr>
          <p:cNvPr id="110" name="Text 108"/>
          <p:cNvSpPr txBox="1"/>
          <p:nvPr/>
        </p:nvSpPr>
        <p:spPr>
          <a:xfrm>
            <a:off x="3033314" y="5513832"/>
            <a:ext cx="513727" cy="164592"/>
          </a:xfrm>
          <a:prstGeom prst="rect">
            <a:avLst/>
          </a:prstGeom>
          <a:noFill/>
          <a:ln/>
        </p:spPr>
        <p:txBody>
          <a:bodyPr wrap="square" lIns="0" tIns="0" rIns="0" bIns="0" rtlCol="0" anchor="ctr"/>
          <a:lstStyle/>
          <a:p>
            <a:pPr algn="ctr" indent="0" marL="0">
              <a:buNone/>
            </a:pPr>
            <a:r>
              <a:rPr lang="en-US" sz="650" dirty="0">
                <a:solidFill>
                  <a:srgbClr val="12293A"/>
                </a:solidFill>
                <a:latin typeface="Poppins" pitchFamily="34" charset="0"/>
                <a:ea typeface="Poppins" pitchFamily="34" charset="-122"/>
                <a:cs typeface="Poppins" pitchFamily="34" charset="-120"/>
              </a:rPr>
              <a:t>08-30</a:t>
            </a:r>
            <a:endParaRPr lang="en-US" sz="650" dirty="0"/>
          </a:p>
        </p:txBody>
      </p:sp>
      <p:sp>
        <p:nvSpPr>
          <p:cNvPr id="111" name="Shape 109"/>
          <p:cNvSpPr/>
          <p:nvPr/>
        </p:nvSpPr>
        <p:spPr>
          <a:xfrm>
            <a:off x="3749264" y="4824466"/>
            <a:ext cx="184942" cy="652790"/>
          </a:xfrm>
          <a:prstGeom prst="rect">
            <a:avLst/>
          </a:prstGeom>
          <a:solidFill>
            <a:srgbClr val="3D8F5F"/>
          </a:solidFill>
          <a:ln/>
        </p:spPr>
      </p:sp>
      <p:sp>
        <p:nvSpPr>
          <p:cNvPr id="112" name="Text 110"/>
          <p:cNvSpPr txBox="1"/>
          <p:nvPr/>
        </p:nvSpPr>
        <p:spPr>
          <a:xfrm>
            <a:off x="3749264" y="5086853"/>
            <a:ext cx="184942"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236</a:t>
            </a:r>
            <a:endParaRPr lang="en-US" sz="600" dirty="0"/>
          </a:p>
        </p:txBody>
      </p:sp>
      <p:sp>
        <p:nvSpPr>
          <p:cNvPr id="113" name="Shape 111"/>
          <p:cNvSpPr/>
          <p:nvPr/>
        </p:nvSpPr>
        <p:spPr>
          <a:xfrm>
            <a:off x="3749264" y="4108056"/>
            <a:ext cx="184942" cy="716410"/>
          </a:xfrm>
          <a:prstGeom prst="rect">
            <a:avLst/>
          </a:prstGeom>
          <a:solidFill>
            <a:srgbClr val="6FAEBB"/>
          </a:solidFill>
          <a:ln/>
        </p:spPr>
      </p:sp>
      <p:sp>
        <p:nvSpPr>
          <p:cNvPr id="114" name="Text 112"/>
          <p:cNvSpPr txBox="1"/>
          <p:nvPr/>
        </p:nvSpPr>
        <p:spPr>
          <a:xfrm>
            <a:off x="3749264" y="4402253"/>
            <a:ext cx="184942"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259</a:t>
            </a:r>
            <a:endParaRPr lang="en-US" sz="600" dirty="0"/>
          </a:p>
        </p:txBody>
      </p:sp>
      <p:sp>
        <p:nvSpPr>
          <p:cNvPr id="115" name="Shape 113"/>
          <p:cNvSpPr/>
          <p:nvPr/>
        </p:nvSpPr>
        <p:spPr>
          <a:xfrm>
            <a:off x="3749264" y="3690381"/>
            <a:ext cx="184942" cy="417675"/>
          </a:xfrm>
          <a:prstGeom prst="rect">
            <a:avLst/>
          </a:prstGeom>
          <a:solidFill>
            <a:srgbClr val="C88A2E"/>
          </a:solidFill>
          <a:ln/>
        </p:spPr>
      </p:sp>
      <p:sp>
        <p:nvSpPr>
          <p:cNvPr id="116" name="Text 114"/>
          <p:cNvSpPr txBox="1"/>
          <p:nvPr/>
        </p:nvSpPr>
        <p:spPr>
          <a:xfrm>
            <a:off x="3749264" y="3835211"/>
            <a:ext cx="184942"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151</a:t>
            </a:r>
            <a:endParaRPr lang="en-US" sz="600" dirty="0"/>
          </a:p>
        </p:txBody>
      </p:sp>
      <p:sp>
        <p:nvSpPr>
          <p:cNvPr id="117" name="Shape 115"/>
          <p:cNvSpPr/>
          <p:nvPr/>
        </p:nvSpPr>
        <p:spPr>
          <a:xfrm>
            <a:off x="3749264" y="3593569"/>
            <a:ext cx="184942" cy="96812"/>
          </a:xfrm>
          <a:prstGeom prst="rect">
            <a:avLst/>
          </a:prstGeom>
          <a:solidFill>
            <a:srgbClr val="7A3B21"/>
          </a:solidFill>
          <a:ln/>
        </p:spPr>
      </p:sp>
      <p:sp>
        <p:nvSpPr>
          <p:cNvPr id="118" name="Text 116"/>
          <p:cNvSpPr txBox="1"/>
          <p:nvPr/>
        </p:nvSpPr>
        <p:spPr>
          <a:xfrm>
            <a:off x="3703544" y="3438121"/>
            <a:ext cx="276382" cy="146304"/>
          </a:xfrm>
          <a:prstGeom prst="rect">
            <a:avLst/>
          </a:prstGeom>
          <a:noFill/>
          <a:ln/>
        </p:spPr>
        <p:txBody>
          <a:bodyPr wrap="square" lIns="0" tIns="0" rIns="0" bIns="0" rtlCol="0" anchor="ctr"/>
          <a:lstStyle/>
          <a:p>
            <a:pPr algn="ctr" indent="0" marL="0">
              <a:buNone/>
            </a:pPr>
            <a:r>
              <a:rPr lang="en-US" sz="620" b="1" dirty="0">
                <a:solidFill>
                  <a:srgbClr val="12293A"/>
                </a:solidFill>
                <a:latin typeface="Poppins" pitchFamily="34" charset="0"/>
                <a:ea typeface="Poppins" pitchFamily="34" charset="-122"/>
                <a:cs typeface="Poppins" pitchFamily="34" charset="-120"/>
              </a:rPr>
              <a:t>681</a:t>
            </a:r>
            <a:endParaRPr lang="en-US" sz="620" dirty="0"/>
          </a:p>
        </p:txBody>
      </p:sp>
      <p:sp>
        <p:nvSpPr>
          <p:cNvPr id="119" name="Text 117"/>
          <p:cNvSpPr txBox="1"/>
          <p:nvPr/>
        </p:nvSpPr>
        <p:spPr>
          <a:xfrm>
            <a:off x="3966210" y="5312664"/>
            <a:ext cx="184942" cy="146304"/>
          </a:xfrm>
          <a:prstGeom prst="rect">
            <a:avLst/>
          </a:prstGeom>
          <a:noFill/>
          <a:ln/>
        </p:spPr>
        <p:txBody>
          <a:bodyPr wrap="square" lIns="0" tIns="0" rIns="0" bIns="0" rtlCol="0" anchor="ctr"/>
          <a:lstStyle/>
          <a:p>
            <a:pPr algn="ctr" indent="0" marL="0">
              <a:buNone/>
            </a:pPr>
            <a:r>
              <a:rPr lang="en-US" sz="700" dirty="0">
                <a:solidFill>
                  <a:srgbClr val="8FA1AC"/>
                </a:solidFill>
                <a:latin typeface="Poppins" pitchFamily="34" charset="0"/>
                <a:ea typeface="Poppins" pitchFamily="34" charset="-122"/>
                <a:cs typeface="Poppins" pitchFamily="34" charset="-120"/>
              </a:rPr>
              <a:t>—</a:t>
            </a:r>
            <a:endParaRPr lang="en-US" sz="700" dirty="0"/>
          </a:p>
        </p:txBody>
      </p:sp>
      <p:sp>
        <p:nvSpPr>
          <p:cNvPr id="120" name="Text 118"/>
          <p:cNvSpPr txBox="1"/>
          <p:nvPr/>
        </p:nvSpPr>
        <p:spPr>
          <a:xfrm>
            <a:off x="3693345" y="5513832"/>
            <a:ext cx="513727" cy="164592"/>
          </a:xfrm>
          <a:prstGeom prst="rect">
            <a:avLst/>
          </a:prstGeom>
          <a:noFill/>
          <a:ln/>
        </p:spPr>
        <p:txBody>
          <a:bodyPr wrap="square" lIns="0" tIns="0" rIns="0" bIns="0" rtlCol="0" anchor="ctr"/>
          <a:lstStyle/>
          <a:p>
            <a:pPr algn="ctr" indent="0" marL="0">
              <a:buNone/>
            </a:pPr>
            <a:r>
              <a:rPr lang="en-US" sz="650" dirty="0">
                <a:solidFill>
                  <a:srgbClr val="12293A"/>
                </a:solidFill>
                <a:latin typeface="Poppins" pitchFamily="34" charset="0"/>
                <a:ea typeface="Poppins" pitchFamily="34" charset="-122"/>
                <a:cs typeface="Poppins" pitchFamily="34" charset="-120"/>
              </a:rPr>
              <a:t>09-13</a:t>
            </a:r>
            <a:endParaRPr lang="en-US" sz="650" dirty="0"/>
          </a:p>
        </p:txBody>
      </p:sp>
      <p:sp>
        <p:nvSpPr>
          <p:cNvPr id="121" name="Shape 119"/>
          <p:cNvSpPr/>
          <p:nvPr/>
        </p:nvSpPr>
        <p:spPr>
          <a:xfrm>
            <a:off x="4262991" y="4968301"/>
            <a:ext cx="184942" cy="508955"/>
          </a:xfrm>
          <a:prstGeom prst="rect">
            <a:avLst/>
          </a:prstGeom>
          <a:solidFill>
            <a:srgbClr val="3D8F5F"/>
          </a:solidFill>
          <a:ln/>
        </p:spPr>
      </p:sp>
      <p:sp>
        <p:nvSpPr>
          <p:cNvPr id="122" name="Text 120"/>
          <p:cNvSpPr txBox="1"/>
          <p:nvPr/>
        </p:nvSpPr>
        <p:spPr>
          <a:xfrm>
            <a:off x="4262991" y="5158770"/>
            <a:ext cx="184942"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184</a:t>
            </a:r>
            <a:endParaRPr lang="en-US" sz="600" dirty="0"/>
          </a:p>
        </p:txBody>
      </p:sp>
      <p:sp>
        <p:nvSpPr>
          <p:cNvPr id="123" name="Shape 121"/>
          <p:cNvSpPr/>
          <p:nvPr/>
        </p:nvSpPr>
        <p:spPr>
          <a:xfrm>
            <a:off x="4262991" y="4279552"/>
            <a:ext cx="184942" cy="688749"/>
          </a:xfrm>
          <a:prstGeom prst="rect">
            <a:avLst/>
          </a:prstGeom>
          <a:solidFill>
            <a:srgbClr val="6FAEBB"/>
          </a:solidFill>
          <a:ln/>
        </p:spPr>
      </p:sp>
      <p:sp>
        <p:nvSpPr>
          <p:cNvPr id="124" name="Text 122"/>
          <p:cNvSpPr txBox="1"/>
          <p:nvPr/>
        </p:nvSpPr>
        <p:spPr>
          <a:xfrm>
            <a:off x="4262991" y="4559918"/>
            <a:ext cx="184942"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249</a:t>
            </a:r>
            <a:endParaRPr lang="en-US" sz="600" dirty="0"/>
          </a:p>
        </p:txBody>
      </p:sp>
      <p:sp>
        <p:nvSpPr>
          <p:cNvPr id="125" name="Shape 123"/>
          <p:cNvSpPr/>
          <p:nvPr/>
        </p:nvSpPr>
        <p:spPr>
          <a:xfrm>
            <a:off x="4262991" y="3914432"/>
            <a:ext cx="184942" cy="365120"/>
          </a:xfrm>
          <a:prstGeom prst="rect">
            <a:avLst/>
          </a:prstGeom>
          <a:solidFill>
            <a:srgbClr val="C88A2E"/>
          </a:solidFill>
          <a:ln/>
        </p:spPr>
      </p:sp>
      <p:sp>
        <p:nvSpPr>
          <p:cNvPr id="126" name="Text 124"/>
          <p:cNvSpPr txBox="1"/>
          <p:nvPr/>
        </p:nvSpPr>
        <p:spPr>
          <a:xfrm>
            <a:off x="4262991" y="4032984"/>
            <a:ext cx="184942"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132</a:t>
            </a:r>
            <a:endParaRPr lang="en-US" sz="600" dirty="0"/>
          </a:p>
        </p:txBody>
      </p:sp>
      <p:sp>
        <p:nvSpPr>
          <p:cNvPr id="127" name="Shape 125"/>
          <p:cNvSpPr/>
          <p:nvPr/>
        </p:nvSpPr>
        <p:spPr>
          <a:xfrm>
            <a:off x="4262991" y="3886772"/>
            <a:ext cx="184942" cy="27661"/>
          </a:xfrm>
          <a:prstGeom prst="rect">
            <a:avLst/>
          </a:prstGeom>
          <a:solidFill>
            <a:srgbClr val="7A3B21"/>
          </a:solidFill>
          <a:ln/>
        </p:spPr>
      </p:sp>
      <p:sp>
        <p:nvSpPr>
          <p:cNvPr id="128" name="Text 126"/>
          <p:cNvSpPr txBox="1"/>
          <p:nvPr/>
        </p:nvSpPr>
        <p:spPr>
          <a:xfrm>
            <a:off x="4217271" y="3731324"/>
            <a:ext cx="276382" cy="146304"/>
          </a:xfrm>
          <a:prstGeom prst="rect">
            <a:avLst/>
          </a:prstGeom>
          <a:noFill/>
          <a:ln/>
        </p:spPr>
        <p:txBody>
          <a:bodyPr wrap="square" lIns="0" tIns="0" rIns="0" bIns="0" rtlCol="0" anchor="ctr"/>
          <a:lstStyle/>
          <a:p>
            <a:pPr algn="ctr" indent="0" marL="0">
              <a:buNone/>
            </a:pPr>
            <a:r>
              <a:rPr lang="en-US" sz="620" b="1" dirty="0">
                <a:solidFill>
                  <a:srgbClr val="12293A"/>
                </a:solidFill>
                <a:latin typeface="Poppins" pitchFamily="34" charset="0"/>
                <a:ea typeface="Poppins" pitchFamily="34" charset="-122"/>
                <a:cs typeface="Poppins" pitchFamily="34" charset="-120"/>
              </a:rPr>
              <a:t>575</a:t>
            </a:r>
            <a:endParaRPr lang="en-US" sz="620" dirty="0"/>
          </a:p>
        </p:txBody>
      </p:sp>
      <p:sp>
        <p:nvSpPr>
          <p:cNvPr id="129" name="Shape 127"/>
          <p:cNvSpPr/>
          <p:nvPr/>
        </p:nvSpPr>
        <p:spPr>
          <a:xfrm>
            <a:off x="4479937" y="3798258"/>
            <a:ext cx="184942" cy="1678998"/>
          </a:xfrm>
          <a:prstGeom prst="rect">
            <a:avLst/>
          </a:prstGeom>
          <a:solidFill>
            <a:srgbClr val="1C5765"/>
          </a:solidFill>
          <a:ln/>
        </p:spPr>
      </p:sp>
      <p:sp>
        <p:nvSpPr>
          <p:cNvPr id="130" name="Text 128"/>
          <p:cNvSpPr txBox="1"/>
          <p:nvPr/>
        </p:nvSpPr>
        <p:spPr>
          <a:xfrm>
            <a:off x="4434217" y="3642810"/>
            <a:ext cx="276382" cy="146304"/>
          </a:xfrm>
          <a:prstGeom prst="rect">
            <a:avLst/>
          </a:prstGeom>
          <a:noFill/>
          <a:ln/>
        </p:spPr>
        <p:txBody>
          <a:bodyPr wrap="square" lIns="0" tIns="0" rIns="0" bIns="0" rtlCol="0" anchor="ctr"/>
          <a:lstStyle/>
          <a:p>
            <a:pPr algn="ctr" indent="0" marL="0">
              <a:buNone/>
            </a:pPr>
            <a:r>
              <a:rPr lang="en-US" sz="620" b="1" dirty="0">
                <a:solidFill>
                  <a:srgbClr val="1C5765"/>
                </a:solidFill>
                <a:latin typeface="Poppins" pitchFamily="34" charset="0"/>
                <a:ea typeface="Poppins" pitchFamily="34" charset="-122"/>
                <a:cs typeface="Poppins" pitchFamily="34" charset="-120"/>
              </a:rPr>
              <a:t>607</a:t>
            </a:r>
            <a:endParaRPr lang="en-US" sz="620" dirty="0"/>
          </a:p>
        </p:txBody>
      </p:sp>
      <p:sp>
        <p:nvSpPr>
          <p:cNvPr id="131" name="Text 129"/>
          <p:cNvSpPr txBox="1"/>
          <p:nvPr/>
        </p:nvSpPr>
        <p:spPr>
          <a:xfrm>
            <a:off x="4207071" y="5513832"/>
            <a:ext cx="513727" cy="164592"/>
          </a:xfrm>
          <a:prstGeom prst="rect">
            <a:avLst/>
          </a:prstGeom>
          <a:noFill/>
          <a:ln/>
        </p:spPr>
        <p:txBody>
          <a:bodyPr wrap="square" lIns="0" tIns="0" rIns="0" bIns="0" rtlCol="0" anchor="ctr"/>
          <a:lstStyle/>
          <a:p>
            <a:pPr algn="ctr" indent="0" marL="0">
              <a:buNone/>
            </a:pPr>
            <a:r>
              <a:rPr lang="en-US" sz="650" dirty="0">
                <a:solidFill>
                  <a:srgbClr val="12293A"/>
                </a:solidFill>
                <a:latin typeface="Poppins" pitchFamily="34" charset="0"/>
                <a:ea typeface="Poppins" pitchFamily="34" charset="-122"/>
                <a:cs typeface="Poppins" pitchFamily="34" charset="-120"/>
              </a:rPr>
              <a:t>09-20</a:t>
            </a:r>
            <a:endParaRPr lang="en-US" sz="650" dirty="0"/>
          </a:p>
        </p:txBody>
      </p:sp>
      <p:sp>
        <p:nvSpPr>
          <p:cNvPr id="132" name="Shape 130"/>
          <p:cNvSpPr/>
          <p:nvPr/>
        </p:nvSpPr>
        <p:spPr>
          <a:xfrm>
            <a:off x="4776718" y="4940640"/>
            <a:ext cx="184942" cy="536616"/>
          </a:xfrm>
          <a:prstGeom prst="rect">
            <a:avLst/>
          </a:prstGeom>
          <a:solidFill>
            <a:srgbClr val="3D8F5F"/>
          </a:solidFill>
          <a:ln/>
        </p:spPr>
      </p:sp>
      <p:sp>
        <p:nvSpPr>
          <p:cNvPr id="133" name="Text 131"/>
          <p:cNvSpPr txBox="1"/>
          <p:nvPr/>
        </p:nvSpPr>
        <p:spPr>
          <a:xfrm>
            <a:off x="4776718" y="5144940"/>
            <a:ext cx="184942"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194</a:t>
            </a:r>
            <a:endParaRPr lang="en-US" sz="600" dirty="0"/>
          </a:p>
        </p:txBody>
      </p:sp>
      <p:sp>
        <p:nvSpPr>
          <p:cNvPr id="134" name="Shape 132"/>
          <p:cNvSpPr/>
          <p:nvPr/>
        </p:nvSpPr>
        <p:spPr>
          <a:xfrm>
            <a:off x="4776718" y="4105290"/>
            <a:ext cx="184942" cy="835350"/>
          </a:xfrm>
          <a:prstGeom prst="rect">
            <a:avLst/>
          </a:prstGeom>
          <a:solidFill>
            <a:srgbClr val="6FAEBB"/>
          </a:solidFill>
          <a:ln/>
        </p:spPr>
      </p:sp>
      <p:sp>
        <p:nvSpPr>
          <p:cNvPr id="135" name="Text 133"/>
          <p:cNvSpPr txBox="1"/>
          <p:nvPr/>
        </p:nvSpPr>
        <p:spPr>
          <a:xfrm>
            <a:off x="4776718" y="4458957"/>
            <a:ext cx="184942"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302</a:t>
            </a:r>
            <a:endParaRPr lang="en-US" sz="600" dirty="0"/>
          </a:p>
        </p:txBody>
      </p:sp>
      <p:sp>
        <p:nvSpPr>
          <p:cNvPr id="136" name="Shape 134"/>
          <p:cNvSpPr/>
          <p:nvPr/>
        </p:nvSpPr>
        <p:spPr>
          <a:xfrm>
            <a:off x="4776718" y="3640592"/>
            <a:ext cx="184942" cy="464698"/>
          </a:xfrm>
          <a:prstGeom prst="rect">
            <a:avLst/>
          </a:prstGeom>
          <a:solidFill>
            <a:srgbClr val="C88A2E"/>
          </a:solidFill>
          <a:ln/>
        </p:spPr>
      </p:sp>
      <p:sp>
        <p:nvSpPr>
          <p:cNvPr id="137" name="Text 135"/>
          <p:cNvSpPr txBox="1"/>
          <p:nvPr/>
        </p:nvSpPr>
        <p:spPr>
          <a:xfrm>
            <a:off x="4776718" y="3808933"/>
            <a:ext cx="184942"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168</a:t>
            </a:r>
            <a:endParaRPr lang="en-US" sz="600" dirty="0"/>
          </a:p>
        </p:txBody>
      </p:sp>
      <p:sp>
        <p:nvSpPr>
          <p:cNvPr id="138" name="Shape 136"/>
          <p:cNvSpPr/>
          <p:nvPr/>
        </p:nvSpPr>
        <p:spPr>
          <a:xfrm>
            <a:off x="4776718" y="3610166"/>
            <a:ext cx="184942" cy="30427"/>
          </a:xfrm>
          <a:prstGeom prst="rect">
            <a:avLst/>
          </a:prstGeom>
          <a:solidFill>
            <a:srgbClr val="7A3B21"/>
          </a:solidFill>
          <a:ln/>
        </p:spPr>
      </p:sp>
      <p:sp>
        <p:nvSpPr>
          <p:cNvPr id="139" name="Text 137"/>
          <p:cNvSpPr txBox="1"/>
          <p:nvPr/>
        </p:nvSpPr>
        <p:spPr>
          <a:xfrm>
            <a:off x="4730998" y="3454718"/>
            <a:ext cx="276382" cy="146304"/>
          </a:xfrm>
          <a:prstGeom prst="rect">
            <a:avLst/>
          </a:prstGeom>
          <a:noFill/>
          <a:ln/>
        </p:spPr>
        <p:txBody>
          <a:bodyPr wrap="square" lIns="0" tIns="0" rIns="0" bIns="0" rtlCol="0" anchor="ctr"/>
          <a:lstStyle/>
          <a:p>
            <a:pPr algn="ctr" indent="0" marL="0">
              <a:buNone/>
            </a:pPr>
            <a:r>
              <a:rPr lang="en-US" sz="620" b="1" dirty="0">
                <a:solidFill>
                  <a:srgbClr val="12293A"/>
                </a:solidFill>
                <a:latin typeface="Poppins" pitchFamily="34" charset="0"/>
                <a:ea typeface="Poppins" pitchFamily="34" charset="-122"/>
                <a:cs typeface="Poppins" pitchFamily="34" charset="-120"/>
              </a:rPr>
              <a:t>675</a:t>
            </a:r>
            <a:endParaRPr lang="en-US" sz="620" dirty="0"/>
          </a:p>
        </p:txBody>
      </p:sp>
      <p:sp>
        <p:nvSpPr>
          <p:cNvPr id="140" name="Shape 138"/>
          <p:cNvSpPr/>
          <p:nvPr/>
        </p:nvSpPr>
        <p:spPr>
          <a:xfrm>
            <a:off x="4993663" y="4318277"/>
            <a:ext cx="184942" cy="1158979"/>
          </a:xfrm>
          <a:prstGeom prst="rect">
            <a:avLst/>
          </a:prstGeom>
          <a:solidFill>
            <a:srgbClr val="1C5765"/>
          </a:solidFill>
          <a:ln/>
        </p:spPr>
      </p:sp>
      <p:sp>
        <p:nvSpPr>
          <p:cNvPr id="141" name="Text 139"/>
          <p:cNvSpPr txBox="1"/>
          <p:nvPr/>
        </p:nvSpPr>
        <p:spPr>
          <a:xfrm>
            <a:off x="4947943" y="4162829"/>
            <a:ext cx="276382" cy="146304"/>
          </a:xfrm>
          <a:prstGeom prst="rect">
            <a:avLst/>
          </a:prstGeom>
          <a:noFill/>
          <a:ln/>
        </p:spPr>
        <p:txBody>
          <a:bodyPr wrap="square" lIns="0" tIns="0" rIns="0" bIns="0" rtlCol="0" anchor="ctr"/>
          <a:lstStyle/>
          <a:p>
            <a:pPr algn="ctr" indent="0" marL="0">
              <a:buNone/>
            </a:pPr>
            <a:r>
              <a:rPr lang="en-US" sz="620" b="1" dirty="0">
                <a:solidFill>
                  <a:srgbClr val="1C5765"/>
                </a:solidFill>
                <a:latin typeface="Poppins" pitchFamily="34" charset="0"/>
                <a:ea typeface="Poppins" pitchFamily="34" charset="-122"/>
                <a:cs typeface="Poppins" pitchFamily="34" charset="-120"/>
              </a:rPr>
              <a:t>419</a:t>
            </a:r>
            <a:endParaRPr lang="en-US" sz="620" dirty="0"/>
          </a:p>
        </p:txBody>
      </p:sp>
      <p:sp>
        <p:nvSpPr>
          <p:cNvPr id="142" name="Text 140"/>
          <p:cNvSpPr txBox="1"/>
          <p:nvPr/>
        </p:nvSpPr>
        <p:spPr>
          <a:xfrm>
            <a:off x="4720798" y="5513832"/>
            <a:ext cx="513727" cy="164592"/>
          </a:xfrm>
          <a:prstGeom prst="rect">
            <a:avLst/>
          </a:prstGeom>
          <a:noFill/>
          <a:ln/>
        </p:spPr>
        <p:txBody>
          <a:bodyPr wrap="square" lIns="0" tIns="0" rIns="0" bIns="0" rtlCol="0" anchor="ctr"/>
          <a:lstStyle/>
          <a:p>
            <a:pPr algn="ctr" indent="0" marL="0">
              <a:buNone/>
            </a:pPr>
            <a:r>
              <a:rPr lang="en-US" sz="650" dirty="0">
                <a:solidFill>
                  <a:srgbClr val="12293A"/>
                </a:solidFill>
                <a:latin typeface="Poppins" pitchFamily="34" charset="0"/>
                <a:ea typeface="Poppins" pitchFamily="34" charset="-122"/>
                <a:cs typeface="Poppins" pitchFamily="34" charset="-120"/>
              </a:rPr>
              <a:t>09-27</a:t>
            </a:r>
            <a:endParaRPr lang="en-US" sz="650" dirty="0"/>
          </a:p>
        </p:txBody>
      </p:sp>
      <p:sp>
        <p:nvSpPr>
          <p:cNvPr id="143" name="Shape 141"/>
          <p:cNvSpPr/>
          <p:nvPr/>
        </p:nvSpPr>
        <p:spPr>
          <a:xfrm>
            <a:off x="5290444" y="5015324"/>
            <a:ext cx="184942" cy="461932"/>
          </a:xfrm>
          <a:prstGeom prst="rect">
            <a:avLst/>
          </a:prstGeom>
          <a:solidFill>
            <a:srgbClr val="3D8F5F"/>
          </a:solidFill>
          <a:ln/>
        </p:spPr>
      </p:sp>
      <p:sp>
        <p:nvSpPr>
          <p:cNvPr id="144" name="Text 142"/>
          <p:cNvSpPr txBox="1"/>
          <p:nvPr/>
        </p:nvSpPr>
        <p:spPr>
          <a:xfrm>
            <a:off x="5290444" y="5182282"/>
            <a:ext cx="184942"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167</a:t>
            </a:r>
            <a:endParaRPr lang="en-US" sz="600" dirty="0"/>
          </a:p>
        </p:txBody>
      </p:sp>
      <p:sp>
        <p:nvSpPr>
          <p:cNvPr id="145" name="Shape 143"/>
          <p:cNvSpPr/>
          <p:nvPr/>
        </p:nvSpPr>
        <p:spPr>
          <a:xfrm>
            <a:off x="5290444" y="4110822"/>
            <a:ext cx="184942" cy="904502"/>
          </a:xfrm>
          <a:prstGeom prst="rect">
            <a:avLst/>
          </a:prstGeom>
          <a:solidFill>
            <a:srgbClr val="6FAEBB"/>
          </a:solidFill>
          <a:ln/>
        </p:spPr>
      </p:sp>
      <p:sp>
        <p:nvSpPr>
          <p:cNvPr id="146" name="Text 144"/>
          <p:cNvSpPr txBox="1"/>
          <p:nvPr/>
        </p:nvSpPr>
        <p:spPr>
          <a:xfrm>
            <a:off x="5290444" y="4499065"/>
            <a:ext cx="184942"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327</a:t>
            </a:r>
            <a:endParaRPr lang="en-US" sz="600" dirty="0"/>
          </a:p>
        </p:txBody>
      </p:sp>
      <p:sp>
        <p:nvSpPr>
          <p:cNvPr id="147" name="Shape 145"/>
          <p:cNvSpPr/>
          <p:nvPr/>
        </p:nvSpPr>
        <p:spPr>
          <a:xfrm>
            <a:off x="5290444" y="3579739"/>
            <a:ext cx="184942" cy="531084"/>
          </a:xfrm>
          <a:prstGeom prst="rect">
            <a:avLst/>
          </a:prstGeom>
          <a:solidFill>
            <a:srgbClr val="C88A2E"/>
          </a:solidFill>
          <a:ln/>
        </p:spPr>
      </p:sp>
      <p:sp>
        <p:nvSpPr>
          <p:cNvPr id="148" name="Text 146"/>
          <p:cNvSpPr txBox="1"/>
          <p:nvPr/>
        </p:nvSpPr>
        <p:spPr>
          <a:xfrm>
            <a:off x="5290444" y="3781273"/>
            <a:ext cx="184942"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192</a:t>
            </a:r>
            <a:endParaRPr lang="en-US" sz="600" dirty="0"/>
          </a:p>
        </p:txBody>
      </p:sp>
      <p:sp>
        <p:nvSpPr>
          <p:cNvPr id="149" name="Shape 147"/>
          <p:cNvSpPr/>
          <p:nvPr/>
        </p:nvSpPr>
        <p:spPr>
          <a:xfrm>
            <a:off x="5290444" y="3546546"/>
            <a:ext cx="184942" cy="33193"/>
          </a:xfrm>
          <a:prstGeom prst="rect">
            <a:avLst/>
          </a:prstGeom>
          <a:solidFill>
            <a:srgbClr val="7A3B21"/>
          </a:solidFill>
          <a:ln/>
        </p:spPr>
      </p:sp>
      <p:sp>
        <p:nvSpPr>
          <p:cNvPr id="150" name="Text 148"/>
          <p:cNvSpPr txBox="1"/>
          <p:nvPr/>
        </p:nvSpPr>
        <p:spPr>
          <a:xfrm>
            <a:off x="5244724" y="3391098"/>
            <a:ext cx="276382" cy="146304"/>
          </a:xfrm>
          <a:prstGeom prst="rect">
            <a:avLst/>
          </a:prstGeom>
          <a:noFill/>
          <a:ln/>
        </p:spPr>
        <p:txBody>
          <a:bodyPr wrap="square" lIns="0" tIns="0" rIns="0" bIns="0" rtlCol="0" anchor="ctr"/>
          <a:lstStyle/>
          <a:p>
            <a:pPr algn="ctr" indent="0" marL="0">
              <a:buNone/>
            </a:pPr>
            <a:r>
              <a:rPr lang="en-US" sz="620" b="1" dirty="0">
                <a:solidFill>
                  <a:srgbClr val="12293A"/>
                </a:solidFill>
                <a:latin typeface="Poppins" pitchFamily="34" charset="0"/>
                <a:ea typeface="Poppins" pitchFamily="34" charset="-122"/>
                <a:cs typeface="Poppins" pitchFamily="34" charset="-120"/>
              </a:rPr>
              <a:t>698</a:t>
            </a:r>
            <a:endParaRPr lang="en-US" sz="620" dirty="0"/>
          </a:p>
        </p:txBody>
      </p:sp>
      <p:sp>
        <p:nvSpPr>
          <p:cNvPr id="151" name="Shape 149"/>
          <p:cNvSpPr/>
          <p:nvPr/>
        </p:nvSpPr>
        <p:spPr>
          <a:xfrm>
            <a:off x="5507390" y="4282318"/>
            <a:ext cx="184942" cy="1194938"/>
          </a:xfrm>
          <a:prstGeom prst="rect">
            <a:avLst/>
          </a:prstGeom>
          <a:solidFill>
            <a:srgbClr val="1C5765"/>
          </a:solidFill>
          <a:ln/>
        </p:spPr>
      </p:sp>
      <p:sp>
        <p:nvSpPr>
          <p:cNvPr id="152" name="Text 150"/>
          <p:cNvSpPr txBox="1"/>
          <p:nvPr/>
        </p:nvSpPr>
        <p:spPr>
          <a:xfrm>
            <a:off x="5461670" y="4126870"/>
            <a:ext cx="276382" cy="146304"/>
          </a:xfrm>
          <a:prstGeom prst="rect">
            <a:avLst/>
          </a:prstGeom>
          <a:noFill/>
          <a:ln/>
        </p:spPr>
        <p:txBody>
          <a:bodyPr wrap="square" lIns="0" tIns="0" rIns="0" bIns="0" rtlCol="0" anchor="ctr"/>
          <a:lstStyle/>
          <a:p>
            <a:pPr algn="ctr" indent="0" marL="0">
              <a:buNone/>
            </a:pPr>
            <a:r>
              <a:rPr lang="en-US" sz="620" b="1" dirty="0">
                <a:solidFill>
                  <a:srgbClr val="1C5765"/>
                </a:solidFill>
                <a:latin typeface="Poppins" pitchFamily="34" charset="0"/>
                <a:ea typeface="Poppins" pitchFamily="34" charset="-122"/>
                <a:cs typeface="Poppins" pitchFamily="34" charset="-120"/>
              </a:rPr>
              <a:t>432</a:t>
            </a:r>
            <a:endParaRPr lang="en-US" sz="620" dirty="0"/>
          </a:p>
        </p:txBody>
      </p:sp>
      <p:sp>
        <p:nvSpPr>
          <p:cNvPr id="153" name="Text 151"/>
          <p:cNvSpPr txBox="1"/>
          <p:nvPr/>
        </p:nvSpPr>
        <p:spPr>
          <a:xfrm>
            <a:off x="5234524" y="5513832"/>
            <a:ext cx="513727" cy="164592"/>
          </a:xfrm>
          <a:prstGeom prst="rect">
            <a:avLst/>
          </a:prstGeom>
          <a:noFill/>
          <a:ln/>
        </p:spPr>
        <p:txBody>
          <a:bodyPr wrap="square" lIns="0" tIns="0" rIns="0" bIns="0" rtlCol="0" anchor="ctr"/>
          <a:lstStyle/>
          <a:p>
            <a:pPr algn="ctr" indent="0" marL="0">
              <a:buNone/>
            </a:pPr>
            <a:r>
              <a:rPr lang="en-US" sz="650" dirty="0">
                <a:solidFill>
                  <a:srgbClr val="12293A"/>
                </a:solidFill>
                <a:latin typeface="Poppins" pitchFamily="34" charset="0"/>
                <a:ea typeface="Poppins" pitchFamily="34" charset="-122"/>
                <a:cs typeface="Poppins" pitchFamily="34" charset="-120"/>
              </a:rPr>
              <a:t>10-04</a:t>
            </a:r>
            <a:endParaRPr lang="en-US" sz="650" dirty="0"/>
          </a:p>
        </p:txBody>
      </p:sp>
      <p:sp>
        <p:nvSpPr>
          <p:cNvPr id="154" name="Shape 152"/>
          <p:cNvSpPr/>
          <p:nvPr/>
        </p:nvSpPr>
        <p:spPr>
          <a:xfrm>
            <a:off x="5804171" y="5092774"/>
            <a:ext cx="184942" cy="384482"/>
          </a:xfrm>
          <a:prstGeom prst="rect">
            <a:avLst/>
          </a:prstGeom>
          <a:solidFill>
            <a:srgbClr val="3D8F5F"/>
          </a:solidFill>
          <a:ln/>
        </p:spPr>
      </p:sp>
      <p:sp>
        <p:nvSpPr>
          <p:cNvPr id="155" name="Text 153"/>
          <p:cNvSpPr txBox="1"/>
          <p:nvPr/>
        </p:nvSpPr>
        <p:spPr>
          <a:xfrm>
            <a:off x="5804171" y="5221007"/>
            <a:ext cx="184942"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139</a:t>
            </a:r>
            <a:endParaRPr lang="en-US" sz="600" dirty="0"/>
          </a:p>
        </p:txBody>
      </p:sp>
      <p:sp>
        <p:nvSpPr>
          <p:cNvPr id="156" name="Shape 154"/>
          <p:cNvSpPr/>
          <p:nvPr/>
        </p:nvSpPr>
        <p:spPr>
          <a:xfrm>
            <a:off x="5804171" y="4409557"/>
            <a:ext cx="184942" cy="683217"/>
          </a:xfrm>
          <a:prstGeom prst="rect">
            <a:avLst/>
          </a:prstGeom>
          <a:solidFill>
            <a:srgbClr val="6FAEBB"/>
          </a:solidFill>
          <a:ln/>
        </p:spPr>
      </p:sp>
      <p:sp>
        <p:nvSpPr>
          <p:cNvPr id="157" name="Text 155"/>
          <p:cNvSpPr txBox="1"/>
          <p:nvPr/>
        </p:nvSpPr>
        <p:spPr>
          <a:xfrm>
            <a:off x="5804171" y="4687157"/>
            <a:ext cx="184942"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247</a:t>
            </a:r>
            <a:endParaRPr lang="en-US" sz="600" dirty="0"/>
          </a:p>
        </p:txBody>
      </p:sp>
      <p:sp>
        <p:nvSpPr>
          <p:cNvPr id="158" name="Shape 156"/>
          <p:cNvSpPr/>
          <p:nvPr/>
        </p:nvSpPr>
        <p:spPr>
          <a:xfrm>
            <a:off x="5804171" y="3701445"/>
            <a:ext cx="184942" cy="708111"/>
          </a:xfrm>
          <a:prstGeom prst="rect">
            <a:avLst/>
          </a:prstGeom>
          <a:solidFill>
            <a:srgbClr val="C88A2E"/>
          </a:solidFill>
          <a:ln/>
        </p:spPr>
      </p:sp>
      <p:sp>
        <p:nvSpPr>
          <p:cNvPr id="159" name="Text 157"/>
          <p:cNvSpPr txBox="1"/>
          <p:nvPr/>
        </p:nvSpPr>
        <p:spPr>
          <a:xfrm>
            <a:off x="5804171" y="3991493"/>
            <a:ext cx="184942"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256</a:t>
            </a:r>
            <a:endParaRPr lang="en-US" sz="600" dirty="0"/>
          </a:p>
        </p:txBody>
      </p:sp>
      <p:sp>
        <p:nvSpPr>
          <p:cNvPr id="160" name="Shape 158"/>
          <p:cNvSpPr/>
          <p:nvPr/>
        </p:nvSpPr>
        <p:spPr>
          <a:xfrm>
            <a:off x="5804171" y="3659955"/>
            <a:ext cx="184942" cy="41491"/>
          </a:xfrm>
          <a:prstGeom prst="rect">
            <a:avLst/>
          </a:prstGeom>
          <a:solidFill>
            <a:srgbClr val="7A3B21"/>
          </a:solidFill>
          <a:ln/>
        </p:spPr>
      </p:sp>
      <p:sp>
        <p:nvSpPr>
          <p:cNvPr id="161" name="Text 159"/>
          <p:cNvSpPr txBox="1"/>
          <p:nvPr/>
        </p:nvSpPr>
        <p:spPr>
          <a:xfrm>
            <a:off x="5758451" y="3504507"/>
            <a:ext cx="276382" cy="146304"/>
          </a:xfrm>
          <a:prstGeom prst="rect">
            <a:avLst/>
          </a:prstGeom>
          <a:noFill/>
          <a:ln/>
        </p:spPr>
        <p:txBody>
          <a:bodyPr wrap="square" lIns="0" tIns="0" rIns="0" bIns="0" rtlCol="0" anchor="ctr"/>
          <a:lstStyle/>
          <a:p>
            <a:pPr algn="ctr" indent="0" marL="0">
              <a:buNone/>
            </a:pPr>
            <a:r>
              <a:rPr lang="en-US" sz="620" b="1" dirty="0">
                <a:solidFill>
                  <a:srgbClr val="12293A"/>
                </a:solidFill>
                <a:latin typeface="Poppins" pitchFamily="34" charset="0"/>
                <a:ea typeface="Poppins" pitchFamily="34" charset="-122"/>
                <a:cs typeface="Poppins" pitchFamily="34" charset="-120"/>
              </a:rPr>
              <a:t>657</a:t>
            </a:r>
            <a:endParaRPr lang="en-US" sz="620" dirty="0"/>
          </a:p>
        </p:txBody>
      </p:sp>
      <p:sp>
        <p:nvSpPr>
          <p:cNvPr id="162" name="Shape 160"/>
          <p:cNvSpPr/>
          <p:nvPr/>
        </p:nvSpPr>
        <p:spPr>
          <a:xfrm>
            <a:off x="6021116" y="4285084"/>
            <a:ext cx="184942" cy="1192172"/>
          </a:xfrm>
          <a:prstGeom prst="rect">
            <a:avLst/>
          </a:prstGeom>
          <a:solidFill>
            <a:srgbClr val="1C5765"/>
          </a:solidFill>
          <a:ln/>
        </p:spPr>
      </p:sp>
      <p:sp>
        <p:nvSpPr>
          <p:cNvPr id="163" name="Text 161"/>
          <p:cNvSpPr txBox="1"/>
          <p:nvPr/>
        </p:nvSpPr>
        <p:spPr>
          <a:xfrm>
            <a:off x="5975396" y="4129636"/>
            <a:ext cx="276382" cy="146304"/>
          </a:xfrm>
          <a:prstGeom prst="rect">
            <a:avLst/>
          </a:prstGeom>
          <a:noFill/>
          <a:ln/>
        </p:spPr>
        <p:txBody>
          <a:bodyPr wrap="square" lIns="0" tIns="0" rIns="0" bIns="0" rtlCol="0" anchor="ctr"/>
          <a:lstStyle/>
          <a:p>
            <a:pPr algn="ctr" indent="0" marL="0">
              <a:buNone/>
            </a:pPr>
            <a:r>
              <a:rPr lang="en-US" sz="620" b="1" dirty="0">
                <a:solidFill>
                  <a:srgbClr val="1C5765"/>
                </a:solidFill>
                <a:latin typeface="Poppins" pitchFamily="34" charset="0"/>
                <a:ea typeface="Poppins" pitchFamily="34" charset="-122"/>
                <a:cs typeface="Poppins" pitchFamily="34" charset="-120"/>
              </a:rPr>
              <a:t>431</a:t>
            </a:r>
            <a:endParaRPr lang="en-US" sz="620" dirty="0"/>
          </a:p>
        </p:txBody>
      </p:sp>
      <p:sp>
        <p:nvSpPr>
          <p:cNvPr id="164" name="Text 162"/>
          <p:cNvSpPr txBox="1"/>
          <p:nvPr/>
        </p:nvSpPr>
        <p:spPr>
          <a:xfrm>
            <a:off x="5748251" y="5513832"/>
            <a:ext cx="513727" cy="164592"/>
          </a:xfrm>
          <a:prstGeom prst="rect">
            <a:avLst/>
          </a:prstGeom>
          <a:noFill/>
          <a:ln/>
        </p:spPr>
        <p:txBody>
          <a:bodyPr wrap="square" lIns="0" tIns="0" rIns="0" bIns="0" rtlCol="0" anchor="ctr"/>
          <a:lstStyle/>
          <a:p>
            <a:pPr algn="ctr" indent="0" marL="0">
              <a:buNone/>
            </a:pPr>
            <a:r>
              <a:rPr lang="en-US" sz="650" dirty="0">
                <a:solidFill>
                  <a:srgbClr val="12293A"/>
                </a:solidFill>
                <a:latin typeface="Poppins" pitchFamily="34" charset="0"/>
                <a:ea typeface="Poppins" pitchFamily="34" charset="-122"/>
                <a:cs typeface="Poppins" pitchFamily="34" charset="-120"/>
              </a:rPr>
              <a:t>10-11</a:t>
            </a:r>
            <a:endParaRPr lang="en-US" sz="650" dirty="0"/>
          </a:p>
        </p:txBody>
      </p:sp>
      <p:sp>
        <p:nvSpPr>
          <p:cNvPr id="165" name="Shape 163"/>
          <p:cNvSpPr/>
          <p:nvPr/>
        </p:nvSpPr>
        <p:spPr>
          <a:xfrm>
            <a:off x="6317897" y="5020856"/>
            <a:ext cx="184942" cy="456400"/>
          </a:xfrm>
          <a:prstGeom prst="rect">
            <a:avLst/>
          </a:prstGeom>
          <a:solidFill>
            <a:srgbClr val="3D8F5F"/>
          </a:solidFill>
          <a:ln/>
        </p:spPr>
      </p:sp>
      <p:sp>
        <p:nvSpPr>
          <p:cNvPr id="166" name="Text 164"/>
          <p:cNvSpPr txBox="1"/>
          <p:nvPr/>
        </p:nvSpPr>
        <p:spPr>
          <a:xfrm>
            <a:off x="6317897" y="5185048"/>
            <a:ext cx="184942"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165</a:t>
            </a:r>
            <a:endParaRPr lang="en-US" sz="600" dirty="0"/>
          </a:p>
        </p:txBody>
      </p:sp>
      <p:sp>
        <p:nvSpPr>
          <p:cNvPr id="167" name="Shape 165"/>
          <p:cNvSpPr/>
          <p:nvPr/>
        </p:nvSpPr>
        <p:spPr>
          <a:xfrm>
            <a:off x="6317897" y="4617011"/>
            <a:ext cx="184942" cy="403845"/>
          </a:xfrm>
          <a:prstGeom prst="rect">
            <a:avLst/>
          </a:prstGeom>
          <a:solidFill>
            <a:srgbClr val="6FAEBB"/>
          </a:solidFill>
          <a:ln/>
        </p:spPr>
      </p:sp>
      <p:sp>
        <p:nvSpPr>
          <p:cNvPr id="168" name="Text 166"/>
          <p:cNvSpPr txBox="1"/>
          <p:nvPr/>
        </p:nvSpPr>
        <p:spPr>
          <a:xfrm>
            <a:off x="6317897" y="4754926"/>
            <a:ext cx="184942"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146</a:t>
            </a:r>
            <a:endParaRPr lang="en-US" sz="600" dirty="0"/>
          </a:p>
        </p:txBody>
      </p:sp>
      <p:sp>
        <p:nvSpPr>
          <p:cNvPr id="169" name="Shape 167"/>
          <p:cNvSpPr/>
          <p:nvPr/>
        </p:nvSpPr>
        <p:spPr>
          <a:xfrm>
            <a:off x="6317897" y="3878473"/>
            <a:ext cx="184942" cy="738538"/>
          </a:xfrm>
          <a:prstGeom prst="rect">
            <a:avLst/>
          </a:prstGeom>
          <a:solidFill>
            <a:srgbClr val="C88A2E"/>
          </a:solidFill>
          <a:ln/>
        </p:spPr>
      </p:sp>
      <p:sp>
        <p:nvSpPr>
          <p:cNvPr id="170" name="Text 168"/>
          <p:cNvSpPr txBox="1"/>
          <p:nvPr/>
        </p:nvSpPr>
        <p:spPr>
          <a:xfrm>
            <a:off x="6317897" y="4183734"/>
            <a:ext cx="184942"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267</a:t>
            </a:r>
            <a:endParaRPr lang="en-US" sz="600" dirty="0"/>
          </a:p>
        </p:txBody>
      </p:sp>
      <p:sp>
        <p:nvSpPr>
          <p:cNvPr id="171" name="Shape 169"/>
          <p:cNvSpPr/>
          <p:nvPr/>
        </p:nvSpPr>
        <p:spPr>
          <a:xfrm>
            <a:off x="6317897" y="3850813"/>
            <a:ext cx="184942" cy="27661"/>
          </a:xfrm>
          <a:prstGeom prst="rect">
            <a:avLst/>
          </a:prstGeom>
          <a:solidFill>
            <a:srgbClr val="7A3B21"/>
          </a:solidFill>
          <a:ln/>
        </p:spPr>
      </p:sp>
      <p:sp>
        <p:nvSpPr>
          <p:cNvPr id="172" name="Text 170"/>
          <p:cNvSpPr txBox="1"/>
          <p:nvPr/>
        </p:nvSpPr>
        <p:spPr>
          <a:xfrm>
            <a:off x="6272177" y="3695365"/>
            <a:ext cx="276382" cy="146304"/>
          </a:xfrm>
          <a:prstGeom prst="rect">
            <a:avLst/>
          </a:prstGeom>
          <a:noFill/>
          <a:ln/>
        </p:spPr>
        <p:txBody>
          <a:bodyPr wrap="square" lIns="0" tIns="0" rIns="0" bIns="0" rtlCol="0" anchor="ctr"/>
          <a:lstStyle/>
          <a:p>
            <a:pPr algn="ctr" indent="0" marL="0">
              <a:buNone/>
            </a:pPr>
            <a:r>
              <a:rPr lang="en-US" sz="620" b="1" dirty="0">
                <a:solidFill>
                  <a:srgbClr val="12293A"/>
                </a:solidFill>
                <a:latin typeface="Poppins" pitchFamily="34" charset="0"/>
                <a:ea typeface="Poppins" pitchFamily="34" charset="-122"/>
                <a:cs typeface="Poppins" pitchFamily="34" charset="-120"/>
              </a:rPr>
              <a:t>588</a:t>
            </a:r>
            <a:endParaRPr lang="en-US" sz="620" dirty="0"/>
          </a:p>
        </p:txBody>
      </p:sp>
      <p:sp>
        <p:nvSpPr>
          <p:cNvPr id="173" name="Shape 171"/>
          <p:cNvSpPr/>
          <p:nvPr/>
        </p:nvSpPr>
        <p:spPr>
          <a:xfrm>
            <a:off x="6534843" y="3787193"/>
            <a:ext cx="184942" cy="1690063"/>
          </a:xfrm>
          <a:prstGeom prst="rect">
            <a:avLst/>
          </a:prstGeom>
          <a:solidFill>
            <a:srgbClr val="1C5765"/>
          </a:solidFill>
          <a:ln/>
        </p:spPr>
      </p:sp>
      <p:sp>
        <p:nvSpPr>
          <p:cNvPr id="174" name="Text 172"/>
          <p:cNvSpPr txBox="1"/>
          <p:nvPr/>
        </p:nvSpPr>
        <p:spPr>
          <a:xfrm>
            <a:off x="6489123" y="3631745"/>
            <a:ext cx="276382" cy="146304"/>
          </a:xfrm>
          <a:prstGeom prst="rect">
            <a:avLst/>
          </a:prstGeom>
          <a:noFill/>
          <a:ln/>
        </p:spPr>
        <p:txBody>
          <a:bodyPr wrap="square" lIns="0" tIns="0" rIns="0" bIns="0" rtlCol="0" anchor="ctr"/>
          <a:lstStyle/>
          <a:p>
            <a:pPr algn="ctr" indent="0" marL="0">
              <a:buNone/>
            </a:pPr>
            <a:r>
              <a:rPr lang="en-US" sz="620" b="1" dirty="0">
                <a:solidFill>
                  <a:srgbClr val="1C5765"/>
                </a:solidFill>
                <a:latin typeface="Poppins" pitchFamily="34" charset="0"/>
                <a:ea typeface="Poppins" pitchFamily="34" charset="-122"/>
                <a:cs typeface="Poppins" pitchFamily="34" charset="-120"/>
              </a:rPr>
              <a:t>611</a:t>
            </a:r>
            <a:endParaRPr lang="en-US" sz="620" dirty="0"/>
          </a:p>
        </p:txBody>
      </p:sp>
      <p:sp>
        <p:nvSpPr>
          <p:cNvPr id="175" name="Text 173"/>
          <p:cNvSpPr txBox="1"/>
          <p:nvPr/>
        </p:nvSpPr>
        <p:spPr>
          <a:xfrm>
            <a:off x="6261977" y="5513832"/>
            <a:ext cx="513727" cy="164592"/>
          </a:xfrm>
          <a:prstGeom prst="rect">
            <a:avLst/>
          </a:prstGeom>
          <a:noFill/>
          <a:ln/>
        </p:spPr>
        <p:txBody>
          <a:bodyPr wrap="square" lIns="0" tIns="0" rIns="0" bIns="0" rtlCol="0" anchor="ctr"/>
          <a:lstStyle/>
          <a:p>
            <a:pPr algn="ctr" indent="0" marL="0">
              <a:buNone/>
            </a:pPr>
            <a:r>
              <a:rPr lang="en-US" sz="650" dirty="0">
                <a:solidFill>
                  <a:srgbClr val="12293A"/>
                </a:solidFill>
                <a:latin typeface="Poppins" pitchFamily="34" charset="0"/>
                <a:ea typeface="Poppins" pitchFamily="34" charset="-122"/>
                <a:cs typeface="Poppins" pitchFamily="34" charset="-120"/>
              </a:rPr>
              <a:t>10-18</a:t>
            </a:r>
            <a:endParaRPr lang="en-US" sz="650" dirty="0"/>
          </a:p>
        </p:txBody>
      </p:sp>
      <p:sp>
        <p:nvSpPr>
          <p:cNvPr id="176" name="Shape 174"/>
          <p:cNvSpPr/>
          <p:nvPr/>
        </p:nvSpPr>
        <p:spPr>
          <a:xfrm>
            <a:off x="923544" y="5477256"/>
            <a:ext cx="5852160" cy="10973"/>
          </a:xfrm>
          <a:prstGeom prst="rect">
            <a:avLst/>
          </a:prstGeom>
          <a:solidFill>
            <a:srgbClr val="12293A"/>
          </a:solidFill>
          <a:ln/>
        </p:spPr>
      </p:sp>
      <p:sp>
        <p:nvSpPr>
          <p:cNvPr id="177" name="Shape 175"/>
          <p:cNvSpPr/>
          <p:nvPr/>
        </p:nvSpPr>
        <p:spPr>
          <a:xfrm>
            <a:off x="3610134" y="3209544"/>
            <a:ext cx="20117" cy="2267712"/>
          </a:xfrm>
          <a:prstGeom prst="rect">
            <a:avLst/>
          </a:prstGeom>
          <a:solidFill>
            <a:srgbClr val="B4552D"/>
          </a:solidFill>
          <a:ln/>
        </p:spPr>
      </p:sp>
      <p:sp>
        <p:nvSpPr>
          <p:cNvPr id="178" name="Shape 176"/>
          <p:cNvSpPr/>
          <p:nvPr/>
        </p:nvSpPr>
        <p:spPr>
          <a:xfrm>
            <a:off x="3152934" y="3017520"/>
            <a:ext cx="960120" cy="201168"/>
          </a:xfrm>
          <a:prstGeom prst="roundRect">
            <a:avLst>
              <a:gd name="adj" fmla="val 50000"/>
            </a:avLst>
          </a:prstGeom>
          <a:solidFill>
            <a:srgbClr val="B4552D"/>
          </a:solidFill>
          <a:ln/>
        </p:spPr>
      </p:sp>
      <p:sp>
        <p:nvSpPr>
          <p:cNvPr id="179" name="Text 177"/>
          <p:cNvSpPr txBox="1"/>
          <p:nvPr/>
        </p:nvSpPr>
        <p:spPr>
          <a:xfrm>
            <a:off x="3152934" y="3017520"/>
            <a:ext cx="960120" cy="201168"/>
          </a:xfrm>
          <a:prstGeom prst="rect">
            <a:avLst/>
          </a:prstGeom>
          <a:noFill/>
          <a:ln/>
        </p:spPr>
        <p:txBody>
          <a:bodyPr wrap="square" lIns="0" tIns="0" rIns="0" bIns="0" rtlCol="0" anchor="ctr"/>
          <a:lstStyle/>
          <a:p>
            <a:pPr algn="ctr" indent="0" marL="0">
              <a:buNone/>
            </a:pPr>
            <a:r>
              <a:rPr lang="en-US" sz="600" b="1" dirty="0">
                <a:solidFill>
                  <a:srgbClr val="FFFFFF"/>
                </a:solidFill>
                <a:latin typeface="Poppins" pitchFamily="34" charset="0"/>
                <a:ea typeface="Poppins" pitchFamily="34" charset="-122"/>
                <a:cs typeface="Poppins" pitchFamily="34" charset="-120"/>
              </a:rPr>
              <a:t>CUTOVER 8 SEP</a:t>
            </a:r>
            <a:endParaRPr lang="en-US" sz="600" dirty="0"/>
          </a:p>
        </p:txBody>
      </p:sp>
      <p:sp>
        <p:nvSpPr>
          <p:cNvPr id="180" name="Text 178"/>
          <p:cNvSpPr txBox="1"/>
          <p:nvPr/>
        </p:nvSpPr>
        <p:spPr>
          <a:xfrm>
            <a:off x="978408" y="5687568"/>
            <a:ext cx="2568633" cy="182880"/>
          </a:xfrm>
          <a:prstGeom prst="rect">
            <a:avLst/>
          </a:prstGeom>
          <a:noFill/>
          <a:ln/>
        </p:spPr>
        <p:txBody>
          <a:bodyPr wrap="square" lIns="0" tIns="0" rIns="0" bIns="0" rtlCol="0" anchor="ctr"/>
          <a:lstStyle/>
          <a:p>
            <a:pPr algn="ctr" indent="0" marL="0">
              <a:buNone/>
            </a:pPr>
            <a:r>
              <a:rPr lang="en-US" sz="650" b="1" dirty="0">
                <a:solidFill>
                  <a:srgbClr val="C88A2E"/>
                </a:solidFill>
                <a:latin typeface="Poppins" pitchFamily="34" charset="0"/>
                <a:ea typeface="Poppins" pitchFamily="34" charset="-122"/>
                <a:cs typeface="Poppins" pitchFamily="34" charset="-120"/>
              </a:rPr>
              <a:t>CREATIO — FROZEN</a:t>
            </a:r>
            <a:endParaRPr lang="en-US" sz="650" dirty="0"/>
          </a:p>
        </p:txBody>
      </p:sp>
      <p:sp>
        <p:nvSpPr>
          <p:cNvPr id="181" name="Text 179"/>
          <p:cNvSpPr txBox="1"/>
          <p:nvPr/>
        </p:nvSpPr>
        <p:spPr>
          <a:xfrm>
            <a:off x="3693345" y="5687568"/>
            <a:ext cx="3082359" cy="182880"/>
          </a:xfrm>
          <a:prstGeom prst="rect">
            <a:avLst/>
          </a:prstGeom>
          <a:noFill/>
          <a:ln/>
        </p:spPr>
        <p:txBody>
          <a:bodyPr wrap="square" lIns="0" tIns="0" rIns="0" bIns="0" rtlCol="0" anchor="ctr"/>
          <a:lstStyle/>
          <a:p>
            <a:pPr algn="ctr" indent="0" marL="0">
              <a:buNone/>
            </a:pPr>
            <a:r>
              <a:rPr lang="en-US" sz="650" b="1" dirty="0">
                <a:solidFill>
                  <a:srgbClr val="2C8394"/>
                </a:solidFill>
                <a:latin typeface="Poppins" pitchFamily="34" charset="0"/>
                <a:ea typeface="Poppins" pitchFamily="34" charset="-122"/>
                <a:cs typeface="Poppins" pitchFamily="34" charset="-120"/>
              </a:rPr>
              <a:t>HUBSPOT — LIVE</a:t>
            </a:r>
            <a:endParaRPr lang="en-US" sz="650" dirty="0"/>
          </a:p>
        </p:txBody>
      </p:sp>
      <p:sp>
        <p:nvSpPr>
          <p:cNvPr id="182" name="Text 180"/>
          <p:cNvSpPr txBox="1"/>
          <p:nvPr/>
        </p:nvSpPr>
        <p:spPr>
          <a:xfrm>
            <a:off x="612648" y="5888736"/>
            <a:ext cx="6181344" cy="384048"/>
          </a:xfrm>
          <a:prstGeom prst="rect">
            <a:avLst/>
          </a:prstGeom>
          <a:noFill/>
          <a:ln/>
        </p:spPr>
        <p:txBody>
          <a:bodyPr wrap="square" lIns="0" tIns="0" rIns="0" bIns="0" rtlCol="0" anchor="t"/>
          <a:lstStyle/>
          <a:p>
            <a:pPr indent="0" marL="0">
              <a:buNone/>
            </a:pPr>
            <a:r>
              <a:rPr lang="en-US" sz="620" dirty="0">
                <a:solidFill>
                  <a:srgbClr val="8FA1AC"/>
                </a:solidFill>
                <a:latin typeface="Poppins" pitchFamily="34" charset="0"/>
                <a:ea typeface="Poppins" pitchFamily="34" charset="-122"/>
                <a:cs typeface="Poppins" pitchFamily="34" charset="-120"/>
              </a:rPr>
              <a:t>Weeks to 30 Aug are the frozen Creatio series (extracts ended 4 Sep); 13 Sep onward read live from HubSpot. Closed bars are tickets resolved in the week ending that date — the 7 Sep migration week is omitted because its 1,249 closes are cleanup, not throughput.</a:t>
            </a:r>
            <a:endParaRPr lang="en-US" sz="620" dirty="0"/>
          </a:p>
        </p:txBody>
      </p:sp>
      <p:sp>
        <p:nvSpPr>
          <p:cNvPr id="183" name="Shape 181"/>
          <p:cNvSpPr/>
          <p:nvPr/>
        </p:nvSpPr>
        <p:spPr>
          <a:xfrm>
            <a:off x="7178040" y="2395728"/>
            <a:ext cx="4599432" cy="2788920"/>
          </a:xfrm>
          <a:prstGeom prst="roundRect">
            <a:avLst>
              <a:gd name="adj" fmla="val 2295"/>
            </a:avLst>
          </a:prstGeom>
          <a:solidFill>
            <a:srgbClr val="FFFFFF"/>
          </a:solidFill>
          <a:ln/>
          <a:effectLst>
            <a:outerShdw sx="100000" sy="100000" kx="0" ky="0" algn="bl" rotWithShape="0" blurRad="76200" dist="25400" dir="5400000">
              <a:srgbClr val="9AAAB5">
                <a:alpha val="35000"/>
              </a:srgbClr>
            </a:outerShdw>
          </a:effectLst>
        </p:spPr>
      </p:sp>
      <p:sp>
        <p:nvSpPr>
          <p:cNvPr id="184" name="Text 182"/>
          <p:cNvSpPr txBox="1"/>
          <p:nvPr/>
        </p:nvSpPr>
        <p:spPr>
          <a:xfrm>
            <a:off x="7379208" y="2505456"/>
            <a:ext cx="4233672"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AI SUMMARY</a:t>
            </a:r>
            <a:endParaRPr lang="en-US" sz="1200" dirty="0"/>
          </a:p>
        </p:txBody>
      </p:sp>
      <p:sp>
        <p:nvSpPr>
          <p:cNvPr id="185" name="Text 183"/>
          <p:cNvSpPr txBox="1"/>
          <p:nvPr/>
        </p:nvSpPr>
        <p:spPr>
          <a:xfrm>
            <a:off x="7379208" y="2816352"/>
            <a:ext cx="4187952" cy="2240280"/>
          </a:xfrm>
          <a:prstGeom prst="rect">
            <a:avLst/>
          </a:prstGeom>
          <a:noFill/>
          <a:ln/>
        </p:spPr>
        <p:txBody>
          <a:bodyPr wrap="square" lIns="0" tIns="0" rIns="0" bIns="0" rtlCol="0" anchor="t"/>
          <a:lstStyle/>
          <a:p>
            <a:pPr indent="0" marL="0">
              <a:buNone/>
            </a:pPr>
            <a:r>
              <a:rPr lang="en-US" sz="900" b="1" dirty="0">
                <a:solidFill>
                  <a:srgbClr val="B4552D"/>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Second straight fall, and this time throughput did it.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564 in against 611 resolved, so open went 657 → 588. Last week the backlog only fell because inflow was quiet; this week the closed bar cleared the stack outright.</a:t>
            </a:r>
            <a:endParaRPr lang="en-US" sz="900" dirty="0"/>
          </a:p>
          <a:p>
            <a:pPr indent="0" marL="0">
              <a:buNone/>
            </a:pPr>
            <a:r>
              <a:rPr lang="en-US" sz="900" b="1" dirty="0">
                <a:solidFill>
                  <a:srgbClr val="C88A2E"/>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The 8–30 band emptied — but a third of it aged rather than closed.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8–30 days went 247 → 146 while 31–90 went 256 → 267. 277 cases are now past 30 days against 271 a week ago, and the median open ticket is 27 days old.</a:t>
            </a:r>
            <a:endParaRPr lang="en-US" sz="900" dirty="0"/>
          </a:p>
          <a:p>
            <a:pPr indent="0" marL="0">
              <a:buNone/>
            </a:pPr>
            <a:r>
              <a:rPr lang="en-US" sz="900" b="1" dirty="0">
                <a:solidFill>
                  <a:srgbClr val="3D8F5F"/>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The 90+ tail is the clean win.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10 against 15 last week and 73 at the start of August. Oldest work is genuinely being cleared.</a:t>
            </a:r>
            <a:endParaRPr lang="en-US" sz="900" dirty="0"/>
          </a:p>
          <a:p>
            <a:pPr indent="0" marL="0">
              <a:buNone/>
            </a:pPr>
            <a:r>
              <a:rPr lang="en-US" sz="900" b="1" dirty="0">
                <a:solidFill>
                  <a:srgbClr val="8FA1AC"/>
                </a:solidFill>
                <a:latin typeface="Poppins" pitchFamily="34" charset="0"/>
                <a:ea typeface="Poppins" pitchFamily="34" charset="-122"/>
                <a:cs typeface="Poppins" pitchFamily="34" charset="-120"/>
              </a:rPr>
              <a:t>•  </a:t>
            </a:r>
            <a:pPr indent="0" marL="0">
              <a:spcAft>
                <a:spcPts val="800"/>
              </a:spcAft>
              <a:buNone/>
            </a:pPr>
            <a:r>
              <a:rPr lang="en-US" sz="900" dirty="0">
                <a:solidFill>
                  <a:srgbClr val="8FA1AC"/>
                </a:solidFill>
                <a:latin typeface="Poppins" pitchFamily="34" charset="0"/>
                <a:ea typeface="Poppins" pitchFamily="34" charset="-122"/>
                <a:cs typeface="Poppins" pitchFamily="34" charset="-120"/>
              </a:rPr>
              <a:t>SLA fields are populating on new HubSpot tickets — attainment reporting returns once coverage is credible.</a:t>
            </a:r>
            <a:endParaRPr lang="en-US" sz="900" dirty="0"/>
          </a:p>
        </p:txBody>
      </p:sp>
      <p:sp>
        <p:nvSpPr>
          <p:cNvPr id="186" name="Shape 184"/>
          <p:cNvSpPr/>
          <p:nvPr/>
        </p:nvSpPr>
        <p:spPr>
          <a:xfrm>
            <a:off x="7178040" y="5303520"/>
            <a:ext cx="4599432" cy="1005840"/>
          </a:xfrm>
          <a:prstGeom prst="roundRect">
            <a:avLst>
              <a:gd name="adj" fmla="val 6364"/>
            </a:avLst>
          </a:prstGeom>
          <a:solidFill>
            <a:srgbClr val="FFFFFF"/>
          </a:solidFill>
          <a:ln/>
          <a:effectLst>
            <a:outerShdw sx="100000" sy="100000" kx="0" ky="0" algn="bl" rotWithShape="0" blurRad="76200" dist="25400" dir="5400000">
              <a:srgbClr val="9AAAB5">
                <a:alpha val="35000"/>
              </a:srgbClr>
            </a:outerShdw>
          </a:effectLst>
        </p:spPr>
      </p:sp>
      <p:sp>
        <p:nvSpPr>
          <p:cNvPr id="187" name="Text 185"/>
          <p:cNvSpPr txBox="1"/>
          <p:nvPr/>
        </p:nvSpPr>
        <p:spPr>
          <a:xfrm>
            <a:off x="7379208" y="5394960"/>
            <a:ext cx="4197096" cy="201168"/>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WHERE THE 588 OPEN SIT   </a:t>
            </a:r>
            <a:pPr indent="0" marL="0">
              <a:buNone/>
            </a:pPr>
            <a:r>
              <a:rPr lang="en-US" sz="630" dirty="0">
                <a:solidFill>
                  <a:srgbClr val="8FA1AC"/>
                </a:solidFill>
                <a:latin typeface="Poppins" pitchFamily="34" charset="0"/>
                <a:ea typeface="Poppins" pitchFamily="34" charset="-122"/>
                <a:cs typeface="Poppins" pitchFamily="34" charset="-120"/>
              </a:rPr>
              <a:t>the two pending states are counted in</a:t>
            </a:r>
            <a:endParaRPr lang="en-US" sz="950" dirty="0"/>
          </a:p>
        </p:txBody>
      </p:sp>
      <p:sp>
        <p:nvSpPr>
          <p:cNvPr id="188" name="Shape 186"/>
          <p:cNvSpPr/>
          <p:nvPr/>
        </p:nvSpPr>
        <p:spPr>
          <a:xfrm>
            <a:off x="7379208" y="5632704"/>
            <a:ext cx="1001268" cy="420624"/>
          </a:xfrm>
          <a:prstGeom prst="rect">
            <a:avLst/>
          </a:prstGeom>
          <a:solidFill>
            <a:srgbClr val="F2F6F8"/>
          </a:solidFill>
          <a:ln/>
        </p:spPr>
      </p:sp>
      <p:sp>
        <p:nvSpPr>
          <p:cNvPr id="189" name="Text 187"/>
          <p:cNvSpPr txBox="1"/>
          <p:nvPr/>
        </p:nvSpPr>
        <p:spPr>
          <a:xfrm>
            <a:off x="7470648" y="5660136"/>
            <a:ext cx="818388" cy="219456"/>
          </a:xfrm>
          <a:prstGeom prst="rect">
            <a:avLst/>
          </a:prstGeom>
          <a:noFill/>
          <a:ln/>
        </p:spPr>
        <p:txBody>
          <a:bodyPr wrap="square" lIns="0" tIns="0" rIns="0" bIns="0" rtlCol="0" anchor="ctr"/>
          <a:lstStyle/>
          <a:p>
            <a:pPr algn="ctr" indent="0" marL="0">
              <a:buNone/>
            </a:pPr>
            <a:r>
              <a:rPr lang="en-US" sz="1400" b="1" dirty="0">
                <a:solidFill>
                  <a:srgbClr val="12293A"/>
                </a:solidFill>
                <a:latin typeface="Poppins" pitchFamily="34" charset="0"/>
                <a:ea typeface="Poppins" pitchFamily="34" charset="-122"/>
                <a:cs typeface="Poppins" pitchFamily="34" charset="-120"/>
              </a:rPr>
              <a:t>443</a:t>
            </a:r>
            <a:endParaRPr lang="en-US" sz="1400" dirty="0"/>
          </a:p>
        </p:txBody>
      </p:sp>
      <p:sp>
        <p:nvSpPr>
          <p:cNvPr id="190" name="Text 188"/>
          <p:cNvSpPr txBox="1"/>
          <p:nvPr/>
        </p:nvSpPr>
        <p:spPr>
          <a:xfrm>
            <a:off x="7406640" y="5879592"/>
            <a:ext cx="946404" cy="155448"/>
          </a:xfrm>
          <a:prstGeom prst="rect">
            <a:avLst/>
          </a:prstGeom>
          <a:noFill/>
          <a:ln/>
        </p:spPr>
        <p:txBody>
          <a:bodyPr wrap="square" lIns="0" tIns="0" rIns="0" bIns="0" rtlCol="0" anchor="ctr"/>
          <a:lstStyle/>
          <a:p>
            <a:pPr algn="ctr" indent="0" marL="0">
              <a:buNone/>
            </a:pPr>
            <a:r>
              <a:rPr lang="en-US" sz="620" b="1" dirty="0">
                <a:solidFill>
                  <a:srgbClr val="5E7280"/>
                </a:solidFill>
                <a:latin typeface="Poppins" pitchFamily="34" charset="0"/>
                <a:ea typeface="Poppins" pitchFamily="34" charset="-122"/>
                <a:cs typeface="Poppins" pitchFamily="34" charset="-120"/>
              </a:rPr>
              <a:t>NEW</a:t>
            </a:r>
            <a:endParaRPr lang="en-US" sz="620" dirty="0"/>
          </a:p>
        </p:txBody>
      </p:sp>
      <p:sp>
        <p:nvSpPr>
          <p:cNvPr id="191" name="Shape 189"/>
          <p:cNvSpPr/>
          <p:nvPr/>
        </p:nvSpPr>
        <p:spPr>
          <a:xfrm>
            <a:off x="8444484" y="5632704"/>
            <a:ext cx="1001268" cy="420624"/>
          </a:xfrm>
          <a:prstGeom prst="rect">
            <a:avLst/>
          </a:prstGeom>
          <a:solidFill>
            <a:srgbClr val="F2F6F8"/>
          </a:solidFill>
          <a:ln/>
        </p:spPr>
      </p:sp>
      <p:sp>
        <p:nvSpPr>
          <p:cNvPr id="192" name="Text 190"/>
          <p:cNvSpPr txBox="1"/>
          <p:nvPr/>
        </p:nvSpPr>
        <p:spPr>
          <a:xfrm>
            <a:off x="8535924" y="5660136"/>
            <a:ext cx="818388" cy="219456"/>
          </a:xfrm>
          <a:prstGeom prst="rect">
            <a:avLst/>
          </a:prstGeom>
          <a:noFill/>
          <a:ln/>
        </p:spPr>
        <p:txBody>
          <a:bodyPr wrap="square" lIns="0" tIns="0" rIns="0" bIns="0" rtlCol="0" anchor="ctr"/>
          <a:lstStyle/>
          <a:p>
            <a:pPr algn="ctr" indent="0" marL="0">
              <a:buNone/>
            </a:pPr>
            <a:r>
              <a:rPr lang="en-US" sz="1400" b="1" dirty="0">
                <a:solidFill>
                  <a:srgbClr val="12293A"/>
                </a:solidFill>
                <a:latin typeface="Poppins" pitchFamily="34" charset="0"/>
                <a:ea typeface="Poppins" pitchFamily="34" charset="-122"/>
                <a:cs typeface="Poppins" pitchFamily="34" charset="-120"/>
              </a:rPr>
              <a:t>87</a:t>
            </a:r>
            <a:endParaRPr lang="en-US" sz="1400" dirty="0"/>
          </a:p>
        </p:txBody>
      </p:sp>
      <p:sp>
        <p:nvSpPr>
          <p:cNvPr id="193" name="Text 191"/>
          <p:cNvSpPr txBox="1"/>
          <p:nvPr/>
        </p:nvSpPr>
        <p:spPr>
          <a:xfrm>
            <a:off x="8471916" y="5879592"/>
            <a:ext cx="946404" cy="155448"/>
          </a:xfrm>
          <a:prstGeom prst="rect">
            <a:avLst/>
          </a:prstGeom>
          <a:noFill/>
          <a:ln/>
        </p:spPr>
        <p:txBody>
          <a:bodyPr wrap="square" lIns="0" tIns="0" rIns="0" bIns="0" rtlCol="0" anchor="ctr"/>
          <a:lstStyle/>
          <a:p>
            <a:pPr algn="ctr" indent="0" marL="0">
              <a:buNone/>
            </a:pPr>
            <a:r>
              <a:rPr lang="en-US" sz="620" b="1" dirty="0">
                <a:solidFill>
                  <a:srgbClr val="5E7280"/>
                </a:solidFill>
                <a:latin typeface="Poppins" pitchFamily="34" charset="0"/>
                <a:ea typeface="Poppins" pitchFamily="34" charset="-122"/>
                <a:cs typeface="Poppins" pitchFamily="34" charset="-120"/>
              </a:rPr>
              <a:t>IN PROGRESS</a:t>
            </a:r>
            <a:endParaRPr lang="en-US" sz="620" dirty="0"/>
          </a:p>
        </p:txBody>
      </p:sp>
      <p:sp>
        <p:nvSpPr>
          <p:cNvPr id="194" name="Shape 192"/>
          <p:cNvSpPr/>
          <p:nvPr/>
        </p:nvSpPr>
        <p:spPr>
          <a:xfrm>
            <a:off x="9509760" y="5632704"/>
            <a:ext cx="1001268" cy="420624"/>
          </a:xfrm>
          <a:prstGeom prst="rect">
            <a:avLst/>
          </a:prstGeom>
          <a:solidFill>
            <a:srgbClr val="F7EEDF"/>
          </a:solidFill>
          <a:ln/>
        </p:spPr>
      </p:sp>
      <p:sp>
        <p:nvSpPr>
          <p:cNvPr id="195" name="Shape 193"/>
          <p:cNvSpPr/>
          <p:nvPr/>
        </p:nvSpPr>
        <p:spPr>
          <a:xfrm>
            <a:off x="9509760" y="5632704"/>
            <a:ext cx="32004" cy="420624"/>
          </a:xfrm>
          <a:prstGeom prst="rect">
            <a:avLst/>
          </a:prstGeom>
          <a:solidFill>
            <a:srgbClr val="C88A2E"/>
          </a:solidFill>
          <a:ln/>
        </p:spPr>
      </p:sp>
      <p:sp>
        <p:nvSpPr>
          <p:cNvPr id="196" name="Text 194"/>
          <p:cNvSpPr txBox="1"/>
          <p:nvPr/>
        </p:nvSpPr>
        <p:spPr>
          <a:xfrm>
            <a:off x="9601200" y="5660136"/>
            <a:ext cx="818388" cy="219456"/>
          </a:xfrm>
          <a:prstGeom prst="rect">
            <a:avLst/>
          </a:prstGeom>
          <a:noFill/>
          <a:ln/>
        </p:spPr>
        <p:txBody>
          <a:bodyPr wrap="square" lIns="0" tIns="0" rIns="0" bIns="0" rtlCol="0" anchor="ctr"/>
          <a:lstStyle/>
          <a:p>
            <a:pPr algn="ctr" indent="0" marL="0">
              <a:buNone/>
            </a:pPr>
            <a:r>
              <a:rPr lang="en-US" sz="1400" b="1" dirty="0">
                <a:solidFill>
                  <a:srgbClr val="C88A2E"/>
                </a:solidFill>
                <a:latin typeface="Poppins" pitchFamily="34" charset="0"/>
                <a:ea typeface="Poppins" pitchFamily="34" charset="-122"/>
                <a:cs typeface="Poppins" pitchFamily="34" charset="-120"/>
              </a:rPr>
              <a:t>29</a:t>
            </a:r>
            <a:endParaRPr lang="en-US" sz="1400" dirty="0"/>
          </a:p>
        </p:txBody>
      </p:sp>
      <p:sp>
        <p:nvSpPr>
          <p:cNvPr id="197" name="Text 195"/>
          <p:cNvSpPr txBox="1"/>
          <p:nvPr/>
        </p:nvSpPr>
        <p:spPr>
          <a:xfrm>
            <a:off x="9537192" y="5879592"/>
            <a:ext cx="946404" cy="155448"/>
          </a:xfrm>
          <a:prstGeom prst="rect">
            <a:avLst/>
          </a:prstGeom>
          <a:noFill/>
          <a:ln/>
        </p:spPr>
        <p:txBody>
          <a:bodyPr wrap="square" lIns="0" tIns="0" rIns="0" bIns="0" rtlCol="0" anchor="ctr"/>
          <a:lstStyle/>
          <a:p>
            <a:pPr algn="ctr" indent="0" marL="0">
              <a:buNone/>
            </a:pPr>
            <a:r>
              <a:rPr lang="en-US" sz="540" b="1" dirty="0">
                <a:solidFill>
                  <a:srgbClr val="C88A2E"/>
                </a:solidFill>
                <a:latin typeface="Poppins" pitchFamily="34" charset="0"/>
                <a:ea typeface="Poppins" pitchFamily="34" charset="-122"/>
                <a:cs typeface="Poppins" pitchFamily="34" charset="-120"/>
              </a:rPr>
              <a:t>PENDING INTERNAL</a:t>
            </a:r>
            <a:endParaRPr lang="en-US" sz="540" dirty="0"/>
          </a:p>
        </p:txBody>
      </p:sp>
      <p:sp>
        <p:nvSpPr>
          <p:cNvPr id="198" name="Shape 196"/>
          <p:cNvSpPr/>
          <p:nvPr/>
        </p:nvSpPr>
        <p:spPr>
          <a:xfrm>
            <a:off x="10575036" y="5632704"/>
            <a:ext cx="1001268" cy="420624"/>
          </a:xfrm>
          <a:prstGeom prst="rect">
            <a:avLst/>
          </a:prstGeom>
          <a:solidFill>
            <a:srgbClr val="F7EEDF"/>
          </a:solidFill>
          <a:ln/>
        </p:spPr>
      </p:sp>
      <p:sp>
        <p:nvSpPr>
          <p:cNvPr id="199" name="Shape 197"/>
          <p:cNvSpPr/>
          <p:nvPr/>
        </p:nvSpPr>
        <p:spPr>
          <a:xfrm>
            <a:off x="10575036" y="5632704"/>
            <a:ext cx="32004" cy="420624"/>
          </a:xfrm>
          <a:prstGeom prst="rect">
            <a:avLst/>
          </a:prstGeom>
          <a:solidFill>
            <a:srgbClr val="C88A2E"/>
          </a:solidFill>
          <a:ln/>
        </p:spPr>
      </p:sp>
      <p:sp>
        <p:nvSpPr>
          <p:cNvPr id="200" name="Text 198"/>
          <p:cNvSpPr txBox="1"/>
          <p:nvPr/>
        </p:nvSpPr>
        <p:spPr>
          <a:xfrm>
            <a:off x="10666476" y="5660136"/>
            <a:ext cx="818388" cy="219456"/>
          </a:xfrm>
          <a:prstGeom prst="rect">
            <a:avLst/>
          </a:prstGeom>
          <a:noFill/>
          <a:ln/>
        </p:spPr>
        <p:txBody>
          <a:bodyPr wrap="square" lIns="0" tIns="0" rIns="0" bIns="0" rtlCol="0" anchor="ctr"/>
          <a:lstStyle/>
          <a:p>
            <a:pPr algn="ctr" indent="0" marL="0">
              <a:buNone/>
            </a:pPr>
            <a:r>
              <a:rPr lang="en-US" sz="1400" b="1" dirty="0">
                <a:solidFill>
                  <a:srgbClr val="C88A2E"/>
                </a:solidFill>
                <a:latin typeface="Poppins" pitchFamily="34" charset="0"/>
                <a:ea typeface="Poppins" pitchFamily="34" charset="-122"/>
                <a:cs typeface="Poppins" pitchFamily="34" charset="-120"/>
              </a:rPr>
              <a:t>29</a:t>
            </a:r>
            <a:endParaRPr lang="en-US" sz="1400" dirty="0"/>
          </a:p>
        </p:txBody>
      </p:sp>
      <p:sp>
        <p:nvSpPr>
          <p:cNvPr id="201" name="Text 199"/>
          <p:cNvSpPr txBox="1"/>
          <p:nvPr/>
        </p:nvSpPr>
        <p:spPr>
          <a:xfrm>
            <a:off x="10602468" y="5879592"/>
            <a:ext cx="946404" cy="155448"/>
          </a:xfrm>
          <a:prstGeom prst="rect">
            <a:avLst/>
          </a:prstGeom>
          <a:noFill/>
          <a:ln/>
        </p:spPr>
        <p:txBody>
          <a:bodyPr wrap="square" lIns="0" tIns="0" rIns="0" bIns="0" rtlCol="0" anchor="ctr"/>
          <a:lstStyle/>
          <a:p>
            <a:pPr algn="ctr" indent="0" marL="0">
              <a:buNone/>
            </a:pPr>
            <a:r>
              <a:rPr lang="en-US" sz="540" b="1" dirty="0">
                <a:solidFill>
                  <a:srgbClr val="C88A2E"/>
                </a:solidFill>
                <a:latin typeface="Poppins" pitchFamily="34" charset="0"/>
                <a:ea typeface="Poppins" pitchFamily="34" charset="-122"/>
                <a:cs typeface="Poppins" pitchFamily="34" charset="-120"/>
              </a:rPr>
              <a:t>PENDING EXTERNAL</a:t>
            </a:r>
            <a:endParaRPr lang="en-US" sz="540" dirty="0"/>
          </a:p>
        </p:txBody>
      </p:sp>
      <p:sp>
        <p:nvSpPr>
          <p:cNvPr id="202" name="Text 200"/>
          <p:cNvSpPr txBox="1"/>
          <p:nvPr/>
        </p:nvSpPr>
        <p:spPr>
          <a:xfrm>
            <a:off x="7379208" y="6099048"/>
            <a:ext cx="4197096" cy="274320"/>
          </a:xfrm>
          <a:prstGeom prst="rect">
            <a:avLst/>
          </a:prstGeom>
          <a:noFill/>
          <a:ln/>
        </p:spPr>
        <p:txBody>
          <a:bodyPr wrap="square" lIns="0" tIns="0" rIns="0" bIns="0" rtlCol="0" anchor="t"/>
          <a:lstStyle/>
          <a:p>
            <a:pPr indent="0" marL="0">
              <a:buNone/>
            </a:pPr>
            <a:r>
              <a:rPr lang="en-US" sz="640" dirty="0">
                <a:solidFill>
                  <a:srgbClr val="5E7280"/>
                </a:solidFill>
                <a:latin typeface="Poppins" pitchFamily="34" charset="0"/>
                <a:ea typeface="Poppins" pitchFamily="34" charset="-122"/>
                <a:cs typeface="Poppins" pitchFamily="34" charset="-120"/>
              </a:rPr>
              <a:t>Pending Internal and Pending External are inside the 588 — 58 tickets, 10% of it. New is down 529 → 443, the first fall, but still 75% of everything open.</a:t>
            </a:r>
            <a:endParaRPr lang="en-US" sz="640" dirty="0"/>
          </a:p>
        </p:txBody>
      </p:sp>
      <p:sp>
        <p:nvSpPr>
          <p:cNvPr id="203" name="Shape 201"/>
          <p:cNvSpPr/>
          <p:nvPr/>
        </p:nvSpPr>
        <p:spPr>
          <a:xfrm>
            <a:off x="8642909" y="6510528"/>
            <a:ext cx="3134563" cy="256032"/>
          </a:xfrm>
          <a:prstGeom prst="roundRect">
            <a:avLst>
              <a:gd name="adj" fmla="val 46429"/>
            </a:avLst>
          </a:prstGeom>
          <a:solidFill>
            <a:srgbClr val="12293A"/>
          </a:solidFill>
          <a:ln/>
        </p:spPr>
      </p:sp>
      <p:sp>
        <p:nvSpPr>
          <p:cNvPr id="204" name="Text 202"/>
          <p:cNvSpPr txBox="1"/>
          <p:nvPr/>
        </p:nvSpPr>
        <p:spPr>
          <a:xfrm>
            <a:off x="8642909" y="6510528"/>
            <a:ext cx="3134563" cy="256032"/>
          </a:xfrm>
          <a:prstGeom prst="rect">
            <a:avLst/>
          </a:prstGeom>
          <a:noFill/>
          <a:ln/>
        </p:spPr>
        <p:txBody>
          <a:bodyPr wrap="square" lIns="0" tIns="0" rIns="0" bIns="0" rtlCol="0" anchor="ctr"/>
          <a:lstStyle/>
          <a:p>
            <a:pPr algn="ctr" indent="0" marL="0">
              <a:buNone/>
            </a:pPr>
            <a:r>
              <a:rPr lang="en-US" sz="700" b="1" dirty="0">
                <a:solidFill>
                  <a:srgbClr val="FFFFFF"/>
                </a:solidFill>
                <a:latin typeface="Poppins" pitchFamily="34" charset="0"/>
                <a:ea typeface="Poppins" pitchFamily="34" charset="-122"/>
                <a:cs typeface="Poppins" pitchFamily="34" charset="-120"/>
              </a:rPr>
              <a:t>Source: HubSpot (live) — cut over from Creatio</a:t>
            </a:r>
            <a:endParaRPr lang="en-US" sz="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2F6F8"/>
        </a:solidFill>
      </p:bgPr>
    </p:bg>
    <p:spTree>
      <p:nvGrpSpPr>
        <p:cNvPr id="1" name=""/>
        <p:cNvGrpSpPr/>
        <p:nvPr/>
      </p:nvGrpSpPr>
      <p:grpSpPr>
        <a:xfrm>
          <a:off x="0" y="0"/>
          <a:ext cx="0" cy="0"/>
          <a:chOff x="0" y="0"/>
          <a:chExt cx="0" cy="0"/>
        </a:xfrm>
      </p:grpSpPr>
      <p:sp>
        <p:nvSpPr>
          <p:cNvPr id="2" name="Shape 0"/>
          <p:cNvSpPr/>
          <p:nvPr/>
        </p:nvSpPr>
        <p:spPr>
          <a:xfrm>
            <a:off x="0" y="0"/>
            <a:ext cx="12188952" cy="841248"/>
          </a:xfrm>
          <a:prstGeom prst="rect">
            <a:avLst/>
          </a:prstGeom>
          <a:solidFill>
            <a:srgbClr val="12293A"/>
          </a:solidFill>
          <a:ln/>
        </p:spPr>
      </p:sp>
      <p:sp>
        <p:nvSpPr>
          <p:cNvPr id="3" name="Shape 1"/>
          <p:cNvSpPr/>
          <p:nvPr/>
        </p:nvSpPr>
        <p:spPr>
          <a:xfrm>
            <a:off x="384048" y="155448"/>
            <a:ext cx="731520" cy="530352"/>
          </a:xfrm>
          <a:prstGeom prst="roundRect">
            <a:avLst>
              <a:gd name="adj" fmla="val 15517"/>
            </a:avLst>
          </a:prstGeom>
          <a:solidFill>
            <a:srgbClr val="FFFFFF"/>
          </a:solidFill>
          <a:ln/>
        </p:spPr>
      </p:sp>
      <p:sp>
        <p:nvSpPr>
          <p:cNvPr id="4" name="Text 2"/>
          <p:cNvSpPr txBox="1"/>
          <p:nvPr/>
        </p:nvSpPr>
        <p:spPr>
          <a:xfrm>
            <a:off x="384048" y="155448"/>
            <a:ext cx="731520" cy="530352"/>
          </a:xfrm>
          <a:prstGeom prst="rect">
            <a:avLst/>
          </a:prstGeom>
          <a:noFill/>
          <a:ln/>
        </p:spPr>
        <p:txBody>
          <a:bodyPr wrap="square" lIns="0" tIns="0" rIns="0" bIns="0" rtlCol="0" anchor="ctr"/>
          <a:lstStyle/>
          <a:p>
            <a:pPr algn="ctr" indent="0" marL="0">
              <a:buNone/>
            </a:pPr>
            <a:r>
              <a:rPr lang="en-US" sz="1500" b="1" dirty="0">
                <a:solidFill>
                  <a:srgbClr val="12293A"/>
                </a:solidFill>
                <a:latin typeface="Poppins" pitchFamily="34" charset="0"/>
                <a:ea typeface="Poppins" pitchFamily="34" charset="-122"/>
                <a:cs typeface="Poppins" pitchFamily="34" charset="-120"/>
              </a:rPr>
              <a:t>H&amp;L</a:t>
            </a:r>
            <a:endParaRPr lang="en-US" sz="1500" dirty="0"/>
          </a:p>
        </p:txBody>
      </p:sp>
      <p:sp>
        <p:nvSpPr>
          <p:cNvPr id="5" name="Text 3"/>
          <p:cNvSpPr txBox="1"/>
          <p:nvPr/>
        </p:nvSpPr>
        <p:spPr>
          <a:xfrm>
            <a:off x="1298448" y="54864"/>
            <a:ext cx="7223760" cy="475488"/>
          </a:xfrm>
          <a:prstGeom prst="rect">
            <a:avLst/>
          </a:prstGeom>
          <a:noFill/>
          <a:ln/>
        </p:spPr>
        <p:txBody>
          <a:bodyPr wrap="square" lIns="0" tIns="0" rIns="0" bIns="0" rtlCol="0" anchor="ctr"/>
          <a:lstStyle/>
          <a:p>
            <a:pPr indent="0" marL="0">
              <a:buNone/>
            </a:pPr>
            <a:r>
              <a:rPr lang="en-US" sz="2300" b="1" dirty="0">
                <a:solidFill>
                  <a:srgbClr val="FFFFFF"/>
                </a:solidFill>
                <a:latin typeface="Poppins" pitchFamily="34" charset="0"/>
                <a:ea typeface="Poppins" pitchFamily="34" charset="-122"/>
                <a:cs typeface="Poppins" pitchFamily="34" charset="-120"/>
              </a:rPr>
              <a:t>Q3 Roadmap</a:t>
            </a:r>
            <a:endParaRPr lang="en-US" sz="2300" dirty="0"/>
          </a:p>
        </p:txBody>
      </p:sp>
      <p:sp>
        <p:nvSpPr>
          <p:cNvPr id="6" name="Text 4"/>
          <p:cNvSpPr txBox="1"/>
          <p:nvPr/>
        </p:nvSpPr>
        <p:spPr>
          <a:xfrm>
            <a:off x="1316736" y="512064"/>
            <a:ext cx="7040880" cy="256032"/>
          </a:xfrm>
          <a:prstGeom prst="rect">
            <a:avLst/>
          </a:prstGeom>
          <a:noFill/>
          <a:ln/>
        </p:spPr>
        <p:txBody>
          <a:bodyPr wrap="square" lIns="0" tIns="0" rIns="0" bIns="0" rtlCol="0" anchor="ctr"/>
          <a:lstStyle/>
          <a:p>
            <a:pPr indent="0" marL="0">
              <a:buNone/>
            </a:pPr>
            <a:r>
              <a:rPr lang="en-US" sz="1050" dirty="0">
                <a:solidFill>
                  <a:srgbClr val="6FAEBB"/>
                </a:solidFill>
                <a:latin typeface="Poppins" pitchFamily="34" charset="0"/>
                <a:ea typeface="Poppins" pitchFamily="34" charset="-122"/>
                <a:cs typeface="Poppins" pitchFamily="34" charset="-120"/>
              </a:rPr>
              <a:t>Product</a:t>
            </a:r>
            <a:endParaRPr lang="en-US" sz="1050" dirty="0"/>
          </a:p>
        </p:txBody>
      </p:sp>
      <p:sp>
        <p:nvSpPr>
          <p:cNvPr id="7" name="Shape 5"/>
          <p:cNvSpPr/>
          <p:nvPr/>
        </p:nvSpPr>
        <p:spPr>
          <a:xfrm>
            <a:off x="8686800" y="246888"/>
            <a:ext cx="1965960" cy="347472"/>
          </a:xfrm>
          <a:prstGeom prst="roundRect">
            <a:avLst>
              <a:gd name="adj" fmla="val 50000"/>
            </a:avLst>
          </a:prstGeom>
          <a:solidFill>
            <a:srgbClr val="24435C"/>
          </a:solidFill>
          <a:ln w="9525">
            <a:solidFill>
              <a:srgbClr val="FFFFFF">
                <a:alpha val="45000"/>
              </a:srgbClr>
            </a:solidFill>
            <a:prstDash val="solid"/>
          </a:ln>
        </p:spPr>
      </p:sp>
      <p:sp>
        <p:nvSpPr>
          <p:cNvPr id="8" name="Text 6"/>
          <p:cNvSpPr txBox="1"/>
          <p:nvPr/>
        </p:nvSpPr>
        <p:spPr>
          <a:xfrm>
            <a:off x="8686800" y="246888"/>
            <a:ext cx="1965960" cy="347472"/>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4  ·  BUILDING THE FUTURE?</a:t>
            </a:r>
            <a:endParaRPr lang="en-US" sz="850" dirty="0"/>
          </a:p>
        </p:txBody>
      </p:sp>
      <p:sp>
        <p:nvSpPr>
          <p:cNvPr id="9" name="Shape 7"/>
          <p:cNvSpPr/>
          <p:nvPr/>
        </p:nvSpPr>
        <p:spPr>
          <a:xfrm>
            <a:off x="10872216" y="0"/>
            <a:ext cx="841248" cy="841248"/>
          </a:xfrm>
          <a:prstGeom prst="ellipse">
            <a:avLst/>
          </a:prstGeom>
          <a:solidFill>
            <a:srgbClr val="1C5765"/>
          </a:solidFill>
          <a:ln/>
        </p:spPr>
      </p:sp>
      <p:sp>
        <p:nvSpPr>
          <p:cNvPr id="10" name="Shape 8"/>
          <p:cNvSpPr/>
          <p:nvPr/>
        </p:nvSpPr>
        <p:spPr>
          <a:xfrm>
            <a:off x="10968228" y="96012"/>
            <a:ext cx="649224" cy="649224"/>
          </a:xfrm>
          <a:prstGeom prst="ellipse">
            <a:avLst/>
          </a:prstGeom>
          <a:solidFill>
            <a:srgbClr val="2C8394"/>
          </a:solidFill>
          <a:ln/>
        </p:spPr>
      </p:sp>
      <p:sp>
        <p:nvSpPr>
          <p:cNvPr id="11" name="Shape 9"/>
          <p:cNvSpPr/>
          <p:nvPr/>
        </p:nvSpPr>
        <p:spPr>
          <a:xfrm>
            <a:off x="11064240" y="192024"/>
            <a:ext cx="457200" cy="457200"/>
          </a:xfrm>
          <a:prstGeom prst="ellipse">
            <a:avLst/>
          </a:prstGeom>
          <a:solidFill>
            <a:srgbClr val="6FAEBB"/>
          </a:solidFill>
          <a:ln/>
        </p:spPr>
      </p:sp>
      <p:sp>
        <p:nvSpPr>
          <p:cNvPr id="12" name="Shape 10"/>
          <p:cNvSpPr/>
          <p:nvPr/>
        </p:nvSpPr>
        <p:spPr>
          <a:xfrm>
            <a:off x="11160252" y="288036"/>
            <a:ext cx="265176" cy="265176"/>
          </a:xfrm>
          <a:prstGeom prst="ellipse">
            <a:avLst/>
          </a:prstGeom>
          <a:solidFill>
            <a:srgbClr val="E4F1F4"/>
          </a:solidFill>
          <a:ln/>
        </p:spPr>
      </p:sp>
      <p:sp>
        <p:nvSpPr>
          <p:cNvPr id="13" name="Shape 11"/>
          <p:cNvSpPr/>
          <p:nvPr/>
        </p:nvSpPr>
        <p:spPr>
          <a:xfrm>
            <a:off x="411480" y="987552"/>
            <a:ext cx="164592" cy="164592"/>
          </a:xfrm>
          <a:prstGeom prst="ellipse">
            <a:avLst/>
          </a:prstGeom>
          <a:solidFill>
            <a:srgbClr val="3D8F5F"/>
          </a:solidFill>
          <a:ln/>
        </p:spPr>
      </p:sp>
      <p:sp>
        <p:nvSpPr>
          <p:cNvPr id="14" name="Text 12"/>
          <p:cNvSpPr txBox="1"/>
          <p:nvPr/>
        </p:nvSpPr>
        <p:spPr>
          <a:xfrm>
            <a:off x="630936" y="914400"/>
            <a:ext cx="1463040" cy="292608"/>
          </a:xfrm>
          <a:prstGeom prst="rect">
            <a:avLst/>
          </a:prstGeom>
          <a:noFill/>
          <a:ln/>
        </p:spPr>
        <p:txBody>
          <a:bodyPr wrap="square" lIns="0" tIns="0" rIns="0" bIns="0" rtlCol="0" anchor="ctr"/>
          <a:lstStyle/>
          <a:p>
            <a:pPr indent="0" marL="0">
              <a:buNone/>
            </a:pPr>
            <a:r>
              <a:rPr lang="en-US" sz="1100" b="1" dirty="0">
                <a:solidFill>
                  <a:srgbClr val="12293A"/>
                </a:solidFill>
                <a:latin typeface="Poppins" pitchFamily="34" charset="0"/>
                <a:ea typeface="Poppins" pitchFamily="34" charset="-122"/>
                <a:cs typeface="Poppins" pitchFamily="34" charset="-120"/>
              </a:rPr>
              <a:t>10 Done</a:t>
            </a:r>
            <a:endParaRPr lang="en-US" sz="1100" dirty="0"/>
          </a:p>
        </p:txBody>
      </p:sp>
      <p:sp>
        <p:nvSpPr>
          <p:cNvPr id="15" name="Shape 13"/>
          <p:cNvSpPr/>
          <p:nvPr/>
        </p:nvSpPr>
        <p:spPr>
          <a:xfrm>
            <a:off x="1595628" y="987552"/>
            <a:ext cx="164592" cy="164592"/>
          </a:xfrm>
          <a:prstGeom prst="ellipse">
            <a:avLst/>
          </a:prstGeom>
          <a:solidFill>
            <a:srgbClr val="C88A2E"/>
          </a:solidFill>
          <a:ln/>
        </p:spPr>
      </p:sp>
      <p:sp>
        <p:nvSpPr>
          <p:cNvPr id="16" name="Text 14"/>
          <p:cNvSpPr txBox="1"/>
          <p:nvPr/>
        </p:nvSpPr>
        <p:spPr>
          <a:xfrm>
            <a:off x="1815084" y="914400"/>
            <a:ext cx="1463040" cy="292608"/>
          </a:xfrm>
          <a:prstGeom prst="rect">
            <a:avLst/>
          </a:prstGeom>
          <a:noFill/>
          <a:ln/>
        </p:spPr>
        <p:txBody>
          <a:bodyPr wrap="square" lIns="0" tIns="0" rIns="0" bIns="0" rtlCol="0" anchor="ctr"/>
          <a:lstStyle/>
          <a:p>
            <a:pPr indent="0" marL="0">
              <a:buNone/>
            </a:pPr>
            <a:r>
              <a:rPr lang="en-US" sz="1100" b="1" dirty="0">
                <a:solidFill>
                  <a:srgbClr val="12293A"/>
                </a:solidFill>
                <a:latin typeface="Poppins" pitchFamily="34" charset="0"/>
                <a:ea typeface="Poppins" pitchFamily="34" charset="-122"/>
                <a:cs typeface="Poppins" pitchFamily="34" charset="-120"/>
              </a:rPr>
              <a:t>12 On Track</a:t>
            </a:r>
            <a:endParaRPr lang="en-US" sz="1100" dirty="0"/>
          </a:p>
        </p:txBody>
      </p:sp>
      <p:sp>
        <p:nvSpPr>
          <p:cNvPr id="17" name="Shape 15"/>
          <p:cNvSpPr/>
          <p:nvPr/>
        </p:nvSpPr>
        <p:spPr>
          <a:xfrm>
            <a:off x="3090672" y="987552"/>
            <a:ext cx="164592" cy="164592"/>
          </a:xfrm>
          <a:prstGeom prst="ellipse">
            <a:avLst/>
          </a:prstGeom>
          <a:solidFill>
            <a:srgbClr val="C7D3DA"/>
          </a:solidFill>
          <a:ln/>
        </p:spPr>
      </p:sp>
      <p:sp>
        <p:nvSpPr>
          <p:cNvPr id="18" name="Text 16"/>
          <p:cNvSpPr txBox="1"/>
          <p:nvPr/>
        </p:nvSpPr>
        <p:spPr>
          <a:xfrm>
            <a:off x="3310128" y="914400"/>
            <a:ext cx="1463040" cy="292608"/>
          </a:xfrm>
          <a:prstGeom prst="rect">
            <a:avLst/>
          </a:prstGeom>
          <a:noFill/>
          <a:ln/>
        </p:spPr>
        <p:txBody>
          <a:bodyPr wrap="square" lIns="0" tIns="0" rIns="0" bIns="0" rtlCol="0" anchor="ctr"/>
          <a:lstStyle/>
          <a:p>
            <a:pPr indent="0" marL="0">
              <a:buNone/>
            </a:pPr>
            <a:r>
              <a:rPr lang="en-US" sz="1100" b="1" dirty="0">
                <a:solidFill>
                  <a:srgbClr val="12293A"/>
                </a:solidFill>
                <a:latin typeface="Poppins" pitchFamily="34" charset="0"/>
                <a:ea typeface="Poppins" pitchFamily="34" charset="-122"/>
                <a:cs typeface="Poppins" pitchFamily="34" charset="-120"/>
              </a:rPr>
              <a:t>3 Not Started</a:t>
            </a:r>
            <a:endParaRPr lang="en-US" sz="1100" dirty="0"/>
          </a:p>
        </p:txBody>
      </p:sp>
      <p:sp>
        <p:nvSpPr>
          <p:cNvPr id="19" name="Shape 17"/>
          <p:cNvSpPr/>
          <p:nvPr/>
        </p:nvSpPr>
        <p:spPr>
          <a:xfrm>
            <a:off x="4741164" y="987552"/>
            <a:ext cx="164592" cy="164592"/>
          </a:xfrm>
          <a:prstGeom prst="ellipse">
            <a:avLst/>
          </a:prstGeom>
          <a:solidFill>
            <a:srgbClr val="B4552D"/>
          </a:solidFill>
          <a:ln/>
        </p:spPr>
      </p:sp>
      <p:sp>
        <p:nvSpPr>
          <p:cNvPr id="20" name="Text 18"/>
          <p:cNvSpPr txBox="1"/>
          <p:nvPr/>
        </p:nvSpPr>
        <p:spPr>
          <a:xfrm>
            <a:off x="4960620" y="914400"/>
            <a:ext cx="1463040" cy="292608"/>
          </a:xfrm>
          <a:prstGeom prst="rect">
            <a:avLst/>
          </a:prstGeom>
          <a:noFill/>
          <a:ln/>
        </p:spPr>
        <p:txBody>
          <a:bodyPr wrap="square" lIns="0" tIns="0" rIns="0" bIns="0" rtlCol="0" anchor="ctr"/>
          <a:lstStyle/>
          <a:p>
            <a:pPr indent="0" marL="0">
              <a:buNone/>
            </a:pPr>
            <a:r>
              <a:rPr lang="en-US" sz="1100" b="1" dirty="0">
                <a:solidFill>
                  <a:srgbClr val="12293A"/>
                </a:solidFill>
                <a:latin typeface="Poppins" pitchFamily="34" charset="0"/>
                <a:ea typeface="Poppins" pitchFamily="34" charset="-122"/>
                <a:cs typeface="Poppins" pitchFamily="34" charset="-120"/>
              </a:rPr>
              <a:t>2 At risk</a:t>
            </a:r>
            <a:endParaRPr lang="en-US" sz="1100" dirty="0"/>
          </a:p>
        </p:txBody>
      </p:sp>
      <p:sp>
        <p:nvSpPr>
          <p:cNvPr id="21" name="Text 19"/>
          <p:cNvSpPr txBox="1"/>
          <p:nvPr/>
        </p:nvSpPr>
        <p:spPr>
          <a:xfrm>
            <a:off x="6080760" y="914400"/>
            <a:ext cx="2377440" cy="292608"/>
          </a:xfrm>
          <a:prstGeom prst="rect">
            <a:avLst/>
          </a:prstGeom>
          <a:noFill/>
          <a:ln/>
        </p:spPr>
        <p:txBody>
          <a:bodyPr wrap="square" lIns="0" tIns="0" rIns="0" bIns="0" rtlCol="0" anchor="ctr"/>
          <a:lstStyle/>
          <a:p>
            <a:pPr indent="0" marL="0">
              <a:buNone/>
            </a:pPr>
            <a:r>
              <a:rPr lang="en-US" sz="950" dirty="0">
                <a:solidFill>
                  <a:srgbClr val="8FA1AC"/>
                </a:solidFill>
                <a:latin typeface="Poppins" pitchFamily="34" charset="0"/>
                <a:ea typeface="Poppins" pitchFamily="34" charset="-122"/>
                <a:cs typeface="Poppins" pitchFamily="34" charset="-120"/>
              </a:rPr>
              <a:t>· 27 items across 6 sprints</a:t>
            </a:r>
            <a:endParaRPr lang="en-US" sz="950" dirty="0"/>
          </a:p>
        </p:txBody>
      </p:sp>
      <p:sp>
        <p:nvSpPr>
          <p:cNvPr id="22" name="Text 20"/>
          <p:cNvSpPr txBox="1"/>
          <p:nvPr/>
        </p:nvSpPr>
        <p:spPr>
          <a:xfrm>
            <a:off x="3794760" y="1261872"/>
            <a:ext cx="1330452" cy="237744"/>
          </a:xfrm>
          <a:prstGeom prst="rect">
            <a:avLst/>
          </a:prstGeom>
          <a:noFill/>
          <a:ln/>
        </p:spPr>
        <p:txBody>
          <a:bodyPr wrap="square" lIns="0" tIns="0" rIns="0" bIns="0" rtlCol="0" anchor="ctr"/>
          <a:lstStyle/>
          <a:p>
            <a:pPr algn="ctr" indent="0" marL="0">
              <a:buNone/>
            </a:pPr>
            <a:r>
              <a:rPr lang="en-US" sz="900" b="1" dirty="0">
                <a:solidFill>
                  <a:srgbClr val="2C8394"/>
                </a:solidFill>
                <a:latin typeface="Poppins" pitchFamily="34" charset="0"/>
                <a:ea typeface="Poppins" pitchFamily="34" charset="-122"/>
                <a:cs typeface="Poppins" pitchFamily="34" charset="-120"/>
              </a:rPr>
              <a:t>Jul wk1-2</a:t>
            </a:r>
            <a:endParaRPr lang="en-US" sz="900" dirty="0"/>
          </a:p>
        </p:txBody>
      </p:sp>
      <p:sp>
        <p:nvSpPr>
          <p:cNvPr id="23" name="Text 21"/>
          <p:cNvSpPr txBox="1"/>
          <p:nvPr/>
        </p:nvSpPr>
        <p:spPr>
          <a:xfrm>
            <a:off x="5125212" y="1261872"/>
            <a:ext cx="1330452" cy="237744"/>
          </a:xfrm>
          <a:prstGeom prst="rect">
            <a:avLst/>
          </a:prstGeom>
          <a:noFill/>
          <a:ln/>
        </p:spPr>
        <p:txBody>
          <a:bodyPr wrap="square" lIns="0" tIns="0" rIns="0" bIns="0" rtlCol="0" anchor="ctr"/>
          <a:lstStyle/>
          <a:p>
            <a:pPr algn="ctr" indent="0" marL="0">
              <a:buNone/>
            </a:pPr>
            <a:r>
              <a:rPr lang="en-US" sz="900" b="1" dirty="0">
                <a:solidFill>
                  <a:srgbClr val="2C8394"/>
                </a:solidFill>
                <a:latin typeface="Poppins" pitchFamily="34" charset="0"/>
                <a:ea typeface="Poppins" pitchFamily="34" charset="-122"/>
                <a:cs typeface="Poppins" pitchFamily="34" charset="-120"/>
              </a:rPr>
              <a:t>Jul wk3-4</a:t>
            </a:r>
            <a:endParaRPr lang="en-US" sz="900" dirty="0"/>
          </a:p>
        </p:txBody>
      </p:sp>
      <p:sp>
        <p:nvSpPr>
          <p:cNvPr id="24" name="Text 22"/>
          <p:cNvSpPr txBox="1"/>
          <p:nvPr/>
        </p:nvSpPr>
        <p:spPr>
          <a:xfrm>
            <a:off x="6455664" y="1261872"/>
            <a:ext cx="1330452" cy="237744"/>
          </a:xfrm>
          <a:prstGeom prst="rect">
            <a:avLst/>
          </a:prstGeom>
          <a:noFill/>
          <a:ln/>
        </p:spPr>
        <p:txBody>
          <a:bodyPr wrap="square" lIns="0" tIns="0" rIns="0" bIns="0" rtlCol="0" anchor="ctr"/>
          <a:lstStyle/>
          <a:p>
            <a:pPr algn="ctr" indent="0" marL="0">
              <a:buNone/>
            </a:pPr>
            <a:r>
              <a:rPr lang="en-US" sz="900" b="1" dirty="0">
                <a:solidFill>
                  <a:srgbClr val="2C8394"/>
                </a:solidFill>
                <a:latin typeface="Poppins" pitchFamily="34" charset="0"/>
                <a:ea typeface="Poppins" pitchFamily="34" charset="-122"/>
                <a:cs typeface="Poppins" pitchFamily="34" charset="-120"/>
              </a:rPr>
              <a:t>Aug wk1-2</a:t>
            </a:r>
            <a:endParaRPr lang="en-US" sz="900" dirty="0"/>
          </a:p>
        </p:txBody>
      </p:sp>
      <p:sp>
        <p:nvSpPr>
          <p:cNvPr id="25" name="Text 23"/>
          <p:cNvSpPr txBox="1"/>
          <p:nvPr/>
        </p:nvSpPr>
        <p:spPr>
          <a:xfrm>
            <a:off x="7786116" y="1261872"/>
            <a:ext cx="1330452" cy="237744"/>
          </a:xfrm>
          <a:prstGeom prst="rect">
            <a:avLst/>
          </a:prstGeom>
          <a:noFill/>
          <a:ln/>
        </p:spPr>
        <p:txBody>
          <a:bodyPr wrap="square" lIns="0" tIns="0" rIns="0" bIns="0" rtlCol="0" anchor="ctr"/>
          <a:lstStyle/>
          <a:p>
            <a:pPr algn="ctr" indent="0" marL="0">
              <a:buNone/>
            </a:pPr>
            <a:r>
              <a:rPr lang="en-US" sz="900" b="1" dirty="0">
                <a:solidFill>
                  <a:srgbClr val="2C8394"/>
                </a:solidFill>
                <a:latin typeface="Poppins" pitchFamily="34" charset="0"/>
                <a:ea typeface="Poppins" pitchFamily="34" charset="-122"/>
                <a:cs typeface="Poppins" pitchFamily="34" charset="-120"/>
              </a:rPr>
              <a:t>Aug wk3-4</a:t>
            </a:r>
            <a:endParaRPr lang="en-US" sz="900" dirty="0"/>
          </a:p>
        </p:txBody>
      </p:sp>
      <p:sp>
        <p:nvSpPr>
          <p:cNvPr id="26" name="Text 24"/>
          <p:cNvSpPr txBox="1"/>
          <p:nvPr/>
        </p:nvSpPr>
        <p:spPr>
          <a:xfrm>
            <a:off x="9116568" y="1261872"/>
            <a:ext cx="1330452" cy="237744"/>
          </a:xfrm>
          <a:prstGeom prst="rect">
            <a:avLst/>
          </a:prstGeom>
          <a:noFill/>
          <a:ln/>
        </p:spPr>
        <p:txBody>
          <a:bodyPr wrap="square" lIns="0" tIns="0" rIns="0" bIns="0" rtlCol="0" anchor="ctr"/>
          <a:lstStyle/>
          <a:p>
            <a:pPr algn="ctr" indent="0" marL="0">
              <a:buNone/>
            </a:pPr>
            <a:r>
              <a:rPr lang="en-US" sz="900" b="1" dirty="0">
                <a:solidFill>
                  <a:srgbClr val="2C8394"/>
                </a:solidFill>
                <a:latin typeface="Poppins" pitchFamily="34" charset="0"/>
                <a:ea typeface="Poppins" pitchFamily="34" charset="-122"/>
                <a:cs typeface="Poppins" pitchFamily="34" charset="-120"/>
              </a:rPr>
              <a:t>Sep wk1-2</a:t>
            </a:r>
            <a:endParaRPr lang="en-US" sz="900" dirty="0"/>
          </a:p>
        </p:txBody>
      </p:sp>
      <p:sp>
        <p:nvSpPr>
          <p:cNvPr id="27" name="Text 25"/>
          <p:cNvSpPr txBox="1"/>
          <p:nvPr/>
        </p:nvSpPr>
        <p:spPr>
          <a:xfrm>
            <a:off x="10447020" y="1261872"/>
            <a:ext cx="1330452" cy="237744"/>
          </a:xfrm>
          <a:prstGeom prst="rect">
            <a:avLst/>
          </a:prstGeom>
          <a:noFill/>
          <a:ln/>
        </p:spPr>
        <p:txBody>
          <a:bodyPr wrap="square" lIns="0" tIns="0" rIns="0" bIns="0" rtlCol="0" anchor="ctr"/>
          <a:lstStyle/>
          <a:p>
            <a:pPr algn="ctr" indent="0" marL="0">
              <a:buNone/>
            </a:pPr>
            <a:r>
              <a:rPr lang="en-US" sz="900" b="1" dirty="0">
                <a:solidFill>
                  <a:srgbClr val="2C8394"/>
                </a:solidFill>
                <a:latin typeface="Poppins" pitchFamily="34" charset="0"/>
                <a:ea typeface="Poppins" pitchFamily="34" charset="-122"/>
                <a:cs typeface="Poppins" pitchFamily="34" charset="-120"/>
              </a:rPr>
              <a:t>Sep wk3-4</a:t>
            </a:r>
            <a:endParaRPr lang="en-US" sz="900" dirty="0"/>
          </a:p>
        </p:txBody>
      </p:sp>
      <p:sp>
        <p:nvSpPr>
          <p:cNvPr id="28" name="Shape 26"/>
          <p:cNvSpPr/>
          <p:nvPr/>
        </p:nvSpPr>
        <p:spPr>
          <a:xfrm>
            <a:off x="411480" y="1572768"/>
            <a:ext cx="11365992" cy="175565"/>
          </a:xfrm>
          <a:prstGeom prst="rect">
            <a:avLst/>
          </a:prstGeom>
          <a:solidFill>
            <a:srgbClr val="FFFFFF"/>
          </a:solidFill>
          <a:ln/>
        </p:spPr>
      </p:sp>
      <p:sp>
        <p:nvSpPr>
          <p:cNvPr id="29" name="Text 27"/>
          <p:cNvSpPr txBox="1"/>
          <p:nvPr/>
        </p:nvSpPr>
        <p:spPr>
          <a:xfrm>
            <a:off x="457200" y="1572768"/>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Metcash Phase 1B</a:t>
            </a:r>
            <a:endParaRPr lang="en-US" sz="730" dirty="0"/>
          </a:p>
        </p:txBody>
      </p:sp>
      <p:sp>
        <p:nvSpPr>
          <p:cNvPr id="30" name="Shape 28"/>
          <p:cNvSpPr/>
          <p:nvPr/>
        </p:nvSpPr>
        <p:spPr>
          <a:xfrm>
            <a:off x="3794760" y="1591056"/>
            <a:ext cx="10973" cy="148133"/>
          </a:xfrm>
          <a:prstGeom prst="rect">
            <a:avLst/>
          </a:prstGeom>
          <a:solidFill>
            <a:srgbClr val="E2EAEE"/>
          </a:solidFill>
          <a:ln/>
        </p:spPr>
      </p:sp>
      <p:sp>
        <p:nvSpPr>
          <p:cNvPr id="31" name="Shape 29"/>
          <p:cNvSpPr/>
          <p:nvPr/>
        </p:nvSpPr>
        <p:spPr>
          <a:xfrm>
            <a:off x="5125212" y="1591056"/>
            <a:ext cx="10973" cy="148133"/>
          </a:xfrm>
          <a:prstGeom prst="rect">
            <a:avLst/>
          </a:prstGeom>
          <a:solidFill>
            <a:srgbClr val="E2EAEE"/>
          </a:solidFill>
          <a:ln/>
        </p:spPr>
      </p:sp>
      <p:sp>
        <p:nvSpPr>
          <p:cNvPr id="32" name="Shape 30"/>
          <p:cNvSpPr/>
          <p:nvPr/>
        </p:nvSpPr>
        <p:spPr>
          <a:xfrm>
            <a:off x="6455664" y="1591056"/>
            <a:ext cx="10973" cy="148133"/>
          </a:xfrm>
          <a:prstGeom prst="rect">
            <a:avLst/>
          </a:prstGeom>
          <a:solidFill>
            <a:srgbClr val="E2EAEE"/>
          </a:solidFill>
          <a:ln/>
        </p:spPr>
      </p:sp>
      <p:sp>
        <p:nvSpPr>
          <p:cNvPr id="33" name="Shape 31"/>
          <p:cNvSpPr/>
          <p:nvPr/>
        </p:nvSpPr>
        <p:spPr>
          <a:xfrm>
            <a:off x="7786116" y="1591056"/>
            <a:ext cx="10973" cy="148133"/>
          </a:xfrm>
          <a:prstGeom prst="rect">
            <a:avLst/>
          </a:prstGeom>
          <a:solidFill>
            <a:srgbClr val="E2EAEE"/>
          </a:solidFill>
          <a:ln/>
        </p:spPr>
      </p:sp>
      <p:sp>
        <p:nvSpPr>
          <p:cNvPr id="34" name="Shape 32"/>
          <p:cNvSpPr/>
          <p:nvPr/>
        </p:nvSpPr>
        <p:spPr>
          <a:xfrm>
            <a:off x="9116568" y="1591056"/>
            <a:ext cx="10973" cy="148133"/>
          </a:xfrm>
          <a:prstGeom prst="rect">
            <a:avLst/>
          </a:prstGeom>
          <a:solidFill>
            <a:srgbClr val="E2EAEE"/>
          </a:solidFill>
          <a:ln/>
        </p:spPr>
      </p:sp>
      <p:sp>
        <p:nvSpPr>
          <p:cNvPr id="35" name="Shape 33"/>
          <p:cNvSpPr/>
          <p:nvPr/>
        </p:nvSpPr>
        <p:spPr>
          <a:xfrm>
            <a:off x="10447020" y="1591056"/>
            <a:ext cx="10973" cy="148133"/>
          </a:xfrm>
          <a:prstGeom prst="rect">
            <a:avLst/>
          </a:prstGeom>
          <a:solidFill>
            <a:srgbClr val="E2EAEE"/>
          </a:solidFill>
          <a:ln/>
        </p:spPr>
      </p:sp>
      <p:sp>
        <p:nvSpPr>
          <p:cNvPr id="36" name="Shape 34"/>
          <p:cNvSpPr/>
          <p:nvPr/>
        </p:nvSpPr>
        <p:spPr>
          <a:xfrm>
            <a:off x="3822192" y="1592885"/>
            <a:ext cx="1275588" cy="129845"/>
          </a:xfrm>
          <a:prstGeom prst="roundRect">
            <a:avLst>
              <a:gd name="adj" fmla="val 45775"/>
            </a:avLst>
          </a:prstGeom>
          <a:solidFill>
            <a:srgbClr val="3D8F5F"/>
          </a:solidFill>
          <a:ln/>
        </p:spPr>
      </p:sp>
      <p:sp>
        <p:nvSpPr>
          <p:cNvPr id="37" name="Text 35"/>
          <p:cNvSpPr txBox="1"/>
          <p:nvPr/>
        </p:nvSpPr>
        <p:spPr>
          <a:xfrm>
            <a:off x="3895344" y="1580083"/>
            <a:ext cx="1165860"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Ciaran</a:t>
            </a:r>
            <a:endParaRPr lang="en-US" sz="650" dirty="0"/>
          </a:p>
        </p:txBody>
      </p:sp>
      <p:sp>
        <p:nvSpPr>
          <p:cNvPr id="38" name="Text 36"/>
          <p:cNvSpPr txBox="1"/>
          <p:nvPr/>
        </p:nvSpPr>
        <p:spPr>
          <a:xfrm>
            <a:off x="457200" y="1748333"/>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EonX Order at Bar</a:t>
            </a:r>
            <a:endParaRPr lang="en-US" sz="730" dirty="0"/>
          </a:p>
        </p:txBody>
      </p:sp>
      <p:sp>
        <p:nvSpPr>
          <p:cNvPr id="39" name="Shape 37"/>
          <p:cNvSpPr/>
          <p:nvPr/>
        </p:nvSpPr>
        <p:spPr>
          <a:xfrm>
            <a:off x="3794760" y="1766621"/>
            <a:ext cx="10973" cy="148133"/>
          </a:xfrm>
          <a:prstGeom prst="rect">
            <a:avLst/>
          </a:prstGeom>
          <a:solidFill>
            <a:srgbClr val="E2EAEE"/>
          </a:solidFill>
          <a:ln/>
        </p:spPr>
      </p:sp>
      <p:sp>
        <p:nvSpPr>
          <p:cNvPr id="40" name="Shape 38"/>
          <p:cNvSpPr/>
          <p:nvPr/>
        </p:nvSpPr>
        <p:spPr>
          <a:xfrm>
            <a:off x="5125212" y="1766621"/>
            <a:ext cx="10973" cy="148133"/>
          </a:xfrm>
          <a:prstGeom prst="rect">
            <a:avLst/>
          </a:prstGeom>
          <a:solidFill>
            <a:srgbClr val="E2EAEE"/>
          </a:solidFill>
          <a:ln/>
        </p:spPr>
      </p:sp>
      <p:sp>
        <p:nvSpPr>
          <p:cNvPr id="41" name="Shape 39"/>
          <p:cNvSpPr/>
          <p:nvPr/>
        </p:nvSpPr>
        <p:spPr>
          <a:xfrm>
            <a:off x="6455664" y="1766621"/>
            <a:ext cx="10973" cy="148133"/>
          </a:xfrm>
          <a:prstGeom prst="rect">
            <a:avLst/>
          </a:prstGeom>
          <a:solidFill>
            <a:srgbClr val="E2EAEE"/>
          </a:solidFill>
          <a:ln/>
        </p:spPr>
      </p:sp>
      <p:sp>
        <p:nvSpPr>
          <p:cNvPr id="42" name="Shape 40"/>
          <p:cNvSpPr/>
          <p:nvPr/>
        </p:nvSpPr>
        <p:spPr>
          <a:xfrm>
            <a:off x="7786116" y="1766621"/>
            <a:ext cx="10973" cy="148133"/>
          </a:xfrm>
          <a:prstGeom prst="rect">
            <a:avLst/>
          </a:prstGeom>
          <a:solidFill>
            <a:srgbClr val="E2EAEE"/>
          </a:solidFill>
          <a:ln/>
        </p:spPr>
      </p:sp>
      <p:sp>
        <p:nvSpPr>
          <p:cNvPr id="43" name="Shape 41"/>
          <p:cNvSpPr/>
          <p:nvPr/>
        </p:nvSpPr>
        <p:spPr>
          <a:xfrm>
            <a:off x="9116568" y="1766621"/>
            <a:ext cx="10973" cy="148133"/>
          </a:xfrm>
          <a:prstGeom prst="rect">
            <a:avLst/>
          </a:prstGeom>
          <a:solidFill>
            <a:srgbClr val="E2EAEE"/>
          </a:solidFill>
          <a:ln/>
        </p:spPr>
      </p:sp>
      <p:sp>
        <p:nvSpPr>
          <p:cNvPr id="44" name="Shape 42"/>
          <p:cNvSpPr/>
          <p:nvPr/>
        </p:nvSpPr>
        <p:spPr>
          <a:xfrm>
            <a:off x="10447020" y="1766621"/>
            <a:ext cx="10973" cy="148133"/>
          </a:xfrm>
          <a:prstGeom prst="rect">
            <a:avLst/>
          </a:prstGeom>
          <a:solidFill>
            <a:srgbClr val="E2EAEE"/>
          </a:solidFill>
          <a:ln/>
        </p:spPr>
      </p:sp>
      <p:sp>
        <p:nvSpPr>
          <p:cNvPr id="45" name="Shape 43"/>
          <p:cNvSpPr/>
          <p:nvPr/>
        </p:nvSpPr>
        <p:spPr>
          <a:xfrm>
            <a:off x="3822192" y="1768450"/>
            <a:ext cx="1275588" cy="129845"/>
          </a:xfrm>
          <a:prstGeom prst="roundRect">
            <a:avLst>
              <a:gd name="adj" fmla="val 45775"/>
            </a:avLst>
          </a:prstGeom>
          <a:solidFill>
            <a:srgbClr val="3D8F5F"/>
          </a:solidFill>
          <a:ln/>
        </p:spPr>
      </p:sp>
      <p:sp>
        <p:nvSpPr>
          <p:cNvPr id="46" name="Text 44"/>
          <p:cNvSpPr txBox="1"/>
          <p:nvPr/>
        </p:nvSpPr>
        <p:spPr>
          <a:xfrm>
            <a:off x="3895344" y="1755648"/>
            <a:ext cx="1165860"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Ciaran</a:t>
            </a:r>
            <a:endParaRPr lang="en-US" sz="650" dirty="0"/>
          </a:p>
        </p:txBody>
      </p:sp>
      <p:sp>
        <p:nvSpPr>
          <p:cNvPr id="47" name="Shape 45"/>
          <p:cNvSpPr/>
          <p:nvPr/>
        </p:nvSpPr>
        <p:spPr>
          <a:xfrm>
            <a:off x="411480" y="1923898"/>
            <a:ext cx="11365992" cy="175565"/>
          </a:xfrm>
          <a:prstGeom prst="rect">
            <a:avLst/>
          </a:prstGeom>
          <a:solidFill>
            <a:srgbClr val="FFFFFF"/>
          </a:solidFill>
          <a:ln/>
        </p:spPr>
      </p:sp>
      <p:sp>
        <p:nvSpPr>
          <p:cNvPr id="48" name="Text 46"/>
          <p:cNvSpPr txBox="1"/>
          <p:nvPr/>
        </p:nvSpPr>
        <p:spPr>
          <a:xfrm>
            <a:off x="457200" y="1923898"/>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WebOrders Reference/BatchID Capture</a:t>
            </a:r>
            <a:endParaRPr lang="en-US" sz="730" dirty="0"/>
          </a:p>
        </p:txBody>
      </p:sp>
      <p:sp>
        <p:nvSpPr>
          <p:cNvPr id="49" name="Shape 47"/>
          <p:cNvSpPr/>
          <p:nvPr/>
        </p:nvSpPr>
        <p:spPr>
          <a:xfrm>
            <a:off x="3794760" y="1942186"/>
            <a:ext cx="10973" cy="148133"/>
          </a:xfrm>
          <a:prstGeom prst="rect">
            <a:avLst/>
          </a:prstGeom>
          <a:solidFill>
            <a:srgbClr val="E2EAEE"/>
          </a:solidFill>
          <a:ln/>
        </p:spPr>
      </p:sp>
      <p:sp>
        <p:nvSpPr>
          <p:cNvPr id="50" name="Shape 48"/>
          <p:cNvSpPr/>
          <p:nvPr/>
        </p:nvSpPr>
        <p:spPr>
          <a:xfrm>
            <a:off x="5125212" y="1942186"/>
            <a:ext cx="10973" cy="148133"/>
          </a:xfrm>
          <a:prstGeom prst="rect">
            <a:avLst/>
          </a:prstGeom>
          <a:solidFill>
            <a:srgbClr val="E2EAEE"/>
          </a:solidFill>
          <a:ln/>
        </p:spPr>
      </p:sp>
      <p:sp>
        <p:nvSpPr>
          <p:cNvPr id="51" name="Shape 49"/>
          <p:cNvSpPr/>
          <p:nvPr/>
        </p:nvSpPr>
        <p:spPr>
          <a:xfrm>
            <a:off x="6455664" y="1942186"/>
            <a:ext cx="10973" cy="148133"/>
          </a:xfrm>
          <a:prstGeom prst="rect">
            <a:avLst/>
          </a:prstGeom>
          <a:solidFill>
            <a:srgbClr val="E2EAEE"/>
          </a:solidFill>
          <a:ln/>
        </p:spPr>
      </p:sp>
      <p:sp>
        <p:nvSpPr>
          <p:cNvPr id="52" name="Shape 50"/>
          <p:cNvSpPr/>
          <p:nvPr/>
        </p:nvSpPr>
        <p:spPr>
          <a:xfrm>
            <a:off x="7786116" y="1942186"/>
            <a:ext cx="10973" cy="148133"/>
          </a:xfrm>
          <a:prstGeom prst="rect">
            <a:avLst/>
          </a:prstGeom>
          <a:solidFill>
            <a:srgbClr val="E2EAEE"/>
          </a:solidFill>
          <a:ln/>
        </p:spPr>
      </p:sp>
      <p:sp>
        <p:nvSpPr>
          <p:cNvPr id="53" name="Shape 51"/>
          <p:cNvSpPr/>
          <p:nvPr/>
        </p:nvSpPr>
        <p:spPr>
          <a:xfrm>
            <a:off x="9116568" y="1942186"/>
            <a:ext cx="10973" cy="148133"/>
          </a:xfrm>
          <a:prstGeom prst="rect">
            <a:avLst/>
          </a:prstGeom>
          <a:solidFill>
            <a:srgbClr val="E2EAEE"/>
          </a:solidFill>
          <a:ln/>
        </p:spPr>
      </p:sp>
      <p:sp>
        <p:nvSpPr>
          <p:cNvPr id="54" name="Shape 52"/>
          <p:cNvSpPr/>
          <p:nvPr/>
        </p:nvSpPr>
        <p:spPr>
          <a:xfrm>
            <a:off x="10447020" y="1942186"/>
            <a:ext cx="10973" cy="148133"/>
          </a:xfrm>
          <a:prstGeom prst="rect">
            <a:avLst/>
          </a:prstGeom>
          <a:solidFill>
            <a:srgbClr val="E2EAEE"/>
          </a:solidFill>
          <a:ln/>
        </p:spPr>
      </p:sp>
      <p:sp>
        <p:nvSpPr>
          <p:cNvPr id="55" name="Shape 53"/>
          <p:cNvSpPr/>
          <p:nvPr/>
        </p:nvSpPr>
        <p:spPr>
          <a:xfrm>
            <a:off x="5152644" y="1944014"/>
            <a:ext cx="1275588" cy="129845"/>
          </a:xfrm>
          <a:prstGeom prst="roundRect">
            <a:avLst>
              <a:gd name="adj" fmla="val 45775"/>
            </a:avLst>
          </a:prstGeom>
          <a:solidFill>
            <a:srgbClr val="3D8F5F"/>
          </a:solidFill>
          <a:ln/>
        </p:spPr>
      </p:sp>
      <p:sp>
        <p:nvSpPr>
          <p:cNvPr id="56" name="Text 54"/>
          <p:cNvSpPr txBox="1"/>
          <p:nvPr/>
        </p:nvSpPr>
        <p:spPr>
          <a:xfrm>
            <a:off x="5225796" y="1931213"/>
            <a:ext cx="1165860"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Ciaran</a:t>
            </a:r>
            <a:endParaRPr lang="en-US" sz="650" dirty="0"/>
          </a:p>
        </p:txBody>
      </p:sp>
      <p:sp>
        <p:nvSpPr>
          <p:cNvPr id="57" name="Text 55"/>
          <p:cNvSpPr txBox="1"/>
          <p:nvPr/>
        </p:nvSpPr>
        <p:spPr>
          <a:xfrm>
            <a:off x="457200" y="2099462"/>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Eonx API Uplift</a:t>
            </a:r>
            <a:endParaRPr lang="en-US" sz="730" dirty="0"/>
          </a:p>
        </p:txBody>
      </p:sp>
      <p:sp>
        <p:nvSpPr>
          <p:cNvPr id="58" name="Shape 56"/>
          <p:cNvSpPr/>
          <p:nvPr/>
        </p:nvSpPr>
        <p:spPr>
          <a:xfrm>
            <a:off x="3794760" y="2117750"/>
            <a:ext cx="10973" cy="148133"/>
          </a:xfrm>
          <a:prstGeom prst="rect">
            <a:avLst/>
          </a:prstGeom>
          <a:solidFill>
            <a:srgbClr val="E2EAEE"/>
          </a:solidFill>
          <a:ln/>
        </p:spPr>
      </p:sp>
      <p:sp>
        <p:nvSpPr>
          <p:cNvPr id="59" name="Shape 57"/>
          <p:cNvSpPr/>
          <p:nvPr/>
        </p:nvSpPr>
        <p:spPr>
          <a:xfrm>
            <a:off x="5125212" y="2117750"/>
            <a:ext cx="10973" cy="148133"/>
          </a:xfrm>
          <a:prstGeom prst="rect">
            <a:avLst/>
          </a:prstGeom>
          <a:solidFill>
            <a:srgbClr val="E2EAEE"/>
          </a:solidFill>
          <a:ln/>
        </p:spPr>
      </p:sp>
      <p:sp>
        <p:nvSpPr>
          <p:cNvPr id="60" name="Shape 58"/>
          <p:cNvSpPr/>
          <p:nvPr/>
        </p:nvSpPr>
        <p:spPr>
          <a:xfrm>
            <a:off x="6455664" y="2117750"/>
            <a:ext cx="10973" cy="148133"/>
          </a:xfrm>
          <a:prstGeom prst="rect">
            <a:avLst/>
          </a:prstGeom>
          <a:solidFill>
            <a:srgbClr val="E2EAEE"/>
          </a:solidFill>
          <a:ln/>
        </p:spPr>
      </p:sp>
      <p:sp>
        <p:nvSpPr>
          <p:cNvPr id="61" name="Shape 59"/>
          <p:cNvSpPr/>
          <p:nvPr/>
        </p:nvSpPr>
        <p:spPr>
          <a:xfrm>
            <a:off x="7786116" y="2117750"/>
            <a:ext cx="10973" cy="148133"/>
          </a:xfrm>
          <a:prstGeom prst="rect">
            <a:avLst/>
          </a:prstGeom>
          <a:solidFill>
            <a:srgbClr val="E2EAEE"/>
          </a:solidFill>
          <a:ln/>
        </p:spPr>
      </p:sp>
      <p:sp>
        <p:nvSpPr>
          <p:cNvPr id="62" name="Shape 60"/>
          <p:cNvSpPr/>
          <p:nvPr/>
        </p:nvSpPr>
        <p:spPr>
          <a:xfrm>
            <a:off x="9116568" y="2117750"/>
            <a:ext cx="10973" cy="148133"/>
          </a:xfrm>
          <a:prstGeom prst="rect">
            <a:avLst/>
          </a:prstGeom>
          <a:solidFill>
            <a:srgbClr val="E2EAEE"/>
          </a:solidFill>
          <a:ln/>
        </p:spPr>
      </p:sp>
      <p:sp>
        <p:nvSpPr>
          <p:cNvPr id="63" name="Shape 61"/>
          <p:cNvSpPr/>
          <p:nvPr/>
        </p:nvSpPr>
        <p:spPr>
          <a:xfrm>
            <a:off x="10447020" y="2117750"/>
            <a:ext cx="10973" cy="148133"/>
          </a:xfrm>
          <a:prstGeom prst="rect">
            <a:avLst/>
          </a:prstGeom>
          <a:solidFill>
            <a:srgbClr val="E2EAEE"/>
          </a:solidFill>
          <a:ln/>
        </p:spPr>
      </p:sp>
      <p:sp>
        <p:nvSpPr>
          <p:cNvPr id="64" name="Shape 62"/>
          <p:cNvSpPr/>
          <p:nvPr/>
        </p:nvSpPr>
        <p:spPr>
          <a:xfrm>
            <a:off x="6483096" y="2119579"/>
            <a:ext cx="2606040" cy="129845"/>
          </a:xfrm>
          <a:prstGeom prst="roundRect">
            <a:avLst>
              <a:gd name="adj" fmla="val 45775"/>
            </a:avLst>
          </a:prstGeom>
          <a:solidFill>
            <a:srgbClr val="C88A2E"/>
          </a:solidFill>
          <a:ln/>
        </p:spPr>
      </p:sp>
      <p:sp>
        <p:nvSpPr>
          <p:cNvPr id="65" name="Text 63"/>
          <p:cNvSpPr txBox="1"/>
          <p:nvPr/>
        </p:nvSpPr>
        <p:spPr>
          <a:xfrm>
            <a:off x="6556248" y="2106778"/>
            <a:ext cx="2496312"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Ciaran</a:t>
            </a:r>
            <a:endParaRPr lang="en-US" sz="650" dirty="0"/>
          </a:p>
        </p:txBody>
      </p:sp>
      <p:sp>
        <p:nvSpPr>
          <p:cNvPr id="66" name="Shape 64"/>
          <p:cNvSpPr/>
          <p:nvPr/>
        </p:nvSpPr>
        <p:spPr>
          <a:xfrm>
            <a:off x="411480" y="2275027"/>
            <a:ext cx="11365992" cy="175565"/>
          </a:xfrm>
          <a:prstGeom prst="rect">
            <a:avLst/>
          </a:prstGeom>
          <a:solidFill>
            <a:srgbClr val="FFFFFF"/>
          </a:solidFill>
          <a:ln/>
        </p:spPr>
      </p:sp>
      <p:sp>
        <p:nvSpPr>
          <p:cNvPr id="67" name="Text 65"/>
          <p:cNvSpPr txBox="1"/>
          <p:nvPr/>
        </p:nvSpPr>
        <p:spPr>
          <a:xfrm>
            <a:off x="457200" y="2275027"/>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Onxy Gaming</a:t>
            </a:r>
            <a:endParaRPr lang="en-US" sz="730" dirty="0"/>
          </a:p>
        </p:txBody>
      </p:sp>
      <p:sp>
        <p:nvSpPr>
          <p:cNvPr id="68" name="Shape 66"/>
          <p:cNvSpPr/>
          <p:nvPr/>
        </p:nvSpPr>
        <p:spPr>
          <a:xfrm>
            <a:off x="3794760" y="2293315"/>
            <a:ext cx="10973" cy="148133"/>
          </a:xfrm>
          <a:prstGeom prst="rect">
            <a:avLst/>
          </a:prstGeom>
          <a:solidFill>
            <a:srgbClr val="E2EAEE"/>
          </a:solidFill>
          <a:ln/>
        </p:spPr>
      </p:sp>
      <p:sp>
        <p:nvSpPr>
          <p:cNvPr id="69" name="Shape 67"/>
          <p:cNvSpPr/>
          <p:nvPr/>
        </p:nvSpPr>
        <p:spPr>
          <a:xfrm>
            <a:off x="5125212" y="2293315"/>
            <a:ext cx="10973" cy="148133"/>
          </a:xfrm>
          <a:prstGeom prst="rect">
            <a:avLst/>
          </a:prstGeom>
          <a:solidFill>
            <a:srgbClr val="E2EAEE"/>
          </a:solidFill>
          <a:ln/>
        </p:spPr>
      </p:sp>
      <p:sp>
        <p:nvSpPr>
          <p:cNvPr id="70" name="Shape 68"/>
          <p:cNvSpPr/>
          <p:nvPr/>
        </p:nvSpPr>
        <p:spPr>
          <a:xfrm>
            <a:off x="6455664" y="2293315"/>
            <a:ext cx="10973" cy="148133"/>
          </a:xfrm>
          <a:prstGeom prst="rect">
            <a:avLst/>
          </a:prstGeom>
          <a:solidFill>
            <a:srgbClr val="E2EAEE"/>
          </a:solidFill>
          <a:ln/>
        </p:spPr>
      </p:sp>
      <p:sp>
        <p:nvSpPr>
          <p:cNvPr id="71" name="Shape 69"/>
          <p:cNvSpPr/>
          <p:nvPr/>
        </p:nvSpPr>
        <p:spPr>
          <a:xfrm>
            <a:off x="7786116" y="2293315"/>
            <a:ext cx="10973" cy="148133"/>
          </a:xfrm>
          <a:prstGeom prst="rect">
            <a:avLst/>
          </a:prstGeom>
          <a:solidFill>
            <a:srgbClr val="E2EAEE"/>
          </a:solidFill>
          <a:ln/>
        </p:spPr>
      </p:sp>
      <p:sp>
        <p:nvSpPr>
          <p:cNvPr id="72" name="Shape 70"/>
          <p:cNvSpPr/>
          <p:nvPr/>
        </p:nvSpPr>
        <p:spPr>
          <a:xfrm>
            <a:off x="9116568" y="2293315"/>
            <a:ext cx="10973" cy="148133"/>
          </a:xfrm>
          <a:prstGeom prst="rect">
            <a:avLst/>
          </a:prstGeom>
          <a:solidFill>
            <a:srgbClr val="E2EAEE"/>
          </a:solidFill>
          <a:ln/>
        </p:spPr>
      </p:sp>
      <p:sp>
        <p:nvSpPr>
          <p:cNvPr id="73" name="Shape 71"/>
          <p:cNvSpPr/>
          <p:nvPr/>
        </p:nvSpPr>
        <p:spPr>
          <a:xfrm>
            <a:off x="10447020" y="2293315"/>
            <a:ext cx="10973" cy="148133"/>
          </a:xfrm>
          <a:prstGeom prst="rect">
            <a:avLst/>
          </a:prstGeom>
          <a:solidFill>
            <a:srgbClr val="E2EAEE"/>
          </a:solidFill>
          <a:ln/>
        </p:spPr>
      </p:sp>
      <p:sp>
        <p:nvSpPr>
          <p:cNvPr id="74" name="Shape 72"/>
          <p:cNvSpPr/>
          <p:nvPr/>
        </p:nvSpPr>
        <p:spPr>
          <a:xfrm>
            <a:off x="3822192" y="2295144"/>
            <a:ext cx="1275588" cy="129845"/>
          </a:xfrm>
          <a:prstGeom prst="roundRect">
            <a:avLst>
              <a:gd name="adj" fmla="val 45775"/>
            </a:avLst>
          </a:prstGeom>
          <a:solidFill>
            <a:srgbClr val="3D8F5F"/>
          </a:solidFill>
          <a:ln/>
        </p:spPr>
      </p:sp>
      <p:sp>
        <p:nvSpPr>
          <p:cNvPr id="75" name="Text 73"/>
          <p:cNvSpPr txBox="1"/>
          <p:nvPr/>
        </p:nvSpPr>
        <p:spPr>
          <a:xfrm>
            <a:off x="3895344" y="2282342"/>
            <a:ext cx="1165860"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Hawraa</a:t>
            </a:r>
            <a:endParaRPr lang="en-US" sz="650" dirty="0"/>
          </a:p>
        </p:txBody>
      </p:sp>
      <p:sp>
        <p:nvSpPr>
          <p:cNvPr id="76" name="Text 74"/>
          <p:cNvSpPr txBox="1"/>
          <p:nvPr/>
        </p:nvSpPr>
        <p:spPr>
          <a:xfrm>
            <a:off x="457200" y="2450592"/>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SCIS Stock Movement</a:t>
            </a:r>
            <a:endParaRPr lang="en-US" sz="730" dirty="0"/>
          </a:p>
        </p:txBody>
      </p:sp>
      <p:sp>
        <p:nvSpPr>
          <p:cNvPr id="77" name="Shape 75"/>
          <p:cNvSpPr/>
          <p:nvPr/>
        </p:nvSpPr>
        <p:spPr>
          <a:xfrm>
            <a:off x="3794760" y="2468880"/>
            <a:ext cx="10973" cy="148133"/>
          </a:xfrm>
          <a:prstGeom prst="rect">
            <a:avLst/>
          </a:prstGeom>
          <a:solidFill>
            <a:srgbClr val="E2EAEE"/>
          </a:solidFill>
          <a:ln/>
        </p:spPr>
      </p:sp>
      <p:sp>
        <p:nvSpPr>
          <p:cNvPr id="78" name="Shape 76"/>
          <p:cNvSpPr/>
          <p:nvPr/>
        </p:nvSpPr>
        <p:spPr>
          <a:xfrm>
            <a:off x="5125212" y="2468880"/>
            <a:ext cx="10973" cy="148133"/>
          </a:xfrm>
          <a:prstGeom prst="rect">
            <a:avLst/>
          </a:prstGeom>
          <a:solidFill>
            <a:srgbClr val="E2EAEE"/>
          </a:solidFill>
          <a:ln/>
        </p:spPr>
      </p:sp>
      <p:sp>
        <p:nvSpPr>
          <p:cNvPr id="79" name="Shape 77"/>
          <p:cNvSpPr/>
          <p:nvPr/>
        </p:nvSpPr>
        <p:spPr>
          <a:xfrm>
            <a:off x="6455664" y="2468880"/>
            <a:ext cx="10973" cy="148133"/>
          </a:xfrm>
          <a:prstGeom prst="rect">
            <a:avLst/>
          </a:prstGeom>
          <a:solidFill>
            <a:srgbClr val="E2EAEE"/>
          </a:solidFill>
          <a:ln/>
        </p:spPr>
      </p:sp>
      <p:sp>
        <p:nvSpPr>
          <p:cNvPr id="80" name="Shape 78"/>
          <p:cNvSpPr/>
          <p:nvPr/>
        </p:nvSpPr>
        <p:spPr>
          <a:xfrm>
            <a:off x="7786116" y="2468880"/>
            <a:ext cx="10973" cy="148133"/>
          </a:xfrm>
          <a:prstGeom prst="rect">
            <a:avLst/>
          </a:prstGeom>
          <a:solidFill>
            <a:srgbClr val="E2EAEE"/>
          </a:solidFill>
          <a:ln/>
        </p:spPr>
      </p:sp>
      <p:sp>
        <p:nvSpPr>
          <p:cNvPr id="81" name="Shape 79"/>
          <p:cNvSpPr/>
          <p:nvPr/>
        </p:nvSpPr>
        <p:spPr>
          <a:xfrm>
            <a:off x="9116568" y="2468880"/>
            <a:ext cx="10973" cy="148133"/>
          </a:xfrm>
          <a:prstGeom prst="rect">
            <a:avLst/>
          </a:prstGeom>
          <a:solidFill>
            <a:srgbClr val="E2EAEE"/>
          </a:solidFill>
          <a:ln/>
        </p:spPr>
      </p:sp>
      <p:sp>
        <p:nvSpPr>
          <p:cNvPr id="82" name="Shape 80"/>
          <p:cNvSpPr/>
          <p:nvPr/>
        </p:nvSpPr>
        <p:spPr>
          <a:xfrm>
            <a:off x="10447020" y="2468880"/>
            <a:ext cx="10973" cy="148133"/>
          </a:xfrm>
          <a:prstGeom prst="rect">
            <a:avLst/>
          </a:prstGeom>
          <a:solidFill>
            <a:srgbClr val="E2EAEE"/>
          </a:solidFill>
          <a:ln/>
        </p:spPr>
      </p:sp>
      <p:sp>
        <p:nvSpPr>
          <p:cNvPr id="83" name="Shape 81"/>
          <p:cNvSpPr/>
          <p:nvPr/>
        </p:nvSpPr>
        <p:spPr>
          <a:xfrm>
            <a:off x="3822192" y="2470709"/>
            <a:ext cx="2606040" cy="129845"/>
          </a:xfrm>
          <a:prstGeom prst="roundRect">
            <a:avLst>
              <a:gd name="adj" fmla="val 45775"/>
            </a:avLst>
          </a:prstGeom>
          <a:solidFill>
            <a:srgbClr val="3D8F5F"/>
          </a:solidFill>
          <a:ln/>
        </p:spPr>
      </p:sp>
      <p:sp>
        <p:nvSpPr>
          <p:cNvPr id="84" name="Text 82"/>
          <p:cNvSpPr txBox="1"/>
          <p:nvPr/>
        </p:nvSpPr>
        <p:spPr>
          <a:xfrm>
            <a:off x="3895344" y="2457907"/>
            <a:ext cx="2496312"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Brad</a:t>
            </a:r>
            <a:endParaRPr lang="en-US" sz="650" dirty="0"/>
          </a:p>
        </p:txBody>
      </p:sp>
      <p:sp>
        <p:nvSpPr>
          <p:cNvPr id="85" name="Shape 83"/>
          <p:cNvSpPr/>
          <p:nvPr/>
        </p:nvSpPr>
        <p:spPr>
          <a:xfrm>
            <a:off x="411480" y="2626157"/>
            <a:ext cx="11365992" cy="175565"/>
          </a:xfrm>
          <a:prstGeom prst="rect">
            <a:avLst/>
          </a:prstGeom>
          <a:solidFill>
            <a:srgbClr val="FFFFFF"/>
          </a:solidFill>
          <a:ln/>
        </p:spPr>
      </p:sp>
      <p:sp>
        <p:nvSpPr>
          <p:cNvPr id="86" name="Text 84"/>
          <p:cNvSpPr txBox="1"/>
          <p:nvPr/>
        </p:nvSpPr>
        <p:spPr>
          <a:xfrm>
            <a:off x="457200" y="2626157"/>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EDR Auth</a:t>
            </a:r>
            <a:endParaRPr lang="en-US" sz="730" dirty="0"/>
          </a:p>
        </p:txBody>
      </p:sp>
      <p:sp>
        <p:nvSpPr>
          <p:cNvPr id="87" name="Shape 85"/>
          <p:cNvSpPr/>
          <p:nvPr/>
        </p:nvSpPr>
        <p:spPr>
          <a:xfrm>
            <a:off x="3794760" y="2644445"/>
            <a:ext cx="10973" cy="148133"/>
          </a:xfrm>
          <a:prstGeom prst="rect">
            <a:avLst/>
          </a:prstGeom>
          <a:solidFill>
            <a:srgbClr val="E2EAEE"/>
          </a:solidFill>
          <a:ln/>
        </p:spPr>
      </p:sp>
      <p:sp>
        <p:nvSpPr>
          <p:cNvPr id="88" name="Shape 86"/>
          <p:cNvSpPr/>
          <p:nvPr/>
        </p:nvSpPr>
        <p:spPr>
          <a:xfrm>
            <a:off x="5125212" y="2644445"/>
            <a:ext cx="10973" cy="148133"/>
          </a:xfrm>
          <a:prstGeom prst="rect">
            <a:avLst/>
          </a:prstGeom>
          <a:solidFill>
            <a:srgbClr val="E2EAEE"/>
          </a:solidFill>
          <a:ln/>
        </p:spPr>
      </p:sp>
      <p:sp>
        <p:nvSpPr>
          <p:cNvPr id="89" name="Shape 87"/>
          <p:cNvSpPr/>
          <p:nvPr/>
        </p:nvSpPr>
        <p:spPr>
          <a:xfrm>
            <a:off x="6455664" y="2644445"/>
            <a:ext cx="10973" cy="148133"/>
          </a:xfrm>
          <a:prstGeom prst="rect">
            <a:avLst/>
          </a:prstGeom>
          <a:solidFill>
            <a:srgbClr val="E2EAEE"/>
          </a:solidFill>
          <a:ln/>
        </p:spPr>
      </p:sp>
      <p:sp>
        <p:nvSpPr>
          <p:cNvPr id="90" name="Shape 88"/>
          <p:cNvSpPr/>
          <p:nvPr/>
        </p:nvSpPr>
        <p:spPr>
          <a:xfrm>
            <a:off x="7786116" y="2644445"/>
            <a:ext cx="10973" cy="148133"/>
          </a:xfrm>
          <a:prstGeom prst="rect">
            <a:avLst/>
          </a:prstGeom>
          <a:solidFill>
            <a:srgbClr val="E2EAEE"/>
          </a:solidFill>
          <a:ln/>
        </p:spPr>
      </p:sp>
      <p:sp>
        <p:nvSpPr>
          <p:cNvPr id="91" name="Shape 89"/>
          <p:cNvSpPr/>
          <p:nvPr/>
        </p:nvSpPr>
        <p:spPr>
          <a:xfrm>
            <a:off x="9116568" y="2644445"/>
            <a:ext cx="10973" cy="148133"/>
          </a:xfrm>
          <a:prstGeom prst="rect">
            <a:avLst/>
          </a:prstGeom>
          <a:solidFill>
            <a:srgbClr val="E2EAEE"/>
          </a:solidFill>
          <a:ln/>
        </p:spPr>
      </p:sp>
      <p:sp>
        <p:nvSpPr>
          <p:cNvPr id="92" name="Shape 90"/>
          <p:cNvSpPr/>
          <p:nvPr/>
        </p:nvSpPr>
        <p:spPr>
          <a:xfrm>
            <a:off x="10447020" y="2644445"/>
            <a:ext cx="10973" cy="148133"/>
          </a:xfrm>
          <a:prstGeom prst="rect">
            <a:avLst/>
          </a:prstGeom>
          <a:solidFill>
            <a:srgbClr val="E2EAEE"/>
          </a:solidFill>
          <a:ln/>
        </p:spPr>
      </p:sp>
      <p:sp>
        <p:nvSpPr>
          <p:cNvPr id="93" name="Shape 91"/>
          <p:cNvSpPr/>
          <p:nvPr/>
        </p:nvSpPr>
        <p:spPr>
          <a:xfrm>
            <a:off x="5152644" y="2646274"/>
            <a:ext cx="1275588" cy="129845"/>
          </a:xfrm>
          <a:prstGeom prst="roundRect">
            <a:avLst>
              <a:gd name="adj" fmla="val 45775"/>
            </a:avLst>
          </a:prstGeom>
          <a:solidFill>
            <a:srgbClr val="3D8F5F"/>
          </a:solidFill>
          <a:ln/>
        </p:spPr>
      </p:sp>
      <p:sp>
        <p:nvSpPr>
          <p:cNvPr id="94" name="Text 92"/>
          <p:cNvSpPr txBox="1"/>
          <p:nvPr/>
        </p:nvSpPr>
        <p:spPr>
          <a:xfrm>
            <a:off x="5225796" y="2633472"/>
            <a:ext cx="1165860"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Ciaran</a:t>
            </a:r>
            <a:endParaRPr lang="en-US" sz="650" dirty="0"/>
          </a:p>
        </p:txBody>
      </p:sp>
      <p:sp>
        <p:nvSpPr>
          <p:cNvPr id="95" name="Text 93"/>
          <p:cNvSpPr txBox="1"/>
          <p:nvPr/>
        </p:nvSpPr>
        <p:spPr>
          <a:xfrm>
            <a:off x="457200" y="2801722"/>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Accounts Flow Auto Promo File Delivery</a:t>
            </a:r>
            <a:endParaRPr lang="en-US" sz="730" dirty="0"/>
          </a:p>
        </p:txBody>
      </p:sp>
      <p:sp>
        <p:nvSpPr>
          <p:cNvPr id="96" name="Shape 94"/>
          <p:cNvSpPr/>
          <p:nvPr/>
        </p:nvSpPr>
        <p:spPr>
          <a:xfrm>
            <a:off x="3794760" y="2820010"/>
            <a:ext cx="10973" cy="148133"/>
          </a:xfrm>
          <a:prstGeom prst="rect">
            <a:avLst/>
          </a:prstGeom>
          <a:solidFill>
            <a:srgbClr val="E2EAEE"/>
          </a:solidFill>
          <a:ln/>
        </p:spPr>
      </p:sp>
      <p:sp>
        <p:nvSpPr>
          <p:cNvPr id="97" name="Shape 95"/>
          <p:cNvSpPr/>
          <p:nvPr/>
        </p:nvSpPr>
        <p:spPr>
          <a:xfrm>
            <a:off x="5125212" y="2820010"/>
            <a:ext cx="10973" cy="148133"/>
          </a:xfrm>
          <a:prstGeom prst="rect">
            <a:avLst/>
          </a:prstGeom>
          <a:solidFill>
            <a:srgbClr val="E2EAEE"/>
          </a:solidFill>
          <a:ln/>
        </p:spPr>
      </p:sp>
      <p:sp>
        <p:nvSpPr>
          <p:cNvPr id="98" name="Shape 96"/>
          <p:cNvSpPr/>
          <p:nvPr/>
        </p:nvSpPr>
        <p:spPr>
          <a:xfrm>
            <a:off x="6455664" y="2820010"/>
            <a:ext cx="10973" cy="148133"/>
          </a:xfrm>
          <a:prstGeom prst="rect">
            <a:avLst/>
          </a:prstGeom>
          <a:solidFill>
            <a:srgbClr val="E2EAEE"/>
          </a:solidFill>
          <a:ln/>
        </p:spPr>
      </p:sp>
      <p:sp>
        <p:nvSpPr>
          <p:cNvPr id="99" name="Shape 97"/>
          <p:cNvSpPr/>
          <p:nvPr/>
        </p:nvSpPr>
        <p:spPr>
          <a:xfrm>
            <a:off x="7786116" y="2820010"/>
            <a:ext cx="10973" cy="148133"/>
          </a:xfrm>
          <a:prstGeom prst="rect">
            <a:avLst/>
          </a:prstGeom>
          <a:solidFill>
            <a:srgbClr val="E2EAEE"/>
          </a:solidFill>
          <a:ln/>
        </p:spPr>
      </p:sp>
      <p:sp>
        <p:nvSpPr>
          <p:cNvPr id="100" name="Shape 98"/>
          <p:cNvSpPr/>
          <p:nvPr/>
        </p:nvSpPr>
        <p:spPr>
          <a:xfrm>
            <a:off x="9116568" y="2820010"/>
            <a:ext cx="10973" cy="148133"/>
          </a:xfrm>
          <a:prstGeom prst="rect">
            <a:avLst/>
          </a:prstGeom>
          <a:solidFill>
            <a:srgbClr val="E2EAEE"/>
          </a:solidFill>
          <a:ln/>
        </p:spPr>
      </p:sp>
      <p:sp>
        <p:nvSpPr>
          <p:cNvPr id="101" name="Shape 99"/>
          <p:cNvSpPr/>
          <p:nvPr/>
        </p:nvSpPr>
        <p:spPr>
          <a:xfrm>
            <a:off x="10447020" y="2820010"/>
            <a:ext cx="10973" cy="148133"/>
          </a:xfrm>
          <a:prstGeom prst="rect">
            <a:avLst/>
          </a:prstGeom>
          <a:solidFill>
            <a:srgbClr val="E2EAEE"/>
          </a:solidFill>
          <a:ln/>
        </p:spPr>
      </p:sp>
      <p:sp>
        <p:nvSpPr>
          <p:cNvPr id="102" name="Shape 100"/>
          <p:cNvSpPr/>
          <p:nvPr/>
        </p:nvSpPr>
        <p:spPr>
          <a:xfrm>
            <a:off x="5152644" y="2821838"/>
            <a:ext cx="1275588" cy="129845"/>
          </a:xfrm>
          <a:prstGeom prst="roundRect">
            <a:avLst>
              <a:gd name="adj" fmla="val 45775"/>
            </a:avLst>
          </a:prstGeom>
          <a:solidFill>
            <a:srgbClr val="3D8F5F"/>
          </a:solidFill>
          <a:ln/>
        </p:spPr>
      </p:sp>
      <p:sp>
        <p:nvSpPr>
          <p:cNvPr id="103" name="Text 101"/>
          <p:cNvSpPr txBox="1"/>
          <p:nvPr/>
        </p:nvSpPr>
        <p:spPr>
          <a:xfrm>
            <a:off x="5225796" y="2809037"/>
            <a:ext cx="1165860"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Ciaran</a:t>
            </a:r>
            <a:endParaRPr lang="en-US" sz="650" dirty="0"/>
          </a:p>
        </p:txBody>
      </p:sp>
      <p:sp>
        <p:nvSpPr>
          <p:cNvPr id="104" name="Shape 102"/>
          <p:cNvSpPr/>
          <p:nvPr/>
        </p:nvSpPr>
        <p:spPr>
          <a:xfrm>
            <a:off x="411480" y="2977286"/>
            <a:ext cx="11365992" cy="175565"/>
          </a:xfrm>
          <a:prstGeom prst="rect">
            <a:avLst/>
          </a:prstGeom>
          <a:solidFill>
            <a:srgbClr val="FFFFFF"/>
          </a:solidFill>
          <a:ln/>
        </p:spPr>
      </p:sp>
      <p:sp>
        <p:nvSpPr>
          <p:cNvPr id="105" name="Text 103"/>
          <p:cNvSpPr txBox="1"/>
          <p:nvPr/>
        </p:nvSpPr>
        <p:spPr>
          <a:xfrm>
            <a:off x="457200" y="2977286"/>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Create Stripe Terminal Simulator</a:t>
            </a:r>
            <a:endParaRPr lang="en-US" sz="730" dirty="0"/>
          </a:p>
        </p:txBody>
      </p:sp>
      <p:sp>
        <p:nvSpPr>
          <p:cNvPr id="106" name="Shape 104"/>
          <p:cNvSpPr/>
          <p:nvPr/>
        </p:nvSpPr>
        <p:spPr>
          <a:xfrm>
            <a:off x="3794760" y="2995574"/>
            <a:ext cx="10973" cy="148133"/>
          </a:xfrm>
          <a:prstGeom prst="rect">
            <a:avLst/>
          </a:prstGeom>
          <a:solidFill>
            <a:srgbClr val="E2EAEE"/>
          </a:solidFill>
          <a:ln/>
        </p:spPr>
      </p:sp>
      <p:sp>
        <p:nvSpPr>
          <p:cNvPr id="107" name="Shape 105"/>
          <p:cNvSpPr/>
          <p:nvPr/>
        </p:nvSpPr>
        <p:spPr>
          <a:xfrm>
            <a:off x="5125212" y="2995574"/>
            <a:ext cx="10973" cy="148133"/>
          </a:xfrm>
          <a:prstGeom prst="rect">
            <a:avLst/>
          </a:prstGeom>
          <a:solidFill>
            <a:srgbClr val="E2EAEE"/>
          </a:solidFill>
          <a:ln/>
        </p:spPr>
      </p:sp>
      <p:sp>
        <p:nvSpPr>
          <p:cNvPr id="108" name="Shape 106"/>
          <p:cNvSpPr/>
          <p:nvPr/>
        </p:nvSpPr>
        <p:spPr>
          <a:xfrm>
            <a:off x="6455664" y="2995574"/>
            <a:ext cx="10973" cy="148133"/>
          </a:xfrm>
          <a:prstGeom prst="rect">
            <a:avLst/>
          </a:prstGeom>
          <a:solidFill>
            <a:srgbClr val="E2EAEE"/>
          </a:solidFill>
          <a:ln/>
        </p:spPr>
      </p:sp>
      <p:sp>
        <p:nvSpPr>
          <p:cNvPr id="109" name="Shape 107"/>
          <p:cNvSpPr/>
          <p:nvPr/>
        </p:nvSpPr>
        <p:spPr>
          <a:xfrm>
            <a:off x="7786116" y="2995574"/>
            <a:ext cx="10973" cy="148133"/>
          </a:xfrm>
          <a:prstGeom prst="rect">
            <a:avLst/>
          </a:prstGeom>
          <a:solidFill>
            <a:srgbClr val="E2EAEE"/>
          </a:solidFill>
          <a:ln/>
        </p:spPr>
      </p:sp>
      <p:sp>
        <p:nvSpPr>
          <p:cNvPr id="110" name="Shape 108"/>
          <p:cNvSpPr/>
          <p:nvPr/>
        </p:nvSpPr>
        <p:spPr>
          <a:xfrm>
            <a:off x="9116568" y="2995574"/>
            <a:ext cx="10973" cy="148133"/>
          </a:xfrm>
          <a:prstGeom prst="rect">
            <a:avLst/>
          </a:prstGeom>
          <a:solidFill>
            <a:srgbClr val="E2EAEE"/>
          </a:solidFill>
          <a:ln/>
        </p:spPr>
      </p:sp>
      <p:sp>
        <p:nvSpPr>
          <p:cNvPr id="111" name="Shape 109"/>
          <p:cNvSpPr/>
          <p:nvPr/>
        </p:nvSpPr>
        <p:spPr>
          <a:xfrm>
            <a:off x="10447020" y="2995574"/>
            <a:ext cx="10973" cy="148133"/>
          </a:xfrm>
          <a:prstGeom prst="rect">
            <a:avLst/>
          </a:prstGeom>
          <a:solidFill>
            <a:srgbClr val="E2EAEE"/>
          </a:solidFill>
          <a:ln/>
        </p:spPr>
      </p:sp>
      <p:sp>
        <p:nvSpPr>
          <p:cNvPr id="112" name="Shape 110"/>
          <p:cNvSpPr/>
          <p:nvPr/>
        </p:nvSpPr>
        <p:spPr>
          <a:xfrm>
            <a:off x="5152644" y="2997403"/>
            <a:ext cx="1275588" cy="129845"/>
          </a:xfrm>
          <a:prstGeom prst="roundRect">
            <a:avLst>
              <a:gd name="adj" fmla="val 45775"/>
            </a:avLst>
          </a:prstGeom>
          <a:solidFill>
            <a:srgbClr val="3D8F5F"/>
          </a:solidFill>
          <a:ln/>
        </p:spPr>
      </p:sp>
      <p:sp>
        <p:nvSpPr>
          <p:cNvPr id="113" name="Text 111"/>
          <p:cNvSpPr txBox="1"/>
          <p:nvPr/>
        </p:nvSpPr>
        <p:spPr>
          <a:xfrm>
            <a:off x="5225796" y="2984602"/>
            <a:ext cx="1165860"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Dave</a:t>
            </a:r>
            <a:endParaRPr lang="en-US" sz="650" dirty="0"/>
          </a:p>
        </p:txBody>
      </p:sp>
      <p:sp>
        <p:nvSpPr>
          <p:cNvPr id="114" name="Text 112"/>
          <p:cNvSpPr txBox="1"/>
          <p:nvPr/>
        </p:nvSpPr>
        <p:spPr>
          <a:xfrm>
            <a:off x="457200" y="3152851"/>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ALH Bug Fixes</a:t>
            </a:r>
            <a:endParaRPr lang="en-US" sz="730" dirty="0"/>
          </a:p>
        </p:txBody>
      </p:sp>
      <p:sp>
        <p:nvSpPr>
          <p:cNvPr id="115" name="Shape 113"/>
          <p:cNvSpPr/>
          <p:nvPr/>
        </p:nvSpPr>
        <p:spPr>
          <a:xfrm>
            <a:off x="3794760" y="3171139"/>
            <a:ext cx="10973" cy="148133"/>
          </a:xfrm>
          <a:prstGeom prst="rect">
            <a:avLst/>
          </a:prstGeom>
          <a:solidFill>
            <a:srgbClr val="E2EAEE"/>
          </a:solidFill>
          <a:ln/>
        </p:spPr>
      </p:sp>
      <p:sp>
        <p:nvSpPr>
          <p:cNvPr id="116" name="Shape 114"/>
          <p:cNvSpPr/>
          <p:nvPr/>
        </p:nvSpPr>
        <p:spPr>
          <a:xfrm>
            <a:off x="5125212" y="3171139"/>
            <a:ext cx="10973" cy="148133"/>
          </a:xfrm>
          <a:prstGeom prst="rect">
            <a:avLst/>
          </a:prstGeom>
          <a:solidFill>
            <a:srgbClr val="E2EAEE"/>
          </a:solidFill>
          <a:ln/>
        </p:spPr>
      </p:sp>
      <p:sp>
        <p:nvSpPr>
          <p:cNvPr id="117" name="Shape 115"/>
          <p:cNvSpPr/>
          <p:nvPr/>
        </p:nvSpPr>
        <p:spPr>
          <a:xfrm>
            <a:off x="6455664" y="3171139"/>
            <a:ext cx="10973" cy="148133"/>
          </a:xfrm>
          <a:prstGeom prst="rect">
            <a:avLst/>
          </a:prstGeom>
          <a:solidFill>
            <a:srgbClr val="E2EAEE"/>
          </a:solidFill>
          <a:ln/>
        </p:spPr>
      </p:sp>
      <p:sp>
        <p:nvSpPr>
          <p:cNvPr id="118" name="Shape 116"/>
          <p:cNvSpPr/>
          <p:nvPr/>
        </p:nvSpPr>
        <p:spPr>
          <a:xfrm>
            <a:off x="7786116" y="3171139"/>
            <a:ext cx="10973" cy="148133"/>
          </a:xfrm>
          <a:prstGeom prst="rect">
            <a:avLst/>
          </a:prstGeom>
          <a:solidFill>
            <a:srgbClr val="E2EAEE"/>
          </a:solidFill>
          <a:ln/>
        </p:spPr>
      </p:sp>
      <p:sp>
        <p:nvSpPr>
          <p:cNvPr id="119" name="Shape 117"/>
          <p:cNvSpPr/>
          <p:nvPr/>
        </p:nvSpPr>
        <p:spPr>
          <a:xfrm>
            <a:off x="9116568" y="3171139"/>
            <a:ext cx="10973" cy="148133"/>
          </a:xfrm>
          <a:prstGeom prst="rect">
            <a:avLst/>
          </a:prstGeom>
          <a:solidFill>
            <a:srgbClr val="E2EAEE"/>
          </a:solidFill>
          <a:ln/>
        </p:spPr>
      </p:sp>
      <p:sp>
        <p:nvSpPr>
          <p:cNvPr id="120" name="Shape 118"/>
          <p:cNvSpPr/>
          <p:nvPr/>
        </p:nvSpPr>
        <p:spPr>
          <a:xfrm>
            <a:off x="10447020" y="3171139"/>
            <a:ext cx="10973" cy="148133"/>
          </a:xfrm>
          <a:prstGeom prst="rect">
            <a:avLst/>
          </a:prstGeom>
          <a:solidFill>
            <a:srgbClr val="E2EAEE"/>
          </a:solidFill>
          <a:ln/>
        </p:spPr>
      </p:sp>
      <p:sp>
        <p:nvSpPr>
          <p:cNvPr id="121" name="Shape 119"/>
          <p:cNvSpPr/>
          <p:nvPr/>
        </p:nvSpPr>
        <p:spPr>
          <a:xfrm>
            <a:off x="3822192" y="3172968"/>
            <a:ext cx="1275588" cy="129845"/>
          </a:xfrm>
          <a:prstGeom prst="roundRect">
            <a:avLst>
              <a:gd name="adj" fmla="val 45775"/>
            </a:avLst>
          </a:prstGeom>
          <a:solidFill>
            <a:srgbClr val="3D8F5F"/>
          </a:solidFill>
          <a:ln/>
        </p:spPr>
      </p:sp>
      <p:sp>
        <p:nvSpPr>
          <p:cNvPr id="122" name="Text 120"/>
          <p:cNvSpPr txBox="1"/>
          <p:nvPr/>
        </p:nvSpPr>
        <p:spPr>
          <a:xfrm>
            <a:off x="3895344" y="3160166"/>
            <a:ext cx="1165860"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Ciaran</a:t>
            </a:r>
            <a:endParaRPr lang="en-US" sz="650" dirty="0"/>
          </a:p>
        </p:txBody>
      </p:sp>
      <p:sp>
        <p:nvSpPr>
          <p:cNvPr id="123" name="Shape 121"/>
          <p:cNvSpPr/>
          <p:nvPr/>
        </p:nvSpPr>
        <p:spPr>
          <a:xfrm>
            <a:off x="411480" y="3328416"/>
            <a:ext cx="11365992" cy="175565"/>
          </a:xfrm>
          <a:prstGeom prst="rect">
            <a:avLst/>
          </a:prstGeom>
          <a:solidFill>
            <a:srgbClr val="FFFFFF"/>
          </a:solidFill>
          <a:ln/>
        </p:spPr>
      </p:sp>
      <p:sp>
        <p:nvSpPr>
          <p:cNvPr id="124" name="Text 122"/>
          <p:cNvSpPr txBox="1"/>
          <p:nvPr/>
        </p:nvSpPr>
        <p:spPr>
          <a:xfrm>
            <a:off x="457200" y="3328416"/>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ALH Food Pricing - PLU Visibility Filter</a:t>
            </a:r>
            <a:endParaRPr lang="en-US" sz="730" dirty="0"/>
          </a:p>
        </p:txBody>
      </p:sp>
      <p:sp>
        <p:nvSpPr>
          <p:cNvPr id="125" name="Shape 123"/>
          <p:cNvSpPr/>
          <p:nvPr/>
        </p:nvSpPr>
        <p:spPr>
          <a:xfrm>
            <a:off x="3794760" y="3346704"/>
            <a:ext cx="10973" cy="148133"/>
          </a:xfrm>
          <a:prstGeom prst="rect">
            <a:avLst/>
          </a:prstGeom>
          <a:solidFill>
            <a:srgbClr val="E2EAEE"/>
          </a:solidFill>
          <a:ln/>
        </p:spPr>
      </p:sp>
      <p:sp>
        <p:nvSpPr>
          <p:cNvPr id="126" name="Shape 124"/>
          <p:cNvSpPr/>
          <p:nvPr/>
        </p:nvSpPr>
        <p:spPr>
          <a:xfrm>
            <a:off x="5125212" y="3346704"/>
            <a:ext cx="10973" cy="148133"/>
          </a:xfrm>
          <a:prstGeom prst="rect">
            <a:avLst/>
          </a:prstGeom>
          <a:solidFill>
            <a:srgbClr val="E2EAEE"/>
          </a:solidFill>
          <a:ln/>
        </p:spPr>
      </p:sp>
      <p:sp>
        <p:nvSpPr>
          <p:cNvPr id="127" name="Shape 125"/>
          <p:cNvSpPr/>
          <p:nvPr/>
        </p:nvSpPr>
        <p:spPr>
          <a:xfrm>
            <a:off x="6455664" y="3346704"/>
            <a:ext cx="10973" cy="148133"/>
          </a:xfrm>
          <a:prstGeom prst="rect">
            <a:avLst/>
          </a:prstGeom>
          <a:solidFill>
            <a:srgbClr val="E2EAEE"/>
          </a:solidFill>
          <a:ln/>
        </p:spPr>
      </p:sp>
      <p:sp>
        <p:nvSpPr>
          <p:cNvPr id="128" name="Shape 126"/>
          <p:cNvSpPr/>
          <p:nvPr/>
        </p:nvSpPr>
        <p:spPr>
          <a:xfrm>
            <a:off x="7786116" y="3346704"/>
            <a:ext cx="10973" cy="148133"/>
          </a:xfrm>
          <a:prstGeom prst="rect">
            <a:avLst/>
          </a:prstGeom>
          <a:solidFill>
            <a:srgbClr val="E2EAEE"/>
          </a:solidFill>
          <a:ln/>
        </p:spPr>
      </p:sp>
      <p:sp>
        <p:nvSpPr>
          <p:cNvPr id="129" name="Shape 127"/>
          <p:cNvSpPr/>
          <p:nvPr/>
        </p:nvSpPr>
        <p:spPr>
          <a:xfrm>
            <a:off x="9116568" y="3346704"/>
            <a:ext cx="10973" cy="148133"/>
          </a:xfrm>
          <a:prstGeom prst="rect">
            <a:avLst/>
          </a:prstGeom>
          <a:solidFill>
            <a:srgbClr val="E2EAEE"/>
          </a:solidFill>
          <a:ln/>
        </p:spPr>
      </p:sp>
      <p:sp>
        <p:nvSpPr>
          <p:cNvPr id="130" name="Shape 128"/>
          <p:cNvSpPr/>
          <p:nvPr/>
        </p:nvSpPr>
        <p:spPr>
          <a:xfrm>
            <a:off x="10447020" y="3346704"/>
            <a:ext cx="10973" cy="148133"/>
          </a:xfrm>
          <a:prstGeom prst="rect">
            <a:avLst/>
          </a:prstGeom>
          <a:solidFill>
            <a:srgbClr val="E2EAEE"/>
          </a:solidFill>
          <a:ln/>
        </p:spPr>
      </p:sp>
      <p:sp>
        <p:nvSpPr>
          <p:cNvPr id="131" name="Shape 129"/>
          <p:cNvSpPr/>
          <p:nvPr/>
        </p:nvSpPr>
        <p:spPr>
          <a:xfrm>
            <a:off x="5152644" y="3348533"/>
            <a:ext cx="1275588" cy="129845"/>
          </a:xfrm>
          <a:prstGeom prst="roundRect">
            <a:avLst>
              <a:gd name="adj" fmla="val 45775"/>
            </a:avLst>
          </a:prstGeom>
          <a:solidFill>
            <a:srgbClr val="C88A2E"/>
          </a:solidFill>
          <a:ln/>
        </p:spPr>
      </p:sp>
      <p:sp>
        <p:nvSpPr>
          <p:cNvPr id="132" name="Text 130"/>
          <p:cNvSpPr txBox="1"/>
          <p:nvPr/>
        </p:nvSpPr>
        <p:spPr>
          <a:xfrm>
            <a:off x="5225796" y="3335731"/>
            <a:ext cx="1165860"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Ciaran</a:t>
            </a:r>
            <a:endParaRPr lang="en-US" sz="650" dirty="0"/>
          </a:p>
        </p:txBody>
      </p:sp>
      <p:sp>
        <p:nvSpPr>
          <p:cNvPr id="133" name="Text 131"/>
          <p:cNvSpPr txBox="1"/>
          <p:nvPr/>
        </p:nvSpPr>
        <p:spPr>
          <a:xfrm>
            <a:off x="457200" y="3503981"/>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ALH RMS</a:t>
            </a:r>
            <a:endParaRPr lang="en-US" sz="730" dirty="0"/>
          </a:p>
        </p:txBody>
      </p:sp>
      <p:sp>
        <p:nvSpPr>
          <p:cNvPr id="134" name="Shape 132"/>
          <p:cNvSpPr/>
          <p:nvPr/>
        </p:nvSpPr>
        <p:spPr>
          <a:xfrm>
            <a:off x="3794760" y="3522269"/>
            <a:ext cx="10973" cy="148133"/>
          </a:xfrm>
          <a:prstGeom prst="rect">
            <a:avLst/>
          </a:prstGeom>
          <a:solidFill>
            <a:srgbClr val="E2EAEE"/>
          </a:solidFill>
          <a:ln/>
        </p:spPr>
      </p:sp>
      <p:sp>
        <p:nvSpPr>
          <p:cNvPr id="135" name="Shape 133"/>
          <p:cNvSpPr/>
          <p:nvPr/>
        </p:nvSpPr>
        <p:spPr>
          <a:xfrm>
            <a:off x="5125212" y="3522269"/>
            <a:ext cx="10973" cy="148133"/>
          </a:xfrm>
          <a:prstGeom prst="rect">
            <a:avLst/>
          </a:prstGeom>
          <a:solidFill>
            <a:srgbClr val="E2EAEE"/>
          </a:solidFill>
          <a:ln/>
        </p:spPr>
      </p:sp>
      <p:sp>
        <p:nvSpPr>
          <p:cNvPr id="136" name="Shape 134"/>
          <p:cNvSpPr/>
          <p:nvPr/>
        </p:nvSpPr>
        <p:spPr>
          <a:xfrm>
            <a:off x="6455664" y="3522269"/>
            <a:ext cx="10973" cy="148133"/>
          </a:xfrm>
          <a:prstGeom prst="rect">
            <a:avLst/>
          </a:prstGeom>
          <a:solidFill>
            <a:srgbClr val="E2EAEE"/>
          </a:solidFill>
          <a:ln/>
        </p:spPr>
      </p:sp>
      <p:sp>
        <p:nvSpPr>
          <p:cNvPr id="137" name="Shape 135"/>
          <p:cNvSpPr/>
          <p:nvPr/>
        </p:nvSpPr>
        <p:spPr>
          <a:xfrm>
            <a:off x="7786116" y="3522269"/>
            <a:ext cx="10973" cy="148133"/>
          </a:xfrm>
          <a:prstGeom prst="rect">
            <a:avLst/>
          </a:prstGeom>
          <a:solidFill>
            <a:srgbClr val="E2EAEE"/>
          </a:solidFill>
          <a:ln/>
        </p:spPr>
      </p:sp>
      <p:sp>
        <p:nvSpPr>
          <p:cNvPr id="138" name="Shape 136"/>
          <p:cNvSpPr/>
          <p:nvPr/>
        </p:nvSpPr>
        <p:spPr>
          <a:xfrm>
            <a:off x="9116568" y="3522269"/>
            <a:ext cx="10973" cy="148133"/>
          </a:xfrm>
          <a:prstGeom prst="rect">
            <a:avLst/>
          </a:prstGeom>
          <a:solidFill>
            <a:srgbClr val="E2EAEE"/>
          </a:solidFill>
          <a:ln/>
        </p:spPr>
      </p:sp>
      <p:sp>
        <p:nvSpPr>
          <p:cNvPr id="139" name="Shape 137"/>
          <p:cNvSpPr/>
          <p:nvPr/>
        </p:nvSpPr>
        <p:spPr>
          <a:xfrm>
            <a:off x="10447020" y="3522269"/>
            <a:ext cx="10973" cy="148133"/>
          </a:xfrm>
          <a:prstGeom prst="rect">
            <a:avLst/>
          </a:prstGeom>
          <a:solidFill>
            <a:srgbClr val="E2EAEE"/>
          </a:solidFill>
          <a:ln/>
        </p:spPr>
      </p:sp>
      <p:sp>
        <p:nvSpPr>
          <p:cNvPr id="140" name="Shape 138"/>
          <p:cNvSpPr/>
          <p:nvPr/>
        </p:nvSpPr>
        <p:spPr>
          <a:xfrm>
            <a:off x="6483096" y="3524098"/>
            <a:ext cx="1275588" cy="129845"/>
          </a:xfrm>
          <a:prstGeom prst="roundRect">
            <a:avLst>
              <a:gd name="adj" fmla="val 45775"/>
            </a:avLst>
          </a:prstGeom>
          <a:solidFill>
            <a:srgbClr val="C88A2E"/>
          </a:solidFill>
          <a:ln/>
        </p:spPr>
      </p:sp>
      <p:sp>
        <p:nvSpPr>
          <p:cNvPr id="141" name="Text 139"/>
          <p:cNvSpPr txBox="1"/>
          <p:nvPr/>
        </p:nvSpPr>
        <p:spPr>
          <a:xfrm>
            <a:off x="6556248" y="3511296"/>
            <a:ext cx="1165860"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Brad</a:t>
            </a:r>
            <a:endParaRPr lang="en-US" sz="650" dirty="0"/>
          </a:p>
        </p:txBody>
      </p:sp>
      <p:sp>
        <p:nvSpPr>
          <p:cNvPr id="142" name="Shape 140"/>
          <p:cNvSpPr/>
          <p:nvPr/>
        </p:nvSpPr>
        <p:spPr>
          <a:xfrm>
            <a:off x="411480" y="3679546"/>
            <a:ext cx="11365992" cy="175565"/>
          </a:xfrm>
          <a:prstGeom prst="rect">
            <a:avLst/>
          </a:prstGeom>
          <a:solidFill>
            <a:srgbClr val="FFFFFF"/>
          </a:solidFill>
          <a:ln/>
        </p:spPr>
      </p:sp>
      <p:sp>
        <p:nvSpPr>
          <p:cNvPr id="143" name="Text 141"/>
          <p:cNvSpPr txBox="1"/>
          <p:nvPr/>
        </p:nvSpPr>
        <p:spPr>
          <a:xfrm>
            <a:off x="457200" y="3679546"/>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LMG - various enhancemens</a:t>
            </a:r>
            <a:endParaRPr lang="en-US" sz="730" dirty="0"/>
          </a:p>
        </p:txBody>
      </p:sp>
      <p:sp>
        <p:nvSpPr>
          <p:cNvPr id="144" name="Shape 142"/>
          <p:cNvSpPr/>
          <p:nvPr/>
        </p:nvSpPr>
        <p:spPr>
          <a:xfrm>
            <a:off x="3794760" y="3697834"/>
            <a:ext cx="10973" cy="148133"/>
          </a:xfrm>
          <a:prstGeom prst="rect">
            <a:avLst/>
          </a:prstGeom>
          <a:solidFill>
            <a:srgbClr val="E2EAEE"/>
          </a:solidFill>
          <a:ln/>
        </p:spPr>
      </p:sp>
      <p:sp>
        <p:nvSpPr>
          <p:cNvPr id="145" name="Shape 143"/>
          <p:cNvSpPr/>
          <p:nvPr/>
        </p:nvSpPr>
        <p:spPr>
          <a:xfrm>
            <a:off x="5125212" y="3697834"/>
            <a:ext cx="10973" cy="148133"/>
          </a:xfrm>
          <a:prstGeom prst="rect">
            <a:avLst/>
          </a:prstGeom>
          <a:solidFill>
            <a:srgbClr val="E2EAEE"/>
          </a:solidFill>
          <a:ln/>
        </p:spPr>
      </p:sp>
      <p:sp>
        <p:nvSpPr>
          <p:cNvPr id="146" name="Shape 144"/>
          <p:cNvSpPr/>
          <p:nvPr/>
        </p:nvSpPr>
        <p:spPr>
          <a:xfrm>
            <a:off x="6455664" y="3697834"/>
            <a:ext cx="10973" cy="148133"/>
          </a:xfrm>
          <a:prstGeom prst="rect">
            <a:avLst/>
          </a:prstGeom>
          <a:solidFill>
            <a:srgbClr val="E2EAEE"/>
          </a:solidFill>
          <a:ln/>
        </p:spPr>
      </p:sp>
      <p:sp>
        <p:nvSpPr>
          <p:cNvPr id="147" name="Shape 145"/>
          <p:cNvSpPr/>
          <p:nvPr/>
        </p:nvSpPr>
        <p:spPr>
          <a:xfrm>
            <a:off x="7786116" y="3697834"/>
            <a:ext cx="10973" cy="148133"/>
          </a:xfrm>
          <a:prstGeom prst="rect">
            <a:avLst/>
          </a:prstGeom>
          <a:solidFill>
            <a:srgbClr val="E2EAEE"/>
          </a:solidFill>
          <a:ln/>
        </p:spPr>
      </p:sp>
      <p:sp>
        <p:nvSpPr>
          <p:cNvPr id="148" name="Shape 146"/>
          <p:cNvSpPr/>
          <p:nvPr/>
        </p:nvSpPr>
        <p:spPr>
          <a:xfrm>
            <a:off x="9116568" y="3697834"/>
            <a:ext cx="10973" cy="148133"/>
          </a:xfrm>
          <a:prstGeom prst="rect">
            <a:avLst/>
          </a:prstGeom>
          <a:solidFill>
            <a:srgbClr val="E2EAEE"/>
          </a:solidFill>
          <a:ln/>
        </p:spPr>
      </p:sp>
      <p:sp>
        <p:nvSpPr>
          <p:cNvPr id="149" name="Shape 147"/>
          <p:cNvSpPr/>
          <p:nvPr/>
        </p:nvSpPr>
        <p:spPr>
          <a:xfrm>
            <a:off x="10447020" y="3697834"/>
            <a:ext cx="10973" cy="148133"/>
          </a:xfrm>
          <a:prstGeom prst="rect">
            <a:avLst/>
          </a:prstGeom>
          <a:solidFill>
            <a:srgbClr val="E2EAEE"/>
          </a:solidFill>
          <a:ln/>
        </p:spPr>
      </p:sp>
      <p:sp>
        <p:nvSpPr>
          <p:cNvPr id="150" name="Shape 148"/>
          <p:cNvSpPr/>
          <p:nvPr/>
        </p:nvSpPr>
        <p:spPr>
          <a:xfrm>
            <a:off x="7813548" y="3699662"/>
            <a:ext cx="2606040" cy="129845"/>
          </a:xfrm>
          <a:prstGeom prst="roundRect">
            <a:avLst>
              <a:gd name="adj" fmla="val 45775"/>
            </a:avLst>
          </a:prstGeom>
          <a:solidFill>
            <a:srgbClr val="C7D3DA">
              <a:alpha val="75000"/>
            </a:srgbClr>
          </a:solidFill>
          <a:ln/>
        </p:spPr>
      </p:sp>
      <p:sp>
        <p:nvSpPr>
          <p:cNvPr id="151" name="Text 149"/>
          <p:cNvSpPr txBox="1"/>
          <p:nvPr/>
        </p:nvSpPr>
        <p:spPr>
          <a:xfrm>
            <a:off x="7886700" y="3686861"/>
            <a:ext cx="2496312" cy="157277"/>
          </a:xfrm>
          <a:prstGeom prst="rect">
            <a:avLst/>
          </a:prstGeom>
          <a:noFill/>
          <a:ln/>
        </p:spPr>
        <p:txBody>
          <a:bodyPr wrap="square" lIns="0" tIns="0" rIns="0" bIns="0" rtlCol="0" anchor="ctr"/>
          <a:lstStyle/>
          <a:p>
            <a:pPr indent="0" marL="0">
              <a:buNone/>
            </a:pPr>
            <a:r>
              <a:rPr lang="en-US" sz="650" b="1" dirty="0">
                <a:solidFill>
                  <a:srgbClr val="5E7280"/>
                </a:solidFill>
                <a:latin typeface="Poppins" pitchFamily="34" charset="0"/>
                <a:ea typeface="Poppins" pitchFamily="34" charset="-122"/>
                <a:cs typeface="Poppins" pitchFamily="34" charset="-120"/>
              </a:rPr>
              <a:t>Brad</a:t>
            </a:r>
            <a:endParaRPr lang="en-US" sz="650" dirty="0"/>
          </a:p>
        </p:txBody>
      </p:sp>
      <p:sp>
        <p:nvSpPr>
          <p:cNvPr id="152" name="Text 150"/>
          <p:cNvSpPr txBox="1"/>
          <p:nvPr/>
        </p:nvSpPr>
        <p:spPr>
          <a:xfrm>
            <a:off x="457200" y="3855110"/>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Bug Run 9.3</a:t>
            </a:r>
            <a:endParaRPr lang="en-US" sz="730" dirty="0"/>
          </a:p>
        </p:txBody>
      </p:sp>
      <p:sp>
        <p:nvSpPr>
          <p:cNvPr id="153" name="Shape 151"/>
          <p:cNvSpPr/>
          <p:nvPr/>
        </p:nvSpPr>
        <p:spPr>
          <a:xfrm>
            <a:off x="3794760" y="3873398"/>
            <a:ext cx="10973" cy="148133"/>
          </a:xfrm>
          <a:prstGeom prst="rect">
            <a:avLst/>
          </a:prstGeom>
          <a:solidFill>
            <a:srgbClr val="E2EAEE"/>
          </a:solidFill>
          <a:ln/>
        </p:spPr>
      </p:sp>
      <p:sp>
        <p:nvSpPr>
          <p:cNvPr id="154" name="Shape 152"/>
          <p:cNvSpPr/>
          <p:nvPr/>
        </p:nvSpPr>
        <p:spPr>
          <a:xfrm>
            <a:off x="5125212" y="3873398"/>
            <a:ext cx="10973" cy="148133"/>
          </a:xfrm>
          <a:prstGeom prst="rect">
            <a:avLst/>
          </a:prstGeom>
          <a:solidFill>
            <a:srgbClr val="E2EAEE"/>
          </a:solidFill>
          <a:ln/>
        </p:spPr>
      </p:sp>
      <p:sp>
        <p:nvSpPr>
          <p:cNvPr id="155" name="Shape 153"/>
          <p:cNvSpPr/>
          <p:nvPr/>
        </p:nvSpPr>
        <p:spPr>
          <a:xfrm>
            <a:off x="6455664" y="3873398"/>
            <a:ext cx="10973" cy="148133"/>
          </a:xfrm>
          <a:prstGeom prst="rect">
            <a:avLst/>
          </a:prstGeom>
          <a:solidFill>
            <a:srgbClr val="E2EAEE"/>
          </a:solidFill>
          <a:ln/>
        </p:spPr>
      </p:sp>
      <p:sp>
        <p:nvSpPr>
          <p:cNvPr id="156" name="Shape 154"/>
          <p:cNvSpPr/>
          <p:nvPr/>
        </p:nvSpPr>
        <p:spPr>
          <a:xfrm>
            <a:off x="7786116" y="3873398"/>
            <a:ext cx="10973" cy="148133"/>
          </a:xfrm>
          <a:prstGeom prst="rect">
            <a:avLst/>
          </a:prstGeom>
          <a:solidFill>
            <a:srgbClr val="E2EAEE"/>
          </a:solidFill>
          <a:ln/>
        </p:spPr>
      </p:sp>
      <p:sp>
        <p:nvSpPr>
          <p:cNvPr id="157" name="Shape 155"/>
          <p:cNvSpPr/>
          <p:nvPr/>
        </p:nvSpPr>
        <p:spPr>
          <a:xfrm>
            <a:off x="9116568" y="3873398"/>
            <a:ext cx="10973" cy="148133"/>
          </a:xfrm>
          <a:prstGeom prst="rect">
            <a:avLst/>
          </a:prstGeom>
          <a:solidFill>
            <a:srgbClr val="E2EAEE"/>
          </a:solidFill>
          <a:ln/>
        </p:spPr>
      </p:sp>
      <p:sp>
        <p:nvSpPr>
          <p:cNvPr id="158" name="Shape 156"/>
          <p:cNvSpPr/>
          <p:nvPr/>
        </p:nvSpPr>
        <p:spPr>
          <a:xfrm>
            <a:off x="10447020" y="3873398"/>
            <a:ext cx="10973" cy="148133"/>
          </a:xfrm>
          <a:prstGeom prst="rect">
            <a:avLst/>
          </a:prstGeom>
          <a:solidFill>
            <a:srgbClr val="E2EAEE"/>
          </a:solidFill>
          <a:ln/>
        </p:spPr>
      </p:sp>
      <p:sp>
        <p:nvSpPr>
          <p:cNvPr id="159" name="Shape 157"/>
          <p:cNvSpPr/>
          <p:nvPr/>
        </p:nvSpPr>
        <p:spPr>
          <a:xfrm>
            <a:off x="10474452" y="3875227"/>
            <a:ext cx="1275588" cy="129845"/>
          </a:xfrm>
          <a:prstGeom prst="roundRect">
            <a:avLst>
              <a:gd name="adj" fmla="val 45775"/>
            </a:avLst>
          </a:prstGeom>
          <a:solidFill>
            <a:srgbClr val="C7D3DA">
              <a:alpha val="75000"/>
            </a:srgbClr>
          </a:solidFill>
          <a:ln/>
        </p:spPr>
      </p:sp>
      <p:sp>
        <p:nvSpPr>
          <p:cNvPr id="160" name="Text 158"/>
          <p:cNvSpPr txBox="1"/>
          <p:nvPr/>
        </p:nvSpPr>
        <p:spPr>
          <a:xfrm>
            <a:off x="10547604" y="3862426"/>
            <a:ext cx="1165860" cy="157277"/>
          </a:xfrm>
          <a:prstGeom prst="rect">
            <a:avLst/>
          </a:prstGeom>
          <a:noFill/>
          <a:ln/>
        </p:spPr>
        <p:txBody>
          <a:bodyPr wrap="square" lIns="0" tIns="0" rIns="0" bIns="0" rtlCol="0" anchor="ctr"/>
          <a:lstStyle/>
          <a:p>
            <a:pPr indent="0" marL="0">
              <a:buNone/>
            </a:pPr>
            <a:r>
              <a:rPr lang="en-US" sz="650" b="1" dirty="0">
                <a:solidFill>
                  <a:srgbClr val="5E7280"/>
                </a:solidFill>
                <a:latin typeface="Poppins" pitchFamily="34" charset="0"/>
                <a:ea typeface="Poppins" pitchFamily="34" charset="-122"/>
                <a:cs typeface="Poppins" pitchFamily="34" charset="-120"/>
              </a:rPr>
              <a:t>Brad</a:t>
            </a:r>
            <a:endParaRPr lang="en-US" sz="650" dirty="0"/>
          </a:p>
        </p:txBody>
      </p:sp>
      <p:sp>
        <p:nvSpPr>
          <p:cNvPr id="161" name="Shape 159"/>
          <p:cNvSpPr/>
          <p:nvPr/>
        </p:nvSpPr>
        <p:spPr>
          <a:xfrm>
            <a:off x="411480" y="4030675"/>
            <a:ext cx="11365992" cy="175565"/>
          </a:xfrm>
          <a:prstGeom prst="rect">
            <a:avLst/>
          </a:prstGeom>
          <a:solidFill>
            <a:srgbClr val="FFFFFF"/>
          </a:solidFill>
          <a:ln/>
        </p:spPr>
      </p:sp>
      <p:sp>
        <p:nvSpPr>
          <p:cNvPr id="162" name="Text 160"/>
          <p:cNvSpPr txBox="1"/>
          <p:nvPr/>
        </p:nvSpPr>
        <p:spPr>
          <a:xfrm>
            <a:off x="457200" y="4030675"/>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OpenTable</a:t>
            </a:r>
            <a:endParaRPr lang="en-US" sz="730" dirty="0"/>
          </a:p>
        </p:txBody>
      </p:sp>
      <p:sp>
        <p:nvSpPr>
          <p:cNvPr id="163" name="Shape 161"/>
          <p:cNvSpPr/>
          <p:nvPr/>
        </p:nvSpPr>
        <p:spPr>
          <a:xfrm>
            <a:off x="3794760" y="4048963"/>
            <a:ext cx="10973" cy="148133"/>
          </a:xfrm>
          <a:prstGeom prst="rect">
            <a:avLst/>
          </a:prstGeom>
          <a:solidFill>
            <a:srgbClr val="E2EAEE"/>
          </a:solidFill>
          <a:ln/>
        </p:spPr>
      </p:sp>
      <p:sp>
        <p:nvSpPr>
          <p:cNvPr id="164" name="Shape 162"/>
          <p:cNvSpPr/>
          <p:nvPr/>
        </p:nvSpPr>
        <p:spPr>
          <a:xfrm>
            <a:off x="5125212" y="4048963"/>
            <a:ext cx="10973" cy="148133"/>
          </a:xfrm>
          <a:prstGeom prst="rect">
            <a:avLst/>
          </a:prstGeom>
          <a:solidFill>
            <a:srgbClr val="E2EAEE"/>
          </a:solidFill>
          <a:ln/>
        </p:spPr>
      </p:sp>
      <p:sp>
        <p:nvSpPr>
          <p:cNvPr id="165" name="Shape 163"/>
          <p:cNvSpPr/>
          <p:nvPr/>
        </p:nvSpPr>
        <p:spPr>
          <a:xfrm>
            <a:off x="6455664" y="4048963"/>
            <a:ext cx="10973" cy="148133"/>
          </a:xfrm>
          <a:prstGeom prst="rect">
            <a:avLst/>
          </a:prstGeom>
          <a:solidFill>
            <a:srgbClr val="E2EAEE"/>
          </a:solidFill>
          <a:ln/>
        </p:spPr>
      </p:sp>
      <p:sp>
        <p:nvSpPr>
          <p:cNvPr id="166" name="Shape 164"/>
          <p:cNvSpPr/>
          <p:nvPr/>
        </p:nvSpPr>
        <p:spPr>
          <a:xfrm>
            <a:off x="7786116" y="4048963"/>
            <a:ext cx="10973" cy="148133"/>
          </a:xfrm>
          <a:prstGeom prst="rect">
            <a:avLst/>
          </a:prstGeom>
          <a:solidFill>
            <a:srgbClr val="E2EAEE"/>
          </a:solidFill>
          <a:ln/>
        </p:spPr>
      </p:sp>
      <p:sp>
        <p:nvSpPr>
          <p:cNvPr id="167" name="Shape 165"/>
          <p:cNvSpPr/>
          <p:nvPr/>
        </p:nvSpPr>
        <p:spPr>
          <a:xfrm>
            <a:off x="9116568" y="4048963"/>
            <a:ext cx="10973" cy="148133"/>
          </a:xfrm>
          <a:prstGeom prst="rect">
            <a:avLst/>
          </a:prstGeom>
          <a:solidFill>
            <a:srgbClr val="E2EAEE"/>
          </a:solidFill>
          <a:ln/>
        </p:spPr>
      </p:sp>
      <p:sp>
        <p:nvSpPr>
          <p:cNvPr id="168" name="Shape 166"/>
          <p:cNvSpPr/>
          <p:nvPr/>
        </p:nvSpPr>
        <p:spPr>
          <a:xfrm>
            <a:off x="10447020" y="4048963"/>
            <a:ext cx="10973" cy="148133"/>
          </a:xfrm>
          <a:prstGeom prst="rect">
            <a:avLst/>
          </a:prstGeom>
          <a:solidFill>
            <a:srgbClr val="E2EAEE"/>
          </a:solidFill>
          <a:ln/>
        </p:spPr>
      </p:sp>
      <p:sp>
        <p:nvSpPr>
          <p:cNvPr id="169" name="Shape 167"/>
          <p:cNvSpPr/>
          <p:nvPr/>
        </p:nvSpPr>
        <p:spPr>
          <a:xfrm>
            <a:off x="3822192" y="4050792"/>
            <a:ext cx="2606040" cy="129845"/>
          </a:xfrm>
          <a:prstGeom prst="roundRect">
            <a:avLst>
              <a:gd name="adj" fmla="val 45775"/>
            </a:avLst>
          </a:prstGeom>
          <a:solidFill>
            <a:srgbClr val="3D8F5F"/>
          </a:solidFill>
          <a:ln/>
        </p:spPr>
      </p:sp>
      <p:sp>
        <p:nvSpPr>
          <p:cNvPr id="170" name="Text 168"/>
          <p:cNvSpPr txBox="1"/>
          <p:nvPr/>
        </p:nvSpPr>
        <p:spPr>
          <a:xfrm>
            <a:off x="3895344" y="4037990"/>
            <a:ext cx="2496312"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Hawraa</a:t>
            </a:r>
            <a:endParaRPr lang="en-US" sz="650" dirty="0"/>
          </a:p>
        </p:txBody>
      </p:sp>
      <p:sp>
        <p:nvSpPr>
          <p:cNvPr id="171" name="Text 169"/>
          <p:cNvSpPr txBox="1"/>
          <p:nvPr/>
        </p:nvSpPr>
        <p:spPr>
          <a:xfrm>
            <a:off x="457200" y="4206240"/>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Metcash Scan Work (SM-6423,SM-6478)</a:t>
            </a:r>
            <a:endParaRPr lang="en-US" sz="730" dirty="0"/>
          </a:p>
        </p:txBody>
      </p:sp>
      <p:sp>
        <p:nvSpPr>
          <p:cNvPr id="172" name="Shape 170"/>
          <p:cNvSpPr/>
          <p:nvPr/>
        </p:nvSpPr>
        <p:spPr>
          <a:xfrm>
            <a:off x="3794760" y="4224528"/>
            <a:ext cx="10973" cy="148133"/>
          </a:xfrm>
          <a:prstGeom prst="rect">
            <a:avLst/>
          </a:prstGeom>
          <a:solidFill>
            <a:srgbClr val="E2EAEE"/>
          </a:solidFill>
          <a:ln/>
        </p:spPr>
      </p:sp>
      <p:sp>
        <p:nvSpPr>
          <p:cNvPr id="173" name="Shape 171"/>
          <p:cNvSpPr/>
          <p:nvPr/>
        </p:nvSpPr>
        <p:spPr>
          <a:xfrm>
            <a:off x="5125212" y="4224528"/>
            <a:ext cx="10973" cy="148133"/>
          </a:xfrm>
          <a:prstGeom prst="rect">
            <a:avLst/>
          </a:prstGeom>
          <a:solidFill>
            <a:srgbClr val="E2EAEE"/>
          </a:solidFill>
          <a:ln/>
        </p:spPr>
      </p:sp>
      <p:sp>
        <p:nvSpPr>
          <p:cNvPr id="174" name="Shape 172"/>
          <p:cNvSpPr/>
          <p:nvPr/>
        </p:nvSpPr>
        <p:spPr>
          <a:xfrm>
            <a:off x="6455664" y="4224528"/>
            <a:ext cx="10973" cy="148133"/>
          </a:xfrm>
          <a:prstGeom prst="rect">
            <a:avLst/>
          </a:prstGeom>
          <a:solidFill>
            <a:srgbClr val="E2EAEE"/>
          </a:solidFill>
          <a:ln/>
        </p:spPr>
      </p:sp>
      <p:sp>
        <p:nvSpPr>
          <p:cNvPr id="175" name="Shape 173"/>
          <p:cNvSpPr/>
          <p:nvPr/>
        </p:nvSpPr>
        <p:spPr>
          <a:xfrm>
            <a:off x="7786116" y="4224528"/>
            <a:ext cx="10973" cy="148133"/>
          </a:xfrm>
          <a:prstGeom prst="rect">
            <a:avLst/>
          </a:prstGeom>
          <a:solidFill>
            <a:srgbClr val="E2EAEE"/>
          </a:solidFill>
          <a:ln/>
        </p:spPr>
      </p:sp>
      <p:sp>
        <p:nvSpPr>
          <p:cNvPr id="176" name="Shape 174"/>
          <p:cNvSpPr/>
          <p:nvPr/>
        </p:nvSpPr>
        <p:spPr>
          <a:xfrm>
            <a:off x="9116568" y="4224528"/>
            <a:ext cx="10973" cy="148133"/>
          </a:xfrm>
          <a:prstGeom prst="rect">
            <a:avLst/>
          </a:prstGeom>
          <a:solidFill>
            <a:srgbClr val="E2EAEE"/>
          </a:solidFill>
          <a:ln/>
        </p:spPr>
      </p:sp>
      <p:sp>
        <p:nvSpPr>
          <p:cNvPr id="177" name="Shape 175"/>
          <p:cNvSpPr/>
          <p:nvPr/>
        </p:nvSpPr>
        <p:spPr>
          <a:xfrm>
            <a:off x="10447020" y="4224528"/>
            <a:ext cx="10973" cy="148133"/>
          </a:xfrm>
          <a:prstGeom prst="rect">
            <a:avLst/>
          </a:prstGeom>
          <a:solidFill>
            <a:srgbClr val="E2EAEE"/>
          </a:solidFill>
          <a:ln/>
        </p:spPr>
      </p:sp>
      <p:sp>
        <p:nvSpPr>
          <p:cNvPr id="178" name="Shape 176"/>
          <p:cNvSpPr/>
          <p:nvPr/>
        </p:nvSpPr>
        <p:spPr>
          <a:xfrm>
            <a:off x="9144000" y="4226357"/>
            <a:ext cx="1275588" cy="129845"/>
          </a:xfrm>
          <a:prstGeom prst="roundRect">
            <a:avLst>
              <a:gd name="adj" fmla="val 45775"/>
            </a:avLst>
          </a:prstGeom>
          <a:solidFill>
            <a:srgbClr val="C7D3DA">
              <a:alpha val="75000"/>
            </a:srgbClr>
          </a:solidFill>
          <a:ln/>
        </p:spPr>
      </p:sp>
      <p:sp>
        <p:nvSpPr>
          <p:cNvPr id="179" name="Text 177"/>
          <p:cNvSpPr txBox="1"/>
          <p:nvPr/>
        </p:nvSpPr>
        <p:spPr>
          <a:xfrm>
            <a:off x="9217152" y="4213555"/>
            <a:ext cx="1165860" cy="157277"/>
          </a:xfrm>
          <a:prstGeom prst="rect">
            <a:avLst/>
          </a:prstGeom>
          <a:noFill/>
          <a:ln/>
        </p:spPr>
        <p:txBody>
          <a:bodyPr wrap="square" lIns="0" tIns="0" rIns="0" bIns="0" rtlCol="0" anchor="ctr"/>
          <a:lstStyle/>
          <a:p>
            <a:pPr indent="0" marL="0">
              <a:buNone/>
            </a:pPr>
            <a:r>
              <a:rPr lang="en-US" sz="650" b="1" dirty="0">
                <a:solidFill>
                  <a:srgbClr val="5E7280"/>
                </a:solidFill>
                <a:latin typeface="Poppins" pitchFamily="34" charset="0"/>
                <a:ea typeface="Poppins" pitchFamily="34" charset="-122"/>
                <a:cs typeface="Poppins" pitchFamily="34" charset="-120"/>
              </a:rPr>
              <a:t>Ciaran</a:t>
            </a:r>
            <a:endParaRPr lang="en-US" sz="650" dirty="0"/>
          </a:p>
        </p:txBody>
      </p:sp>
      <p:sp>
        <p:nvSpPr>
          <p:cNvPr id="180" name="Shape 178"/>
          <p:cNvSpPr/>
          <p:nvPr/>
        </p:nvSpPr>
        <p:spPr>
          <a:xfrm>
            <a:off x="411480" y="4381805"/>
            <a:ext cx="11365992" cy="175565"/>
          </a:xfrm>
          <a:prstGeom prst="rect">
            <a:avLst/>
          </a:prstGeom>
          <a:solidFill>
            <a:srgbClr val="FFFFFF"/>
          </a:solidFill>
          <a:ln/>
        </p:spPr>
      </p:sp>
      <p:sp>
        <p:nvSpPr>
          <p:cNvPr id="181" name="Text 179"/>
          <p:cNvSpPr txBox="1"/>
          <p:nvPr/>
        </p:nvSpPr>
        <p:spPr>
          <a:xfrm>
            <a:off x="457200" y="4381805"/>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Unattended Upgrades (released deployment)</a:t>
            </a:r>
            <a:endParaRPr lang="en-US" sz="730" dirty="0"/>
          </a:p>
        </p:txBody>
      </p:sp>
      <p:sp>
        <p:nvSpPr>
          <p:cNvPr id="182" name="Shape 180"/>
          <p:cNvSpPr/>
          <p:nvPr/>
        </p:nvSpPr>
        <p:spPr>
          <a:xfrm>
            <a:off x="3794760" y="4400093"/>
            <a:ext cx="10973" cy="148133"/>
          </a:xfrm>
          <a:prstGeom prst="rect">
            <a:avLst/>
          </a:prstGeom>
          <a:solidFill>
            <a:srgbClr val="E2EAEE"/>
          </a:solidFill>
          <a:ln/>
        </p:spPr>
      </p:sp>
      <p:sp>
        <p:nvSpPr>
          <p:cNvPr id="183" name="Shape 181"/>
          <p:cNvSpPr/>
          <p:nvPr/>
        </p:nvSpPr>
        <p:spPr>
          <a:xfrm>
            <a:off x="5125212" y="4400093"/>
            <a:ext cx="10973" cy="148133"/>
          </a:xfrm>
          <a:prstGeom prst="rect">
            <a:avLst/>
          </a:prstGeom>
          <a:solidFill>
            <a:srgbClr val="E2EAEE"/>
          </a:solidFill>
          <a:ln/>
        </p:spPr>
      </p:sp>
      <p:sp>
        <p:nvSpPr>
          <p:cNvPr id="184" name="Shape 182"/>
          <p:cNvSpPr/>
          <p:nvPr/>
        </p:nvSpPr>
        <p:spPr>
          <a:xfrm>
            <a:off x="6455664" y="4400093"/>
            <a:ext cx="10973" cy="148133"/>
          </a:xfrm>
          <a:prstGeom prst="rect">
            <a:avLst/>
          </a:prstGeom>
          <a:solidFill>
            <a:srgbClr val="E2EAEE"/>
          </a:solidFill>
          <a:ln/>
        </p:spPr>
      </p:sp>
      <p:sp>
        <p:nvSpPr>
          <p:cNvPr id="185" name="Shape 183"/>
          <p:cNvSpPr/>
          <p:nvPr/>
        </p:nvSpPr>
        <p:spPr>
          <a:xfrm>
            <a:off x="7786116" y="4400093"/>
            <a:ext cx="10973" cy="148133"/>
          </a:xfrm>
          <a:prstGeom prst="rect">
            <a:avLst/>
          </a:prstGeom>
          <a:solidFill>
            <a:srgbClr val="E2EAEE"/>
          </a:solidFill>
          <a:ln/>
        </p:spPr>
      </p:sp>
      <p:sp>
        <p:nvSpPr>
          <p:cNvPr id="186" name="Shape 184"/>
          <p:cNvSpPr/>
          <p:nvPr/>
        </p:nvSpPr>
        <p:spPr>
          <a:xfrm>
            <a:off x="9116568" y="4400093"/>
            <a:ext cx="10973" cy="148133"/>
          </a:xfrm>
          <a:prstGeom prst="rect">
            <a:avLst/>
          </a:prstGeom>
          <a:solidFill>
            <a:srgbClr val="E2EAEE"/>
          </a:solidFill>
          <a:ln/>
        </p:spPr>
      </p:sp>
      <p:sp>
        <p:nvSpPr>
          <p:cNvPr id="187" name="Shape 185"/>
          <p:cNvSpPr/>
          <p:nvPr/>
        </p:nvSpPr>
        <p:spPr>
          <a:xfrm>
            <a:off x="10447020" y="4400093"/>
            <a:ext cx="10973" cy="148133"/>
          </a:xfrm>
          <a:prstGeom prst="rect">
            <a:avLst/>
          </a:prstGeom>
          <a:solidFill>
            <a:srgbClr val="E2EAEE"/>
          </a:solidFill>
          <a:ln/>
        </p:spPr>
      </p:sp>
      <p:sp>
        <p:nvSpPr>
          <p:cNvPr id="188" name="Shape 186"/>
          <p:cNvSpPr/>
          <p:nvPr/>
        </p:nvSpPr>
        <p:spPr>
          <a:xfrm>
            <a:off x="3822192" y="4401922"/>
            <a:ext cx="3936492" cy="129845"/>
          </a:xfrm>
          <a:prstGeom prst="roundRect">
            <a:avLst>
              <a:gd name="adj" fmla="val 45775"/>
            </a:avLst>
          </a:prstGeom>
          <a:solidFill>
            <a:srgbClr val="C88A2E"/>
          </a:solidFill>
          <a:ln/>
        </p:spPr>
      </p:sp>
      <p:sp>
        <p:nvSpPr>
          <p:cNvPr id="189" name="Text 187"/>
          <p:cNvSpPr txBox="1"/>
          <p:nvPr/>
        </p:nvSpPr>
        <p:spPr>
          <a:xfrm>
            <a:off x="3895344" y="4389120"/>
            <a:ext cx="3826764"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Dave</a:t>
            </a:r>
            <a:endParaRPr lang="en-US" sz="650" dirty="0"/>
          </a:p>
        </p:txBody>
      </p:sp>
      <p:sp>
        <p:nvSpPr>
          <p:cNvPr id="190" name="Text 188"/>
          <p:cNvSpPr txBox="1"/>
          <p:nvPr/>
        </p:nvSpPr>
        <p:spPr>
          <a:xfrm>
            <a:off x="457200" y="4557370"/>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H&amp;L Pay - Tyro Parity</a:t>
            </a:r>
            <a:endParaRPr lang="en-US" sz="730" dirty="0"/>
          </a:p>
        </p:txBody>
      </p:sp>
      <p:sp>
        <p:nvSpPr>
          <p:cNvPr id="191" name="Shape 189"/>
          <p:cNvSpPr/>
          <p:nvPr/>
        </p:nvSpPr>
        <p:spPr>
          <a:xfrm>
            <a:off x="3794760" y="4575658"/>
            <a:ext cx="10973" cy="148133"/>
          </a:xfrm>
          <a:prstGeom prst="rect">
            <a:avLst/>
          </a:prstGeom>
          <a:solidFill>
            <a:srgbClr val="E2EAEE"/>
          </a:solidFill>
          <a:ln/>
        </p:spPr>
      </p:sp>
      <p:sp>
        <p:nvSpPr>
          <p:cNvPr id="192" name="Shape 190"/>
          <p:cNvSpPr/>
          <p:nvPr/>
        </p:nvSpPr>
        <p:spPr>
          <a:xfrm>
            <a:off x="5125212" y="4575658"/>
            <a:ext cx="10973" cy="148133"/>
          </a:xfrm>
          <a:prstGeom prst="rect">
            <a:avLst/>
          </a:prstGeom>
          <a:solidFill>
            <a:srgbClr val="E2EAEE"/>
          </a:solidFill>
          <a:ln/>
        </p:spPr>
      </p:sp>
      <p:sp>
        <p:nvSpPr>
          <p:cNvPr id="193" name="Shape 191"/>
          <p:cNvSpPr/>
          <p:nvPr/>
        </p:nvSpPr>
        <p:spPr>
          <a:xfrm>
            <a:off x="6455664" y="4575658"/>
            <a:ext cx="10973" cy="148133"/>
          </a:xfrm>
          <a:prstGeom prst="rect">
            <a:avLst/>
          </a:prstGeom>
          <a:solidFill>
            <a:srgbClr val="E2EAEE"/>
          </a:solidFill>
          <a:ln/>
        </p:spPr>
      </p:sp>
      <p:sp>
        <p:nvSpPr>
          <p:cNvPr id="194" name="Shape 192"/>
          <p:cNvSpPr/>
          <p:nvPr/>
        </p:nvSpPr>
        <p:spPr>
          <a:xfrm>
            <a:off x="7786116" y="4575658"/>
            <a:ext cx="10973" cy="148133"/>
          </a:xfrm>
          <a:prstGeom prst="rect">
            <a:avLst/>
          </a:prstGeom>
          <a:solidFill>
            <a:srgbClr val="E2EAEE"/>
          </a:solidFill>
          <a:ln/>
        </p:spPr>
      </p:sp>
      <p:sp>
        <p:nvSpPr>
          <p:cNvPr id="195" name="Shape 193"/>
          <p:cNvSpPr/>
          <p:nvPr/>
        </p:nvSpPr>
        <p:spPr>
          <a:xfrm>
            <a:off x="9116568" y="4575658"/>
            <a:ext cx="10973" cy="148133"/>
          </a:xfrm>
          <a:prstGeom prst="rect">
            <a:avLst/>
          </a:prstGeom>
          <a:solidFill>
            <a:srgbClr val="E2EAEE"/>
          </a:solidFill>
          <a:ln/>
        </p:spPr>
      </p:sp>
      <p:sp>
        <p:nvSpPr>
          <p:cNvPr id="196" name="Shape 194"/>
          <p:cNvSpPr/>
          <p:nvPr/>
        </p:nvSpPr>
        <p:spPr>
          <a:xfrm>
            <a:off x="10447020" y="4575658"/>
            <a:ext cx="10973" cy="148133"/>
          </a:xfrm>
          <a:prstGeom prst="rect">
            <a:avLst/>
          </a:prstGeom>
          <a:solidFill>
            <a:srgbClr val="E2EAEE"/>
          </a:solidFill>
          <a:ln/>
        </p:spPr>
      </p:sp>
      <p:sp>
        <p:nvSpPr>
          <p:cNvPr id="197" name="Shape 195"/>
          <p:cNvSpPr/>
          <p:nvPr/>
        </p:nvSpPr>
        <p:spPr>
          <a:xfrm>
            <a:off x="5152644" y="4577486"/>
            <a:ext cx="6597396" cy="129845"/>
          </a:xfrm>
          <a:prstGeom prst="roundRect">
            <a:avLst>
              <a:gd name="adj" fmla="val 45775"/>
            </a:avLst>
          </a:prstGeom>
          <a:solidFill>
            <a:srgbClr val="B4552D"/>
          </a:solidFill>
          <a:ln/>
        </p:spPr>
      </p:sp>
      <p:sp>
        <p:nvSpPr>
          <p:cNvPr id="198" name="Text 196"/>
          <p:cNvSpPr txBox="1"/>
          <p:nvPr/>
        </p:nvSpPr>
        <p:spPr>
          <a:xfrm>
            <a:off x="5225796" y="4564685"/>
            <a:ext cx="6487668"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Valpay</a:t>
            </a:r>
            <a:endParaRPr lang="en-US" sz="650" dirty="0"/>
          </a:p>
        </p:txBody>
      </p:sp>
      <p:sp>
        <p:nvSpPr>
          <p:cNvPr id="199" name="Shape 197"/>
          <p:cNvSpPr/>
          <p:nvPr/>
        </p:nvSpPr>
        <p:spPr>
          <a:xfrm>
            <a:off x="411480" y="4732934"/>
            <a:ext cx="11365992" cy="175565"/>
          </a:xfrm>
          <a:prstGeom prst="rect">
            <a:avLst/>
          </a:prstGeom>
          <a:solidFill>
            <a:srgbClr val="FFFFFF"/>
          </a:solidFill>
          <a:ln/>
        </p:spPr>
      </p:sp>
      <p:sp>
        <p:nvSpPr>
          <p:cNvPr id="200" name="Text 198"/>
          <p:cNvSpPr txBox="1"/>
          <p:nvPr/>
        </p:nvSpPr>
        <p:spPr>
          <a:xfrm>
            <a:off x="457200" y="4732934"/>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QR Code Ordering</a:t>
            </a:r>
            <a:endParaRPr lang="en-US" sz="730" dirty="0"/>
          </a:p>
        </p:txBody>
      </p:sp>
      <p:sp>
        <p:nvSpPr>
          <p:cNvPr id="201" name="Shape 199"/>
          <p:cNvSpPr/>
          <p:nvPr/>
        </p:nvSpPr>
        <p:spPr>
          <a:xfrm>
            <a:off x="3794760" y="4751222"/>
            <a:ext cx="10973" cy="148133"/>
          </a:xfrm>
          <a:prstGeom prst="rect">
            <a:avLst/>
          </a:prstGeom>
          <a:solidFill>
            <a:srgbClr val="E2EAEE"/>
          </a:solidFill>
          <a:ln/>
        </p:spPr>
      </p:sp>
      <p:sp>
        <p:nvSpPr>
          <p:cNvPr id="202" name="Shape 200"/>
          <p:cNvSpPr/>
          <p:nvPr/>
        </p:nvSpPr>
        <p:spPr>
          <a:xfrm>
            <a:off x="5125212" y="4751222"/>
            <a:ext cx="10973" cy="148133"/>
          </a:xfrm>
          <a:prstGeom prst="rect">
            <a:avLst/>
          </a:prstGeom>
          <a:solidFill>
            <a:srgbClr val="E2EAEE"/>
          </a:solidFill>
          <a:ln/>
        </p:spPr>
      </p:sp>
      <p:sp>
        <p:nvSpPr>
          <p:cNvPr id="203" name="Shape 201"/>
          <p:cNvSpPr/>
          <p:nvPr/>
        </p:nvSpPr>
        <p:spPr>
          <a:xfrm>
            <a:off x="6455664" y="4751222"/>
            <a:ext cx="10973" cy="148133"/>
          </a:xfrm>
          <a:prstGeom prst="rect">
            <a:avLst/>
          </a:prstGeom>
          <a:solidFill>
            <a:srgbClr val="E2EAEE"/>
          </a:solidFill>
          <a:ln/>
        </p:spPr>
      </p:sp>
      <p:sp>
        <p:nvSpPr>
          <p:cNvPr id="204" name="Shape 202"/>
          <p:cNvSpPr/>
          <p:nvPr/>
        </p:nvSpPr>
        <p:spPr>
          <a:xfrm>
            <a:off x="7786116" y="4751222"/>
            <a:ext cx="10973" cy="148133"/>
          </a:xfrm>
          <a:prstGeom prst="rect">
            <a:avLst/>
          </a:prstGeom>
          <a:solidFill>
            <a:srgbClr val="E2EAEE"/>
          </a:solidFill>
          <a:ln/>
        </p:spPr>
      </p:sp>
      <p:sp>
        <p:nvSpPr>
          <p:cNvPr id="205" name="Shape 203"/>
          <p:cNvSpPr/>
          <p:nvPr/>
        </p:nvSpPr>
        <p:spPr>
          <a:xfrm>
            <a:off x="9116568" y="4751222"/>
            <a:ext cx="10973" cy="148133"/>
          </a:xfrm>
          <a:prstGeom prst="rect">
            <a:avLst/>
          </a:prstGeom>
          <a:solidFill>
            <a:srgbClr val="E2EAEE"/>
          </a:solidFill>
          <a:ln/>
        </p:spPr>
      </p:sp>
      <p:sp>
        <p:nvSpPr>
          <p:cNvPr id="206" name="Shape 204"/>
          <p:cNvSpPr/>
          <p:nvPr/>
        </p:nvSpPr>
        <p:spPr>
          <a:xfrm>
            <a:off x="10447020" y="4751222"/>
            <a:ext cx="10973" cy="148133"/>
          </a:xfrm>
          <a:prstGeom prst="rect">
            <a:avLst/>
          </a:prstGeom>
          <a:solidFill>
            <a:srgbClr val="E2EAEE"/>
          </a:solidFill>
          <a:ln/>
        </p:spPr>
      </p:sp>
      <p:sp>
        <p:nvSpPr>
          <p:cNvPr id="207" name="Shape 205"/>
          <p:cNvSpPr/>
          <p:nvPr/>
        </p:nvSpPr>
        <p:spPr>
          <a:xfrm>
            <a:off x="3822192" y="4753051"/>
            <a:ext cx="7927848" cy="129845"/>
          </a:xfrm>
          <a:prstGeom prst="roundRect">
            <a:avLst>
              <a:gd name="adj" fmla="val 45775"/>
            </a:avLst>
          </a:prstGeom>
          <a:solidFill>
            <a:srgbClr val="C88A2E"/>
          </a:solidFill>
          <a:ln/>
        </p:spPr>
      </p:sp>
      <p:sp>
        <p:nvSpPr>
          <p:cNvPr id="208" name="Text 206"/>
          <p:cNvSpPr txBox="1"/>
          <p:nvPr/>
        </p:nvSpPr>
        <p:spPr>
          <a:xfrm>
            <a:off x="3895344" y="4740250"/>
            <a:ext cx="7818120"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Tony</a:t>
            </a:r>
            <a:endParaRPr lang="en-US" sz="650" dirty="0"/>
          </a:p>
        </p:txBody>
      </p:sp>
      <p:sp>
        <p:nvSpPr>
          <p:cNvPr id="209" name="Text 207"/>
          <p:cNvSpPr txBox="1"/>
          <p:nvPr/>
        </p:nvSpPr>
        <p:spPr>
          <a:xfrm>
            <a:off x="457200" y="4908499"/>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Mobile POS - Native Apps</a:t>
            </a:r>
            <a:endParaRPr lang="en-US" sz="730" dirty="0"/>
          </a:p>
        </p:txBody>
      </p:sp>
      <p:sp>
        <p:nvSpPr>
          <p:cNvPr id="210" name="Shape 208"/>
          <p:cNvSpPr/>
          <p:nvPr/>
        </p:nvSpPr>
        <p:spPr>
          <a:xfrm>
            <a:off x="3794760" y="4926787"/>
            <a:ext cx="10973" cy="148133"/>
          </a:xfrm>
          <a:prstGeom prst="rect">
            <a:avLst/>
          </a:prstGeom>
          <a:solidFill>
            <a:srgbClr val="E2EAEE"/>
          </a:solidFill>
          <a:ln/>
        </p:spPr>
      </p:sp>
      <p:sp>
        <p:nvSpPr>
          <p:cNvPr id="211" name="Shape 209"/>
          <p:cNvSpPr/>
          <p:nvPr/>
        </p:nvSpPr>
        <p:spPr>
          <a:xfrm>
            <a:off x="5125212" y="4926787"/>
            <a:ext cx="10973" cy="148133"/>
          </a:xfrm>
          <a:prstGeom prst="rect">
            <a:avLst/>
          </a:prstGeom>
          <a:solidFill>
            <a:srgbClr val="E2EAEE"/>
          </a:solidFill>
          <a:ln/>
        </p:spPr>
      </p:sp>
      <p:sp>
        <p:nvSpPr>
          <p:cNvPr id="212" name="Shape 210"/>
          <p:cNvSpPr/>
          <p:nvPr/>
        </p:nvSpPr>
        <p:spPr>
          <a:xfrm>
            <a:off x="6455664" y="4926787"/>
            <a:ext cx="10973" cy="148133"/>
          </a:xfrm>
          <a:prstGeom prst="rect">
            <a:avLst/>
          </a:prstGeom>
          <a:solidFill>
            <a:srgbClr val="E2EAEE"/>
          </a:solidFill>
          <a:ln/>
        </p:spPr>
      </p:sp>
      <p:sp>
        <p:nvSpPr>
          <p:cNvPr id="213" name="Shape 211"/>
          <p:cNvSpPr/>
          <p:nvPr/>
        </p:nvSpPr>
        <p:spPr>
          <a:xfrm>
            <a:off x="7786116" y="4926787"/>
            <a:ext cx="10973" cy="148133"/>
          </a:xfrm>
          <a:prstGeom prst="rect">
            <a:avLst/>
          </a:prstGeom>
          <a:solidFill>
            <a:srgbClr val="E2EAEE"/>
          </a:solidFill>
          <a:ln/>
        </p:spPr>
      </p:sp>
      <p:sp>
        <p:nvSpPr>
          <p:cNvPr id="214" name="Shape 212"/>
          <p:cNvSpPr/>
          <p:nvPr/>
        </p:nvSpPr>
        <p:spPr>
          <a:xfrm>
            <a:off x="9116568" y="4926787"/>
            <a:ext cx="10973" cy="148133"/>
          </a:xfrm>
          <a:prstGeom prst="rect">
            <a:avLst/>
          </a:prstGeom>
          <a:solidFill>
            <a:srgbClr val="E2EAEE"/>
          </a:solidFill>
          <a:ln/>
        </p:spPr>
      </p:sp>
      <p:sp>
        <p:nvSpPr>
          <p:cNvPr id="215" name="Shape 213"/>
          <p:cNvSpPr/>
          <p:nvPr/>
        </p:nvSpPr>
        <p:spPr>
          <a:xfrm>
            <a:off x="10447020" y="4926787"/>
            <a:ext cx="10973" cy="148133"/>
          </a:xfrm>
          <a:prstGeom prst="rect">
            <a:avLst/>
          </a:prstGeom>
          <a:solidFill>
            <a:srgbClr val="E2EAEE"/>
          </a:solidFill>
          <a:ln/>
        </p:spPr>
      </p:sp>
      <p:sp>
        <p:nvSpPr>
          <p:cNvPr id="216" name="Shape 214"/>
          <p:cNvSpPr/>
          <p:nvPr/>
        </p:nvSpPr>
        <p:spPr>
          <a:xfrm>
            <a:off x="3822192" y="4928616"/>
            <a:ext cx="3936492" cy="129845"/>
          </a:xfrm>
          <a:prstGeom prst="roundRect">
            <a:avLst>
              <a:gd name="adj" fmla="val 45775"/>
            </a:avLst>
          </a:prstGeom>
          <a:solidFill>
            <a:srgbClr val="C88A2E"/>
          </a:solidFill>
          <a:ln/>
        </p:spPr>
      </p:sp>
      <p:sp>
        <p:nvSpPr>
          <p:cNvPr id="217" name="Text 215"/>
          <p:cNvSpPr txBox="1"/>
          <p:nvPr/>
        </p:nvSpPr>
        <p:spPr>
          <a:xfrm>
            <a:off x="3895344" y="4915814"/>
            <a:ext cx="3826764"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Nidhi, Eric</a:t>
            </a:r>
            <a:endParaRPr lang="en-US" sz="650" dirty="0"/>
          </a:p>
        </p:txBody>
      </p:sp>
      <p:sp>
        <p:nvSpPr>
          <p:cNvPr id="218" name="Shape 216"/>
          <p:cNvSpPr/>
          <p:nvPr/>
        </p:nvSpPr>
        <p:spPr>
          <a:xfrm>
            <a:off x="411480" y="5084064"/>
            <a:ext cx="11365992" cy="175565"/>
          </a:xfrm>
          <a:prstGeom prst="rect">
            <a:avLst/>
          </a:prstGeom>
          <a:solidFill>
            <a:srgbClr val="FFFFFF"/>
          </a:solidFill>
          <a:ln/>
        </p:spPr>
      </p:sp>
      <p:sp>
        <p:nvSpPr>
          <p:cNvPr id="219" name="Text 217"/>
          <p:cNvSpPr txBox="1"/>
          <p:nvPr/>
        </p:nvSpPr>
        <p:spPr>
          <a:xfrm>
            <a:off x="457200" y="5084064"/>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Mobile POS - Adyen Native SDK</a:t>
            </a:r>
            <a:endParaRPr lang="en-US" sz="730" dirty="0"/>
          </a:p>
        </p:txBody>
      </p:sp>
      <p:sp>
        <p:nvSpPr>
          <p:cNvPr id="220" name="Shape 218"/>
          <p:cNvSpPr/>
          <p:nvPr/>
        </p:nvSpPr>
        <p:spPr>
          <a:xfrm>
            <a:off x="3794760" y="5102352"/>
            <a:ext cx="10973" cy="148133"/>
          </a:xfrm>
          <a:prstGeom prst="rect">
            <a:avLst/>
          </a:prstGeom>
          <a:solidFill>
            <a:srgbClr val="E2EAEE"/>
          </a:solidFill>
          <a:ln/>
        </p:spPr>
      </p:sp>
      <p:sp>
        <p:nvSpPr>
          <p:cNvPr id="221" name="Shape 219"/>
          <p:cNvSpPr/>
          <p:nvPr/>
        </p:nvSpPr>
        <p:spPr>
          <a:xfrm>
            <a:off x="5125212" y="5102352"/>
            <a:ext cx="10973" cy="148133"/>
          </a:xfrm>
          <a:prstGeom prst="rect">
            <a:avLst/>
          </a:prstGeom>
          <a:solidFill>
            <a:srgbClr val="E2EAEE"/>
          </a:solidFill>
          <a:ln/>
        </p:spPr>
      </p:sp>
      <p:sp>
        <p:nvSpPr>
          <p:cNvPr id="222" name="Shape 220"/>
          <p:cNvSpPr/>
          <p:nvPr/>
        </p:nvSpPr>
        <p:spPr>
          <a:xfrm>
            <a:off x="6455664" y="5102352"/>
            <a:ext cx="10973" cy="148133"/>
          </a:xfrm>
          <a:prstGeom prst="rect">
            <a:avLst/>
          </a:prstGeom>
          <a:solidFill>
            <a:srgbClr val="E2EAEE"/>
          </a:solidFill>
          <a:ln/>
        </p:spPr>
      </p:sp>
      <p:sp>
        <p:nvSpPr>
          <p:cNvPr id="223" name="Shape 221"/>
          <p:cNvSpPr/>
          <p:nvPr/>
        </p:nvSpPr>
        <p:spPr>
          <a:xfrm>
            <a:off x="7786116" y="5102352"/>
            <a:ext cx="10973" cy="148133"/>
          </a:xfrm>
          <a:prstGeom prst="rect">
            <a:avLst/>
          </a:prstGeom>
          <a:solidFill>
            <a:srgbClr val="E2EAEE"/>
          </a:solidFill>
          <a:ln/>
        </p:spPr>
      </p:sp>
      <p:sp>
        <p:nvSpPr>
          <p:cNvPr id="224" name="Shape 222"/>
          <p:cNvSpPr/>
          <p:nvPr/>
        </p:nvSpPr>
        <p:spPr>
          <a:xfrm>
            <a:off x="9116568" y="5102352"/>
            <a:ext cx="10973" cy="148133"/>
          </a:xfrm>
          <a:prstGeom prst="rect">
            <a:avLst/>
          </a:prstGeom>
          <a:solidFill>
            <a:srgbClr val="E2EAEE"/>
          </a:solidFill>
          <a:ln/>
        </p:spPr>
      </p:sp>
      <p:sp>
        <p:nvSpPr>
          <p:cNvPr id="225" name="Shape 223"/>
          <p:cNvSpPr/>
          <p:nvPr/>
        </p:nvSpPr>
        <p:spPr>
          <a:xfrm>
            <a:off x="10447020" y="5102352"/>
            <a:ext cx="10973" cy="148133"/>
          </a:xfrm>
          <a:prstGeom prst="rect">
            <a:avLst/>
          </a:prstGeom>
          <a:solidFill>
            <a:srgbClr val="E2EAEE"/>
          </a:solidFill>
          <a:ln/>
        </p:spPr>
      </p:sp>
      <p:sp>
        <p:nvSpPr>
          <p:cNvPr id="226" name="Shape 224"/>
          <p:cNvSpPr/>
          <p:nvPr/>
        </p:nvSpPr>
        <p:spPr>
          <a:xfrm>
            <a:off x="3822192" y="5104181"/>
            <a:ext cx="3936492" cy="129845"/>
          </a:xfrm>
          <a:prstGeom prst="roundRect">
            <a:avLst>
              <a:gd name="adj" fmla="val 45775"/>
            </a:avLst>
          </a:prstGeom>
          <a:solidFill>
            <a:srgbClr val="C88A2E"/>
          </a:solidFill>
          <a:ln/>
        </p:spPr>
      </p:sp>
      <p:sp>
        <p:nvSpPr>
          <p:cNvPr id="227" name="Text 225"/>
          <p:cNvSpPr txBox="1"/>
          <p:nvPr/>
        </p:nvSpPr>
        <p:spPr>
          <a:xfrm>
            <a:off x="3895344" y="5091379"/>
            <a:ext cx="3826764"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Nidhi, Eric</a:t>
            </a:r>
            <a:endParaRPr lang="en-US" sz="650" dirty="0"/>
          </a:p>
        </p:txBody>
      </p:sp>
      <p:sp>
        <p:nvSpPr>
          <p:cNvPr id="228" name="Text 226"/>
          <p:cNvSpPr txBox="1"/>
          <p:nvPr/>
        </p:nvSpPr>
        <p:spPr>
          <a:xfrm>
            <a:off x="457200" y="5259629"/>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Mobile POS - Tyro Tap to Pay</a:t>
            </a:r>
            <a:endParaRPr lang="en-US" sz="730" dirty="0"/>
          </a:p>
        </p:txBody>
      </p:sp>
      <p:sp>
        <p:nvSpPr>
          <p:cNvPr id="229" name="Shape 227"/>
          <p:cNvSpPr/>
          <p:nvPr/>
        </p:nvSpPr>
        <p:spPr>
          <a:xfrm>
            <a:off x="3794760" y="5277917"/>
            <a:ext cx="10973" cy="148133"/>
          </a:xfrm>
          <a:prstGeom prst="rect">
            <a:avLst/>
          </a:prstGeom>
          <a:solidFill>
            <a:srgbClr val="E2EAEE"/>
          </a:solidFill>
          <a:ln/>
        </p:spPr>
      </p:sp>
      <p:sp>
        <p:nvSpPr>
          <p:cNvPr id="230" name="Shape 228"/>
          <p:cNvSpPr/>
          <p:nvPr/>
        </p:nvSpPr>
        <p:spPr>
          <a:xfrm>
            <a:off x="5125212" y="5277917"/>
            <a:ext cx="10973" cy="148133"/>
          </a:xfrm>
          <a:prstGeom prst="rect">
            <a:avLst/>
          </a:prstGeom>
          <a:solidFill>
            <a:srgbClr val="E2EAEE"/>
          </a:solidFill>
          <a:ln/>
        </p:spPr>
      </p:sp>
      <p:sp>
        <p:nvSpPr>
          <p:cNvPr id="231" name="Shape 229"/>
          <p:cNvSpPr/>
          <p:nvPr/>
        </p:nvSpPr>
        <p:spPr>
          <a:xfrm>
            <a:off x="6455664" y="5277917"/>
            <a:ext cx="10973" cy="148133"/>
          </a:xfrm>
          <a:prstGeom prst="rect">
            <a:avLst/>
          </a:prstGeom>
          <a:solidFill>
            <a:srgbClr val="E2EAEE"/>
          </a:solidFill>
          <a:ln/>
        </p:spPr>
      </p:sp>
      <p:sp>
        <p:nvSpPr>
          <p:cNvPr id="232" name="Shape 230"/>
          <p:cNvSpPr/>
          <p:nvPr/>
        </p:nvSpPr>
        <p:spPr>
          <a:xfrm>
            <a:off x="7786116" y="5277917"/>
            <a:ext cx="10973" cy="148133"/>
          </a:xfrm>
          <a:prstGeom prst="rect">
            <a:avLst/>
          </a:prstGeom>
          <a:solidFill>
            <a:srgbClr val="E2EAEE"/>
          </a:solidFill>
          <a:ln/>
        </p:spPr>
      </p:sp>
      <p:sp>
        <p:nvSpPr>
          <p:cNvPr id="233" name="Shape 231"/>
          <p:cNvSpPr/>
          <p:nvPr/>
        </p:nvSpPr>
        <p:spPr>
          <a:xfrm>
            <a:off x="9116568" y="5277917"/>
            <a:ext cx="10973" cy="148133"/>
          </a:xfrm>
          <a:prstGeom prst="rect">
            <a:avLst/>
          </a:prstGeom>
          <a:solidFill>
            <a:srgbClr val="E2EAEE"/>
          </a:solidFill>
          <a:ln/>
        </p:spPr>
      </p:sp>
      <p:sp>
        <p:nvSpPr>
          <p:cNvPr id="234" name="Shape 232"/>
          <p:cNvSpPr/>
          <p:nvPr/>
        </p:nvSpPr>
        <p:spPr>
          <a:xfrm>
            <a:off x="10447020" y="5277917"/>
            <a:ext cx="10973" cy="148133"/>
          </a:xfrm>
          <a:prstGeom prst="rect">
            <a:avLst/>
          </a:prstGeom>
          <a:solidFill>
            <a:srgbClr val="E2EAEE"/>
          </a:solidFill>
          <a:ln/>
        </p:spPr>
      </p:sp>
      <p:sp>
        <p:nvSpPr>
          <p:cNvPr id="235" name="Shape 233"/>
          <p:cNvSpPr/>
          <p:nvPr/>
        </p:nvSpPr>
        <p:spPr>
          <a:xfrm>
            <a:off x="3822192" y="5279746"/>
            <a:ext cx="3936492" cy="129845"/>
          </a:xfrm>
          <a:prstGeom prst="roundRect">
            <a:avLst>
              <a:gd name="adj" fmla="val 45775"/>
            </a:avLst>
          </a:prstGeom>
          <a:solidFill>
            <a:srgbClr val="C88A2E"/>
          </a:solidFill>
          <a:ln/>
        </p:spPr>
      </p:sp>
      <p:sp>
        <p:nvSpPr>
          <p:cNvPr id="236" name="Text 234"/>
          <p:cNvSpPr txBox="1"/>
          <p:nvPr/>
        </p:nvSpPr>
        <p:spPr>
          <a:xfrm>
            <a:off x="3895344" y="5266944"/>
            <a:ext cx="3826764"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Nidhi, Eric</a:t>
            </a:r>
            <a:endParaRPr lang="en-US" sz="650" dirty="0"/>
          </a:p>
        </p:txBody>
      </p:sp>
      <p:sp>
        <p:nvSpPr>
          <p:cNvPr id="237" name="Shape 235"/>
          <p:cNvSpPr/>
          <p:nvPr/>
        </p:nvSpPr>
        <p:spPr>
          <a:xfrm>
            <a:off x="411480" y="5435194"/>
            <a:ext cx="11365992" cy="175565"/>
          </a:xfrm>
          <a:prstGeom prst="rect">
            <a:avLst/>
          </a:prstGeom>
          <a:solidFill>
            <a:srgbClr val="FFFFFF"/>
          </a:solidFill>
          <a:ln/>
        </p:spPr>
      </p:sp>
      <p:sp>
        <p:nvSpPr>
          <p:cNvPr id="238" name="Text 236"/>
          <p:cNvSpPr txBox="1"/>
          <p:nvPr/>
        </p:nvSpPr>
        <p:spPr>
          <a:xfrm>
            <a:off x="457200" y="5435194"/>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Mobile POS - Floorplan</a:t>
            </a:r>
            <a:endParaRPr lang="en-US" sz="730" dirty="0"/>
          </a:p>
        </p:txBody>
      </p:sp>
      <p:sp>
        <p:nvSpPr>
          <p:cNvPr id="239" name="Shape 237"/>
          <p:cNvSpPr/>
          <p:nvPr/>
        </p:nvSpPr>
        <p:spPr>
          <a:xfrm>
            <a:off x="3794760" y="5453482"/>
            <a:ext cx="10973" cy="148133"/>
          </a:xfrm>
          <a:prstGeom prst="rect">
            <a:avLst/>
          </a:prstGeom>
          <a:solidFill>
            <a:srgbClr val="E2EAEE"/>
          </a:solidFill>
          <a:ln/>
        </p:spPr>
      </p:sp>
      <p:sp>
        <p:nvSpPr>
          <p:cNvPr id="240" name="Shape 238"/>
          <p:cNvSpPr/>
          <p:nvPr/>
        </p:nvSpPr>
        <p:spPr>
          <a:xfrm>
            <a:off x="5125212" y="5453482"/>
            <a:ext cx="10973" cy="148133"/>
          </a:xfrm>
          <a:prstGeom prst="rect">
            <a:avLst/>
          </a:prstGeom>
          <a:solidFill>
            <a:srgbClr val="E2EAEE"/>
          </a:solidFill>
          <a:ln/>
        </p:spPr>
      </p:sp>
      <p:sp>
        <p:nvSpPr>
          <p:cNvPr id="241" name="Shape 239"/>
          <p:cNvSpPr/>
          <p:nvPr/>
        </p:nvSpPr>
        <p:spPr>
          <a:xfrm>
            <a:off x="6455664" y="5453482"/>
            <a:ext cx="10973" cy="148133"/>
          </a:xfrm>
          <a:prstGeom prst="rect">
            <a:avLst/>
          </a:prstGeom>
          <a:solidFill>
            <a:srgbClr val="E2EAEE"/>
          </a:solidFill>
          <a:ln/>
        </p:spPr>
      </p:sp>
      <p:sp>
        <p:nvSpPr>
          <p:cNvPr id="242" name="Shape 240"/>
          <p:cNvSpPr/>
          <p:nvPr/>
        </p:nvSpPr>
        <p:spPr>
          <a:xfrm>
            <a:off x="7786116" y="5453482"/>
            <a:ext cx="10973" cy="148133"/>
          </a:xfrm>
          <a:prstGeom prst="rect">
            <a:avLst/>
          </a:prstGeom>
          <a:solidFill>
            <a:srgbClr val="E2EAEE"/>
          </a:solidFill>
          <a:ln/>
        </p:spPr>
      </p:sp>
      <p:sp>
        <p:nvSpPr>
          <p:cNvPr id="243" name="Shape 241"/>
          <p:cNvSpPr/>
          <p:nvPr/>
        </p:nvSpPr>
        <p:spPr>
          <a:xfrm>
            <a:off x="9116568" y="5453482"/>
            <a:ext cx="10973" cy="148133"/>
          </a:xfrm>
          <a:prstGeom prst="rect">
            <a:avLst/>
          </a:prstGeom>
          <a:solidFill>
            <a:srgbClr val="E2EAEE"/>
          </a:solidFill>
          <a:ln/>
        </p:spPr>
      </p:sp>
      <p:sp>
        <p:nvSpPr>
          <p:cNvPr id="244" name="Shape 242"/>
          <p:cNvSpPr/>
          <p:nvPr/>
        </p:nvSpPr>
        <p:spPr>
          <a:xfrm>
            <a:off x="10447020" y="5453482"/>
            <a:ext cx="10973" cy="148133"/>
          </a:xfrm>
          <a:prstGeom prst="rect">
            <a:avLst/>
          </a:prstGeom>
          <a:solidFill>
            <a:srgbClr val="E2EAEE"/>
          </a:solidFill>
          <a:ln/>
        </p:spPr>
      </p:sp>
      <p:sp>
        <p:nvSpPr>
          <p:cNvPr id="245" name="Shape 243"/>
          <p:cNvSpPr/>
          <p:nvPr/>
        </p:nvSpPr>
        <p:spPr>
          <a:xfrm>
            <a:off x="3822192" y="5455310"/>
            <a:ext cx="1275588" cy="129845"/>
          </a:xfrm>
          <a:prstGeom prst="roundRect">
            <a:avLst>
              <a:gd name="adj" fmla="val 45775"/>
            </a:avLst>
          </a:prstGeom>
          <a:solidFill>
            <a:srgbClr val="C88A2E"/>
          </a:solidFill>
          <a:ln/>
        </p:spPr>
      </p:sp>
      <p:sp>
        <p:nvSpPr>
          <p:cNvPr id="246" name="Text 244"/>
          <p:cNvSpPr txBox="1"/>
          <p:nvPr/>
        </p:nvSpPr>
        <p:spPr>
          <a:xfrm>
            <a:off x="3895344" y="5442509"/>
            <a:ext cx="1165860"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Nidhi</a:t>
            </a:r>
            <a:endParaRPr lang="en-US" sz="650" dirty="0"/>
          </a:p>
        </p:txBody>
      </p:sp>
      <p:sp>
        <p:nvSpPr>
          <p:cNvPr id="247" name="Text 245"/>
          <p:cNvSpPr txBox="1"/>
          <p:nvPr/>
        </p:nvSpPr>
        <p:spPr>
          <a:xfrm>
            <a:off x="457200" y="5610758"/>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Mobile POS - The Pass Integration</a:t>
            </a:r>
            <a:endParaRPr lang="en-US" sz="730" dirty="0"/>
          </a:p>
        </p:txBody>
      </p:sp>
      <p:sp>
        <p:nvSpPr>
          <p:cNvPr id="248" name="Shape 246"/>
          <p:cNvSpPr/>
          <p:nvPr/>
        </p:nvSpPr>
        <p:spPr>
          <a:xfrm>
            <a:off x="3794760" y="5629046"/>
            <a:ext cx="10973" cy="148133"/>
          </a:xfrm>
          <a:prstGeom prst="rect">
            <a:avLst/>
          </a:prstGeom>
          <a:solidFill>
            <a:srgbClr val="E2EAEE"/>
          </a:solidFill>
          <a:ln/>
        </p:spPr>
      </p:sp>
      <p:sp>
        <p:nvSpPr>
          <p:cNvPr id="249" name="Shape 247"/>
          <p:cNvSpPr/>
          <p:nvPr/>
        </p:nvSpPr>
        <p:spPr>
          <a:xfrm>
            <a:off x="5125212" y="5629046"/>
            <a:ext cx="10973" cy="148133"/>
          </a:xfrm>
          <a:prstGeom prst="rect">
            <a:avLst/>
          </a:prstGeom>
          <a:solidFill>
            <a:srgbClr val="E2EAEE"/>
          </a:solidFill>
          <a:ln/>
        </p:spPr>
      </p:sp>
      <p:sp>
        <p:nvSpPr>
          <p:cNvPr id="250" name="Shape 248"/>
          <p:cNvSpPr/>
          <p:nvPr/>
        </p:nvSpPr>
        <p:spPr>
          <a:xfrm>
            <a:off x="6455664" y="5629046"/>
            <a:ext cx="10973" cy="148133"/>
          </a:xfrm>
          <a:prstGeom prst="rect">
            <a:avLst/>
          </a:prstGeom>
          <a:solidFill>
            <a:srgbClr val="E2EAEE"/>
          </a:solidFill>
          <a:ln/>
        </p:spPr>
      </p:sp>
      <p:sp>
        <p:nvSpPr>
          <p:cNvPr id="251" name="Shape 249"/>
          <p:cNvSpPr/>
          <p:nvPr/>
        </p:nvSpPr>
        <p:spPr>
          <a:xfrm>
            <a:off x="7786116" y="5629046"/>
            <a:ext cx="10973" cy="148133"/>
          </a:xfrm>
          <a:prstGeom prst="rect">
            <a:avLst/>
          </a:prstGeom>
          <a:solidFill>
            <a:srgbClr val="E2EAEE"/>
          </a:solidFill>
          <a:ln/>
        </p:spPr>
      </p:sp>
      <p:sp>
        <p:nvSpPr>
          <p:cNvPr id="252" name="Shape 250"/>
          <p:cNvSpPr/>
          <p:nvPr/>
        </p:nvSpPr>
        <p:spPr>
          <a:xfrm>
            <a:off x="9116568" y="5629046"/>
            <a:ext cx="10973" cy="148133"/>
          </a:xfrm>
          <a:prstGeom prst="rect">
            <a:avLst/>
          </a:prstGeom>
          <a:solidFill>
            <a:srgbClr val="E2EAEE"/>
          </a:solidFill>
          <a:ln/>
        </p:spPr>
      </p:sp>
      <p:sp>
        <p:nvSpPr>
          <p:cNvPr id="253" name="Shape 251"/>
          <p:cNvSpPr/>
          <p:nvPr/>
        </p:nvSpPr>
        <p:spPr>
          <a:xfrm>
            <a:off x="10447020" y="5629046"/>
            <a:ext cx="10973" cy="148133"/>
          </a:xfrm>
          <a:prstGeom prst="rect">
            <a:avLst/>
          </a:prstGeom>
          <a:solidFill>
            <a:srgbClr val="E2EAEE"/>
          </a:solidFill>
          <a:ln/>
        </p:spPr>
      </p:sp>
      <p:sp>
        <p:nvSpPr>
          <p:cNvPr id="254" name="Shape 252"/>
          <p:cNvSpPr/>
          <p:nvPr/>
        </p:nvSpPr>
        <p:spPr>
          <a:xfrm>
            <a:off x="6483096" y="5630875"/>
            <a:ext cx="5266944" cy="129845"/>
          </a:xfrm>
          <a:prstGeom prst="roundRect">
            <a:avLst>
              <a:gd name="adj" fmla="val 45775"/>
            </a:avLst>
          </a:prstGeom>
          <a:solidFill>
            <a:srgbClr val="B4552D"/>
          </a:solidFill>
          <a:ln/>
        </p:spPr>
      </p:sp>
      <p:sp>
        <p:nvSpPr>
          <p:cNvPr id="255" name="Text 253"/>
          <p:cNvSpPr txBox="1"/>
          <p:nvPr/>
        </p:nvSpPr>
        <p:spPr>
          <a:xfrm>
            <a:off x="6556248" y="5618074"/>
            <a:ext cx="5157216"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Nidhi</a:t>
            </a:r>
            <a:endParaRPr lang="en-US" sz="650" dirty="0"/>
          </a:p>
        </p:txBody>
      </p:sp>
      <p:sp>
        <p:nvSpPr>
          <p:cNvPr id="256" name="Shape 254"/>
          <p:cNvSpPr/>
          <p:nvPr/>
        </p:nvSpPr>
        <p:spPr>
          <a:xfrm>
            <a:off x="411480" y="5786323"/>
            <a:ext cx="11365992" cy="175565"/>
          </a:xfrm>
          <a:prstGeom prst="rect">
            <a:avLst/>
          </a:prstGeom>
          <a:solidFill>
            <a:srgbClr val="FFFFFF"/>
          </a:solidFill>
          <a:ln/>
        </p:spPr>
      </p:sp>
      <p:sp>
        <p:nvSpPr>
          <p:cNvPr id="257" name="Text 255"/>
          <p:cNvSpPr txBox="1"/>
          <p:nvPr/>
        </p:nvSpPr>
        <p:spPr>
          <a:xfrm>
            <a:off x="457200" y="5786323"/>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Mobile POS - Quick Sale for Events</a:t>
            </a:r>
            <a:endParaRPr lang="en-US" sz="730" dirty="0"/>
          </a:p>
        </p:txBody>
      </p:sp>
      <p:sp>
        <p:nvSpPr>
          <p:cNvPr id="258" name="Shape 256"/>
          <p:cNvSpPr/>
          <p:nvPr/>
        </p:nvSpPr>
        <p:spPr>
          <a:xfrm>
            <a:off x="3794760" y="5804611"/>
            <a:ext cx="10973" cy="148133"/>
          </a:xfrm>
          <a:prstGeom prst="rect">
            <a:avLst/>
          </a:prstGeom>
          <a:solidFill>
            <a:srgbClr val="E2EAEE"/>
          </a:solidFill>
          <a:ln/>
        </p:spPr>
      </p:sp>
      <p:sp>
        <p:nvSpPr>
          <p:cNvPr id="259" name="Shape 257"/>
          <p:cNvSpPr/>
          <p:nvPr/>
        </p:nvSpPr>
        <p:spPr>
          <a:xfrm>
            <a:off x="5125212" y="5804611"/>
            <a:ext cx="10973" cy="148133"/>
          </a:xfrm>
          <a:prstGeom prst="rect">
            <a:avLst/>
          </a:prstGeom>
          <a:solidFill>
            <a:srgbClr val="E2EAEE"/>
          </a:solidFill>
          <a:ln/>
        </p:spPr>
      </p:sp>
      <p:sp>
        <p:nvSpPr>
          <p:cNvPr id="260" name="Shape 258"/>
          <p:cNvSpPr/>
          <p:nvPr/>
        </p:nvSpPr>
        <p:spPr>
          <a:xfrm>
            <a:off x="6455664" y="5804611"/>
            <a:ext cx="10973" cy="148133"/>
          </a:xfrm>
          <a:prstGeom prst="rect">
            <a:avLst/>
          </a:prstGeom>
          <a:solidFill>
            <a:srgbClr val="E2EAEE"/>
          </a:solidFill>
          <a:ln/>
        </p:spPr>
      </p:sp>
      <p:sp>
        <p:nvSpPr>
          <p:cNvPr id="261" name="Shape 259"/>
          <p:cNvSpPr/>
          <p:nvPr/>
        </p:nvSpPr>
        <p:spPr>
          <a:xfrm>
            <a:off x="7786116" y="5804611"/>
            <a:ext cx="10973" cy="148133"/>
          </a:xfrm>
          <a:prstGeom prst="rect">
            <a:avLst/>
          </a:prstGeom>
          <a:solidFill>
            <a:srgbClr val="E2EAEE"/>
          </a:solidFill>
          <a:ln/>
        </p:spPr>
      </p:sp>
      <p:sp>
        <p:nvSpPr>
          <p:cNvPr id="262" name="Shape 260"/>
          <p:cNvSpPr/>
          <p:nvPr/>
        </p:nvSpPr>
        <p:spPr>
          <a:xfrm>
            <a:off x="9116568" y="5804611"/>
            <a:ext cx="10973" cy="148133"/>
          </a:xfrm>
          <a:prstGeom prst="rect">
            <a:avLst/>
          </a:prstGeom>
          <a:solidFill>
            <a:srgbClr val="E2EAEE"/>
          </a:solidFill>
          <a:ln/>
        </p:spPr>
      </p:sp>
      <p:sp>
        <p:nvSpPr>
          <p:cNvPr id="263" name="Shape 261"/>
          <p:cNvSpPr/>
          <p:nvPr/>
        </p:nvSpPr>
        <p:spPr>
          <a:xfrm>
            <a:off x="10447020" y="5804611"/>
            <a:ext cx="10973" cy="148133"/>
          </a:xfrm>
          <a:prstGeom prst="rect">
            <a:avLst/>
          </a:prstGeom>
          <a:solidFill>
            <a:srgbClr val="E2EAEE"/>
          </a:solidFill>
          <a:ln/>
        </p:spPr>
      </p:sp>
      <p:sp>
        <p:nvSpPr>
          <p:cNvPr id="264" name="Shape 262"/>
          <p:cNvSpPr/>
          <p:nvPr/>
        </p:nvSpPr>
        <p:spPr>
          <a:xfrm>
            <a:off x="6483096" y="5806440"/>
            <a:ext cx="2606040" cy="129845"/>
          </a:xfrm>
          <a:prstGeom prst="roundRect">
            <a:avLst>
              <a:gd name="adj" fmla="val 45775"/>
            </a:avLst>
          </a:prstGeom>
          <a:solidFill>
            <a:srgbClr val="C88A2E"/>
          </a:solidFill>
          <a:ln/>
        </p:spPr>
      </p:sp>
      <p:sp>
        <p:nvSpPr>
          <p:cNvPr id="265" name="Text 263"/>
          <p:cNvSpPr txBox="1"/>
          <p:nvPr/>
        </p:nvSpPr>
        <p:spPr>
          <a:xfrm>
            <a:off x="6556248" y="5793638"/>
            <a:ext cx="2496312"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Eric</a:t>
            </a:r>
            <a:endParaRPr lang="en-US" sz="650" dirty="0"/>
          </a:p>
        </p:txBody>
      </p:sp>
      <p:sp>
        <p:nvSpPr>
          <p:cNvPr id="266" name="Text 264"/>
          <p:cNvSpPr txBox="1"/>
          <p:nvPr/>
        </p:nvSpPr>
        <p:spPr>
          <a:xfrm>
            <a:off x="457200" y="5961888"/>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Mobile POS - Happy Hour</a:t>
            </a:r>
            <a:endParaRPr lang="en-US" sz="730" dirty="0"/>
          </a:p>
        </p:txBody>
      </p:sp>
      <p:sp>
        <p:nvSpPr>
          <p:cNvPr id="267" name="Shape 265"/>
          <p:cNvSpPr/>
          <p:nvPr/>
        </p:nvSpPr>
        <p:spPr>
          <a:xfrm>
            <a:off x="3794760" y="5980176"/>
            <a:ext cx="10973" cy="148133"/>
          </a:xfrm>
          <a:prstGeom prst="rect">
            <a:avLst/>
          </a:prstGeom>
          <a:solidFill>
            <a:srgbClr val="E2EAEE"/>
          </a:solidFill>
          <a:ln/>
        </p:spPr>
      </p:sp>
      <p:sp>
        <p:nvSpPr>
          <p:cNvPr id="268" name="Shape 266"/>
          <p:cNvSpPr/>
          <p:nvPr/>
        </p:nvSpPr>
        <p:spPr>
          <a:xfrm>
            <a:off x="5125212" y="5980176"/>
            <a:ext cx="10973" cy="148133"/>
          </a:xfrm>
          <a:prstGeom prst="rect">
            <a:avLst/>
          </a:prstGeom>
          <a:solidFill>
            <a:srgbClr val="E2EAEE"/>
          </a:solidFill>
          <a:ln/>
        </p:spPr>
      </p:sp>
      <p:sp>
        <p:nvSpPr>
          <p:cNvPr id="269" name="Shape 267"/>
          <p:cNvSpPr/>
          <p:nvPr/>
        </p:nvSpPr>
        <p:spPr>
          <a:xfrm>
            <a:off x="6455664" y="5980176"/>
            <a:ext cx="10973" cy="148133"/>
          </a:xfrm>
          <a:prstGeom prst="rect">
            <a:avLst/>
          </a:prstGeom>
          <a:solidFill>
            <a:srgbClr val="E2EAEE"/>
          </a:solidFill>
          <a:ln/>
        </p:spPr>
      </p:sp>
      <p:sp>
        <p:nvSpPr>
          <p:cNvPr id="270" name="Shape 268"/>
          <p:cNvSpPr/>
          <p:nvPr/>
        </p:nvSpPr>
        <p:spPr>
          <a:xfrm>
            <a:off x="7786116" y="5980176"/>
            <a:ext cx="10973" cy="148133"/>
          </a:xfrm>
          <a:prstGeom prst="rect">
            <a:avLst/>
          </a:prstGeom>
          <a:solidFill>
            <a:srgbClr val="E2EAEE"/>
          </a:solidFill>
          <a:ln/>
        </p:spPr>
      </p:sp>
      <p:sp>
        <p:nvSpPr>
          <p:cNvPr id="271" name="Shape 269"/>
          <p:cNvSpPr/>
          <p:nvPr/>
        </p:nvSpPr>
        <p:spPr>
          <a:xfrm>
            <a:off x="9116568" y="5980176"/>
            <a:ext cx="10973" cy="148133"/>
          </a:xfrm>
          <a:prstGeom prst="rect">
            <a:avLst/>
          </a:prstGeom>
          <a:solidFill>
            <a:srgbClr val="E2EAEE"/>
          </a:solidFill>
          <a:ln/>
        </p:spPr>
      </p:sp>
      <p:sp>
        <p:nvSpPr>
          <p:cNvPr id="272" name="Shape 270"/>
          <p:cNvSpPr/>
          <p:nvPr/>
        </p:nvSpPr>
        <p:spPr>
          <a:xfrm>
            <a:off x="10447020" y="5980176"/>
            <a:ext cx="10973" cy="148133"/>
          </a:xfrm>
          <a:prstGeom prst="rect">
            <a:avLst/>
          </a:prstGeom>
          <a:solidFill>
            <a:srgbClr val="E2EAEE"/>
          </a:solidFill>
          <a:ln/>
        </p:spPr>
      </p:sp>
      <p:sp>
        <p:nvSpPr>
          <p:cNvPr id="273" name="Shape 271"/>
          <p:cNvSpPr/>
          <p:nvPr/>
        </p:nvSpPr>
        <p:spPr>
          <a:xfrm>
            <a:off x="9144000" y="5982005"/>
            <a:ext cx="2606040" cy="129845"/>
          </a:xfrm>
          <a:prstGeom prst="roundRect">
            <a:avLst>
              <a:gd name="adj" fmla="val 45775"/>
            </a:avLst>
          </a:prstGeom>
          <a:solidFill>
            <a:srgbClr val="C88A2E"/>
          </a:solidFill>
          <a:ln/>
        </p:spPr>
      </p:sp>
      <p:sp>
        <p:nvSpPr>
          <p:cNvPr id="274" name="Text 272"/>
          <p:cNvSpPr txBox="1"/>
          <p:nvPr/>
        </p:nvSpPr>
        <p:spPr>
          <a:xfrm>
            <a:off x="9217152" y="5969203"/>
            <a:ext cx="2496312"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Eric</a:t>
            </a:r>
            <a:endParaRPr lang="en-US" sz="650" dirty="0"/>
          </a:p>
        </p:txBody>
      </p:sp>
      <p:sp>
        <p:nvSpPr>
          <p:cNvPr id="275" name="Shape 273"/>
          <p:cNvSpPr/>
          <p:nvPr/>
        </p:nvSpPr>
        <p:spPr>
          <a:xfrm>
            <a:off x="411480" y="6137453"/>
            <a:ext cx="11365992" cy="175565"/>
          </a:xfrm>
          <a:prstGeom prst="rect">
            <a:avLst/>
          </a:prstGeom>
          <a:solidFill>
            <a:srgbClr val="FFFFFF"/>
          </a:solidFill>
          <a:ln/>
        </p:spPr>
      </p:sp>
      <p:sp>
        <p:nvSpPr>
          <p:cNvPr id="276" name="Text 274"/>
          <p:cNvSpPr txBox="1"/>
          <p:nvPr/>
        </p:nvSpPr>
        <p:spPr>
          <a:xfrm>
            <a:off x="457200" y="6137453"/>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Data Product #1 - Margin Capture (Lucas)</a:t>
            </a:r>
            <a:endParaRPr lang="en-US" sz="730" dirty="0"/>
          </a:p>
        </p:txBody>
      </p:sp>
      <p:sp>
        <p:nvSpPr>
          <p:cNvPr id="277" name="Shape 275"/>
          <p:cNvSpPr/>
          <p:nvPr/>
        </p:nvSpPr>
        <p:spPr>
          <a:xfrm>
            <a:off x="3794760" y="6155741"/>
            <a:ext cx="10973" cy="148133"/>
          </a:xfrm>
          <a:prstGeom prst="rect">
            <a:avLst/>
          </a:prstGeom>
          <a:solidFill>
            <a:srgbClr val="E2EAEE"/>
          </a:solidFill>
          <a:ln/>
        </p:spPr>
      </p:sp>
      <p:sp>
        <p:nvSpPr>
          <p:cNvPr id="278" name="Shape 276"/>
          <p:cNvSpPr/>
          <p:nvPr/>
        </p:nvSpPr>
        <p:spPr>
          <a:xfrm>
            <a:off x="5125212" y="6155741"/>
            <a:ext cx="10973" cy="148133"/>
          </a:xfrm>
          <a:prstGeom prst="rect">
            <a:avLst/>
          </a:prstGeom>
          <a:solidFill>
            <a:srgbClr val="E2EAEE"/>
          </a:solidFill>
          <a:ln/>
        </p:spPr>
      </p:sp>
      <p:sp>
        <p:nvSpPr>
          <p:cNvPr id="279" name="Shape 277"/>
          <p:cNvSpPr/>
          <p:nvPr/>
        </p:nvSpPr>
        <p:spPr>
          <a:xfrm>
            <a:off x="6455664" y="6155741"/>
            <a:ext cx="10973" cy="148133"/>
          </a:xfrm>
          <a:prstGeom prst="rect">
            <a:avLst/>
          </a:prstGeom>
          <a:solidFill>
            <a:srgbClr val="E2EAEE"/>
          </a:solidFill>
          <a:ln/>
        </p:spPr>
      </p:sp>
      <p:sp>
        <p:nvSpPr>
          <p:cNvPr id="280" name="Shape 278"/>
          <p:cNvSpPr/>
          <p:nvPr/>
        </p:nvSpPr>
        <p:spPr>
          <a:xfrm>
            <a:off x="7786116" y="6155741"/>
            <a:ext cx="10973" cy="148133"/>
          </a:xfrm>
          <a:prstGeom prst="rect">
            <a:avLst/>
          </a:prstGeom>
          <a:solidFill>
            <a:srgbClr val="E2EAEE"/>
          </a:solidFill>
          <a:ln/>
        </p:spPr>
      </p:sp>
      <p:sp>
        <p:nvSpPr>
          <p:cNvPr id="281" name="Shape 279"/>
          <p:cNvSpPr/>
          <p:nvPr/>
        </p:nvSpPr>
        <p:spPr>
          <a:xfrm>
            <a:off x="9116568" y="6155741"/>
            <a:ext cx="10973" cy="148133"/>
          </a:xfrm>
          <a:prstGeom prst="rect">
            <a:avLst/>
          </a:prstGeom>
          <a:solidFill>
            <a:srgbClr val="E2EAEE"/>
          </a:solidFill>
          <a:ln/>
        </p:spPr>
      </p:sp>
      <p:sp>
        <p:nvSpPr>
          <p:cNvPr id="282" name="Shape 280"/>
          <p:cNvSpPr/>
          <p:nvPr/>
        </p:nvSpPr>
        <p:spPr>
          <a:xfrm>
            <a:off x="10447020" y="6155741"/>
            <a:ext cx="10973" cy="148133"/>
          </a:xfrm>
          <a:prstGeom prst="rect">
            <a:avLst/>
          </a:prstGeom>
          <a:solidFill>
            <a:srgbClr val="E2EAEE"/>
          </a:solidFill>
          <a:ln/>
        </p:spPr>
      </p:sp>
      <p:sp>
        <p:nvSpPr>
          <p:cNvPr id="283" name="Shape 281"/>
          <p:cNvSpPr/>
          <p:nvPr/>
        </p:nvSpPr>
        <p:spPr>
          <a:xfrm>
            <a:off x="3822192" y="6157570"/>
            <a:ext cx="7927848" cy="129845"/>
          </a:xfrm>
          <a:prstGeom prst="roundRect">
            <a:avLst>
              <a:gd name="adj" fmla="val 45775"/>
            </a:avLst>
          </a:prstGeom>
          <a:solidFill>
            <a:srgbClr val="C88A2E"/>
          </a:solidFill>
          <a:ln/>
        </p:spPr>
      </p:sp>
      <p:sp>
        <p:nvSpPr>
          <p:cNvPr id="284" name="Text 282"/>
          <p:cNvSpPr txBox="1"/>
          <p:nvPr/>
        </p:nvSpPr>
        <p:spPr>
          <a:xfrm>
            <a:off x="3895344" y="6144768"/>
            <a:ext cx="7818120"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Ammar</a:t>
            </a:r>
            <a:endParaRPr lang="en-US" sz="650" dirty="0"/>
          </a:p>
        </p:txBody>
      </p:sp>
      <p:sp>
        <p:nvSpPr>
          <p:cNvPr id="285" name="Shape 283"/>
          <p:cNvSpPr/>
          <p:nvPr/>
        </p:nvSpPr>
        <p:spPr>
          <a:xfrm>
            <a:off x="6342278" y="6510528"/>
            <a:ext cx="5435194" cy="256032"/>
          </a:xfrm>
          <a:prstGeom prst="roundRect">
            <a:avLst>
              <a:gd name="adj" fmla="val 46429"/>
            </a:avLst>
          </a:prstGeom>
          <a:solidFill>
            <a:srgbClr val="12293A"/>
          </a:solidFill>
          <a:ln/>
        </p:spPr>
      </p:sp>
      <p:sp>
        <p:nvSpPr>
          <p:cNvPr id="286" name="Text 284"/>
          <p:cNvSpPr txBox="1"/>
          <p:nvPr/>
        </p:nvSpPr>
        <p:spPr>
          <a:xfrm>
            <a:off x="6342278" y="6510528"/>
            <a:ext cx="5435194" cy="256032"/>
          </a:xfrm>
          <a:prstGeom prst="rect">
            <a:avLst/>
          </a:prstGeom>
          <a:noFill/>
          <a:ln/>
        </p:spPr>
        <p:txBody>
          <a:bodyPr wrap="square" lIns="0" tIns="0" rIns="0" bIns="0" rtlCol="0" anchor="ctr"/>
          <a:lstStyle/>
          <a:p>
            <a:pPr algn="ctr" indent="0" marL="0">
              <a:buNone/>
            </a:pPr>
            <a:r>
              <a:rPr lang="en-US" sz="700" b="1" dirty="0">
                <a:solidFill>
                  <a:srgbClr val="FFFFFF"/>
                </a:solidFill>
                <a:latin typeface="Poppins" pitchFamily="34" charset="0"/>
                <a:ea typeface="Poppins" pitchFamily="34" charset="-122"/>
                <a:cs typeface="Poppins" pitchFamily="34" charset="-120"/>
              </a:rPr>
              <a:t>Source: GTM Tracker (product team) — as at 19 Sep, refresh pending for a fifth week</a:t>
            </a:r>
            <a:endParaRPr lang="en-US" sz="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2F6F8"/>
        </a:solidFill>
      </p:bgPr>
    </p:bg>
    <p:spTree>
      <p:nvGrpSpPr>
        <p:cNvPr id="1" name=""/>
        <p:cNvGrpSpPr/>
        <p:nvPr/>
      </p:nvGrpSpPr>
      <p:grpSpPr>
        <a:xfrm>
          <a:off x="0" y="0"/>
          <a:ext cx="0" cy="0"/>
          <a:chOff x="0" y="0"/>
          <a:chExt cx="0" cy="0"/>
        </a:xfrm>
      </p:grpSpPr>
      <p:sp>
        <p:nvSpPr>
          <p:cNvPr id="2" name="Shape 0"/>
          <p:cNvSpPr/>
          <p:nvPr/>
        </p:nvSpPr>
        <p:spPr>
          <a:xfrm>
            <a:off x="0" y="0"/>
            <a:ext cx="12188952" cy="841248"/>
          </a:xfrm>
          <a:prstGeom prst="rect">
            <a:avLst/>
          </a:prstGeom>
          <a:solidFill>
            <a:srgbClr val="12293A"/>
          </a:solidFill>
          <a:ln/>
        </p:spPr>
      </p:sp>
      <p:sp>
        <p:nvSpPr>
          <p:cNvPr id="3" name="Shape 1"/>
          <p:cNvSpPr/>
          <p:nvPr/>
        </p:nvSpPr>
        <p:spPr>
          <a:xfrm>
            <a:off x="384048" y="155448"/>
            <a:ext cx="731520" cy="530352"/>
          </a:xfrm>
          <a:prstGeom prst="roundRect">
            <a:avLst>
              <a:gd name="adj" fmla="val 15517"/>
            </a:avLst>
          </a:prstGeom>
          <a:solidFill>
            <a:srgbClr val="FFFFFF"/>
          </a:solidFill>
          <a:ln/>
        </p:spPr>
      </p:sp>
      <p:sp>
        <p:nvSpPr>
          <p:cNvPr id="4" name="Text 2"/>
          <p:cNvSpPr txBox="1"/>
          <p:nvPr/>
        </p:nvSpPr>
        <p:spPr>
          <a:xfrm>
            <a:off x="384048" y="155448"/>
            <a:ext cx="731520" cy="530352"/>
          </a:xfrm>
          <a:prstGeom prst="rect">
            <a:avLst/>
          </a:prstGeom>
          <a:noFill/>
          <a:ln/>
        </p:spPr>
        <p:txBody>
          <a:bodyPr wrap="square" lIns="0" tIns="0" rIns="0" bIns="0" rtlCol="0" anchor="ctr"/>
          <a:lstStyle/>
          <a:p>
            <a:pPr algn="ctr" indent="0" marL="0">
              <a:buNone/>
            </a:pPr>
            <a:r>
              <a:rPr lang="en-US" sz="1500" b="1" dirty="0">
                <a:solidFill>
                  <a:srgbClr val="12293A"/>
                </a:solidFill>
                <a:latin typeface="Poppins" pitchFamily="34" charset="0"/>
                <a:ea typeface="Poppins" pitchFamily="34" charset="-122"/>
                <a:cs typeface="Poppins" pitchFamily="34" charset="-120"/>
              </a:rPr>
              <a:t>H&amp;L</a:t>
            </a:r>
            <a:endParaRPr lang="en-US" sz="1500" dirty="0"/>
          </a:p>
        </p:txBody>
      </p:sp>
      <p:sp>
        <p:nvSpPr>
          <p:cNvPr id="5" name="Text 3"/>
          <p:cNvSpPr txBox="1"/>
          <p:nvPr/>
        </p:nvSpPr>
        <p:spPr>
          <a:xfrm>
            <a:off x="1298448" y="54864"/>
            <a:ext cx="7223760" cy="475488"/>
          </a:xfrm>
          <a:prstGeom prst="rect">
            <a:avLst/>
          </a:prstGeom>
          <a:noFill/>
          <a:ln/>
        </p:spPr>
        <p:txBody>
          <a:bodyPr wrap="square" lIns="0" tIns="0" rIns="0" bIns="0" rtlCol="0" anchor="ctr"/>
          <a:lstStyle/>
          <a:p>
            <a:pPr indent="0" marL="0">
              <a:buNone/>
            </a:pPr>
            <a:r>
              <a:rPr lang="en-US" sz="2300" b="1" dirty="0">
                <a:solidFill>
                  <a:srgbClr val="FFFFFF"/>
                </a:solidFill>
                <a:latin typeface="Poppins" pitchFamily="34" charset="0"/>
                <a:ea typeface="Poppins" pitchFamily="34" charset="-122"/>
                <a:cs typeface="Poppins" pitchFamily="34" charset="-120"/>
              </a:rPr>
              <a:t>GTM Readiness</a:t>
            </a:r>
            <a:endParaRPr lang="en-US" sz="2300" dirty="0"/>
          </a:p>
        </p:txBody>
      </p:sp>
      <p:sp>
        <p:nvSpPr>
          <p:cNvPr id="6" name="Text 4"/>
          <p:cNvSpPr txBox="1"/>
          <p:nvPr/>
        </p:nvSpPr>
        <p:spPr>
          <a:xfrm>
            <a:off x="1316736" y="512064"/>
            <a:ext cx="7040880" cy="256032"/>
          </a:xfrm>
          <a:prstGeom prst="rect">
            <a:avLst/>
          </a:prstGeom>
          <a:noFill/>
          <a:ln/>
        </p:spPr>
        <p:txBody>
          <a:bodyPr wrap="square" lIns="0" tIns="0" rIns="0" bIns="0" rtlCol="0" anchor="ctr"/>
          <a:lstStyle/>
          <a:p>
            <a:pPr indent="0" marL="0">
              <a:buNone/>
            </a:pPr>
            <a:r>
              <a:rPr lang="en-US" sz="1050" dirty="0">
                <a:solidFill>
                  <a:srgbClr val="6FAEBB"/>
                </a:solidFill>
                <a:latin typeface="Poppins" pitchFamily="34" charset="0"/>
                <a:ea typeface="Poppins" pitchFamily="34" charset="-122"/>
                <a:cs typeface="Poppins" pitchFamily="34" charset="-120"/>
              </a:rPr>
              <a:t>Product</a:t>
            </a:r>
            <a:endParaRPr lang="en-US" sz="1050" dirty="0"/>
          </a:p>
        </p:txBody>
      </p:sp>
      <p:sp>
        <p:nvSpPr>
          <p:cNvPr id="7" name="Shape 5"/>
          <p:cNvSpPr/>
          <p:nvPr/>
        </p:nvSpPr>
        <p:spPr>
          <a:xfrm>
            <a:off x="8686800" y="246888"/>
            <a:ext cx="1965960" cy="347472"/>
          </a:xfrm>
          <a:prstGeom prst="roundRect">
            <a:avLst>
              <a:gd name="adj" fmla="val 50000"/>
            </a:avLst>
          </a:prstGeom>
          <a:solidFill>
            <a:srgbClr val="24435C"/>
          </a:solidFill>
          <a:ln w="9525">
            <a:solidFill>
              <a:srgbClr val="FFFFFF">
                <a:alpha val="45000"/>
              </a:srgbClr>
            </a:solidFill>
            <a:prstDash val="solid"/>
          </a:ln>
        </p:spPr>
      </p:sp>
      <p:sp>
        <p:nvSpPr>
          <p:cNvPr id="8" name="Text 6"/>
          <p:cNvSpPr txBox="1"/>
          <p:nvPr/>
        </p:nvSpPr>
        <p:spPr>
          <a:xfrm>
            <a:off x="8686800" y="246888"/>
            <a:ext cx="1965960" cy="347472"/>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4  ·  BUILDING THE FUTURE?</a:t>
            </a:r>
            <a:endParaRPr lang="en-US" sz="850" dirty="0"/>
          </a:p>
        </p:txBody>
      </p:sp>
      <p:sp>
        <p:nvSpPr>
          <p:cNvPr id="9" name="Shape 7"/>
          <p:cNvSpPr/>
          <p:nvPr/>
        </p:nvSpPr>
        <p:spPr>
          <a:xfrm>
            <a:off x="10872216" y="0"/>
            <a:ext cx="841248" cy="841248"/>
          </a:xfrm>
          <a:prstGeom prst="ellipse">
            <a:avLst/>
          </a:prstGeom>
          <a:solidFill>
            <a:srgbClr val="1C5765"/>
          </a:solidFill>
          <a:ln/>
        </p:spPr>
      </p:sp>
      <p:sp>
        <p:nvSpPr>
          <p:cNvPr id="10" name="Shape 8"/>
          <p:cNvSpPr/>
          <p:nvPr/>
        </p:nvSpPr>
        <p:spPr>
          <a:xfrm>
            <a:off x="10968228" y="96012"/>
            <a:ext cx="649224" cy="649224"/>
          </a:xfrm>
          <a:prstGeom prst="ellipse">
            <a:avLst/>
          </a:prstGeom>
          <a:solidFill>
            <a:srgbClr val="2C8394"/>
          </a:solidFill>
          <a:ln/>
        </p:spPr>
      </p:sp>
      <p:sp>
        <p:nvSpPr>
          <p:cNvPr id="11" name="Shape 9"/>
          <p:cNvSpPr/>
          <p:nvPr/>
        </p:nvSpPr>
        <p:spPr>
          <a:xfrm>
            <a:off x="11064240" y="192024"/>
            <a:ext cx="457200" cy="457200"/>
          </a:xfrm>
          <a:prstGeom prst="ellipse">
            <a:avLst/>
          </a:prstGeom>
          <a:solidFill>
            <a:srgbClr val="6FAEBB"/>
          </a:solidFill>
          <a:ln/>
        </p:spPr>
      </p:sp>
      <p:sp>
        <p:nvSpPr>
          <p:cNvPr id="12" name="Shape 10"/>
          <p:cNvSpPr/>
          <p:nvPr/>
        </p:nvSpPr>
        <p:spPr>
          <a:xfrm>
            <a:off x="11160252" y="288036"/>
            <a:ext cx="265176" cy="265176"/>
          </a:xfrm>
          <a:prstGeom prst="ellipse">
            <a:avLst/>
          </a:prstGeom>
          <a:solidFill>
            <a:srgbClr val="E4F1F4"/>
          </a:solidFill>
          <a:ln/>
        </p:spPr>
      </p:sp>
      <p:sp>
        <p:nvSpPr>
          <p:cNvPr id="13" name="Shape 11"/>
          <p:cNvSpPr/>
          <p:nvPr/>
        </p:nvSpPr>
        <p:spPr>
          <a:xfrm>
            <a:off x="411480" y="1005840"/>
            <a:ext cx="11365992" cy="457200"/>
          </a:xfrm>
          <a:prstGeom prst="roundRect">
            <a:avLst>
              <a:gd name="adj" fmla="val 12000"/>
            </a:avLst>
          </a:prstGeom>
          <a:solidFill>
            <a:srgbClr val="12293A"/>
          </a:solidFill>
          <a:ln/>
        </p:spPr>
      </p:sp>
      <p:sp>
        <p:nvSpPr>
          <p:cNvPr id="14" name="Text 12"/>
          <p:cNvSpPr txBox="1"/>
          <p:nvPr/>
        </p:nvSpPr>
        <p:spPr>
          <a:xfrm>
            <a:off x="594360" y="1005840"/>
            <a:ext cx="1737360" cy="457200"/>
          </a:xfrm>
          <a:prstGeom prst="rect">
            <a:avLst/>
          </a:prstGeom>
          <a:noFill/>
          <a:ln/>
        </p:spPr>
        <p:txBody>
          <a:bodyPr wrap="square" lIns="0" tIns="0" rIns="0" bIns="0" rtlCol="0" anchor="ctr"/>
          <a:lstStyle/>
          <a:p>
            <a:pPr indent="0" marL="0">
              <a:buNone/>
            </a:pPr>
            <a:r>
              <a:rPr lang="en-US" sz="900" b="1" dirty="0">
                <a:solidFill>
                  <a:srgbClr val="FFFFFF"/>
                </a:solidFill>
                <a:latin typeface="Poppins" pitchFamily="34" charset="0"/>
                <a:ea typeface="Poppins" pitchFamily="34" charset="-122"/>
                <a:cs typeface="Poppins" pitchFamily="34" charset="-120"/>
              </a:rPr>
              <a:t>PRODUCT</a:t>
            </a:r>
            <a:endParaRPr lang="en-US" sz="900" dirty="0"/>
          </a:p>
        </p:txBody>
      </p:sp>
      <p:sp>
        <p:nvSpPr>
          <p:cNvPr id="15" name="Text 13"/>
          <p:cNvSpPr txBox="1"/>
          <p:nvPr/>
        </p:nvSpPr>
        <p:spPr>
          <a:xfrm>
            <a:off x="2514600" y="1042416"/>
            <a:ext cx="1005840" cy="402336"/>
          </a:xfrm>
          <a:prstGeom prst="rect">
            <a:avLst/>
          </a:prstGeom>
          <a:noFill/>
          <a:ln/>
        </p:spPr>
        <p:txBody>
          <a:bodyPr wrap="square" lIns="0" tIns="0" rIns="0" bIns="0" rtlCol="0" anchor="ctr"/>
          <a:lstStyle/>
          <a:p>
            <a:pPr algn="ctr" indent="0" marL="0">
              <a:buNone/>
            </a:pPr>
            <a:r>
              <a:rPr lang="en-US" sz="580" b="1" dirty="0">
                <a:solidFill>
                  <a:srgbClr val="FFFFFF"/>
                </a:solidFill>
                <a:latin typeface="Poppins" pitchFamily="34" charset="0"/>
                <a:ea typeface="Poppins" pitchFamily="34" charset="-122"/>
                <a:cs typeface="Poppins" pitchFamily="34" charset="-120"/>
              </a:rPr>
              <a:t>MESSAGING &amp; COLLATERAL</a:t>
            </a:r>
            <a:endParaRPr lang="en-US" sz="580" dirty="0"/>
          </a:p>
        </p:txBody>
      </p:sp>
      <p:sp>
        <p:nvSpPr>
          <p:cNvPr id="16" name="Text 14"/>
          <p:cNvSpPr txBox="1"/>
          <p:nvPr/>
        </p:nvSpPr>
        <p:spPr>
          <a:xfrm>
            <a:off x="3547872" y="1042416"/>
            <a:ext cx="1005840" cy="402336"/>
          </a:xfrm>
          <a:prstGeom prst="rect">
            <a:avLst/>
          </a:prstGeom>
          <a:noFill/>
          <a:ln/>
        </p:spPr>
        <p:txBody>
          <a:bodyPr wrap="square" lIns="0" tIns="0" rIns="0" bIns="0" rtlCol="0" anchor="ctr"/>
          <a:lstStyle/>
          <a:p>
            <a:pPr algn="ctr" indent="0" marL="0">
              <a:buNone/>
            </a:pPr>
            <a:r>
              <a:rPr lang="en-US" sz="580" b="1" dirty="0">
                <a:solidFill>
                  <a:srgbClr val="FFFFFF"/>
                </a:solidFill>
                <a:latin typeface="Poppins" pitchFamily="34" charset="0"/>
                <a:ea typeface="Poppins" pitchFamily="34" charset="-122"/>
                <a:cs typeface="Poppins" pitchFamily="34" charset="-120"/>
              </a:rPr>
              <a:t>VALUE CASE $ PROVEN</a:t>
            </a:r>
            <a:endParaRPr lang="en-US" sz="580" dirty="0"/>
          </a:p>
        </p:txBody>
      </p:sp>
      <p:sp>
        <p:nvSpPr>
          <p:cNvPr id="17" name="Text 15"/>
          <p:cNvSpPr txBox="1"/>
          <p:nvPr/>
        </p:nvSpPr>
        <p:spPr>
          <a:xfrm>
            <a:off x="4581144" y="1042416"/>
            <a:ext cx="1005840" cy="402336"/>
          </a:xfrm>
          <a:prstGeom prst="rect">
            <a:avLst/>
          </a:prstGeom>
          <a:noFill/>
          <a:ln/>
        </p:spPr>
        <p:txBody>
          <a:bodyPr wrap="square" lIns="0" tIns="0" rIns="0" bIns="0" rtlCol="0" anchor="ctr"/>
          <a:lstStyle/>
          <a:p>
            <a:pPr algn="ctr" indent="0" marL="0">
              <a:buNone/>
            </a:pPr>
            <a:r>
              <a:rPr lang="en-US" sz="580" b="1" dirty="0">
                <a:solidFill>
                  <a:srgbClr val="FFFFFF"/>
                </a:solidFill>
                <a:latin typeface="Poppins" pitchFamily="34" charset="0"/>
                <a:ea typeface="Poppins" pitchFamily="34" charset="-122"/>
                <a:cs typeface="Poppins" pitchFamily="34" charset="-120"/>
              </a:rPr>
              <a:t>PRICING &amp; PACKAGING</a:t>
            </a:r>
            <a:endParaRPr lang="en-US" sz="580" dirty="0"/>
          </a:p>
        </p:txBody>
      </p:sp>
      <p:sp>
        <p:nvSpPr>
          <p:cNvPr id="18" name="Text 16"/>
          <p:cNvSpPr txBox="1"/>
          <p:nvPr/>
        </p:nvSpPr>
        <p:spPr>
          <a:xfrm>
            <a:off x="5614416" y="1042416"/>
            <a:ext cx="1005840" cy="402336"/>
          </a:xfrm>
          <a:prstGeom prst="rect">
            <a:avLst/>
          </a:prstGeom>
          <a:noFill/>
          <a:ln/>
        </p:spPr>
        <p:txBody>
          <a:bodyPr wrap="square" lIns="0" tIns="0" rIns="0" bIns="0" rtlCol="0" anchor="ctr"/>
          <a:lstStyle/>
          <a:p>
            <a:pPr algn="ctr" indent="0" marL="0">
              <a:buNone/>
            </a:pPr>
            <a:r>
              <a:rPr lang="en-US" sz="580" b="1" dirty="0">
                <a:solidFill>
                  <a:srgbClr val="FFFFFF"/>
                </a:solidFill>
                <a:latin typeface="Poppins" pitchFamily="34" charset="0"/>
                <a:ea typeface="Poppins" pitchFamily="34" charset="-122"/>
                <a:cs typeface="Poppins" pitchFamily="34" charset="-120"/>
              </a:rPr>
              <a:t>CONTRACT &amp; DATA TERMS</a:t>
            </a:r>
            <a:endParaRPr lang="en-US" sz="580" dirty="0"/>
          </a:p>
        </p:txBody>
      </p:sp>
      <p:sp>
        <p:nvSpPr>
          <p:cNvPr id="19" name="Text 17"/>
          <p:cNvSpPr txBox="1"/>
          <p:nvPr/>
        </p:nvSpPr>
        <p:spPr>
          <a:xfrm>
            <a:off x="6647688" y="1042416"/>
            <a:ext cx="1005840" cy="402336"/>
          </a:xfrm>
          <a:prstGeom prst="rect">
            <a:avLst/>
          </a:prstGeom>
          <a:noFill/>
          <a:ln/>
        </p:spPr>
        <p:txBody>
          <a:bodyPr wrap="square" lIns="0" tIns="0" rIns="0" bIns="0" rtlCol="0" anchor="ctr"/>
          <a:lstStyle/>
          <a:p>
            <a:pPr algn="ctr" indent="0" marL="0">
              <a:buNone/>
            </a:pPr>
            <a:r>
              <a:rPr lang="en-US" sz="580" b="1" dirty="0">
                <a:solidFill>
                  <a:srgbClr val="FFFFFF"/>
                </a:solidFill>
                <a:latin typeface="Poppins" pitchFamily="34" charset="0"/>
                <a:ea typeface="Poppins" pitchFamily="34" charset="-122"/>
                <a:cs typeface="Poppins" pitchFamily="34" charset="-120"/>
              </a:rPr>
              <a:t>BILLING &amp; METERING</a:t>
            </a:r>
            <a:endParaRPr lang="en-US" sz="580" dirty="0"/>
          </a:p>
        </p:txBody>
      </p:sp>
      <p:sp>
        <p:nvSpPr>
          <p:cNvPr id="20" name="Text 18"/>
          <p:cNvSpPr txBox="1"/>
          <p:nvPr/>
        </p:nvSpPr>
        <p:spPr>
          <a:xfrm>
            <a:off x="7680960" y="1042416"/>
            <a:ext cx="1005840" cy="402336"/>
          </a:xfrm>
          <a:prstGeom prst="rect">
            <a:avLst/>
          </a:prstGeom>
          <a:noFill/>
          <a:ln/>
        </p:spPr>
        <p:txBody>
          <a:bodyPr wrap="square" lIns="0" tIns="0" rIns="0" bIns="0" rtlCol="0" anchor="ctr"/>
          <a:lstStyle/>
          <a:p>
            <a:pPr algn="ctr" indent="0" marL="0">
              <a:buNone/>
            </a:pPr>
            <a:r>
              <a:rPr lang="en-US" sz="580" b="1" dirty="0">
                <a:solidFill>
                  <a:srgbClr val="FFFFFF"/>
                </a:solidFill>
                <a:latin typeface="Poppins" pitchFamily="34" charset="0"/>
                <a:ea typeface="Poppins" pitchFamily="34" charset="-122"/>
                <a:cs typeface="Poppins" pitchFamily="34" charset="-120"/>
              </a:rPr>
              <a:t>REFERENCE PILOT</a:t>
            </a:r>
            <a:endParaRPr lang="en-US" sz="580" dirty="0"/>
          </a:p>
        </p:txBody>
      </p:sp>
      <p:sp>
        <p:nvSpPr>
          <p:cNvPr id="21" name="Text 19"/>
          <p:cNvSpPr txBox="1"/>
          <p:nvPr/>
        </p:nvSpPr>
        <p:spPr>
          <a:xfrm>
            <a:off x="8714232" y="1042416"/>
            <a:ext cx="1005840" cy="402336"/>
          </a:xfrm>
          <a:prstGeom prst="rect">
            <a:avLst/>
          </a:prstGeom>
          <a:noFill/>
          <a:ln/>
        </p:spPr>
        <p:txBody>
          <a:bodyPr wrap="square" lIns="0" tIns="0" rIns="0" bIns="0" rtlCol="0" anchor="ctr"/>
          <a:lstStyle/>
          <a:p>
            <a:pPr algn="ctr" indent="0" marL="0">
              <a:buNone/>
            </a:pPr>
            <a:r>
              <a:rPr lang="en-US" sz="580" b="1" dirty="0">
                <a:solidFill>
                  <a:srgbClr val="FFFFFF"/>
                </a:solidFill>
                <a:latin typeface="Poppins" pitchFamily="34" charset="0"/>
                <a:ea typeface="Poppins" pitchFamily="34" charset="-122"/>
                <a:cs typeface="Poppins" pitchFamily="34" charset="-120"/>
              </a:rPr>
              <a:t>SALES ENABLED</a:t>
            </a:r>
            <a:endParaRPr lang="en-US" sz="580" dirty="0"/>
          </a:p>
        </p:txBody>
      </p:sp>
      <p:sp>
        <p:nvSpPr>
          <p:cNvPr id="22" name="Text 20"/>
          <p:cNvSpPr txBox="1"/>
          <p:nvPr/>
        </p:nvSpPr>
        <p:spPr>
          <a:xfrm>
            <a:off x="9747504" y="1042416"/>
            <a:ext cx="1005840" cy="402336"/>
          </a:xfrm>
          <a:prstGeom prst="rect">
            <a:avLst/>
          </a:prstGeom>
          <a:noFill/>
          <a:ln/>
        </p:spPr>
        <p:txBody>
          <a:bodyPr wrap="square" lIns="0" tIns="0" rIns="0" bIns="0" rtlCol="0" anchor="ctr"/>
          <a:lstStyle/>
          <a:p>
            <a:pPr algn="ctr" indent="0" marL="0">
              <a:buNone/>
            </a:pPr>
            <a:r>
              <a:rPr lang="en-US" sz="580" b="1" dirty="0">
                <a:solidFill>
                  <a:srgbClr val="FFFFFF"/>
                </a:solidFill>
                <a:latin typeface="Poppins" pitchFamily="34" charset="0"/>
                <a:ea typeface="Poppins" pitchFamily="34" charset="-122"/>
                <a:cs typeface="Poppins" pitchFamily="34" charset="-120"/>
              </a:rPr>
              <a:t>SUPPORT &amp; REMI</a:t>
            </a:r>
            <a:endParaRPr lang="en-US" sz="580" dirty="0"/>
          </a:p>
        </p:txBody>
      </p:sp>
      <p:sp>
        <p:nvSpPr>
          <p:cNvPr id="23" name="Text 21"/>
          <p:cNvSpPr txBox="1"/>
          <p:nvPr/>
        </p:nvSpPr>
        <p:spPr>
          <a:xfrm>
            <a:off x="10780776" y="1042416"/>
            <a:ext cx="1005840" cy="402336"/>
          </a:xfrm>
          <a:prstGeom prst="rect">
            <a:avLst/>
          </a:prstGeom>
          <a:noFill/>
          <a:ln/>
        </p:spPr>
        <p:txBody>
          <a:bodyPr wrap="square" lIns="0" tIns="0" rIns="0" bIns="0" rtlCol="0" anchor="ctr"/>
          <a:lstStyle/>
          <a:p>
            <a:pPr algn="ctr" indent="0" marL="0">
              <a:buNone/>
            </a:pPr>
            <a:r>
              <a:rPr lang="en-US" sz="580" b="1" dirty="0">
                <a:solidFill>
                  <a:srgbClr val="FFFFFF"/>
                </a:solidFill>
                <a:latin typeface="Poppins" pitchFamily="34" charset="0"/>
                <a:ea typeface="Poppins" pitchFamily="34" charset="-122"/>
                <a:cs typeface="Poppins" pitchFamily="34" charset="-120"/>
              </a:rPr>
              <a:t>AI ACCURACY &amp; FALLBACK</a:t>
            </a:r>
            <a:endParaRPr lang="en-US" sz="580" dirty="0"/>
          </a:p>
        </p:txBody>
      </p:sp>
      <p:sp>
        <p:nvSpPr>
          <p:cNvPr id="24" name="Shape 22"/>
          <p:cNvSpPr/>
          <p:nvPr/>
        </p:nvSpPr>
        <p:spPr>
          <a:xfrm>
            <a:off x="411480" y="1627632"/>
            <a:ext cx="11365992" cy="603504"/>
          </a:xfrm>
          <a:prstGeom prst="roundRect">
            <a:avLst>
              <a:gd name="adj" fmla="val 10606"/>
            </a:avLst>
          </a:prstGeom>
          <a:solidFill>
            <a:srgbClr val="FFFFFF"/>
          </a:solidFill>
          <a:ln/>
          <a:effectLst>
            <a:outerShdw sx="100000" sy="100000" kx="0" ky="0" algn="bl" rotWithShape="0" blurRad="76200" dist="25400" dir="5400000">
              <a:srgbClr val="9AAAB5">
                <a:alpha val="35000"/>
              </a:srgbClr>
            </a:outerShdw>
          </a:effectLst>
        </p:spPr>
      </p:sp>
      <p:sp>
        <p:nvSpPr>
          <p:cNvPr id="25" name="Text 23"/>
          <p:cNvSpPr txBox="1"/>
          <p:nvPr/>
        </p:nvSpPr>
        <p:spPr>
          <a:xfrm>
            <a:off x="594360" y="1627632"/>
            <a:ext cx="1828800" cy="603504"/>
          </a:xfrm>
          <a:prstGeom prst="rect">
            <a:avLst/>
          </a:prstGeom>
          <a:noFill/>
          <a:ln/>
        </p:spPr>
        <p:txBody>
          <a:bodyPr wrap="square" lIns="0" tIns="0" rIns="0" bIns="0" rtlCol="0" anchor="ctr"/>
          <a:lstStyle/>
          <a:p>
            <a:pPr indent="0" marL="0">
              <a:buNone/>
            </a:pPr>
            <a:r>
              <a:rPr lang="en-US" sz="1100" b="1" dirty="0">
                <a:solidFill>
                  <a:srgbClr val="12293A"/>
                </a:solidFill>
                <a:latin typeface="Poppins" pitchFamily="34" charset="0"/>
                <a:ea typeface="Poppins" pitchFamily="34" charset="-122"/>
                <a:cs typeface="Poppins" pitchFamily="34" charset="-120"/>
              </a:rPr>
              <a:t>QR Ordering (OrderNow)</a:t>
            </a:r>
            <a:endParaRPr lang="en-US" sz="1100" dirty="0"/>
          </a:p>
        </p:txBody>
      </p:sp>
      <p:sp>
        <p:nvSpPr>
          <p:cNvPr id="26" name="Shape 24"/>
          <p:cNvSpPr/>
          <p:nvPr/>
        </p:nvSpPr>
        <p:spPr>
          <a:xfrm>
            <a:off x="2514600" y="1783080"/>
            <a:ext cx="969264" cy="292608"/>
          </a:xfrm>
          <a:prstGeom prst="roundRect">
            <a:avLst>
              <a:gd name="adj" fmla="val 50000"/>
            </a:avLst>
          </a:prstGeom>
          <a:solidFill>
            <a:srgbClr val="B4552D"/>
          </a:solidFill>
          <a:ln/>
          <a:effectLst>
            <a:outerShdw sx="100000" sy="100000" kx="0" ky="0" algn="bl" rotWithShape="0" blurRad="76200" dist="25400" dir="5400000">
              <a:srgbClr val="9AAAB5">
                <a:alpha val="35000"/>
              </a:srgbClr>
            </a:outerShdw>
          </a:effectLst>
        </p:spPr>
      </p:sp>
      <p:sp>
        <p:nvSpPr>
          <p:cNvPr id="27" name="Text 25"/>
          <p:cNvSpPr txBox="1"/>
          <p:nvPr/>
        </p:nvSpPr>
        <p:spPr>
          <a:xfrm>
            <a:off x="2514600" y="1783080"/>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Jasmine</a:t>
            </a:r>
            <a:endParaRPr lang="en-US" sz="850" dirty="0"/>
          </a:p>
        </p:txBody>
      </p:sp>
      <p:sp>
        <p:nvSpPr>
          <p:cNvPr id="28" name="Shape 26"/>
          <p:cNvSpPr/>
          <p:nvPr/>
        </p:nvSpPr>
        <p:spPr>
          <a:xfrm>
            <a:off x="3547872" y="1783080"/>
            <a:ext cx="969264" cy="292608"/>
          </a:xfrm>
          <a:prstGeom prst="roundRect">
            <a:avLst>
              <a:gd name="adj" fmla="val 50000"/>
            </a:avLst>
          </a:prstGeom>
          <a:solidFill>
            <a:srgbClr val="C88A2E"/>
          </a:solidFill>
          <a:ln/>
          <a:effectLst>
            <a:outerShdw sx="100000" sy="100000" kx="0" ky="0" algn="bl" rotWithShape="0" blurRad="76200" dist="25400" dir="5400000">
              <a:srgbClr val="9AAAB5">
                <a:alpha val="35000"/>
              </a:srgbClr>
            </a:outerShdw>
          </a:effectLst>
        </p:spPr>
      </p:sp>
      <p:sp>
        <p:nvSpPr>
          <p:cNvPr id="29" name="Text 27"/>
          <p:cNvSpPr txBox="1"/>
          <p:nvPr/>
        </p:nvSpPr>
        <p:spPr>
          <a:xfrm>
            <a:off x="3547872" y="1783080"/>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a:t>
            </a:r>
            <a:endParaRPr lang="en-US" sz="850" dirty="0"/>
          </a:p>
        </p:txBody>
      </p:sp>
      <p:sp>
        <p:nvSpPr>
          <p:cNvPr id="30" name="Shape 28"/>
          <p:cNvSpPr/>
          <p:nvPr/>
        </p:nvSpPr>
        <p:spPr>
          <a:xfrm>
            <a:off x="4581144" y="1783080"/>
            <a:ext cx="969264" cy="292608"/>
          </a:xfrm>
          <a:prstGeom prst="roundRect">
            <a:avLst>
              <a:gd name="adj" fmla="val 50000"/>
            </a:avLst>
          </a:prstGeom>
          <a:solidFill>
            <a:srgbClr val="C88A2E"/>
          </a:solidFill>
          <a:ln/>
          <a:effectLst>
            <a:outerShdw sx="100000" sy="100000" kx="0" ky="0" algn="bl" rotWithShape="0" blurRad="76200" dist="25400" dir="5400000">
              <a:srgbClr val="9AAAB5">
                <a:alpha val="35000"/>
              </a:srgbClr>
            </a:outerShdw>
          </a:effectLst>
        </p:spPr>
      </p:sp>
      <p:sp>
        <p:nvSpPr>
          <p:cNvPr id="31" name="Text 29"/>
          <p:cNvSpPr txBox="1"/>
          <p:nvPr/>
        </p:nvSpPr>
        <p:spPr>
          <a:xfrm>
            <a:off x="4581144" y="1783080"/>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Luke</a:t>
            </a:r>
            <a:endParaRPr lang="en-US" sz="850" dirty="0"/>
          </a:p>
        </p:txBody>
      </p:sp>
      <p:sp>
        <p:nvSpPr>
          <p:cNvPr id="32" name="Shape 30"/>
          <p:cNvSpPr/>
          <p:nvPr/>
        </p:nvSpPr>
        <p:spPr>
          <a:xfrm>
            <a:off x="5614416" y="1783080"/>
            <a:ext cx="969264" cy="292608"/>
          </a:xfrm>
          <a:prstGeom prst="roundRect">
            <a:avLst>
              <a:gd name="adj" fmla="val 50000"/>
            </a:avLst>
          </a:prstGeom>
          <a:solidFill>
            <a:srgbClr val="C88A2E"/>
          </a:solidFill>
          <a:ln/>
          <a:effectLst>
            <a:outerShdw sx="100000" sy="100000" kx="0" ky="0" algn="bl" rotWithShape="0" blurRad="76200" dist="25400" dir="5400000">
              <a:srgbClr val="9AAAB5">
                <a:alpha val="35000"/>
              </a:srgbClr>
            </a:outerShdw>
          </a:effectLst>
        </p:spPr>
      </p:sp>
      <p:sp>
        <p:nvSpPr>
          <p:cNvPr id="33" name="Text 31"/>
          <p:cNvSpPr txBox="1"/>
          <p:nvPr/>
        </p:nvSpPr>
        <p:spPr>
          <a:xfrm>
            <a:off x="5614416" y="1783080"/>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Luke</a:t>
            </a:r>
            <a:endParaRPr lang="en-US" sz="850" dirty="0"/>
          </a:p>
        </p:txBody>
      </p:sp>
      <p:sp>
        <p:nvSpPr>
          <p:cNvPr id="34" name="Shape 32"/>
          <p:cNvSpPr/>
          <p:nvPr/>
        </p:nvSpPr>
        <p:spPr>
          <a:xfrm>
            <a:off x="6647688" y="1783080"/>
            <a:ext cx="969264" cy="292608"/>
          </a:xfrm>
          <a:prstGeom prst="roundRect">
            <a:avLst>
              <a:gd name="adj" fmla="val 50000"/>
            </a:avLst>
          </a:prstGeom>
          <a:solidFill>
            <a:srgbClr val="C88A2E"/>
          </a:solidFill>
          <a:ln/>
          <a:effectLst>
            <a:outerShdw sx="100000" sy="100000" kx="0" ky="0" algn="bl" rotWithShape="0" blurRad="76200" dist="25400" dir="5400000">
              <a:srgbClr val="9AAAB5">
                <a:alpha val="35000"/>
              </a:srgbClr>
            </a:outerShdw>
          </a:effectLst>
        </p:spPr>
      </p:sp>
      <p:sp>
        <p:nvSpPr>
          <p:cNvPr id="35" name="Text 33"/>
          <p:cNvSpPr txBox="1"/>
          <p:nvPr/>
        </p:nvSpPr>
        <p:spPr>
          <a:xfrm>
            <a:off x="6647688" y="1783080"/>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Janice</a:t>
            </a:r>
            <a:endParaRPr lang="en-US" sz="850" dirty="0"/>
          </a:p>
        </p:txBody>
      </p:sp>
      <p:sp>
        <p:nvSpPr>
          <p:cNvPr id="36" name="Shape 34"/>
          <p:cNvSpPr/>
          <p:nvPr/>
        </p:nvSpPr>
        <p:spPr>
          <a:xfrm>
            <a:off x="7680960" y="1783080"/>
            <a:ext cx="969264" cy="292608"/>
          </a:xfrm>
          <a:prstGeom prst="roundRect">
            <a:avLst>
              <a:gd name="adj" fmla="val 50000"/>
            </a:avLst>
          </a:prstGeom>
          <a:solidFill>
            <a:srgbClr val="C88A2E"/>
          </a:solidFill>
          <a:ln/>
          <a:effectLst>
            <a:outerShdw sx="100000" sy="100000" kx="0" ky="0" algn="bl" rotWithShape="0" blurRad="76200" dist="25400" dir="5400000">
              <a:srgbClr val="9AAAB5">
                <a:alpha val="35000"/>
              </a:srgbClr>
            </a:outerShdw>
          </a:effectLst>
        </p:spPr>
      </p:sp>
      <p:sp>
        <p:nvSpPr>
          <p:cNvPr id="37" name="Text 35"/>
          <p:cNvSpPr txBox="1"/>
          <p:nvPr/>
        </p:nvSpPr>
        <p:spPr>
          <a:xfrm>
            <a:off x="7680960" y="1783080"/>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Matt</a:t>
            </a:r>
            <a:endParaRPr lang="en-US" sz="850" dirty="0"/>
          </a:p>
        </p:txBody>
      </p:sp>
      <p:sp>
        <p:nvSpPr>
          <p:cNvPr id="38" name="Shape 36"/>
          <p:cNvSpPr/>
          <p:nvPr/>
        </p:nvSpPr>
        <p:spPr>
          <a:xfrm>
            <a:off x="8714232" y="1783080"/>
            <a:ext cx="969264" cy="292608"/>
          </a:xfrm>
          <a:prstGeom prst="roundRect">
            <a:avLst>
              <a:gd name="adj" fmla="val 50000"/>
            </a:avLst>
          </a:prstGeom>
          <a:solidFill>
            <a:srgbClr val="B4552D"/>
          </a:solidFill>
          <a:ln/>
          <a:effectLst>
            <a:outerShdw sx="100000" sy="100000" kx="0" ky="0" algn="bl" rotWithShape="0" blurRad="76200" dist="25400" dir="5400000">
              <a:srgbClr val="9AAAB5">
                <a:alpha val="35000"/>
              </a:srgbClr>
            </a:outerShdw>
          </a:effectLst>
        </p:spPr>
      </p:sp>
      <p:sp>
        <p:nvSpPr>
          <p:cNvPr id="39" name="Text 37"/>
          <p:cNvSpPr txBox="1"/>
          <p:nvPr/>
        </p:nvSpPr>
        <p:spPr>
          <a:xfrm>
            <a:off x="8714232" y="1783080"/>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Matt</a:t>
            </a:r>
            <a:endParaRPr lang="en-US" sz="850" dirty="0"/>
          </a:p>
        </p:txBody>
      </p:sp>
      <p:sp>
        <p:nvSpPr>
          <p:cNvPr id="40" name="Shape 38"/>
          <p:cNvSpPr/>
          <p:nvPr/>
        </p:nvSpPr>
        <p:spPr>
          <a:xfrm>
            <a:off x="9747504" y="1783080"/>
            <a:ext cx="969264" cy="292608"/>
          </a:xfrm>
          <a:prstGeom prst="roundRect">
            <a:avLst>
              <a:gd name="adj" fmla="val 50000"/>
            </a:avLst>
          </a:prstGeom>
          <a:solidFill>
            <a:srgbClr val="B4552D"/>
          </a:solidFill>
          <a:ln/>
          <a:effectLst>
            <a:outerShdw sx="100000" sy="100000" kx="0" ky="0" algn="bl" rotWithShape="0" blurRad="76200" dist="25400" dir="5400000">
              <a:srgbClr val="9AAAB5">
                <a:alpha val="35000"/>
              </a:srgbClr>
            </a:outerShdw>
          </a:effectLst>
        </p:spPr>
      </p:sp>
      <p:sp>
        <p:nvSpPr>
          <p:cNvPr id="41" name="Text 39"/>
          <p:cNvSpPr txBox="1"/>
          <p:nvPr/>
        </p:nvSpPr>
        <p:spPr>
          <a:xfrm>
            <a:off x="9747504" y="1783080"/>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Matt</a:t>
            </a:r>
            <a:endParaRPr lang="en-US" sz="850" dirty="0"/>
          </a:p>
        </p:txBody>
      </p:sp>
      <p:sp>
        <p:nvSpPr>
          <p:cNvPr id="42" name="Shape 40"/>
          <p:cNvSpPr/>
          <p:nvPr/>
        </p:nvSpPr>
        <p:spPr>
          <a:xfrm>
            <a:off x="10780776" y="1783080"/>
            <a:ext cx="969264" cy="292608"/>
          </a:xfrm>
          <a:prstGeom prst="roundRect">
            <a:avLst>
              <a:gd name="adj" fmla="val 50000"/>
            </a:avLst>
          </a:prstGeom>
          <a:solidFill>
            <a:srgbClr val="C88A2E"/>
          </a:solidFill>
          <a:ln/>
          <a:effectLst>
            <a:outerShdw sx="100000" sy="100000" kx="0" ky="0" algn="bl" rotWithShape="0" blurRad="76200" dist="25400" dir="5400000">
              <a:srgbClr val="9AAAB5">
                <a:alpha val="35000"/>
              </a:srgbClr>
            </a:outerShdw>
          </a:effectLst>
        </p:spPr>
      </p:sp>
      <p:sp>
        <p:nvSpPr>
          <p:cNvPr id="43" name="Text 41"/>
          <p:cNvSpPr txBox="1"/>
          <p:nvPr/>
        </p:nvSpPr>
        <p:spPr>
          <a:xfrm>
            <a:off x="10780776" y="1783080"/>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Eric</a:t>
            </a:r>
            <a:endParaRPr lang="en-US" sz="850" dirty="0"/>
          </a:p>
        </p:txBody>
      </p:sp>
      <p:sp>
        <p:nvSpPr>
          <p:cNvPr id="44" name="Shape 42"/>
          <p:cNvSpPr/>
          <p:nvPr/>
        </p:nvSpPr>
        <p:spPr>
          <a:xfrm>
            <a:off x="411480" y="2340864"/>
            <a:ext cx="11365992" cy="603504"/>
          </a:xfrm>
          <a:prstGeom prst="roundRect">
            <a:avLst>
              <a:gd name="adj" fmla="val 10606"/>
            </a:avLst>
          </a:prstGeom>
          <a:solidFill>
            <a:srgbClr val="FFFFFF"/>
          </a:solidFill>
          <a:ln/>
          <a:effectLst>
            <a:outerShdw sx="100000" sy="100000" kx="0" ky="0" algn="bl" rotWithShape="0" blurRad="76200" dist="25400" dir="5400000">
              <a:srgbClr val="9AAAB5">
                <a:alpha val="35000"/>
              </a:srgbClr>
            </a:outerShdw>
          </a:effectLst>
        </p:spPr>
      </p:sp>
      <p:sp>
        <p:nvSpPr>
          <p:cNvPr id="45" name="Text 43"/>
          <p:cNvSpPr txBox="1"/>
          <p:nvPr/>
        </p:nvSpPr>
        <p:spPr>
          <a:xfrm>
            <a:off x="594360" y="2340864"/>
            <a:ext cx="1828800" cy="603504"/>
          </a:xfrm>
          <a:prstGeom prst="rect">
            <a:avLst/>
          </a:prstGeom>
          <a:noFill/>
          <a:ln/>
        </p:spPr>
        <p:txBody>
          <a:bodyPr wrap="square" lIns="0" tIns="0" rIns="0" bIns="0" rtlCol="0" anchor="ctr"/>
          <a:lstStyle/>
          <a:p>
            <a:pPr indent="0" marL="0">
              <a:buNone/>
            </a:pPr>
            <a:r>
              <a:rPr lang="en-US" sz="1100" b="1" dirty="0">
                <a:solidFill>
                  <a:srgbClr val="12293A"/>
                </a:solidFill>
                <a:latin typeface="Poppins" pitchFamily="34" charset="0"/>
                <a:ea typeface="Poppins" pitchFamily="34" charset="-122"/>
                <a:cs typeface="Poppins" pitchFamily="34" charset="-120"/>
              </a:rPr>
              <a:t>Roam</a:t>
            </a:r>
            <a:endParaRPr lang="en-US" sz="1100" dirty="0"/>
          </a:p>
        </p:txBody>
      </p:sp>
      <p:sp>
        <p:nvSpPr>
          <p:cNvPr id="46" name="Shape 44"/>
          <p:cNvSpPr/>
          <p:nvPr/>
        </p:nvSpPr>
        <p:spPr>
          <a:xfrm>
            <a:off x="2514600" y="2496312"/>
            <a:ext cx="969264" cy="292608"/>
          </a:xfrm>
          <a:prstGeom prst="roundRect">
            <a:avLst>
              <a:gd name="adj" fmla="val 50000"/>
            </a:avLst>
          </a:prstGeom>
          <a:solidFill>
            <a:srgbClr val="C88A2E"/>
          </a:solidFill>
          <a:ln/>
          <a:effectLst>
            <a:outerShdw sx="100000" sy="100000" kx="0" ky="0" algn="bl" rotWithShape="0" blurRad="76200" dist="25400" dir="5400000">
              <a:srgbClr val="9AAAB5">
                <a:alpha val="35000"/>
              </a:srgbClr>
            </a:outerShdw>
          </a:effectLst>
        </p:spPr>
      </p:sp>
      <p:sp>
        <p:nvSpPr>
          <p:cNvPr id="47" name="Text 45"/>
          <p:cNvSpPr txBox="1"/>
          <p:nvPr/>
        </p:nvSpPr>
        <p:spPr>
          <a:xfrm>
            <a:off x="2514600" y="2496312"/>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Bjorn</a:t>
            </a:r>
            <a:endParaRPr lang="en-US" sz="850" dirty="0"/>
          </a:p>
        </p:txBody>
      </p:sp>
      <p:sp>
        <p:nvSpPr>
          <p:cNvPr id="48" name="Shape 46"/>
          <p:cNvSpPr/>
          <p:nvPr/>
        </p:nvSpPr>
        <p:spPr>
          <a:xfrm>
            <a:off x="3547872" y="2496312"/>
            <a:ext cx="969264" cy="292608"/>
          </a:xfrm>
          <a:prstGeom prst="roundRect">
            <a:avLst>
              <a:gd name="adj" fmla="val 50000"/>
            </a:avLst>
          </a:prstGeom>
          <a:solidFill>
            <a:srgbClr val="3D8F5F"/>
          </a:solidFill>
          <a:ln/>
          <a:effectLst>
            <a:outerShdw sx="100000" sy="100000" kx="0" ky="0" algn="bl" rotWithShape="0" blurRad="76200" dist="25400" dir="5400000">
              <a:srgbClr val="9AAAB5">
                <a:alpha val="35000"/>
              </a:srgbClr>
            </a:outerShdw>
          </a:effectLst>
        </p:spPr>
      </p:sp>
      <p:sp>
        <p:nvSpPr>
          <p:cNvPr id="49" name="Text 47"/>
          <p:cNvSpPr txBox="1"/>
          <p:nvPr/>
        </p:nvSpPr>
        <p:spPr>
          <a:xfrm>
            <a:off x="3547872" y="2496312"/>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a:t>
            </a:r>
            <a:endParaRPr lang="en-US" sz="850" dirty="0"/>
          </a:p>
        </p:txBody>
      </p:sp>
      <p:sp>
        <p:nvSpPr>
          <p:cNvPr id="50" name="Shape 48"/>
          <p:cNvSpPr/>
          <p:nvPr/>
        </p:nvSpPr>
        <p:spPr>
          <a:xfrm>
            <a:off x="4581144" y="2496312"/>
            <a:ext cx="969264" cy="292608"/>
          </a:xfrm>
          <a:prstGeom prst="roundRect">
            <a:avLst>
              <a:gd name="adj" fmla="val 50000"/>
            </a:avLst>
          </a:prstGeom>
          <a:solidFill>
            <a:srgbClr val="3D8F5F"/>
          </a:solidFill>
          <a:ln/>
          <a:effectLst>
            <a:outerShdw sx="100000" sy="100000" kx="0" ky="0" algn="bl" rotWithShape="0" blurRad="76200" dist="25400" dir="5400000">
              <a:srgbClr val="9AAAB5">
                <a:alpha val="35000"/>
              </a:srgbClr>
            </a:outerShdw>
          </a:effectLst>
        </p:spPr>
      </p:sp>
      <p:sp>
        <p:nvSpPr>
          <p:cNvPr id="51" name="Text 49"/>
          <p:cNvSpPr txBox="1"/>
          <p:nvPr/>
        </p:nvSpPr>
        <p:spPr>
          <a:xfrm>
            <a:off x="4581144" y="2496312"/>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Luke</a:t>
            </a:r>
            <a:endParaRPr lang="en-US" sz="850" dirty="0"/>
          </a:p>
        </p:txBody>
      </p:sp>
      <p:sp>
        <p:nvSpPr>
          <p:cNvPr id="52" name="Shape 50"/>
          <p:cNvSpPr/>
          <p:nvPr/>
        </p:nvSpPr>
        <p:spPr>
          <a:xfrm>
            <a:off x="5614416" y="2496312"/>
            <a:ext cx="969264" cy="292608"/>
          </a:xfrm>
          <a:prstGeom prst="roundRect">
            <a:avLst>
              <a:gd name="adj" fmla="val 50000"/>
            </a:avLst>
          </a:prstGeom>
          <a:solidFill>
            <a:srgbClr val="3D8F5F"/>
          </a:solidFill>
          <a:ln/>
          <a:effectLst>
            <a:outerShdw sx="100000" sy="100000" kx="0" ky="0" algn="bl" rotWithShape="0" blurRad="76200" dist="25400" dir="5400000">
              <a:srgbClr val="9AAAB5">
                <a:alpha val="35000"/>
              </a:srgbClr>
            </a:outerShdw>
          </a:effectLst>
        </p:spPr>
      </p:sp>
      <p:sp>
        <p:nvSpPr>
          <p:cNvPr id="53" name="Text 51"/>
          <p:cNvSpPr txBox="1"/>
          <p:nvPr/>
        </p:nvSpPr>
        <p:spPr>
          <a:xfrm>
            <a:off x="5614416" y="2496312"/>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Luke</a:t>
            </a:r>
            <a:endParaRPr lang="en-US" sz="850" dirty="0"/>
          </a:p>
        </p:txBody>
      </p:sp>
      <p:sp>
        <p:nvSpPr>
          <p:cNvPr id="54" name="Shape 52"/>
          <p:cNvSpPr/>
          <p:nvPr/>
        </p:nvSpPr>
        <p:spPr>
          <a:xfrm>
            <a:off x="6647688" y="2496312"/>
            <a:ext cx="969264" cy="292608"/>
          </a:xfrm>
          <a:prstGeom prst="roundRect">
            <a:avLst>
              <a:gd name="adj" fmla="val 50000"/>
            </a:avLst>
          </a:prstGeom>
          <a:solidFill>
            <a:srgbClr val="3D8F5F"/>
          </a:solidFill>
          <a:ln/>
          <a:effectLst>
            <a:outerShdw sx="100000" sy="100000" kx="0" ky="0" algn="bl" rotWithShape="0" blurRad="76200" dist="25400" dir="5400000">
              <a:srgbClr val="9AAAB5">
                <a:alpha val="35000"/>
              </a:srgbClr>
            </a:outerShdw>
          </a:effectLst>
        </p:spPr>
      </p:sp>
      <p:sp>
        <p:nvSpPr>
          <p:cNvPr id="55" name="Text 53"/>
          <p:cNvSpPr txBox="1"/>
          <p:nvPr/>
        </p:nvSpPr>
        <p:spPr>
          <a:xfrm>
            <a:off x="6647688" y="2496312"/>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Janice</a:t>
            </a:r>
            <a:endParaRPr lang="en-US" sz="850" dirty="0"/>
          </a:p>
        </p:txBody>
      </p:sp>
      <p:sp>
        <p:nvSpPr>
          <p:cNvPr id="56" name="Shape 54"/>
          <p:cNvSpPr/>
          <p:nvPr/>
        </p:nvSpPr>
        <p:spPr>
          <a:xfrm>
            <a:off x="7680960" y="2496312"/>
            <a:ext cx="969264" cy="292608"/>
          </a:xfrm>
          <a:prstGeom prst="roundRect">
            <a:avLst>
              <a:gd name="adj" fmla="val 50000"/>
            </a:avLst>
          </a:prstGeom>
          <a:solidFill>
            <a:srgbClr val="3D8F5F"/>
          </a:solidFill>
          <a:ln/>
          <a:effectLst>
            <a:outerShdw sx="100000" sy="100000" kx="0" ky="0" algn="bl" rotWithShape="0" blurRad="76200" dist="25400" dir="5400000">
              <a:srgbClr val="9AAAB5">
                <a:alpha val="35000"/>
              </a:srgbClr>
            </a:outerShdw>
          </a:effectLst>
        </p:spPr>
      </p:sp>
      <p:sp>
        <p:nvSpPr>
          <p:cNvPr id="57" name="Text 55"/>
          <p:cNvSpPr txBox="1"/>
          <p:nvPr/>
        </p:nvSpPr>
        <p:spPr>
          <a:xfrm>
            <a:off x="7680960" y="2496312"/>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Matt</a:t>
            </a:r>
            <a:endParaRPr lang="en-US" sz="850" dirty="0"/>
          </a:p>
        </p:txBody>
      </p:sp>
      <p:sp>
        <p:nvSpPr>
          <p:cNvPr id="58" name="Shape 56"/>
          <p:cNvSpPr/>
          <p:nvPr/>
        </p:nvSpPr>
        <p:spPr>
          <a:xfrm>
            <a:off x="8714232" y="2496312"/>
            <a:ext cx="969264" cy="292608"/>
          </a:xfrm>
          <a:prstGeom prst="roundRect">
            <a:avLst>
              <a:gd name="adj" fmla="val 50000"/>
            </a:avLst>
          </a:prstGeom>
          <a:solidFill>
            <a:srgbClr val="C88A2E"/>
          </a:solidFill>
          <a:ln/>
          <a:effectLst>
            <a:outerShdw sx="100000" sy="100000" kx="0" ky="0" algn="bl" rotWithShape="0" blurRad="76200" dist="25400" dir="5400000">
              <a:srgbClr val="9AAAB5">
                <a:alpha val="35000"/>
              </a:srgbClr>
            </a:outerShdw>
          </a:effectLst>
        </p:spPr>
      </p:sp>
      <p:sp>
        <p:nvSpPr>
          <p:cNvPr id="59" name="Text 57"/>
          <p:cNvSpPr txBox="1"/>
          <p:nvPr/>
        </p:nvSpPr>
        <p:spPr>
          <a:xfrm>
            <a:off x="8714232" y="2496312"/>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Matt</a:t>
            </a:r>
            <a:endParaRPr lang="en-US" sz="850" dirty="0"/>
          </a:p>
        </p:txBody>
      </p:sp>
      <p:sp>
        <p:nvSpPr>
          <p:cNvPr id="60" name="Shape 58"/>
          <p:cNvSpPr/>
          <p:nvPr/>
        </p:nvSpPr>
        <p:spPr>
          <a:xfrm>
            <a:off x="9747504" y="2496312"/>
            <a:ext cx="969264" cy="292608"/>
          </a:xfrm>
          <a:prstGeom prst="roundRect">
            <a:avLst>
              <a:gd name="adj" fmla="val 50000"/>
            </a:avLst>
          </a:prstGeom>
          <a:solidFill>
            <a:srgbClr val="3D8F5F"/>
          </a:solidFill>
          <a:ln/>
          <a:effectLst>
            <a:outerShdw sx="100000" sy="100000" kx="0" ky="0" algn="bl" rotWithShape="0" blurRad="76200" dist="25400" dir="5400000">
              <a:srgbClr val="9AAAB5">
                <a:alpha val="35000"/>
              </a:srgbClr>
            </a:outerShdw>
          </a:effectLst>
        </p:spPr>
      </p:sp>
      <p:sp>
        <p:nvSpPr>
          <p:cNvPr id="61" name="Text 59"/>
          <p:cNvSpPr txBox="1"/>
          <p:nvPr/>
        </p:nvSpPr>
        <p:spPr>
          <a:xfrm>
            <a:off x="9747504" y="2496312"/>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Matt</a:t>
            </a:r>
            <a:endParaRPr lang="en-US" sz="850" dirty="0"/>
          </a:p>
        </p:txBody>
      </p:sp>
      <p:sp>
        <p:nvSpPr>
          <p:cNvPr id="62" name="Shape 60"/>
          <p:cNvSpPr/>
          <p:nvPr/>
        </p:nvSpPr>
        <p:spPr>
          <a:xfrm>
            <a:off x="10780776" y="2496312"/>
            <a:ext cx="969264" cy="292608"/>
          </a:xfrm>
          <a:prstGeom prst="roundRect">
            <a:avLst>
              <a:gd name="adj" fmla="val 50000"/>
            </a:avLst>
          </a:prstGeom>
          <a:solidFill>
            <a:srgbClr val="C7D3DA"/>
          </a:solidFill>
          <a:ln/>
          <a:effectLst>
            <a:outerShdw sx="100000" sy="100000" kx="0" ky="0" algn="bl" rotWithShape="0" blurRad="76200" dist="25400" dir="5400000">
              <a:srgbClr val="9AAAB5">
                <a:alpha val="35000"/>
              </a:srgbClr>
            </a:outerShdw>
          </a:effectLst>
        </p:spPr>
      </p:sp>
      <p:sp>
        <p:nvSpPr>
          <p:cNvPr id="63" name="Text 61"/>
          <p:cNvSpPr txBox="1"/>
          <p:nvPr/>
        </p:nvSpPr>
        <p:spPr>
          <a:xfrm>
            <a:off x="10780776" y="2496312"/>
            <a:ext cx="969264" cy="292608"/>
          </a:xfrm>
          <a:prstGeom prst="rect">
            <a:avLst/>
          </a:prstGeom>
          <a:noFill/>
          <a:ln/>
        </p:spPr>
        <p:txBody>
          <a:bodyPr wrap="square" lIns="0" tIns="0" rIns="0" bIns="0" rtlCol="0" anchor="ctr"/>
          <a:lstStyle/>
          <a:p>
            <a:pPr algn="ctr" indent="0" marL="0">
              <a:buNone/>
            </a:pPr>
            <a:r>
              <a:rPr lang="en-US" sz="850" b="1" dirty="0">
                <a:solidFill>
                  <a:srgbClr val="5E7280"/>
                </a:solidFill>
                <a:latin typeface="Poppins" pitchFamily="34" charset="0"/>
                <a:ea typeface="Poppins" pitchFamily="34" charset="-122"/>
                <a:cs typeface="Poppins" pitchFamily="34" charset="-120"/>
              </a:rPr>
              <a:t>N/A</a:t>
            </a:r>
            <a:endParaRPr lang="en-US" sz="850" dirty="0"/>
          </a:p>
        </p:txBody>
      </p:sp>
      <p:sp>
        <p:nvSpPr>
          <p:cNvPr id="64" name="Shape 62"/>
          <p:cNvSpPr/>
          <p:nvPr/>
        </p:nvSpPr>
        <p:spPr>
          <a:xfrm>
            <a:off x="411480" y="3054096"/>
            <a:ext cx="11365992" cy="603504"/>
          </a:xfrm>
          <a:prstGeom prst="roundRect">
            <a:avLst>
              <a:gd name="adj" fmla="val 10606"/>
            </a:avLst>
          </a:prstGeom>
          <a:solidFill>
            <a:srgbClr val="FFFFFF"/>
          </a:solidFill>
          <a:ln/>
          <a:effectLst>
            <a:outerShdw sx="100000" sy="100000" kx="0" ky="0" algn="bl" rotWithShape="0" blurRad="76200" dist="25400" dir="5400000">
              <a:srgbClr val="9AAAB5">
                <a:alpha val="35000"/>
              </a:srgbClr>
            </a:outerShdw>
          </a:effectLst>
        </p:spPr>
      </p:sp>
      <p:sp>
        <p:nvSpPr>
          <p:cNvPr id="65" name="Text 63"/>
          <p:cNvSpPr txBox="1"/>
          <p:nvPr/>
        </p:nvSpPr>
        <p:spPr>
          <a:xfrm>
            <a:off x="594360" y="3054096"/>
            <a:ext cx="1828800" cy="603504"/>
          </a:xfrm>
          <a:prstGeom prst="rect">
            <a:avLst/>
          </a:prstGeom>
          <a:noFill/>
          <a:ln/>
        </p:spPr>
        <p:txBody>
          <a:bodyPr wrap="square" lIns="0" tIns="0" rIns="0" bIns="0" rtlCol="0" anchor="ctr"/>
          <a:lstStyle/>
          <a:p>
            <a:pPr indent="0" marL="0">
              <a:buNone/>
            </a:pPr>
            <a:r>
              <a:rPr lang="en-US" sz="1100" b="1" dirty="0">
                <a:solidFill>
                  <a:srgbClr val="12293A"/>
                </a:solidFill>
                <a:latin typeface="Poppins" pitchFamily="34" charset="0"/>
                <a:ea typeface="Poppins" pitchFamily="34" charset="-122"/>
                <a:cs typeface="Poppins" pitchFamily="34" charset="-120"/>
              </a:rPr>
              <a:t>Sentinel AI</a:t>
            </a:r>
            <a:endParaRPr lang="en-US" sz="1100" dirty="0"/>
          </a:p>
        </p:txBody>
      </p:sp>
      <p:sp>
        <p:nvSpPr>
          <p:cNvPr id="66" name="Shape 64"/>
          <p:cNvSpPr/>
          <p:nvPr/>
        </p:nvSpPr>
        <p:spPr>
          <a:xfrm>
            <a:off x="2514600" y="3209544"/>
            <a:ext cx="969264" cy="292608"/>
          </a:xfrm>
          <a:prstGeom prst="roundRect">
            <a:avLst>
              <a:gd name="adj" fmla="val 50000"/>
            </a:avLst>
          </a:prstGeom>
          <a:solidFill>
            <a:srgbClr val="B4552D"/>
          </a:solidFill>
          <a:ln/>
          <a:effectLst>
            <a:outerShdw sx="100000" sy="100000" kx="0" ky="0" algn="bl" rotWithShape="0" blurRad="76200" dist="25400" dir="5400000">
              <a:srgbClr val="9AAAB5">
                <a:alpha val="35000"/>
              </a:srgbClr>
            </a:outerShdw>
          </a:effectLst>
        </p:spPr>
      </p:sp>
      <p:sp>
        <p:nvSpPr>
          <p:cNvPr id="67" name="Text 65"/>
          <p:cNvSpPr txBox="1"/>
          <p:nvPr/>
        </p:nvSpPr>
        <p:spPr>
          <a:xfrm>
            <a:off x="2514600" y="3209544"/>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Bradford *1</a:t>
            </a:r>
            <a:endParaRPr lang="en-US" sz="850" dirty="0"/>
          </a:p>
        </p:txBody>
      </p:sp>
      <p:sp>
        <p:nvSpPr>
          <p:cNvPr id="68" name="Shape 66"/>
          <p:cNvSpPr/>
          <p:nvPr/>
        </p:nvSpPr>
        <p:spPr>
          <a:xfrm>
            <a:off x="3547872" y="3209544"/>
            <a:ext cx="969264" cy="292608"/>
          </a:xfrm>
          <a:prstGeom prst="roundRect">
            <a:avLst>
              <a:gd name="adj" fmla="val 50000"/>
            </a:avLst>
          </a:prstGeom>
          <a:solidFill>
            <a:srgbClr val="C88A2E"/>
          </a:solidFill>
          <a:ln/>
          <a:effectLst>
            <a:outerShdw sx="100000" sy="100000" kx="0" ky="0" algn="bl" rotWithShape="0" blurRad="76200" dist="25400" dir="5400000">
              <a:srgbClr val="9AAAB5">
                <a:alpha val="35000"/>
              </a:srgbClr>
            </a:outerShdw>
          </a:effectLst>
        </p:spPr>
      </p:sp>
      <p:sp>
        <p:nvSpPr>
          <p:cNvPr id="69" name="Text 67"/>
          <p:cNvSpPr txBox="1"/>
          <p:nvPr/>
        </p:nvSpPr>
        <p:spPr>
          <a:xfrm>
            <a:off x="3547872" y="3209544"/>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a:t>
            </a:r>
            <a:endParaRPr lang="en-US" sz="850" dirty="0"/>
          </a:p>
        </p:txBody>
      </p:sp>
      <p:sp>
        <p:nvSpPr>
          <p:cNvPr id="70" name="Shape 68"/>
          <p:cNvSpPr/>
          <p:nvPr/>
        </p:nvSpPr>
        <p:spPr>
          <a:xfrm>
            <a:off x="4581144" y="3209544"/>
            <a:ext cx="969264" cy="292608"/>
          </a:xfrm>
          <a:prstGeom prst="roundRect">
            <a:avLst>
              <a:gd name="adj" fmla="val 50000"/>
            </a:avLst>
          </a:prstGeom>
          <a:solidFill>
            <a:srgbClr val="B4552D"/>
          </a:solidFill>
          <a:ln/>
          <a:effectLst>
            <a:outerShdw sx="100000" sy="100000" kx="0" ky="0" algn="bl" rotWithShape="0" blurRad="76200" dist="25400" dir="5400000">
              <a:srgbClr val="9AAAB5">
                <a:alpha val="35000"/>
              </a:srgbClr>
            </a:outerShdw>
          </a:effectLst>
        </p:spPr>
      </p:sp>
      <p:sp>
        <p:nvSpPr>
          <p:cNvPr id="71" name="Text 69"/>
          <p:cNvSpPr txBox="1"/>
          <p:nvPr/>
        </p:nvSpPr>
        <p:spPr>
          <a:xfrm>
            <a:off x="4581144" y="3209544"/>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Luke</a:t>
            </a:r>
            <a:endParaRPr lang="en-US" sz="850" dirty="0"/>
          </a:p>
        </p:txBody>
      </p:sp>
      <p:sp>
        <p:nvSpPr>
          <p:cNvPr id="72" name="Shape 70"/>
          <p:cNvSpPr/>
          <p:nvPr/>
        </p:nvSpPr>
        <p:spPr>
          <a:xfrm>
            <a:off x="5614416" y="3209544"/>
            <a:ext cx="969264" cy="292608"/>
          </a:xfrm>
          <a:prstGeom prst="roundRect">
            <a:avLst>
              <a:gd name="adj" fmla="val 50000"/>
            </a:avLst>
          </a:prstGeom>
          <a:solidFill>
            <a:srgbClr val="B4552D"/>
          </a:solidFill>
          <a:ln/>
          <a:effectLst>
            <a:outerShdw sx="100000" sy="100000" kx="0" ky="0" algn="bl" rotWithShape="0" blurRad="76200" dist="25400" dir="5400000">
              <a:srgbClr val="9AAAB5">
                <a:alpha val="35000"/>
              </a:srgbClr>
            </a:outerShdw>
          </a:effectLst>
        </p:spPr>
      </p:sp>
      <p:sp>
        <p:nvSpPr>
          <p:cNvPr id="73" name="Text 71"/>
          <p:cNvSpPr txBox="1"/>
          <p:nvPr/>
        </p:nvSpPr>
        <p:spPr>
          <a:xfrm>
            <a:off x="5614416" y="3209544"/>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Luke</a:t>
            </a:r>
            <a:endParaRPr lang="en-US" sz="850" dirty="0"/>
          </a:p>
        </p:txBody>
      </p:sp>
      <p:sp>
        <p:nvSpPr>
          <p:cNvPr id="74" name="Shape 72"/>
          <p:cNvSpPr/>
          <p:nvPr/>
        </p:nvSpPr>
        <p:spPr>
          <a:xfrm>
            <a:off x="6647688" y="3209544"/>
            <a:ext cx="969264" cy="292608"/>
          </a:xfrm>
          <a:prstGeom prst="roundRect">
            <a:avLst>
              <a:gd name="adj" fmla="val 50000"/>
            </a:avLst>
          </a:prstGeom>
          <a:solidFill>
            <a:srgbClr val="B4552D"/>
          </a:solidFill>
          <a:ln/>
          <a:effectLst>
            <a:outerShdw sx="100000" sy="100000" kx="0" ky="0" algn="bl" rotWithShape="0" blurRad="76200" dist="25400" dir="5400000">
              <a:srgbClr val="9AAAB5">
                <a:alpha val="35000"/>
              </a:srgbClr>
            </a:outerShdw>
          </a:effectLst>
        </p:spPr>
      </p:sp>
      <p:sp>
        <p:nvSpPr>
          <p:cNvPr id="75" name="Text 73"/>
          <p:cNvSpPr txBox="1"/>
          <p:nvPr/>
        </p:nvSpPr>
        <p:spPr>
          <a:xfrm>
            <a:off x="6647688" y="3209544"/>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Janice</a:t>
            </a:r>
            <a:endParaRPr lang="en-US" sz="850" dirty="0"/>
          </a:p>
        </p:txBody>
      </p:sp>
      <p:sp>
        <p:nvSpPr>
          <p:cNvPr id="76" name="Shape 74"/>
          <p:cNvSpPr/>
          <p:nvPr/>
        </p:nvSpPr>
        <p:spPr>
          <a:xfrm>
            <a:off x="7680960" y="3209544"/>
            <a:ext cx="969264" cy="292608"/>
          </a:xfrm>
          <a:prstGeom prst="roundRect">
            <a:avLst>
              <a:gd name="adj" fmla="val 50000"/>
            </a:avLst>
          </a:prstGeom>
          <a:solidFill>
            <a:srgbClr val="C88A2E"/>
          </a:solidFill>
          <a:ln/>
          <a:effectLst>
            <a:outerShdw sx="100000" sy="100000" kx="0" ky="0" algn="bl" rotWithShape="0" blurRad="76200" dist="25400" dir="5400000">
              <a:srgbClr val="9AAAB5">
                <a:alpha val="35000"/>
              </a:srgbClr>
            </a:outerShdw>
          </a:effectLst>
        </p:spPr>
      </p:sp>
      <p:sp>
        <p:nvSpPr>
          <p:cNvPr id="77" name="Text 75"/>
          <p:cNvSpPr txBox="1"/>
          <p:nvPr/>
        </p:nvSpPr>
        <p:spPr>
          <a:xfrm>
            <a:off x="7680960" y="3209544"/>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Matt</a:t>
            </a:r>
            <a:endParaRPr lang="en-US" sz="850" dirty="0"/>
          </a:p>
        </p:txBody>
      </p:sp>
      <p:sp>
        <p:nvSpPr>
          <p:cNvPr id="78" name="Shape 76"/>
          <p:cNvSpPr/>
          <p:nvPr/>
        </p:nvSpPr>
        <p:spPr>
          <a:xfrm>
            <a:off x="8714232" y="3209544"/>
            <a:ext cx="969264" cy="292608"/>
          </a:xfrm>
          <a:prstGeom prst="roundRect">
            <a:avLst>
              <a:gd name="adj" fmla="val 50000"/>
            </a:avLst>
          </a:prstGeom>
          <a:solidFill>
            <a:srgbClr val="B4552D"/>
          </a:solidFill>
          <a:ln/>
          <a:effectLst>
            <a:outerShdw sx="100000" sy="100000" kx="0" ky="0" algn="bl" rotWithShape="0" blurRad="76200" dist="25400" dir="5400000">
              <a:srgbClr val="9AAAB5">
                <a:alpha val="35000"/>
              </a:srgbClr>
            </a:outerShdw>
          </a:effectLst>
        </p:spPr>
      </p:sp>
      <p:sp>
        <p:nvSpPr>
          <p:cNvPr id="79" name="Text 77"/>
          <p:cNvSpPr txBox="1"/>
          <p:nvPr/>
        </p:nvSpPr>
        <p:spPr>
          <a:xfrm>
            <a:off x="8714232" y="3209544"/>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Matt</a:t>
            </a:r>
            <a:endParaRPr lang="en-US" sz="850" dirty="0"/>
          </a:p>
        </p:txBody>
      </p:sp>
      <p:sp>
        <p:nvSpPr>
          <p:cNvPr id="80" name="Shape 78"/>
          <p:cNvSpPr/>
          <p:nvPr/>
        </p:nvSpPr>
        <p:spPr>
          <a:xfrm>
            <a:off x="9747504" y="3209544"/>
            <a:ext cx="969264" cy="292608"/>
          </a:xfrm>
          <a:prstGeom prst="roundRect">
            <a:avLst>
              <a:gd name="adj" fmla="val 50000"/>
            </a:avLst>
          </a:prstGeom>
          <a:solidFill>
            <a:srgbClr val="B4552D"/>
          </a:solidFill>
          <a:ln/>
          <a:effectLst>
            <a:outerShdw sx="100000" sy="100000" kx="0" ky="0" algn="bl" rotWithShape="0" blurRad="76200" dist="25400" dir="5400000">
              <a:srgbClr val="9AAAB5">
                <a:alpha val="35000"/>
              </a:srgbClr>
            </a:outerShdw>
          </a:effectLst>
        </p:spPr>
      </p:sp>
      <p:sp>
        <p:nvSpPr>
          <p:cNvPr id="81" name="Text 79"/>
          <p:cNvSpPr txBox="1"/>
          <p:nvPr/>
        </p:nvSpPr>
        <p:spPr>
          <a:xfrm>
            <a:off x="9747504" y="3209544"/>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Matt</a:t>
            </a:r>
            <a:endParaRPr lang="en-US" sz="850" dirty="0"/>
          </a:p>
        </p:txBody>
      </p:sp>
      <p:sp>
        <p:nvSpPr>
          <p:cNvPr id="82" name="Shape 80"/>
          <p:cNvSpPr/>
          <p:nvPr/>
        </p:nvSpPr>
        <p:spPr>
          <a:xfrm>
            <a:off x="10780776" y="3209544"/>
            <a:ext cx="969264" cy="292608"/>
          </a:xfrm>
          <a:prstGeom prst="roundRect">
            <a:avLst>
              <a:gd name="adj" fmla="val 50000"/>
            </a:avLst>
          </a:prstGeom>
          <a:solidFill>
            <a:srgbClr val="B4552D"/>
          </a:solidFill>
          <a:ln/>
          <a:effectLst>
            <a:outerShdw sx="100000" sy="100000" kx="0" ky="0" algn="bl" rotWithShape="0" blurRad="76200" dist="25400" dir="5400000">
              <a:srgbClr val="9AAAB5">
                <a:alpha val="35000"/>
              </a:srgbClr>
            </a:outerShdw>
          </a:effectLst>
        </p:spPr>
      </p:sp>
      <p:sp>
        <p:nvSpPr>
          <p:cNvPr id="83" name="Text 81"/>
          <p:cNvSpPr txBox="1"/>
          <p:nvPr/>
        </p:nvSpPr>
        <p:spPr>
          <a:xfrm>
            <a:off x="10780776" y="3209544"/>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Ammar</a:t>
            </a:r>
            <a:endParaRPr lang="en-US" sz="850" dirty="0"/>
          </a:p>
        </p:txBody>
      </p:sp>
      <p:sp>
        <p:nvSpPr>
          <p:cNvPr id="84" name="Shape 82"/>
          <p:cNvSpPr/>
          <p:nvPr/>
        </p:nvSpPr>
        <p:spPr>
          <a:xfrm>
            <a:off x="411480" y="3931920"/>
            <a:ext cx="6035040" cy="2395728"/>
          </a:xfrm>
          <a:prstGeom prst="roundRect">
            <a:avLst>
              <a:gd name="adj" fmla="val 2672"/>
            </a:avLst>
          </a:prstGeom>
          <a:solidFill>
            <a:srgbClr val="FFFFFF"/>
          </a:solidFill>
          <a:ln/>
          <a:effectLst>
            <a:outerShdw sx="100000" sy="100000" kx="0" ky="0" algn="bl" rotWithShape="0" blurRad="76200" dist="25400" dir="5400000">
              <a:srgbClr val="9AAAB5">
                <a:alpha val="35000"/>
              </a:srgbClr>
            </a:outerShdw>
          </a:effectLst>
        </p:spPr>
      </p:sp>
      <p:sp>
        <p:nvSpPr>
          <p:cNvPr id="85" name="Text 83"/>
          <p:cNvSpPr txBox="1"/>
          <p:nvPr/>
        </p:nvSpPr>
        <p:spPr>
          <a:xfrm>
            <a:off x="612648" y="4041648"/>
            <a:ext cx="5669280"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GTM READINESS — AI SUMMARY</a:t>
            </a:r>
            <a:endParaRPr lang="en-US" sz="1200" dirty="0"/>
          </a:p>
        </p:txBody>
      </p:sp>
      <p:sp>
        <p:nvSpPr>
          <p:cNvPr id="86" name="Text 84"/>
          <p:cNvSpPr txBox="1"/>
          <p:nvPr/>
        </p:nvSpPr>
        <p:spPr>
          <a:xfrm>
            <a:off x="612648" y="4352544"/>
            <a:ext cx="5623560" cy="1847088"/>
          </a:xfrm>
          <a:prstGeom prst="rect">
            <a:avLst/>
          </a:prstGeom>
          <a:noFill/>
          <a:ln/>
        </p:spPr>
        <p:txBody>
          <a:bodyPr wrap="square" lIns="0" tIns="0" rIns="0" bIns="0" rtlCol="0" anchor="t"/>
          <a:lstStyle/>
          <a:p>
            <a:pPr indent="0" marL="0">
              <a:buNone/>
            </a:pPr>
            <a:r>
              <a:rPr lang="en-US" sz="900" b="1" dirty="0">
                <a:solidFill>
                  <a:srgbClr val="2C8394"/>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Launch scoreboard —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Roam 78% · QR Ordering (OrderNow) 33% · Sentinel AI 11% (green = done, amber = half-credit)</a:t>
            </a:r>
            <a:endParaRPr lang="en-US" sz="900" dirty="0"/>
          </a:p>
          <a:p>
            <a:pPr indent="0" marL="0">
              <a:buNone/>
            </a:pPr>
            <a:r>
              <a:rPr lang="en-US" sz="900" b="1" dirty="0">
                <a:solidFill>
                  <a:srgbClr val="B4552D"/>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Red gates —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QR Ordering (OrderNow) is blocked on Messaging &amp; collateral, Sales enabled, Support &amp; Remi; Sentinel AI is blocked on Messaging &amp; collateral, Pricing &amp; packaging, Contract &amp; data terms, Billing &amp; metering, Sales enabled, Support &amp; Remi, AI accuracy &amp; fallback. Nothing else stops a launch.</a:t>
            </a:r>
            <a:endParaRPr lang="en-US" sz="900" dirty="0"/>
          </a:p>
          <a:p>
            <a:pPr indent="0" marL="0">
              <a:buNone/>
            </a:pPr>
            <a:r>
              <a:rPr lang="en-US" sz="900" b="1" dirty="0">
                <a:solidFill>
                  <a:srgbClr val="2C8394"/>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Who owns it —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24 of 27 dimensions have a named owner on the pill; 1 carries a note. An unowned red is a stalled red.</a:t>
            </a:r>
            <a:endParaRPr lang="en-US" sz="900" dirty="0"/>
          </a:p>
          <a:p>
            <a:pPr indent="0" marL="0">
              <a:buNone/>
            </a:pPr>
            <a:r>
              <a:rPr lang="en-US" sz="900" b="1" dirty="0">
                <a:solidFill>
                  <a:srgbClr val="8FA1AC"/>
                </a:solidFill>
                <a:latin typeface="Poppins" pitchFamily="34" charset="0"/>
                <a:ea typeface="Poppins" pitchFamily="34" charset="-122"/>
                <a:cs typeface="Poppins" pitchFamily="34" charset="-120"/>
              </a:rPr>
              <a:t>•  </a:t>
            </a:r>
            <a:pPr indent="0" marL="0">
              <a:spcAft>
                <a:spcPts val="800"/>
              </a:spcAft>
              <a:buNone/>
            </a:pPr>
            <a:r>
              <a:rPr lang="en-US" sz="900" dirty="0">
                <a:solidFill>
                  <a:srgbClr val="8FA1AC"/>
                </a:solidFill>
                <a:latin typeface="Poppins" pitchFamily="34" charset="0"/>
                <a:ea typeface="Poppins" pitchFamily="34" charset="-122"/>
                <a:cs typeface="Poppins" pitchFamily="34" charset="-120"/>
              </a:rPr>
              <a:t>*1 Sentinel AI · Messaging &amp; collateral: MF to give BY prototype to produce a 1pgr pitch</a:t>
            </a:r>
            <a:endParaRPr lang="en-US" sz="900" dirty="0"/>
          </a:p>
        </p:txBody>
      </p:sp>
      <p:sp>
        <p:nvSpPr>
          <p:cNvPr id="87" name="Shape 85"/>
          <p:cNvSpPr/>
          <p:nvPr/>
        </p:nvSpPr>
        <p:spPr>
          <a:xfrm>
            <a:off x="6629400" y="3931920"/>
            <a:ext cx="5148072" cy="2395728"/>
          </a:xfrm>
          <a:prstGeom prst="roundRect">
            <a:avLst>
              <a:gd name="adj" fmla="val 2672"/>
            </a:avLst>
          </a:prstGeom>
          <a:solidFill>
            <a:srgbClr val="FFFFFF"/>
          </a:solidFill>
          <a:ln/>
          <a:effectLst>
            <a:outerShdw sx="100000" sy="100000" kx="0" ky="0" algn="bl" rotWithShape="0" blurRad="76200" dist="25400" dir="5400000">
              <a:srgbClr val="9AAAB5">
                <a:alpha val="35000"/>
              </a:srgbClr>
            </a:outerShdw>
          </a:effectLst>
        </p:spPr>
      </p:sp>
      <p:sp>
        <p:nvSpPr>
          <p:cNvPr id="88" name="Text 86"/>
          <p:cNvSpPr txBox="1"/>
          <p:nvPr/>
        </p:nvSpPr>
        <p:spPr>
          <a:xfrm>
            <a:off x="6830568" y="4041648"/>
            <a:ext cx="4782312"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ROADMAP — AI SUMMARY</a:t>
            </a:r>
            <a:endParaRPr lang="en-US" sz="1200" dirty="0"/>
          </a:p>
        </p:txBody>
      </p:sp>
      <p:sp>
        <p:nvSpPr>
          <p:cNvPr id="89" name="Text 87"/>
          <p:cNvSpPr txBox="1"/>
          <p:nvPr/>
        </p:nvSpPr>
        <p:spPr>
          <a:xfrm>
            <a:off x="6830568" y="4352544"/>
            <a:ext cx="4736592" cy="1847088"/>
          </a:xfrm>
          <a:prstGeom prst="rect">
            <a:avLst/>
          </a:prstGeom>
          <a:noFill/>
          <a:ln/>
        </p:spPr>
        <p:txBody>
          <a:bodyPr wrap="square" lIns="0" tIns="0" rIns="0" bIns="0" rtlCol="0" anchor="t"/>
          <a:lstStyle/>
          <a:p>
            <a:pPr indent="0" marL="0">
              <a:buNone/>
            </a:pPr>
            <a:r>
              <a:rPr lang="en-US" sz="900" b="1" dirty="0">
                <a:solidFill>
                  <a:srgbClr val="C88A2E"/>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ALH Food Pricing - PLU Visibility Filter (On Track):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Requirements gathered - behind schedule</a:t>
            </a:r>
            <a:endParaRPr lang="en-US" sz="900" dirty="0"/>
          </a:p>
          <a:p>
            <a:pPr indent="0" marL="0">
              <a:buNone/>
            </a:pPr>
            <a:r>
              <a:rPr lang="en-US" sz="900" b="1" dirty="0">
                <a:solidFill>
                  <a:srgbClr val="C88A2E"/>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H&amp;L Pay - Tyro Parity (At risk):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Tarek interviewing next week</a:t>
            </a:r>
            <a:endParaRPr lang="en-US" sz="900" dirty="0"/>
          </a:p>
          <a:p>
            <a:pPr indent="0" marL="0">
              <a:buNone/>
            </a:pPr>
            <a:r>
              <a:rPr lang="en-US" sz="900" b="1" dirty="0">
                <a:solidFill>
                  <a:srgbClr val="C88A2E"/>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Mobile POS - The Pass Integration (At risk):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Needs validation</a:t>
            </a:r>
            <a:endParaRPr lang="en-US" sz="900" dirty="0"/>
          </a:p>
          <a:p>
            <a:pPr indent="0" marL="0">
              <a:buNone/>
            </a:pPr>
            <a:r>
              <a:rPr lang="en-US" sz="900" b="1" dirty="0">
                <a:solidFill>
                  <a:srgbClr val="C88A2E"/>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Mobile POS - Tyro Tap to Pay (On Track):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Awaiting certification</a:t>
            </a:r>
            <a:endParaRPr lang="en-US" sz="900" dirty="0"/>
          </a:p>
        </p:txBody>
      </p:sp>
      <p:sp>
        <p:nvSpPr>
          <p:cNvPr id="90" name="Shape 88"/>
          <p:cNvSpPr/>
          <p:nvPr/>
        </p:nvSpPr>
        <p:spPr>
          <a:xfrm>
            <a:off x="6342278" y="6510528"/>
            <a:ext cx="5435194" cy="256032"/>
          </a:xfrm>
          <a:prstGeom prst="roundRect">
            <a:avLst>
              <a:gd name="adj" fmla="val 46429"/>
            </a:avLst>
          </a:prstGeom>
          <a:solidFill>
            <a:srgbClr val="12293A"/>
          </a:solidFill>
          <a:ln/>
        </p:spPr>
      </p:sp>
      <p:sp>
        <p:nvSpPr>
          <p:cNvPr id="91" name="Text 89"/>
          <p:cNvSpPr txBox="1"/>
          <p:nvPr/>
        </p:nvSpPr>
        <p:spPr>
          <a:xfrm>
            <a:off x="6342278" y="6510528"/>
            <a:ext cx="5435194" cy="256032"/>
          </a:xfrm>
          <a:prstGeom prst="rect">
            <a:avLst/>
          </a:prstGeom>
          <a:noFill/>
          <a:ln/>
        </p:spPr>
        <p:txBody>
          <a:bodyPr wrap="square" lIns="0" tIns="0" rIns="0" bIns="0" rtlCol="0" anchor="ctr"/>
          <a:lstStyle/>
          <a:p>
            <a:pPr algn="ctr" indent="0" marL="0">
              <a:buNone/>
            </a:pPr>
            <a:r>
              <a:rPr lang="en-US" sz="700" b="1" dirty="0">
                <a:solidFill>
                  <a:srgbClr val="FFFFFF"/>
                </a:solidFill>
                <a:latin typeface="Poppins" pitchFamily="34" charset="0"/>
                <a:ea typeface="Poppins" pitchFamily="34" charset="-122"/>
                <a:cs typeface="Poppins" pitchFamily="34" charset="-120"/>
              </a:rPr>
              <a:t>Source: GTM Tracker (product team) — as at 19 Sep, refresh pending for a fifth week</a:t>
            </a:r>
            <a:endParaRPr lang="en-US" sz="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2F6F8"/>
        </a:solidFill>
      </p:bgPr>
    </p:bg>
    <p:spTree>
      <p:nvGrpSpPr>
        <p:cNvPr id="1" name=""/>
        <p:cNvGrpSpPr/>
        <p:nvPr/>
      </p:nvGrpSpPr>
      <p:grpSpPr>
        <a:xfrm>
          <a:off x="0" y="0"/>
          <a:ext cx="0" cy="0"/>
          <a:chOff x="0" y="0"/>
          <a:chExt cx="0" cy="0"/>
        </a:xfrm>
      </p:grpSpPr>
      <p:sp>
        <p:nvSpPr>
          <p:cNvPr id="2" name="Shape 0"/>
          <p:cNvSpPr/>
          <p:nvPr/>
        </p:nvSpPr>
        <p:spPr>
          <a:xfrm>
            <a:off x="0" y="0"/>
            <a:ext cx="12188952" cy="841248"/>
          </a:xfrm>
          <a:prstGeom prst="rect">
            <a:avLst/>
          </a:prstGeom>
          <a:solidFill>
            <a:srgbClr val="12293A"/>
          </a:solidFill>
          <a:ln/>
        </p:spPr>
      </p:sp>
      <p:sp>
        <p:nvSpPr>
          <p:cNvPr id="3" name="Shape 1"/>
          <p:cNvSpPr/>
          <p:nvPr/>
        </p:nvSpPr>
        <p:spPr>
          <a:xfrm>
            <a:off x="384048" y="155448"/>
            <a:ext cx="731520" cy="530352"/>
          </a:xfrm>
          <a:prstGeom prst="roundRect">
            <a:avLst>
              <a:gd name="adj" fmla="val 15517"/>
            </a:avLst>
          </a:prstGeom>
          <a:solidFill>
            <a:srgbClr val="FFFFFF"/>
          </a:solidFill>
          <a:ln/>
        </p:spPr>
      </p:sp>
      <p:sp>
        <p:nvSpPr>
          <p:cNvPr id="4" name="Text 2"/>
          <p:cNvSpPr txBox="1"/>
          <p:nvPr/>
        </p:nvSpPr>
        <p:spPr>
          <a:xfrm>
            <a:off x="384048" y="155448"/>
            <a:ext cx="731520" cy="530352"/>
          </a:xfrm>
          <a:prstGeom prst="rect">
            <a:avLst/>
          </a:prstGeom>
          <a:noFill/>
          <a:ln/>
        </p:spPr>
        <p:txBody>
          <a:bodyPr wrap="square" lIns="0" tIns="0" rIns="0" bIns="0" rtlCol="0" anchor="ctr"/>
          <a:lstStyle/>
          <a:p>
            <a:pPr algn="ctr" indent="0" marL="0">
              <a:buNone/>
            </a:pPr>
            <a:r>
              <a:rPr lang="en-US" sz="1500" b="1" dirty="0">
                <a:solidFill>
                  <a:srgbClr val="12293A"/>
                </a:solidFill>
                <a:latin typeface="Poppins" pitchFamily="34" charset="0"/>
                <a:ea typeface="Poppins" pitchFamily="34" charset="-122"/>
                <a:cs typeface="Poppins" pitchFamily="34" charset="-120"/>
              </a:rPr>
              <a:t>H&amp;L</a:t>
            </a:r>
            <a:endParaRPr lang="en-US" sz="1500" dirty="0"/>
          </a:p>
        </p:txBody>
      </p:sp>
      <p:sp>
        <p:nvSpPr>
          <p:cNvPr id="5" name="Text 3"/>
          <p:cNvSpPr txBox="1"/>
          <p:nvPr/>
        </p:nvSpPr>
        <p:spPr>
          <a:xfrm>
            <a:off x="1298448" y="54864"/>
            <a:ext cx="7223760" cy="475488"/>
          </a:xfrm>
          <a:prstGeom prst="rect">
            <a:avLst/>
          </a:prstGeom>
          <a:noFill/>
          <a:ln/>
        </p:spPr>
        <p:txBody>
          <a:bodyPr wrap="square" lIns="0" tIns="0" rIns="0" bIns="0" rtlCol="0" anchor="ctr"/>
          <a:lstStyle/>
          <a:p>
            <a:pPr indent="0" marL="0">
              <a:buNone/>
            </a:pPr>
            <a:r>
              <a:rPr lang="en-US" sz="2300" b="1" dirty="0">
                <a:solidFill>
                  <a:srgbClr val="FFFFFF"/>
                </a:solidFill>
                <a:latin typeface="Poppins" pitchFamily="34" charset="0"/>
                <a:ea typeface="Poppins" pitchFamily="34" charset="-122"/>
                <a:cs typeface="Poppins" pitchFamily="34" charset="-120"/>
              </a:rPr>
              <a:t>AI Usage — Adoption &amp; Activity</a:t>
            </a:r>
            <a:endParaRPr lang="en-US" sz="2300" dirty="0"/>
          </a:p>
        </p:txBody>
      </p:sp>
      <p:sp>
        <p:nvSpPr>
          <p:cNvPr id="6" name="Text 4"/>
          <p:cNvSpPr txBox="1"/>
          <p:nvPr/>
        </p:nvSpPr>
        <p:spPr>
          <a:xfrm>
            <a:off x="1316736" y="512064"/>
            <a:ext cx="7040880" cy="256032"/>
          </a:xfrm>
          <a:prstGeom prst="rect">
            <a:avLst/>
          </a:prstGeom>
          <a:noFill/>
          <a:ln/>
        </p:spPr>
        <p:txBody>
          <a:bodyPr wrap="square" lIns="0" tIns="0" rIns="0" bIns="0" rtlCol="0" anchor="ctr"/>
          <a:lstStyle/>
          <a:p>
            <a:pPr indent="0" marL="0">
              <a:buNone/>
            </a:pPr>
            <a:r>
              <a:rPr lang="en-US" sz="1050" dirty="0">
                <a:solidFill>
                  <a:srgbClr val="6FAEBB"/>
                </a:solidFill>
                <a:latin typeface="Poppins" pitchFamily="34" charset="0"/>
                <a:ea typeface="Poppins" pitchFamily="34" charset="-122"/>
                <a:cs typeface="Poppins" pitchFamily="34" charset="-120"/>
              </a:rPr>
              <a:t>IT</a:t>
            </a:r>
            <a:endParaRPr lang="en-US" sz="1050" dirty="0"/>
          </a:p>
        </p:txBody>
      </p:sp>
      <p:sp>
        <p:nvSpPr>
          <p:cNvPr id="7" name="Shape 5"/>
          <p:cNvSpPr/>
          <p:nvPr/>
        </p:nvSpPr>
        <p:spPr>
          <a:xfrm>
            <a:off x="8686800" y="246888"/>
            <a:ext cx="1965960" cy="347472"/>
          </a:xfrm>
          <a:prstGeom prst="roundRect">
            <a:avLst>
              <a:gd name="adj" fmla="val 50000"/>
            </a:avLst>
          </a:prstGeom>
          <a:solidFill>
            <a:srgbClr val="24435C"/>
          </a:solidFill>
          <a:ln w="9525">
            <a:solidFill>
              <a:srgbClr val="FFFFFF">
                <a:alpha val="45000"/>
              </a:srgbClr>
            </a:solidFill>
            <a:prstDash val="solid"/>
          </a:ln>
        </p:spPr>
      </p:sp>
      <p:sp>
        <p:nvSpPr>
          <p:cNvPr id="8" name="Text 6"/>
          <p:cNvSpPr txBox="1"/>
          <p:nvPr/>
        </p:nvSpPr>
        <p:spPr>
          <a:xfrm>
            <a:off x="8686800" y="246888"/>
            <a:ext cx="1965960" cy="347472"/>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4  ·  BUILDING THE FUTURE?</a:t>
            </a:r>
            <a:endParaRPr lang="en-US" sz="850" dirty="0"/>
          </a:p>
        </p:txBody>
      </p:sp>
      <p:sp>
        <p:nvSpPr>
          <p:cNvPr id="9" name="Shape 7"/>
          <p:cNvSpPr/>
          <p:nvPr/>
        </p:nvSpPr>
        <p:spPr>
          <a:xfrm>
            <a:off x="10872216" y="0"/>
            <a:ext cx="841248" cy="841248"/>
          </a:xfrm>
          <a:prstGeom prst="ellipse">
            <a:avLst/>
          </a:prstGeom>
          <a:solidFill>
            <a:srgbClr val="1C5765"/>
          </a:solidFill>
          <a:ln/>
        </p:spPr>
      </p:sp>
      <p:sp>
        <p:nvSpPr>
          <p:cNvPr id="10" name="Shape 8"/>
          <p:cNvSpPr/>
          <p:nvPr/>
        </p:nvSpPr>
        <p:spPr>
          <a:xfrm>
            <a:off x="10968228" y="96012"/>
            <a:ext cx="649224" cy="649224"/>
          </a:xfrm>
          <a:prstGeom prst="ellipse">
            <a:avLst/>
          </a:prstGeom>
          <a:solidFill>
            <a:srgbClr val="2C8394"/>
          </a:solidFill>
          <a:ln/>
        </p:spPr>
      </p:sp>
      <p:sp>
        <p:nvSpPr>
          <p:cNvPr id="11" name="Shape 9"/>
          <p:cNvSpPr/>
          <p:nvPr/>
        </p:nvSpPr>
        <p:spPr>
          <a:xfrm>
            <a:off x="11064240" y="192024"/>
            <a:ext cx="457200" cy="457200"/>
          </a:xfrm>
          <a:prstGeom prst="ellipse">
            <a:avLst/>
          </a:prstGeom>
          <a:solidFill>
            <a:srgbClr val="6FAEBB"/>
          </a:solidFill>
          <a:ln/>
        </p:spPr>
      </p:sp>
      <p:sp>
        <p:nvSpPr>
          <p:cNvPr id="12" name="Shape 10"/>
          <p:cNvSpPr/>
          <p:nvPr/>
        </p:nvSpPr>
        <p:spPr>
          <a:xfrm>
            <a:off x="11160252" y="288036"/>
            <a:ext cx="265176" cy="265176"/>
          </a:xfrm>
          <a:prstGeom prst="ellipse">
            <a:avLst/>
          </a:prstGeom>
          <a:solidFill>
            <a:srgbClr val="E4F1F4"/>
          </a:solidFill>
          <a:ln/>
        </p:spPr>
      </p:sp>
      <p:sp>
        <p:nvSpPr>
          <p:cNvPr id="13" name="Shape 11"/>
          <p:cNvSpPr/>
          <p:nvPr/>
        </p:nvSpPr>
        <p:spPr>
          <a:xfrm>
            <a:off x="411480" y="987552"/>
            <a:ext cx="2697480" cy="1097280"/>
          </a:xfrm>
          <a:prstGeom prst="roundRect">
            <a:avLst>
              <a:gd name="adj" fmla="val 5833"/>
            </a:avLst>
          </a:prstGeom>
          <a:solidFill>
            <a:srgbClr val="FFFFFF"/>
          </a:solidFill>
          <a:ln/>
          <a:effectLst>
            <a:outerShdw sx="100000" sy="100000" kx="0" ky="0" algn="bl" rotWithShape="0" blurRad="76200" dist="25400" dir="5400000">
              <a:srgbClr val="9AAAB5">
                <a:alpha val="35000"/>
              </a:srgbClr>
            </a:outerShdw>
          </a:effectLst>
        </p:spPr>
      </p:sp>
      <p:sp>
        <p:nvSpPr>
          <p:cNvPr id="14" name="Text 12"/>
          <p:cNvSpPr txBox="1"/>
          <p:nvPr/>
        </p:nvSpPr>
        <p:spPr>
          <a:xfrm>
            <a:off x="576072" y="1078992"/>
            <a:ext cx="2368296"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ACTIVE MEMBERS</a:t>
            </a:r>
            <a:endParaRPr lang="en-US" sz="950" dirty="0"/>
          </a:p>
        </p:txBody>
      </p:sp>
      <p:sp>
        <p:nvSpPr>
          <p:cNvPr id="15" name="Text 13"/>
          <p:cNvSpPr txBox="1"/>
          <p:nvPr/>
        </p:nvSpPr>
        <p:spPr>
          <a:xfrm>
            <a:off x="557784" y="1261872"/>
            <a:ext cx="2404872" cy="310896"/>
          </a:xfrm>
          <a:prstGeom prst="rect">
            <a:avLst/>
          </a:prstGeom>
          <a:noFill/>
          <a:ln/>
        </p:spPr>
        <p:txBody>
          <a:bodyPr wrap="square" lIns="0" tIns="0" rIns="0" bIns="0" rtlCol="0" anchor="ctr"/>
          <a:lstStyle/>
          <a:p>
            <a:pPr indent="0" marL="0">
              <a:buNone/>
            </a:pPr>
            <a:r>
              <a:rPr lang="en-US" sz="2600" b="1" dirty="0">
                <a:solidFill>
                  <a:srgbClr val="12293A"/>
                </a:solidFill>
                <a:latin typeface="Poppins" pitchFamily="34" charset="0"/>
                <a:ea typeface="Poppins" pitchFamily="34" charset="-122"/>
                <a:cs typeface="Poppins" pitchFamily="34" charset="-120"/>
              </a:rPr>
              <a:t>39 of 47</a:t>
            </a:r>
            <a:endParaRPr lang="en-US" sz="2600" dirty="0"/>
          </a:p>
        </p:txBody>
      </p:sp>
      <p:sp>
        <p:nvSpPr>
          <p:cNvPr id="16" name="Text 14"/>
          <p:cNvSpPr txBox="1"/>
          <p:nvPr/>
        </p:nvSpPr>
        <p:spPr>
          <a:xfrm>
            <a:off x="576072" y="1609344"/>
            <a:ext cx="2368296"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weekly active · 12 daily · 42 monthly</a:t>
            </a:r>
            <a:endParaRPr lang="en-US" sz="780" dirty="0"/>
          </a:p>
        </p:txBody>
      </p:sp>
      <p:sp>
        <p:nvSpPr>
          <p:cNvPr id="17" name="Shape 15"/>
          <p:cNvSpPr/>
          <p:nvPr/>
        </p:nvSpPr>
        <p:spPr>
          <a:xfrm>
            <a:off x="3291840" y="987552"/>
            <a:ext cx="2697480" cy="1097280"/>
          </a:xfrm>
          <a:prstGeom prst="roundRect">
            <a:avLst>
              <a:gd name="adj" fmla="val 5833"/>
            </a:avLst>
          </a:prstGeom>
          <a:solidFill>
            <a:srgbClr val="FFFFFF"/>
          </a:solidFill>
          <a:ln/>
          <a:effectLst>
            <a:outerShdw sx="100000" sy="100000" kx="0" ky="0" algn="bl" rotWithShape="0" blurRad="76200" dist="25400" dir="5400000">
              <a:srgbClr val="9AAAB5">
                <a:alpha val="35000"/>
              </a:srgbClr>
            </a:outerShdw>
          </a:effectLst>
        </p:spPr>
      </p:sp>
      <p:sp>
        <p:nvSpPr>
          <p:cNvPr id="18" name="Text 16"/>
          <p:cNvSpPr txBox="1"/>
          <p:nvPr/>
        </p:nvSpPr>
        <p:spPr>
          <a:xfrm>
            <a:off x="3456432" y="1078992"/>
            <a:ext cx="2368296"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LINES OF CODE — OCT MTD</a:t>
            </a:r>
            <a:endParaRPr lang="en-US" sz="950" dirty="0"/>
          </a:p>
        </p:txBody>
      </p:sp>
      <p:sp>
        <p:nvSpPr>
          <p:cNvPr id="19" name="Text 17"/>
          <p:cNvSpPr txBox="1"/>
          <p:nvPr/>
        </p:nvSpPr>
        <p:spPr>
          <a:xfrm>
            <a:off x="3438144" y="1261872"/>
            <a:ext cx="2404872" cy="310896"/>
          </a:xfrm>
          <a:prstGeom prst="rect">
            <a:avLst/>
          </a:prstGeom>
          <a:noFill/>
          <a:ln/>
        </p:spPr>
        <p:txBody>
          <a:bodyPr wrap="square" lIns="0" tIns="0" rIns="0" bIns="0" rtlCol="0" anchor="ctr"/>
          <a:lstStyle/>
          <a:p>
            <a:pPr indent="0" marL="0">
              <a:buNone/>
            </a:pPr>
            <a:r>
              <a:rPr lang="en-US" sz="2400" b="1" dirty="0">
                <a:solidFill>
                  <a:srgbClr val="2C8394"/>
                </a:solidFill>
                <a:latin typeface="Poppins" pitchFamily="34" charset="0"/>
                <a:ea typeface="Poppins" pitchFamily="34" charset="-122"/>
                <a:cs typeface="Poppins" pitchFamily="34" charset="-120"/>
              </a:rPr>
              <a:t>111,689</a:t>
            </a:r>
            <a:endParaRPr lang="en-US" sz="2400" dirty="0"/>
          </a:p>
        </p:txBody>
      </p:sp>
      <p:sp>
        <p:nvSpPr>
          <p:cNvPr id="20" name="Text 18"/>
          <p:cNvSpPr txBox="1"/>
          <p:nvPr/>
        </p:nvSpPr>
        <p:spPr>
          <a:xfrm>
            <a:off x="3456432" y="1609344"/>
            <a:ext cx="2368296"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1–12 Oct · October month-to-date at the 12 Oct capture — no capture received this week, so this figure is a week stale</a:t>
            </a:r>
            <a:endParaRPr lang="en-US" sz="780" dirty="0"/>
          </a:p>
        </p:txBody>
      </p:sp>
      <p:sp>
        <p:nvSpPr>
          <p:cNvPr id="21" name="Shape 19"/>
          <p:cNvSpPr/>
          <p:nvPr/>
        </p:nvSpPr>
        <p:spPr>
          <a:xfrm>
            <a:off x="6172200" y="987552"/>
            <a:ext cx="5605272" cy="1097280"/>
          </a:xfrm>
          <a:prstGeom prst="roundRect">
            <a:avLst>
              <a:gd name="adj" fmla="val 5833"/>
            </a:avLst>
          </a:prstGeom>
          <a:solidFill>
            <a:srgbClr val="FFFFFF"/>
          </a:solidFill>
          <a:ln/>
          <a:effectLst>
            <a:outerShdw sx="100000" sy="100000" kx="0" ky="0" algn="bl" rotWithShape="0" blurRad="76200" dist="25400" dir="5400000">
              <a:srgbClr val="9AAAB5">
                <a:alpha val="35000"/>
              </a:srgbClr>
            </a:outerShdw>
          </a:effectLst>
        </p:spPr>
      </p:sp>
      <p:sp>
        <p:nvSpPr>
          <p:cNvPr id="22" name="Text 20"/>
          <p:cNvSpPr txBox="1"/>
          <p:nvPr/>
        </p:nvSpPr>
        <p:spPr>
          <a:xfrm>
            <a:off x="6336792" y="1060704"/>
            <a:ext cx="5276088" cy="201168"/>
          </a:xfrm>
          <a:prstGeom prst="rect">
            <a:avLst/>
          </a:prstGeom>
          <a:noFill/>
          <a:ln/>
        </p:spPr>
        <p:txBody>
          <a:bodyPr wrap="square" lIns="0" tIns="0" rIns="0" bIns="0" rtlCol="0" anchor="ctr"/>
          <a:lstStyle/>
          <a:p>
            <a:pPr indent="0" marL="0">
              <a:buNone/>
            </a:pPr>
            <a:r>
              <a:rPr lang="en-US" sz="850" b="1" dirty="0">
                <a:solidFill>
                  <a:srgbClr val="2C8394"/>
                </a:solidFill>
                <a:latin typeface="Poppins" pitchFamily="34" charset="0"/>
                <a:ea typeface="Poppins" pitchFamily="34" charset="-122"/>
                <a:cs typeface="Poppins" pitchFamily="34" charset="-120"/>
              </a:rPr>
              <a:t>PLATFORM STICKINESS — SHARE OF MONTHLY USERS ACTIVE DAILY</a:t>
            </a:r>
            <a:endParaRPr lang="en-US" sz="850" dirty="0"/>
          </a:p>
        </p:txBody>
      </p:sp>
      <p:sp>
        <p:nvSpPr>
          <p:cNvPr id="23" name="Text 21"/>
          <p:cNvSpPr txBox="1"/>
          <p:nvPr/>
        </p:nvSpPr>
        <p:spPr>
          <a:xfrm>
            <a:off x="6336792" y="1298448"/>
            <a:ext cx="1051560" cy="164592"/>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Claude Code</a:t>
            </a:r>
            <a:endParaRPr lang="en-US" sz="750" dirty="0"/>
          </a:p>
        </p:txBody>
      </p:sp>
      <p:sp>
        <p:nvSpPr>
          <p:cNvPr id="24" name="Shape 22"/>
          <p:cNvSpPr/>
          <p:nvPr/>
        </p:nvSpPr>
        <p:spPr>
          <a:xfrm>
            <a:off x="7498080" y="1335024"/>
            <a:ext cx="3291840" cy="91440"/>
          </a:xfrm>
          <a:prstGeom prst="roundRect">
            <a:avLst>
              <a:gd name="adj" fmla="val 40000"/>
            </a:avLst>
          </a:prstGeom>
          <a:solidFill>
            <a:srgbClr val="E2EAEE"/>
          </a:solidFill>
          <a:ln/>
        </p:spPr>
      </p:sp>
      <p:sp>
        <p:nvSpPr>
          <p:cNvPr id="25" name="Shape 23"/>
          <p:cNvSpPr/>
          <p:nvPr/>
        </p:nvSpPr>
        <p:spPr>
          <a:xfrm>
            <a:off x="7498080" y="1335024"/>
            <a:ext cx="855878" cy="91440"/>
          </a:xfrm>
          <a:prstGeom prst="roundRect">
            <a:avLst>
              <a:gd name="adj" fmla="val 40000"/>
            </a:avLst>
          </a:prstGeom>
          <a:solidFill>
            <a:srgbClr val="2C8394"/>
          </a:solidFill>
          <a:ln/>
        </p:spPr>
      </p:sp>
      <p:sp>
        <p:nvSpPr>
          <p:cNvPr id="26" name="Text 24"/>
          <p:cNvSpPr txBox="1"/>
          <p:nvPr/>
        </p:nvSpPr>
        <p:spPr>
          <a:xfrm>
            <a:off x="10881360" y="1298448"/>
            <a:ext cx="685800" cy="164592"/>
          </a:xfrm>
          <a:prstGeom prst="rect">
            <a:avLst/>
          </a:prstGeom>
          <a:noFill/>
          <a:ln/>
        </p:spPr>
        <p:txBody>
          <a:bodyPr wrap="square" lIns="0" tIns="0" rIns="0" bIns="0" rtlCol="0" anchor="ctr"/>
          <a:lstStyle/>
          <a:p>
            <a:pPr algn="r" indent="0" marL="0">
              <a:buNone/>
            </a:pPr>
            <a:r>
              <a:rPr lang="en-US" sz="800" b="1" dirty="0">
                <a:solidFill>
                  <a:srgbClr val="2C8394"/>
                </a:solidFill>
                <a:latin typeface="Poppins" pitchFamily="34" charset="0"/>
                <a:ea typeface="Poppins" pitchFamily="34" charset="-122"/>
                <a:cs typeface="Poppins" pitchFamily="34" charset="-120"/>
              </a:rPr>
              <a:t>26%</a:t>
            </a:r>
            <a:endParaRPr lang="en-US" sz="800" dirty="0"/>
          </a:p>
        </p:txBody>
      </p:sp>
      <p:sp>
        <p:nvSpPr>
          <p:cNvPr id="27" name="Text 25"/>
          <p:cNvSpPr txBox="1"/>
          <p:nvPr/>
        </p:nvSpPr>
        <p:spPr>
          <a:xfrm>
            <a:off x="6336792" y="1481328"/>
            <a:ext cx="1051560" cy="164592"/>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Cowork</a:t>
            </a:r>
            <a:endParaRPr lang="en-US" sz="750" dirty="0"/>
          </a:p>
        </p:txBody>
      </p:sp>
      <p:sp>
        <p:nvSpPr>
          <p:cNvPr id="28" name="Shape 26"/>
          <p:cNvSpPr/>
          <p:nvPr/>
        </p:nvSpPr>
        <p:spPr>
          <a:xfrm>
            <a:off x="7498080" y="1517904"/>
            <a:ext cx="3291840" cy="91440"/>
          </a:xfrm>
          <a:prstGeom prst="roundRect">
            <a:avLst>
              <a:gd name="adj" fmla="val 40000"/>
            </a:avLst>
          </a:prstGeom>
          <a:solidFill>
            <a:srgbClr val="E2EAEE"/>
          </a:solidFill>
          <a:ln/>
        </p:spPr>
      </p:sp>
      <p:sp>
        <p:nvSpPr>
          <p:cNvPr id="29" name="Shape 27"/>
          <p:cNvSpPr/>
          <p:nvPr/>
        </p:nvSpPr>
        <p:spPr>
          <a:xfrm>
            <a:off x="7498080" y="1517904"/>
            <a:ext cx="790042" cy="91440"/>
          </a:xfrm>
          <a:prstGeom prst="roundRect">
            <a:avLst>
              <a:gd name="adj" fmla="val 40000"/>
            </a:avLst>
          </a:prstGeom>
          <a:solidFill>
            <a:srgbClr val="2C8394"/>
          </a:solidFill>
          <a:ln/>
        </p:spPr>
      </p:sp>
      <p:sp>
        <p:nvSpPr>
          <p:cNvPr id="30" name="Text 28"/>
          <p:cNvSpPr txBox="1"/>
          <p:nvPr/>
        </p:nvSpPr>
        <p:spPr>
          <a:xfrm>
            <a:off x="10881360" y="1481328"/>
            <a:ext cx="685800" cy="164592"/>
          </a:xfrm>
          <a:prstGeom prst="rect">
            <a:avLst/>
          </a:prstGeom>
          <a:noFill/>
          <a:ln/>
        </p:spPr>
        <p:txBody>
          <a:bodyPr wrap="square" lIns="0" tIns="0" rIns="0" bIns="0" rtlCol="0" anchor="ctr"/>
          <a:lstStyle/>
          <a:p>
            <a:pPr algn="r" indent="0" marL="0">
              <a:buNone/>
            </a:pPr>
            <a:r>
              <a:rPr lang="en-US" sz="800" b="1" dirty="0">
                <a:solidFill>
                  <a:srgbClr val="2C8394"/>
                </a:solidFill>
                <a:latin typeface="Poppins" pitchFamily="34" charset="0"/>
                <a:ea typeface="Poppins" pitchFamily="34" charset="-122"/>
                <a:cs typeface="Poppins" pitchFamily="34" charset="-120"/>
              </a:rPr>
              <a:t>24%</a:t>
            </a:r>
            <a:endParaRPr lang="en-US" sz="800" dirty="0"/>
          </a:p>
        </p:txBody>
      </p:sp>
      <p:sp>
        <p:nvSpPr>
          <p:cNvPr id="31" name="Text 29"/>
          <p:cNvSpPr txBox="1"/>
          <p:nvPr/>
        </p:nvSpPr>
        <p:spPr>
          <a:xfrm>
            <a:off x="6336792" y="1664208"/>
            <a:ext cx="1051560" cy="164592"/>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Claude.ai</a:t>
            </a:r>
            <a:endParaRPr lang="en-US" sz="750" dirty="0"/>
          </a:p>
        </p:txBody>
      </p:sp>
      <p:sp>
        <p:nvSpPr>
          <p:cNvPr id="32" name="Shape 30"/>
          <p:cNvSpPr/>
          <p:nvPr/>
        </p:nvSpPr>
        <p:spPr>
          <a:xfrm>
            <a:off x="7498080" y="1700784"/>
            <a:ext cx="3291840" cy="91440"/>
          </a:xfrm>
          <a:prstGeom prst="roundRect">
            <a:avLst>
              <a:gd name="adj" fmla="val 40000"/>
            </a:avLst>
          </a:prstGeom>
          <a:solidFill>
            <a:srgbClr val="E2EAEE"/>
          </a:solidFill>
          <a:ln/>
        </p:spPr>
      </p:sp>
      <p:sp>
        <p:nvSpPr>
          <p:cNvPr id="33" name="Shape 31"/>
          <p:cNvSpPr/>
          <p:nvPr/>
        </p:nvSpPr>
        <p:spPr>
          <a:xfrm>
            <a:off x="7498080" y="1700784"/>
            <a:ext cx="230429" cy="91440"/>
          </a:xfrm>
          <a:prstGeom prst="roundRect">
            <a:avLst>
              <a:gd name="adj" fmla="val 40000"/>
            </a:avLst>
          </a:prstGeom>
          <a:solidFill>
            <a:srgbClr val="2C8394"/>
          </a:solidFill>
          <a:ln/>
        </p:spPr>
      </p:sp>
      <p:sp>
        <p:nvSpPr>
          <p:cNvPr id="34" name="Text 32"/>
          <p:cNvSpPr txBox="1"/>
          <p:nvPr/>
        </p:nvSpPr>
        <p:spPr>
          <a:xfrm>
            <a:off x="10881360" y="1664208"/>
            <a:ext cx="685800" cy="164592"/>
          </a:xfrm>
          <a:prstGeom prst="rect">
            <a:avLst/>
          </a:prstGeom>
          <a:noFill/>
          <a:ln/>
        </p:spPr>
        <p:txBody>
          <a:bodyPr wrap="square" lIns="0" tIns="0" rIns="0" bIns="0" rtlCol="0" anchor="ctr"/>
          <a:lstStyle/>
          <a:p>
            <a:pPr algn="r" indent="0" marL="0">
              <a:buNone/>
            </a:pPr>
            <a:r>
              <a:rPr lang="en-US" sz="800" b="1" dirty="0">
                <a:solidFill>
                  <a:srgbClr val="2C8394"/>
                </a:solidFill>
                <a:latin typeface="Poppins" pitchFamily="34" charset="0"/>
                <a:ea typeface="Poppins" pitchFamily="34" charset="-122"/>
                <a:cs typeface="Poppins" pitchFamily="34" charset="-120"/>
              </a:rPr>
              <a:t>7%</a:t>
            </a:r>
            <a:endParaRPr lang="en-US" sz="800" dirty="0"/>
          </a:p>
        </p:txBody>
      </p:sp>
      <p:sp>
        <p:nvSpPr>
          <p:cNvPr id="35" name="Text 33"/>
          <p:cNvSpPr txBox="1"/>
          <p:nvPr/>
        </p:nvSpPr>
        <p:spPr>
          <a:xfrm>
            <a:off x="6336792" y="1847088"/>
            <a:ext cx="1051560" cy="164592"/>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Office Agents</a:t>
            </a:r>
            <a:endParaRPr lang="en-US" sz="750" dirty="0"/>
          </a:p>
        </p:txBody>
      </p:sp>
      <p:sp>
        <p:nvSpPr>
          <p:cNvPr id="36" name="Shape 34"/>
          <p:cNvSpPr/>
          <p:nvPr/>
        </p:nvSpPr>
        <p:spPr>
          <a:xfrm>
            <a:off x="7498080" y="1883664"/>
            <a:ext cx="3291840" cy="91440"/>
          </a:xfrm>
          <a:prstGeom prst="roundRect">
            <a:avLst>
              <a:gd name="adj" fmla="val 40000"/>
            </a:avLst>
          </a:prstGeom>
          <a:solidFill>
            <a:srgbClr val="E2EAEE"/>
          </a:solidFill>
          <a:ln/>
        </p:spPr>
      </p:sp>
      <p:sp>
        <p:nvSpPr>
          <p:cNvPr id="37" name="Shape 35"/>
          <p:cNvSpPr/>
          <p:nvPr/>
        </p:nvSpPr>
        <p:spPr>
          <a:xfrm>
            <a:off x="7498080" y="1883664"/>
            <a:ext cx="45720" cy="91440"/>
          </a:xfrm>
          <a:prstGeom prst="roundRect">
            <a:avLst>
              <a:gd name="adj" fmla="val 80000"/>
            </a:avLst>
          </a:prstGeom>
          <a:solidFill>
            <a:srgbClr val="2C8394"/>
          </a:solidFill>
          <a:ln/>
        </p:spPr>
      </p:sp>
      <p:sp>
        <p:nvSpPr>
          <p:cNvPr id="38" name="Text 36"/>
          <p:cNvSpPr txBox="1"/>
          <p:nvPr/>
        </p:nvSpPr>
        <p:spPr>
          <a:xfrm>
            <a:off x="10881360" y="1847088"/>
            <a:ext cx="685800" cy="164592"/>
          </a:xfrm>
          <a:prstGeom prst="rect">
            <a:avLst/>
          </a:prstGeom>
          <a:noFill/>
          <a:ln/>
        </p:spPr>
        <p:txBody>
          <a:bodyPr wrap="square" lIns="0" tIns="0" rIns="0" bIns="0" rtlCol="0" anchor="ctr"/>
          <a:lstStyle/>
          <a:p>
            <a:pPr algn="r" indent="0" marL="0">
              <a:buNone/>
            </a:pPr>
            <a:r>
              <a:rPr lang="en-US" sz="800" b="1" dirty="0">
                <a:solidFill>
                  <a:srgbClr val="2C8394"/>
                </a:solidFill>
                <a:latin typeface="Poppins" pitchFamily="34" charset="0"/>
                <a:ea typeface="Poppins" pitchFamily="34" charset="-122"/>
                <a:cs typeface="Poppins" pitchFamily="34" charset="-120"/>
              </a:rPr>
              <a:t>0%</a:t>
            </a:r>
            <a:endParaRPr lang="en-US" sz="800" dirty="0"/>
          </a:p>
        </p:txBody>
      </p:sp>
      <p:sp>
        <p:nvSpPr>
          <p:cNvPr id="39" name="Shape 37"/>
          <p:cNvSpPr/>
          <p:nvPr/>
        </p:nvSpPr>
        <p:spPr>
          <a:xfrm>
            <a:off x="411480" y="2212848"/>
            <a:ext cx="7498080" cy="3383280"/>
          </a:xfrm>
          <a:prstGeom prst="roundRect">
            <a:avLst>
              <a:gd name="adj" fmla="val 1892"/>
            </a:avLst>
          </a:prstGeom>
          <a:solidFill>
            <a:srgbClr val="FFFFFF"/>
          </a:solidFill>
          <a:ln/>
          <a:effectLst>
            <a:outerShdw sx="100000" sy="100000" kx="0" ky="0" algn="bl" rotWithShape="0" blurRad="76200" dist="25400" dir="5400000">
              <a:srgbClr val="9AAAB5">
                <a:alpha val="35000"/>
              </a:srgbClr>
            </a:outerShdw>
          </a:effectLst>
        </p:spPr>
      </p:sp>
      <p:sp>
        <p:nvSpPr>
          <p:cNvPr id="40" name="Text 38"/>
          <p:cNvSpPr txBox="1"/>
          <p:nvPr/>
        </p:nvSpPr>
        <p:spPr>
          <a:xfrm>
            <a:off x="612648" y="2322576"/>
            <a:ext cx="6949440"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THE CODE PICTURE — WHO, BY MONTH · AND THE WEEKLY RHYTHM BENEATH IT</a:t>
            </a:r>
            <a:endParaRPr lang="en-US" sz="1200" dirty="0"/>
          </a:p>
        </p:txBody>
      </p:sp>
      <p:sp>
        <p:nvSpPr>
          <p:cNvPr id="41" name="Text 39"/>
          <p:cNvSpPr txBox="1"/>
          <p:nvPr/>
        </p:nvSpPr>
        <p:spPr>
          <a:xfrm>
            <a:off x="2057400" y="2596896"/>
            <a:ext cx="1051560" cy="182880"/>
          </a:xfrm>
          <a:prstGeom prst="rect">
            <a:avLst/>
          </a:prstGeom>
          <a:noFill/>
          <a:ln/>
        </p:spPr>
        <p:txBody>
          <a:bodyPr wrap="square" lIns="0" tIns="0" rIns="0" bIns="0" rtlCol="0" anchor="ctr"/>
          <a:lstStyle/>
          <a:p>
            <a:pPr algn="ctr" indent="0" marL="0">
              <a:buNone/>
            </a:pPr>
            <a:r>
              <a:rPr lang="en-US" sz="800" b="1" dirty="0">
                <a:solidFill>
                  <a:srgbClr val="12293A"/>
                </a:solidFill>
                <a:latin typeface="Poppins" pitchFamily="34" charset="0"/>
                <a:ea typeface="Poppins" pitchFamily="34" charset="-122"/>
                <a:cs typeface="Poppins" pitchFamily="34" charset="-120"/>
              </a:rPr>
              <a:t>Jul</a:t>
            </a:r>
            <a:endParaRPr lang="en-US" sz="800" dirty="0"/>
          </a:p>
        </p:txBody>
      </p:sp>
      <p:sp>
        <p:nvSpPr>
          <p:cNvPr id="42" name="Text 40"/>
          <p:cNvSpPr txBox="1"/>
          <p:nvPr/>
        </p:nvSpPr>
        <p:spPr>
          <a:xfrm>
            <a:off x="3136392" y="2596896"/>
            <a:ext cx="1051560" cy="182880"/>
          </a:xfrm>
          <a:prstGeom prst="rect">
            <a:avLst/>
          </a:prstGeom>
          <a:noFill/>
          <a:ln/>
        </p:spPr>
        <p:txBody>
          <a:bodyPr wrap="square" lIns="0" tIns="0" rIns="0" bIns="0" rtlCol="0" anchor="ctr"/>
          <a:lstStyle/>
          <a:p>
            <a:pPr algn="ctr" indent="0" marL="0">
              <a:buNone/>
            </a:pPr>
            <a:r>
              <a:rPr lang="en-US" sz="800" b="1" dirty="0">
                <a:solidFill>
                  <a:srgbClr val="12293A"/>
                </a:solidFill>
                <a:latin typeface="Poppins" pitchFamily="34" charset="0"/>
                <a:ea typeface="Poppins" pitchFamily="34" charset="-122"/>
                <a:cs typeface="Poppins" pitchFamily="34" charset="-120"/>
              </a:rPr>
              <a:t>Aug</a:t>
            </a:r>
            <a:endParaRPr lang="en-US" sz="800" dirty="0"/>
          </a:p>
        </p:txBody>
      </p:sp>
      <p:sp>
        <p:nvSpPr>
          <p:cNvPr id="43" name="Text 41"/>
          <p:cNvSpPr txBox="1"/>
          <p:nvPr/>
        </p:nvSpPr>
        <p:spPr>
          <a:xfrm>
            <a:off x="4215384" y="2596896"/>
            <a:ext cx="1051560" cy="182880"/>
          </a:xfrm>
          <a:prstGeom prst="rect">
            <a:avLst/>
          </a:prstGeom>
          <a:noFill/>
          <a:ln/>
        </p:spPr>
        <p:txBody>
          <a:bodyPr wrap="square" lIns="0" tIns="0" rIns="0" bIns="0" rtlCol="0" anchor="ctr"/>
          <a:lstStyle/>
          <a:p>
            <a:pPr algn="ctr" indent="0" marL="0">
              <a:buNone/>
            </a:pPr>
            <a:r>
              <a:rPr lang="en-US" sz="800" b="1" dirty="0">
                <a:solidFill>
                  <a:srgbClr val="12293A"/>
                </a:solidFill>
                <a:latin typeface="Poppins" pitchFamily="34" charset="0"/>
                <a:ea typeface="Poppins" pitchFamily="34" charset="-122"/>
                <a:cs typeface="Poppins" pitchFamily="34" charset="-120"/>
              </a:rPr>
              <a:t>Sep</a:t>
            </a:r>
            <a:endParaRPr lang="en-US" sz="800" dirty="0"/>
          </a:p>
        </p:txBody>
      </p:sp>
      <p:sp>
        <p:nvSpPr>
          <p:cNvPr id="44" name="Text 42"/>
          <p:cNvSpPr txBox="1"/>
          <p:nvPr/>
        </p:nvSpPr>
        <p:spPr>
          <a:xfrm>
            <a:off x="5294376" y="2596896"/>
            <a:ext cx="1051560" cy="182880"/>
          </a:xfrm>
          <a:prstGeom prst="rect">
            <a:avLst/>
          </a:prstGeom>
          <a:noFill/>
          <a:ln/>
        </p:spPr>
        <p:txBody>
          <a:bodyPr wrap="square" lIns="0" tIns="0" rIns="0" bIns="0" rtlCol="0" anchor="ctr"/>
          <a:lstStyle/>
          <a:p>
            <a:pPr algn="ctr" indent="0" marL="0">
              <a:buNone/>
            </a:pPr>
            <a:r>
              <a:rPr lang="en-US" sz="800" b="1" dirty="0">
                <a:solidFill>
                  <a:srgbClr val="12293A"/>
                </a:solidFill>
                <a:latin typeface="Poppins" pitchFamily="34" charset="0"/>
                <a:ea typeface="Poppins" pitchFamily="34" charset="-122"/>
                <a:cs typeface="Poppins" pitchFamily="34" charset="-120"/>
              </a:rPr>
              <a:t>Oct</a:t>
            </a:r>
            <a:endParaRPr lang="en-US" sz="800" dirty="0"/>
          </a:p>
        </p:txBody>
      </p:sp>
      <p:sp>
        <p:nvSpPr>
          <p:cNvPr id="45" name="Text 43"/>
          <p:cNvSpPr txBox="1"/>
          <p:nvPr/>
        </p:nvSpPr>
        <p:spPr>
          <a:xfrm>
            <a:off x="6400800" y="2596896"/>
            <a:ext cx="1280160" cy="182880"/>
          </a:xfrm>
          <a:prstGeom prst="rect">
            <a:avLst/>
          </a:prstGeom>
          <a:noFill/>
          <a:ln/>
        </p:spPr>
        <p:txBody>
          <a:bodyPr wrap="square" lIns="0" tIns="0" rIns="0" bIns="0" rtlCol="0" anchor="ctr"/>
          <a:lstStyle/>
          <a:p>
            <a:pPr algn="r" indent="0" marL="0">
              <a:buNone/>
            </a:pPr>
            <a:r>
              <a:rPr lang="en-US" sz="800" b="1" dirty="0">
                <a:solidFill>
                  <a:srgbClr val="12293A"/>
                </a:solidFill>
                <a:latin typeface="Poppins" pitchFamily="34" charset="0"/>
                <a:ea typeface="Poppins" pitchFamily="34" charset="-122"/>
                <a:cs typeface="Poppins" pitchFamily="34" charset="-120"/>
              </a:rPr>
              <a:t>TOTAL</a:t>
            </a:r>
            <a:endParaRPr lang="en-US" sz="800" dirty="0"/>
          </a:p>
        </p:txBody>
      </p:sp>
      <p:sp>
        <p:nvSpPr>
          <p:cNvPr id="46" name="Text 44"/>
          <p:cNvSpPr txBox="1"/>
          <p:nvPr/>
        </p:nvSpPr>
        <p:spPr>
          <a:xfrm>
            <a:off x="594360" y="2816352"/>
            <a:ext cx="1417320" cy="164592"/>
          </a:xfrm>
          <a:prstGeom prst="rect">
            <a:avLst/>
          </a:prstGeom>
          <a:noFill/>
          <a:ln/>
        </p:spPr>
        <p:txBody>
          <a:bodyPr wrap="square" lIns="0" tIns="0" rIns="0" bIns="0" rtlCol="0" anchor="ctr"/>
          <a:lstStyle/>
          <a:p>
            <a:pPr indent="0" marL="0">
              <a:buNone/>
            </a:pPr>
            <a:r>
              <a:rPr lang="en-US" sz="720" b="1" dirty="0">
                <a:solidFill>
                  <a:srgbClr val="12293A"/>
                </a:solidFill>
                <a:latin typeface="Poppins" pitchFamily="34" charset="0"/>
                <a:ea typeface="Poppins" pitchFamily="34" charset="-122"/>
                <a:cs typeface="Poppins" pitchFamily="34" charset="-120"/>
              </a:rPr>
              <a:t>Brad Smith</a:t>
            </a:r>
            <a:endParaRPr lang="en-US" sz="720" dirty="0"/>
          </a:p>
        </p:txBody>
      </p:sp>
      <p:sp>
        <p:nvSpPr>
          <p:cNvPr id="47" name="Shape 45"/>
          <p:cNvSpPr/>
          <p:nvPr/>
        </p:nvSpPr>
        <p:spPr>
          <a:xfrm>
            <a:off x="2084832" y="2823667"/>
            <a:ext cx="996696" cy="150876"/>
          </a:xfrm>
          <a:prstGeom prst="rect">
            <a:avLst/>
          </a:prstGeom>
          <a:solidFill>
            <a:srgbClr val="D4E9ED"/>
          </a:solidFill>
          <a:ln/>
        </p:spPr>
      </p:sp>
      <p:sp>
        <p:nvSpPr>
          <p:cNvPr id="48" name="Text 46"/>
          <p:cNvSpPr txBox="1"/>
          <p:nvPr/>
        </p:nvSpPr>
        <p:spPr>
          <a:xfrm>
            <a:off x="2057400" y="2816352"/>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39,579</a:t>
            </a:r>
            <a:endParaRPr lang="en-US" sz="680" dirty="0"/>
          </a:p>
        </p:txBody>
      </p:sp>
      <p:sp>
        <p:nvSpPr>
          <p:cNvPr id="49" name="Shape 47"/>
          <p:cNvSpPr/>
          <p:nvPr/>
        </p:nvSpPr>
        <p:spPr>
          <a:xfrm>
            <a:off x="3163824" y="2823667"/>
            <a:ext cx="996696" cy="150876"/>
          </a:xfrm>
          <a:prstGeom prst="rect">
            <a:avLst/>
          </a:prstGeom>
          <a:solidFill>
            <a:srgbClr val="D4E9ED"/>
          </a:solidFill>
          <a:ln/>
        </p:spPr>
      </p:sp>
      <p:sp>
        <p:nvSpPr>
          <p:cNvPr id="50" name="Text 48"/>
          <p:cNvSpPr txBox="1"/>
          <p:nvPr/>
        </p:nvSpPr>
        <p:spPr>
          <a:xfrm>
            <a:off x="3136392" y="2816352"/>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41,244</a:t>
            </a:r>
            <a:endParaRPr lang="en-US" sz="680" dirty="0"/>
          </a:p>
        </p:txBody>
      </p:sp>
      <p:sp>
        <p:nvSpPr>
          <p:cNvPr id="51" name="Shape 49"/>
          <p:cNvSpPr/>
          <p:nvPr/>
        </p:nvSpPr>
        <p:spPr>
          <a:xfrm>
            <a:off x="4242816" y="2823667"/>
            <a:ext cx="996696" cy="150876"/>
          </a:xfrm>
          <a:prstGeom prst="rect">
            <a:avLst/>
          </a:prstGeom>
          <a:solidFill>
            <a:srgbClr val="EDF5F7"/>
          </a:solidFill>
          <a:ln/>
        </p:spPr>
      </p:sp>
      <p:sp>
        <p:nvSpPr>
          <p:cNvPr id="52" name="Text 50"/>
          <p:cNvSpPr txBox="1"/>
          <p:nvPr/>
        </p:nvSpPr>
        <p:spPr>
          <a:xfrm>
            <a:off x="4215384" y="2816352"/>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15,821</a:t>
            </a:r>
            <a:endParaRPr lang="en-US" sz="680" dirty="0"/>
          </a:p>
        </p:txBody>
      </p:sp>
      <p:sp>
        <p:nvSpPr>
          <p:cNvPr id="53" name="Text 51"/>
          <p:cNvSpPr txBox="1"/>
          <p:nvPr/>
        </p:nvSpPr>
        <p:spPr>
          <a:xfrm>
            <a:off x="5294376" y="2816352"/>
            <a:ext cx="1051560" cy="164592"/>
          </a:xfrm>
          <a:prstGeom prst="rect">
            <a:avLst/>
          </a:prstGeom>
          <a:noFill/>
          <a:ln/>
        </p:spPr>
        <p:txBody>
          <a:bodyPr wrap="square" lIns="0" tIns="0" rIns="0" bIns="0" rtlCol="0" anchor="ctr"/>
          <a:lstStyle/>
          <a:p>
            <a:pPr algn="ctr" indent="0" marL="0">
              <a:buNone/>
            </a:pPr>
            <a:r>
              <a:rPr lang="en-US" sz="680" dirty="0">
                <a:solidFill>
                  <a:srgbClr val="8FA1AC"/>
                </a:solidFill>
                <a:latin typeface="Poppins" pitchFamily="34" charset="0"/>
                <a:ea typeface="Poppins" pitchFamily="34" charset="-122"/>
                <a:cs typeface="Poppins" pitchFamily="34" charset="-120"/>
              </a:rPr>
              <a:t>—</a:t>
            </a:r>
            <a:endParaRPr lang="en-US" sz="680" dirty="0"/>
          </a:p>
        </p:txBody>
      </p:sp>
      <p:sp>
        <p:nvSpPr>
          <p:cNvPr id="54" name="Text 52"/>
          <p:cNvSpPr txBox="1"/>
          <p:nvPr/>
        </p:nvSpPr>
        <p:spPr>
          <a:xfrm>
            <a:off x="6400800" y="2816352"/>
            <a:ext cx="1280160" cy="164592"/>
          </a:xfrm>
          <a:prstGeom prst="rect">
            <a:avLst/>
          </a:prstGeom>
          <a:noFill/>
          <a:ln/>
        </p:spPr>
        <p:txBody>
          <a:bodyPr wrap="square" lIns="0" tIns="0" rIns="0" bIns="0" rtlCol="0" anchor="ctr"/>
          <a:lstStyle/>
          <a:p>
            <a:pPr algn="r" indent="0" marL="0">
              <a:buNone/>
            </a:pPr>
            <a:r>
              <a:rPr lang="en-US" sz="700" b="1" dirty="0">
                <a:solidFill>
                  <a:srgbClr val="5E7280"/>
                </a:solidFill>
                <a:latin typeface="Poppins" pitchFamily="34" charset="0"/>
                <a:ea typeface="Poppins" pitchFamily="34" charset="-122"/>
                <a:cs typeface="Poppins" pitchFamily="34" charset="-120"/>
              </a:rPr>
              <a:t>96,644</a:t>
            </a:r>
            <a:endParaRPr lang="en-US" sz="700" dirty="0"/>
          </a:p>
        </p:txBody>
      </p:sp>
      <p:sp>
        <p:nvSpPr>
          <p:cNvPr id="55" name="Text 53"/>
          <p:cNvSpPr txBox="1"/>
          <p:nvPr/>
        </p:nvSpPr>
        <p:spPr>
          <a:xfrm>
            <a:off x="594360" y="2990088"/>
            <a:ext cx="1417320" cy="164592"/>
          </a:xfrm>
          <a:prstGeom prst="rect">
            <a:avLst/>
          </a:prstGeom>
          <a:noFill/>
          <a:ln/>
        </p:spPr>
        <p:txBody>
          <a:bodyPr wrap="square" lIns="0" tIns="0" rIns="0" bIns="0" rtlCol="0" anchor="ctr"/>
          <a:lstStyle/>
          <a:p>
            <a:pPr indent="0" marL="0">
              <a:buNone/>
            </a:pPr>
            <a:r>
              <a:rPr lang="en-US" sz="720" b="1" dirty="0">
                <a:solidFill>
                  <a:srgbClr val="12293A"/>
                </a:solidFill>
                <a:latin typeface="Poppins" pitchFamily="34" charset="0"/>
                <a:ea typeface="Poppins" pitchFamily="34" charset="-122"/>
                <a:cs typeface="Poppins" pitchFamily="34" charset="-120"/>
              </a:rPr>
              <a:t>Nicolas Ibrahim</a:t>
            </a:r>
            <a:endParaRPr lang="en-US" sz="720" dirty="0"/>
          </a:p>
        </p:txBody>
      </p:sp>
      <p:sp>
        <p:nvSpPr>
          <p:cNvPr id="56" name="Shape 54"/>
          <p:cNvSpPr/>
          <p:nvPr/>
        </p:nvSpPr>
        <p:spPr>
          <a:xfrm>
            <a:off x="2084832" y="2997403"/>
            <a:ext cx="996696" cy="150876"/>
          </a:xfrm>
          <a:prstGeom prst="rect">
            <a:avLst/>
          </a:prstGeom>
          <a:solidFill>
            <a:srgbClr val="EDF5F7"/>
          </a:solidFill>
          <a:ln/>
        </p:spPr>
      </p:sp>
      <p:sp>
        <p:nvSpPr>
          <p:cNvPr id="57" name="Text 55"/>
          <p:cNvSpPr txBox="1"/>
          <p:nvPr/>
        </p:nvSpPr>
        <p:spPr>
          <a:xfrm>
            <a:off x="2057400" y="2990088"/>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15,834</a:t>
            </a:r>
            <a:endParaRPr lang="en-US" sz="680" dirty="0"/>
          </a:p>
        </p:txBody>
      </p:sp>
      <p:sp>
        <p:nvSpPr>
          <p:cNvPr id="58" name="Shape 56"/>
          <p:cNvSpPr/>
          <p:nvPr/>
        </p:nvSpPr>
        <p:spPr>
          <a:xfrm>
            <a:off x="3163824" y="2997403"/>
            <a:ext cx="996696" cy="150876"/>
          </a:xfrm>
          <a:prstGeom prst="rect">
            <a:avLst/>
          </a:prstGeom>
          <a:solidFill>
            <a:srgbClr val="D4E9ED"/>
          </a:solidFill>
          <a:ln/>
        </p:spPr>
      </p:sp>
      <p:sp>
        <p:nvSpPr>
          <p:cNvPr id="59" name="Text 57"/>
          <p:cNvSpPr txBox="1"/>
          <p:nvPr/>
        </p:nvSpPr>
        <p:spPr>
          <a:xfrm>
            <a:off x="3136392" y="2990088"/>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38,142</a:t>
            </a:r>
            <a:endParaRPr lang="en-US" sz="680" dirty="0"/>
          </a:p>
        </p:txBody>
      </p:sp>
      <p:sp>
        <p:nvSpPr>
          <p:cNvPr id="60" name="Shape 58"/>
          <p:cNvSpPr/>
          <p:nvPr/>
        </p:nvSpPr>
        <p:spPr>
          <a:xfrm>
            <a:off x="4242816" y="2997403"/>
            <a:ext cx="996696" cy="150876"/>
          </a:xfrm>
          <a:prstGeom prst="rect">
            <a:avLst/>
          </a:prstGeom>
          <a:solidFill>
            <a:srgbClr val="8FC3CC"/>
          </a:solidFill>
          <a:ln/>
        </p:spPr>
      </p:sp>
      <p:sp>
        <p:nvSpPr>
          <p:cNvPr id="61" name="Text 59"/>
          <p:cNvSpPr txBox="1"/>
          <p:nvPr/>
        </p:nvSpPr>
        <p:spPr>
          <a:xfrm>
            <a:off x="4215384" y="2990088"/>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99,693</a:t>
            </a:r>
            <a:endParaRPr lang="en-US" sz="680" dirty="0"/>
          </a:p>
        </p:txBody>
      </p:sp>
      <p:sp>
        <p:nvSpPr>
          <p:cNvPr id="62" name="Shape 60"/>
          <p:cNvSpPr/>
          <p:nvPr/>
        </p:nvSpPr>
        <p:spPr>
          <a:xfrm>
            <a:off x="5321808" y="2997403"/>
            <a:ext cx="996696" cy="150876"/>
          </a:xfrm>
          <a:prstGeom prst="rect">
            <a:avLst/>
          </a:prstGeom>
          <a:solidFill>
            <a:srgbClr val="8FC3CC"/>
          </a:solidFill>
          <a:ln/>
        </p:spPr>
      </p:sp>
      <p:sp>
        <p:nvSpPr>
          <p:cNvPr id="63" name="Text 61"/>
          <p:cNvSpPr txBox="1"/>
          <p:nvPr/>
        </p:nvSpPr>
        <p:spPr>
          <a:xfrm>
            <a:off x="5294376" y="2990088"/>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77,260</a:t>
            </a:r>
            <a:endParaRPr lang="en-US" sz="680" dirty="0"/>
          </a:p>
        </p:txBody>
      </p:sp>
      <p:sp>
        <p:nvSpPr>
          <p:cNvPr id="64" name="Text 62"/>
          <p:cNvSpPr txBox="1"/>
          <p:nvPr/>
        </p:nvSpPr>
        <p:spPr>
          <a:xfrm>
            <a:off x="6400800" y="2990088"/>
            <a:ext cx="1280160" cy="164592"/>
          </a:xfrm>
          <a:prstGeom prst="rect">
            <a:avLst/>
          </a:prstGeom>
          <a:noFill/>
          <a:ln/>
        </p:spPr>
        <p:txBody>
          <a:bodyPr wrap="square" lIns="0" tIns="0" rIns="0" bIns="0" rtlCol="0" anchor="ctr"/>
          <a:lstStyle/>
          <a:p>
            <a:pPr algn="r" indent="0" marL="0">
              <a:buNone/>
            </a:pPr>
            <a:r>
              <a:rPr lang="en-US" sz="700" b="1" dirty="0">
                <a:solidFill>
                  <a:srgbClr val="5E7280"/>
                </a:solidFill>
                <a:latin typeface="Poppins" pitchFamily="34" charset="0"/>
                <a:ea typeface="Poppins" pitchFamily="34" charset="-122"/>
                <a:cs typeface="Poppins" pitchFamily="34" charset="-120"/>
              </a:rPr>
              <a:t>230,929</a:t>
            </a:r>
            <a:endParaRPr lang="en-US" sz="700" dirty="0"/>
          </a:p>
        </p:txBody>
      </p:sp>
      <p:sp>
        <p:nvSpPr>
          <p:cNvPr id="65" name="Text 63"/>
          <p:cNvSpPr txBox="1"/>
          <p:nvPr/>
        </p:nvSpPr>
        <p:spPr>
          <a:xfrm>
            <a:off x="594360" y="3163824"/>
            <a:ext cx="1417320" cy="164592"/>
          </a:xfrm>
          <a:prstGeom prst="rect">
            <a:avLst/>
          </a:prstGeom>
          <a:noFill/>
          <a:ln/>
        </p:spPr>
        <p:txBody>
          <a:bodyPr wrap="square" lIns="0" tIns="0" rIns="0" bIns="0" rtlCol="0" anchor="ctr"/>
          <a:lstStyle/>
          <a:p>
            <a:pPr indent="0" marL="0">
              <a:buNone/>
            </a:pPr>
            <a:r>
              <a:rPr lang="en-US" sz="720" b="1" dirty="0">
                <a:solidFill>
                  <a:srgbClr val="12293A"/>
                </a:solidFill>
                <a:latin typeface="Poppins" pitchFamily="34" charset="0"/>
                <a:ea typeface="Poppins" pitchFamily="34" charset="-122"/>
                <a:cs typeface="Poppins" pitchFamily="34" charset="-120"/>
              </a:rPr>
              <a:t>Hawraa Khalil</a:t>
            </a:r>
            <a:endParaRPr lang="en-US" sz="720" dirty="0"/>
          </a:p>
        </p:txBody>
      </p:sp>
      <p:sp>
        <p:nvSpPr>
          <p:cNvPr id="66" name="Shape 64"/>
          <p:cNvSpPr/>
          <p:nvPr/>
        </p:nvSpPr>
        <p:spPr>
          <a:xfrm>
            <a:off x="2084832" y="3171139"/>
            <a:ext cx="996696" cy="150876"/>
          </a:xfrm>
          <a:prstGeom prst="rect">
            <a:avLst/>
          </a:prstGeom>
          <a:solidFill>
            <a:srgbClr val="D4E9ED"/>
          </a:solidFill>
          <a:ln/>
        </p:spPr>
      </p:sp>
      <p:sp>
        <p:nvSpPr>
          <p:cNvPr id="67" name="Text 65"/>
          <p:cNvSpPr txBox="1"/>
          <p:nvPr/>
        </p:nvSpPr>
        <p:spPr>
          <a:xfrm>
            <a:off x="2057400" y="3163824"/>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28,536</a:t>
            </a:r>
            <a:endParaRPr lang="en-US" sz="680" dirty="0"/>
          </a:p>
        </p:txBody>
      </p:sp>
      <p:sp>
        <p:nvSpPr>
          <p:cNvPr id="68" name="Shape 66"/>
          <p:cNvSpPr/>
          <p:nvPr/>
        </p:nvSpPr>
        <p:spPr>
          <a:xfrm>
            <a:off x="3163824" y="3171139"/>
            <a:ext cx="996696" cy="150876"/>
          </a:xfrm>
          <a:prstGeom prst="rect">
            <a:avLst/>
          </a:prstGeom>
          <a:solidFill>
            <a:srgbClr val="D4E9ED"/>
          </a:solidFill>
          <a:ln/>
        </p:spPr>
      </p:sp>
      <p:sp>
        <p:nvSpPr>
          <p:cNvPr id="69" name="Text 67"/>
          <p:cNvSpPr txBox="1"/>
          <p:nvPr/>
        </p:nvSpPr>
        <p:spPr>
          <a:xfrm>
            <a:off x="3136392" y="3163824"/>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23,285</a:t>
            </a:r>
            <a:endParaRPr lang="en-US" sz="680" dirty="0"/>
          </a:p>
        </p:txBody>
      </p:sp>
      <p:sp>
        <p:nvSpPr>
          <p:cNvPr id="70" name="Shape 68"/>
          <p:cNvSpPr/>
          <p:nvPr/>
        </p:nvSpPr>
        <p:spPr>
          <a:xfrm>
            <a:off x="4242816" y="3171139"/>
            <a:ext cx="996696" cy="150876"/>
          </a:xfrm>
          <a:prstGeom prst="rect">
            <a:avLst/>
          </a:prstGeom>
          <a:solidFill>
            <a:srgbClr val="EDF5F7"/>
          </a:solidFill>
          <a:ln/>
        </p:spPr>
      </p:sp>
      <p:sp>
        <p:nvSpPr>
          <p:cNvPr id="71" name="Text 69"/>
          <p:cNvSpPr txBox="1"/>
          <p:nvPr/>
        </p:nvSpPr>
        <p:spPr>
          <a:xfrm>
            <a:off x="4215384" y="3163824"/>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19,047</a:t>
            </a:r>
            <a:endParaRPr lang="en-US" sz="680" dirty="0"/>
          </a:p>
        </p:txBody>
      </p:sp>
      <p:sp>
        <p:nvSpPr>
          <p:cNvPr id="72" name="Text 70"/>
          <p:cNvSpPr txBox="1"/>
          <p:nvPr/>
        </p:nvSpPr>
        <p:spPr>
          <a:xfrm>
            <a:off x="5294376" y="3163824"/>
            <a:ext cx="1051560" cy="164592"/>
          </a:xfrm>
          <a:prstGeom prst="rect">
            <a:avLst/>
          </a:prstGeom>
          <a:noFill/>
          <a:ln/>
        </p:spPr>
        <p:txBody>
          <a:bodyPr wrap="square" lIns="0" tIns="0" rIns="0" bIns="0" rtlCol="0" anchor="ctr"/>
          <a:lstStyle/>
          <a:p>
            <a:pPr algn="ctr" indent="0" marL="0">
              <a:buNone/>
            </a:pPr>
            <a:r>
              <a:rPr lang="en-US" sz="680" dirty="0">
                <a:solidFill>
                  <a:srgbClr val="8FA1AC"/>
                </a:solidFill>
                <a:latin typeface="Poppins" pitchFamily="34" charset="0"/>
                <a:ea typeface="Poppins" pitchFamily="34" charset="-122"/>
                <a:cs typeface="Poppins" pitchFamily="34" charset="-120"/>
              </a:rPr>
              <a:t>—</a:t>
            </a:r>
            <a:endParaRPr lang="en-US" sz="680" dirty="0"/>
          </a:p>
        </p:txBody>
      </p:sp>
      <p:sp>
        <p:nvSpPr>
          <p:cNvPr id="73" name="Text 71"/>
          <p:cNvSpPr txBox="1"/>
          <p:nvPr/>
        </p:nvSpPr>
        <p:spPr>
          <a:xfrm>
            <a:off x="6400800" y="3163824"/>
            <a:ext cx="1280160" cy="164592"/>
          </a:xfrm>
          <a:prstGeom prst="rect">
            <a:avLst/>
          </a:prstGeom>
          <a:noFill/>
          <a:ln/>
        </p:spPr>
        <p:txBody>
          <a:bodyPr wrap="square" lIns="0" tIns="0" rIns="0" bIns="0" rtlCol="0" anchor="ctr"/>
          <a:lstStyle/>
          <a:p>
            <a:pPr algn="r" indent="0" marL="0">
              <a:buNone/>
            </a:pPr>
            <a:r>
              <a:rPr lang="en-US" sz="700" b="1" dirty="0">
                <a:solidFill>
                  <a:srgbClr val="5E7280"/>
                </a:solidFill>
                <a:latin typeface="Poppins" pitchFamily="34" charset="0"/>
                <a:ea typeface="Poppins" pitchFamily="34" charset="-122"/>
                <a:cs typeface="Poppins" pitchFamily="34" charset="-120"/>
              </a:rPr>
              <a:t>70,868</a:t>
            </a:r>
            <a:endParaRPr lang="en-US" sz="700" dirty="0"/>
          </a:p>
        </p:txBody>
      </p:sp>
      <p:sp>
        <p:nvSpPr>
          <p:cNvPr id="74" name="Text 72"/>
          <p:cNvSpPr txBox="1"/>
          <p:nvPr/>
        </p:nvSpPr>
        <p:spPr>
          <a:xfrm>
            <a:off x="594360" y="3337560"/>
            <a:ext cx="1417320" cy="164592"/>
          </a:xfrm>
          <a:prstGeom prst="rect">
            <a:avLst/>
          </a:prstGeom>
          <a:noFill/>
          <a:ln/>
        </p:spPr>
        <p:txBody>
          <a:bodyPr wrap="square" lIns="0" tIns="0" rIns="0" bIns="0" rtlCol="0" anchor="ctr"/>
          <a:lstStyle/>
          <a:p>
            <a:pPr indent="0" marL="0">
              <a:buNone/>
            </a:pPr>
            <a:r>
              <a:rPr lang="en-US" sz="720" b="1" dirty="0">
                <a:solidFill>
                  <a:srgbClr val="12293A"/>
                </a:solidFill>
                <a:latin typeface="Poppins" pitchFamily="34" charset="0"/>
                <a:ea typeface="Poppins" pitchFamily="34" charset="-122"/>
                <a:cs typeface="Poppins" pitchFamily="34" charset="-120"/>
              </a:rPr>
              <a:t>Ciaran Dempsey</a:t>
            </a:r>
            <a:endParaRPr lang="en-US" sz="720" dirty="0"/>
          </a:p>
        </p:txBody>
      </p:sp>
      <p:sp>
        <p:nvSpPr>
          <p:cNvPr id="75" name="Shape 73"/>
          <p:cNvSpPr/>
          <p:nvPr/>
        </p:nvSpPr>
        <p:spPr>
          <a:xfrm>
            <a:off x="2084832" y="3344875"/>
            <a:ext cx="996696" cy="150876"/>
          </a:xfrm>
          <a:prstGeom prst="rect">
            <a:avLst/>
          </a:prstGeom>
          <a:solidFill>
            <a:srgbClr val="EDF5F7"/>
          </a:solidFill>
          <a:ln/>
        </p:spPr>
      </p:sp>
      <p:sp>
        <p:nvSpPr>
          <p:cNvPr id="76" name="Text 74"/>
          <p:cNvSpPr txBox="1"/>
          <p:nvPr/>
        </p:nvSpPr>
        <p:spPr>
          <a:xfrm>
            <a:off x="2057400" y="3337560"/>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18,918</a:t>
            </a:r>
            <a:endParaRPr lang="en-US" sz="680" dirty="0"/>
          </a:p>
        </p:txBody>
      </p:sp>
      <p:sp>
        <p:nvSpPr>
          <p:cNvPr id="77" name="Shape 75"/>
          <p:cNvSpPr/>
          <p:nvPr/>
        </p:nvSpPr>
        <p:spPr>
          <a:xfrm>
            <a:off x="3163824" y="3344875"/>
            <a:ext cx="996696" cy="150876"/>
          </a:xfrm>
          <a:prstGeom prst="rect">
            <a:avLst/>
          </a:prstGeom>
          <a:solidFill>
            <a:srgbClr val="D4E9ED"/>
          </a:solidFill>
          <a:ln/>
        </p:spPr>
      </p:sp>
      <p:sp>
        <p:nvSpPr>
          <p:cNvPr id="78" name="Text 76"/>
          <p:cNvSpPr txBox="1"/>
          <p:nvPr/>
        </p:nvSpPr>
        <p:spPr>
          <a:xfrm>
            <a:off x="3136392" y="3337560"/>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23,650</a:t>
            </a:r>
            <a:endParaRPr lang="en-US" sz="680" dirty="0"/>
          </a:p>
        </p:txBody>
      </p:sp>
      <p:sp>
        <p:nvSpPr>
          <p:cNvPr id="79" name="Shape 77"/>
          <p:cNvSpPr/>
          <p:nvPr/>
        </p:nvSpPr>
        <p:spPr>
          <a:xfrm>
            <a:off x="4242816" y="3344875"/>
            <a:ext cx="996696" cy="150876"/>
          </a:xfrm>
          <a:prstGeom prst="rect">
            <a:avLst/>
          </a:prstGeom>
          <a:solidFill>
            <a:srgbClr val="D4E9ED"/>
          </a:solidFill>
          <a:ln/>
        </p:spPr>
      </p:sp>
      <p:sp>
        <p:nvSpPr>
          <p:cNvPr id="80" name="Text 78"/>
          <p:cNvSpPr txBox="1"/>
          <p:nvPr/>
        </p:nvSpPr>
        <p:spPr>
          <a:xfrm>
            <a:off x="4215384" y="3337560"/>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24,443</a:t>
            </a:r>
            <a:endParaRPr lang="en-US" sz="680" dirty="0"/>
          </a:p>
        </p:txBody>
      </p:sp>
      <p:sp>
        <p:nvSpPr>
          <p:cNvPr id="81" name="Shape 79"/>
          <p:cNvSpPr/>
          <p:nvPr/>
        </p:nvSpPr>
        <p:spPr>
          <a:xfrm>
            <a:off x="5321808" y="3344875"/>
            <a:ext cx="996696" cy="150876"/>
          </a:xfrm>
          <a:prstGeom prst="rect">
            <a:avLst/>
          </a:prstGeom>
          <a:solidFill>
            <a:srgbClr val="EDF5F7"/>
          </a:solidFill>
          <a:ln/>
        </p:spPr>
      </p:sp>
      <p:sp>
        <p:nvSpPr>
          <p:cNvPr id="82" name="Text 80"/>
          <p:cNvSpPr txBox="1"/>
          <p:nvPr/>
        </p:nvSpPr>
        <p:spPr>
          <a:xfrm>
            <a:off x="5294376" y="3337560"/>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1,321</a:t>
            </a:r>
            <a:endParaRPr lang="en-US" sz="680" dirty="0"/>
          </a:p>
        </p:txBody>
      </p:sp>
      <p:sp>
        <p:nvSpPr>
          <p:cNvPr id="83" name="Text 81"/>
          <p:cNvSpPr txBox="1"/>
          <p:nvPr/>
        </p:nvSpPr>
        <p:spPr>
          <a:xfrm>
            <a:off x="6400800" y="3337560"/>
            <a:ext cx="1280160" cy="164592"/>
          </a:xfrm>
          <a:prstGeom prst="rect">
            <a:avLst/>
          </a:prstGeom>
          <a:noFill/>
          <a:ln/>
        </p:spPr>
        <p:txBody>
          <a:bodyPr wrap="square" lIns="0" tIns="0" rIns="0" bIns="0" rtlCol="0" anchor="ctr"/>
          <a:lstStyle/>
          <a:p>
            <a:pPr algn="r" indent="0" marL="0">
              <a:buNone/>
            </a:pPr>
            <a:r>
              <a:rPr lang="en-US" sz="700" b="1" dirty="0">
                <a:solidFill>
                  <a:srgbClr val="5E7280"/>
                </a:solidFill>
                <a:latin typeface="Poppins" pitchFamily="34" charset="0"/>
                <a:ea typeface="Poppins" pitchFamily="34" charset="-122"/>
                <a:cs typeface="Poppins" pitchFamily="34" charset="-120"/>
              </a:rPr>
              <a:t>68,332</a:t>
            </a:r>
            <a:endParaRPr lang="en-US" sz="700" dirty="0"/>
          </a:p>
        </p:txBody>
      </p:sp>
      <p:sp>
        <p:nvSpPr>
          <p:cNvPr id="84" name="Text 82"/>
          <p:cNvSpPr txBox="1"/>
          <p:nvPr/>
        </p:nvSpPr>
        <p:spPr>
          <a:xfrm>
            <a:off x="594360" y="3511296"/>
            <a:ext cx="1417320" cy="164592"/>
          </a:xfrm>
          <a:prstGeom prst="rect">
            <a:avLst/>
          </a:prstGeom>
          <a:noFill/>
          <a:ln/>
        </p:spPr>
        <p:txBody>
          <a:bodyPr wrap="square" lIns="0" tIns="0" rIns="0" bIns="0" rtlCol="0" anchor="ctr"/>
          <a:lstStyle/>
          <a:p>
            <a:pPr indent="0" marL="0">
              <a:buNone/>
            </a:pPr>
            <a:r>
              <a:rPr lang="en-US" sz="720" b="1" dirty="0">
                <a:solidFill>
                  <a:srgbClr val="12293A"/>
                </a:solidFill>
                <a:latin typeface="Poppins" pitchFamily="34" charset="0"/>
                <a:ea typeface="Poppins" pitchFamily="34" charset="-122"/>
                <a:cs typeface="Poppins" pitchFamily="34" charset="-120"/>
              </a:rPr>
              <a:t>David Corbett</a:t>
            </a:r>
            <a:endParaRPr lang="en-US" sz="720" dirty="0"/>
          </a:p>
        </p:txBody>
      </p:sp>
      <p:sp>
        <p:nvSpPr>
          <p:cNvPr id="85" name="Shape 83"/>
          <p:cNvSpPr/>
          <p:nvPr/>
        </p:nvSpPr>
        <p:spPr>
          <a:xfrm>
            <a:off x="2084832" y="3518611"/>
            <a:ext cx="996696" cy="150876"/>
          </a:xfrm>
          <a:prstGeom prst="rect">
            <a:avLst/>
          </a:prstGeom>
          <a:solidFill>
            <a:srgbClr val="D4E9ED"/>
          </a:solidFill>
          <a:ln/>
        </p:spPr>
      </p:sp>
      <p:sp>
        <p:nvSpPr>
          <p:cNvPr id="86" name="Text 84"/>
          <p:cNvSpPr txBox="1"/>
          <p:nvPr/>
        </p:nvSpPr>
        <p:spPr>
          <a:xfrm>
            <a:off x="2057400" y="3511296"/>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27,031</a:t>
            </a:r>
            <a:endParaRPr lang="en-US" sz="680" dirty="0"/>
          </a:p>
        </p:txBody>
      </p:sp>
      <p:sp>
        <p:nvSpPr>
          <p:cNvPr id="87" name="Shape 85"/>
          <p:cNvSpPr/>
          <p:nvPr/>
        </p:nvSpPr>
        <p:spPr>
          <a:xfrm>
            <a:off x="3163824" y="3518611"/>
            <a:ext cx="996696" cy="150876"/>
          </a:xfrm>
          <a:prstGeom prst="rect">
            <a:avLst/>
          </a:prstGeom>
          <a:solidFill>
            <a:srgbClr val="EDF5F7"/>
          </a:solidFill>
          <a:ln/>
        </p:spPr>
      </p:sp>
      <p:sp>
        <p:nvSpPr>
          <p:cNvPr id="88" name="Text 86"/>
          <p:cNvSpPr txBox="1"/>
          <p:nvPr/>
        </p:nvSpPr>
        <p:spPr>
          <a:xfrm>
            <a:off x="3136392" y="3511296"/>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10,145</a:t>
            </a:r>
            <a:endParaRPr lang="en-US" sz="680" dirty="0"/>
          </a:p>
        </p:txBody>
      </p:sp>
      <p:sp>
        <p:nvSpPr>
          <p:cNvPr id="89" name="Shape 87"/>
          <p:cNvSpPr/>
          <p:nvPr/>
        </p:nvSpPr>
        <p:spPr>
          <a:xfrm>
            <a:off x="4242816" y="3518611"/>
            <a:ext cx="996696" cy="150876"/>
          </a:xfrm>
          <a:prstGeom prst="rect">
            <a:avLst/>
          </a:prstGeom>
          <a:solidFill>
            <a:srgbClr val="D4E9ED"/>
          </a:solidFill>
          <a:ln/>
        </p:spPr>
      </p:sp>
      <p:sp>
        <p:nvSpPr>
          <p:cNvPr id="90" name="Text 88"/>
          <p:cNvSpPr txBox="1"/>
          <p:nvPr/>
        </p:nvSpPr>
        <p:spPr>
          <a:xfrm>
            <a:off x="4215384" y="3511296"/>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30,828</a:t>
            </a:r>
            <a:endParaRPr lang="en-US" sz="680" dirty="0"/>
          </a:p>
        </p:txBody>
      </p:sp>
      <p:sp>
        <p:nvSpPr>
          <p:cNvPr id="91" name="Shape 89"/>
          <p:cNvSpPr/>
          <p:nvPr/>
        </p:nvSpPr>
        <p:spPr>
          <a:xfrm>
            <a:off x="5321808" y="3518611"/>
            <a:ext cx="996696" cy="150876"/>
          </a:xfrm>
          <a:prstGeom prst="rect">
            <a:avLst/>
          </a:prstGeom>
          <a:solidFill>
            <a:srgbClr val="EDF5F7"/>
          </a:solidFill>
          <a:ln/>
        </p:spPr>
      </p:sp>
      <p:sp>
        <p:nvSpPr>
          <p:cNvPr id="92" name="Text 90"/>
          <p:cNvSpPr txBox="1"/>
          <p:nvPr/>
        </p:nvSpPr>
        <p:spPr>
          <a:xfrm>
            <a:off x="5294376" y="3511296"/>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6,988</a:t>
            </a:r>
            <a:endParaRPr lang="en-US" sz="680" dirty="0"/>
          </a:p>
        </p:txBody>
      </p:sp>
      <p:sp>
        <p:nvSpPr>
          <p:cNvPr id="93" name="Text 91"/>
          <p:cNvSpPr txBox="1"/>
          <p:nvPr/>
        </p:nvSpPr>
        <p:spPr>
          <a:xfrm>
            <a:off x="6400800" y="3511296"/>
            <a:ext cx="1280160" cy="164592"/>
          </a:xfrm>
          <a:prstGeom prst="rect">
            <a:avLst/>
          </a:prstGeom>
          <a:noFill/>
          <a:ln/>
        </p:spPr>
        <p:txBody>
          <a:bodyPr wrap="square" lIns="0" tIns="0" rIns="0" bIns="0" rtlCol="0" anchor="ctr"/>
          <a:lstStyle/>
          <a:p>
            <a:pPr algn="r" indent="0" marL="0">
              <a:buNone/>
            </a:pPr>
            <a:r>
              <a:rPr lang="en-US" sz="700" b="1" dirty="0">
                <a:solidFill>
                  <a:srgbClr val="5E7280"/>
                </a:solidFill>
                <a:latin typeface="Poppins" pitchFamily="34" charset="0"/>
                <a:ea typeface="Poppins" pitchFamily="34" charset="-122"/>
                <a:cs typeface="Poppins" pitchFamily="34" charset="-120"/>
              </a:rPr>
              <a:t>74,992</a:t>
            </a:r>
            <a:endParaRPr lang="en-US" sz="700" dirty="0"/>
          </a:p>
        </p:txBody>
      </p:sp>
      <p:sp>
        <p:nvSpPr>
          <p:cNvPr id="94" name="Text 92"/>
          <p:cNvSpPr txBox="1"/>
          <p:nvPr/>
        </p:nvSpPr>
        <p:spPr>
          <a:xfrm>
            <a:off x="594360" y="3685032"/>
            <a:ext cx="1417320" cy="164592"/>
          </a:xfrm>
          <a:prstGeom prst="rect">
            <a:avLst/>
          </a:prstGeom>
          <a:noFill/>
          <a:ln/>
        </p:spPr>
        <p:txBody>
          <a:bodyPr wrap="square" lIns="0" tIns="0" rIns="0" bIns="0" rtlCol="0" anchor="ctr"/>
          <a:lstStyle/>
          <a:p>
            <a:pPr indent="0" marL="0">
              <a:buNone/>
            </a:pPr>
            <a:r>
              <a:rPr lang="en-US" sz="720" b="1" dirty="0">
                <a:solidFill>
                  <a:srgbClr val="12293A"/>
                </a:solidFill>
                <a:latin typeface="Poppins" pitchFamily="34" charset="0"/>
                <a:ea typeface="Poppins" pitchFamily="34" charset="-122"/>
                <a:cs typeface="Poppins" pitchFamily="34" charset="-120"/>
              </a:rPr>
              <a:t>Chris Huang</a:t>
            </a:r>
            <a:endParaRPr lang="en-US" sz="720" dirty="0"/>
          </a:p>
        </p:txBody>
      </p:sp>
      <p:sp>
        <p:nvSpPr>
          <p:cNvPr id="95" name="Shape 93"/>
          <p:cNvSpPr/>
          <p:nvPr/>
        </p:nvSpPr>
        <p:spPr>
          <a:xfrm>
            <a:off x="2084832" y="3692347"/>
            <a:ext cx="996696" cy="150876"/>
          </a:xfrm>
          <a:prstGeom prst="rect">
            <a:avLst/>
          </a:prstGeom>
          <a:solidFill>
            <a:srgbClr val="EDF5F7"/>
          </a:solidFill>
          <a:ln/>
        </p:spPr>
      </p:sp>
      <p:sp>
        <p:nvSpPr>
          <p:cNvPr id="96" name="Text 94"/>
          <p:cNvSpPr txBox="1"/>
          <p:nvPr/>
        </p:nvSpPr>
        <p:spPr>
          <a:xfrm>
            <a:off x="2057400" y="3685032"/>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19,535</a:t>
            </a:r>
            <a:endParaRPr lang="en-US" sz="680" dirty="0"/>
          </a:p>
        </p:txBody>
      </p:sp>
      <p:sp>
        <p:nvSpPr>
          <p:cNvPr id="97" name="Shape 95"/>
          <p:cNvSpPr/>
          <p:nvPr/>
        </p:nvSpPr>
        <p:spPr>
          <a:xfrm>
            <a:off x="3163824" y="3692347"/>
            <a:ext cx="996696" cy="150876"/>
          </a:xfrm>
          <a:prstGeom prst="rect">
            <a:avLst/>
          </a:prstGeom>
          <a:solidFill>
            <a:srgbClr val="EDF5F7"/>
          </a:solidFill>
          <a:ln/>
        </p:spPr>
      </p:sp>
      <p:sp>
        <p:nvSpPr>
          <p:cNvPr id="98" name="Text 96"/>
          <p:cNvSpPr txBox="1"/>
          <p:nvPr/>
        </p:nvSpPr>
        <p:spPr>
          <a:xfrm>
            <a:off x="3136392" y="3685032"/>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12,856</a:t>
            </a:r>
            <a:endParaRPr lang="en-US" sz="680" dirty="0"/>
          </a:p>
        </p:txBody>
      </p:sp>
      <p:sp>
        <p:nvSpPr>
          <p:cNvPr id="99" name="Shape 97"/>
          <p:cNvSpPr/>
          <p:nvPr/>
        </p:nvSpPr>
        <p:spPr>
          <a:xfrm>
            <a:off x="4242816" y="3692347"/>
            <a:ext cx="996696" cy="150876"/>
          </a:xfrm>
          <a:prstGeom prst="rect">
            <a:avLst/>
          </a:prstGeom>
          <a:solidFill>
            <a:srgbClr val="EDF5F7"/>
          </a:solidFill>
          <a:ln/>
        </p:spPr>
      </p:sp>
      <p:sp>
        <p:nvSpPr>
          <p:cNvPr id="100" name="Text 98"/>
          <p:cNvSpPr txBox="1"/>
          <p:nvPr/>
        </p:nvSpPr>
        <p:spPr>
          <a:xfrm>
            <a:off x="4215384" y="3685032"/>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17,516</a:t>
            </a:r>
            <a:endParaRPr lang="en-US" sz="680" dirty="0"/>
          </a:p>
        </p:txBody>
      </p:sp>
      <p:sp>
        <p:nvSpPr>
          <p:cNvPr id="101" name="Shape 99"/>
          <p:cNvSpPr/>
          <p:nvPr/>
        </p:nvSpPr>
        <p:spPr>
          <a:xfrm>
            <a:off x="5321808" y="3692347"/>
            <a:ext cx="996696" cy="150876"/>
          </a:xfrm>
          <a:prstGeom prst="rect">
            <a:avLst/>
          </a:prstGeom>
          <a:solidFill>
            <a:srgbClr val="EDF5F7"/>
          </a:solidFill>
          <a:ln/>
        </p:spPr>
      </p:sp>
      <p:sp>
        <p:nvSpPr>
          <p:cNvPr id="102" name="Text 100"/>
          <p:cNvSpPr txBox="1"/>
          <p:nvPr/>
        </p:nvSpPr>
        <p:spPr>
          <a:xfrm>
            <a:off x="5294376" y="3685032"/>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3,013</a:t>
            </a:r>
            <a:endParaRPr lang="en-US" sz="680" dirty="0"/>
          </a:p>
        </p:txBody>
      </p:sp>
      <p:sp>
        <p:nvSpPr>
          <p:cNvPr id="103" name="Text 101"/>
          <p:cNvSpPr txBox="1"/>
          <p:nvPr/>
        </p:nvSpPr>
        <p:spPr>
          <a:xfrm>
            <a:off x="6400800" y="3685032"/>
            <a:ext cx="1280160" cy="164592"/>
          </a:xfrm>
          <a:prstGeom prst="rect">
            <a:avLst/>
          </a:prstGeom>
          <a:noFill/>
          <a:ln/>
        </p:spPr>
        <p:txBody>
          <a:bodyPr wrap="square" lIns="0" tIns="0" rIns="0" bIns="0" rtlCol="0" anchor="ctr"/>
          <a:lstStyle/>
          <a:p>
            <a:pPr algn="r" indent="0" marL="0">
              <a:buNone/>
            </a:pPr>
            <a:r>
              <a:rPr lang="en-US" sz="700" b="1" dirty="0">
                <a:solidFill>
                  <a:srgbClr val="5E7280"/>
                </a:solidFill>
                <a:latin typeface="Poppins" pitchFamily="34" charset="0"/>
                <a:ea typeface="Poppins" pitchFamily="34" charset="-122"/>
                <a:cs typeface="Poppins" pitchFamily="34" charset="-120"/>
              </a:rPr>
              <a:t>52,920</a:t>
            </a:r>
            <a:endParaRPr lang="en-US" sz="700" dirty="0"/>
          </a:p>
        </p:txBody>
      </p:sp>
      <p:sp>
        <p:nvSpPr>
          <p:cNvPr id="104" name="Text 102"/>
          <p:cNvSpPr txBox="1"/>
          <p:nvPr/>
        </p:nvSpPr>
        <p:spPr>
          <a:xfrm>
            <a:off x="594360" y="3858768"/>
            <a:ext cx="1417320" cy="164592"/>
          </a:xfrm>
          <a:prstGeom prst="rect">
            <a:avLst/>
          </a:prstGeom>
          <a:noFill/>
          <a:ln/>
        </p:spPr>
        <p:txBody>
          <a:bodyPr wrap="square" lIns="0" tIns="0" rIns="0" bIns="0" rtlCol="0" anchor="ctr"/>
          <a:lstStyle/>
          <a:p>
            <a:pPr indent="0" marL="0">
              <a:buNone/>
            </a:pPr>
            <a:r>
              <a:rPr lang="en-US" sz="720" b="1" dirty="0">
                <a:solidFill>
                  <a:srgbClr val="12293A"/>
                </a:solidFill>
                <a:latin typeface="Poppins" pitchFamily="34" charset="0"/>
                <a:ea typeface="Poppins" pitchFamily="34" charset="-122"/>
                <a:cs typeface="Poppins" pitchFamily="34" charset="-120"/>
              </a:rPr>
              <a:t>Rahul Kumar</a:t>
            </a:r>
            <a:endParaRPr lang="en-US" sz="720" dirty="0"/>
          </a:p>
        </p:txBody>
      </p:sp>
      <p:sp>
        <p:nvSpPr>
          <p:cNvPr id="105" name="Text 103"/>
          <p:cNvSpPr txBox="1"/>
          <p:nvPr/>
        </p:nvSpPr>
        <p:spPr>
          <a:xfrm>
            <a:off x="2057400" y="3858768"/>
            <a:ext cx="1051560" cy="164592"/>
          </a:xfrm>
          <a:prstGeom prst="rect">
            <a:avLst/>
          </a:prstGeom>
          <a:noFill/>
          <a:ln/>
        </p:spPr>
        <p:txBody>
          <a:bodyPr wrap="square" lIns="0" tIns="0" rIns="0" bIns="0" rtlCol="0" anchor="ctr"/>
          <a:lstStyle/>
          <a:p>
            <a:pPr algn="ctr" indent="0" marL="0">
              <a:buNone/>
            </a:pPr>
            <a:r>
              <a:rPr lang="en-US" sz="680" dirty="0">
                <a:solidFill>
                  <a:srgbClr val="8FA1AC"/>
                </a:solidFill>
                <a:latin typeface="Poppins" pitchFamily="34" charset="0"/>
                <a:ea typeface="Poppins" pitchFamily="34" charset="-122"/>
                <a:cs typeface="Poppins" pitchFamily="34" charset="-120"/>
              </a:rPr>
              <a:t>—</a:t>
            </a:r>
            <a:endParaRPr lang="en-US" sz="680" dirty="0"/>
          </a:p>
        </p:txBody>
      </p:sp>
      <p:sp>
        <p:nvSpPr>
          <p:cNvPr id="106" name="Shape 104"/>
          <p:cNvSpPr/>
          <p:nvPr/>
        </p:nvSpPr>
        <p:spPr>
          <a:xfrm>
            <a:off x="3163824" y="3866083"/>
            <a:ext cx="996696" cy="150876"/>
          </a:xfrm>
          <a:prstGeom prst="rect">
            <a:avLst/>
          </a:prstGeom>
          <a:solidFill>
            <a:srgbClr val="D4E9ED"/>
          </a:solidFill>
          <a:ln/>
        </p:spPr>
      </p:sp>
      <p:sp>
        <p:nvSpPr>
          <p:cNvPr id="107" name="Text 105"/>
          <p:cNvSpPr txBox="1"/>
          <p:nvPr/>
        </p:nvSpPr>
        <p:spPr>
          <a:xfrm>
            <a:off x="3136392" y="3858768"/>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42,859</a:t>
            </a:r>
            <a:endParaRPr lang="en-US" sz="680" dirty="0"/>
          </a:p>
        </p:txBody>
      </p:sp>
      <p:sp>
        <p:nvSpPr>
          <p:cNvPr id="108" name="Shape 106"/>
          <p:cNvSpPr/>
          <p:nvPr/>
        </p:nvSpPr>
        <p:spPr>
          <a:xfrm>
            <a:off x="4242816" y="3866083"/>
            <a:ext cx="996696" cy="150876"/>
          </a:xfrm>
          <a:prstGeom prst="rect">
            <a:avLst/>
          </a:prstGeom>
          <a:solidFill>
            <a:srgbClr val="D4E9ED"/>
          </a:solidFill>
          <a:ln/>
        </p:spPr>
      </p:sp>
      <p:sp>
        <p:nvSpPr>
          <p:cNvPr id="109" name="Text 107"/>
          <p:cNvSpPr txBox="1"/>
          <p:nvPr/>
        </p:nvSpPr>
        <p:spPr>
          <a:xfrm>
            <a:off x="4215384" y="3858768"/>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23,286</a:t>
            </a:r>
            <a:endParaRPr lang="en-US" sz="680" dirty="0"/>
          </a:p>
        </p:txBody>
      </p:sp>
      <p:sp>
        <p:nvSpPr>
          <p:cNvPr id="110" name="Shape 108"/>
          <p:cNvSpPr/>
          <p:nvPr/>
        </p:nvSpPr>
        <p:spPr>
          <a:xfrm>
            <a:off x="5321808" y="3866083"/>
            <a:ext cx="996696" cy="150876"/>
          </a:xfrm>
          <a:prstGeom prst="rect">
            <a:avLst/>
          </a:prstGeom>
          <a:solidFill>
            <a:srgbClr val="EDF5F7"/>
          </a:solidFill>
          <a:ln/>
        </p:spPr>
      </p:sp>
      <p:sp>
        <p:nvSpPr>
          <p:cNvPr id="111" name="Text 109"/>
          <p:cNvSpPr txBox="1"/>
          <p:nvPr/>
        </p:nvSpPr>
        <p:spPr>
          <a:xfrm>
            <a:off x="5294376" y="3858768"/>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1,642</a:t>
            </a:r>
            <a:endParaRPr lang="en-US" sz="680" dirty="0"/>
          </a:p>
        </p:txBody>
      </p:sp>
      <p:sp>
        <p:nvSpPr>
          <p:cNvPr id="112" name="Text 110"/>
          <p:cNvSpPr txBox="1"/>
          <p:nvPr/>
        </p:nvSpPr>
        <p:spPr>
          <a:xfrm>
            <a:off x="6400800" y="3858768"/>
            <a:ext cx="1280160" cy="164592"/>
          </a:xfrm>
          <a:prstGeom prst="rect">
            <a:avLst/>
          </a:prstGeom>
          <a:noFill/>
          <a:ln/>
        </p:spPr>
        <p:txBody>
          <a:bodyPr wrap="square" lIns="0" tIns="0" rIns="0" bIns="0" rtlCol="0" anchor="ctr"/>
          <a:lstStyle/>
          <a:p>
            <a:pPr algn="r" indent="0" marL="0">
              <a:buNone/>
            </a:pPr>
            <a:r>
              <a:rPr lang="en-US" sz="700" b="1" dirty="0">
                <a:solidFill>
                  <a:srgbClr val="5E7280"/>
                </a:solidFill>
                <a:latin typeface="Poppins" pitchFamily="34" charset="0"/>
                <a:ea typeface="Poppins" pitchFamily="34" charset="-122"/>
                <a:cs typeface="Poppins" pitchFamily="34" charset="-120"/>
              </a:rPr>
              <a:t>67,787</a:t>
            </a:r>
            <a:endParaRPr lang="en-US" sz="700" dirty="0"/>
          </a:p>
        </p:txBody>
      </p:sp>
      <p:sp>
        <p:nvSpPr>
          <p:cNvPr id="113" name="Text 111"/>
          <p:cNvSpPr txBox="1"/>
          <p:nvPr/>
        </p:nvSpPr>
        <p:spPr>
          <a:xfrm>
            <a:off x="594360" y="4032504"/>
            <a:ext cx="1417320" cy="164592"/>
          </a:xfrm>
          <a:prstGeom prst="rect">
            <a:avLst/>
          </a:prstGeom>
          <a:noFill/>
          <a:ln/>
        </p:spPr>
        <p:txBody>
          <a:bodyPr wrap="square" lIns="0" tIns="0" rIns="0" bIns="0" rtlCol="0" anchor="ctr"/>
          <a:lstStyle/>
          <a:p>
            <a:pPr indent="0" marL="0">
              <a:buNone/>
            </a:pPr>
            <a:r>
              <a:rPr lang="en-US" sz="720" b="1" dirty="0">
                <a:solidFill>
                  <a:srgbClr val="12293A"/>
                </a:solidFill>
                <a:latin typeface="Poppins" pitchFamily="34" charset="0"/>
                <a:ea typeface="Poppins" pitchFamily="34" charset="-122"/>
                <a:cs typeface="Poppins" pitchFamily="34" charset="-120"/>
              </a:rPr>
              <a:t>Mohamed Ammar</a:t>
            </a:r>
            <a:endParaRPr lang="en-US" sz="720" dirty="0"/>
          </a:p>
        </p:txBody>
      </p:sp>
      <p:sp>
        <p:nvSpPr>
          <p:cNvPr id="114" name="Shape 112"/>
          <p:cNvSpPr/>
          <p:nvPr/>
        </p:nvSpPr>
        <p:spPr>
          <a:xfrm>
            <a:off x="2084832" y="4039819"/>
            <a:ext cx="996696" cy="150876"/>
          </a:xfrm>
          <a:prstGeom prst="rect">
            <a:avLst/>
          </a:prstGeom>
          <a:solidFill>
            <a:srgbClr val="EDF5F7"/>
          </a:solidFill>
          <a:ln/>
        </p:spPr>
      </p:sp>
      <p:sp>
        <p:nvSpPr>
          <p:cNvPr id="115" name="Text 113"/>
          <p:cNvSpPr txBox="1"/>
          <p:nvPr/>
        </p:nvSpPr>
        <p:spPr>
          <a:xfrm>
            <a:off x="2057400" y="4032504"/>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6,582</a:t>
            </a:r>
            <a:endParaRPr lang="en-US" sz="680" dirty="0"/>
          </a:p>
        </p:txBody>
      </p:sp>
      <p:sp>
        <p:nvSpPr>
          <p:cNvPr id="116" name="Shape 114"/>
          <p:cNvSpPr/>
          <p:nvPr/>
        </p:nvSpPr>
        <p:spPr>
          <a:xfrm>
            <a:off x="3163824" y="4039819"/>
            <a:ext cx="996696" cy="150876"/>
          </a:xfrm>
          <a:prstGeom prst="rect">
            <a:avLst/>
          </a:prstGeom>
          <a:solidFill>
            <a:srgbClr val="D4E9ED"/>
          </a:solidFill>
          <a:ln/>
        </p:spPr>
      </p:sp>
      <p:sp>
        <p:nvSpPr>
          <p:cNvPr id="117" name="Text 115"/>
          <p:cNvSpPr txBox="1"/>
          <p:nvPr/>
        </p:nvSpPr>
        <p:spPr>
          <a:xfrm>
            <a:off x="3136392" y="4032504"/>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23,266</a:t>
            </a:r>
            <a:endParaRPr lang="en-US" sz="680" dirty="0"/>
          </a:p>
        </p:txBody>
      </p:sp>
      <p:sp>
        <p:nvSpPr>
          <p:cNvPr id="118" name="Shape 116"/>
          <p:cNvSpPr/>
          <p:nvPr/>
        </p:nvSpPr>
        <p:spPr>
          <a:xfrm>
            <a:off x="4242816" y="4039819"/>
            <a:ext cx="996696" cy="150876"/>
          </a:xfrm>
          <a:prstGeom prst="rect">
            <a:avLst/>
          </a:prstGeom>
          <a:solidFill>
            <a:srgbClr val="EDF5F7"/>
          </a:solidFill>
          <a:ln/>
        </p:spPr>
      </p:sp>
      <p:sp>
        <p:nvSpPr>
          <p:cNvPr id="119" name="Text 117"/>
          <p:cNvSpPr txBox="1"/>
          <p:nvPr/>
        </p:nvSpPr>
        <p:spPr>
          <a:xfrm>
            <a:off x="4215384" y="4032504"/>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4,322</a:t>
            </a:r>
            <a:endParaRPr lang="en-US" sz="680" dirty="0"/>
          </a:p>
        </p:txBody>
      </p:sp>
      <p:sp>
        <p:nvSpPr>
          <p:cNvPr id="120" name="Shape 118"/>
          <p:cNvSpPr/>
          <p:nvPr/>
        </p:nvSpPr>
        <p:spPr>
          <a:xfrm>
            <a:off x="5321808" y="4039819"/>
            <a:ext cx="996696" cy="150876"/>
          </a:xfrm>
          <a:prstGeom prst="rect">
            <a:avLst/>
          </a:prstGeom>
          <a:solidFill>
            <a:srgbClr val="EDF5F7"/>
          </a:solidFill>
          <a:ln/>
        </p:spPr>
      </p:sp>
      <p:sp>
        <p:nvSpPr>
          <p:cNvPr id="121" name="Text 119"/>
          <p:cNvSpPr txBox="1"/>
          <p:nvPr/>
        </p:nvSpPr>
        <p:spPr>
          <a:xfrm>
            <a:off x="5294376" y="4032504"/>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2,939</a:t>
            </a:r>
            <a:endParaRPr lang="en-US" sz="680" dirty="0"/>
          </a:p>
        </p:txBody>
      </p:sp>
      <p:sp>
        <p:nvSpPr>
          <p:cNvPr id="122" name="Text 120"/>
          <p:cNvSpPr txBox="1"/>
          <p:nvPr/>
        </p:nvSpPr>
        <p:spPr>
          <a:xfrm>
            <a:off x="6400800" y="4032504"/>
            <a:ext cx="1280160" cy="164592"/>
          </a:xfrm>
          <a:prstGeom prst="rect">
            <a:avLst/>
          </a:prstGeom>
          <a:noFill/>
          <a:ln/>
        </p:spPr>
        <p:txBody>
          <a:bodyPr wrap="square" lIns="0" tIns="0" rIns="0" bIns="0" rtlCol="0" anchor="ctr"/>
          <a:lstStyle/>
          <a:p>
            <a:pPr algn="r" indent="0" marL="0">
              <a:buNone/>
            </a:pPr>
            <a:r>
              <a:rPr lang="en-US" sz="700" b="1" dirty="0">
                <a:solidFill>
                  <a:srgbClr val="5E7280"/>
                </a:solidFill>
                <a:latin typeface="Poppins" pitchFamily="34" charset="0"/>
                <a:ea typeface="Poppins" pitchFamily="34" charset="-122"/>
                <a:cs typeface="Poppins" pitchFamily="34" charset="-120"/>
              </a:rPr>
              <a:t>37,109</a:t>
            </a:r>
            <a:endParaRPr lang="en-US" sz="700" dirty="0"/>
          </a:p>
        </p:txBody>
      </p:sp>
      <p:sp>
        <p:nvSpPr>
          <p:cNvPr id="123" name="Text 121"/>
          <p:cNvSpPr txBox="1"/>
          <p:nvPr/>
        </p:nvSpPr>
        <p:spPr>
          <a:xfrm>
            <a:off x="594360" y="4206240"/>
            <a:ext cx="1417320" cy="164592"/>
          </a:xfrm>
          <a:prstGeom prst="rect">
            <a:avLst/>
          </a:prstGeom>
          <a:noFill/>
          <a:ln/>
        </p:spPr>
        <p:txBody>
          <a:bodyPr wrap="square" lIns="0" tIns="0" rIns="0" bIns="0" rtlCol="0" anchor="ctr"/>
          <a:lstStyle/>
          <a:p>
            <a:pPr indent="0" marL="0">
              <a:buNone/>
            </a:pPr>
            <a:r>
              <a:rPr lang="en-US" sz="720" b="1" dirty="0">
                <a:solidFill>
                  <a:srgbClr val="12293A"/>
                </a:solidFill>
                <a:latin typeface="Poppins" pitchFamily="34" charset="0"/>
                <a:ea typeface="Poppins" pitchFamily="34" charset="-122"/>
                <a:cs typeface="Poppins" pitchFamily="34" charset="-120"/>
              </a:rPr>
              <a:t>Tony Ghoussein</a:t>
            </a:r>
            <a:endParaRPr lang="en-US" sz="720" dirty="0"/>
          </a:p>
        </p:txBody>
      </p:sp>
      <p:sp>
        <p:nvSpPr>
          <p:cNvPr id="124" name="Shape 122"/>
          <p:cNvSpPr/>
          <p:nvPr/>
        </p:nvSpPr>
        <p:spPr>
          <a:xfrm>
            <a:off x="2084832" y="4213555"/>
            <a:ext cx="996696" cy="150876"/>
          </a:xfrm>
          <a:prstGeom prst="rect">
            <a:avLst/>
          </a:prstGeom>
          <a:solidFill>
            <a:srgbClr val="EDF5F7"/>
          </a:solidFill>
          <a:ln/>
        </p:spPr>
      </p:sp>
      <p:sp>
        <p:nvSpPr>
          <p:cNvPr id="125" name="Text 123"/>
          <p:cNvSpPr txBox="1"/>
          <p:nvPr/>
        </p:nvSpPr>
        <p:spPr>
          <a:xfrm>
            <a:off x="2057400" y="4206240"/>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6,208</a:t>
            </a:r>
            <a:endParaRPr lang="en-US" sz="680" dirty="0"/>
          </a:p>
        </p:txBody>
      </p:sp>
      <p:sp>
        <p:nvSpPr>
          <p:cNvPr id="126" name="Shape 124"/>
          <p:cNvSpPr/>
          <p:nvPr/>
        </p:nvSpPr>
        <p:spPr>
          <a:xfrm>
            <a:off x="3163824" y="4213555"/>
            <a:ext cx="996696" cy="150876"/>
          </a:xfrm>
          <a:prstGeom prst="rect">
            <a:avLst/>
          </a:prstGeom>
          <a:solidFill>
            <a:srgbClr val="EDF5F7"/>
          </a:solidFill>
          <a:ln/>
        </p:spPr>
      </p:sp>
      <p:sp>
        <p:nvSpPr>
          <p:cNvPr id="127" name="Text 125"/>
          <p:cNvSpPr txBox="1"/>
          <p:nvPr/>
        </p:nvSpPr>
        <p:spPr>
          <a:xfrm>
            <a:off x="3136392" y="4206240"/>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10,369</a:t>
            </a:r>
            <a:endParaRPr lang="en-US" sz="680" dirty="0"/>
          </a:p>
        </p:txBody>
      </p:sp>
      <p:sp>
        <p:nvSpPr>
          <p:cNvPr id="128" name="Shape 126"/>
          <p:cNvSpPr/>
          <p:nvPr/>
        </p:nvSpPr>
        <p:spPr>
          <a:xfrm>
            <a:off x="4242816" y="4213555"/>
            <a:ext cx="996696" cy="150876"/>
          </a:xfrm>
          <a:prstGeom prst="rect">
            <a:avLst/>
          </a:prstGeom>
          <a:solidFill>
            <a:srgbClr val="EDF5F7"/>
          </a:solidFill>
          <a:ln/>
        </p:spPr>
      </p:sp>
      <p:sp>
        <p:nvSpPr>
          <p:cNvPr id="129" name="Text 127"/>
          <p:cNvSpPr txBox="1"/>
          <p:nvPr/>
        </p:nvSpPr>
        <p:spPr>
          <a:xfrm>
            <a:off x="4215384" y="4206240"/>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11,891</a:t>
            </a:r>
            <a:endParaRPr lang="en-US" sz="680" dirty="0"/>
          </a:p>
        </p:txBody>
      </p:sp>
      <p:sp>
        <p:nvSpPr>
          <p:cNvPr id="130" name="Shape 128"/>
          <p:cNvSpPr/>
          <p:nvPr/>
        </p:nvSpPr>
        <p:spPr>
          <a:xfrm>
            <a:off x="5321808" y="4213555"/>
            <a:ext cx="996696" cy="150876"/>
          </a:xfrm>
          <a:prstGeom prst="rect">
            <a:avLst/>
          </a:prstGeom>
          <a:solidFill>
            <a:srgbClr val="EDF5F7"/>
          </a:solidFill>
          <a:ln/>
        </p:spPr>
      </p:sp>
      <p:sp>
        <p:nvSpPr>
          <p:cNvPr id="131" name="Text 129"/>
          <p:cNvSpPr txBox="1"/>
          <p:nvPr/>
        </p:nvSpPr>
        <p:spPr>
          <a:xfrm>
            <a:off x="5294376" y="4206240"/>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7,422</a:t>
            </a:r>
            <a:endParaRPr lang="en-US" sz="680" dirty="0"/>
          </a:p>
        </p:txBody>
      </p:sp>
      <p:sp>
        <p:nvSpPr>
          <p:cNvPr id="132" name="Text 130"/>
          <p:cNvSpPr txBox="1"/>
          <p:nvPr/>
        </p:nvSpPr>
        <p:spPr>
          <a:xfrm>
            <a:off x="6400800" y="4206240"/>
            <a:ext cx="1280160" cy="164592"/>
          </a:xfrm>
          <a:prstGeom prst="rect">
            <a:avLst/>
          </a:prstGeom>
          <a:noFill/>
          <a:ln/>
        </p:spPr>
        <p:txBody>
          <a:bodyPr wrap="square" lIns="0" tIns="0" rIns="0" bIns="0" rtlCol="0" anchor="ctr"/>
          <a:lstStyle/>
          <a:p>
            <a:pPr algn="r" indent="0" marL="0">
              <a:buNone/>
            </a:pPr>
            <a:r>
              <a:rPr lang="en-US" sz="700" b="1" dirty="0">
                <a:solidFill>
                  <a:srgbClr val="5E7280"/>
                </a:solidFill>
                <a:latin typeface="Poppins" pitchFamily="34" charset="0"/>
                <a:ea typeface="Poppins" pitchFamily="34" charset="-122"/>
                <a:cs typeface="Poppins" pitchFamily="34" charset="-120"/>
              </a:rPr>
              <a:t>35,890</a:t>
            </a:r>
            <a:endParaRPr lang="en-US" sz="700" dirty="0"/>
          </a:p>
        </p:txBody>
      </p:sp>
      <p:sp>
        <p:nvSpPr>
          <p:cNvPr id="133" name="Text 131"/>
          <p:cNvSpPr txBox="1"/>
          <p:nvPr/>
        </p:nvSpPr>
        <p:spPr>
          <a:xfrm>
            <a:off x="594360" y="4379976"/>
            <a:ext cx="1417320" cy="164592"/>
          </a:xfrm>
          <a:prstGeom prst="rect">
            <a:avLst/>
          </a:prstGeom>
          <a:noFill/>
          <a:ln/>
        </p:spPr>
        <p:txBody>
          <a:bodyPr wrap="square" lIns="0" tIns="0" rIns="0" bIns="0" rtlCol="0" anchor="ctr"/>
          <a:lstStyle/>
          <a:p>
            <a:pPr indent="0" marL="0">
              <a:buNone/>
            </a:pPr>
            <a:r>
              <a:rPr lang="en-US" sz="720" b="1" dirty="0">
                <a:solidFill>
                  <a:srgbClr val="12293A"/>
                </a:solidFill>
                <a:latin typeface="Poppins" pitchFamily="34" charset="0"/>
                <a:ea typeface="Poppins" pitchFamily="34" charset="-122"/>
                <a:cs typeface="Poppins" pitchFamily="34" charset="-120"/>
              </a:rPr>
              <a:t>Eric Cruz</a:t>
            </a:r>
            <a:endParaRPr lang="en-US" sz="720" dirty="0"/>
          </a:p>
        </p:txBody>
      </p:sp>
      <p:sp>
        <p:nvSpPr>
          <p:cNvPr id="134" name="Shape 132"/>
          <p:cNvSpPr/>
          <p:nvPr/>
        </p:nvSpPr>
        <p:spPr>
          <a:xfrm>
            <a:off x="2084832" y="4387291"/>
            <a:ext cx="996696" cy="150876"/>
          </a:xfrm>
          <a:prstGeom prst="rect">
            <a:avLst/>
          </a:prstGeom>
          <a:solidFill>
            <a:srgbClr val="EDF5F7"/>
          </a:solidFill>
          <a:ln/>
        </p:spPr>
      </p:sp>
      <p:sp>
        <p:nvSpPr>
          <p:cNvPr id="135" name="Text 133"/>
          <p:cNvSpPr txBox="1"/>
          <p:nvPr/>
        </p:nvSpPr>
        <p:spPr>
          <a:xfrm>
            <a:off x="2057400" y="4379976"/>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2,970</a:t>
            </a:r>
            <a:endParaRPr lang="en-US" sz="680" dirty="0"/>
          </a:p>
        </p:txBody>
      </p:sp>
      <p:sp>
        <p:nvSpPr>
          <p:cNvPr id="136" name="Shape 134"/>
          <p:cNvSpPr/>
          <p:nvPr/>
        </p:nvSpPr>
        <p:spPr>
          <a:xfrm>
            <a:off x="3163824" y="4387291"/>
            <a:ext cx="996696" cy="150876"/>
          </a:xfrm>
          <a:prstGeom prst="rect">
            <a:avLst/>
          </a:prstGeom>
          <a:solidFill>
            <a:srgbClr val="EDF5F7"/>
          </a:solidFill>
          <a:ln/>
        </p:spPr>
      </p:sp>
      <p:sp>
        <p:nvSpPr>
          <p:cNvPr id="137" name="Text 135"/>
          <p:cNvSpPr txBox="1"/>
          <p:nvPr/>
        </p:nvSpPr>
        <p:spPr>
          <a:xfrm>
            <a:off x="3136392" y="4379976"/>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7,237</a:t>
            </a:r>
            <a:endParaRPr lang="en-US" sz="680" dirty="0"/>
          </a:p>
        </p:txBody>
      </p:sp>
      <p:sp>
        <p:nvSpPr>
          <p:cNvPr id="138" name="Shape 136"/>
          <p:cNvSpPr/>
          <p:nvPr/>
        </p:nvSpPr>
        <p:spPr>
          <a:xfrm>
            <a:off x="4242816" y="4387291"/>
            <a:ext cx="996696" cy="150876"/>
          </a:xfrm>
          <a:prstGeom prst="rect">
            <a:avLst/>
          </a:prstGeom>
          <a:solidFill>
            <a:srgbClr val="EDF5F7"/>
          </a:solidFill>
          <a:ln/>
        </p:spPr>
      </p:sp>
      <p:sp>
        <p:nvSpPr>
          <p:cNvPr id="139" name="Text 137"/>
          <p:cNvSpPr txBox="1"/>
          <p:nvPr/>
        </p:nvSpPr>
        <p:spPr>
          <a:xfrm>
            <a:off x="4215384" y="4379976"/>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19,289</a:t>
            </a:r>
            <a:endParaRPr lang="en-US" sz="680" dirty="0"/>
          </a:p>
        </p:txBody>
      </p:sp>
      <p:sp>
        <p:nvSpPr>
          <p:cNvPr id="140" name="Shape 138"/>
          <p:cNvSpPr/>
          <p:nvPr/>
        </p:nvSpPr>
        <p:spPr>
          <a:xfrm>
            <a:off x="5321808" y="4387291"/>
            <a:ext cx="996696" cy="150876"/>
          </a:xfrm>
          <a:prstGeom prst="rect">
            <a:avLst/>
          </a:prstGeom>
          <a:solidFill>
            <a:srgbClr val="EDF5F7"/>
          </a:solidFill>
          <a:ln/>
        </p:spPr>
      </p:sp>
      <p:sp>
        <p:nvSpPr>
          <p:cNvPr id="141" name="Text 139"/>
          <p:cNvSpPr txBox="1"/>
          <p:nvPr/>
        </p:nvSpPr>
        <p:spPr>
          <a:xfrm>
            <a:off x="5294376" y="4379976"/>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1,904</a:t>
            </a:r>
            <a:endParaRPr lang="en-US" sz="680" dirty="0"/>
          </a:p>
        </p:txBody>
      </p:sp>
      <p:sp>
        <p:nvSpPr>
          <p:cNvPr id="142" name="Text 140"/>
          <p:cNvSpPr txBox="1"/>
          <p:nvPr/>
        </p:nvSpPr>
        <p:spPr>
          <a:xfrm>
            <a:off x="6400800" y="4379976"/>
            <a:ext cx="1280160" cy="164592"/>
          </a:xfrm>
          <a:prstGeom prst="rect">
            <a:avLst/>
          </a:prstGeom>
          <a:noFill/>
          <a:ln/>
        </p:spPr>
        <p:txBody>
          <a:bodyPr wrap="square" lIns="0" tIns="0" rIns="0" bIns="0" rtlCol="0" anchor="ctr"/>
          <a:lstStyle/>
          <a:p>
            <a:pPr algn="r" indent="0" marL="0">
              <a:buNone/>
            </a:pPr>
            <a:r>
              <a:rPr lang="en-US" sz="700" b="1" dirty="0">
                <a:solidFill>
                  <a:srgbClr val="5E7280"/>
                </a:solidFill>
                <a:latin typeface="Poppins" pitchFamily="34" charset="0"/>
                <a:ea typeface="Poppins" pitchFamily="34" charset="-122"/>
                <a:cs typeface="Poppins" pitchFamily="34" charset="-120"/>
              </a:rPr>
              <a:t>31,400</a:t>
            </a:r>
            <a:endParaRPr lang="en-US" sz="700" dirty="0"/>
          </a:p>
        </p:txBody>
      </p:sp>
      <p:sp>
        <p:nvSpPr>
          <p:cNvPr id="143" name="Shape 141"/>
          <p:cNvSpPr/>
          <p:nvPr/>
        </p:nvSpPr>
        <p:spPr>
          <a:xfrm>
            <a:off x="594360" y="4553712"/>
            <a:ext cx="7132320" cy="10973"/>
          </a:xfrm>
          <a:prstGeom prst="rect">
            <a:avLst/>
          </a:prstGeom>
          <a:solidFill>
            <a:srgbClr val="12293A"/>
          </a:solidFill>
          <a:ln/>
        </p:spPr>
      </p:sp>
      <p:sp>
        <p:nvSpPr>
          <p:cNvPr id="144" name="Text 142"/>
          <p:cNvSpPr txBox="1"/>
          <p:nvPr/>
        </p:nvSpPr>
        <p:spPr>
          <a:xfrm>
            <a:off x="594360" y="4581144"/>
            <a:ext cx="1417320" cy="201168"/>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ALL DEVELOPERS</a:t>
            </a:r>
            <a:endParaRPr lang="en-US" sz="750" dirty="0"/>
          </a:p>
        </p:txBody>
      </p:sp>
      <p:sp>
        <p:nvSpPr>
          <p:cNvPr id="145" name="Text 143"/>
          <p:cNvSpPr txBox="1"/>
          <p:nvPr/>
        </p:nvSpPr>
        <p:spPr>
          <a:xfrm>
            <a:off x="2057400" y="4581144"/>
            <a:ext cx="1051560" cy="201168"/>
          </a:xfrm>
          <a:prstGeom prst="rect">
            <a:avLst/>
          </a:prstGeom>
          <a:noFill/>
          <a:ln/>
        </p:spPr>
        <p:txBody>
          <a:bodyPr wrap="square" lIns="0" tIns="0" rIns="0" bIns="0" rtlCol="0" anchor="ctr"/>
          <a:lstStyle/>
          <a:p>
            <a:pPr algn="ctr" indent="0" marL="0">
              <a:buNone/>
            </a:pPr>
            <a:r>
              <a:rPr lang="en-US" sz="750" b="1" dirty="0">
                <a:solidFill>
                  <a:srgbClr val="2C8394"/>
                </a:solidFill>
                <a:latin typeface="Poppins" pitchFamily="34" charset="0"/>
                <a:ea typeface="Poppins" pitchFamily="34" charset="-122"/>
                <a:cs typeface="Poppins" pitchFamily="34" charset="-120"/>
              </a:rPr>
              <a:t>228,132</a:t>
            </a:r>
            <a:endParaRPr lang="en-US" sz="750" dirty="0"/>
          </a:p>
        </p:txBody>
      </p:sp>
      <p:sp>
        <p:nvSpPr>
          <p:cNvPr id="146" name="Text 144"/>
          <p:cNvSpPr txBox="1"/>
          <p:nvPr/>
        </p:nvSpPr>
        <p:spPr>
          <a:xfrm>
            <a:off x="3136392" y="4581144"/>
            <a:ext cx="1051560" cy="201168"/>
          </a:xfrm>
          <a:prstGeom prst="rect">
            <a:avLst/>
          </a:prstGeom>
          <a:noFill/>
          <a:ln/>
        </p:spPr>
        <p:txBody>
          <a:bodyPr wrap="square" lIns="0" tIns="0" rIns="0" bIns="0" rtlCol="0" anchor="ctr"/>
          <a:lstStyle/>
          <a:p>
            <a:pPr algn="ctr" indent="0" marL="0">
              <a:buNone/>
            </a:pPr>
            <a:r>
              <a:rPr lang="en-US" sz="750" b="1" dirty="0">
                <a:solidFill>
                  <a:srgbClr val="2C8394"/>
                </a:solidFill>
                <a:latin typeface="Poppins" pitchFamily="34" charset="0"/>
                <a:ea typeface="Poppins" pitchFamily="34" charset="-122"/>
                <a:cs typeface="Poppins" pitchFamily="34" charset="-120"/>
              </a:rPr>
              <a:t>293,419</a:t>
            </a:r>
            <a:endParaRPr lang="en-US" sz="750" dirty="0"/>
          </a:p>
        </p:txBody>
      </p:sp>
      <p:sp>
        <p:nvSpPr>
          <p:cNvPr id="147" name="Text 145"/>
          <p:cNvSpPr txBox="1"/>
          <p:nvPr/>
        </p:nvSpPr>
        <p:spPr>
          <a:xfrm>
            <a:off x="4215384" y="4581144"/>
            <a:ext cx="1051560" cy="201168"/>
          </a:xfrm>
          <a:prstGeom prst="rect">
            <a:avLst/>
          </a:prstGeom>
          <a:noFill/>
          <a:ln/>
        </p:spPr>
        <p:txBody>
          <a:bodyPr wrap="square" lIns="0" tIns="0" rIns="0" bIns="0" rtlCol="0" anchor="ctr"/>
          <a:lstStyle/>
          <a:p>
            <a:pPr algn="ctr" indent="0" marL="0">
              <a:buNone/>
            </a:pPr>
            <a:r>
              <a:rPr lang="en-US" sz="750" b="1" dirty="0">
                <a:solidFill>
                  <a:srgbClr val="2C8394"/>
                </a:solidFill>
                <a:latin typeface="Poppins" pitchFamily="34" charset="0"/>
                <a:ea typeface="Poppins" pitchFamily="34" charset="-122"/>
                <a:cs typeface="Poppins" pitchFamily="34" charset="-120"/>
              </a:rPr>
              <a:t>277,261</a:t>
            </a:r>
            <a:endParaRPr lang="en-US" sz="750" dirty="0"/>
          </a:p>
        </p:txBody>
      </p:sp>
      <p:sp>
        <p:nvSpPr>
          <p:cNvPr id="148" name="Text 146"/>
          <p:cNvSpPr txBox="1"/>
          <p:nvPr/>
        </p:nvSpPr>
        <p:spPr>
          <a:xfrm>
            <a:off x="5294376" y="4581144"/>
            <a:ext cx="1051560" cy="201168"/>
          </a:xfrm>
          <a:prstGeom prst="rect">
            <a:avLst/>
          </a:prstGeom>
          <a:noFill/>
          <a:ln/>
        </p:spPr>
        <p:txBody>
          <a:bodyPr wrap="square" lIns="0" tIns="0" rIns="0" bIns="0" rtlCol="0" anchor="ctr"/>
          <a:lstStyle/>
          <a:p>
            <a:pPr algn="ctr" indent="0" marL="0">
              <a:buNone/>
            </a:pPr>
            <a:r>
              <a:rPr lang="en-US" sz="750" b="1" dirty="0">
                <a:solidFill>
                  <a:srgbClr val="2C8394"/>
                </a:solidFill>
                <a:latin typeface="Poppins" pitchFamily="34" charset="0"/>
                <a:ea typeface="Poppins" pitchFamily="34" charset="-122"/>
                <a:cs typeface="Poppins" pitchFamily="34" charset="-120"/>
              </a:rPr>
              <a:t>111,689</a:t>
            </a:r>
            <a:endParaRPr lang="en-US" sz="750" dirty="0"/>
          </a:p>
        </p:txBody>
      </p:sp>
      <p:sp>
        <p:nvSpPr>
          <p:cNvPr id="149" name="Text 147"/>
          <p:cNvSpPr txBox="1"/>
          <p:nvPr/>
        </p:nvSpPr>
        <p:spPr>
          <a:xfrm>
            <a:off x="6400800" y="4581144"/>
            <a:ext cx="1280160" cy="201168"/>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910,501</a:t>
            </a:r>
            <a:endParaRPr lang="en-US" sz="750" dirty="0"/>
          </a:p>
        </p:txBody>
      </p:sp>
      <p:sp>
        <p:nvSpPr>
          <p:cNvPr id="150" name="Text 148"/>
          <p:cNvSpPr txBox="1"/>
          <p:nvPr/>
        </p:nvSpPr>
        <p:spPr>
          <a:xfrm>
            <a:off x="594360" y="4892040"/>
            <a:ext cx="1417320" cy="201168"/>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BY WEEK  </a:t>
            </a:r>
            <a:pPr indent="0" marL="0">
              <a:buNone/>
            </a:pPr>
            <a:r>
              <a:rPr lang="en-US" sz="600" dirty="0">
                <a:solidFill>
                  <a:srgbClr val="8FA1AC"/>
                </a:solidFill>
                <a:latin typeface="Poppins" pitchFamily="34" charset="0"/>
                <a:ea typeface="Poppins" pitchFamily="34" charset="-122"/>
                <a:cs typeface="Poppins" pitchFamily="34" charset="-120"/>
              </a:rPr>
              <a:t>cell = one week</a:t>
            </a:r>
            <a:endParaRPr lang="en-US" sz="750" dirty="0"/>
          </a:p>
        </p:txBody>
      </p:sp>
      <p:sp>
        <p:nvSpPr>
          <p:cNvPr id="151" name="Shape 149"/>
          <p:cNvSpPr/>
          <p:nvPr/>
        </p:nvSpPr>
        <p:spPr>
          <a:xfrm>
            <a:off x="2075688" y="4892040"/>
            <a:ext cx="365107" cy="219456"/>
          </a:xfrm>
          <a:prstGeom prst="rect">
            <a:avLst/>
          </a:prstGeom>
          <a:solidFill>
            <a:srgbClr val="D4E9ED"/>
          </a:solidFill>
          <a:ln/>
        </p:spPr>
      </p:sp>
      <p:sp>
        <p:nvSpPr>
          <p:cNvPr id="152" name="Text 150"/>
          <p:cNvSpPr txBox="1"/>
          <p:nvPr/>
        </p:nvSpPr>
        <p:spPr>
          <a:xfrm>
            <a:off x="2057400" y="4892040"/>
            <a:ext cx="401683" cy="219456"/>
          </a:xfrm>
          <a:prstGeom prst="rect">
            <a:avLst/>
          </a:prstGeom>
          <a:noFill/>
          <a:ln/>
        </p:spPr>
        <p:txBody>
          <a:bodyPr wrap="square" lIns="0" tIns="0" rIns="0" bIns="0" rtlCol="0" anchor="ctr"/>
          <a:lstStyle/>
          <a:p>
            <a:pPr algn="ctr" indent="0" marL="0">
              <a:buNone/>
            </a:pPr>
            <a:r>
              <a:rPr lang="en-US" sz="620" dirty="0">
                <a:solidFill>
                  <a:srgbClr val="12293A"/>
                </a:solidFill>
                <a:latin typeface="Poppins" pitchFamily="34" charset="0"/>
                <a:ea typeface="Poppins" pitchFamily="34" charset="-122"/>
                <a:cs typeface="Poppins" pitchFamily="34" charset="-120"/>
              </a:rPr>
              <a:t>28k</a:t>
            </a:r>
            <a:endParaRPr lang="en-US" sz="620" dirty="0"/>
          </a:p>
        </p:txBody>
      </p:sp>
      <p:sp>
        <p:nvSpPr>
          <p:cNvPr id="153" name="Text 151"/>
          <p:cNvSpPr txBox="1"/>
          <p:nvPr/>
        </p:nvSpPr>
        <p:spPr>
          <a:xfrm>
            <a:off x="2057400" y="5120640"/>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07</a:t>
            </a:r>
            <a:endParaRPr lang="en-US" sz="550" dirty="0"/>
          </a:p>
        </p:txBody>
      </p:sp>
      <p:sp>
        <p:nvSpPr>
          <p:cNvPr id="154" name="Shape 152"/>
          <p:cNvSpPr/>
          <p:nvPr/>
        </p:nvSpPr>
        <p:spPr>
          <a:xfrm>
            <a:off x="2477371" y="4892040"/>
            <a:ext cx="365107" cy="219456"/>
          </a:xfrm>
          <a:prstGeom prst="rect">
            <a:avLst/>
          </a:prstGeom>
          <a:solidFill>
            <a:srgbClr val="D4E9ED"/>
          </a:solidFill>
          <a:ln/>
        </p:spPr>
      </p:sp>
      <p:sp>
        <p:nvSpPr>
          <p:cNvPr id="155" name="Text 153"/>
          <p:cNvSpPr txBox="1"/>
          <p:nvPr/>
        </p:nvSpPr>
        <p:spPr>
          <a:xfrm>
            <a:off x="2459083" y="4892040"/>
            <a:ext cx="401683" cy="219456"/>
          </a:xfrm>
          <a:prstGeom prst="rect">
            <a:avLst/>
          </a:prstGeom>
          <a:noFill/>
          <a:ln/>
        </p:spPr>
        <p:txBody>
          <a:bodyPr wrap="square" lIns="0" tIns="0" rIns="0" bIns="0" rtlCol="0" anchor="ctr"/>
          <a:lstStyle/>
          <a:p>
            <a:pPr algn="ctr" indent="0" marL="0">
              <a:buNone/>
            </a:pPr>
            <a:r>
              <a:rPr lang="en-US" sz="620" dirty="0">
                <a:solidFill>
                  <a:srgbClr val="12293A"/>
                </a:solidFill>
                <a:latin typeface="Poppins" pitchFamily="34" charset="0"/>
                <a:ea typeface="Poppins" pitchFamily="34" charset="-122"/>
                <a:cs typeface="Poppins" pitchFamily="34" charset="-120"/>
              </a:rPr>
              <a:t>28k</a:t>
            </a:r>
            <a:endParaRPr lang="en-US" sz="620" dirty="0"/>
          </a:p>
        </p:txBody>
      </p:sp>
      <p:sp>
        <p:nvSpPr>
          <p:cNvPr id="156" name="Text 154"/>
          <p:cNvSpPr txBox="1"/>
          <p:nvPr/>
        </p:nvSpPr>
        <p:spPr>
          <a:xfrm>
            <a:off x="2459083" y="5120640"/>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14</a:t>
            </a:r>
            <a:endParaRPr lang="en-US" sz="550" dirty="0"/>
          </a:p>
        </p:txBody>
      </p:sp>
      <p:sp>
        <p:nvSpPr>
          <p:cNvPr id="157" name="Shape 155"/>
          <p:cNvSpPr/>
          <p:nvPr/>
        </p:nvSpPr>
        <p:spPr>
          <a:xfrm>
            <a:off x="2879054" y="4892040"/>
            <a:ext cx="365107" cy="219456"/>
          </a:xfrm>
          <a:prstGeom prst="rect">
            <a:avLst/>
          </a:prstGeom>
          <a:solidFill>
            <a:srgbClr val="D4E9ED"/>
          </a:solidFill>
          <a:ln/>
        </p:spPr>
      </p:sp>
      <p:sp>
        <p:nvSpPr>
          <p:cNvPr id="158" name="Text 156"/>
          <p:cNvSpPr txBox="1"/>
          <p:nvPr/>
        </p:nvSpPr>
        <p:spPr>
          <a:xfrm>
            <a:off x="2860766" y="4892040"/>
            <a:ext cx="401683" cy="219456"/>
          </a:xfrm>
          <a:prstGeom prst="rect">
            <a:avLst/>
          </a:prstGeom>
          <a:noFill/>
          <a:ln/>
        </p:spPr>
        <p:txBody>
          <a:bodyPr wrap="square" lIns="0" tIns="0" rIns="0" bIns="0" rtlCol="0" anchor="ctr"/>
          <a:lstStyle/>
          <a:p>
            <a:pPr algn="ctr" indent="0" marL="0">
              <a:buNone/>
            </a:pPr>
            <a:r>
              <a:rPr lang="en-US" sz="620" dirty="0">
                <a:solidFill>
                  <a:srgbClr val="12293A"/>
                </a:solidFill>
                <a:latin typeface="Poppins" pitchFamily="34" charset="0"/>
                <a:ea typeface="Poppins" pitchFamily="34" charset="-122"/>
                <a:cs typeface="Poppins" pitchFamily="34" charset="-120"/>
              </a:rPr>
              <a:t>28k</a:t>
            </a:r>
            <a:endParaRPr lang="en-US" sz="620" dirty="0"/>
          </a:p>
        </p:txBody>
      </p:sp>
      <p:sp>
        <p:nvSpPr>
          <p:cNvPr id="159" name="Text 157"/>
          <p:cNvSpPr txBox="1"/>
          <p:nvPr/>
        </p:nvSpPr>
        <p:spPr>
          <a:xfrm>
            <a:off x="2860766" y="5120640"/>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21</a:t>
            </a:r>
            <a:endParaRPr lang="en-US" sz="550" dirty="0"/>
          </a:p>
        </p:txBody>
      </p:sp>
      <p:sp>
        <p:nvSpPr>
          <p:cNvPr id="160" name="Shape 158"/>
          <p:cNvSpPr/>
          <p:nvPr/>
        </p:nvSpPr>
        <p:spPr>
          <a:xfrm>
            <a:off x="3280737" y="4892040"/>
            <a:ext cx="365107" cy="219456"/>
          </a:xfrm>
          <a:prstGeom prst="rect">
            <a:avLst/>
          </a:prstGeom>
          <a:solidFill>
            <a:srgbClr val="B5D9E0"/>
          </a:solidFill>
          <a:ln/>
        </p:spPr>
      </p:sp>
      <p:sp>
        <p:nvSpPr>
          <p:cNvPr id="161" name="Text 159"/>
          <p:cNvSpPr txBox="1"/>
          <p:nvPr/>
        </p:nvSpPr>
        <p:spPr>
          <a:xfrm>
            <a:off x="3262449" y="4892040"/>
            <a:ext cx="401683" cy="219456"/>
          </a:xfrm>
          <a:prstGeom prst="rect">
            <a:avLst/>
          </a:prstGeom>
          <a:noFill/>
          <a:ln/>
        </p:spPr>
        <p:txBody>
          <a:bodyPr wrap="square" lIns="0" tIns="0" rIns="0" bIns="0" rtlCol="0" anchor="ctr"/>
          <a:lstStyle/>
          <a:p>
            <a:pPr algn="ctr" indent="0" marL="0">
              <a:buNone/>
            </a:pPr>
            <a:r>
              <a:rPr lang="en-US" sz="620" dirty="0">
                <a:solidFill>
                  <a:srgbClr val="12293A"/>
                </a:solidFill>
                <a:latin typeface="Poppins" pitchFamily="34" charset="0"/>
                <a:ea typeface="Poppins" pitchFamily="34" charset="-122"/>
                <a:cs typeface="Poppins" pitchFamily="34" charset="-120"/>
              </a:rPr>
              <a:t>41k</a:t>
            </a:r>
            <a:endParaRPr lang="en-US" sz="620" dirty="0"/>
          </a:p>
        </p:txBody>
      </p:sp>
      <p:sp>
        <p:nvSpPr>
          <p:cNvPr id="162" name="Text 160"/>
          <p:cNvSpPr txBox="1"/>
          <p:nvPr/>
        </p:nvSpPr>
        <p:spPr>
          <a:xfrm>
            <a:off x="3262449" y="5120640"/>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28</a:t>
            </a:r>
            <a:endParaRPr lang="en-US" sz="550" dirty="0"/>
          </a:p>
        </p:txBody>
      </p:sp>
      <p:sp>
        <p:nvSpPr>
          <p:cNvPr id="163" name="Shape 161"/>
          <p:cNvSpPr/>
          <p:nvPr/>
        </p:nvSpPr>
        <p:spPr>
          <a:xfrm>
            <a:off x="3682419" y="4892040"/>
            <a:ext cx="365107" cy="219456"/>
          </a:xfrm>
          <a:prstGeom prst="rect">
            <a:avLst/>
          </a:prstGeom>
          <a:solidFill>
            <a:srgbClr val="B5D9E0"/>
          </a:solidFill>
          <a:ln/>
        </p:spPr>
      </p:sp>
      <p:sp>
        <p:nvSpPr>
          <p:cNvPr id="164" name="Text 162"/>
          <p:cNvSpPr txBox="1"/>
          <p:nvPr/>
        </p:nvSpPr>
        <p:spPr>
          <a:xfrm>
            <a:off x="3664131" y="4892040"/>
            <a:ext cx="401683" cy="219456"/>
          </a:xfrm>
          <a:prstGeom prst="rect">
            <a:avLst/>
          </a:prstGeom>
          <a:noFill/>
          <a:ln/>
        </p:spPr>
        <p:txBody>
          <a:bodyPr wrap="square" lIns="0" tIns="0" rIns="0" bIns="0" rtlCol="0" anchor="ctr"/>
          <a:lstStyle/>
          <a:p>
            <a:pPr algn="ctr" indent="0" marL="0">
              <a:buNone/>
            </a:pPr>
            <a:r>
              <a:rPr lang="en-US" sz="620" dirty="0">
                <a:solidFill>
                  <a:srgbClr val="12293A"/>
                </a:solidFill>
                <a:latin typeface="Poppins" pitchFamily="34" charset="0"/>
                <a:ea typeface="Poppins" pitchFamily="34" charset="-122"/>
                <a:cs typeface="Poppins" pitchFamily="34" charset="-120"/>
              </a:rPr>
              <a:t>52k</a:t>
            </a:r>
            <a:endParaRPr lang="en-US" sz="620" dirty="0"/>
          </a:p>
        </p:txBody>
      </p:sp>
      <p:sp>
        <p:nvSpPr>
          <p:cNvPr id="165" name="Text 163"/>
          <p:cNvSpPr txBox="1"/>
          <p:nvPr/>
        </p:nvSpPr>
        <p:spPr>
          <a:xfrm>
            <a:off x="3664131" y="5120640"/>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05</a:t>
            </a:r>
            <a:endParaRPr lang="en-US" sz="550" dirty="0"/>
          </a:p>
        </p:txBody>
      </p:sp>
      <p:sp>
        <p:nvSpPr>
          <p:cNvPr id="166" name="Shape 164"/>
          <p:cNvSpPr/>
          <p:nvPr/>
        </p:nvSpPr>
        <p:spPr>
          <a:xfrm>
            <a:off x="4084102" y="4892040"/>
            <a:ext cx="365107" cy="219456"/>
          </a:xfrm>
          <a:prstGeom prst="rect">
            <a:avLst/>
          </a:prstGeom>
          <a:solidFill>
            <a:srgbClr val="B5D9E0"/>
          </a:solidFill>
          <a:ln/>
        </p:spPr>
      </p:sp>
      <p:sp>
        <p:nvSpPr>
          <p:cNvPr id="167" name="Text 165"/>
          <p:cNvSpPr txBox="1"/>
          <p:nvPr/>
        </p:nvSpPr>
        <p:spPr>
          <a:xfrm>
            <a:off x="4065814" y="4892040"/>
            <a:ext cx="401683" cy="219456"/>
          </a:xfrm>
          <a:prstGeom prst="rect">
            <a:avLst/>
          </a:prstGeom>
          <a:noFill/>
          <a:ln/>
        </p:spPr>
        <p:txBody>
          <a:bodyPr wrap="square" lIns="0" tIns="0" rIns="0" bIns="0" rtlCol="0" anchor="ctr"/>
          <a:lstStyle/>
          <a:p>
            <a:pPr algn="ctr" indent="0" marL="0">
              <a:buNone/>
            </a:pPr>
            <a:r>
              <a:rPr lang="en-US" sz="620" dirty="0">
                <a:solidFill>
                  <a:srgbClr val="12293A"/>
                </a:solidFill>
                <a:latin typeface="Poppins" pitchFamily="34" charset="0"/>
                <a:ea typeface="Poppins" pitchFamily="34" charset="-122"/>
                <a:cs typeface="Poppins" pitchFamily="34" charset="-120"/>
              </a:rPr>
              <a:t>52k</a:t>
            </a:r>
            <a:endParaRPr lang="en-US" sz="620" dirty="0"/>
          </a:p>
        </p:txBody>
      </p:sp>
      <p:sp>
        <p:nvSpPr>
          <p:cNvPr id="168" name="Text 166"/>
          <p:cNvSpPr txBox="1"/>
          <p:nvPr/>
        </p:nvSpPr>
        <p:spPr>
          <a:xfrm>
            <a:off x="4065814" y="5120640"/>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12</a:t>
            </a:r>
            <a:endParaRPr lang="en-US" sz="550" dirty="0"/>
          </a:p>
        </p:txBody>
      </p:sp>
      <p:sp>
        <p:nvSpPr>
          <p:cNvPr id="169" name="Shape 167"/>
          <p:cNvSpPr/>
          <p:nvPr/>
        </p:nvSpPr>
        <p:spPr>
          <a:xfrm>
            <a:off x="4485785" y="4892040"/>
            <a:ext cx="365107" cy="219456"/>
          </a:xfrm>
          <a:prstGeom prst="rect">
            <a:avLst/>
          </a:prstGeom>
          <a:solidFill>
            <a:srgbClr val="B5D9E0"/>
          </a:solidFill>
          <a:ln/>
        </p:spPr>
      </p:sp>
      <p:sp>
        <p:nvSpPr>
          <p:cNvPr id="170" name="Text 168"/>
          <p:cNvSpPr txBox="1"/>
          <p:nvPr/>
        </p:nvSpPr>
        <p:spPr>
          <a:xfrm>
            <a:off x="4467497" y="4892040"/>
            <a:ext cx="401683" cy="219456"/>
          </a:xfrm>
          <a:prstGeom prst="rect">
            <a:avLst/>
          </a:prstGeom>
          <a:noFill/>
          <a:ln/>
        </p:spPr>
        <p:txBody>
          <a:bodyPr wrap="square" lIns="0" tIns="0" rIns="0" bIns="0" rtlCol="0" anchor="ctr"/>
          <a:lstStyle/>
          <a:p>
            <a:pPr algn="ctr" indent="0" marL="0">
              <a:buNone/>
            </a:pPr>
            <a:r>
              <a:rPr lang="en-US" sz="620" dirty="0">
                <a:solidFill>
                  <a:srgbClr val="12293A"/>
                </a:solidFill>
                <a:latin typeface="Poppins" pitchFamily="34" charset="0"/>
                <a:ea typeface="Poppins" pitchFamily="34" charset="-122"/>
                <a:cs typeface="Poppins" pitchFamily="34" charset="-120"/>
              </a:rPr>
              <a:t>52k</a:t>
            </a:r>
            <a:endParaRPr lang="en-US" sz="620" dirty="0"/>
          </a:p>
        </p:txBody>
      </p:sp>
      <p:sp>
        <p:nvSpPr>
          <p:cNvPr id="171" name="Text 169"/>
          <p:cNvSpPr txBox="1"/>
          <p:nvPr/>
        </p:nvSpPr>
        <p:spPr>
          <a:xfrm>
            <a:off x="4467497" y="5120640"/>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19</a:t>
            </a:r>
            <a:endParaRPr lang="en-US" sz="550" dirty="0"/>
          </a:p>
        </p:txBody>
      </p:sp>
      <p:sp>
        <p:nvSpPr>
          <p:cNvPr id="172" name="Shape 170"/>
          <p:cNvSpPr/>
          <p:nvPr/>
        </p:nvSpPr>
        <p:spPr>
          <a:xfrm>
            <a:off x="4887468" y="4892040"/>
            <a:ext cx="365107" cy="219456"/>
          </a:xfrm>
          <a:prstGeom prst="rect">
            <a:avLst/>
          </a:prstGeom>
          <a:solidFill>
            <a:srgbClr val="B5D9E0"/>
          </a:solidFill>
          <a:ln/>
        </p:spPr>
      </p:sp>
      <p:sp>
        <p:nvSpPr>
          <p:cNvPr id="173" name="Text 171"/>
          <p:cNvSpPr txBox="1"/>
          <p:nvPr/>
        </p:nvSpPr>
        <p:spPr>
          <a:xfrm>
            <a:off x="4869180" y="4892040"/>
            <a:ext cx="401683" cy="219456"/>
          </a:xfrm>
          <a:prstGeom prst="rect">
            <a:avLst/>
          </a:prstGeom>
          <a:noFill/>
          <a:ln/>
        </p:spPr>
        <p:txBody>
          <a:bodyPr wrap="square" lIns="0" tIns="0" rIns="0" bIns="0" rtlCol="0" anchor="ctr"/>
          <a:lstStyle/>
          <a:p>
            <a:pPr algn="ctr" indent="0" marL="0">
              <a:buNone/>
            </a:pPr>
            <a:r>
              <a:rPr lang="en-US" sz="620" dirty="0">
                <a:solidFill>
                  <a:srgbClr val="12293A"/>
                </a:solidFill>
                <a:latin typeface="Poppins" pitchFamily="34" charset="0"/>
                <a:ea typeface="Poppins" pitchFamily="34" charset="-122"/>
                <a:cs typeface="Poppins" pitchFamily="34" charset="-120"/>
              </a:rPr>
              <a:t>48k</a:t>
            </a:r>
            <a:endParaRPr lang="en-US" sz="620" dirty="0"/>
          </a:p>
        </p:txBody>
      </p:sp>
      <p:sp>
        <p:nvSpPr>
          <p:cNvPr id="174" name="Text 172"/>
          <p:cNvSpPr txBox="1"/>
          <p:nvPr/>
        </p:nvSpPr>
        <p:spPr>
          <a:xfrm>
            <a:off x="4869180" y="5120640"/>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26</a:t>
            </a:r>
            <a:endParaRPr lang="en-US" sz="550" dirty="0"/>
          </a:p>
        </p:txBody>
      </p:sp>
      <p:sp>
        <p:nvSpPr>
          <p:cNvPr id="175" name="Shape 173"/>
          <p:cNvSpPr/>
          <p:nvPr/>
        </p:nvSpPr>
        <p:spPr>
          <a:xfrm>
            <a:off x="5289151" y="4892040"/>
            <a:ext cx="365107" cy="219456"/>
          </a:xfrm>
          <a:prstGeom prst="rect">
            <a:avLst/>
          </a:prstGeom>
          <a:solidFill>
            <a:srgbClr val="D4E9ED"/>
          </a:solidFill>
          <a:ln/>
        </p:spPr>
      </p:sp>
      <p:sp>
        <p:nvSpPr>
          <p:cNvPr id="176" name="Text 174"/>
          <p:cNvSpPr txBox="1"/>
          <p:nvPr/>
        </p:nvSpPr>
        <p:spPr>
          <a:xfrm>
            <a:off x="5270863" y="4892040"/>
            <a:ext cx="401683" cy="219456"/>
          </a:xfrm>
          <a:prstGeom prst="rect">
            <a:avLst/>
          </a:prstGeom>
          <a:noFill/>
          <a:ln/>
        </p:spPr>
        <p:txBody>
          <a:bodyPr wrap="square" lIns="0" tIns="0" rIns="0" bIns="0" rtlCol="0" anchor="ctr"/>
          <a:lstStyle/>
          <a:p>
            <a:pPr algn="ctr" indent="0" marL="0">
              <a:buNone/>
            </a:pPr>
            <a:r>
              <a:rPr lang="en-US" sz="620" dirty="0">
                <a:solidFill>
                  <a:srgbClr val="12293A"/>
                </a:solidFill>
                <a:latin typeface="Poppins" pitchFamily="34" charset="0"/>
                <a:ea typeface="Poppins" pitchFamily="34" charset="-122"/>
                <a:cs typeface="Poppins" pitchFamily="34" charset="-120"/>
              </a:rPr>
              <a:t>28k</a:t>
            </a:r>
            <a:endParaRPr lang="en-US" sz="620" dirty="0"/>
          </a:p>
        </p:txBody>
      </p:sp>
      <p:sp>
        <p:nvSpPr>
          <p:cNvPr id="177" name="Text 175"/>
          <p:cNvSpPr txBox="1"/>
          <p:nvPr/>
        </p:nvSpPr>
        <p:spPr>
          <a:xfrm>
            <a:off x="5270863" y="5120640"/>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02</a:t>
            </a:r>
            <a:endParaRPr lang="en-US" sz="550" dirty="0"/>
          </a:p>
        </p:txBody>
      </p:sp>
      <p:sp>
        <p:nvSpPr>
          <p:cNvPr id="178" name="Shape 176"/>
          <p:cNvSpPr/>
          <p:nvPr/>
        </p:nvSpPr>
        <p:spPr>
          <a:xfrm>
            <a:off x="5690834" y="4892040"/>
            <a:ext cx="365107" cy="219456"/>
          </a:xfrm>
          <a:prstGeom prst="rect">
            <a:avLst/>
          </a:prstGeom>
          <a:solidFill>
            <a:srgbClr val="2C8394"/>
          </a:solidFill>
          <a:ln/>
        </p:spPr>
      </p:sp>
      <p:sp>
        <p:nvSpPr>
          <p:cNvPr id="179" name="Text 177"/>
          <p:cNvSpPr txBox="1"/>
          <p:nvPr/>
        </p:nvSpPr>
        <p:spPr>
          <a:xfrm>
            <a:off x="5672546" y="4892040"/>
            <a:ext cx="401683" cy="219456"/>
          </a:xfrm>
          <a:prstGeom prst="rect">
            <a:avLst/>
          </a:prstGeom>
          <a:noFill/>
          <a:ln/>
        </p:spPr>
        <p:txBody>
          <a:bodyPr wrap="square" lIns="0" tIns="0" rIns="0" bIns="0" rtlCol="0" anchor="ctr"/>
          <a:lstStyle/>
          <a:p>
            <a:pPr algn="ctr" indent="0" marL="0">
              <a:buNone/>
            </a:pPr>
            <a:r>
              <a:rPr lang="en-US" sz="620" b="1" dirty="0">
                <a:solidFill>
                  <a:srgbClr val="FFFFFF"/>
                </a:solidFill>
                <a:latin typeface="Poppins" pitchFamily="34" charset="0"/>
                <a:ea typeface="Poppins" pitchFamily="34" charset="-122"/>
                <a:cs typeface="Poppins" pitchFamily="34" charset="-120"/>
              </a:rPr>
              <a:t>78k</a:t>
            </a:r>
            <a:endParaRPr lang="en-US" sz="620" dirty="0"/>
          </a:p>
        </p:txBody>
      </p:sp>
      <p:sp>
        <p:nvSpPr>
          <p:cNvPr id="180" name="Text 178"/>
          <p:cNvSpPr txBox="1"/>
          <p:nvPr/>
        </p:nvSpPr>
        <p:spPr>
          <a:xfrm>
            <a:off x="5672546" y="5120640"/>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09</a:t>
            </a:r>
            <a:endParaRPr lang="en-US" sz="550" dirty="0"/>
          </a:p>
        </p:txBody>
      </p:sp>
      <p:sp>
        <p:nvSpPr>
          <p:cNvPr id="181" name="Shape 179"/>
          <p:cNvSpPr/>
          <p:nvPr/>
        </p:nvSpPr>
        <p:spPr>
          <a:xfrm>
            <a:off x="6092517" y="4892040"/>
            <a:ext cx="365107" cy="219456"/>
          </a:xfrm>
          <a:prstGeom prst="rect">
            <a:avLst/>
          </a:prstGeom>
          <a:solidFill>
            <a:srgbClr val="2C8394"/>
          </a:solidFill>
          <a:ln/>
        </p:spPr>
      </p:sp>
      <p:sp>
        <p:nvSpPr>
          <p:cNvPr id="182" name="Text 180"/>
          <p:cNvSpPr txBox="1"/>
          <p:nvPr/>
        </p:nvSpPr>
        <p:spPr>
          <a:xfrm>
            <a:off x="6074229" y="4892040"/>
            <a:ext cx="401683" cy="219456"/>
          </a:xfrm>
          <a:prstGeom prst="rect">
            <a:avLst/>
          </a:prstGeom>
          <a:noFill/>
          <a:ln/>
        </p:spPr>
        <p:txBody>
          <a:bodyPr wrap="square" lIns="0" tIns="0" rIns="0" bIns="0" rtlCol="0" anchor="ctr"/>
          <a:lstStyle/>
          <a:p>
            <a:pPr algn="ctr" indent="0" marL="0">
              <a:buNone/>
            </a:pPr>
            <a:r>
              <a:rPr lang="en-US" sz="620" b="1" dirty="0">
                <a:solidFill>
                  <a:srgbClr val="FFFFFF"/>
                </a:solidFill>
                <a:latin typeface="Poppins" pitchFamily="34" charset="0"/>
                <a:ea typeface="Poppins" pitchFamily="34" charset="-122"/>
                <a:cs typeface="Poppins" pitchFamily="34" charset="-120"/>
              </a:rPr>
              <a:t>87k</a:t>
            </a:r>
            <a:endParaRPr lang="en-US" sz="620" dirty="0"/>
          </a:p>
        </p:txBody>
      </p:sp>
      <p:sp>
        <p:nvSpPr>
          <p:cNvPr id="183" name="Text 181"/>
          <p:cNvSpPr txBox="1"/>
          <p:nvPr/>
        </p:nvSpPr>
        <p:spPr>
          <a:xfrm>
            <a:off x="6074229" y="5120640"/>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16</a:t>
            </a:r>
            <a:endParaRPr lang="en-US" sz="550" dirty="0"/>
          </a:p>
        </p:txBody>
      </p:sp>
      <p:sp>
        <p:nvSpPr>
          <p:cNvPr id="184" name="Shape 182"/>
          <p:cNvSpPr/>
          <p:nvPr/>
        </p:nvSpPr>
        <p:spPr>
          <a:xfrm>
            <a:off x="6494199" y="4892040"/>
            <a:ext cx="365107" cy="219456"/>
          </a:xfrm>
          <a:prstGeom prst="rect">
            <a:avLst/>
          </a:prstGeom>
          <a:solidFill>
            <a:srgbClr val="8FC3CC"/>
          </a:solidFill>
          <a:ln/>
        </p:spPr>
      </p:sp>
      <p:sp>
        <p:nvSpPr>
          <p:cNvPr id="185" name="Text 183"/>
          <p:cNvSpPr txBox="1"/>
          <p:nvPr/>
        </p:nvSpPr>
        <p:spPr>
          <a:xfrm>
            <a:off x="6475911" y="4892040"/>
            <a:ext cx="401683" cy="219456"/>
          </a:xfrm>
          <a:prstGeom prst="rect">
            <a:avLst/>
          </a:prstGeom>
          <a:noFill/>
          <a:ln/>
        </p:spPr>
        <p:txBody>
          <a:bodyPr wrap="square" lIns="0" tIns="0" rIns="0" bIns="0" rtlCol="0" anchor="ctr"/>
          <a:lstStyle/>
          <a:p>
            <a:pPr algn="ctr" indent="0" marL="0">
              <a:buNone/>
            </a:pPr>
            <a:r>
              <a:rPr lang="en-US" sz="620" dirty="0">
                <a:solidFill>
                  <a:srgbClr val="12293A"/>
                </a:solidFill>
                <a:latin typeface="Poppins" pitchFamily="34" charset="0"/>
                <a:ea typeface="Poppins" pitchFamily="34" charset="-122"/>
                <a:cs typeface="Poppins" pitchFamily="34" charset="-120"/>
              </a:rPr>
              <a:t>68k</a:t>
            </a:r>
            <a:endParaRPr lang="en-US" sz="620" dirty="0"/>
          </a:p>
        </p:txBody>
      </p:sp>
      <p:sp>
        <p:nvSpPr>
          <p:cNvPr id="186" name="Text 184"/>
          <p:cNvSpPr txBox="1"/>
          <p:nvPr/>
        </p:nvSpPr>
        <p:spPr>
          <a:xfrm>
            <a:off x="6475911" y="5120640"/>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23</a:t>
            </a:r>
            <a:endParaRPr lang="en-US" sz="550" dirty="0"/>
          </a:p>
        </p:txBody>
      </p:sp>
      <p:sp>
        <p:nvSpPr>
          <p:cNvPr id="187" name="Shape 185"/>
          <p:cNvSpPr/>
          <p:nvPr/>
        </p:nvSpPr>
        <p:spPr>
          <a:xfrm>
            <a:off x="6895882" y="4892040"/>
            <a:ext cx="365107" cy="219456"/>
          </a:xfrm>
          <a:prstGeom prst="rect">
            <a:avLst/>
          </a:prstGeom>
          <a:solidFill>
            <a:srgbClr val="8FC3CC"/>
          </a:solidFill>
          <a:ln/>
        </p:spPr>
      </p:sp>
      <p:sp>
        <p:nvSpPr>
          <p:cNvPr id="188" name="Text 186"/>
          <p:cNvSpPr txBox="1"/>
          <p:nvPr/>
        </p:nvSpPr>
        <p:spPr>
          <a:xfrm>
            <a:off x="6877594" y="4892040"/>
            <a:ext cx="401683" cy="219456"/>
          </a:xfrm>
          <a:prstGeom prst="rect">
            <a:avLst/>
          </a:prstGeom>
          <a:noFill/>
          <a:ln/>
        </p:spPr>
        <p:txBody>
          <a:bodyPr wrap="square" lIns="0" tIns="0" rIns="0" bIns="0" rtlCol="0" anchor="ctr"/>
          <a:lstStyle/>
          <a:p>
            <a:pPr algn="ctr" indent="0" marL="0">
              <a:buNone/>
            </a:pPr>
            <a:r>
              <a:rPr lang="en-US" sz="620" dirty="0">
                <a:solidFill>
                  <a:srgbClr val="12293A"/>
                </a:solidFill>
                <a:latin typeface="Poppins" pitchFamily="34" charset="0"/>
                <a:ea typeface="Poppins" pitchFamily="34" charset="-122"/>
                <a:cs typeface="Poppins" pitchFamily="34" charset="-120"/>
              </a:rPr>
              <a:t>60k</a:t>
            </a:r>
            <a:endParaRPr lang="en-US" sz="620" dirty="0"/>
          </a:p>
        </p:txBody>
      </p:sp>
      <p:sp>
        <p:nvSpPr>
          <p:cNvPr id="189" name="Text 187"/>
          <p:cNvSpPr txBox="1"/>
          <p:nvPr/>
        </p:nvSpPr>
        <p:spPr>
          <a:xfrm>
            <a:off x="6877594" y="5120640"/>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30</a:t>
            </a:r>
            <a:endParaRPr lang="en-US" sz="550" dirty="0"/>
          </a:p>
        </p:txBody>
      </p:sp>
      <p:sp>
        <p:nvSpPr>
          <p:cNvPr id="190" name="Shape 188"/>
          <p:cNvSpPr/>
          <p:nvPr/>
        </p:nvSpPr>
        <p:spPr>
          <a:xfrm>
            <a:off x="7297565" y="4892040"/>
            <a:ext cx="365107" cy="219456"/>
          </a:xfrm>
          <a:prstGeom prst="rect">
            <a:avLst/>
          </a:prstGeom>
          <a:solidFill>
            <a:srgbClr val="8FC3CC"/>
          </a:solidFill>
          <a:ln/>
        </p:spPr>
      </p:sp>
      <p:sp>
        <p:nvSpPr>
          <p:cNvPr id="191" name="Text 189"/>
          <p:cNvSpPr txBox="1"/>
          <p:nvPr/>
        </p:nvSpPr>
        <p:spPr>
          <a:xfrm>
            <a:off x="7279277" y="4892040"/>
            <a:ext cx="401683" cy="219456"/>
          </a:xfrm>
          <a:prstGeom prst="rect">
            <a:avLst/>
          </a:prstGeom>
          <a:noFill/>
          <a:ln/>
        </p:spPr>
        <p:txBody>
          <a:bodyPr wrap="square" lIns="0" tIns="0" rIns="0" bIns="0" rtlCol="0" anchor="ctr"/>
          <a:lstStyle/>
          <a:p>
            <a:pPr algn="ctr" indent="0" marL="0">
              <a:buNone/>
            </a:pPr>
            <a:r>
              <a:rPr lang="en-US" sz="620" dirty="0">
                <a:solidFill>
                  <a:srgbClr val="12293A"/>
                </a:solidFill>
                <a:latin typeface="Poppins" pitchFamily="34" charset="0"/>
                <a:ea typeface="Poppins" pitchFamily="34" charset="-122"/>
                <a:cs typeface="Poppins" pitchFamily="34" charset="-120"/>
              </a:rPr>
              <a:t>66k</a:t>
            </a:r>
            <a:endParaRPr lang="en-US" sz="620" dirty="0"/>
          </a:p>
        </p:txBody>
      </p:sp>
      <p:sp>
        <p:nvSpPr>
          <p:cNvPr id="192" name="Text 190"/>
          <p:cNvSpPr txBox="1"/>
          <p:nvPr/>
        </p:nvSpPr>
        <p:spPr>
          <a:xfrm>
            <a:off x="7279277" y="5120640"/>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06</a:t>
            </a:r>
            <a:endParaRPr lang="en-US" sz="550" dirty="0"/>
          </a:p>
        </p:txBody>
      </p:sp>
      <p:sp>
        <p:nvSpPr>
          <p:cNvPr id="193" name="Text 191"/>
          <p:cNvSpPr txBox="1"/>
          <p:nvPr/>
        </p:nvSpPr>
        <p:spPr>
          <a:xfrm>
            <a:off x="594360" y="5340096"/>
            <a:ext cx="7132320" cy="201168"/>
          </a:xfrm>
          <a:prstGeom prst="rect">
            <a:avLst/>
          </a:prstGeom>
          <a:noFill/>
          <a:ln/>
        </p:spPr>
        <p:txBody>
          <a:bodyPr wrap="square" lIns="0" tIns="0" rIns="0" bIns="0" rtlCol="0" anchor="ctr"/>
          <a:lstStyle/>
          <a:p>
            <a:pPr indent="0" marL="0">
              <a:buNone/>
            </a:pPr>
            <a:r>
              <a:rPr lang="en-US" sz="600" dirty="0">
                <a:solidFill>
                  <a:srgbClr val="8FA1AC"/>
                </a:solidFill>
                <a:latin typeface="Poppins" pitchFamily="34" charset="0"/>
                <a:ea typeface="Poppins" pitchFamily="34" charset="-122"/>
                <a:cs typeface="Poppins" pitchFamily="34" charset="-120"/>
              </a:rPr>
              <a:t>cell = one week · series ends w/c 06 Sep — later captures give month-to-date only</a:t>
            </a:r>
            <a:endParaRPr lang="en-US" sz="600" dirty="0"/>
          </a:p>
        </p:txBody>
      </p:sp>
      <p:sp>
        <p:nvSpPr>
          <p:cNvPr id="194" name="Shape 192"/>
          <p:cNvSpPr/>
          <p:nvPr/>
        </p:nvSpPr>
        <p:spPr>
          <a:xfrm>
            <a:off x="8092440" y="2212848"/>
            <a:ext cx="3685032" cy="3383280"/>
          </a:xfrm>
          <a:prstGeom prst="roundRect">
            <a:avLst>
              <a:gd name="adj" fmla="val 1892"/>
            </a:avLst>
          </a:prstGeom>
          <a:solidFill>
            <a:srgbClr val="FFFFFF"/>
          </a:solidFill>
          <a:ln/>
          <a:effectLst>
            <a:outerShdw sx="100000" sy="100000" kx="0" ky="0" algn="bl" rotWithShape="0" blurRad="76200" dist="25400" dir="5400000">
              <a:srgbClr val="9AAAB5">
                <a:alpha val="35000"/>
              </a:srgbClr>
            </a:outerShdw>
          </a:effectLst>
        </p:spPr>
      </p:sp>
      <p:sp>
        <p:nvSpPr>
          <p:cNvPr id="195" name="Text 193"/>
          <p:cNvSpPr txBox="1"/>
          <p:nvPr/>
        </p:nvSpPr>
        <p:spPr>
          <a:xfrm>
            <a:off x="8293608" y="2322576"/>
            <a:ext cx="3291840"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COWORK — SESSIONS PER WEEK</a:t>
            </a:r>
            <a:endParaRPr lang="en-US" sz="1200" dirty="0"/>
          </a:p>
        </p:txBody>
      </p:sp>
      <p:sp>
        <p:nvSpPr>
          <p:cNvPr id="196" name="Text 194"/>
          <p:cNvSpPr txBox="1"/>
          <p:nvPr/>
        </p:nvSpPr>
        <p:spPr>
          <a:xfrm>
            <a:off x="8275320" y="2596896"/>
            <a:ext cx="1481328" cy="548640"/>
          </a:xfrm>
          <a:prstGeom prst="rect">
            <a:avLst/>
          </a:prstGeom>
          <a:noFill/>
          <a:ln/>
        </p:spPr>
        <p:txBody>
          <a:bodyPr wrap="square" lIns="0" tIns="0" rIns="0" bIns="0" rtlCol="0" anchor="ctr"/>
          <a:lstStyle/>
          <a:p>
            <a:pPr indent="0" marL="0">
              <a:buNone/>
            </a:pPr>
            <a:r>
              <a:rPr lang="en-US" sz="2600" b="1" dirty="0">
                <a:solidFill>
                  <a:srgbClr val="2C8394"/>
                </a:solidFill>
                <a:latin typeface="Poppins" pitchFamily="34" charset="0"/>
                <a:ea typeface="Poppins" pitchFamily="34" charset="-122"/>
                <a:cs typeface="Poppins" pitchFamily="34" charset="-120"/>
              </a:rPr>
              <a:t>~1012</a:t>
            </a:r>
            <a:endParaRPr lang="en-US" sz="2600" dirty="0"/>
          </a:p>
        </p:txBody>
      </p:sp>
      <p:sp>
        <p:nvSpPr>
          <p:cNvPr id="197" name="Text 195"/>
          <p:cNvSpPr txBox="1"/>
          <p:nvPr/>
        </p:nvSpPr>
        <p:spPr>
          <a:xfrm>
            <a:off x="9811512" y="2624328"/>
            <a:ext cx="1783080" cy="502920"/>
          </a:xfrm>
          <a:prstGeom prst="rect">
            <a:avLst/>
          </a:prstGeom>
          <a:noFill/>
          <a:ln/>
        </p:spPr>
        <p:txBody>
          <a:bodyPr wrap="square" lIns="0" tIns="0" rIns="0" bIns="0" rtlCol="0" anchor="ctr"/>
          <a:lstStyle/>
          <a:p>
            <a:pPr indent="0" marL="0">
              <a:buNone/>
            </a:pPr>
            <a:r>
              <a:rPr lang="en-US" sz="750" dirty="0">
                <a:solidFill>
                  <a:srgbClr val="5E7280"/>
                </a:solidFill>
                <a:latin typeface="Poppins" pitchFamily="34" charset="0"/>
                <a:ea typeface="Poppins" pitchFamily="34" charset="-122"/>
                <a:cs typeface="Poppins" pitchFamily="34" charset="-120"/>
              </a:rPr>
              <a:t>team total / wk
</a:t>
            </a:r>
            <a:pPr indent="0" marL="0">
              <a:buNone/>
            </a:pPr>
            <a:r>
              <a:rPr lang="en-US" sz="700" dirty="0">
                <a:solidFill>
                  <a:srgbClr val="8FA1AC"/>
                </a:solidFill>
                <a:latin typeface="Poppins" pitchFamily="34" charset="0"/>
                <a:ea typeface="Poppins" pitchFamily="34" charset="-122"/>
                <a:cs typeface="Poppins" pitchFamily="34" charset="-120"/>
              </a:rPr>
              <a:t>~770 baseline</a:t>
            </a:r>
            <a:endParaRPr lang="en-US" sz="750" dirty="0"/>
          </a:p>
        </p:txBody>
      </p:sp>
      <p:sp>
        <p:nvSpPr>
          <p:cNvPr id="198" name="Text 196"/>
          <p:cNvSpPr txBox="1"/>
          <p:nvPr/>
        </p:nvSpPr>
        <p:spPr>
          <a:xfrm>
            <a:off x="8275320" y="3236976"/>
            <a:ext cx="1737360" cy="201168"/>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Bjorn Magabo</a:t>
            </a:r>
            <a:endParaRPr lang="en-US" sz="750" dirty="0"/>
          </a:p>
        </p:txBody>
      </p:sp>
      <p:sp>
        <p:nvSpPr>
          <p:cNvPr id="199" name="Text 197"/>
          <p:cNvSpPr txBox="1"/>
          <p:nvPr/>
        </p:nvSpPr>
        <p:spPr>
          <a:xfrm>
            <a:off x="10058400" y="3236976"/>
            <a:ext cx="685800" cy="201168"/>
          </a:xfrm>
          <a:prstGeom prst="rect">
            <a:avLst/>
          </a:prstGeom>
          <a:noFill/>
          <a:ln/>
        </p:spPr>
        <p:txBody>
          <a:bodyPr wrap="square" lIns="0" tIns="0" rIns="0" bIns="0" rtlCol="0" anchor="ctr"/>
          <a:lstStyle/>
          <a:p>
            <a:pPr algn="r" indent="0" marL="0">
              <a:buNone/>
            </a:pPr>
            <a:r>
              <a:rPr lang="en-US" sz="680" b="1" dirty="0">
                <a:solidFill>
                  <a:srgbClr val="3D8F5F"/>
                </a:solidFill>
                <a:latin typeface="Poppins" pitchFamily="34" charset="0"/>
                <a:ea typeface="Poppins" pitchFamily="34" charset="-122"/>
                <a:cs typeface="Poppins" pitchFamily="34" charset="-120"/>
              </a:rPr>
              <a:t>▲ +211</a:t>
            </a:r>
            <a:endParaRPr lang="en-US" sz="680" dirty="0"/>
          </a:p>
        </p:txBody>
      </p:sp>
      <p:sp>
        <p:nvSpPr>
          <p:cNvPr id="200" name="Text 198"/>
          <p:cNvSpPr txBox="1"/>
          <p:nvPr/>
        </p:nvSpPr>
        <p:spPr>
          <a:xfrm>
            <a:off x="10835640" y="3236976"/>
            <a:ext cx="758952" cy="201168"/>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~696/wk</a:t>
            </a:r>
            <a:endParaRPr lang="en-US" sz="750" dirty="0"/>
          </a:p>
        </p:txBody>
      </p:sp>
      <p:sp>
        <p:nvSpPr>
          <p:cNvPr id="201" name="Text 199"/>
          <p:cNvSpPr txBox="1"/>
          <p:nvPr/>
        </p:nvSpPr>
        <p:spPr>
          <a:xfrm>
            <a:off x="8275320" y="3429000"/>
            <a:ext cx="1737360" cy="201168"/>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Phuong Ho</a:t>
            </a:r>
            <a:endParaRPr lang="en-US" sz="750" dirty="0"/>
          </a:p>
        </p:txBody>
      </p:sp>
      <p:sp>
        <p:nvSpPr>
          <p:cNvPr id="202" name="Text 200"/>
          <p:cNvSpPr txBox="1"/>
          <p:nvPr/>
        </p:nvSpPr>
        <p:spPr>
          <a:xfrm>
            <a:off x="10058400" y="3429000"/>
            <a:ext cx="685800" cy="201168"/>
          </a:xfrm>
          <a:prstGeom prst="rect">
            <a:avLst/>
          </a:prstGeom>
          <a:noFill/>
          <a:ln/>
        </p:spPr>
        <p:txBody>
          <a:bodyPr wrap="square" lIns="0" tIns="0" rIns="0" bIns="0" rtlCol="0" anchor="ctr"/>
          <a:lstStyle/>
          <a:p>
            <a:pPr algn="r" indent="0" marL="0">
              <a:buNone/>
            </a:pPr>
            <a:r>
              <a:rPr lang="en-US" sz="680" b="1" dirty="0">
                <a:solidFill>
                  <a:srgbClr val="3D8F5F"/>
                </a:solidFill>
                <a:latin typeface="Poppins" pitchFamily="34" charset="0"/>
                <a:ea typeface="Poppins" pitchFamily="34" charset="-122"/>
                <a:cs typeface="Poppins" pitchFamily="34" charset="-120"/>
              </a:rPr>
              <a:t>▲ +32</a:t>
            </a:r>
            <a:endParaRPr lang="en-US" sz="680" dirty="0"/>
          </a:p>
        </p:txBody>
      </p:sp>
      <p:sp>
        <p:nvSpPr>
          <p:cNvPr id="203" name="Text 201"/>
          <p:cNvSpPr txBox="1"/>
          <p:nvPr/>
        </p:nvSpPr>
        <p:spPr>
          <a:xfrm>
            <a:off x="10835640" y="3429000"/>
            <a:ext cx="758952" cy="201168"/>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~168/wk</a:t>
            </a:r>
            <a:endParaRPr lang="en-US" sz="750" dirty="0"/>
          </a:p>
        </p:txBody>
      </p:sp>
      <p:sp>
        <p:nvSpPr>
          <p:cNvPr id="204" name="Text 202"/>
          <p:cNvSpPr txBox="1"/>
          <p:nvPr/>
        </p:nvSpPr>
        <p:spPr>
          <a:xfrm>
            <a:off x="8275320" y="3621024"/>
            <a:ext cx="1737360" cy="201168"/>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Bradford Young</a:t>
            </a:r>
            <a:endParaRPr lang="en-US" sz="750" dirty="0"/>
          </a:p>
        </p:txBody>
      </p:sp>
      <p:sp>
        <p:nvSpPr>
          <p:cNvPr id="205" name="Text 203"/>
          <p:cNvSpPr txBox="1"/>
          <p:nvPr/>
        </p:nvSpPr>
        <p:spPr>
          <a:xfrm>
            <a:off x="10058400" y="3621024"/>
            <a:ext cx="685800" cy="201168"/>
          </a:xfrm>
          <a:prstGeom prst="rect">
            <a:avLst/>
          </a:prstGeom>
          <a:noFill/>
          <a:ln/>
        </p:spPr>
        <p:txBody>
          <a:bodyPr wrap="square" lIns="0" tIns="0" rIns="0" bIns="0" rtlCol="0" anchor="ctr"/>
          <a:lstStyle/>
          <a:p>
            <a:pPr algn="r" indent="0" marL="0">
              <a:buNone/>
            </a:pPr>
            <a:r>
              <a:rPr lang="en-US" sz="680" b="1" dirty="0">
                <a:solidFill>
                  <a:srgbClr val="8FA1AC"/>
                </a:solidFill>
                <a:latin typeface="Poppins" pitchFamily="34" charset="0"/>
                <a:ea typeface="Poppins" pitchFamily="34" charset="-122"/>
                <a:cs typeface="Poppins" pitchFamily="34" charset="-120"/>
              </a:rPr>
              <a:t>—</a:t>
            </a:r>
            <a:endParaRPr lang="en-US" sz="680" dirty="0"/>
          </a:p>
        </p:txBody>
      </p:sp>
      <p:sp>
        <p:nvSpPr>
          <p:cNvPr id="206" name="Text 204"/>
          <p:cNvSpPr txBox="1"/>
          <p:nvPr/>
        </p:nvSpPr>
        <p:spPr>
          <a:xfrm>
            <a:off x="10835640" y="3621024"/>
            <a:ext cx="758952" cy="201168"/>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~21/wk</a:t>
            </a:r>
            <a:endParaRPr lang="en-US" sz="750" dirty="0"/>
          </a:p>
        </p:txBody>
      </p:sp>
      <p:sp>
        <p:nvSpPr>
          <p:cNvPr id="207" name="Text 205"/>
          <p:cNvSpPr txBox="1"/>
          <p:nvPr/>
        </p:nvSpPr>
        <p:spPr>
          <a:xfrm>
            <a:off x="8275320" y="3813048"/>
            <a:ext cx="1737360" cy="201168"/>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Dave Corbett</a:t>
            </a:r>
            <a:endParaRPr lang="en-US" sz="750" dirty="0"/>
          </a:p>
        </p:txBody>
      </p:sp>
      <p:sp>
        <p:nvSpPr>
          <p:cNvPr id="208" name="Text 206"/>
          <p:cNvSpPr txBox="1"/>
          <p:nvPr/>
        </p:nvSpPr>
        <p:spPr>
          <a:xfrm>
            <a:off x="10058400" y="3813048"/>
            <a:ext cx="685800" cy="201168"/>
          </a:xfrm>
          <a:prstGeom prst="rect">
            <a:avLst/>
          </a:prstGeom>
          <a:noFill/>
          <a:ln/>
        </p:spPr>
        <p:txBody>
          <a:bodyPr wrap="square" lIns="0" tIns="0" rIns="0" bIns="0" rtlCol="0" anchor="ctr"/>
          <a:lstStyle/>
          <a:p>
            <a:pPr algn="r" indent="0" marL="0">
              <a:buNone/>
            </a:pPr>
            <a:r>
              <a:rPr lang="en-US" sz="680" b="1" dirty="0">
                <a:solidFill>
                  <a:srgbClr val="3D8F5F"/>
                </a:solidFill>
                <a:latin typeface="Poppins" pitchFamily="34" charset="0"/>
                <a:ea typeface="Poppins" pitchFamily="34" charset="-122"/>
                <a:cs typeface="Poppins" pitchFamily="34" charset="-120"/>
              </a:rPr>
              <a:t>▲ +1</a:t>
            </a:r>
            <a:endParaRPr lang="en-US" sz="680" dirty="0"/>
          </a:p>
        </p:txBody>
      </p:sp>
      <p:sp>
        <p:nvSpPr>
          <p:cNvPr id="209" name="Text 207"/>
          <p:cNvSpPr txBox="1"/>
          <p:nvPr/>
        </p:nvSpPr>
        <p:spPr>
          <a:xfrm>
            <a:off x="10835640" y="3813048"/>
            <a:ext cx="758952" cy="201168"/>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~21/wk</a:t>
            </a:r>
            <a:endParaRPr lang="en-US" sz="750" dirty="0"/>
          </a:p>
        </p:txBody>
      </p:sp>
      <p:sp>
        <p:nvSpPr>
          <p:cNvPr id="210" name="Text 208"/>
          <p:cNvSpPr txBox="1"/>
          <p:nvPr/>
        </p:nvSpPr>
        <p:spPr>
          <a:xfrm>
            <a:off x="8275320" y="4005072"/>
            <a:ext cx="1737360" cy="201168"/>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Matt Freeman</a:t>
            </a:r>
            <a:endParaRPr lang="en-US" sz="750" dirty="0"/>
          </a:p>
        </p:txBody>
      </p:sp>
      <p:sp>
        <p:nvSpPr>
          <p:cNvPr id="211" name="Text 209"/>
          <p:cNvSpPr txBox="1"/>
          <p:nvPr/>
        </p:nvSpPr>
        <p:spPr>
          <a:xfrm>
            <a:off x="10058400" y="4005072"/>
            <a:ext cx="685800" cy="201168"/>
          </a:xfrm>
          <a:prstGeom prst="rect">
            <a:avLst/>
          </a:prstGeom>
          <a:noFill/>
          <a:ln/>
        </p:spPr>
        <p:txBody>
          <a:bodyPr wrap="square" lIns="0" tIns="0" rIns="0" bIns="0" rtlCol="0" anchor="ctr"/>
          <a:lstStyle/>
          <a:p>
            <a:pPr algn="r" indent="0" marL="0">
              <a:buNone/>
            </a:pPr>
            <a:r>
              <a:rPr lang="en-US" sz="680" b="1" dirty="0">
                <a:solidFill>
                  <a:srgbClr val="3D8F5F"/>
                </a:solidFill>
                <a:latin typeface="Poppins" pitchFamily="34" charset="0"/>
                <a:ea typeface="Poppins" pitchFamily="34" charset="-122"/>
                <a:cs typeface="Poppins" pitchFamily="34" charset="-120"/>
              </a:rPr>
              <a:t>▲ +2</a:t>
            </a:r>
            <a:endParaRPr lang="en-US" sz="680" dirty="0"/>
          </a:p>
        </p:txBody>
      </p:sp>
      <p:sp>
        <p:nvSpPr>
          <p:cNvPr id="212" name="Text 210"/>
          <p:cNvSpPr txBox="1"/>
          <p:nvPr/>
        </p:nvSpPr>
        <p:spPr>
          <a:xfrm>
            <a:off x="10835640" y="4005072"/>
            <a:ext cx="758952" cy="201168"/>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~15/wk</a:t>
            </a:r>
            <a:endParaRPr lang="en-US" sz="750" dirty="0"/>
          </a:p>
        </p:txBody>
      </p:sp>
      <p:sp>
        <p:nvSpPr>
          <p:cNvPr id="213" name="Text 211"/>
          <p:cNvSpPr txBox="1"/>
          <p:nvPr/>
        </p:nvSpPr>
        <p:spPr>
          <a:xfrm>
            <a:off x="8275320" y="4197096"/>
            <a:ext cx="1737360" cy="201168"/>
          </a:xfrm>
          <a:prstGeom prst="rect">
            <a:avLst/>
          </a:prstGeom>
          <a:noFill/>
          <a:ln/>
        </p:spPr>
        <p:txBody>
          <a:bodyPr wrap="square" lIns="0" tIns="0" rIns="0" bIns="0" rtlCol="0" anchor="ctr"/>
          <a:lstStyle/>
          <a:p>
            <a:pPr indent="0" marL="0">
              <a:buNone/>
            </a:pPr>
            <a:r>
              <a:rPr lang="en-US" sz="750" dirty="0">
                <a:solidFill>
                  <a:srgbClr val="5E7280"/>
                </a:solidFill>
                <a:latin typeface="Poppins" pitchFamily="34" charset="0"/>
                <a:ea typeface="Poppins" pitchFamily="34" charset="-122"/>
                <a:cs typeface="Poppins" pitchFamily="34" charset="-120"/>
              </a:rPr>
              <a:t>Katherine Fenwick</a:t>
            </a:r>
            <a:endParaRPr lang="en-US" sz="750" dirty="0"/>
          </a:p>
        </p:txBody>
      </p:sp>
      <p:sp>
        <p:nvSpPr>
          <p:cNvPr id="214" name="Text 212"/>
          <p:cNvSpPr txBox="1"/>
          <p:nvPr/>
        </p:nvSpPr>
        <p:spPr>
          <a:xfrm>
            <a:off x="10058400" y="4197096"/>
            <a:ext cx="685800" cy="201168"/>
          </a:xfrm>
          <a:prstGeom prst="rect">
            <a:avLst/>
          </a:prstGeom>
          <a:noFill/>
          <a:ln/>
        </p:spPr>
        <p:txBody>
          <a:bodyPr wrap="square" lIns="0" tIns="0" rIns="0" bIns="0" rtlCol="0" anchor="ctr"/>
          <a:lstStyle/>
          <a:p>
            <a:pPr algn="r" indent="0" marL="0">
              <a:buNone/>
            </a:pPr>
            <a:r>
              <a:rPr lang="en-US" sz="680" b="1" dirty="0">
                <a:solidFill>
                  <a:srgbClr val="3D8F5F"/>
                </a:solidFill>
                <a:latin typeface="Poppins" pitchFamily="34" charset="0"/>
                <a:ea typeface="Poppins" pitchFamily="34" charset="-122"/>
                <a:cs typeface="Poppins" pitchFamily="34" charset="-120"/>
              </a:rPr>
              <a:t>▲ +1</a:t>
            </a:r>
            <a:endParaRPr lang="en-US" sz="680" dirty="0"/>
          </a:p>
        </p:txBody>
      </p:sp>
      <p:sp>
        <p:nvSpPr>
          <p:cNvPr id="215" name="Text 213"/>
          <p:cNvSpPr txBox="1"/>
          <p:nvPr/>
        </p:nvSpPr>
        <p:spPr>
          <a:xfrm>
            <a:off x="10835640" y="4197096"/>
            <a:ext cx="758952" cy="201168"/>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~13/wk</a:t>
            </a:r>
            <a:endParaRPr lang="en-US" sz="750" dirty="0"/>
          </a:p>
        </p:txBody>
      </p:sp>
      <p:sp>
        <p:nvSpPr>
          <p:cNvPr id="216" name="Text 214"/>
          <p:cNvSpPr txBox="1"/>
          <p:nvPr/>
        </p:nvSpPr>
        <p:spPr>
          <a:xfrm>
            <a:off x="8275320" y="4389120"/>
            <a:ext cx="1737360" cy="201168"/>
          </a:xfrm>
          <a:prstGeom prst="rect">
            <a:avLst/>
          </a:prstGeom>
          <a:noFill/>
          <a:ln/>
        </p:spPr>
        <p:txBody>
          <a:bodyPr wrap="square" lIns="0" tIns="0" rIns="0" bIns="0" rtlCol="0" anchor="ctr"/>
          <a:lstStyle/>
          <a:p>
            <a:pPr indent="0" marL="0">
              <a:buNone/>
            </a:pPr>
            <a:r>
              <a:rPr lang="en-US" sz="750" dirty="0">
                <a:solidFill>
                  <a:srgbClr val="5E7280"/>
                </a:solidFill>
                <a:latin typeface="Poppins" pitchFamily="34" charset="0"/>
                <a:ea typeface="Poppins" pitchFamily="34" charset="-122"/>
                <a:cs typeface="Poppins" pitchFamily="34" charset="-120"/>
              </a:rPr>
              <a:t>Harjeet Sammi</a:t>
            </a:r>
            <a:endParaRPr lang="en-US" sz="750" dirty="0"/>
          </a:p>
        </p:txBody>
      </p:sp>
      <p:sp>
        <p:nvSpPr>
          <p:cNvPr id="217" name="Text 215"/>
          <p:cNvSpPr txBox="1"/>
          <p:nvPr/>
        </p:nvSpPr>
        <p:spPr>
          <a:xfrm>
            <a:off x="10058400" y="4389120"/>
            <a:ext cx="685800" cy="201168"/>
          </a:xfrm>
          <a:prstGeom prst="rect">
            <a:avLst/>
          </a:prstGeom>
          <a:noFill/>
          <a:ln/>
        </p:spPr>
        <p:txBody>
          <a:bodyPr wrap="square" lIns="0" tIns="0" rIns="0" bIns="0" rtlCol="0" anchor="ctr"/>
          <a:lstStyle/>
          <a:p>
            <a:pPr algn="r" indent="0" marL="0">
              <a:buNone/>
            </a:pPr>
            <a:r>
              <a:rPr lang="en-US" sz="680" b="1" dirty="0">
                <a:solidFill>
                  <a:srgbClr val="B4552D"/>
                </a:solidFill>
                <a:latin typeface="Poppins" pitchFamily="34" charset="0"/>
                <a:ea typeface="Poppins" pitchFamily="34" charset="-122"/>
                <a:cs typeface="Poppins" pitchFamily="34" charset="-120"/>
              </a:rPr>
              <a:t>▼ -1</a:t>
            </a:r>
            <a:endParaRPr lang="en-US" sz="680" dirty="0"/>
          </a:p>
        </p:txBody>
      </p:sp>
      <p:sp>
        <p:nvSpPr>
          <p:cNvPr id="218" name="Text 216"/>
          <p:cNvSpPr txBox="1"/>
          <p:nvPr/>
        </p:nvSpPr>
        <p:spPr>
          <a:xfrm>
            <a:off x="10835640" y="4389120"/>
            <a:ext cx="758952" cy="201168"/>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~12/wk</a:t>
            </a:r>
            <a:endParaRPr lang="en-US" sz="750" dirty="0"/>
          </a:p>
        </p:txBody>
      </p:sp>
      <p:sp>
        <p:nvSpPr>
          <p:cNvPr id="219" name="Text 217"/>
          <p:cNvSpPr txBox="1"/>
          <p:nvPr/>
        </p:nvSpPr>
        <p:spPr>
          <a:xfrm>
            <a:off x="8275320" y="4581144"/>
            <a:ext cx="1737360" cy="201168"/>
          </a:xfrm>
          <a:prstGeom prst="rect">
            <a:avLst/>
          </a:prstGeom>
          <a:noFill/>
          <a:ln/>
        </p:spPr>
        <p:txBody>
          <a:bodyPr wrap="square" lIns="0" tIns="0" rIns="0" bIns="0" rtlCol="0" anchor="ctr"/>
          <a:lstStyle/>
          <a:p>
            <a:pPr indent="0" marL="0">
              <a:buNone/>
            </a:pPr>
            <a:r>
              <a:rPr lang="en-US" sz="750" dirty="0">
                <a:solidFill>
                  <a:srgbClr val="5E7280"/>
                </a:solidFill>
                <a:latin typeface="Poppins" pitchFamily="34" charset="0"/>
                <a:ea typeface="Poppins" pitchFamily="34" charset="-122"/>
                <a:cs typeface="Poppins" pitchFamily="34" charset="-120"/>
              </a:rPr>
              <a:t>Glynn Johnson</a:t>
            </a:r>
            <a:endParaRPr lang="en-US" sz="750" dirty="0"/>
          </a:p>
        </p:txBody>
      </p:sp>
      <p:sp>
        <p:nvSpPr>
          <p:cNvPr id="220" name="Text 218"/>
          <p:cNvSpPr txBox="1"/>
          <p:nvPr/>
        </p:nvSpPr>
        <p:spPr>
          <a:xfrm>
            <a:off x="10058400" y="4581144"/>
            <a:ext cx="685800" cy="201168"/>
          </a:xfrm>
          <a:prstGeom prst="rect">
            <a:avLst/>
          </a:prstGeom>
          <a:noFill/>
          <a:ln/>
        </p:spPr>
        <p:txBody>
          <a:bodyPr wrap="square" lIns="0" tIns="0" rIns="0" bIns="0" rtlCol="0" anchor="ctr"/>
          <a:lstStyle/>
          <a:p>
            <a:pPr algn="r" indent="0" marL="0">
              <a:buNone/>
            </a:pPr>
            <a:r>
              <a:rPr lang="en-US" sz="680" b="1" dirty="0">
                <a:solidFill>
                  <a:srgbClr val="8FA1AC"/>
                </a:solidFill>
                <a:latin typeface="Poppins" pitchFamily="34" charset="0"/>
                <a:ea typeface="Poppins" pitchFamily="34" charset="-122"/>
                <a:cs typeface="Poppins" pitchFamily="34" charset="-120"/>
              </a:rPr>
              <a:t>—</a:t>
            </a:r>
            <a:endParaRPr lang="en-US" sz="680" dirty="0"/>
          </a:p>
        </p:txBody>
      </p:sp>
      <p:sp>
        <p:nvSpPr>
          <p:cNvPr id="221" name="Text 219"/>
          <p:cNvSpPr txBox="1"/>
          <p:nvPr/>
        </p:nvSpPr>
        <p:spPr>
          <a:xfrm>
            <a:off x="10835640" y="4581144"/>
            <a:ext cx="758952" cy="201168"/>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~11/wk</a:t>
            </a:r>
            <a:endParaRPr lang="en-US" sz="750" dirty="0"/>
          </a:p>
        </p:txBody>
      </p:sp>
      <p:sp>
        <p:nvSpPr>
          <p:cNvPr id="222" name="Text 220"/>
          <p:cNvSpPr txBox="1"/>
          <p:nvPr/>
        </p:nvSpPr>
        <p:spPr>
          <a:xfrm>
            <a:off x="8275320" y="4773168"/>
            <a:ext cx="1737360" cy="201168"/>
          </a:xfrm>
          <a:prstGeom prst="rect">
            <a:avLst/>
          </a:prstGeom>
          <a:noFill/>
          <a:ln/>
        </p:spPr>
        <p:txBody>
          <a:bodyPr wrap="square" lIns="0" tIns="0" rIns="0" bIns="0" rtlCol="0" anchor="ctr"/>
          <a:lstStyle/>
          <a:p>
            <a:pPr indent="0" marL="0">
              <a:buNone/>
            </a:pPr>
            <a:r>
              <a:rPr lang="en-US" sz="750" dirty="0">
                <a:solidFill>
                  <a:srgbClr val="5E7280"/>
                </a:solidFill>
                <a:latin typeface="Poppins" pitchFamily="34" charset="0"/>
                <a:ea typeface="Poppins" pitchFamily="34" charset="-122"/>
                <a:cs typeface="Poppins" pitchFamily="34" charset="-120"/>
              </a:rPr>
              <a:t>Isayah Kuhlmann</a:t>
            </a:r>
            <a:endParaRPr lang="en-US" sz="750" dirty="0"/>
          </a:p>
        </p:txBody>
      </p:sp>
      <p:sp>
        <p:nvSpPr>
          <p:cNvPr id="223" name="Text 221"/>
          <p:cNvSpPr txBox="1"/>
          <p:nvPr/>
        </p:nvSpPr>
        <p:spPr>
          <a:xfrm>
            <a:off x="10058400" y="4773168"/>
            <a:ext cx="685800" cy="201168"/>
          </a:xfrm>
          <a:prstGeom prst="rect">
            <a:avLst/>
          </a:prstGeom>
          <a:noFill/>
          <a:ln/>
        </p:spPr>
        <p:txBody>
          <a:bodyPr wrap="square" lIns="0" tIns="0" rIns="0" bIns="0" rtlCol="0" anchor="ctr"/>
          <a:lstStyle/>
          <a:p>
            <a:pPr algn="r" indent="0" marL="0">
              <a:buNone/>
            </a:pPr>
            <a:r>
              <a:rPr lang="en-US" sz="680" b="1" dirty="0">
                <a:solidFill>
                  <a:srgbClr val="3D8F5F"/>
                </a:solidFill>
                <a:latin typeface="Poppins" pitchFamily="34" charset="0"/>
                <a:ea typeface="Poppins" pitchFamily="34" charset="-122"/>
                <a:cs typeface="Poppins" pitchFamily="34" charset="-120"/>
              </a:rPr>
              <a:t>▲ +1</a:t>
            </a:r>
            <a:endParaRPr lang="en-US" sz="680" dirty="0"/>
          </a:p>
        </p:txBody>
      </p:sp>
      <p:sp>
        <p:nvSpPr>
          <p:cNvPr id="224" name="Text 222"/>
          <p:cNvSpPr txBox="1"/>
          <p:nvPr/>
        </p:nvSpPr>
        <p:spPr>
          <a:xfrm>
            <a:off x="10835640" y="4773168"/>
            <a:ext cx="758952" cy="201168"/>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~8/wk</a:t>
            </a:r>
            <a:endParaRPr lang="en-US" sz="750" dirty="0"/>
          </a:p>
        </p:txBody>
      </p:sp>
      <p:sp>
        <p:nvSpPr>
          <p:cNvPr id="225" name="Text 223"/>
          <p:cNvSpPr txBox="1"/>
          <p:nvPr/>
        </p:nvSpPr>
        <p:spPr>
          <a:xfrm>
            <a:off x="8275320" y="4965192"/>
            <a:ext cx="1737360" cy="201168"/>
          </a:xfrm>
          <a:prstGeom prst="rect">
            <a:avLst/>
          </a:prstGeom>
          <a:noFill/>
          <a:ln/>
        </p:spPr>
        <p:txBody>
          <a:bodyPr wrap="square" lIns="0" tIns="0" rIns="0" bIns="0" rtlCol="0" anchor="ctr"/>
          <a:lstStyle/>
          <a:p>
            <a:pPr indent="0" marL="0">
              <a:buNone/>
            </a:pPr>
            <a:r>
              <a:rPr lang="en-US" sz="750" dirty="0">
                <a:solidFill>
                  <a:srgbClr val="5E7280"/>
                </a:solidFill>
                <a:latin typeface="Poppins" pitchFamily="34" charset="0"/>
                <a:ea typeface="Poppins" pitchFamily="34" charset="-122"/>
                <a:cs typeface="Poppins" pitchFamily="34" charset="-120"/>
              </a:rPr>
              <a:t>Rhys Woolcock</a:t>
            </a:r>
            <a:endParaRPr lang="en-US" sz="750" dirty="0"/>
          </a:p>
        </p:txBody>
      </p:sp>
      <p:sp>
        <p:nvSpPr>
          <p:cNvPr id="226" name="Text 224"/>
          <p:cNvSpPr txBox="1"/>
          <p:nvPr/>
        </p:nvSpPr>
        <p:spPr>
          <a:xfrm>
            <a:off x="10058400" y="4965192"/>
            <a:ext cx="685800" cy="201168"/>
          </a:xfrm>
          <a:prstGeom prst="rect">
            <a:avLst/>
          </a:prstGeom>
          <a:noFill/>
          <a:ln/>
        </p:spPr>
        <p:txBody>
          <a:bodyPr wrap="square" lIns="0" tIns="0" rIns="0" bIns="0" rtlCol="0" anchor="ctr"/>
          <a:lstStyle/>
          <a:p>
            <a:pPr algn="r" indent="0" marL="0">
              <a:buNone/>
            </a:pPr>
            <a:r>
              <a:rPr lang="en-US" sz="680" b="1" dirty="0">
                <a:solidFill>
                  <a:srgbClr val="8FA1AC"/>
                </a:solidFill>
                <a:latin typeface="Poppins" pitchFamily="34" charset="0"/>
                <a:ea typeface="Poppins" pitchFamily="34" charset="-122"/>
                <a:cs typeface="Poppins" pitchFamily="34" charset="-120"/>
              </a:rPr>
              <a:t>new</a:t>
            </a:r>
            <a:endParaRPr lang="en-US" sz="680" dirty="0"/>
          </a:p>
        </p:txBody>
      </p:sp>
      <p:sp>
        <p:nvSpPr>
          <p:cNvPr id="227" name="Text 225"/>
          <p:cNvSpPr txBox="1"/>
          <p:nvPr/>
        </p:nvSpPr>
        <p:spPr>
          <a:xfrm>
            <a:off x="10835640" y="4965192"/>
            <a:ext cx="758952" cy="201168"/>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~8/wk</a:t>
            </a:r>
            <a:endParaRPr lang="en-US" sz="750" dirty="0"/>
          </a:p>
        </p:txBody>
      </p:sp>
      <p:sp>
        <p:nvSpPr>
          <p:cNvPr id="228" name="Text 226"/>
          <p:cNvSpPr txBox="1"/>
          <p:nvPr/>
        </p:nvSpPr>
        <p:spPr>
          <a:xfrm>
            <a:off x="8275320" y="5321808"/>
            <a:ext cx="3319272" cy="237744"/>
          </a:xfrm>
          <a:prstGeom prst="rect">
            <a:avLst/>
          </a:prstGeom>
          <a:noFill/>
          <a:ln/>
        </p:spPr>
        <p:txBody>
          <a:bodyPr wrap="square" lIns="0" tIns="0" rIns="0" bIns="0" rtlCol="0" anchor="t"/>
          <a:lstStyle/>
          <a:p>
            <a:pPr indent="0" marL="0">
              <a:buNone/>
            </a:pPr>
            <a:r>
              <a:rPr lang="en-US" sz="600" dirty="0">
                <a:solidFill>
                  <a:srgbClr val="8FA1AC"/>
                </a:solidFill>
                <a:latin typeface="Poppins" pitchFamily="34" charset="0"/>
                <a:ea typeface="Poppins" pitchFamily="34" charset="-122"/>
                <a:cs typeface="Poppins" pitchFamily="34" charset="-120"/>
              </a:rPr>
              <a:t>rate = 30-day sessions ÷ 4.3 · arrow = change vs the 5 Oct capture · new = first capture</a:t>
            </a:r>
            <a:endParaRPr lang="en-US" sz="600" dirty="0"/>
          </a:p>
        </p:txBody>
      </p:sp>
      <p:sp>
        <p:nvSpPr>
          <p:cNvPr id="229" name="Shape 227"/>
          <p:cNvSpPr/>
          <p:nvPr/>
        </p:nvSpPr>
        <p:spPr>
          <a:xfrm>
            <a:off x="411480" y="5669280"/>
            <a:ext cx="11365992" cy="786384"/>
          </a:xfrm>
          <a:prstGeom prst="roundRect">
            <a:avLst>
              <a:gd name="adj" fmla="val 8140"/>
            </a:avLst>
          </a:prstGeom>
          <a:solidFill>
            <a:srgbClr val="FFFFFF"/>
          </a:solidFill>
          <a:ln/>
          <a:effectLst>
            <a:outerShdw sx="100000" sy="100000" kx="0" ky="0" algn="bl" rotWithShape="0" blurRad="76200" dist="25400" dir="5400000">
              <a:srgbClr val="9AAAB5">
                <a:alpha val="35000"/>
              </a:srgbClr>
            </a:outerShdw>
          </a:effectLst>
        </p:spPr>
      </p:sp>
      <p:sp>
        <p:nvSpPr>
          <p:cNvPr id="230" name="Text 228"/>
          <p:cNvSpPr txBox="1"/>
          <p:nvPr/>
        </p:nvSpPr>
        <p:spPr>
          <a:xfrm>
            <a:off x="612648" y="5779008"/>
            <a:ext cx="11000232"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AI SUMMARY</a:t>
            </a:r>
            <a:endParaRPr lang="en-US" sz="1200" dirty="0"/>
          </a:p>
        </p:txBody>
      </p:sp>
      <p:sp>
        <p:nvSpPr>
          <p:cNvPr id="231" name="Text 229"/>
          <p:cNvSpPr txBox="1"/>
          <p:nvPr/>
        </p:nvSpPr>
        <p:spPr>
          <a:xfrm>
            <a:off x="612648" y="6089904"/>
            <a:ext cx="10954512" cy="237744"/>
          </a:xfrm>
          <a:prstGeom prst="rect">
            <a:avLst/>
          </a:prstGeom>
          <a:noFill/>
          <a:ln/>
        </p:spPr>
        <p:txBody>
          <a:bodyPr wrap="square" lIns="0" tIns="0" rIns="0" bIns="0" rtlCol="0" anchor="t"/>
          <a:lstStyle/>
          <a:p>
            <a:pPr indent="0" marL="0">
              <a:buNone/>
            </a:pPr>
            <a:r>
              <a:rPr lang="en-US" sz="900" b="1" dirty="0">
                <a:solidFill>
                  <a:srgbClr val="2C8394"/>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No Claude Admin capture this week — these are the 12 Oct numbers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and they are held, not refreshed. At that read: 39 of 47 active weekly but only 12 daily, down from 19 a week earlier, and stickiness had fallen on every surface except Claude Code (Cowork 33% → 24% DAU/MAU, Claude.ai 29% → 7%, Office Agents 11% → 0%, Claude Code 18% → 26%). October code output stood at 111,689 lines, 69% of it Nicolas Ibrahim. Next capture restores the series.</a:t>
            </a:r>
            <a:endParaRPr lang="en-US" sz="900" dirty="0"/>
          </a:p>
        </p:txBody>
      </p:sp>
      <p:sp>
        <p:nvSpPr>
          <p:cNvPr id="232" name="Shape 230"/>
          <p:cNvSpPr/>
          <p:nvPr/>
        </p:nvSpPr>
        <p:spPr>
          <a:xfrm>
            <a:off x="6653174" y="6510528"/>
            <a:ext cx="5124298" cy="256032"/>
          </a:xfrm>
          <a:prstGeom prst="roundRect">
            <a:avLst>
              <a:gd name="adj" fmla="val 46429"/>
            </a:avLst>
          </a:prstGeom>
          <a:solidFill>
            <a:srgbClr val="12293A"/>
          </a:solidFill>
          <a:ln/>
        </p:spPr>
      </p:sp>
      <p:sp>
        <p:nvSpPr>
          <p:cNvPr id="233" name="Text 231"/>
          <p:cNvSpPr txBox="1"/>
          <p:nvPr/>
        </p:nvSpPr>
        <p:spPr>
          <a:xfrm>
            <a:off x="6653174" y="6510528"/>
            <a:ext cx="5124298" cy="256032"/>
          </a:xfrm>
          <a:prstGeom prst="rect">
            <a:avLst/>
          </a:prstGeom>
          <a:noFill/>
          <a:ln/>
        </p:spPr>
        <p:txBody>
          <a:bodyPr wrap="square" lIns="0" tIns="0" rIns="0" bIns="0" rtlCol="0" anchor="ctr"/>
          <a:lstStyle/>
          <a:p>
            <a:pPr algn="ctr" indent="0" marL="0">
              <a:buNone/>
            </a:pPr>
            <a:r>
              <a:rPr lang="en-US" sz="700" b="1" dirty="0">
                <a:solidFill>
                  <a:srgbClr val="FFFFFF"/>
                </a:solidFill>
                <a:latin typeface="Poppins" pitchFamily="34" charset="0"/>
                <a:ea typeface="Poppins" pitchFamily="34" charset="-122"/>
                <a:cs typeface="Poppins" pitchFamily="34" charset="-120"/>
              </a:rPr>
              <a:t>Source: Claude Admin weekly capture (30d to 12 Oct) — no new capture this week</a:t>
            </a:r>
            <a:endParaRPr lang="en-US" sz="7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2F6F8"/>
        </a:solidFill>
      </p:bgPr>
    </p:bg>
    <p:spTree>
      <p:nvGrpSpPr>
        <p:cNvPr id="1" name=""/>
        <p:cNvGrpSpPr/>
        <p:nvPr/>
      </p:nvGrpSpPr>
      <p:grpSpPr>
        <a:xfrm>
          <a:off x="0" y="0"/>
          <a:ext cx="0" cy="0"/>
          <a:chOff x="0" y="0"/>
          <a:chExt cx="0" cy="0"/>
        </a:xfrm>
      </p:grpSpPr>
      <p:sp>
        <p:nvSpPr>
          <p:cNvPr id="2" name="Shape 0"/>
          <p:cNvSpPr/>
          <p:nvPr/>
        </p:nvSpPr>
        <p:spPr>
          <a:xfrm>
            <a:off x="0" y="0"/>
            <a:ext cx="12188952" cy="841248"/>
          </a:xfrm>
          <a:prstGeom prst="rect">
            <a:avLst/>
          </a:prstGeom>
          <a:solidFill>
            <a:srgbClr val="12293A"/>
          </a:solidFill>
          <a:ln/>
        </p:spPr>
      </p:sp>
      <p:sp>
        <p:nvSpPr>
          <p:cNvPr id="3" name="Shape 1"/>
          <p:cNvSpPr/>
          <p:nvPr/>
        </p:nvSpPr>
        <p:spPr>
          <a:xfrm>
            <a:off x="384048" y="155448"/>
            <a:ext cx="731520" cy="530352"/>
          </a:xfrm>
          <a:prstGeom prst="roundRect">
            <a:avLst>
              <a:gd name="adj" fmla="val 15517"/>
            </a:avLst>
          </a:prstGeom>
          <a:solidFill>
            <a:srgbClr val="FFFFFF"/>
          </a:solidFill>
          <a:ln/>
        </p:spPr>
      </p:sp>
      <p:sp>
        <p:nvSpPr>
          <p:cNvPr id="4" name="Text 2"/>
          <p:cNvSpPr txBox="1"/>
          <p:nvPr/>
        </p:nvSpPr>
        <p:spPr>
          <a:xfrm>
            <a:off x="384048" y="155448"/>
            <a:ext cx="731520" cy="530352"/>
          </a:xfrm>
          <a:prstGeom prst="rect">
            <a:avLst/>
          </a:prstGeom>
          <a:noFill/>
          <a:ln/>
        </p:spPr>
        <p:txBody>
          <a:bodyPr wrap="square" lIns="0" tIns="0" rIns="0" bIns="0" rtlCol="0" anchor="ctr"/>
          <a:lstStyle/>
          <a:p>
            <a:pPr algn="ctr" indent="0" marL="0">
              <a:buNone/>
            </a:pPr>
            <a:r>
              <a:rPr lang="en-US" sz="1500" b="1" dirty="0">
                <a:solidFill>
                  <a:srgbClr val="12293A"/>
                </a:solidFill>
                <a:latin typeface="Poppins" pitchFamily="34" charset="0"/>
                <a:ea typeface="Poppins" pitchFamily="34" charset="-122"/>
                <a:cs typeface="Poppins" pitchFamily="34" charset="-120"/>
              </a:rPr>
              <a:t>H&amp;L</a:t>
            </a:r>
            <a:endParaRPr lang="en-US" sz="1500" dirty="0"/>
          </a:p>
        </p:txBody>
      </p:sp>
      <p:sp>
        <p:nvSpPr>
          <p:cNvPr id="5" name="Text 3"/>
          <p:cNvSpPr txBox="1"/>
          <p:nvPr/>
        </p:nvSpPr>
        <p:spPr>
          <a:xfrm>
            <a:off x="1298448" y="54864"/>
            <a:ext cx="7223760" cy="475488"/>
          </a:xfrm>
          <a:prstGeom prst="rect">
            <a:avLst/>
          </a:prstGeom>
          <a:noFill/>
          <a:ln/>
        </p:spPr>
        <p:txBody>
          <a:bodyPr wrap="square" lIns="0" tIns="0" rIns="0" bIns="0" rtlCol="0" anchor="ctr"/>
          <a:lstStyle/>
          <a:p>
            <a:pPr indent="0" marL="0">
              <a:buNone/>
            </a:pPr>
            <a:r>
              <a:rPr lang="en-US" sz="2300" b="1" dirty="0">
                <a:solidFill>
                  <a:srgbClr val="FFFFFF"/>
                </a:solidFill>
                <a:latin typeface="Poppins" pitchFamily="34" charset="0"/>
                <a:ea typeface="Poppins" pitchFamily="34" charset="-122"/>
                <a:cs typeface="Poppins" pitchFamily="34" charset="-120"/>
              </a:rPr>
              <a:t>Projects — Portfolio Status</a:t>
            </a:r>
            <a:endParaRPr lang="en-US" sz="2300" dirty="0"/>
          </a:p>
        </p:txBody>
      </p:sp>
      <p:sp>
        <p:nvSpPr>
          <p:cNvPr id="6" name="Shape 4"/>
          <p:cNvSpPr/>
          <p:nvPr/>
        </p:nvSpPr>
        <p:spPr>
          <a:xfrm>
            <a:off x="8686800" y="246888"/>
            <a:ext cx="1965960" cy="347472"/>
          </a:xfrm>
          <a:prstGeom prst="roundRect">
            <a:avLst>
              <a:gd name="adj" fmla="val 50000"/>
            </a:avLst>
          </a:prstGeom>
          <a:solidFill>
            <a:srgbClr val="24435C"/>
          </a:solidFill>
          <a:ln w="9525">
            <a:solidFill>
              <a:srgbClr val="FFFFFF">
                <a:alpha val="45000"/>
              </a:srgbClr>
            </a:solidFill>
            <a:prstDash val="solid"/>
          </a:ln>
        </p:spPr>
      </p:sp>
      <p:sp>
        <p:nvSpPr>
          <p:cNvPr id="7" name="Text 5"/>
          <p:cNvSpPr txBox="1"/>
          <p:nvPr/>
        </p:nvSpPr>
        <p:spPr>
          <a:xfrm>
            <a:off x="8686800" y="246888"/>
            <a:ext cx="1965960" cy="347472"/>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4  ·  BUILDING THE FUTURE?</a:t>
            </a:r>
            <a:endParaRPr lang="en-US" sz="850" dirty="0"/>
          </a:p>
        </p:txBody>
      </p:sp>
      <p:sp>
        <p:nvSpPr>
          <p:cNvPr id="8" name="Shape 6"/>
          <p:cNvSpPr/>
          <p:nvPr/>
        </p:nvSpPr>
        <p:spPr>
          <a:xfrm>
            <a:off x="10872216" y="0"/>
            <a:ext cx="841248" cy="841248"/>
          </a:xfrm>
          <a:prstGeom prst="ellipse">
            <a:avLst/>
          </a:prstGeom>
          <a:solidFill>
            <a:srgbClr val="1C5765"/>
          </a:solidFill>
          <a:ln/>
        </p:spPr>
      </p:sp>
      <p:sp>
        <p:nvSpPr>
          <p:cNvPr id="9" name="Shape 7"/>
          <p:cNvSpPr/>
          <p:nvPr/>
        </p:nvSpPr>
        <p:spPr>
          <a:xfrm>
            <a:off x="10968228" y="96012"/>
            <a:ext cx="649224" cy="649224"/>
          </a:xfrm>
          <a:prstGeom prst="ellipse">
            <a:avLst/>
          </a:prstGeom>
          <a:solidFill>
            <a:srgbClr val="2C8394"/>
          </a:solidFill>
          <a:ln/>
        </p:spPr>
      </p:sp>
      <p:sp>
        <p:nvSpPr>
          <p:cNvPr id="10" name="Shape 8"/>
          <p:cNvSpPr/>
          <p:nvPr/>
        </p:nvSpPr>
        <p:spPr>
          <a:xfrm>
            <a:off x="11064240" y="192024"/>
            <a:ext cx="457200" cy="457200"/>
          </a:xfrm>
          <a:prstGeom prst="ellipse">
            <a:avLst/>
          </a:prstGeom>
          <a:solidFill>
            <a:srgbClr val="6FAEBB"/>
          </a:solidFill>
          <a:ln/>
        </p:spPr>
      </p:sp>
      <p:sp>
        <p:nvSpPr>
          <p:cNvPr id="11" name="Shape 9"/>
          <p:cNvSpPr/>
          <p:nvPr/>
        </p:nvSpPr>
        <p:spPr>
          <a:xfrm>
            <a:off x="11160252" y="288036"/>
            <a:ext cx="265176" cy="265176"/>
          </a:xfrm>
          <a:prstGeom prst="ellipse">
            <a:avLst/>
          </a:prstGeom>
          <a:solidFill>
            <a:srgbClr val="E4F1F4"/>
          </a:solidFill>
          <a:ln/>
        </p:spPr>
      </p:sp>
      <p:sp>
        <p:nvSpPr>
          <p:cNvPr id="12" name="Text 10"/>
          <p:cNvSpPr txBox="1"/>
          <p:nvPr/>
        </p:nvSpPr>
        <p:spPr>
          <a:xfrm>
            <a:off x="777240" y="960120"/>
            <a:ext cx="2743200" cy="237744"/>
          </a:xfrm>
          <a:prstGeom prst="rect">
            <a:avLst/>
          </a:prstGeom>
          <a:noFill/>
          <a:ln/>
        </p:spPr>
        <p:txBody>
          <a:bodyPr wrap="square" lIns="0" tIns="0" rIns="0" bIns="0" rtlCol="0" anchor="ctr"/>
          <a:lstStyle/>
          <a:p>
            <a:pPr indent="0" marL="0">
              <a:buNone/>
            </a:pPr>
            <a:r>
              <a:rPr lang="en-US" sz="900" b="1" dirty="0">
                <a:solidFill>
                  <a:srgbClr val="2C8394"/>
                </a:solidFill>
                <a:latin typeface="Poppins" pitchFamily="34" charset="0"/>
                <a:ea typeface="Poppins" pitchFamily="34" charset="-122"/>
                <a:cs typeface="Poppins" pitchFamily="34" charset="-120"/>
              </a:rPr>
              <a:t>PROJECT</a:t>
            </a:r>
            <a:endParaRPr lang="en-US" sz="900" dirty="0"/>
          </a:p>
        </p:txBody>
      </p:sp>
      <p:sp>
        <p:nvSpPr>
          <p:cNvPr id="13" name="Text 11"/>
          <p:cNvSpPr txBox="1"/>
          <p:nvPr/>
        </p:nvSpPr>
        <p:spPr>
          <a:xfrm>
            <a:off x="4526280" y="960120"/>
            <a:ext cx="2743200" cy="237744"/>
          </a:xfrm>
          <a:prstGeom prst="rect">
            <a:avLst/>
          </a:prstGeom>
          <a:noFill/>
          <a:ln/>
        </p:spPr>
        <p:txBody>
          <a:bodyPr wrap="square" lIns="0" tIns="0" rIns="0" bIns="0" rtlCol="0" anchor="ctr"/>
          <a:lstStyle/>
          <a:p>
            <a:pPr indent="0" marL="0">
              <a:buNone/>
            </a:pPr>
            <a:r>
              <a:rPr lang="en-US" sz="900" b="1" dirty="0">
                <a:solidFill>
                  <a:srgbClr val="2C8394"/>
                </a:solidFill>
                <a:latin typeface="Poppins" pitchFamily="34" charset="0"/>
                <a:ea typeface="Poppins" pitchFamily="34" charset="-122"/>
                <a:cs typeface="Poppins" pitchFamily="34" charset="-120"/>
              </a:rPr>
              <a:t>STATUS</a:t>
            </a:r>
            <a:endParaRPr lang="en-US" sz="900" dirty="0"/>
          </a:p>
        </p:txBody>
      </p:sp>
      <p:sp>
        <p:nvSpPr>
          <p:cNvPr id="14" name="Text 12"/>
          <p:cNvSpPr txBox="1"/>
          <p:nvPr/>
        </p:nvSpPr>
        <p:spPr>
          <a:xfrm>
            <a:off x="5806440" y="960120"/>
            <a:ext cx="2743200" cy="237744"/>
          </a:xfrm>
          <a:prstGeom prst="rect">
            <a:avLst/>
          </a:prstGeom>
          <a:noFill/>
          <a:ln/>
        </p:spPr>
        <p:txBody>
          <a:bodyPr wrap="square" lIns="0" tIns="0" rIns="0" bIns="0" rtlCol="0" anchor="ctr"/>
          <a:lstStyle/>
          <a:p>
            <a:pPr indent="0" marL="0">
              <a:buNone/>
            </a:pPr>
            <a:r>
              <a:rPr lang="en-US" sz="900" b="1" dirty="0">
                <a:solidFill>
                  <a:srgbClr val="2C8394"/>
                </a:solidFill>
                <a:latin typeface="Poppins" pitchFamily="34" charset="0"/>
                <a:ea typeface="Poppins" pitchFamily="34" charset="-122"/>
                <a:cs typeface="Poppins" pitchFamily="34" charset="-120"/>
              </a:rPr>
              <a:t>CURRENT STATE</a:t>
            </a:r>
            <a:endParaRPr lang="en-US" sz="900" dirty="0"/>
          </a:p>
        </p:txBody>
      </p:sp>
      <p:sp>
        <p:nvSpPr>
          <p:cNvPr id="15" name="Text 13"/>
          <p:cNvSpPr txBox="1"/>
          <p:nvPr/>
        </p:nvSpPr>
        <p:spPr>
          <a:xfrm>
            <a:off x="8915400" y="960120"/>
            <a:ext cx="2743200" cy="237744"/>
          </a:xfrm>
          <a:prstGeom prst="rect">
            <a:avLst/>
          </a:prstGeom>
          <a:noFill/>
          <a:ln/>
        </p:spPr>
        <p:txBody>
          <a:bodyPr wrap="square" lIns="0" tIns="0" rIns="0" bIns="0" rtlCol="0" anchor="ctr"/>
          <a:lstStyle/>
          <a:p>
            <a:pPr indent="0" marL="0">
              <a:buNone/>
            </a:pPr>
            <a:r>
              <a:rPr lang="en-US" sz="900" b="1" dirty="0">
                <a:solidFill>
                  <a:srgbClr val="2C8394"/>
                </a:solidFill>
                <a:latin typeface="Poppins" pitchFamily="34" charset="0"/>
                <a:ea typeface="Poppins" pitchFamily="34" charset="-122"/>
                <a:cs typeface="Poppins" pitchFamily="34" charset="-120"/>
              </a:rPr>
              <a:t>ROADBLOCK</a:t>
            </a:r>
            <a:endParaRPr lang="en-US" sz="900" dirty="0"/>
          </a:p>
        </p:txBody>
      </p:sp>
      <p:sp>
        <p:nvSpPr>
          <p:cNvPr id="16" name="Shape 14"/>
          <p:cNvSpPr/>
          <p:nvPr/>
        </p:nvSpPr>
        <p:spPr>
          <a:xfrm>
            <a:off x="548640" y="1298448"/>
            <a:ext cx="11091672" cy="1115568"/>
          </a:xfrm>
          <a:prstGeom prst="roundRect">
            <a:avLst>
              <a:gd name="adj" fmla="val 5738"/>
            </a:avLst>
          </a:prstGeom>
          <a:solidFill>
            <a:srgbClr val="FFFFFF"/>
          </a:solidFill>
          <a:ln/>
          <a:effectLst>
            <a:outerShdw sx="100000" sy="100000" kx="0" ky="0" algn="bl" rotWithShape="0" blurRad="76200" dist="25400" dir="5400000">
              <a:srgbClr val="9AAAB5">
                <a:alpha val="35000"/>
              </a:srgbClr>
            </a:outerShdw>
          </a:effectLst>
        </p:spPr>
      </p:sp>
      <p:sp>
        <p:nvSpPr>
          <p:cNvPr id="17" name="Text 15"/>
          <p:cNvSpPr txBox="1"/>
          <p:nvPr/>
        </p:nvSpPr>
        <p:spPr>
          <a:xfrm>
            <a:off x="777240" y="1408176"/>
            <a:ext cx="3566160" cy="310896"/>
          </a:xfrm>
          <a:prstGeom prst="rect">
            <a:avLst/>
          </a:prstGeom>
          <a:noFill/>
          <a:ln/>
        </p:spPr>
        <p:txBody>
          <a:bodyPr wrap="square" lIns="0" tIns="0" rIns="0" bIns="0" rtlCol="0" anchor="ctr"/>
          <a:lstStyle/>
          <a:p>
            <a:pPr indent="0" marL="0">
              <a:buNone/>
            </a:pPr>
            <a:r>
              <a:rPr lang="en-US" sz="1300" b="1" dirty="0">
                <a:solidFill>
                  <a:srgbClr val="12293A"/>
                </a:solidFill>
                <a:latin typeface="Poppins" pitchFamily="34" charset="0"/>
                <a:ea typeface="Poppins" pitchFamily="34" charset="-122"/>
                <a:cs typeface="Poppins" pitchFamily="34" charset="-120"/>
              </a:rPr>
              <a:t>HubSpot Migration</a:t>
            </a:r>
            <a:endParaRPr lang="en-US" sz="1300" dirty="0"/>
          </a:p>
        </p:txBody>
      </p:sp>
      <p:sp>
        <p:nvSpPr>
          <p:cNvPr id="18" name="Text 16"/>
          <p:cNvSpPr txBox="1"/>
          <p:nvPr/>
        </p:nvSpPr>
        <p:spPr>
          <a:xfrm>
            <a:off x="777240" y="1755648"/>
            <a:ext cx="3566160" cy="237744"/>
          </a:xfrm>
          <a:prstGeom prst="rect">
            <a:avLst/>
          </a:prstGeom>
          <a:noFill/>
          <a:ln/>
        </p:spPr>
        <p:txBody>
          <a:bodyPr wrap="square" lIns="0" tIns="0" rIns="0" bIns="0" rtlCol="0" anchor="ctr"/>
          <a:lstStyle/>
          <a:p>
            <a:pPr indent="0" marL="0">
              <a:buNone/>
            </a:pPr>
            <a:r>
              <a:rPr lang="en-US" sz="850" dirty="0">
                <a:solidFill>
                  <a:srgbClr val="8FA1AC"/>
                </a:solidFill>
                <a:latin typeface="Poppins" pitchFamily="34" charset="0"/>
                <a:ea typeface="Poppins" pitchFamily="34" charset="-122"/>
                <a:cs typeface="Poppins" pitchFamily="34" charset="-120"/>
              </a:rPr>
              <a:t>Shipped · live 2026-09-08</a:t>
            </a:r>
            <a:endParaRPr lang="en-US" sz="850" dirty="0"/>
          </a:p>
        </p:txBody>
      </p:sp>
      <p:sp>
        <p:nvSpPr>
          <p:cNvPr id="19" name="Text 17"/>
          <p:cNvSpPr txBox="1"/>
          <p:nvPr/>
        </p:nvSpPr>
        <p:spPr>
          <a:xfrm>
            <a:off x="777240" y="2048256"/>
            <a:ext cx="3566160" cy="237744"/>
          </a:xfrm>
          <a:prstGeom prst="rect">
            <a:avLst/>
          </a:prstGeom>
          <a:noFill/>
          <a:ln/>
        </p:spPr>
        <p:txBody>
          <a:bodyPr wrap="square" lIns="0" tIns="0" rIns="0" bIns="0" rtlCol="0" anchor="ctr"/>
          <a:lstStyle/>
          <a:p>
            <a:pPr indent="0" marL="0">
              <a:buNone/>
            </a:pPr>
            <a:r>
              <a:rPr lang="en-US" sz="800" dirty="0">
                <a:solidFill>
                  <a:srgbClr val="8FA1AC"/>
                </a:solidFill>
                <a:latin typeface="Poppins" pitchFamily="34" charset="0"/>
                <a:ea typeface="Poppins" pitchFamily="34" charset="-122"/>
                <a:cs typeface="Poppins" pitchFamily="34" charset="-120"/>
              </a:rPr>
              <a:t>Owner Izaak Horner</a:t>
            </a:r>
            <a:endParaRPr lang="en-US" sz="800" dirty="0"/>
          </a:p>
        </p:txBody>
      </p:sp>
      <p:sp>
        <p:nvSpPr>
          <p:cNvPr id="20" name="Shape 18"/>
          <p:cNvSpPr/>
          <p:nvPr/>
        </p:nvSpPr>
        <p:spPr>
          <a:xfrm>
            <a:off x="4526280" y="1591056"/>
            <a:ext cx="1143000" cy="292608"/>
          </a:xfrm>
          <a:prstGeom prst="roundRect">
            <a:avLst>
              <a:gd name="adj" fmla="val 50000"/>
            </a:avLst>
          </a:prstGeom>
          <a:solidFill>
            <a:srgbClr val="2C8394"/>
          </a:solidFill>
          <a:ln/>
          <a:effectLst>
            <a:outerShdw sx="100000" sy="100000" kx="0" ky="0" algn="bl" rotWithShape="0" blurRad="76200" dist="25400" dir="5400000">
              <a:srgbClr val="9AAAB5">
                <a:alpha val="35000"/>
              </a:srgbClr>
            </a:outerShdw>
          </a:effectLst>
        </p:spPr>
      </p:sp>
      <p:sp>
        <p:nvSpPr>
          <p:cNvPr id="21" name="Text 19"/>
          <p:cNvSpPr txBox="1"/>
          <p:nvPr/>
        </p:nvSpPr>
        <p:spPr>
          <a:xfrm>
            <a:off x="4526280" y="1591056"/>
            <a:ext cx="1143000"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DONE</a:t>
            </a:r>
            <a:endParaRPr lang="en-US" sz="850" dirty="0"/>
          </a:p>
        </p:txBody>
      </p:sp>
      <p:sp>
        <p:nvSpPr>
          <p:cNvPr id="22" name="Text 20"/>
          <p:cNvSpPr txBox="1"/>
          <p:nvPr/>
        </p:nvSpPr>
        <p:spPr>
          <a:xfrm>
            <a:off x="5806440" y="1408176"/>
            <a:ext cx="2971800" cy="914400"/>
          </a:xfrm>
          <a:prstGeom prst="rect">
            <a:avLst/>
          </a:prstGeom>
          <a:noFill/>
          <a:ln/>
        </p:spPr>
        <p:txBody>
          <a:bodyPr wrap="square" lIns="0" tIns="0" rIns="0" bIns="0" rtlCol="0" anchor="t"/>
          <a:lstStyle/>
          <a:p>
            <a:pPr indent="0" marL="0">
              <a:buNone/>
            </a:pPr>
            <a:r>
              <a:rPr lang="en-US" sz="850" dirty="0">
                <a:solidFill>
                  <a:srgbClr val="3A4B57"/>
                </a:solidFill>
                <a:latin typeface="Poppins" pitchFamily="34" charset="0"/>
                <a:ea typeface="Poppins" pitchFamily="34" charset="-122"/>
                <a:cs typeface="Poppins" pitchFamily="34" charset="-120"/>
              </a:rPr>
              <a:t>Cutover complete</a:t>
            </a:r>
            <a:endParaRPr lang="en-US" sz="850" dirty="0"/>
          </a:p>
        </p:txBody>
      </p:sp>
      <p:sp>
        <p:nvSpPr>
          <p:cNvPr id="23" name="Text 21"/>
          <p:cNvSpPr txBox="1"/>
          <p:nvPr/>
        </p:nvSpPr>
        <p:spPr>
          <a:xfrm>
            <a:off x="8915400" y="1408176"/>
            <a:ext cx="2606040" cy="914400"/>
          </a:xfrm>
          <a:prstGeom prst="rect">
            <a:avLst/>
          </a:prstGeom>
          <a:noFill/>
          <a:ln/>
        </p:spPr>
        <p:txBody>
          <a:bodyPr wrap="square" lIns="0" tIns="0" rIns="0" bIns="0" rtlCol="0" anchor="t"/>
          <a:lstStyle/>
          <a:p>
            <a:pPr indent="0" marL="0">
              <a:buNone/>
            </a:pPr>
            <a:r>
              <a:rPr lang="en-US" sz="800" dirty="0">
                <a:solidFill>
                  <a:srgbClr val="B4552D"/>
                </a:solidFill>
                <a:latin typeface="Poppins" pitchFamily="34" charset="0"/>
                <a:ea typeface="Poppins" pitchFamily="34" charset="-122"/>
                <a:cs typeface="Poppins" pitchFamily="34" charset="-120"/>
              </a:rPr>
              <a:t>N/A</a:t>
            </a:r>
            <a:endParaRPr lang="en-US" sz="800" dirty="0"/>
          </a:p>
        </p:txBody>
      </p:sp>
      <p:sp>
        <p:nvSpPr>
          <p:cNvPr id="24" name="Shape 22"/>
          <p:cNvSpPr/>
          <p:nvPr/>
        </p:nvSpPr>
        <p:spPr>
          <a:xfrm>
            <a:off x="548640" y="2542032"/>
            <a:ext cx="11091672" cy="1115568"/>
          </a:xfrm>
          <a:prstGeom prst="roundRect">
            <a:avLst>
              <a:gd name="adj" fmla="val 5738"/>
            </a:avLst>
          </a:prstGeom>
          <a:solidFill>
            <a:srgbClr val="FFFFFF"/>
          </a:solidFill>
          <a:ln/>
          <a:effectLst>
            <a:outerShdw sx="100000" sy="100000" kx="0" ky="0" algn="bl" rotWithShape="0" blurRad="76200" dist="25400" dir="5400000">
              <a:srgbClr val="9AAAB5">
                <a:alpha val="35000"/>
              </a:srgbClr>
            </a:outerShdw>
          </a:effectLst>
        </p:spPr>
      </p:sp>
      <p:sp>
        <p:nvSpPr>
          <p:cNvPr id="25" name="Text 23"/>
          <p:cNvSpPr txBox="1"/>
          <p:nvPr/>
        </p:nvSpPr>
        <p:spPr>
          <a:xfrm>
            <a:off x="777240" y="2651760"/>
            <a:ext cx="3566160" cy="310896"/>
          </a:xfrm>
          <a:prstGeom prst="rect">
            <a:avLst/>
          </a:prstGeom>
          <a:noFill/>
          <a:ln/>
        </p:spPr>
        <p:txBody>
          <a:bodyPr wrap="square" lIns="0" tIns="0" rIns="0" bIns="0" rtlCol="0" anchor="ctr"/>
          <a:lstStyle/>
          <a:p>
            <a:pPr indent="0" marL="0">
              <a:buNone/>
            </a:pPr>
            <a:r>
              <a:rPr lang="en-US" sz="1300" b="1" dirty="0">
                <a:solidFill>
                  <a:srgbClr val="12293A"/>
                </a:solidFill>
                <a:latin typeface="Poppins" pitchFamily="34" charset="0"/>
                <a:ea typeface="Poppins" pitchFamily="34" charset="-122"/>
                <a:cs typeface="Poppins" pitchFamily="34" charset="-120"/>
              </a:rPr>
              <a:t>AI Support Agents — Email + Voice</a:t>
            </a:r>
            <a:endParaRPr lang="en-US" sz="1300" dirty="0"/>
          </a:p>
        </p:txBody>
      </p:sp>
      <p:sp>
        <p:nvSpPr>
          <p:cNvPr id="26" name="Text 24"/>
          <p:cNvSpPr txBox="1"/>
          <p:nvPr/>
        </p:nvSpPr>
        <p:spPr>
          <a:xfrm>
            <a:off x="777240" y="2999232"/>
            <a:ext cx="3566160" cy="237744"/>
          </a:xfrm>
          <a:prstGeom prst="rect">
            <a:avLst/>
          </a:prstGeom>
          <a:noFill/>
          <a:ln/>
        </p:spPr>
        <p:txBody>
          <a:bodyPr wrap="square" lIns="0" tIns="0" rIns="0" bIns="0" rtlCol="0" anchor="ctr"/>
          <a:lstStyle/>
          <a:p>
            <a:pPr indent="0" marL="0">
              <a:buNone/>
            </a:pPr>
            <a:r>
              <a:rPr lang="en-US" sz="850" dirty="0">
                <a:solidFill>
                  <a:srgbClr val="8FA1AC"/>
                </a:solidFill>
                <a:latin typeface="Poppins" pitchFamily="34" charset="0"/>
                <a:ea typeface="Poppins" pitchFamily="34" charset="-122"/>
                <a:cs typeface="Poppins" pitchFamily="34" charset="-120"/>
              </a:rPr>
              <a:t>Rollout</a:t>
            </a:r>
            <a:endParaRPr lang="en-US" sz="850" dirty="0"/>
          </a:p>
        </p:txBody>
      </p:sp>
      <p:sp>
        <p:nvSpPr>
          <p:cNvPr id="27" name="Text 25"/>
          <p:cNvSpPr txBox="1"/>
          <p:nvPr/>
        </p:nvSpPr>
        <p:spPr>
          <a:xfrm>
            <a:off x="777240" y="3291840"/>
            <a:ext cx="3566160" cy="237744"/>
          </a:xfrm>
          <a:prstGeom prst="rect">
            <a:avLst/>
          </a:prstGeom>
          <a:noFill/>
          <a:ln/>
        </p:spPr>
        <p:txBody>
          <a:bodyPr wrap="square" lIns="0" tIns="0" rIns="0" bIns="0" rtlCol="0" anchor="ctr"/>
          <a:lstStyle/>
          <a:p>
            <a:pPr indent="0" marL="0">
              <a:buNone/>
            </a:pPr>
            <a:r>
              <a:rPr lang="en-US" sz="800" dirty="0">
                <a:solidFill>
                  <a:srgbClr val="8FA1AC"/>
                </a:solidFill>
                <a:latin typeface="Poppins" pitchFamily="34" charset="0"/>
                <a:ea typeface="Poppins" pitchFamily="34" charset="-122"/>
                <a:cs typeface="Poppins" pitchFamily="34" charset="-120"/>
              </a:rPr>
              <a:t>Owner Izaak Horner / Nicolas Ibrahim</a:t>
            </a:r>
            <a:endParaRPr lang="en-US" sz="800" dirty="0"/>
          </a:p>
        </p:txBody>
      </p:sp>
      <p:sp>
        <p:nvSpPr>
          <p:cNvPr id="28" name="Shape 26"/>
          <p:cNvSpPr/>
          <p:nvPr/>
        </p:nvSpPr>
        <p:spPr>
          <a:xfrm>
            <a:off x="4526280" y="2834640"/>
            <a:ext cx="1143000" cy="292608"/>
          </a:xfrm>
          <a:prstGeom prst="roundRect">
            <a:avLst>
              <a:gd name="adj" fmla="val 50000"/>
            </a:avLst>
          </a:prstGeom>
          <a:solidFill>
            <a:srgbClr val="3D8F5F"/>
          </a:solidFill>
          <a:ln/>
          <a:effectLst>
            <a:outerShdw sx="100000" sy="100000" kx="0" ky="0" algn="bl" rotWithShape="0" blurRad="76200" dist="25400" dir="5400000">
              <a:srgbClr val="9AAAB5">
                <a:alpha val="35000"/>
              </a:srgbClr>
            </a:outerShdw>
          </a:effectLst>
        </p:spPr>
      </p:sp>
      <p:sp>
        <p:nvSpPr>
          <p:cNvPr id="29" name="Text 27"/>
          <p:cNvSpPr txBox="1"/>
          <p:nvPr/>
        </p:nvSpPr>
        <p:spPr>
          <a:xfrm>
            <a:off x="4526280" y="2834640"/>
            <a:ext cx="1143000"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ON TRACK</a:t>
            </a:r>
            <a:endParaRPr lang="en-US" sz="850" dirty="0"/>
          </a:p>
        </p:txBody>
      </p:sp>
      <p:sp>
        <p:nvSpPr>
          <p:cNvPr id="30" name="Text 28"/>
          <p:cNvSpPr txBox="1"/>
          <p:nvPr/>
        </p:nvSpPr>
        <p:spPr>
          <a:xfrm>
            <a:off x="5806440" y="2651760"/>
            <a:ext cx="2971800" cy="914400"/>
          </a:xfrm>
          <a:prstGeom prst="rect">
            <a:avLst/>
          </a:prstGeom>
          <a:noFill/>
          <a:ln/>
        </p:spPr>
        <p:txBody>
          <a:bodyPr wrap="square" lIns="0" tIns="0" rIns="0" bIns="0" rtlCol="0" anchor="t"/>
          <a:lstStyle/>
          <a:p>
            <a:pPr indent="0" marL="0">
              <a:buNone/>
            </a:pPr>
            <a:r>
              <a:rPr lang="en-US" sz="850" dirty="0">
                <a:solidFill>
                  <a:srgbClr val="3A4B57"/>
                </a:solidFill>
                <a:latin typeface="Poppins" pitchFamily="34" charset="0"/>
                <a:ea typeface="Poppins" pitchFamily="34" charset="-122"/>
                <a:cs typeface="Poppins" pitchFamily="34" charset="-120"/>
              </a:rPr>
              <a:t>Live in HubSpot with drafts and voice triage handover, Autonomous launching on Sysnet and Exceed and gates will start to open progressively.</a:t>
            </a:r>
            <a:endParaRPr lang="en-US" sz="850" dirty="0"/>
          </a:p>
        </p:txBody>
      </p:sp>
      <p:sp>
        <p:nvSpPr>
          <p:cNvPr id="31" name="Text 29"/>
          <p:cNvSpPr txBox="1"/>
          <p:nvPr/>
        </p:nvSpPr>
        <p:spPr>
          <a:xfrm>
            <a:off x="8915400" y="2651760"/>
            <a:ext cx="2606040" cy="914400"/>
          </a:xfrm>
          <a:prstGeom prst="rect">
            <a:avLst/>
          </a:prstGeom>
          <a:noFill/>
          <a:ln/>
        </p:spPr>
        <p:txBody>
          <a:bodyPr wrap="square" lIns="0" tIns="0" rIns="0" bIns="0" rtlCol="0" anchor="t"/>
          <a:lstStyle/>
          <a:p>
            <a:pPr indent="0" marL="0">
              <a:buNone/>
            </a:pPr>
            <a:r>
              <a:rPr lang="en-US" sz="800" dirty="0">
                <a:solidFill>
                  <a:srgbClr val="B4552D"/>
                </a:solidFill>
                <a:latin typeface="Poppins" pitchFamily="34" charset="0"/>
                <a:ea typeface="Poppins" pitchFamily="34" charset="-122"/>
                <a:cs typeface="Poppins" pitchFamily="34" charset="-120"/>
              </a:rPr>
              <a:t>N/A – just cautiously rolling out.</a:t>
            </a:r>
            <a:endParaRPr lang="en-US" sz="800" dirty="0"/>
          </a:p>
        </p:txBody>
      </p:sp>
      <p:sp>
        <p:nvSpPr>
          <p:cNvPr id="32" name="Shape 30"/>
          <p:cNvSpPr/>
          <p:nvPr/>
        </p:nvSpPr>
        <p:spPr>
          <a:xfrm>
            <a:off x="548640" y="3785616"/>
            <a:ext cx="11091672" cy="1115568"/>
          </a:xfrm>
          <a:prstGeom prst="roundRect">
            <a:avLst>
              <a:gd name="adj" fmla="val 5738"/>
            </a:avLst>
          </a:prstGeom>
          <a:solidFill>
            <a:srgbClr val="FFFFFF"/>
          </a:solidFill>
          <a:ln/>
          <a:effectLst>
            <a:outerShdw sx="100000" sy="100000" kx="0" ky="0" algn="bl" rotWithShape="0" blurRad="76200" dist="25400" dir="5400000">
              <a:srgbClr val="9AAAB5">
                <a:alpha val="35000"/>
              </a:srgbClr>
            </a:outerShdw>
          </a:effectLst>
        </p:spPr>
      </p:sp>
      <p:sp>
        <p:nvSpPr>
          <p:cNvPr id="33" name="Text 31"/>
          <p:cNvSpPr txBox="1"/>
          <p:nvPr/>
        </p:nvSpPr>
        <p:spPr>
          <a:xfrm>
            <a:off x="777240" y="3895344"/>
            <a:ext cx="3566160" cy="310896"/>
          </a:xfrm>
          <a:prstGeom prst="rect">
            <a:avLst/>
          </a:prstGeom>
          <a:noFill/>
          <a:ln/>
        </p:spPr>
        <p:txBody>
          <a:bodyPr wrap="square" lIns="0" tIns="0" rIns="0" bIns="0" rtlCol="0" anchor="ctr"/>
          <a:lstStyle/>
          <a:p>
            <a:pPr indent="0" marL="0">
              <a:buNone/>
            </a:pPr>
            <a:r>
              <a:rPr lang="en-US" sz="1300" b="1" dirty="0">
                <a:solidFill>
                  <a:srgbClr val="12293A"/>
                </a:solidFill>
                <a:latin typeface="Poppins" pitchFamily="34" charset="0"/>
                <a:ea typeface="Poppins" pitchFamily="34" charset="-122"/>
                <a:cs typeface="Poppins" pitchFamily="34" charset="-120"/>
              </a:rPr>
              <a:t>Leadership Reporting &amp; Hosting</a:t>
            </a:r>
            <a:endParaRPr lang="en-US" sz="1300" dirty="0"/>
          </a:p>
        </p:txBody>
      </p:sp>
      <p:sp>
        <p:nvSpPr>
          <p:cNvPr id="34" name="Text 32"/>
          <p:cNvSpPr txBox="1"/>
          <p:nvPr/>
        </p:nvSpPr>
        <p:spPr>
          <a:xfrm>
            <a:off x="777240" y="4242816"/>
            <a:ext cx="3566160" cy="237744"/>
          </a:xfrm>
          <a:prstGeom prst="rect">
            <a:avLst/>
          </a:prstGeom>
          <a:noFill/>
          <a:ln/>
        </p:spPr>
        <p:txBody>
          <a:bodyPr wrap="square" lIns="0" tIns="0" rIns="0" bIns="0" rtlCol="0" anchor="ctr"/>
          <a:lstStyle/>
          <a:p>
            <a:pPr indent="0" marL="0">
              <a:buNone/>
            </a:pPr>
            <a:r>
              <a:rPr lang="en-US" sz="850" dirty="0">
                <a:solidFill>
                  <a:srgbClr val="8FA1AC"/>
                </a:solidFill>
                <a:latin typeface="Poppins" pitchFamily="34" charset="0"/>
                <a:ea typeface="Poppins" pitchFamily="34" charset="-122"/>
                <a:cs typeface="Poppins" pitchFamily="34" charset="-120"/>
              </a:rPr>
              <a:t>Ship</a:t>
            </a:r>
            <a:endParaRPr lang="en-US" sz="850" dirty="0"/>
          </a:p>
        </p:txBody>
      </p:sp>
      <p:sp>
        <p:nvSpPr>
          <p:cNvPr id="35" name="Text 33"/>
          <p:cNvSpPr txBox="1"/>
          <p:nvPr/>
        </p:nvSpPr>
        <p:spPr>
          <a:xfrm>
            <a:off x="777240" y="4535424"/>
            <a:ext cx="3566160" cy="237744"/>
          </a:xfrm>
          <a:prstGeom prst="rect">
            <a:avLst/>
          </a:prstGeom>
          <a:noFill/>
          <a:ln/>
        </p:spPr>
        <p:txBody>
          <a:bodyPr wrap="square" lIns="0" tIns="0" rIns="0" bIns="0" rtlCol="0" anchor="ctr"/>
          <a:lstStyle/>
          <a:p>
            <a:pPr indent="0" marL="0">
              <a:buNone/>
            </a:pPr>
            <a:r>
              <a:rPr lang="en-US" sz="800" dirty="0">
                <a:solidFill>
                  <a:srgbClr val="8FA1AC"/>
                </a:solidFill>
                <a:latin typeface="Poppins" pitchFamily="34" charset="0"/>
                <a:ea typeface="Poppins" pitchFamily="34" charset="-122"/>
                <a:cs typeface="Poppins" pitchFamily="34" charset="-120"/>
              </a:rPr>
              <a:t>Owner Izaak Horner</a:t>
            </a:r>
            <a:endParaRPr lang="en-US" sz="800" dirty="0"/>
          </a:p>
        </p:txBody>
      </p:sp>
      <p:sp>
        <p:nvSpPr>
          <p:cNvPr id="36" name="Shape 34"/>
          <p:cNvSpPr/>
          <p:nvPr/>
        </p:nvSpPr>
        <p:spPr>
          <a:xfrm>
            <a:off x="4526280" y="4078224"/>
            <a:ext cx="1143000" cy="292608"/>
          </a:xfrm>
          <a:prstGeom prst="roundRect">
            <a:avLst>
              <a:gd name="adj" fmla="val 50000"/>
            </a:avLst>
          </a:prstGeom>
          <a:solidFill>
            <a:srgbClr val="3D8F5F"/>
          </a:solidFill>
          <a:ln/>
          <a:effectLst>
            <a:outerShdw sx="100000" sy="100000" kx="0" ky="0" algn="bl" rotWithShape="0" blurRad="76200" dist="25400" dir="5400000">
              <a:srgbClr val="9AAAB5">
                <a:alpha val="35000"/>
              </a:srgbClr>
            </a:outerShdw>
          </a:effectLst>
        </p:spPr>
      </p:sp>
      <p:sp>
        <p:nvSpPr>
          <p:cNvPr id="37" name="Text 35"/>
          <p:cNvSpPr txBox="1"/>
          <p:nvPr/>
        </p:nvSpPr>
        <p:spPr>
          <a:xfrm>
            <a:off x="4526280" y="4078224"/>
            <a:ext cx="1143000"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ON TRACK</a:t>
            </a:r>
            <a:endParaRPr lang="en-US" sz="850" dirty="0"/>
          </a:p>
        </p:txBody>
      </p:sp>
      <p:sp>
        <p:nvSpPr>
          <p:cNvPr id="38" name="Text 36"/>
          <p:cNvSpPr txBox="1"/>
          <p:nvPr/>
        </p:nvSpPr>
        <p:spPr>
          <a:xfrm>
            <a:off x="5806440" y="3895344"/>
            <a:ext cx="2971800" cy="914400"/>
          </a:xfrm>
          <a:prstGeom prst="rect">
            <a:avLst/>
          </a:prstGeom>
          <a:noFill/>
          <a:ln/>
        </p:spPr>
        <p:txBody>
          <a:bodyPr wrap="square" lIns="0" tIns="0" rIns="0" bIns="0" rtlCol="0" anchor="t"/>
          <a:lstStyle/>
          <a:p>
            <a:pPr indent="0" marL="0">
              <a:buNone/>
            </a:pPr>
            <a:r>
              <a:rPr lang="en-US" sz="850" dirty="0">
                <a:solidFill>
                  <a:srgbClr val="3A4B57"/>
                </a:solidFill>
                <a:latin typeface="Poppins" pitchFamily="34" charset="0"/>
                <a:ea typeface="Poppins" pitchFamily="34" charset="-122"/>
                <a:cs typeface="Poppins" pitchFamily="34" charset="-120"/>
              </a:rPr>
              <a:t>Cutover complete on the data side; the deck now builds end-to-end from HubSpot plus the finance and tooling file drops. Hosting still to do.</a:t>
            </a:r>
            <a:endParaRPr lang="en-US" sz="850" dirty="0"/>
          </a:p>
        </p:txBody>
      </p:sp>
      <p:sp>
        <p:nvSpPr>
          <p:cNvPr id="39" name="Text 37"/>
          <p:cNvSpPr txBox="1"/>
          <p:nvPr/>
        </p:nvSpPr>
        <p:spPr>
          <a:xfrm>
            <a:off x="8915400" y="3895344"/>
            <a:ext cx="2606040" cy="914400"/>
          </a:xfrm>
          <a:prstGeom prst="rect">
            <a:avLst/>
          </a:prstGeom>
          <a:noFill/>
          <a:ln/>
        </p:spPr>
        <p:txBody>
          <a:bodyPr wrap="square" lIns="0" tIns="0" rIns="0" bIns="0" rtlCol="0" anchor="t"/>
          <a:lstStyle/>
          <a:p>
            <a:pPr indent="0" marL="0">
              <a:buNone/>
            </a:pPr>
            <a:r>
              <a:rPr lang="en-US" sz="800" dirty="0">
                <a:solidFill>
                  <a:srgbClr val="B4552D"/>
                </a:solidFill>
                <a:latin typeface="Poppins" pitchFamily="34" charset="0"/>
                <a:ea typeface="Poppins" pitchFamily="34" charset="-122"/>
                <a:cs typeface="Poppins" pitchFamily="34" charset="-120"/>
              </a:rPr>
              <a:t>Time to build out reporting. The reporting scope from Anicca was limited.</a:t>
            </a:r>
            <a:endParaRPr lang="en-US" sz="800" dirty="0"/>
          </a:p>
        </p:txBody>
      </p:sp>
      <p:sp>
        <p:nvSpPr>
          <p:cNvPr id="40" name="Shape 38"/>
          <p:cNvSpPr/>
          <p:nvPr/>
        </p:nvSpPr>
        <p:spPr>
          <a:xfrm>
            <a:off x="548640" y="5029200"/>
            <a:ext cx="11091672" cy="1115568"/>
          </a:xfrm>
          <a:prstGeom prst="roundRect">
            <a:avLst>
              <a:gd name="adj" fmla="val 5738"/>
            </a:avLst>
          </a:prstGeom>
          <a:solidFill>
            <a:srgbClr val="FFFFFF"/>
          </a:solidFill>
          <a:ln/>
          <a:effectLst>
            <a:outerShdw sx="100000" sy="100000" kx="0" ky="0" algn="bl" rotWithShape="0" blurRad="76200" dist="25400" dir="5400000">
              <a:srgbClr val="9AAAB5">
                <a:alpha val="35000"/>
              </a:srgbClr>
            </a:outerShdw>
          </a:effectLst>
        </p:spPr>
      </p:sp>
      <p:sp>
        <p:nvSpPr>
          <p:cNvPr id="41" name="Text 39"/>
          <p:cNvSpPr txBox="1"/>
          <p:nvPr/>
        </p:nvSpPr>
        <p:spPr>
          <a:xfrm>
            <a:off x="777240" y="5138928"/>
            <a:ext cx="3566160" cy="310896"/>
          </a:xfrm>
          <a:prstGeom prst="rect">
            <a:avLst/>
          </a:prstGeom>
          <a:noFill/>
          <a:ln/>
        </p:spPr>
        <p:txBody>
          <a:bodyPr wrap="square" lIns="0" tIns="0" rIns="0" bIns="0" rtlCol="0" anchor="ctr"/>
          <a:lstStyle/>
          <a:p>
            <a:pPr indent="0" marL="0">
              <a:buNone/>
            </a:pPr>
            <a:r>
              <a:rPr lang="en-US" sz="1300" b="1" dirty="0">
                <a:solidFill>
                  <a:srgbClr val="12293A"/>
                </a:solidFill>
                <a:latin typeface="Poppins" pitchFamily="34" charset="0"/>
                <a:ea typeface="Poppins" pitchFamily="34" charset="-122"/>
                <a:cs typeface="Poppins" pitchFamily="34" charset="-120"/>
              </a:rPr>
              <a:t>ALH RFP</a:t>
            </a:r>
            <a:endParaRPr lang="en-US" sz="1300" dirty="0"/>
          </a:p>
        </p:txBody>
      </p:sp>
      <p:sp>
        <p:nvSpPr>
          <p:cNvPr id="42" name="Text 40"/>
          <p:cNvSpPr txBox="1"/>
          <p:nvPr/>
        </p:nvSpPr>
        <p:spPr>
          <a:xfrm>
            <a:off x="777240" y="5486400"/>
            <a:ext cx="3566160" cy="237744"/>
          </a:xfrm>
          <a:prstGeom prst="rect">
            <a:avLst/>
          </a:prstGeom>
          <a:noFill/>
          <a:ln/>
        </p:spPr>
        <p:txBody>
          <a:bodyPr wrap="square" lIns="0" tIns="0" rIns="0" bIns="0" rtlCol="0" anchor="ctr"/>
          <a:lstStyle/>
          <a:p>
            <a:pPr indent="0" marL="0">
              <a:buNone/>
            </a:pPr>
            <a:r>
              <a:rPr lang="en-US" sz="850" dirty="0">
                <a:solidFill>
                  <a:srgbClr val="8FA1AC"/>
                </a:solidFill>
                <a:latin typeface="Poppins" pitchFamily="34" charset="0"/>
                <a:ea typeface="Poppins" pitchFamily="34" charset="-122"/>
                <a:cs typeface="Poppins" pitchFamily="34" charset="-120"/>
              </a:rPr>
              <a:t>Response</a:t>
            </a:r>
            <a:endParaRPr lang="en-US" sz="850" dirty="0"/>
          </a:p>
        </p:txBody>
      </p:sp>
      <p:sp>
        <p:nvSpPr>
          <p:cNvPr id="43" name="Text 41"/>
          <p:cNvSpPr txBox="1"/>
          <p:nvPr/>
        </p:nvSpPr>
        <p:spPr>
          <a:xfrm>
            <a:off x="777240" y="5779008"/>
            <a:ext cx="3566160" cy="237744"/>
          </a:xfrm>
          <a:prstGeom prst="rect">
            <a:avLst/>
          </a:prstGeom>
          <a:noFill/>
          <a:ln/>
        </p:spPr>
        <p:txBody>
          <a:bodyPr wrap="square" lIns="0" tIns="0" rIns="0" bIns="0" rtlCol="0" anchor="ctr"/>
          <a:lstStyle/>
          <a:p>
            <a:pPr indent="0" marL="0">
              <a:buNone/>
            </a:pPr>
            <a:r>
              <a:rPr lang="en-US" sz="800" dirty="0">
                <a:solidFill>
                  <a:srgbClr val="8FA1AC"/>
                </a:solidFill>
                <a:latin typeface="Poppins" pitchFamily="34" charset="0"/>
                <a:ea typeface="Poppins" pitchFamily="34" charset="-122"/>
                <a:cs typeface="Poppins" pitchFamily="34" charset="-120"/>
              </a:rPr>
              <a:t>Owner Luke Plunkett</a:t>
            </a:r>
            <a:endParaRPr lang="en-US" sz="800" dirty="0"/>
          </a:p>
        </p:txBody>
      </p:sp>
      <p:sp>
        <p:nvSpPr>
          <p:cNvPr id="44" name="Shape 42"/>
          <p:cNvSpPr/>
          <p:nvPr/>
        </p:nvSpPr>
        <p:spPr>
          <a:xfrm>
            <a:off x="4526280" y="5321808"/>
            <a:ext cx="1143000" cy="292608"/>
          </a:xfrm>
          <a:prstGeom prst="roundRect">
            <a:avLst>
              <a:gd name="adj" fmla="val 50000"/>
            </a:avLst>
          </a:prstGeom>
          <a:solidFill>
            <a:srgbClr val="3D8F5F"/>
          </a:solidFill>
          <a:ln/>
          <a:effectLst>
            <a:outerShdw sx="100000" sy="100000" kx="0" ky="0" algn="bl" rotWithShape="0" blurRad="76200" dist="25400" dir="5400000">
              <a:srgbClr val="9AAAB5">
                <a:alpha val="35000"/>
              </a:srgbClr>
            </a:outerShdw>
          </a:effectLst>
        </p:spPr>
      </p:sp>
      <p:sp>
        <p:nvSpPr>
          <p:cNvPr id="45" name="Text 43"/>
          <p:cNvSpPr txBox="1"/>
          <p:nvPr/>
        </p:nvSpPr>
        <p:spPr>
          <a:xfrm>
            <a:off x="4526280" y="5321808"/>
            <a:ext cx="1143000"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ON TRACK</a:t>
            </a:r>
            <a:endParaRPr lang="en-US" sz="850" dirty="0"/>
          </a:p>
        </p:txBody>
      </p:sp>
      <p:sp>
        <p:nvSpPr>
          <p:cNvPr id="46" name="Text 44"/>
          <p:cNvSpPr txBox="1"/>
          <p:nvPr/>
        </p:nvSpPr>
        <p:spPr>
          <a:xfrm>
            <a:off x="5806440" y="5138928"/>
            <a:ext cx="2971800" cy="914400"/>
          </a:xfrm>
          <a:prstGeom prst="rect">
            <a:avLst/>
          </a:prstGeom>
          <a:noFill/>
          <a:ln/>
        </p:spPr>
        <p:txBody>
          <a:bodyPr wrap="square" lIns="0" tIns="0" rIns="0" bIns="0" rtlCol="0" anchor="t"/>
          <a:lstStyle/>
          <a:p>
            <a:pPr indent="0" marL="0">
              <a:buNone/>
            </a:pPr>
            <a:r>
              <a:rPr lang="en-US" sz="850" dirty="0">
                <a:solidFill>
                  <a:srgbClr val="3A4B57"/>
                </a:solidFill>
                <a:latin typeface="Poppins" pitchFamily="34" charset="0"/>
                <a:ea typeface="Poppins" pitchFamily="34" charset="-122"/>
                <a:cs typeface="Poppins" pitchFamily="34" charset="-120"/>
              </a:rPr>
              <a:t>Waiting on outcome.</a:t>
            </a:r>
            <a:endParaRPr lang="en-US" sz="850" dirty="0"/>
          </a:p>
        </p:txBody>
      </p:sp>
      <p:sp>
        <p:nvSpPr>
          <p:cNvPr id="47" name="Text 45"/>
          <p:cNvSpPr txBox="1"/>
          <p:nvPr/>
        </p:nvSpPr>
        <p:spPr>
          <a:xfrm>
            <a:off x="8915400" y="5138928"/>
            <a:ext cx="2606040" cy="914400"/>
          </a:xfrm>
          <a:prstGeom prst="rect">
            <a:avLst/>
          </a:prstGeom>
          <a:noFill/>
          <a:ln/>
        </p:spPr>
        <p:txBody>
          <a:bodyPr wrap="square" lIns="0" tIns="0" rIns="0" bIns="0" rtlCol="0" anchor="t"/>
          <a:lstStyle/>
          <a:p>
            <a:pPr indent="0" marL="0">
              <a:buNone/>
            </a:pPr>
            <a:r>
              <a:rPr lang="en-US" sz="800" dirty="0">
                <a:solidFill>
                  <a:srgbClr val="B4552D"/>
                </a:solidFill>
                <a:latin typeface="Poppins" pitchFamily="34" charset="0"/>
                <a:ea typeface="Poppins" pitchFamily="34" charset="-122"/>
                <a:cs typeface="Poppins" pitchFamily="34" charset="-120"/>
              </a:rPr>
              <a:t>N/A</a:t>
            </a:r>
            <a:endParaRPr lang="en-US" sz="800" dirty="0"/>
          </a:p>
        </p:txBody>
      </p:sp>
      <p:sp>
        <p:nvSpPr>
          <p:cNvPr id="48" name="Text 46"/>
          <p:cNvSpPr txBox="1"/>
          <p:nvPr/>
        </p:nvSpPr>
        <p:spPr>
          <a:xfrm>
            <a:off x="411480" y="6400800"/>
            <a:ext cx="7589520" cy="256032"/>
          </a:xfrm>
          <a:prstGeom prst="rect">
            <a:avLst/>
          </a:prstGeom>
          <a:noFill/>
          <a:ln/>
        </p:spPr>
        <p:txBody>
          <a:bodyPr wrap="square" lIns="0" tIns="0" rIns="0" bIns="0" rtlCol="0" anchor="ctr"/>
          <a:lstStyle/>
          <a:p>
            <a:pPr indent="0" marL="0">
              <a:buNone/>
            </a:pPr>
            <a:r>
              <a:rPr lang="en-US" sz="750" dirty="0">
                <a:solidFill>
                  <a:srgbClr val="8FA1AC"/>
                </a:solidFill>
                <a:latin typeface="Poppins" pitchFamily="34" charset="0"/>
                <a:ea typeface="Poppins" pitchFamily="34" charset="-122"/>
                <a:cs typeface="Poppins" pitchFamily="34" charset="-120"/>
              </a:rPr>
              <a:t>Current state = next action from the weekly meeting record · roadblock = flagged risks · Operating Model Update not yet a tracked project — add it to the record to appear here.</a:t>
            </a:r>
            <a:endParaRPr lang="en-US" sz="7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Poppin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Poppi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2026-10-19T02:19:01Z</dcterms:created>
  <dcterms:modified xsi:type="dcterms:W3CDTF">2026-10-19T02:19:01Z</dcterms:modified>
</cp:coreProperties>
</file>