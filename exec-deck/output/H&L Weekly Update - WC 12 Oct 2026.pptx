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2327</c:v>
                </c:pt>
                <c:pt idx="5">
                  <c:v>17288</c:v>
                </c:pt>
                <c:pt idx="6">
                  <c:v>969</c:v>
                </c:pt>
                <c:pt idx="7">
                  <c:v>2685</c:v>
                </c:pt>
                <c:pt idx="8">
                  <c:v>10950</c:v>
                </c:pt>
                <c:pt idx="9">
                  <c:v>5021</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6853</c:v>
                </c:pt>
                <c:pt idx="9">
                  <c:v>3817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12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19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Q4 — TARGETS CARRIED FORWARD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hardware $99k = 14% of the $715k OKR2 — best week of the quarter at $70.9k, Ho and Jasmine 87%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$3.8k = 14% of OKR2; the week nets −$181 and Q4 net MRR is −$7.7k</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13.0% — 39.5h of 304h with Isayah out; last week restated 21.3h → 30.3h, so this is a floor again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inflow 564 vs resolved 611 — backlog 657 → 588, second straight fall, and the 90+ tail is down to 10</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now five weeks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no new Claude Admin capture this week — slide holds the 12 Oct read: 39 of 47 weekly, 12 daily</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$4k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−$181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588874" cy="100584"/>
          </a:xfrm>
          <a:prstGeom prst="roundRect">
            <a:avLst>
              <a:gd name="adj" fmla="val 45455"/>
            </a:avLst>
          </a:prstGeom>
          <a:solidFill>
            <a:srgbClr val="B4552D"/>
          </a:solidFill>
          <a:ln/>
        </p:spPr>
      </p:sp>
      <p:sp>
        <p:nvSpPr>
          <p:cNvPr id="19" name="Shape 17"/>
          <p:cNvSpPr/>
          <p:nvPr/>
        </p:nvSpPr>
        <p:spPr>
          <a:xfrm>
            <a:off x="1425550"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$99k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+$71k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588874" cy="100584"/>
          </a:xfrm>
          <a:prstGeom prst="roundRect">
            <a:avLst>
              <a:gd name="adj" fmla="val 45455"/>
            </a:avLst>
          </a:prstGeom>
          <a:solidFill>
            <a:srgbClr val="B4552D"/>
          </a:solidFill>
          <a:ln/>
        </p:spPr>
      </p:sp>
      <p:sp>
        <p:nvSpPr>
          <p:cNvPr id="27" name="Shape 25"/>
          <p:cNvSpPr/>
          <p:nvPr/>
        </p:nvSpPr>
        <p:spPr>
          <a:xfrm>
            <a:off x="7259422"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(20%)</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18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181198"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5982919"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$658</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71323" cy="100584"/>
          </a:xfrm>
          <a:prstGeom prst="roundRect">
            <a:avLst>
              <a:gd name="adj" fmla="val 64103"/>
            </a:avLst>
          </a:prstGeom>
          <a:solidFill>
            <a:srgbClr val="B4552D"/>
          </a:solidFill>
          <a:ln/>
        </p:spPr>
      </p:sp>
      <p:sp>
        <p:nvSpPr>
          <p:cNvPr id="64" name="Shape 62"/>
          <p:cNvSpPr/>
          <p:nvPr/>
        </p:nvSpPr>
        <p:spPr>
          <a:xfrm>
            <a:off x="3181198"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−288</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$16k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62362" cy="100584"/>
          </a:xfrm>
          <a:prstGeom prst="roundRect">
            <a:avLst>
              <a:gd name="adj" fmla="val 73314"/>
            </a:avLst>
          </a:prstGeom>
          <a:solidFill>
            <a:srgbClr val="B4552D"/>
          </a:solidFill>
          <a:ln/>
        </p:spPr>
      </p:sp>
      <p:sp>
        <p:nvSpPr>
          <p:cNvPr id="71" name="Shape 69"/>
          <p:cNvSpPr/>
          <p:nvPr/>
        </p:nvSpPr>
        <p:spPr>
          <a:xfrm>
            <a:off x="5982919"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+1k</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181198"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+142</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5982919"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+8k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97510" cy="100584"/>
          </a:xfrm>
          <a:prstGeom prst="roundRect">
            <a:avLst>
              <a:gd name="adj" fmla="val 45455"/>
            </a:avLst>
          </a:prstGeom>
          <a:solidFill>
            <a:srgbClr val="B4552D"/>
          </a:solidFill>
          <a:ln/>
        </p:spPr>
      </p:sp>
      <p:sp>
        <p:nvSpPr>
          <p:cNvPr id="96" name="Shape 94"/>
          <p:cNvSpPr/>
          <p:nvPr/>
        </p:nvSpPr>
        <p:spPr>
          <a:xfrm>
            <a:off x="3181198"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36%</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−35</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$32k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85039" cy="100584"/>
          </a:xfrm>
          <a:prstGeom prst="roundRect">
            <a:avLst>
              <a:gd name="adj" fmla="val 53764"/>
            </a:avLst>
          </a:prstGeom>
          <a:solidFill>
            <a:srgbClr val="B4552D"/>
          </a:solidFill>
          <a:ln/>
        </p:spPr>
      </p:sp>
      <p:sp>
        <p:nvSpPr>
          <p:cNvPr id="103" name="Shape 101"/>
          <p:cNvSpPr/>
          <p:nvPr/>
        </p:nvSpPr>
        <p:spPr>
          <a:xfrm>
            <a:off x="5982919"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+30k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181198"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$37k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385511" cy="100584"/>
          </a:xfrm>
          <a:prstGeom prst="roundRect">
            <a:avLst>
              <a:gd name="adj" fmla="val 45455"/>
            </a:avLst>
          </a:prstGeom>
          <a:solidFill>
            <a:srgbClr val="B4552D"/>
          </a:solidFill>
          <a:ln/>
        </p:spPr>
      </p:sp>
      <p:sp>
        <p:nvSpPr>
          <p:cNvPr id="119" name="Shape 117"/>
          <p:cNvSpPr/>
          <p:nvPr/>
        </p:nvSpPr>
        <p:spPr>
          <a:xfrm>
            <a:off x="5982919"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68%</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+32k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181198"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181198"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−181</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$99k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13%</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+71k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live 18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had its best week of the quarter — $70,874.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Q4 to date now $98,973, 14% of the $715k OKR2 against a 20% pace mark. Ho booked $32.0k and Jasmine $29.6k between them, 87% of the week. Two weeks of Q4 extract; the 1–4 Oct straddle is still unallocated.</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MRR went backwards again, by $181.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$1,026 invoiced against $1,172 of churn and $35 of contraction. Q4 stands at $3,817 — 14% of the $28k OKR2 against a 20% pace mark, and the register is now five weeks into the quarter with net MRR negative every one of them.</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still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every attainment percentage on this slide is measured against last quarter's bar.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18 of 92 days elapsed.</a:t>
            </a:r>
            <a:endParaRPr lang="en-US" sz="900" dirty="0"/>
          </a:p>
        </p:txBody>
      </p:sp>
      <p:sp>
        <p:nvSpPr>
          <p:cNvPr id="161" name="Shape 159"/>
          <p:cNvSpPr/>
          <p:nvPr/>
        </p:nvSpPr>
        <p:spPr>
          <a:xfrm>
            <a:off x="7088429" y="6510528"/>
            <a:ext cx="4689043" cy="256032"/>
          </a:xfrm>
          <a:prstGeom prst="roundRect">
            <a:avLst>
              <a:gd name="adj" fmla="val 46429"/>
            </a:avLst>
          </a:prstGeom>
          <a:solidFill>
            <a:srgbClr val="12293A"/>
          </a:solidFill>
          <a:ln/>
        </p:spPr>
      </p:sp>
      <p:sp>
        <p:nvSpPr>
          <p:cNvPr id="162" name="Text 160"/>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12–18 Oct + MRR movement register (live, 19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56%</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7 lost by count · 56%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77878"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811201"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07489"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11717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753145" cy="164592"/>
          </a:xfrm>
          <a:prstGeom prst="rect">
            <a:avLst/>
          </a:prstGeom>
          <a:solidFill>
            <a:srgbClr val="3D8F5F"/>
          </a:solidFill>
          <a:ln/>
        </p:spPr>
      </p:sp>
      <p:sp>
        <p:nvSpPr>
          <p:cNvPr id="59" name="Text 57"/>
          <p:cNvSpPr txBox="1"/>
          <p:nvPr/>
        </p:nvSpPr>
        <p:spPr>
          <a:xfrm>
            <a:off x="1828800" y="4782312"/>
            <a:ext cx="753145"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16%</a:t>
            </a:r>
            <a:endParaRPr lang="en-US" sz="650" dirty="0"/>
          </a:p>
        </p:txBody>
      </p:sp>
      <p:sp>
        <p:nvSpPr>
          <p:cNvPr id="60" name="Shape 58"/>
          <p:cNvSpPr/>
          <p:nvPr/>
        </p:nvSpPr>
        <p:spPr>
          <a:xfrm>
            <a:off x="2600233" y="4800600"/>
            <a:ext cx="3416341" cy="164592"/>
          </a:xfrm>
          <a:prstGeom prst="rect">
            <a:avLst/>
          </a:prstGeom>
          <a:solidFill>
            <a:srgbClr val="2C8394"/>
          </a:solidFill>
          <a:ln/>
        </p:spPr>
      </p:sp>
      <p:sp>
        <p:nvSpPr>
          <p:cNvPr id="61" name="Text 59"/>
          <p:cNvSpPr txBox="1"/>
          <p:nvPr/>
        </p:nvSpPr>
        <p:spPr>
          <a:xfrm>
            <a:off x="2600233" y="4782312"/>
            <a:ext cx="341634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72%</a:t>
            </a:r>
            <a:endParaRPr lang="en-US" sz="650" dirty="0"/>
          </a:p>
        </p:txBody>
      </p:sp>
      <p:sp>
        <p:nvSpPr>
          <p:cNvPr id="62" name="Shape 60"/>
          <p:cNvSpPr/>
          <p:nvPr/>
        </p:nvSpPr>
        <p:spPr>
          <a:xfrm>
            <a:off x="6034862" y="4800600"/>
            <a:ext cx="585394" cy="164592"/>
          </a:xfrm>
          <a:prstGeom prst="rect">
            <a:avLst/>
          </a:prstGeom>
          <a:solidFill>
            <a:srgbClr val="B4552D"/>
          </a:solidFill>
          <a:ln/>
        </p:spPr>
      </p:sp>
      <p:sp>
        <p:nvSpPr>
          <p:cNvPr id="63" name="Text 61"/>
          <p:cNvSpPr txBox="1"/>
          <p:nvPr/>
        </p:nvSpPr>
        <p:spPr>
          <a:xfrm>
            <a:off x="6034862" y="4782312"/>
            <a:ext cx="58539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12%</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891540" cy="164592"/>
          </a:xfrm>
          <a:prstGeom prst="rect">
            <a:avLst/>
          </a:prstGeom>
          <a:solidFill>
            <a:srgbClr val="3D8F5F"/>
          </a:solidFill>
          <a:ln/>
        </p:spPr>
      </p:sp>
      <p:sp>
        <p:nvSpPr>
          <p:cNvPr id="66" name="Text 64"/>
          <p:cNvSpPr txBox="1"/>
          <p:nvPr/>
        </p:nvSpPr>
        <p:spPr>
          <a:xfrm>
            <a:off x="1828800" y="5093208"/>
            <a:ext cx="89154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19%</a:t>
            </a:r>
            <a:endParaRPr lang="en-US" sz="650" dirty="0"/>
          </a:p>
        </p:txBody>
      </p:sp>
      <p:sp>
        <p:nvSpPr>
          <p:cNvPr id="67" name="Shape 65"/>
          <p:cNvSpPr/>
          <p:nvPr/>
        </p:nvSpPr>
        <p:spPr>
          <a:xfrm>
            <a:off x="2738628" y="5111496"/>
            <a:ext cx="3169920" cy="164592"/>
          </a:xfrm>
          <a:prstGeom prst="rect">
            <a:avLst/>
          </a:prstGeom>
          <a:solidFill>
            <a:srgbClr val="2C8394"/>
          </a:solidFill>
          <a:ln/>
        </p:spPr>
      </p:sp>
      <p:sp>
        <p:nvSpPr>
          <p:cNvPr id="68" name="Text 66"/>
          <p:cNvSpPr txBox="1"/>
          <p:nvPr/>
        </p:nvSpPr>
        <p:spPr>
          <a:xfrm>
            <a:off x="2738628" y="5093208"/>
            <a:ext cx="31699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67%</a:t>
            </a:r>
            <a:endParaRPr lang="en-US" sz="650" dirty="0"/>
          </a:p>
        </p:txBody>
      </p:sp>
      <p:sp>
        <p:nvSpPr>
          <p:cNvPr id="69" name="Shape 67"/>
          <p:cNvSpPr/>
          <p:nvPr/>
        </p:nvSpPr>
        <p:spPr>
          <a:xfrm>
            <a:off x="5926836" y="5111496"/>
            <a:ext cx="693420" cy="164592"/>
          </a:xfrm>
          <a:prstGeom prst="rect">
            <a:avLst/>
          </a:prstGeom>
          <a:solidFill>
            <a:srgbClr val="B4552D"/>
          </a:solidFill>
          <a:ln/>
        </p:spPr>
      </p:sp>
      <p:sp>
        <p:nvSpPr>
          <p:cNvPr id="70" name="Text 68"/>
          <p:cNvSpPr txBox="1"/>
          <p:nvPr/>
        </p:nvSpPr>
        <p:spPr>
          <a:xfrm>
            <a:off x="5926836" y="5093208"/>
            <a:ext cx="6934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9 lines, every one priced $0</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three weeks stale; HubSpot holds no USD field</a:t>
            </a:r>
            <a:endParaRPr lang="en-US" sz="580" dirty="0"/>
          </a:p>
        </p:txBody>
      </p:sp>
      <p:sp>
        <p:nvSpPr>
          <p:cNvPr id="108" name="Shape 106"/>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7 lost — 56% by count, 56%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25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Six new deals entered Discovery, five of them QR Ordering priced $0 · no AI-infused order placed for a second week, Order Placed unchanged at A$651 · 27 ROAM lines worth A$2,046 sit on no deal and are excluded.</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19 Oct workbook is byte-identical to the 6 and 12 Oct drops: no new identifications, referrals or wins for a fifth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19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13%</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39.45h billed of 304h available · target 50% · Rhys logged half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304h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8 available × 38h · Isayah Kuhlmann on leave</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25%</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 of 109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23136"/>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23136"/>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23136"/>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23136"/>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23136"/>
          </a:xfrm>
          <a:prstGeom prst="rect">
            <a:avLst/>
          </a:prstGeom>
          <a:solidFill>
            <a:srgbClr val="E2EAEE"/>
          </a:solidFill>
          <a:ln/>
        </p:spPr>
      </p:sp>
      <p:sp>
        <p:nvSpPr>
          <p:cNvPr id="43" name="Text 41"/>
          <p:cNvSpPr txBox="1"/>
          <p:nvPr/>
        </p:nvSpPr>
        <p:spPr>
          <a:xfrm>
            <a:off x="640080" y="3054096"/>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32074"/>
            <a:ext cx="2377440" cy="59436"/>
          </a:xfrm>
          <a:prstGeom prst="roundRect">
            <a:avLst>
              <a:gd name="adj" fmla="val 49231"/>
            </a:avLst>
          </a:prstGeom>
          <a:solidFill>
            <a:srgbClr val="E2EAEE"/>
          </a:solidFill>
          <a:ln/>
        </p:spPr>
      </p:sp>
      <p:sp>
        <p:nvSpPr>
          <p:cNvPr id="45" name="Shape 43"/>
          <p:cNvSpPr/>
          <p:nvPr/>
        </p:nvSpPr>
        <p:spPr>
          <a:xfrm>
            <a:off x="2468880" y="3132074"/>
            <a:ext cx="1219627" cy="59436"/>
          </a:xfrm>
          <a:prstGeom prst="roundRect">
            <a:avLst>
              <a:gd name="adj" fmla="val 49231"/>
            </a:avLst>
          </a:prstGeom>
          <a:solidFill>
            <a:srgbClr val="2C8394"/>
          </a:solidFill>
          <a:ln/>
        </p:spPr>
      </p:sp>
      <p:sp>
        <p:nvSpPr>
          <p:cNvPr id="46" name="Text 44"/>
          <p:cNvSpPr txBox="1"/>
          <p:nvPr/>
        </p:nvSpPr>
        <p:spPr>
          <a:xfrm>
            <a:off x="5029200" y="3054096"/>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19.50h</a:t>
            </a:r>
            <a:endParaRPr lang="en-US" sz="800" dirty="0"/>
          </a:p>
        </p:txBody>
      </p:sp>
      <p:sp>
        <p:nvSpPr>
          <p:cNvPr id="47" name="Text 45"/>
          <p:cNvSpPr txBox="1"/>
          <p:nvPr/>
        </p:nvSpPr>
        <p:spPr>
          <a:xfrm>
            <a:off x="5943600" y="3054096"/>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51.3%</a:t>
            </a:r>
            <a:endParaRPr lang="en-US" sz="800" dirty="0"/>
          </a:p>
        </p:txBody>
      </p:sp>
      <p:sp>
        <p:nvSpPr>
          <p:cNvPr id="48" name="Text 46"/>
          <p:cNvSpPr txBox="1"/>
          <p:nvPr/>
        </p:nvSpPr>
        <p:spPr>
          <a:xfrm>
            <a:off x="640080" y="3269488"/>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47466"/>
            <a:ext cx="2377440" cy="59436"/>
          </a:xfrm>
          <a:prstGeom prst="roundRect">
            <a:avLst>
              <a:gd name="adj" fmla="val 49231"/>
            </a:avLst>
          </a:prstGeom>
          <a:solidFill>
            <a:srgbClr val="E2EAEE"/>
          </a:solidFill>
          <a:ln/>
        </p:spPr>
      </p:sp>
      <p:sp>
        <p:nvSpPr>
          <p:cNvPr id="50" name="Shape 48"/>
          <p:cNvSpPr/>
          <p:nvPr/>
        </p:nvSpPr>
        <p:spPr>
          <a:xfrm>
            <a:off x="2468880" y="3347466"/>
            <a:ext cx="406542" cy="59436"/>
          </a:xfrm>
          <a:prstGeom prst="roundRect">
            <a:avLst>
              <a:gd name="adj" fmla="val 49231"/>
            </a:avLst>
          </a:prstGeom>
          <a:solidFill>
            <a:srgbClr val="2C8394"/>
          </a:solidFill>
          <a:ln/>
        </p:spPr>
      </p:sp>
      <p:sp>
        <p:nvSpPr>
          <p:cNvPr id="51" name="Text 49"/>
          <p:cNvSpPr txBox="1"/>
          <p:nvPr/>
        </p:nvSpPr>
        <p:spPr>
          <a:xfrm>
            <a:off x="5029200" y="3269488"/>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6.50h</a:t>
            </a:r>
            <a:endParaRPr lang="en-US" sz="800" dirty="0"/>
          </a:p>
        </p:txBody>
      </p:sp>
      <p:sp>
        <p:nvSpPr>
          <p:cNvPr id="52" name="Text 50"/>
          <p:cNvSpPr txBox="1"/>
          <p:nvPr/>
        </p:nvSpPr>
        <p:spPr>
          <a:xfrm>
            <a:off x="5943600" y="3269488"/>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17.1%</a:t>
            </a:r>
            <a:endParaRPr lang="en-US" sz="800" dirty="0"/>
          </a:p>
        </p:txBody>
      </p:sp>
      <p:sp>
        <p:nvSpPr>
          <p:cNvPr id="53" name="Text 51"/>
          <p:cNvSpPr txBox="1"/>
          <p:nvPr/>
        </p:nvSpPr>
        <p:spPr>
          <a:xfrm>
            <a:off x="640080" y="3484880"/>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Rodney Nolan</a:t>
            </a:r>
            <a:endParaRPr lang="en-US" sz="800" dirty="0"/>
          </a:p>
        </p:txBody>
      </p:sp>
      <p:sp>
        <p:nvSpPr>
          <p:cNvPr id="54" name="Shape 52"/>
          <p:cNvSpPr/>
          <p:nvPr/>
        </p:nvSpPr>
        <p:spPr>
          <a:xfrm>
            <a:off x="2468880" y="3562858"/>
            <a:ext cx="2377440" cy="59436"/>
          </a:xfrm>
          <a:prstGeom prst="roundRect">
            <a:avLst>
              <a:gd name="adj" fmla="val 49231"/>
            </a:avLst>
          </a:prstGeom>
          <a:solidFill>
            <a:srgbClr val="E2EAEE"/>
          </a:solidFill>
          <a:ln/>
        </p:spPr>
      </p:sp>
      <p:sp>
        <p:nvSpPr>
          <p:cNvPr id="55" name="Shape 53"/>
          <p:cNvSpPr/>
          <p:nvPr/>
        </p:nvSpPr>
        <p:spPr>
          <a:xfrm>
            <a:off x="2468880" y="3562858"/>
            <a:ext cx="358993" cy="59436"/>
          </a:xfrm>
          <a:prstGeom prst="roundRect">
            <a:avLst>
              <a:gd name="adj" fmla="val 49231"/>
            </a:avLst>
          </a:prstGeom>
          <a:solidFill>
            <a:srgbClr val="2C8394"/>
          </a:solidFill>
          <a:ln/>
        </p:spPr>
      </p:sp>
      <p:sp>
        <p:nvSpPr>
          <p:cNvPr id="56" name="Text 54"/>
          <p:cNvSpPr txBox="1"/>
          <p:nvPr/>
        </p:nvSpPr>
        <p:spPr>
          <a:xfrm>
            <a:off x="5029200" y="3484880"/>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5.75h</a:t>
            </a:r>
            <a:endParaRPr lang="en-US" sz="800" dirty="0"/>
          </a:p>
        </p:txBody>
      </p:sp>
      <p:sp>
        <p:nvSpPr>
          <p:cNvPr id="57" name="Text 55"/>
          <p:cNvSpPr txBox="1"/>
          <p:nvPr/>
        </p:nvSpPr>
        <p:spPr>
          <a:xfrm>
            <a:off x="5943600" y="3484880"/>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15.1%</a:t>
            </a:r>
            <a:endParaRPr lang="en-US" sz="800" dirty="0"/>
          </a:p>
        </p:txBody>
      </p:sp>
      <p:sp>
        <p:nvSpPr>
          <p:cNvPr id="58" name="Text 56"/>
          <p:cNvSpPr txBox="1"/>
          <p:nvPr/>
        </p:nvSpPr>
        <p:spPr>
          <a:xfrm>
            <a:off x="640080" y="3700272"/>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59" name="Shape 57"/>
          <p:cNvSpPr/>
          <p:nvPr/>
        </p:nvSpPr>
        <p:spPr>
          <a:xfrm>
            <a:off x="2468880" y="3778250"/>
            <a:ext cx="2377440" cy="59436"/>
          </a:xfrm>
          <a:prstGeom prst="roundRect">
            <a:avLst>
              <a:gd name="adj" fmla="val 49231"/>
            </a:avLst>
          </a:prstGeom>
          <a:solidFill>
            <a:srgbClr val="E2EAEE"/>
          </a:solidFill>
          <a:ln/>
        </p:spPr>
      </p:sp>
      <p:sp>
        <p:nvSpPr>
          <p:cNvPr id="60" name="Shape 58"/>
          <p:cNvSpPr/>
          <p:nvPr/>
        </p:nvSpPr>
        <p:spPr>
          <a:xfrm>
            <a:off x="2468880" y="3778250"/>
            <a:ext cx="280538" cy="59436"/>
          </a:xfrm>
          <a:prstGeom prst="roundRect">
            <a:avLst>
              <a:gd name="adj" fmla="val 49231"/>
            </a:avLst>
          </a:prstGeom>
          <a:solidFill>
            <a:srgbClr val="2C8394"/>
          </a:solidFill>
          <a:ln/>
        </p:spPr>
      </p:sp>
      <p:sp>
        <p:nvSpPr>
          <p:cNvPr id="61" name="Text 59"/>
          <p:cNvSpPr txBox="1"/>
          <p:nvPr/>
        </p:nvSpPr>
        <p:spPr>
          <a:xfrm>
            <a:off x="5029200" y="3700272"/>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4.50h</a:t>
            </a:r>
            <a:endParaRPr lang="en-US" sz="800" dirty="0"/>
          </a:p>
        </p:txBody>
      </p:sp>
      <p:sp>
        <p:nvSpPr>
          <p:cNvPr id="62" name="Text 60"/>
          <p:cNvSpPr txBox="1"/>
          <p:nvPr/>
        </p:nvSpPr>
        <p:spPr>
          <a:xfrm>
            <a:off x="5943600" y="3700272"/>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11.8%</a:t>
            </a:r>
            <a:endParaRPr lang="en-US" sz="800" dirty="0"/>
          </a:p>
        </p:txBody>
      </p:sp>
      <p:sp>
        <p:nvSpPr>
          <p:cNvPr id="63" name="Text 61"/>
          <p:cNvSpPr txBox="1"/>
          <p:nvPr/>
        </p:nvSpPr>
        <p:spPr>
          <a:xfrm>
            <a:off x="640080" y="3915664"/>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Isaac Mercado</a:t>
            </a:r>
            <a:endParaRPr lang="en-US" sz="800" dirty="0"/>
          </a:p>
        </p:txBody>
      </p:sp>
      <p:sp>
        <p:nvSpPr>
          <p:cNvPr id="64" name="Shape 62"/>
          <p:cNvSpPr/>
          <p:nvPr/>
        </p:nvSpPr>
        <p:spPr>
          <a:xfrm>
            <a:off x="2468880" y="3993642"/>
            <a:ext cx="2377440" cy="59436"/>
          </a:xfrm>
          <a:prstGeom prst="roundRect">
            <a:avLst>
              <a:gd name="adj" fmla="val 49231"/>
            </a:avLst>
          </a:prstGeom>
          <a:solidFill>
            <a:srgbClr val="E2EAEE"/>
          </a:solidFill>
          <a:ln/>
        </p:spPr>
      </p:sp>
      <p:sp>
        <p:nvSpPr>
          <p:cNvPr id="65" name="Shape 63"/>
          <p:cNvSpPr/>
          <p:nvPr/>
        </p:nvSpPr>
        <p:spPr>
          <a:xfrm>
            <a:off x="2468880" y="3993642"/>
            <a:ext cx="92720" cy="59436"/>
          </a:xfrm>
          <a:prstGeom prst="roundRect">
            <a:avLst>
              <a:gd name="adj" fmla="val 49231"/>
            </a:avLst>
          </a:prstGeom>
          <a:solidFill>
            <a:srgbClr val="2C8394"/>
          </a:solidFill>
          <a:ln/>
        </p:spPr>
      </p:sp>
      <p:sp>
        <p:nvSpPr>
          <p:cNvPr id="66" name="Text 64"/>
          <p:cNvSpPr txBox="1"/>
          <p:nvPr/>
        </p:nvSpPr>
        <p:spPr>
          <a:xfrm>
            <a:off x="5029200" y="3915664"/>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1.50h</a:t>
            </a:r>
            <a:endParaRPr lang="en-US" sz="800" dirty="0"/>
          </a:p>
        </p:txBody>
      </p:sp>
      <p:sp>
        <p:nvSpPr>
          <p:cNvPr id="67" name="Text 65"/>
          <p:cNvSpPr txBox="1"/>
          <p:nvPr/>
        </p:nvSpPr>
        <p:spPr>
          <a:xfrm>
            <a:off x="5943600" y="3915664"/>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3.9%</a:t>
            </a:r>
            <a:endParaRPr lang="en-US" sz="800" dirty="0"/>
          </a:p>
        </p:txBody>
      </p:sp>
      <p:sp>
        <p:nvSpPr>
          <p:cNvPr id="68" name="Text 66"/>
          <p:cNvSpPr txBox="1"/>
          <p:nvPr/>
        </p:nvSpPr>
        <p:spPr>
          <a:xfrm>
            <a:off x="640080" y="4131056"/>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Ryan Neil Orande</a:t>
            </a:r>
            <a:endParaRPr lang="en-US" sz="800" dirty="0"/>
          </a:p>
        </p:txBody>
      </p:sp>
      <p:sp>
        <p:nvSpPr>
          <p:cNvPr id="69" name="Shape 67"/>
          <p:cNvSpPr/>
          <p:nvPr/>
        </p:nvSpPr>
        <p:spPr>
          <a:xfrm>
            <a:off x="2468880" y="4209034"/>
            <a:ext cx="2377440" cy="59436"/>
          </a:xfrm>
          <a:prstGeom prst="roundRect">
            <a:avLst>
              <a:gd name="adj" fmla="val 49231"/>
            </a:avLst>
          </a:prstGeom>
          <a:solidFill>
            <a:srgbClr val="E2EAEE"/>
          </a:solidFill>
          <a:ln/>
        </p:spPr>
      </p:sp>
      <p:sp>
        <p:nvSpPr>
          <p:cNvPr id="70" name="Shape 68"/>
          <p:cNvSpPr/>
          <p:nvPr/>
        </p:nvSpPr>
        <p:spPr>
          <a:xfrm>
            <a:off x="2468880" y="4209034"/>
            <a:ext cx="68946" cy="59436"/>
          </a:xfrm>
          <a:prstGeom prst="roundRect">
            <a:avLst>
              <a:gd name="adj" fmla="val 49231"/>
            </a:avLst>
          </a:prstGeom>
          <a:solidFill>
            <a:srgbClr val="2C8394"/>
          </a:solidFill>
          <a:ln/>
        </p:spPr>
      </p:sp>
      <p:sp>
        <p:nvSpPr>
          <p:cNvPr id="71" name="Text 69"/>
          <p:cNvSpPr txBox="1"/>
          <p:nvPr/>
        </p:nvSpPr>
        <p:spPr>
          <a:xfrm>
            <a:off x="5029200" y="4131056"/>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1.11h</a:t>
            </a:r>
            <a:endParaRPr lang="en-US" sz="800" dirty="0"/>
          </a:p>
        </p:txBody>
      </p:sp>
      <p:sp>
        <p:nvSpPr>
          <p:cNvPr id="72" name="Text 70"/>
          <p:cNvSpPr txBox="1"/>
          <p:nvPr/>
        </p:nvSpPr>
        <p:spPr>
          <a:xfrm>
            <a:off x="5943600" y="4131056"/>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2.9%</a:t>
            </a:r>
            <a:endParaRPr lang="en-US" sz="800" dirty="0"/>
          </a:p>
        </p:txBody>
      </p:sp>
      <p:sp>
        <p:nvSpPr>
          <p:cNvPr id="73" name="Text 71"/>
          <p:cNvSpPr txBox="1"/>
          <p:nvPr/>
        </p:nvSpPr>
        <p:spPr>
          <a:xfrm>
            <a:off x="640080" y="4346448"/>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74" name="Shape 72"/>
          <p:cNvSpPr/>
          <p:nvPr/>
        </p:nvSpPr>
        <p:spPr>
          <a:xfrm>
            <a:off x="2468880" y="4424426"/>
            <a:ext cx="2377440" cy="59436"/>
          </a:xfrm>
          <a:prstGeom prst="roundRect">
            <a:avLst>
              <a:gd name="adj" fmla="val 49231"/>
            </a:avLst>
          </a:prstGeom>
          <a:solidFill>
            <a:srgbClr val="E2EAEE"/>
          </a:solidFill>
          <a:ln/>
        </p:spPr>
      </p:sp>
      <p:sp>
        <p:nvSpPr>
          <p:cNvPr id="75" name="Shape 73"/>
          <p:cNvSpPr/>
          <p:nvPr/>
        </p:nvSpPr>
        <p:spPr>
          <a:xfrm>
            <a:off x="2468880" y="4424426"/>
            <a:ext cx="45720" cy="59436"/>
          </a:xfrm>
          <a:prstGeom prst="roundRect">
            <a:avLst>
              <a:gd name="adj" fmla="val 64000"/>
            </a:avLst>
          </a:prstGeom>
          <a:solidFill>
            <a:srgbClr val="2C8394"/>
          </a:solidFill>
          <a:ln/>
        </p:spPr>
      </p:sp>
      <p:sp>
        <p:nvSpPr>
          <p:cNvPr id="76" name="Text 74"/>
          <p:cNvSpPr txBox="1"/>
          <p:nvPr/>
        </p:nvSpPr>
        <p:spPr>
          <a:xfrm>
            <a:off x="5029200" y="4346448"/>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0.59h</a:t>
            </a:r>
            <a:endParaRPr lang="en-US" sz="800" dirty="0"/>
          </a:p>
        </p:txBody>
      </p:sp>
      <p:sp>
        <p:nvSpPr>
          <p:cNvPr id="77" name="Text 75"/>
          <p:cNvSpPr txBox="1"/>
          <p:nvPr/>
        </p:nvSpPr>
        <p:spPr>
          <a:xfrm>
            <a:off x="5943600" y="4346448"/>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1.6%</a:t>
            </a:r>
            <a:endParaRPr lang="en-US" sz="800" dirty="0"/>
          </a:p>
        </p:txBody>
      </p:sp>
      <p:sp>
        <p:nvSpPr>
          <p:cNvPr id="78" name="Text 76"/>
          <p:cNvSpPr txBox="1"/>
          <p:nvPr/>
        </p:nvSpPr>
        <p:spPr>
          <a:xfrm>
            <a:off x="640080" y="4561840"/>
            <a:ext cx="1783080" cy="215392"/>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9" name="Shape 77"/>
          <p:cNvSpPr/>
          <p:nvPr/>
        </p:nvSpPr>
        <p:spPr>
          <a:xfrm>
            <a:off x="2468880" y="4639818"/>
            <a:ext cx="2377440" cy="59436"/>
          </a:xfrm>
          <a:prstGeom prst="roundRect">
            <a:avLst>
              <a:gd name="adj" fmla="val 49231"/>
            </a:avLst>
          </a:prstGeom>
          <a:solidFill>
            <a:srgbClr val="E2EAEE"/>
          </a:solidFill>
          <a:ln/>
        </p:spPr>
      </p:sp>
      <p:sp>
        <p:nvSpPr>
          <p:cNvPr id="80" name="Text 78"/>
          <p:cNvSpPr txBox="1"/>
          <p:nvPr/>
        </p:nvSpPr>
        <p:spPr>
          <a:xfrm>
            <a:off x="5029200" y="4561840"/>
            <a:ext cx="822960" cy="215392"/>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1" name="Text 79"/>
          <p:cNvSpPr txBox="1"/>
          <p:nvPr/>
        </p:nvSpPr>
        <p:spPr>
          <a:xfrm>
            <a:off x="5943600" y="4561840"/>
            <a:ext cx="822960" cy="2153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2" name="Shape 80"/>
          <p:cNvSpPr/>
          <p:nvPr/>
        </p:nvSpPr>
        <p:spPr>
          <a:xfrm>
            <a:off x="640080" y="4795520"/>
            <a:ext cx="6126480" cy="10973"/>
          </a:xfrm>
          <a:prstGeom prst="rect">
            <a:avLst/>
          </a:prstGeom>
          <a:solidFill>
            <a:srgbClr val="12293A"/>
          </a:solidFill>
          <a:ln/>
        </p:spPr>
      </p:sp>
      <p:sp>
        <p:nvSpPr>
          <p:cNvPr id="83" name="Text 81"/>
          <p:cNvSpPr txBox="1"/>
          <p:nvPr/>
        </p:nvSpPr>
        <p:spPr>
          <a:xfrm>
            <a:off x="640080" y="4822952"/>
            <a:ext cx="1783080" cy="21539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4" name="Text 82"/>
          <p:cNvSpPr txBox="1"/>
          <p:nvPr/>
        </p:nvSpPr>
        <p:spPr>
          <a:xfrm>
            <a:off x="2468880" y="4822952"/>
            <a:ext cx="2377440" cy="2153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8 PS people × 38h = 304h available</a:t>
            </a:r>
            <a:endParaRPr lang="en-US" sz="700" dirty="0"/>
          </a:p>
        </p:txBody>
      </p:sp>
      <p:sp>
        <p:nvSpPr>
          <p:cNvPr id="85" name="Text 83"/>
          <p:cNvSpPr txBox="1"/>
          <p:nvPr/>
        </p:nvSpPr>
        <p:spPr>
          <a:xfrm>
            <a:off x="5029200" y="4822952"/>
            <a:ext cx="822960" cy="215392"/>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39.45h</a:t>
            </a:r>
            <a:endParaRPr lang="en-US" sz="950" dirty="0"/>
          </a:p>
        </p:txBody>
      </p:sp>
      <p:sp>
        <p:nvSpPr>
          <p:cNvPr id="86" name="Text 84"/>
          <p:cNvSpPr txBox="1"/>
          <p:nvPr/>
        </p:nvSpPr>
        <p:spPr>
          <a:xfrm>
            <a:off x="5943600" y="4822952"/>
            <a:ext cx="822960" cy="215392"/>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13.0%</a:t>
            </a:r>
            <a:endParaRPr lang="en-US" sz="950" dirty="0"/>
          </a:p>
        </p:txBody>
      </p:sp>
      <p:sp>
        <p:nvSpPr>
          <p:cNvPr id="87" name="Text 85"/>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8 Professional Services people holding PS-pipeline tickets this week and not on leave, at 38h each. Isayah Kuhlmann was on leave and is out of the base. Lopez, Hikuroa, Magabo, Ho, Fenwick and Hettiarachchy hold PS tickets but are not PS staff — they and their hours are excluded; none carried hours this week.</a:t>
            </a:r>
            <a:endParaRPr lang="en-US" sz="580" dirty="0"/>
          </a:p>
        </p:txBody>
      </p:sp>
      <p:sp>
        <p:nvSpPr>
          <p:cNvPr id="88" name="Shape 86"/>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89" name="Text 87"/>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0" name="Text 88"/>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1" name="Text 89"/>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2" name="Text 90"/>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3" name="Text 91"/>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4" name="Shape 92"/>
          <p:cNvSpPr/>
          <p:nvPr/>
        </p:nvSpPr>
        <p:spPr>
          <a:xfrm>
            <a:off x="8823960" y="2928823"/>
            <a:ext cx="1371600" cy="54864"/>
          </a:xfrm>
          <a:prstGeom prst="roundRect">
            <a:avLst>
              <a:gd name="adj" fmla="val 50000"/>
            </a:avLst>
          </a:prstGeom>
          <a:solidFill>
            <a:srgbClr val="E2EAEE"/>
          </a:solidFill>
          <a:ln/>
        </p:spPr>
      </p:sp>
      <p:sp>
        <p:nvSpPr>
          <p:cNvPr id="95" name="Shape 93"/>
          <p:cNvSpPr/>
          <p:nvPr/>
        </p:nvSpPr>
        <p:spPr>
          <a:xfrm>
            <a:off x="8823960" y="2928823"/>
            <a:ext cx="1371600" cy="54864"/>
          </a:xfrm>
          <a:prstGeom prst="roundRect">
            <a:avLst>
              <a:gd name="adj" fmla="val 50000"/>
            </a:avLst>
          </a:prstGeom>
          <a:solidFill>
            <a:srgbClr val="2C8394"/>
          </a:solidFill>
          <a:ln/>
        </p:spPr>
      </p:sp>
      <p:sp>
        <p:nvSpPr>
          <p:cNvPr id="96" name="Text 94"/>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23.09h</a:t>
            </a:r>
            <a:endParaRPr lang="en-US" sz="750" dirty="0"/>
          </a:p>
        </p:txBody>
      </p:sp>
      <p:sp>
        <p:nvSpPr>
          <p:cNvPr id="97" name="Text 95"/>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58.5%</a:t>
            </a:r>
            <a:endParaRPr lang="en-US" sz="750" dirty="0"/>
          </a:p>
        </p:txBody>
      </p:sp>
      <p:sp>
        <p:nvSpPr>
          <p:cNvPr id="98" name="Text 96"/>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Onboarding</a:t>
            </a:r>
            <a:endParaRPr lang="en-US" sz="700" dirty="0"/>
          </a:p>
        </p:txBody>
      </p:sp>
      <p:sp>
        <p:nvSpPr>
          <p:cNvPr id="99" name="Shape 97"/>
          <p:cNvSpPr/>
          <p:nvPr/>
        </p:nvSpPr>
        <p:spPr>
          <a:xfrm>
            <a:off x="8823960" y="3080614"/>
            <a:ext cx="1371600" cy="54864"/>
          </a:xfrm>
          <a:prstGeom prst="roundRect">
            <a:avLst>
              <a:gd name="adj" fmla="val 50000"/>
            </a:avLst>
          </a:prstGeom>
          <a:solidFill>
            <a:srgbClr val="E2EAEE"/>
          </a:solidFill>
          <a:ln/>
        </p:spPr>
      </p:sp>
      <p:sp>
        <p:nvSpPr>
          <p:cNvPr id="100" name="Shape 98"/>
          <p:cNvSpPr/>
          <p:nvPr/>
        </p:nvSpPr>
        <p:spPr>
          <a:xfrm>
            <a:off x="8823960" y="3080614"/>
            <a:ext cx="386115" cy="54864"/>
          </a:xfrm>
          <a:prstGeom prst="roundRect">
            <a:avLst>
              <a:gd name="adj" fmla="val 50000"/>
            </a:avLst>
          </a:prstGeom>
          <a:solidFill>
            <a:srgbClr val="2C8394"/>
          </a:solidFill>
          <a:ln/>
        </p:spPr>
      </p:sp>
      <p:sp>
        <p:nvSpPr>
          <p:cNvPr id="101" name="Text 99"/>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2" name="Text 100"/>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3" name="Text 101"/>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104" name="Shape 102"/>
          <p:cNvSpPr/>
          <p:nvPr/>
        </p:nvSpPr>
        <p:spPr>
          <a:xfrm>
            <a:off x="8823960" y="3232404"/>
            <a:ext cx="1371600" cy="54864"/>
          </a:xfrm>
          <a:prstGeom prst="roundRect">
            <a:avLst>
              <a:gd name="adj" fmla="val 50000"/>
            </a:avLst>
          </a:prstGeom>
          <a:solidFill>
            <a:srgbClr val="E2EAEE"/>
          </a:solidFill>
          <a:ln/>
        </p:spPr>
      </p:sp>
      <p:sp>
        <p:nvSpPr>
          <p:cNvPr id="105" name="Shape 103"/>
          <p:cNvSpPr/>
          <p:nvPr/>
        </p:nvSpPr>
        <p:spPr>
          <a:xfrm>
            <a:off x="8823960" y="3232404"/>
            <a:ext cx="386115" cy="54864"/>
          </a:xfrm>
          <a:prstGeom prst="roundRect">
            <a:avLst>
              <a:gd name="adj" fmla="val 50000"/>
            </a:avLst>
          </a:prstGeom>
          <a:solidFill>
            <a:srgbClr val="2C8394"/>
          </a:solidFill>
          <a:ln/>
        </p:spPr>
      </p:sp>
      <p:sp>
        <p:nvSpPr>
          <p:cNvPr id="106" name="Text 104"/>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7" name="Text 105"/>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8" name="Text 106"/>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9" name="Shape 107"/>
          <p:cNvSpPr/>
          <p:nvPr/>
        </p:nvSpPr>
        <p:spPr>
          <a:xfrm>
            <a:off x="8823960" y="3384194"/>
            <a:ext cx="1371600" cy="54864"/>
          </a:xfrm>
          <a:prstGeom prst="roundRect">
            <a:avLst>
              <a:gd name="adj" fmla="val 50000"/>
            </a:avLst>
          </a:prstGeom>
          <a:solidFill>
            <a:srgbClr val="E2EAEE"/>
          </a:solidFill>
          <a:ln/>
        </p:spPr>
      </p:sp>
      <p:sp>
        <p:nvSpPr>
          <p:cNvPr id="110" name="Shape 108"/>
          <p:cNvSpPr/>
          <p:nvPr/>
        </p:nvSpPr>
        <p:spPr>
          <a:xfrm>
            <a:off x="8823960" y="3384194"/>
            <a:ext cx="199592" cy="54864"/>
          </a:xfrm>
          <a:prstGeom prst="roundRect">
            <a:avLst>
              <a:gd name="adj" fmla="val 50000"/>
            </a:avLst>
          </a:prstGeom>
          <a:solidFill>
            <a:srgbClr val="2C8394"/>
          </a:solidFill>
          <a:ln/>
        </p:spPr>
      </p:sp>
      <p:sp>
        <p:nvSpPr>
          <p:cNvPr id="111" name="Text 109"/>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3.36h</a:t>
            </a:r>
            <a:endParaRPr lang="en-US" sz="750" dirty="0"/>
          </a:p>
        </p:txBody>
      </p:sp>
      <p:sp>
        <p:nvSpPr>
          <p:cNvPr id="112" name="Text 110"/>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8.5%</a:t>
            </a:r>
            <a:endParaRPr lang="en-US" sz="750" dirty="0"/>
          </a:p>
        </p:txBody>
      </p:sp>
      <p:sp>
        <p:nvSpPr>
          <p:cNvPr id="113" name="Text 111"/>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4" name="Shape 112"/>
          <p:cNvSpPr/>
          <p:nvPr/>
        </p:nvSpPr>
        <p:spPr>
          <a:xfrm>
            <a:off x="8823960" y="3535985"/>
            <a:ext cx="1371600" cy="54864"/>
          </a:xfrm>
          <a:prstGeom prst="roundRect">
            <a:avLst>
              <a:gd name="adj" fmla="val 50000"/>
            </a:avLst>
          </a:prstGeom>
          <a:solidFill>
            <a:srgbClr val="E2EAEE"/>
          </a:solidFill>
          <a:ln/>
        </p:spPr>
      </p:sp>
      <p:sp>
        <p:nvSpPr>
          <p:cNvPr id="115" name="Text 113"/>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6" name="Text 114"/>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7" name="Shape 115"/>
          <p:cNvSpPr/>
          <p:nvPr/>
        </p:nvSpPr>
        <p:spPr>
          <a:xfrm>
            <a:off x="7379208" y="3657600"/>
            <a:ext cx="4197096" cy="10973"/>
          </a:xfrm>
          <a:prstGeom prst="rect">
            <a:avLst/>
          </a:prstGeom>
          <a:solidFill>
            <a:srgbClr val="12293A"/>
          </a:solidFill>
          <a:ln/>
        </p:spPr>
      </p:sp>
      <p:sp>
        <p:nvSpPr>
          <p:cNvPr id="118" name="Text 116"/>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9" name="Text 117"/>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27 PS items carry time</a:t>
            </a:r>
            <a:endParaRPr lang="en-US" sz="630" dirty="0"/>
          </a:p>
        </p:txBody>
      </p:sp>
      <p:sp>
        <p:nvSpPr>
          <p:cNvPr id="120" name="Text 118"/>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39.45h</a:t>
            </a:r>
            <a:endParaRPr lang="en-US" sz="850" dirty="0"/>
          </a:p>
        </p:txBody>
      </p:sp>
      <p:sp>
        <p:nvSpPr>
          <p:cNvPr id="121" name="Text 119"/>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2" name="Shape 120"/>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3" name="Text 121"/>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4" name="Text 122"/>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5" name="Text 123"/>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6" name="Text 124"/>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7" name="Text 125"/>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8" name="Text 126"/>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9" name="Shape 127"/>
          <p:cNvSpPr/>
          <p:nvPr/>
        </p:nvSpPr>
        <p:spPr>
          <a:xfrm>
            <a:off x="7379208" y="4585716"/>
            <a:ext cx="4197096" cy="5486"/>
          </a:xfrm>
          <a:prstGeom prst="rect">
            <a:avLst/>
          </a:prstGeom>
          <a:solidFill>
            <a:srgbClr val="E2EAEE"/>
          </a:solidFill>
          <a:ln/>
        </p:spPr>
      </p:sp>
      <p:sp>
        <p:nvSpPr>
          <p:cNvPr id="130" name="Text 128"/>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31" name="Text 129"/>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32" name="Text 130"/>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44.50h</a:t>
            </a:r>
            <a:endParaRPr lang="en-US" sz="750" dirty="0"/>
          </a:p>
        </p:txBody>
      </p:sp>
      <p:sp>
        <p:nvSpPr>
          <p:cNvPr id="133" name="Text 131"/>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34" name="Text 132"/>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+23.75h</a:t>
            </a:r>
            <a:endParaRPr lang="en-US" sz="610" dirty="0"/>
          </a:p>
        </p:txBody>
      </p:sp>
      <p:sp>
        <p:nvSpPr>
          <p:cNvPr id="135" name="Shape 133"/>
          <p:cNvSpPr/>
          <p:nvPr/>
        </p:nvSpPr>
        <p:spPr>
          <a:xfrm>
            <a:off x="7379208" y="4736592"/>
            <a:ext cx="4197096" cy="5486"/>
          </a:xfrm>
          <a:prstGeom prst="rect">
            <a:avLst/>
          </a:prstGeom>
          <a:solidFill>
            <a:srgbClr val="E2EAEE"/>
          </a:solidFill>
          <a:ln/>
        </p:spPr>
      </p:sp>
      <p:sp>
        <p:nvSpPr>
          <p:cNvPr id="136" name="Text 134"/>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37" name="Text 135"/>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30</a:t>
            </a:r>
            <a:endParaRPr lang="en-US" sz="700" dirty="0"/>
          </a:p>
        </p:txBody>
      </p:sp>
      <p:sp>
        <p:nvSpPr>
          <p:cNvPr id="138" name="Text 136"/>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81.96h</a:t>
            </a:r>
            <a:endParaRPr lang="en-US" sz="750" dirty="0"/>
          </a:p>
        </p:txBody>
      </p:sp>
      <p:sp>
        <p:nvSpPr>
          <p:cNvPr id="139" name="Text 137"/>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30.8%</a:t>
            </a:r>
            <a:endParaRPr lang="en-US" sz="750" dirty="0"/>
          </a:p>
        </p:txBody>
      </p:sp>
      <p:sp>
        <p:nvSpPr>
          <p:cNvPr id="140" name="Text 138"/>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−6.91h</a:t>
            </a:r>
            <a:endParaRPr lang="en-US" sz="610" dirty="0"/>
          </a:p>
        </p:txBody>
      </p:sp>
      <p:sp>
        <p:nvSpPr>
          <p:cNvPr id="141" name="Shape 139"/>
          <p:cNvSpPr/>
          <p:nvPr/>
        </p:nvSpPr>
        <p:spPr>
          <a:xfrm>
            <a:off x="7379208" y="4887468"/>
            <a:ext cx="4197096" cy="5486"/>
          </a:xfrm>
          <a:prstGeom prst="rect">
            <a:avLst/>
          </a:prstGeom>
          <a:solidFill>
            <a:srgbClr val="E2EAEE"/>
          </a:solidFill>
          <a:ln/>
        </p:spPr>
      </p:sp>
      <p:sp>
        <p:nvSpPr>
          <p:cNvPr id="142" name="Text 140"/>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5–11 Oct</a:t>
            </a:r>
            <a:endParaRPr lang="en-US" sz="700" dirty="0"/>
          </a:p>
        </p:txBody>
      </p:sp>
      <p:sp>
        <p:nvSpPr>
          <p:cNvPr id="143" name="Text 141"/>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19</a:t>
            </a:r>
            <a:endParaRPr lang="en-US" sz="700" dirty="0"/>
          </a:p>
        </p:txBody>
      </p:sp>
      <p:sp>
        <p:nvSpPr>
          <p:cNvPr id="144" name="Text 142"/>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30.25h</a:t>
            </a:r>
            <a:endParaRPr lang="en-US" sz="750" dirty="0"/>
          </a:p>
        </p:txBody>
      </p:sp>
      <p:sp>
        <p:nvSpPr>
          <p:cNvPr id="145" name="Text 143"/>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8.8%</a:t>
            </a:r>
            <a:endParaRPr lang="en-US" sz="750" dirty="0"/>
          </a:p>
        </p:txBody>
      </p:sp>
      <p:sp>
        <p:nvSpPr>
          <p:cNvPr id="146" name="Text 144"/>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21.25h · 6.2%   ▲ +9.00h</a:t>
            </a:r>
            <a:endParaRPr lang="en-US" sz="610" dirty="0"/>
          </a:p>
        </p:txBody>
      </p:sp>
      <p:sp>
        <p:nvSpPr>
          <p:cNvPr id="147" name="Shape 145"/>
          <p:cNvSpPr/>
          <p:nvPr/>
        </p:nvSpPr>
        <p:spPr>
          <a:xfrm>
            <a:off x="7379208" y="5038344"/>
            <a:ext cx="4197096" cy="5486"/>
          </a:xfrm>
          <a:prstGeom prst="rect">
            <a:avLst/>
          </a:prstGeom>
          <a:solidFill>
            <a:srgbClr val="E2EAEE"/>
          </a:solidFill>
          <a:ln/>
        </p:spPr>
      </p:sp>
      <p:sp>
        <p:nvSpPr>
          <p:cNvPr id="148" name="Text 146"/>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12–18 Oct  ●</a:t>
            </a:r>
            <a:endParaRPr lang="en-US" sz="700" dirty="0"/>
          </a:p>
        </p:txBody>
      </p:sp>
      <p:sp>
        <p:nvSpPr>
          <p:cNvPr id="149" name="Text 147"/>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50" name="Text 148"/>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39.45h</a:t>
            </a:r>
            <a:endParaRPr lang="en-US" sz="750" dirty="0"/>
          </a:p>
        </p:txBody>
      </p:sp>
      <p:sp>
        <p:nvSpPr>
          <p:cNvPr id="151" name="Text 149"/>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52" name="Text 150"/>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3" name="Text 151"/>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9 for the September weeks, 7 for 28 Sep–4 Oct (Rhys and Rodney on leave) and 8 for 12–18 Oct (Isayah on leave). PS-pipeline tickets by Sydney week.</a:t>
            </a:r>
            <a:endParaRPr lang="en-US" sz="580" dirty="0"/>
          </a:p>
        </p:txBody>
      </p:sp>
      <p:sp>
        <p:nvSpPr>
          <p:cNvPr id="154" name="Shape 152"/>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5" name="Text 153"/>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6" name="Text 154"/>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 restated up 42% in seven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5–11 Oct went out at 21.25h (6.2%) and now reads 30.25h (8.8%); 21–27 Sep has grown again to 44.50h from the 20.75h first published. Only 28 Sep–4 Oct sits below its first number, and that is the attribution fix from last week. Treat 13.0% as a floor.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manager logged more than the team.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19.50h — half the week — against Joshua Casey 6.50h and Rodney Nolan 5.75h; Karim AlRifaii logged nothing. Strip Rhys out and utilisation is 6.6%.</a:t>
            </a:r>
            <a:endParaRPr lang="en-US" sz="900" dirty="0"/>
          </a:p>
        </p:txBody>
      </p:sp>
      <p:sp>
        <p:nvSpPr>
          <p:cNvPr id="157" name="Shape 155"/>
          <p:cNvSpPr/>
          <p:nvPr/>
        </p:nvSpPr>
        <p:spPr>
          <a:xfrm>
            <a:off x="5925312" y="6510528"/>
            <a:ext cx="5852160" cy="256032"/>
          </a:xfrm>
          <a:prstGeom prst="roundRect">
            <a:avLst>
              <a:gd name="adj" fmla="val 46429"/>
            </a:avLst>
          </a:prstGeom>
          <a:solidFill>
            <a:srgbClr val="12293A"/>
          </a:solidFill>
          <a:ln/>
        </p:spPr>
      </p:sp>
      <p:sp>
        <p:nvSpPr>
          <p:cNvPr id="158" name="Text 156"/>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Closed Won — Not Yet Live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WON, NOT YET BILLING</a:t>
            </a:r>
            <a:endParaRPr lang="en-US" sz="950" dirty="0"/>
          </a:p>
        </p:txBody>
      </p:sp>
      <p:sp>
        <p:nvSpPr>
          <p:cNvPr id="15" name="Text 13"/>
          <p:cNvSpPr txBox="1"/>
          <p:nvPr/>
        </p:nvSpPr>
        <p:spPr>
          <a:xfrm>
            <a:off x="5577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a:t>
            </a:r>
            <a:endParaRPr lang="en-US" sz="2600" dirty="0"/>
          </a:p>
        </p:txBody>
      </p:sp>
      <p:sp>
        <p:nvSpPr>
          <p:cNvPr id="16" name="Text 14"/>
          <p:cNvSpPr txBox="1"/>
          <p:nvPr/>
        </p:nvSpPr>
        <p:spPr>
          <a:xfrm>
            <a:off x="5760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of the 95 deals won with recurring revenue in 2026</a:t>
            </a:r>
            <a:endParaRPr lang="en-US" sz="780" dirty="0"/>
          </a:p>
        </p:txBody>
      </p:sp>
      <p:sp>
        <p:nvSpPr>
          <p:cNvPr id="17" name="Shape 15"/>
          <p:cNvSpPr/>
          <p:nvPr/>
        </p:nvSpPr>
        <p:spPr>
          <a:xfrm>
            <a:off x="33832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5478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ARR AT STAKE</a:t>
            </a:r>
            <a:endParaRPr lang="en-US" sz="950" dirty="0"/>
          </a:p>
        </p:txBody>
      </p:sp>
      <p:sp>
        <p:nvSpPr>
          <p:cNvPr id="19" name="Text 17"/>
          <p:cNvSpPr txBox="1"/>
          <p:nvPr/>
        </p:nvSpPr>
        <p:spPr>
          <a:xfrm>
            <a:off x="35295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$240k</a:t>
            </a:r>
            <a:endParaRPr lang="en-US" sz="2600" dirty="0"/>
          </a:p>
        </p:txBody>
      </p:sp>
      <p:sp>
        <p:nvSpPr>
          <p:cNvPr id="20" name="Text 18"/>
          <p:cNvSpPr txBox="1"/>
          <p:nvPr/>
        </p:nvSpPr>
        <p:spPr>
          <a:xfrm>
            <a:off x="35478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$20,038/mo signed and not invoiced</a:t>
            </a:r>
            <a:endParaRPr lang="en-US" sz="780" dirty="0"/>
          </a:p>
        </p:txBody>
      </p:sp>
      <p:sp>
        <p:nvSpPr>
          <p:cNvPr id="21" name="Shape 19"/>
          <p:cNvSpPr/>
          <p:nvPr/>
        </p:nvSpPr>
        <p:spPr>
          <a:xfrm>
            <a:off x="63550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5196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OLDEST</a:t>
            </a:r>
            <a:endParaRPr lang="en-US" sz="950" dirty="0"/>
          </a:p>
        </p:txBody>
      </p:sp>
      <p:sp>
        <p:nvSpPr>
          <p:cNvPr id="23" name="Text 21"/>
          <p:cNvSpPr txBox="1"/>
          <p:nvPr/>
        </p:nvSpPr>
        <p:spPr>
          <a:xfrm>
            <a:off x="65013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209 Days</a:t>
            </a:r>
            <a:endParaRPr lang="en-US" sz="2600" dirty="0"/>
          </a:p>
        </p:txBody>
      </p:sp>
      <p:sp>
        <p:nvSpPr>
          <p:cNvPr id="24" name="Text 22"/>
          <p:cNvSpPr txBox="1"/>
          <p:nvPr/>
        </p:nvSpPr>
        <p:spPr>
          <a:xfrm>
            <a:off x="65196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The Berrigan — closed 23 March</a:t>
            </a:r>
            <a:endParaRPr lang="en-US" sz="780" dirty="0"/>
          </a:p>
        </p:txBody>
      </p:sp>
      <p:sp>
        <p:nvSpPr>
          <p:cNvPr id="25" name="Shape 23"/>
          <p:cNvSpPr/>
          <p:nvPr/>
        </p:nvSpPr>
        <p:spPr>
          <a:xfrm>
            <a:off x="9326880" y="987552"/>
            <a:ext cx="245059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9491472" y="1078992"/>
            <a:ext cx="2121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AGE</a:t>
            </a:r>
            <a:endParaRPr lang="en-US" sz="950" dirty="0"/>
          </a:p>
        </p:txBody>
      </p:sp>
      <p:sp>
        <p:nvSpPr>
          <p:cNvPr id="27" name="Text 25"/>
          <p:cNvSpPr txBox="1"/>
          <p:nvPr/>
        </p:nvSpPr>
        <p:spPr>
          <a:xfrm>
            <a:off x="9473184" y="1261872"/>
            <a:ext cx="2157984"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31 Days</a:t>
            </a:r>
            <a:endParaRPr lang="en-US" sz="2600" dirty="0"/>
          </a:p>
        </p:txBody>
      </p:sp>
      <p:sp>
        <p:nvSpPr>
          <p:cNvPr id="28" name="Text 26"/>
          <p:cNvSpPr txBox="1"/>
          <p:nvPr/>
        </p:nvSpPr>
        <p:spPr>
          <a:xfrm>
            <a:off x="9491472" y="1609344"/>
            <a:ext cx="212140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since close</a:t>
            </a:r>
            <a:endParaRPr lang="en-US" sz="780" dirty="0"/>
          </a:p>
        </p:txBody>
      </p:sp>
      <p:sp>
        <p:nvSpPr>
          <p:cNvPr id="29" name="Shape 27"/>
          <p:cNvSpPr/>
          <p:nvPr/>
        </p:nvSpPr>
        <p:spPr>
          <a:xfrm>
            <a:off x="411480" y="2212848"/>
            <a:ext cx="6675120" cy="4096512"/>
          </a:xfrm>
          <a:prstGeom prst="roundRect">
            <a:avLst>
              <a:gd name="adj" fmla="val 1563"/>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322576"/>
            <a:ext cx="6272784"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WON WITH RECURRING REVENUE, NO INVOICE RAISED   </a:t>
            </a:r>
            <a:pPr indent="0" marL="0">
              <a:buNone/>
            </a:pPr>
            <a:r>
              <a:rPr lang="en-US" sz="650" dirty="0">
                <a:solidFill>
                  <a:srgbClr val="8FA1AC"/>
                </a:solidFill>
                <a:latin typeface="Poppins" pitchFamily="34" charset="0"/>
                <a:ea typeface="Poppins" pitchFamily="34" charset="-122"/>
                <a:cs typeface="Poppins" pitchFamily="34" charset="-120"/>
              </a:rPr>
              <a:t>matched on debtor ID and venue name</a:t>
            </a:r>
            <a:endParaRPr lang="en-US" sz="1100" dirty="0"/>
          </a:p>
        </p:txBody>
      </p:sp>
      <p:sp>
        <p:nvSpPr>
          <p:cNvPr id="31" name="Text 29"/>
          <p:cNvSpPr txBox="1"/>
          <p:nvPr/>
        </p:nvSpPr>
        <p:spPr>
          <a:xfrm>
            <a:off x="612648" y="2615184"/>
            <a:ext cx="274320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VENUE</a:t>
            </a:r>
            <a:endParaRPr lang="en-US" sz="680" dirty="0"/>
          </a:p>
        </p:txBody>
      </p:sp>
      <p:sp>
        <p:nvSpPr>
          <p:cNvPr id="32" name="Text 30"/>
          <p:cNvSpPr txBox="1"/>
          <p:nvPr/>
        </p:nvSpPr>
        <p:spPr>
          <a:xfrm>
            <a:off x="3374136" y="2615184"/>
            <a:ext cx="137160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ACCOUNT MANAGER</a:t>
            </a:r>
            <a:endParaRPr lang="en-US" sz="680" dirty="0"/>
          </a:p>
        </p:txBody>
      </p:sp>
      <p:sp>
        <p:nvSpPr>
          <p:cNvPr id="33" name="Text 31"/>
          <p:cNvSpPr txBox="1"/>
          <p:nvPr/>
        </p:nvSpPr>
        <p:spPr>
          <a:xfrm>
            <a:off x="4782312" y="2615184"/>
            <a:ext cx="73152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CLOSED</a:t>
            </a:r>
            <a:endParaRPr lang="en-US" sz="680" dirty="0"/>
          </a:p>
        </p:txBody>
      </p:sp>
      <p:sp>
        <p:nvSpPr>
          <p:cNvPr id="34" name="Text 32"/>
          <p:cNvSpPr txBox="1"/>
          <p:nvPr/>
        </p:nvSpPr>
        <p:spPr>
          <a:xfrm>
            <a:off x="5532120" y="2615184"/>
            <a:ext cx="457200" cy="182880"/>
          </a:xfrm>
          <a:prstGeom prst="rect">
            <a:avLst/>
          </a:prstGeom>
          <a:noFill/>
          <a:ln/>
        </p:spPr>
        <p:txBody>
          <a:bodyPr wrap="square" lIns="0" tIns="0" rIns="0" bIns="0" rtlCol="0" anchor="ctr"/>
          <a:lstStyle/>
          <a:p>
            <a:pPr algn="r" indent="0" marL="0">
              <a:buNone/>
            </a:pPr>
            <a:r>
              <a:rPr lang="en-US" sz="680" b="1" dirty="0">
                <a:solidFill>
                  <a:srgbClr val="5E7280"/>
                </a:solidFill>
                <a:latin typeface="Poppins" pitchFamily="34" charset="0"/>
                <a:ea typeface="Poppins" pitchFamily="34" charset="-122"/>
                <a:cs typeface="Poppins" pitchFamily="34" charset="-120"/>
              </a:rPr>
              <a:t>DAYS</a:t>
            </a:r>
            <a:endParaRPr lang="en-US" sz="680" dirty="0"/>
          </a:p>
        </p:txBody>
      </p:sp>
      <p:sp>
        <p:nvSpPr>
          <p:cNvPr id="35" name="Text 33"/>
          <p:cNvSpPr txBox="1"/>
          <p:nvPr/>
        </p:nvSpPr>
        <p:spPr>
          <a:xfrm>
            <a:off x="6025896" y="2615184"/>
            <a:ext cx="768096" cy="182880"/>
          </a:xfrm>
          <a:prstGeom prst="rect">
            <a:avLst/>
          </a:prstGeom>
          <a:noFill/>
          <a:ln/>
        </p:spPr>
        <p:txBody>
          <a:bodyPr wrap="square" lIns="0" tIns="0" rIns="0" bIns="0" rtlCol="0" anchor="ctr"/>
          <a:lstStyle/>
          <a:p>
            <a:pPr algn="r" indent="0" marL="0">
              <a:buNone/>
            </a:pPr>
            <a:r>
              <a:rPr lang="en-US" sz="680" b="1" dirty="0">
                <a:solidFill>
                  <a:srgbClr val="5E7280"/>
                </a:solidFill>
                <a:latin typeface="Poppins" pitchFamily="34" charset="0"/>
                <a:ea typeface="Poppins" pitchFamily="34" charset="-122"/>
                <a:cs typeface="Poppins" pitchFamily="34" charset="-120"/>
              </a:rPr>
              <a:t>MRR/MO</a:t>
            </a:r>
            <a:endParaRPr lang="en-US" sz="680" dirty="0"/>
          </a:p>
        </p:txBody>
      </p:sp>
      <p:sp>
        <p:nvSpPr>
          <p:cNvPr id="36" name="Text 34"/>
          <p:cNvSpPr txBox="1"/>
          <p:nvPr/>
        </p:nvSpPr>
        <p:spPr>
          <a:xfrm>
            <a:off x="612648" y="2834640"/>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Oscars Hotels</a:t>
            </a:r>
            <a:endParaRPr lang="en-US" sz="720" dirty="0"/>
          </a:p>
        </p:txBody>
      </p:sp>
      <p:sp>
        <p:nvSpPr>
          <p:cNvPr id="37" name="Text 35"/>
          <p:cNvSpPr txBox="1"/>
          <p:nvPr/>
        </p:nvSpPr>
        <p:spPr>
          <a:xfrm>
            <a:off x="3374136" y="283464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38" name="Text 36"/>
          <p:cNvSpPr txBox="1"/>
          <p:nvPr/>
        </p:nvSpPr>
        <p:spPr>
          <a:xfrm>
            <a:off x="4782312" y="283464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31 Mar</a:t>
            </a:r>
            <a:endParaRPr lang="en-US" sz="700" dirty="0"/>
          </a:p>
        </p:txBody>
      </p:sp>
      <p:sp>
        <p:nvSpPr>
          <p:cNvPr id="39" name="Text 37"/>
          <p:cNvSpPr txBox="1"/>
          <p:nvPr/>
        </p:nvSpPr>
        <p:spPr>
          <a:xfrm>
            <a:off x="5532120" y="2834640"/>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201</a:t>
            </a:r>
            <a:endParaRPr lang="en-US" sz="720" dirty="0"/>
          </a:p>
        </p:txBody>
      </p:sp>
      <p:sp>
        <p:nvSpPr>
          <p:cNvPr id="40" name="Text 38"/>
          <p:cNvSpPr txBox="1"/>
          <p:nvPr/>
        </p:nvSpPr>
        <p:spPr>
          <a:xfrm>
            <a:off x="6025896" y="283464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$12,880</a:t>
            </a:r>
            <a:endParaRPr lang="en-US" sz="720" dirty="0"/>
          </a:p>
        </p:txBody>
      </p:sp>
      <p:sp>
        <p:nvSpPr>
          <p:cNvPr id="41" name="Shape 39"/>
          <p:cNvSpPr/>
          <p:nvPr/>
        </p:nvSpPr>
        <p:spPr>
          <a:xfrm>
            <a:off x="539496" y="2989174"/>
            <a:ext cx="6419088" cy="154534"/>
          </a:xfrm>
          <a:prstGeom prst="rect">
            <a:avLst/>
          </a:prstGeom>
          <a:solidFill>
            <a:srgbClr val="F2F6F8"/>
          </a:solidFill>
          <a:ln/>
        </p:spPr>
      </p:sp>
      <p:sp>
        <p:nvSpPr>
          <p:cNvPr id="42" name="Text 40"/>
          <p:cNvSpPr txBox="1"/>
          <p:nvPr/>
        </p:nvSpPr>
        <p:spPr>
          <a:xfrm>
            <a:off x="612648" y="2989174"/>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Mt Henry Tavern</a:t>
            </a:r>
            <a:endParaRPr lang="en-US" sz="720" dirty="0"/>
          </a:p>
        </p:txBody>
      </p:sp>
      <p:sp>
        <p:nvSpPr>
          <p:cNvPr id="43" name="Text 41"/>
          <p:cNvSpPr txBox="1"/>
          <p:nvPr/>
        </p:nvSpPr>
        <p:spPr>
          <a:xfrm>
            <a:off x="3374136" y="298917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44" name="Text 42"/>
          <p:cNvSpPr txBox="1"/>
          <p:nvPr/>
        </p:nvSpPr>
        <p:spPr>
          <a:xfrm>
            <a:off x="4782312" y="298917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 Oct</a:t>
            </a:r>
            <a:endParaRPr lang="en-US" sz="700" dirty="0"/>
          </a:p>
        </p:txBody>
      </p:sp>
      <p:sp>
        <p:nvSpPr>
          <p:cNvPr id="45" name="Text 43"/>
          <p:cNvSpPr txBox="1"/>
          <p:nvPr/>
        </p:nvSpPr>
        <p:spPr>
          <a:xfrm>
            <a:off x="5532120" y="2989174"/>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17</a:t>
            </a:r>
            <a:endParaRPr lang="en-US" sz="720" dirty="0"/>
          </a:p>
        </p:txBody>
      </p:sp>
      <p:sp>
        <p:nvSpPr>
          <p:cNvPr id="46" name="Text 44"/>
          <p:cNvSpPr txBox="1"/>
          <p:nvPr/>
        </p:nvSpPr>
        <p:spPr>
          <a:xfrm>
            <a:off x="6025896" y="298917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$905</a:t>
            </a:r>
            <a:endParaRPr lang="en-US" sz="720" dirty="0"/>
          </a:p>
        </p:txBody>
      </p:sp>
      <p:sp>
        <p:nvSpPr>
          <p:cNvPr id="47" name="Text 45"/>
          <p:cNvSpPr txBox="1"/>
          <p:nvPr/>
        </p:nvSpPr>
        <p:spPr>
          <a:xfrm>
            <a:off x="612648" y="3143707"/>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Caves House Hotel</a:t>
            </a:r>
            <a:endParaRPr lang="en-US" sz="720" dirty="0"/>
          </a:p>
        </p:txBody>
      </p:sp>
      <p:sp>
        <p:nvSpPr>
          <p:cNvPr id="48" name="Text 46"/>
          <p:cNvSpPr txBox="1"/>
          <p:nvPr/>
        </p:nvSpPr>
        <p:spPr>
          <a:xfrm>
            <a:off x="3374136" y="3143707"/>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49" name="Text 47"/>
          <p:cNvSpPr txBox="1"/>
          <p:nvPr/>
        </p:nvSpPr>
        <p:spPr>
          <a:xfrm>
            <a:off x="4782312" y="3143707"/>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11 Aug</a:t>
            </a:r>
            <a:endParaRPr lang="en-US" sz="700" dirty="0"/>
          </a:p>
        </p:txBody>
      </p:sp>
      <p:sp>
        <p:nvSpPr>
          <p:cNvPr id="50" name="Text 48"/>
          <p:cNvSpPr txBox="1"/>
          <p:nvPr/>
        </p:nvSpPr>
        <p:spPr>
          <a:xfrm>
            <a:off x="5532120" y="3143707"/>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68</a:t>
            </a:r>
            <a:endParaRPr lang="en-US" sz="720" dirty="0"/>
          </a:p>
        </p:txBody>
      </p:sp>
      <p:sp>
        <p:nvSpPr>
          <p:cNvPr id="51" name="Text 49"/>
          <p:cNvSpPr txBox="1"/>
          <p:nvPr/>
        </p:nvSpPr>
        <p:spPr>
          <a:xfrm>
            <a:off x="6025896" y="3143707"/>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$669</a:t>
            </a:r>
            <a:endParaRPr lang="en-US" sz="720" dirty="0"/>
          </a:p>
        </p:txBody>
      </p:sp>
      <p:sp>
        <p:nvSpPr>
          <p:cNvPr id="52" name="Shape 50"/>
          <p:cNvSpPr/>
          <p:nvPr/>
        </p:nvSpPr>
        <p:spPr>
          <a:xfrm>
            <a:off x="539496" y="3298241"/>
            <a:ext cx="6419088" cy="154534"/>
          </a:xfrm>
          <a:prstGeom prst="rect">
            <a:avLst/>
          </a:prstGeom>
          <a:solidFill>
            <a:srgbClr val="F2F6F8"/>
          </a:solidFill>
          <a:ln/>
        </p:spPr>
      </p:sp>
      <p:sp>
        <p:nvSpPr>
          <p:cNvPr id="53" name="Text 51"/>
          <p:cNvSpPr txBox="1"/>
          <p:nvPr/>
        </p:nvSpPr>
        <p:spPr>
          <a:xfrm>
            <a:off x="612648" y="3298241"/>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Pier Hotel - Pt Lincoln</a:t>
            </a:r>
            <a:endParaRPr lang="en-US" sz="720" dirty="0"/>
          </a:p>
        </p:txBody>
      </p:sp>
      <p:sp>
        <p:nvSpPr>
          <p:cNvPr id="54" name="Text 52"/>
          <p:cNvSpPr txBox="1"/>
          <p:nvPr/>
        </p:nvSpPr>
        <p:spPr>
          <a:xfrm>
            <a:off x="3374136" y="3298241"/>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55" name="Text 53"/>
          <p:cNvSpPr txBox="1"/>
          <p:nvPr/>
        </p:nvSpPr>
        <p:spPr>
          <a:xfrm>
            <a:off x="4782312" y="3298241"/>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30 Sep</a:t>
            </a:r>
            <a:endParaRPr lang="en-US" sz="700" dirty="0"/>
          </a:p>
        </p:txBody>
      </p:sp>
      <p:sp>
        <p:nvSpPr>
          <p:cNvPr id="56" name="Text 54"/>
          <p:cNvSpPr txBox="1"/>
          <p:nvPr/>
        </p:nvSpPr>
        <p:spPr>
          <a:xfrm>
            <a:off x="5532120" y="3298241"/>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18</a:t>
            </a:r>
            <a:endParaRPr lang="en-US" sz="720" dirty="0"/>
          </a:p>
        </p:txBody>
      </p:sp>
      <p:sp>
        <p:nvSpPr>
          <p:cNvPr id="57" name="Text 55"/>
          <p:cNvSpPr txBox="1"/>
          <p:nvPr/>
        </p:nvSpPr>
        <p:spPr>
          <a:xfrm>
            <a:off x="6025896" y="3298241"/>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$648</a:t>
            </a:r>
            <a:endParaRPr lang="en-US" sz="720" dirty="0"/>
          </a:p>
        </p:txBody>
      </p:sp>
      <p:sp>
        <p:nvSpPr>
          <p:cNvPr id="58" name="Text 56"/>
          <p:cNvSpPr txBox="1"/>
          <p:nvPr/>
        </p:nvSpPr>
        <p:spPr>
          <a:xfrm>
            <a:off x="612648" y="3452774"/>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The Iris Pavilion</a:t>
            </a:r>
            <a:endParaRPr lang="en-US" sz="720" dirty="0"/>
          </a:p>
        </p:txBody>
      </p:sp>
      <p:sp>
        <p:nvSpPr>
          <p:cNvPr id="59" name="Text 57"/>
          <p:cNvSpPr txBox="1"/>
          <p:nvPr/>
        </p:nvSpPr>
        <p:spPr>
          <a:xfrm>
            <a:off x="3374136" y="345277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60" name="Text 58"/>
          <p:cNvSpPr txBox="1"/>
          <p:nvPr/>
        </p:nvSpPr>
        <p:spPr>
          <a:xfrm>
            <a:off x="4782312" y="345277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30 Sep</a:t>
            </a:r>
            <a:endParaRPr lang="en-US" sz="700" dirty="0"/>
          </a:p>
        </p:txBody>
      </p:sp>
      <p:sp>
        <p:nvSpPr>
          <p:cNvPr id="61" name="Text 59"/>
          <p:cNvSpPr txBox="1"/>
          <p:nvPr/>
        </p:nvSpPr>
        <p:spPr>
          <a:xfrm>
            <a:off x="5532120" y="3452774"/>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18</a:t>
            </a:r>
            <a:endParaRPr lang="en-US" sz="720" dirty="0"/>
          </a:p>
        </p:txBody>
      </p:sp>
      <p:sp>
        <p:nvSpPr>
          <p:cNvPr id="62" name="Text 60"/>
          <p:cNvSpPr txBox="1"/>
          <p:nvPr/>
        </p:nvSpPr>
        <p:spPr>
          <a:xfrm>
            <a:off x="6025896" y="345277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$623</a:t>
            </a:r>
            <a:endParaRPr lang="en-US" sz="720" dirty="0"/>
          </a:p>
        </p:txBody>
      </p:sp>
      <p:sp>
        <p:nvSpPr>
          <p:cNvPr id="63" name="Shape 61"/>
          <p:cNvSpPr/>
          <p:nvPr/>
        </p:nvSpPr>
        <p:spPr>
          <a:xfrm>
            <a:off x="539496" y="3607308"/>
            <a:ext cx="6419088" cy="154534"/>
          </a:xfrm>
          <a:prstGeom prst="rect">
            <a:avLst/>
          </a:prstGeom>
          <a:solidFill>
            <a:srgbClr val="F2F6F8"/>
          </a:solidFill>
          <a:ln/>
        </p:spPr>
      </p:sp>
      <p:sp>
        <p:nvSpPr>
          <p:cNvPr id="64" name="Text 62"/>
          <p:cNvSpPr txBox="1"/>
          <p:nvPr/>
        </p:nvSpPr>
        <p:spPr>
          <a:xfrm>
            <a:off x="612648" y="3607308"/>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The Berrigan</a:t>
            </a:r>
            <a:endParaRPr lang="en-US" sz="720" dirty="0"/>
          </a:p>
        </p:txBody>
      </p:sp>
      <p:sp>
        <p:nvSpPr>
          <p:cNvPr id="65" name="Text 63"/>
          <p:cNvSpPr txBox="1"/>
          <p:nvPr/>
        </p:nvSpPr>
        <p:spPr>
          <a:xfrm>
            <a:off x="3374136" y="360730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66" name="Text 64"/>
          <p:cNvSpPr txBox="1"/>
          <p:nvPr/>
        </p:nvSpPr>
        <p:spPr>
          <a:xfrm>
            <a:off x="4782312" y="360730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23 Mar</a:t>
            </a:r>
            <a:endParaRPr lang="en-US" sz="700" dirty="0"/>
          </a:p>
        </p:txBody>
      </p:sp>
      <p:sp>
        <p:nvSpPr>
          <p:cNvPr id="67" name="Text 65"/>
          <p:cNvSpPr txBox="1"/>
          <p:nvPr/>
        </p:nvSpPr>
        <p:spPr>
          <a:xfrm>
            <a:off x="5532120" y="3607308"/>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209</a:t>
            </a:r>
            <a:endParaRPr lang="en-US" sz="720" dirty="0"/>
          </a:p>
        </p:txBody>
      </p:sp>
      <p:sp>
        <p:nvSpPr>
          <p:cNvPr id="68" name="Text 66"/>
          <p:cNvSpPr txBox="1"/>
          <p:nvPr/>
        </p:nvSpPr>
        <p:spPr>
          <a:xfrm>
            <a:off x="6025896" y="360730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$475</a:t>
            </a:r>
            <a:endParaRPr lang="en-US" sz="720" dirty="0"/>
          </a:p>
        </p:txBody>
      </p:sp>
      <p:sp>
        <p:nvSpPr>
          <p:cNvPr id="69" name="Text 67"/>
          <p:cNvSpPr txBox="1"/>
          <p:nvPr/>
        </p:nvSpPr>
        <p:spPr>
          <a:xfrm>
            <a:off x="612648" y="3761842"/>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Bar Carolina</a:t>
            </a:r>
            <a:endParaRPr lang="en-US" sz="720" dirty="0"/>
          </a:p>
        </p:txBody>
      </p:sp>
      <p:sp>
        <p:nvSpPr>
          <p:cNvPr id="70" name="Text 68"/>
          <p:cNvSpPr txBox="1"/>
          <p:nvPr/>
        </p:nvSpPr>
        <p:spPr>
          <a:xfrm>
            <a:off x="3374136" y="3761842"/>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71" name="Text 69"/>
          <p:cNvSpPr txBox="1"/>
          <p:nvPr/>
        </p:nvSpPr>
        <p:spPr>
          <a:xfrm>
            <a:off x="4782312" y="3761842"/>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 Oct</a:t>
            </a:r>
            <a:endParaRPr lang="en-US" sz="700" dirty="0"/>
          </a:p>
        </p:txBody>
      </p:sp>
      <p:sp>
        <p:nvSpPr>
          <p:cNvPr id="72" name="Text 70"/>
          <p:cNvSpPr txBox="1"/>
          <p:nvPr/>
        </p:nvSpPr>
        <p:spPr>
          <a:xfrm>
            <a:off x="5532120" y="3761842"/>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11</a:t>
            </a:r>
            <a:endParaRPr lang="en-US" sz="720" dirty="0"/>
          </a:p>
        </p:txBody>
      </p:sp>
      <p:sp>
        <p:nvSpPr>
          <p:cNvPr id="73" name="Text 71"/>
          <p:cNvSpPr txBox="1"/>
          <p:nvPr/>
        </p:nvSpPr>
        <p:spPr>
          <a:xfrm>
            <a:off x="6025896" y="3761842"/>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$474</a:t>
            </a:r>
            <a:endParaRPr lang="en-US" sz="720" dirty="0"/>
          </a:p>
        </p:txBody>
      </p:sp>
      <p:sp>
        <p:nvSpPr>
          <p:cNvPr id="74" name="Shape 72"/>
          <p:cNvSpPr/>
          <p:nvPr/>
        </p:nvSpPr>
        <p:spPr>
          <a:xfrm>
            <a:off x="539496" y="3916375"/>
            <a:ext cx="6419088" cy="154534"/>
          </a:xfrm>
          <a:prstGeom prst="rect">
            <a:avLst/>
          </a:prstGeom>
          <a:solidFill>
            <a:srgbClr val="F2F6F8"/>
          </a:solidFill>
          <a:ln/>
        </p:spPr>
      </p:sp>
      <p:sp>
        <p:nvSpPr>
          <p:cNvPr id="75" name="Text 73"/>
          <p:cNvSpPr txBox="1"/>
          <p:nvPr/>
        </p:nvSpPr>
        <p:spPr>
          <a:xfrm>
            <a:off x="612648" y="3916375"/>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Hotel Augusta</a:t>
            </a:r>
            <a:endParaRPr lang="en-US" sz="720" dirty="0"/>
          </a:p>
        </p:txBody>
      </p:sp>
      <p:sp>
        <p:nvSpPr>
          <p:cNvPr id="76" name="Text 74"/>
          <p:cNvSpPr txBox="1"/>
          <p:nvPr/>
        </p:nvSpPr>
        <p:spPr>
          <a:xfrm>
            <a:off x="3374136" y="3916375"/>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77" name="Text 75"/>
          <p:cNvSpPr txBox="1"/>
          <p:nvPr/>
        </p:nvSpPr>
        <p:spPr>
          <a:xfrm>
            <a:off x="4782312" y="3916375"/>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18 Jun</a:t>
            </a:r>
            <a:endParaRPr lang="en-US" sz="700" dirty="0"/>
          </a:p>
        </p:txBody>
      </p:sp>
      <p:sp>
        <p:nvSpPr>
          <p:cNvPr id="78" name="Text 76"/>
          <p:cNvSpPr txBox="1"/>
          <p:nvPr/>
        </p:nvSpPr>
        <p:spPr>
          <a:xfrm>
            <a:off x="5532120" y="3916375"/>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122</a:t>
            </a:r>
            <a:endParaRPr lang="en-US" sz="720" dirty="0"/>
          </a:p>
        </p:txBody>
      </p:sp>
      <p:sp>
        <p:nvSpPr>
          <p:cNvPr id="79" name="Text 77"/>
          <p:cNvSpPr txBox="1"/>
          <p:nvPr/>
        </p:nvSpPr>
        <p:spPr>
          <a:xfrm>
            <a:off x="6025896" y="3916375"/>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$410</a:t>
            </a:r>
            <a:endParaRPr lang="en-US" sz="720" dirty="0"/>
          </a:p>
        </p:txBody>
      </p:sp>
      <p:sp>
        <p:nvSpPr>
          <p:cNvPr id="80" name="Text 78"/>
          <p:cNvSpPr txBox="1"/>
          <p:nvPr/>
        </p:nvSpPr>
        <p:spPr>
          <a:xfrm>
            <a:off x="612648" y="4070909"/>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The Star Hotel (Milton)</a:t>
            </a:r>
            <a:endParaRPr lang="en-US" sz="720" dirty="0"/>
          </a:p>
        </p:txBody>
      </p:sp>
      <p:sp>
        <p:nvSpPr>
          <p:cNvPr id="81" name="Text 79"/>
          <p:cNvSpPr txBox="1"/>
          <p:nvPr/>
        </p:nvSpPr>
        <p:spPr>
          <a:xfrm>
            <a:off x="3374136" y="4070909"/>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82" name="Text 80"/>
          <p:cNvSpPr txBox="1"/>
          <p:nvPr/>
        </p:nvSpPr>
        <p:spPr>
          <a:xfrm>
            <a:off x="4782312" y="4070909"/>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12 Oct</a:t>
            </a:r>
            <a:endParaRPr lang="en-US" sz="700" dirty="0"/>
          </a:p>
        </p:txBody>
      </p:sp>
      <p:sp>
        <p:nvSpPr>
          <p:cNvPr id="83" name="Text 81"/>
          <p:cNvSpPr txBox="1"/>
          <p:nvPr/>
        </p:nvSpPr>
        <p:spPr>
          <a:xfrm>
            <a:off x="5532120" y="4070909"/>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6</a:t>
            </a:r>
            <a:endParaRPr lang="en-US" sz="720" dirty="0"/>
          </a:p>
        </p:txBody>
      </p:sp>
      <p:sp>
        <p:nvSpPr>
          <p:cNvPr id="84" name="Text 82"/>
          <p:cNvSpPr txBox="1"/>
          <p:nvPr/>
        </p:nvSpPr>
        <p:spPr>
          <a:xfrm>
            <a:off x="6025896" y="4070909"/>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$392</a:t>
            </a:r>
            <a:endParaRPr lang="en-US" sz="720" dirty="0"/>
          </a:p>
        </p:txBody>
      </p:sp>
      <p:sp>
        <p:nvSpPr>
          <p:cNvPr id="85" name="Shape 83"/>
          <p:cNvSpPr/>
          <p:nvPr/>
        </p:nvSpPr>
        <p:spPr>
          <a:xfrm>
            <a:off x="539496" y="4225442"/>
            <a:ext cx="6419088" cy="154534"/>
          </a:xfrm>
          <a:prstGeom prst="rect">
            <a:avLst/>
          </a:prstGeom>
          <a:solidFill>
            <a:srgbClr val="F2F6F8"/>
          </a:solidFill>
          <a:ln/>
        </p:spPr>
      </p:sp>
      <p:sp>
        <p:nvSpPr>
          <p:cNvPr id="86" name="Text 84"/>
          <p:cNvSpPr txBox="1"/>
          <p:nvPr/>
        </p:nvSpPr>
        <p:spPr>
          <a:xfrm>
            <a:off x="612648" y="4225442"/>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Bar Orient</a:t>
            </a:r>
            <a:endParaRPr lang="en-US" sz="720" dirty="0"/>
          </a:p>
        </p:txBody>
      </p:sp>
      <p:sp>
        <p:nvSpPr>
          <p:cNvPr id="87" name="Text 85"/>
          <p:cNvSpPr txBox="1"/>
          <p:nvPr/>
        </p:nvSpPr>
        <p:spPr>
          <a:xfrm>
            <a:off x="3374136" y="4225442"/>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88" name="Text 86"/>
          <p:cNvSpPr txBox="1"/>
          <p:nvPr/>
        </p:nvSpPr>
        <p:spPr>
          <a:xfrm>
            <a:off x="4782312" y="4225442"/>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Sep</a:t>
            </a:r>
            <a:endParaRPr lang="en-US" sz="700" dirty="0"/>
          </a:p>
        </p:txBody>
      </p:sp>
      <p:sp>
        <p:nvSpPr>
          <p:cNvPr id="89" name="Text 87"/>
          <p:cNvSpPr txBox="1"/>
          <p:nvPr/>
        </p:nvSpPr>
        <p:spPr>
          <a:xfrm>
            <a:off x="5532120" y="4225442"/>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31</a:t>
            </a:r>
            <a:endParaRPr lang="en-US" sz="720" dirty="0"/>
          </a:p>
        </p:txBody>
      </p:sp>
      <p:sp>
        <p:nvSpPr>
          <p:cNvPr id="90" name="Text 88"/>
          <p:cNvSpPr txBox="1"/>
          <p:nvPr/>
        </p:nvSpPr>
        <p:spPr>
          <a:xfrm>
            <a:off x="6025896" y="4225442"/>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$377</a:t>
            </a:r>
            <a:endParaRPr lang="en-US" sz="720" dirty="0"/>
          </a:p>
        </p:txBody>
      </p:sp>
      <p:sp>
        <p:nvSpPr>
          <p:cNvPr id="91" name="Text 89"/>
          <p:cNvSpPr txBox="1"/>
          <p:nvPr/>
        </p:nvSpPr>
        <p:spPr>
          <a:xfrm>
            <a:off x="612648" y="4379976"/>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The Rusty Gurnard</a:t>
            </a:r>
            <a:endParaRPr lang="en-US" sz="720" dirty="0"/>
          </a:p>
        </p:txBody>
      </p:sp>
      <p:sp>
        <p:nvSpPr>
          <p:cNvPr id="92" name="Text 90"/>
          <p:cNvSpPr txBox="1"/>
          <p:nvPr/>
        </p:nvSpPr>
        <p:spPr>
          <a:xfrm>
            <a:off x="3374136" y="4379976"/>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93" name="Text 91"/>
          <p:cNvSpPr txBox="1"/>
          <p:nvPr/>
        </p:nvSpPr>
        <p:spPr>
          <a:xfrm>
            <a:off x="4782312" y="4379976"/>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26 Jun</a:t>
            </a:r>
            <a:endParaRPr lang="en-US" sz="700" dirty="0"/>
          </a:p>
        </p:txBody>
      </p:sp>
      <p:sp>
        <p:nvSpPr>
          <p:cNvPr id="94" name="Text 92"/>
          <p:cNvSpPr txBox="1"/>
          <p:nvPr/>
        </p:nvSpPr>
        <p:spPr>
          <a:xfrm>
            <a:off x="5532120" y="4379976"/>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114</a:t>
            </a:r>
            <a:endParaRPr lang="en-US" sz="720" dirty="0"/>
          </a:p>
        </p:txBody>
      </p:sp>
      <p:sp>
        <p:nvSpPr>
          <p:cNvPr id="95" name="Text 93"/>
          <p:cNvSpPr txBox="1"/>
          <p:nvPr/>
        </p:nvSpPr>
        <p:spPr>
          <a:xfrm>
            <a:off x="6025896" y="4379976"/>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$377</a:t>
            </a:r>
            <a:endParaRPr lang="en-US" sz="720" dirty="0"/>
          </a:p>
        </p:txBody>
      </p:sp>
      <p:sp>
        <p:nvSpPr>
          <p:cNvPr id="96" name="Shape 94"/>
          <p:cNvSpPr/>
          <p:nvPr/>
        </p:nvSpPr>
        <p:spPr>
          <a:xfrm>
            <a:off x="539496" y="4534510"/>
            <a:ext cx="6419088" cy="154534"/>
          </a:xfrm>
          <a:prstGeom prst="rect">
            <a:avLst/>
          </a:prstGeom>
          <a:solidFill>
            <a:srgbClr val="F2F6F8"/>
          </a:solidFill>
          <a:ln/>
        </p:spPr>
      </p:sp>
      <p:sp>
        <p:nvSpPr>
          <p:cNvPr id="97" name="Text 95"/>
          <p:cNvSpPr txBox="1"/>
          <p:nvPr/>
        </p:nvSpPr>
        <p:spPr>
          <a:xfrm>
            <a:off x="612648" y="4534510"/>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Riverton Hotel</a:t>
            </a:r>
            <a:endParaRPr lang="en-US" sz="720" dirty="0"/>
          </a:p>
        </p:txBody>
      </p:sp>
      <p:sp>
        <p:nvSpPr>
          <p:cNvPr id="98" name="Text 96"/>
          <p:cNvSpPr txBox="1"/>
          <p:nvPr/>
        </p:nvSpPr>
        <p:spPr>
          <a:xfrm>
            <a:off x="3374136" y="453451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99" name="Text 97"/>
          <p:cNvSpPr txBox="1"/>
          <p:nvPr/>
        </p:nvSpPr>
        <p:spPr>
          <a:xfrm>
            <a:off x="4782312" y="453451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Apr</a:t>
            </a:r>
            <a:endParaRPr lang="en-US" sz="700" dirty="0"/>
          </a:p>
        </p:txBody>
      </p:sp>
      <p:sp>
        <p:nvSpPr>
          <p:cNvPr id="100" name="Text 98"/>
          <p:cNvSpPr txBox="1"/>
          <p:nvPr/>
        </p:nvSpPr>
        <p:spPr>
          <a:xfrm>
            <a:off x="5532120" y="4534510"/>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184</a:t>
            </a:r>
            <a:endParaRPr lang="en-US" sz="720" dirty="0"/>
          </a:p>
        </p:txBody>
      </p:sp>
      <p:sp>
        <p:nvSpPr>
          <p:cNvPr id="101" name="Text 99"/>
          <p:cNvSpPr txBox="1"/>
          <p:nvPr/>
        </p:nvSpPr>
        <p:spPr>
          <a:xfrm>
            <a:off x="6025896" y="453451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$315</a:t>
            </a:r>
            <a:endParaRPr lang="en-US" sz="720" dirty="0"/>
          </a:p>
        </p:txBody>
      </p:sp>
      <p:sp>
        <p:nvSpPr>
          <p:cNvPr id="102" name="Text 100"/>
          <p:cNvSpPr txBox="1"/>
          <p:nvPr/>
        </p:nvSpPr>
        <p:spPr>
          <a:xfrm>
            <a:off x="612648" y="4689043"/>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AVC - Bellevue Bar &amp; Terrace</a:t>
            </a:r>
            <a:endParaRPr lang="en-US" sz="720" dirty="0"/>
          </a:p>
        </p:txBody>
      </p:sp>
      <p:sp>
        <p:nvSpPr>
          <p:cNvPr id="103" name="Text 101"/>
          <p:cNvSpPr txBox="1"/>
          <p:nvPr/>
        </p:nvSpPr>
        <p:spPr>
          <a:xfrm>
            <a:off x="3374136" y="4689043"/>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04" name="Text 102"/>
          <p:cNvSpPr txBox="1"/>
          <p:nvPr/>
        </p:nvSpPr>
        <p:spPr>
          <a:xfrm>
            <a:off x="4782312" y="4689043"/>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15 Oct</a:t>
            </a:r>
            <a:endParaRPr lang="en-US" sz="700" dirty="0"/>
          </a:p>
        </p:txBody>
      </p:sp>
      <p:sp>
        <p:nvSpPr>
          <p:cNvPr id="105" name="Text 103"/>
          <p:cNvSpPr txBox="1"/>
          <p:nvPr/>
        </p:nvSpPr>
        <p:spPr>
          <a:xfrm>
            <a:off x="5532120" y="4689043"/>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a:t>
            </a:r>
            <a:endParaRPr lang="en-US" sz="720" dirty="0"/>
          </a:p>
        </p:txBody>
      </p:sp>
      <p:sp>
        <p:nvSpPr>
          <p:cNvPr id="106" name="Text 104"/>
          <p:cNvSpPr txBox="1"/>
          <p:nvPr/>
        </p:nvSpPr>
        <p:spPr>
          <a:xfrm>
            <a:off x="6025896" y="4689043"/>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$294</a:t>
            </a:r>
            <a:endParaRPr lang="en-US" sz="720" dirty="0"/>
          </a:p>
        </p:txBody>
      </p:sp>
      <p:sp>
        <p:nvSpPr>
          <p:cNvPr id="107" name="Shape 105"/>
          <p:cNvSpPr/>
          <p:nvPr/>
        </p:nvSpPr>
        <p:spPr>
          <a:xfrm>
            <a:off x="539496" y="4843577"/>
            <a:ext cx="6419088" cy="154534"/>
          </a:xfrm>
          <a:prstGeom prst="rect">
            <a:avLst/>
          </a:prstGeom>
          <a:solidFill>
            <a:srgbClr val="F2F6F8"/>
          </a:solidFill>
          <a:ln/>
        </p:spPr>
      </p:sp>
      <p:sp>
        <p:nvSpPr>
          <p:cNvPr id="108" name="Text 106"/>
          <p:cNvSpPr txBox="1"/>
          <p:nvPr/>
        </p:nvSpPr>
        <p:spPr>
          <a:xfrm>
            <a:off x="612648" y="4843577"/>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AVC - Carson</a:t>
            </a:r>
            <a:endParaRPr lang="en-US" sz="720" dirty="0"/>
          </a:p>
        </p:txBody>
      </p:sp>
      <p:sp>
        <p:nvSpPr>
          <p:cNvPr id="109" name="Text 107"/>
          <p:cNvSpPr txBox="1"/>
          <p:nvPr/>
        </p:nvSpPr>
        <p:spPr>
          <a:xfrm>
            <a:off x="3374136" y="4843577"/>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10" name="Text 108"/>
          <p:cNvSpPr txBox="1"/>
          <p:nvPr/>
        </p:nvSpPr>
        <p:spPr>
          <a:xfrm>
            <a:off x="4782312" y="4843577"/>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15 Oct</a:t>
            </a:r>
            <a:endParaRPr lang="en-US" sz="700" dirty="0"/>
          </a:p>
        </p:txBody>
      </p:sp>
      <p:sp>
        <p:nvSpPr>
          <p:cNvPr id="111" name="Text 109"/>
          <p:cNvSpPr txBox="1"/>
          <p:nvPr/>
        </p:nvSpPr>
        <p:spPr>
          <a:xfrm>
            <a:off x="5532120" y="4843577"/>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a:t>
            </a:r>
            <a:endParaRPr lang="en-US" sz="720" dirty="0"/>
          </a:p>
        </p:txBody>
      </p:sp>
      <p:sp>
        <p:nvSpPr>
          <p:cNvPr id="112" name="Text 110"/>
          <p:cNvSpPr txBox="1"/>
          <p:nvPr/>
        </p:nvSpPr>
        <p:spPr>
          <a:xfrm>
            <a:off x="6025896" y="4843577"/>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$294</a:t>
            </a:r>
            <a:endParaRPr lang="en-US" sz="720" dirty="0"/>
          </a:p>
        </p:txBody>
      </p:sp>
      <p:sp>
        <p:nvSpPr>
          <p:cNvPr id="113" name="Text 111"/>
          <p:cNvSpPr txBox="1"/>
          <p:nvPr/>
        </p:nvSpPr>
        <p:spPr>
          <a:xfrm>
            <a:off x="612648" y="4998110"/>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Wayi Restaurant</a:t>
            </a:r>
            <a:endParaRPr lang="en-US" sz="720" dirty="0"/>
          </a:p>
        </p:txBody>
      </p:sp>
      <p:sp>
        <p:nvSpPr>
          <p:cNvPr id="114" name="Text 112"/>
          <p:cNvSpPr txBox="1"/>
          <p:nvPr/>
        </p:nvSpPr>
        <p:spPr>
          <a:xfrm>
            <a:off x="3374136" y="499811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15" name="Text 113"/>
          <p:cNvSpPr txBox="1"/>
          <p:nvPr/>
        </p:nvSpPr>
        <p:spPr>
          <a:xfrm>
            <a:off x="4782312" y="499811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Sep</a:t>
            </a:r>
            <a:endParaRPr lang="en-US" sz="700" dirty="0"/>
          </a:p>
        </p:txBody>
      </p:sp>
      <p:sp>
        <p:nvSpPr>
          <p:cNvPr id="116" name="Text 114"/>
          <p:cNvSpPr txBox="1"/>
          <p:nvPr/>
        </p:nvSpPr>
        <p:spPr>
          <a:xfrm>
            <a:off x="5532120" y="4998110"/>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31</a:t>
            </a:r>
            <a:endParaRPr lang="en-US" sz="720" dirty="0"/>
          </a:p>
        </p:txBody>
      </p:sp>
      <p:sp>
        <p:nvSpPr>
          <p:cNvPr id="117" name="Text 115"/>
          <p:cNvSpPr txBox="1"/>
          <p:nvPr/>
        </p:nvSpPr>
        <p:spPr>
          <a:xfrm>
            <a:off x="6025896" y="499811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$250</a:t>
            </a:r>
            <a:endParaRPr lang="en-US" sz="720" dirty="0"/>
          </a:p>
        </p:txBody>
      </p:sp>
      <p:sp>
        <p:nvSpPr>
          <p:cNvPr id="118" name="Shape 116"/>
          <p:cNvSpPr/>
          <p:nvPr/>
        </p:nvSpPr>
        <p:spPr>
          <a:xfrm>
            <a:off x="539496" y="5152644"/>
            <a:ext cx="6419088" cy="154534"/>
          </a:xfrm>
          <a:prstGeom prst="rect">
            <a:avLst/>
          </a:prstGeom>
          <a:solidFill>
            <a:srgbClr val="F2F6F8"/>
          </a:solidFill>
          <a:ln/>
        </p:spPr>
      </p:sp>
      <p:sp>
        <p:nvSpPr>
          <p:cNvPr id="119" name="Text 117"/>
          <p:cNvSpPr txBox="1"/>
          <p:nvPr/>
        </p:nvSpPr>
        <p:spPr>
          <a:xfrm>
            <a:off x="612648" y="5152644"/>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Kirra Beach House</a:t>
            </a:r>
            <a:endParaRPr lang="en-US" sz="720" dirty="0"/>
          </a:p>
        </p:txBody>
      </p:sp>
      <p:sp>
        <p:nvSpPr>
          <p:cNvPr id="120" name="Text 118"/>
          <p:cNvSpPr txBox="1"/>
          <p:nvPr/>
        </p:nvSpPr>
        <p:spPr>
          <a:xfrm>
            <a:off x="3374136" y="515264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121" name="Text 119"/>
          <p:cNvSpPr txBox="1"/>
          <p:nvPr/>
        </p:nvSpPr>
        <p:spPr>
          <a:xfrm>
            <a:off x="4782312" y="515264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 Jun</a:t>
            </a:r>
            <a:endParaRPr lang="en-US" sz="700" dirty="0"/>
          </a:p>
        </p:txBody>
      </p:sp>
      <p:sp>
        <p:nvSpPr>
          <p:cNvPr id="122" name="Text 120"/>
          <p:cNvSpPr txBox="1"/>
          <p:nvPr/>
        </p:nvSpPr>
        <p:spPr>
          <a:xfrm>
            <a:off x="5532120" y="5152644"/>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132</a:t>
            </a:r>
            <a:endParaRPr lang="en-US" sz="720" dirty="0"/>
          </a:p>
        </p:txBody>
      </p:sp>
      <p:sp>
        <p:nvSpPr>
          <p:cNvPr id="123" name="Text 121"/>
          <p:cNvSpPr txBox="1"/>
          <p:nvPr/>
        </p:nvSpPr>
        <p:spPr>
          <a:xfrm>
            <a:off x="6025896" y="515264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$180</a:t>
            </a:r>
            <a:endParaRPr lang="en-US" sz="720" dirty="0"/>
          </a:p>
        </p:txBody>
      </p:sp>
      <p:sp>
        <p:nvSpPr>
          <p:cNvPr id="124" name="Text 122"/>
          <p:cNvSpPr txBox="1"/>
          <p:nvPr/>
        </p:nvSpPr>
        <p:spPr>
          <a:xfrm>
            <a:off x="612648" y="5307178"/>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Irymple Hotel</a:t>
            </a:r>
            <a:endParaRPr lang="en-US" sz="720" dirty="0"/>
          </a:p>
        </p:txBody>
      </p:sp>
      <p:sp>
        <p:nvSpPr>
          <p:cNvPr id="125" name="Text 123"/>
          <p:cNvSpPr txBox="1"/>
          <p:nvPr/>
        </p:nvSpPr>
        <p:spPr>
          <a:xfrm>
            <a:off x="3374136" y="530717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126" name="Text 124"/>
          <p:cNvSpPr txBox="1"/>
          <p:nvPr/>
        </p:nvSpPr>
        <p:spPr>
          <a:xfrm>
            <a:off x="4782312" y="530717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 Oct</a:t>
            </a:r>
            <a:endParaRPr lang="en-US" sz="700" dirty="0"/>
          </a:p>
        </p:txBody>
      </p:sp>
      <p:sp>
        <p:nvSpPr>
          <p:cNvPr id="127" name="Text 125"/>
          <p:cNvSpPr txBox="1"/>
          <p:nvPr/>
        </p:nvSpPr>
        <p:spPr>
          <a:xfrm>
            <a:off x="5532120" y="5307178"/>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16</a:t>
            </a:r>
            <a:endParaRPr lang="en-US" sz="720" dirty="0"/>
          </a:p>
        </p:txBody>
      </p:sp>
      <p:sp>
        <p:nvSpPr>
          <p:cNvPr id="128" name="Text 126"/>
          <p:cNvSpPr txBox="1"/>
          <p:nvPr/>
        </p:nvSpPr>
        <p:spPr>
          <a:xfrm>
            <a:off x="6025896" y="530717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$147</a:t>
            </a:r>
            <a:endParaRPr lang="en-US" sz="720" dirty="0"/>
          </a:p>
        </p:txBody>
      </p:sp>
      <p:sp>
        <p:nvSpPr>
          <p:cNvPr id="129" name="Shape 127"/>
          <p:cNvSpPr/>
          <p:nvPr/>
        </p:nvSpPr>
        <p:spPr>
          <a:xfrm>
            <a:off x="539496" y="5461711"/>
            <a:ext cx="6419088" cy="154534"/>
          </a:xfrm>
          <a:prstGeom prst="rect">
            <a:avLst/>
          </a:prstGeom>
          <a:solidFill>
            <a:srgbClr val="F2F6F8"/>
          </a:solidFill>
          <a:ln/>
        </p:spPr>
      </p:sp>
      <p:sp>
        <p:nvSpPr>
          <p:cNvPr id="130" name="Text 128"/>
          <p:cNvSpPr txBox="1"/>
          <p:nvPr/>
        </p:nvSpPr>
        <p:spPr>
          <a:xfrm>
            <a:off x="612648" y="5461711"/>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Little Ship Club</a:t>
            </a:r>
            <a:endParaRPr lang="en-US" sz="720" dirty="0"/>
          </a:p>
        </p:txBody>
      </p:sp>
      <p:sp>
        <p:nvSpPr>
          <p:cNvPr id="131" name="Text 129"/>
          <p:cNvSpPr txBox="1"/>
          <p:nvPr/>
        </p:nvSpPr>
        <p:spPr>
          <a:xfrm>
            <a:off x="3374136" y="5461711"/>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132" name="Text 130"/>
          <p:cNvSpPr txBox="1"/>
          <p:nvPr/>
        </p:nvSpPr>
        <p:spPr>
          <a:xfrm>
            <a:off x="4782312" y="5461711"/>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26 May</a:t>
            </a:r>
            <a:endParaRPr lang="en-US" sz="700" dirty="0"/>
          </a:p>
        </p:txBody>
      </p:sp>
      <p:sp>
        <p:nvSpPr>
          <p:cNvPr id="133" name="Text 131"/>
          <p:cNvSpPr txBox="1"/>
          <p:nvPr/>
        </p:nvSpPr>
        <p:spPr>
          <a:xfrm>
            <a:off x="5532120" y="5461711"/>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145</a:t>
            </a:r>
            <a:endParaRPr lang="en-US" sz="720" dirty="0"/>
          </a:p>
        </p:txBody>
      </p:sp>
      <p:sp>
        <p:nvSpPr>
          <p:cNvPr id="134" name="Text 132"/>
          <p:cNvSpPr txBox="1"/>
          <p:nvPr/>
        </p:nvSpPr>
        <p:spPr>
          <a:xfrm>
            <a:off x="6025896" y="5461711"/>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$116</a:t>
            </a:r>
            <a:endParaRPr lang="en-US" sz="720" dirty="0"/>
          </a:p>
        </p:txBody>
      </p:sp>
      <p:sp>
        <p:nvSpPr>
          <p:cNvPr id="135" name="Text 133"/>
          <p:cNvSpPr txBox="1"/>
          <p:nvPr/>
        </p:nvSpPr>
        <p:spPr>
          <a:xfrm>
            <a:off x="612648" y="5616245"/>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Crossing Inn - Leedal</a:t>
            </a:r>
            <a:endParaRPr lang="en-US" sz="720" dirty="0"/>
          </a:p>
        </p:txBody>
      </p:sp>
      <p:sp>
        <p:nvSpPr>
          <p:cNvPr id="136" name="Text 134"/>
          <p:cNvSpPr txBox="1"/>
          <p:nvPr/>
        </p:nvSpPr>
        <p:spPr>
          <a:xfrm>
            <a:off x="3374136" y="5616245"/>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137" name="Text 135"/>
          <p:cNvSpPr txBox="1"/>
          <p:nvPr/>
        </p:nvSpPr>
        <p:spPr>
          <a:xfrm>
            <a:off x="4782312" y="5616245"/>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 Oct</a:t>
            </a:r>
            <a:endParaRPr lang="en-US" sz="700" dirty="0"/>
          </a:p>
        </p:txBody>
      </p:sp>
      <p:sp>
        <p:nvSpPr>
          <p:cNvPr id="138" name="Text 136"/>
          <p:cNvSpPr txBox="1"/>
          <p:nvPr/>
        </p:nvSpPr>
        <p:spPr>
          <a:xfrm>
            <a:off x="5532120" y="5616245"/>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17</a:t>
            </a:r>
            <a:endParaRPr lang="en-US" sz="720" dirty="0"/>
          </a:p>
        </p:txBody>
      </p:sp>
      <p:sp>
        <p:nvSpPr>
          <p:cNvPr id="139" name="Text 137"/>
          <p:cNvSpPr txBox="1"/>
          <p:nvPr/>
        </p:nvSpPr>
        <p:spPr>
          <a:xfrm>
            <a:off x="6025896" y="5616245"/>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$106</a:t>
            </a:r>
            <a:endParaRPr lang="en-US" sz="720" dirty="0"/>
          </a:p>
        </p:txBody>
      </p:sp>
      <p:sp>
        <p:nvSpPr>
          <p:cNvPr id="140" name="Shape 138"/>
          <p:cNvSpPr/>
          <p:nvPr/>
        </p:nvSpPr>
        <p:spPr>
          <a:xfrm>
            <a:off x="539496" y="5770778"/>
            <a:ext cx="6419088" cy="154534"/>
          </a:xfrm>
          <a:prstGeom prst="rect">
            <a:avLst/>
          </a:prstGeom>
          <a:solidFill>
            <a:srgbClr val="F2F6F8"/>
          </a:solidFill>
          <a:ln/>
        </p:spPr>
      </p:sp>
      <p:sp>
        <p:nvSpPr>
          <p:cNvPr id="141" name="Text 139"/>
          <p:cNvSpPr txBox="1"/>
          <p:nvPr/>
        </p:nvSpPr>
        <p:spPr>
          <a:xfrm>
            <a:off x="612648" y="5770778"/>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Jabiru Golf Club</a:t>
            </a:r>
            <a:endParaRPr lang="en-US" sz="720" dirty="0"/>
          </a:p>
        </p:txBody>
      </p:sp>
      <p:sp>
        <p:nvSpPr>
          <p:cNvPr id="142" name="Text 140"/>
          <p:cNvSpPr txBox="1"/>
          <p:nvPr/>
        </p:nvSpPr>
        <p:spPr>
          <a:xfrm>
            <a:off x="3374136" y="577077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143" name="Text 141"/>
          <p:cNvSpPr txBox="1"/>
          <p:nvPr/>
        </p:nvSpPr>
        <p:spPr>
          <a:xfrm>
            <a:off x="4782312" y="577077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18 Sep</a:t>
            </a:r>
            <a:endParaRPr lang="en-US" sz="700" dirty="0"/>
          </a:p>
        </p:txBody>
      </p:sp>
      <p:sp>
        <p:nvSpPr>
          <p:cNvPr id="144" name="Text 142"/>
          <p:cNvSpPr txBox="1"/>
          <p:nvPr/>
        </p:nvSpPr>
        <p:spPr>
          <a:xfrm>
            <a:off x="5532120" y="5770778"/>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30</a:t>
            </a:r>
            <a:endParaRPr lang="en-US" sz="720" dirty="0"/>
          </a:p>
        </p:txBody>
      </p:sp>
      <p:sp>
        <p:nvSpPr>
          <p:cNvPr id="145" name="Text 143"/>
          <p:cNvSpPr txBox="1"/>
          <p:nvPr/>
        </p:nvSpPr>
        <p:spPr>
          <a:xfrm>
            <a:off x="6025896" y="577077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$106</a:t>
            </a:r>
            <a:endParaRPr lang="en-US" sz="720" dirty="0"/>
          </a:p>
        </p:txBody>
      </p:sp>
      <p:sp>
        <p:nvSpPr>
          <p:cNvPr id="146" name="Shape 144"/>
          <p:cNvSpPr/>
          <p:nvPr/>
        </p:nvSpPr>
        <p:spPr>
          <a:xfrm>
            <a:off x="612648" y="5961888"/>
            <a:ext cx="6272784" cy="10973"/>
          </a:xfrm>
          <a:prstGeom prst="rect">
            <a:avLst/>
          </a:prstGeom>
          <a:solidFill>
            <a:srgbClr val="12293A"/>
          </a:solidFill>
          <a:ln/>
        </p:spPr>
      </p:sp>
      <p:sp>
        <p:nvSpPr>
          <p:cNvPr id="147" name="Text 145"/>
          <p:cNvSpPr txBox="1"/>
          <p:nvPr/>
        </p:nvSpPr>
        <p:spPr>
          <a:xfrm>
            <a:off x="612648" y="5998464"/>
            <a:ext cx="1828800" cy="219456"/>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48" name="Text 146"/>
          <p:cNvSpPr txBox="1"/>
          <p:nvPr/>
        </p:nvSpPr>
        <p:spPr>
          <a:xfrm>
            <a:off x="5257800" y="5998464"/>
            <a:ext cx="1536192" cy="219456"/>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$20,038/mo</a:t>
            </a:r>
            <a:endParaRPr lang="en-US" sz="800" dirty="0"/>
          </a:p>
        </p:txBody>
      </p:sp>
      <p:sp>
        <p:nvSpPr>
          <p:cNvPr id="149" name="Shape 147"/>
          <p:cNvSpPr/>
          <p:nvPr/>
        </p:nvSpPr>
        <p:spPr>
          <a:xfrm>
            <a:off x="7269480" y="2212848"/>
            <a:ext cx="4507992" cy="1325880"/>
          </a:xfrm>
          <a:prstGeom prst="roundRect">
            <a:avLst>
              <a:gd name="adj" fmla="val 4828"/>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7470648" y="2322576"/>
            <a:ext cx="40233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AGEING — DAYS SINCE CLOSE</a:t>
            </a:r>
            <a:endParaRPr lang="en-US" sz="1200" dirty="0"/>
          </a:p>
        </p:txBody>
      </p:sp>
      <p:sp>
        <p:nvSpPr>
          <p:cNvPr id="151" name="Text 149"/>
          <p:cNvSpPr txBox="1"/>
          <p:nvPr/>
        </p:nvSpPr>
        <p:spPr>
          <a:xfrm>
            <a:off x="7470648" y="2633472"/>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0–30 days</a:t>
            </a:r>
            <a:endParaRPr lang="en-US" sz="680" dirty="0"/>
          </a:p>
        </p:txBody>
      </p:sp>
      <p:sp>
        <p:nvSpPr>
          <p:cNvPr id="152" name="Shape 150"/>
          <p:cNvSpPr/>
          <p:nvPr/>
        </p:nvSpPr>
        <p:spPr>
          <a:xfrm>
            <a:off x="8458200" y="2674620"/>
            <a:ext cx="1600200" cy="100584"/>
          </a:xfrm>
          <a:prstGeom prst="rect">
            <a:avLst/>
          </a:prstGeom>
          <a:solidFill>
            <a:srgbClr val="3D8F5F"/>
          </a:solidFill>
          <a:ln/>
        </p:spPr>
      </p:sp>
      <p:sp>
        <p:nvSpPr>
          <p:cNvPr id="153" name="Text 151"/>
          <p:cNvSpPr txBox="1"/>
          <p:nvPr/>
        </p:nvSpPr>
        <p:spPr>
          <a:xfrm>
            <a:off x="10122408" y="2633472"/>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10 deals</a:t>
            </a:r>
            <a:endParaRPr lang="en-US" sz="680" dirty="0"/>
          </a:p>
        </p:txBody>
      </p:sp>
      <p:sp>
        <p:nvSpPr>
          <p:cNvPr id="154" name="Text 152"/>
          <p:cNvSpPr txBox="1"/>
          <p:nvPr/>
        </p:nvSpPr>
        <p:spPr>
          <a:xfrm>
            <a:off x="10835640" y="2633472"/>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$3,989/mo</a:t>
            </a:r>
            <a:endParaRPr lang="en-US" sz="700" dirty="0"/>
          </a:p>
        </p:txBody>
      </p:sp>
      <p:sp>
        <p:nvSpPr>
          <p:cNvPr id="155" name="Text 153"/>
          <p:cNvSpPr txBox="1"/>
          <p:nvPr/>
        </p:nvSpPr>
        <p:spPr>
          <a:xfrm>
            <a:off x="7470648" y="2834640"/>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31–90 days</a:t>
            </a:r>
            <a:endParaRPr lang="en-US" sz="680" dirty="0"/>
          </a:p>
        </p:txBody>
      </p:sp>
      <p:sp>
        <p:nvSpPr>
          <p:cNvPr id="156" name="Shape 154"/>
          <p:cNvSpPr/>
          <p:nvPr/>
        </p:nvSpPr>
        <p:spPr>
          <a:xfrm>
            <a:off x="8458200" y="2875788"/>
            <a:ext cx="480060" cy="100584"/>
          </a:xfrm>
          <a:prstGeom prst="rect">
            <a:avLst/>
          </a:prstGeom>
          <a:solidFill>
            <a:srgbClr val="C88A2E"/>
          </a:solidFill>
          <a:ln/>
        </p:spPr>
      </p:sp>
      <p:sp>
        <p:nvSpPr>
          <p:cNvPr id="157" name="Text 155"/>
          <p:cNvSpPr txBox="1"/>
          <p:nvPr/>
        </p:nvSpPr>
        <p:spPr>
          <a:xfrm>
            <a:off x="10122408" y="2834640"/>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3 deals</a:t>
            </a:r>
            <a:endParaRPr lang="en-US" sz="680" dirty="0"/>
          </a:p>
        </p:txBody>
      </p:sp>
      <p:sp>
        <p:nvSpPr>
          <p:cNvPr id="158" name="Text 156"/>
          <p:cNvSpPr txBox="1"/>
          <p:nvPr/>
        </p:nvSpPr>
        <p:spPr>
          <a:xfrm>
            <a:off x="10835640" y="2834640"/>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$1,296/mo</a:t>
            </a:r>
            <a:endParaRPr lang="en-US" sz="700" dirty="0"/>
          </a:p>
        </p:txBody>
      </p:sp>
      <p:sp>
        <p:nvSpPr>
          <p:cNvPr id="159" name="Text 157"/>
          <p:cNvSpPr txBox="1"/>
          <p:nvPr/>
        </p:nvSpPr>
        <p:spPr>
          <a:xfrm>
            <a:off x="7470648" y="3035808"/>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91–180 days</a:t>
            </a:r>
            <a:endParaRPr lang="en-US" sz="680" dirty="0"/>
          </a:p>
        </p:txBody>
      </p:sp>
      <p:sp>
        <p:nvSpPr>
          <p:cNvPr id="160" name="Shape 158"/>
          <p:cNvSpPr/>
          <p:nvPr/>
        </p:nvSpPr>
        <p:spPr>
          <a:xfrm>
            <a:off x="8458200" y="3076956"/>
            <a:ext cx="640080" cy="100584"/>
          </a:xfrm>
          <a:prstGeom prst="rect">
            <a:avLst/>
          </a:prstGeom>
          <a:solidFill>
            <a:srgbClr val="B4552D"/>
          </a:solidFill>
          <a:ln/>
        </p:spPr>
      </p:sp>
      <p:sp>
        <p:nvSpPr>
          <p:cNvPr id="161" name="Text 159"/>
          <p:cNvSpPr txBox="1"/>
          <p:nvPr/>
        </p:nvSpPr>
        <p:spPr>
          <a:xfrm>
            <a:off x="10122408" y="3035808"/>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4 deals</a:t>
            </a:r>
            <a:endParaRPr lang="en-US" sz="680" dirty="0"/>
          </a:p>
        </p:txBody>
      </p:sp>
      <p:sp>
        <p:nvSpPr>
          <p:cNvPr id="162" name="Text 160"/>
          <p:cNvSpPr txBox="1"/>
          <p:nvPr/>
        </p:nvSpPr>
        <p:spPr>
          <a:xfrm>
            <a:off x="10835640" y="3035808"/>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$1,083/mo</a:t>
            </a:r>
            <a:endParaRPr lang="en-US" sz="700" dirty="0"/>
          </a:p>
        </p:txBody>
      </p:sp>
      <p:sp>
        <p:nvSpPr>
          <p:cNvPr id="163" name="Text 161"/>
          <p:cNvSpPr txBox="1"/>
          <p:nvPr/>
        </p:nvSpPr>
        <p:spPr>
          <a:xfrm>
            <a:off x="7470648" y="3236976"/>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180+ days</a:t>
            </a:r>
            <a:endParaRPr lang="en-US" sz="680" dirty="0"/>
          </a:p>
        </p:txBody>
      </p:sp>
      <p:sp>
        <p:nvSpPr>
          <p:cNvPr id="164" name="Shape 162"/>
          <p:cNvSpPr/>
          <p:nvPr/>
        </p:nvSpPr>
        <p:spPr>
          <a:xfrm>
            <a:off x="8458200" y="3278124"/>
            <a:ext cx="480060" cy="100584"/>
          </a:xfrm>
          <a:prstGeom prst="rect">
            <a:avLst/>
          </a:prstGeom>
          <a:solidFill>
            <a:srgbClr val="7A3B21"/>
          </a:solidFill>
          <a:ln/>
        </p:spPr>
      </p:sp>
      <p:sp>
        <p:nvSpPr>
          <p:cNvPr id="165" name="Text 163"/>
          <p:cNvSpPr txBox="1"/>
          <p:nvPr/>
        </p:nvSpPr>
        <p:spPr>
          <a:xfrm>
            <a:off x="10122408" y="3236976"/>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3 deals</a:t>
            </a:r>
            <a:endParaRPr lang="en-US" sz="680" dirty="0"/>
          </a:p>
        </p:txBody>
      </p:sp>
      <p:sp>
        <p:nvSpPr>
          <p:cNvPr id="166" name="Text 164"/>
          <p:cNvSpPr txBox="1"/>
          <p:nvPr/>
        </p:nvSpPr>
        <p:spPr>
          <a:xfrm>
            <a:off x="10835640" y="3236976"/>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$13,670/mo</a:t>
            </a:r>
            <a:endParaRPr lang="en-US" sz="700" dirty="0"/>
          </a:p>
        </p:txBody>
      </p:sp>
      <p:sp>
        <p:nvSpPr>
          <p:cNvPr id="167" name="Shape 165"/>
          <p:cNvSpPr/>
          <p:nvPr/>
        </p:nvSpPr>
        <p:spPr>
          <a:xfrm>
            <a:off x="7269480" y="3657600"/>
            <a:ext cx="4507992" cy="1298448"/>
          </a:xfrm>
          <a:prstGeom prst="roundRect">
            <a:avLst>
              <a:gd name="adj" fmla="val 4930"/>
            </a:avLst>
          </a:prstGeom>
          <a:solidFill>
            <a:srgbClr val="FFFFFF"/>
          </a:solidFill>
          <a:ln/>
          <a:effectLst>
            <a:outerShdw sx="100000" sy="100000" kx="0" ky="0" algn="bl" rotWithShape="0" blurRad="76200" dist="25400" dir="5400000">
              <a:srgbClr val="9AAAB5">
                <a:alpha val="35000"/>
              </a:srgbClr>
            </a:outerShdw>
          </a:effectLst>
        </p:spPr>
      </p:sp>
      <p:sp>
        <p:nvSpPr>
          <p:cNvPr id="168" name="Text 166"/>
          <p:cNvSpPr txBox="1"/>
          <p:nvPr/>
        </p:nvSpPr>
        <p:spPr>
          <a:xfrm>
            <a:off x="7470648" y="3767328"/>
            <a:ext cx="40233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ONBOARDING PIPELINE — OPEN</a:t>
            </a:r>
            <a:endParaRPr lang="en-US" sz="1200" dirty="0"/>
          </a:p>
        </p:txBody>
      </p:sp>
      <p:sp>
        <p:nvSpPr>
          <p:cNvPr id="169" name="Shape 167"/>
          <p:cNvSpPr/>
          <p:nvPr/>
        </p:nvSpPr>
        <p:spPr>
          <a:xfrm>
            <a:off x="7470648" y="4078224"/>
            <a:ext cx="1774743" cy="310896"/>
          </a:xfrm>
          <a:prstGeom prst="rect">
            <a:avLst/>
          </a:prstGeom>
          <a:solidFill>
            <a:srgbClr val="1C5765"/>
          </a:solidFill>
          <a:ln/>
        </p:spPr>
      </p:sp>
      <p:sp>
        <p:nvSpPr>
          <p:cNvPr id="170" name="Text 168"/>
          <p:cNvSpPr txBox="1"/>
          <p:nvPr/>
        </p:nvSpPr>
        <p:spPr>
          <a:xfrm>
            <a:off x="7470648" y="4078224"/>
            <a:ext cx="1774743"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30</a:t>
            </a:r>
            <a:endParaRPr lang="en-US" sz="1100" dirty="0"/>
          </a:p>
        </p:txBody>
      </p:sp>
      <p:sp>
        <p:nvSpPr>
          <p:cNvPr id="171" name="Text 169"/>
          <p:cNvSpPr txBox="1"/>
          <p:nvPr/>
        </p:nvSpPr>
        <p:spPr>
          <a:xfrm>
            <a:off x="7342632" y="4425696"/>
            <a:ext cx="2030775"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DISCOVERY</a:t>
            </a:r>
            <a:endParaRPr lang="en-US" sz="550" dirty="0"/>
          </a:p>
        </p:txBody>
      </p:sp>
      <p:sp>
        <p:nvSpPr>
          <p:cNvPr id="172" name="Shape 170"/>
          <p:cNvSpPr/>
          <p:nvPr/>
        </p:nvSpPr>
        <p:spPr>
          <a:xfrm>
            <a:off x="9281967" y="4078224"/>
            <a:ext cx="1835120" cy="310896"/>
          </a:xfrm>
          <a:prstGeom prst="rect">
            <a:avLst/>
          </a:prstGeom>
          <a:solidFill>
            <a:srgbClr val="2C8394"/>
          </a:solidFill>
          <a:ln/>
        </p:spPr>
      </p:sp>
      <p:sp>
        <p:nvSpPr>
          <p:cNvPr id="173" name="Text 171"/>
          <p:cNvSpPr txBox="1"/>
          <p:nvPr/>
        </p:nvSpPr>
        <p:spPr>
          <a:xfrm>
            <a:off x="9281967" y="4078224"/>
            <a:ext cx="183512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31</a:t>
            </a:r>
            <a:endParaRPr lang="en-US" sz="1100" dirty="0"/>
          </a:p>
        </p:txBody>
      </p:sp>
      <p:sp>
        <p:nvSpPr>
          <p:cNvPr id="174" name="Text 172"/>
          <p:cNvSpPr txBox="1"/>
          <p:nvPr/>
        </p:nvSpPr>
        <p:spPr>
          <a:xfrm>
            <a:off x="9153951" y="4425696"/>
            <a:ext cx="2091152"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DB BUILD</a:t>
            </a:r>
            <a:endParaRPr lang="en-US" sz="550" dirty="0"/>
          </a:p>
        </p:txBody>
      </p:sp>
      <p:sp>
        <p:nvSpPr>
          <p:cNvPr id="175" name="Shape 173"/>
          <p:cNvSpPr/>
          <p:nvPr/>
        </p:nvSpPr>
        <p:spPr>
          <a:xfrm>
            <a:off x="11153663" y="4078224"/>
            <a:ext cx="386065" cy="310896"/>
          </a:xfrm>
          <a:prstGeom prst="rect">
            <a:avLst/>
          </a:prstGeom>
          <a:solidFill>
            <a:srgbClr val="6FAEBB"/>
          </a:solidFill>
          <a:ln/>
        </p:spPr>
      </p:sp>
      <p:sp>
        <p:nvSpPr>
          <p:cNvPr id="176" name="Text 174"/>
          <p:cNvSpPr txBox="1"/>
          <p:nvPr/>
        </p:nvSpPr>
        <p:spPr>
          <a:xfrm>
            <a:off x="11153663" y="4078224"/>
            <a:ext cx="386065"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177" name="Text 175"/>
          <p:cNvSpPr txBox="1"/>
          <p:nvPr/>
        </p:nvSpPr>
        <p:spPr>
          <a:xfrm>
            <a:off x="11025647" y="4425696"/>
            <a:ext cx="642097"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READY FOR GO LIVE</a:t>
            </a:r>
            <a:endParaRPr lang="en-US" sz="550" dirty="0"/>
          </a:p>
        </p:txBody>
      </p:sp>
      <p:sp>
        <p:nvSpPr>
          <p:cNvPr id="178" name="Text 176"/>
          <p:cNvSpPr txBox="1"/>
          <p:nvPr/>
        </p:nvSpPr>
        <p:spPr>
          <a:xfrm>
            <a:off x="7470648" y="4645152"/>
            <a:ext cx="4105656" cy="256032"/>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68 open, up from 62 a fortnight ago. One carries a go-live date, so none of this can be forecast.</a:t>
            </a:r>
            <a:endParaRPr lang="en-US" sz="620" dirty="0"/>
          </a:p>
        </p:txBody>
      </p:sp>
      <p:sp>
        <p:nvSpPr>
          <p:cNvPr id="179" name="Shape 177"/>
          <p:cNvSpPr/>
          <p:nvPr/>
        </p:nvSpPr>
        <p:spPr>
          <a:xfrm>
            <a:off x="7269480" y="5074920"/>
            <a:ext cx="4507992" cy="1234440"/>
          </a:xfrm>
          <a:prstGeom prst="roundRect">
            <a:avLst>
              <a:gd name="adj" fmla="val 5185"/>
            </a:avLst>
          </a:prstGeom>
          <a:solidFill>
            <a:srgbClr val="FFFFFF"/>
          </a:solidFill>
          <a:ln/>
          <a:effectLst>
            <a:outerShdw sx="100000" sy="100000" kx="0" ky="0" algn="bl" rotWithShape="0" blurRad="76200" dist="25400" dir="5400000">
              <a:srgbClr val="9AAAB5">
                <a:alpha val="35000"/>
              </a:srgbClr>
            </a:outerShdw>
          </a:effectLst>
        </p:spPr>
      </p:sp>
      <p:sp>
        <p:nvSpPr>
          <p:cNvPr id="180" name="Text 178"/>
          <p:cNvSpPr txBox="1"/>
          <p:nvPr/>
        </p:nvSpPr>
        <p:spPr>
          <a:xfrm>
            <a:off x="7470648" y="5184648"/>
            <a:ext cx="4142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1" name="Text 179"/>
          <p:cNvSpPr txBox="1"/>
          <p:nvPr/>
        </p:nvSpPr>
        <p:spPr>
          <a:xfrm>
            <a:off x="7470648" y="5495544"/>
            <a:ext cx="4096512" cy="68580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Three deals over six months old carry 68% of the value.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Oscars Group ($12,880/mo, 201 days), The Berrigan ($475, 209) and Riverton ($315, 184). Oscars alone is $155k of the $240k.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Strip those three and the rest is $6,368/mo across 17 venues, median 31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 normal delivery queue — but ten of the seventeen closed inside the last month, so it fills faster than it clears.</a:t>
            </a:r>
            <a:endParaRPr lang="en-US" sz="900" dirty="0"/>
          </a:p>
        </p:txBody>
      </p:sp>
      <p:sp>
        <p:nvSpPr>
          <p:cNvPr id="182" name="Text 180"/>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Not yet billing = won with recurring revenue in 2026, no row on the register. A live venue is billing.</a:t>
            </a:r>
            <a:endParaRPr lang="en-US" sz="750" dirty="0"/>
          </a:p>
        </p:txBody>
      </p:sp>
      <p:sp>
        <p:nvSpPr>
          <p:cNvPr id="183" name="Shape 181"/>
          <p:cNvSpPr/>
          <p:nvPr/>
        </p:nvSpPr>
        <p:spPr>
          <a:xfrm>
            <a:off x="5925312" y="6510528"/>
            <a:ext cx="5852160" cy="256032"/>
          </a:xfrm>
          <a:prstGeom prst="roundRect">
            <a:avLst>
              <a:gd name="adj" fmla="val 46429"/>
            </a:avLst>
          </a:prstGeom>
          <a:solidFill>
            <a:srgbClr val="12293A"/>
          </a:solidFill>
          <a:ln/>
        </p:spPr>
      </p:sp>
      <p:sp>
        <p:nvSpPr>
          <p:cNvPr id="184" name="Text 182"/>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vs MRR movement register (live, 19 Oct) · as at 18 Oct</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$240k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 of the 95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$1.28M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271 logos · MRR movement register, live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-$7.7k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18 Oct · new $3.8k − churn $9.4k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Star Hotel (Milton)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October has won more than it has invoiced, for the first time since June.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$5,021 won against $3,817 invoiced. Ten months of both series read live from HubSpot and the register.</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still the whole story: $1.28M of ARR across 271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Q4 is −$7.7k net — $3.8k in against $9.4k of churn and $2.1k of contraction, eighteen days in. Two more logos went this week: Solotel Sackville divested, Zig Zag Lithgow to a competitor.</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$240k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20 of the 95 deals that carried software MRR in 2026. Oscars Group is $155k of it — 64%. The new PS slide breaks the whole list down by age.</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where they are parked licences. Ten more sit below the cut, together worth $2.2k/mo. The full list is on the Closed Won — Not Yet Live slide.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 MRR movement register (live, 19 Oct) — all series live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588</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18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277</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15,022</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18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34328" y="5037452"/>
            <a:ext cx="184942" cy="439804"/>
          </a:xfrm>
          <a:prstGeom prst="rect">
            <a:avLst/>
          </a:prstGeom>
          <a:solidFill>
            <a:srgbClr val="3D8F5F"/>
          </a:solidFill>
          <a:ln/>
        </p:spPr>
      </p:sp>
      <p:sp>
        <p:nvSpPr>
          <p:cNvPr id="54" name="Text 52"/>
          <p:cNvSpPr txBox="1"/>
          <p:nvPr/>
        </p:nvSpPr>
        <p:spPr>
          <a:xfrm>
            <a:off x="1034328" y="51933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34328" y="4437217"/>
            <a:ext cx="184942" cy="600235"/>
          </a:xfrm>
          <a:prstGeom prst="rect">
            <a:avLst/>
          </a:prstGeom>
          <a:solidFill>
            <a:srgbClr val="6FAEBB"/>
          </a:solidFill>
          <a:ln/>
        </p:spPr>
      </p:sp>
      <p:sp>
        <p:nvSpPr>
          <p:cNvPr id="56" name="Text 54"/>
          <p:cNvSpPr txBox="1"/>
          <p:nvPr/>
        </p:nvSpPr>
        <p:spPr>
          <a:xfrm>
            <a:off x="1034328" y="467332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34328" y="3781661"/>
            <a:ext cx="184942" cy="655556"/>
          </a:xfrm>
          <a:prstGeom prst="rect">
            <a:avLst/>
          </a:prstGeom>
          <a:solidFill>
            <a:srgbClr val="C88A2E"/>
          </a:solidFill>
          <a:ln/>
        </p:spPr>
      </p:sp>
      <p:sp>
        <p:nvSpPr>
          <p:cNvPr id="58" name="Text 56"/>
          <p:cNvSpPr txBox="1"/>
          <p:nvPr/>
        </p:nvSpPr>
        <p:spPr>
          <a:xfrm>
            <a:off x="1034328" y="4045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34328" y="3579739"/>
            <a:ext cx="184942" cy="201922"/>
          </a:xfrm>
          <a:prstGeom prst="rect">
            <a:avLst/>
          </a:prstGeom>
          <a:solidFill>
            <a:srgbClr val="7A3B21"/>
          </a:solidFill>
          <a:ln/>
        </p:spPr>
      </p:sp>
      <p:sp>
        <p:nvSpPr>
          <p:cNvPr id="60" name="Text 58"/>
          <p:cNvSpPr txBox="1"/>
          <p:nvPr/>
        </p:nvSpPr>
        <p:spPr>
          <a:xfrm>
            <a:off x="1034328" y="361669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88608" y="342429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51273"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548054" y="4771911"/>
            <a:ext cx="184942" cy="705345"/>
          </a:xfrm>
          <a:prstGeom prst="rect">
            <a:avLst/>
          </a:prstGeom>
          <a:solidFill>
            <a:srgbClr val="3D8F5F"/>
          </a:solidFill>
          <a:ln/>
        </p:spPr>
      </p:sp>
      <p:sp>
        <p:nvSpPr>
          <p:cNvPr id="65" name="Text 63"/>
          <p:cNvSpPr txBox="1"/>
          <p:nvPr/>
        </p:nvSpPr>
        <p:spPr>
          <a:xfrm>
            <a:off x="1548054" y="506057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548054" y="4141249"/>
            <a:ext cx="184942" cy="630662"/>
          </a:xfrm>
          <a:prstGeom prst="rect">
            <a:avLst/>
          </a:prstGeom>
          <a:solidFill>
            <a:srgbClr val="6FAEBB"/>
          </a:solidFill>
          <a:ln/>
        </p:spPr>
      </p:sp>
      <p:sp>
        <p:nvSpPr>
          <p:cNvPr id="67" name="Text 65"/>
          <p:cNvSpPr txBox="1"/>
          <p:nvPr/>
        </p:nvSpPr>
        <p:spPr>
          <a:xfrm>
            <a:off x="1548054" y="439257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548054" y="3906134"/>
            <a:ext cx="184942" cy="235115"/>
          </a:xfrm>
          <a:prstGeom prst="rect">
            <a:avLst/>
          </a:prstGeom>
          <a:solidFill>
            <a:srgbClr val="C88A2E"/>
          </a:solidFill>
          <a:ln/>
        </p:spPr>
      </p:sp>
      <p:sp>
        <p:nvSpPr>
          <p:cNvPr id="69" name="Text 67"/>
          <p:cNvSpPr txBox="1"/>
          <p:nvPr/>
        </p:nvSpPr>
        <p:spPr>
          <a:xfrm>
            <a:off x="1548054" y="395968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548054" y="3748469"/>
            <a:ext cx="184942" cy="157665"/>
          </a:xfrm>
          <a:prstGeom prst="rect">
            <a:avLst/>
          </a:prstGeom>
          <a:solidFill>
            <a:srgbClr val="7A3B21"/>
          </a:solidFill>
          <a:ln/>
        </p:spPr>
      </p:sp>
      <p:sp>
        <p:nvSpPr>
          <p:cNvPr id="71" name="Text 69"/>
          <p:cNvSpPr txBox="1"/>
          <p:nvPr/>
        </p:nvSpPr>
        <p:spPr>
          <a:xfrm>
            <a:off x="1548054" y="37632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502334" y="35930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76500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49213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061781" y="5001494"/>
            <a:ext cx="184942" cy="475762"/>
          </a:xfrm>
          <a:prstGeom prst="rect">
            <a:avLst/>
          </a:prstGeom>
          <a:solidFill>
            <a:srgbClr val="3D8F5F"/>
          </a:solidFill>
          <a:ln/>
        </p:spPr>
      </p:sp>
      <p:sp>
        <p:nvSpPr>
          <p:cNvPr id="76" name="Text 74"/>
          <p:cNvSpPr txBox="1"/>
          <p:nvPr/>
        </p:nvSpPr>
        <p:spPr>
          <a:xfrm>
            <a:off x="2061781" y="517536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061781" y="4254657"/>
            <a:ext cx="184942" cy="746836"/>
          </a:xfrm>
          <a:prstGeom prst="rect">
            <a:avLst/>
          </a:prstGeom>
          <a:solidFill>
            <a:srgbClr val="6FAEBB"/>
          </a:solidFill>
          <a:ln/>
        </p:spPr>
      </p:sp>
      <p:sp>
        <p:nvSpPr>
          <p:cNvPr id="78" name="Text 76"/>
          <p:cNvSpPr txBox="1"/>
          <p:nvPr/>
        </p:nvSpPr>
        <p:spPr>
          <a:xfrm>
            <a:off x="2061781" y="456406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061781" y="4005712"/>
            <a:ext cx="184942" cy="248945"/>
          </a:xfrm>
          <a:prstGeom prst="rect">
            <a:avLst/>
          </a:prstGeom>
          <a:solidFill>
            <a:srgbClr val="C88A2E"/>
          </a:solidFill>
          <a:ln/>
        </p:spPr>
      </p:sp>
      <p:sp>
        <p:nvSpPr>
          <p:cNvPr id="80" name="Text 78"/>
          <p:cNvSpPr txBox="1"/>
          <p:nvPr/>
        </p:nvSpPr>
        <p:spPr>
          <a:xfrm>
            <a:off x="2061781" y="406617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061781" y="3861877"/>
            <a:ext cx="184942" cy="143835"/>
          </a:xfrm>
          <a:prstGeom prst="rect">
            <a:avLst/>
          </a:prstGeom>
          <a:solidFill>
            <a:srgbClr val="7A3B21"/>
          </a:solidFill>
          <a:ln/>
        </p:spPr>
      </p:sp>
      <p:sp>
        <p:nvSpPr>
          <p:cNvPr id="82" name="Text 80"/>
          <p:cNvSpPr txBox="1"/>
          <p:nvPr/>
        </p:nvSpPr>
        <p:spPr>
          <a:xfrm>
            <a:off x="2061781" y="386978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016061" y="3706429"/>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278726" y="4191038"/>
            <a:ext cx="184942" cy="1286218"/>
          </a:xfrm>
          <a:prstGeom prst="rect">
            <a:avLst/>
          </a:prstGeom>
          <a:solidFill>
            <a:srgbClr val="1C5765"/>
          </a:solidFill>
          <a:ln/>
        </p:spPr>
      </p:sp>
      <p:sp>
        <p:nvSpPr>
          <p:cNvPr id="85" name="Text 83"/>
          <p:cNvSpPr txBox="1"/>
          <p:nvPr/>
        </p:nvSpPr>
        <p:spPr>
          <a:xfrm>
            <a:off x="2233006" y="403559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00586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575507" y="5023622"/>
            <a:ext cx="184942" cy="453634"/>
          </a:xfrm>
          <a:prstGeom prst="rect">
            <a:avLst/>
          </a:prstGeom>
          <a:solidFill>
            <a:srgbClr val="3D8F5F"/>
          </a:solidFill>
          <a:ln/>
        </p:spPr>
      </p:sp>
      <p:sp>
        <p:nvSpPr>
          <p:cNvPr id="88" name="Text 86"/>
          <p:cNvSpPr txBox="1"/>
          <p:nvPr/>
        </p:nvSpPr>
        <p:spPr>
          <a:xfrm>
            <a:off x="2575507" y="5186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575507" y="4196570"/>
            <a:ext cx="184942" cy="827052"/>
          </a:xfrm>
          <a:prstGeom prst="rect">
            <a:avLst/>
          </a:prstGeom>
          <a:solidFill>
            <a:srgbClr val="6FAEBB"/>
          </a:solidFill>
          <a:ln/>
        </p:spPr>
      </p:sp>
      <p:sp>
        <p:nvSpPr>
          <p:cNvPr id="90" name="Text 88"/>
          <p:cNvSpPr txBox="1"/>
          <p:nvPr/>
        </p:nvSpPr>
        <p:spPr>
          <a:xfrm>
            <a:off x="2575507" y="454608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575507" y="3889538"/>
            <a:ext cx="184942" cy="307033"/>
          </a:xfrm>
          <a:prstGeom prst="rect">
            <a:avLst/>
          </a:prstGeom>
          <a:solidFill>
            <a:srgbClr val="C88A2E"/>
          </a:solidFill>
          <a:ln/>
        </p:spPr>
      </p:sp>
      <p:sp>
        <p:nvSpPr>
          <p:cNvPr id="92" name="Text 90"/>
          <p:cNvSpPr txBox="1"/>
          <p:nvPr/>
        </p:nvSpPr>
        <p:spPr>
          <a:xfrm>
            <a:off x="2575507" y="39790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575507" y="3729106"/>
            <a:ext cx="184942" cy="160431"/>
          </a:xfrm>
          <a:prstGeom prst="rect">
            <a:avLst/>
          </a:prstGeom>
          <a:solidFill>
            <a:srgbClr val="7A3B21"/>
          </a:solidFill>
          <a:ln/>
        </p:spPr>
      </p:sp>
      <p:sp>
        <p:nvSpPr>
          <p:cNvPr id="94" name="Text 92"/>
          <p:cNvSpPr txBox="1"/>
          <p:nvPr/>
        </p:nvSpPr>
        <p:spPr>
          <a:xfrm>
            <a:off x="2575507" y="374531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529787" y="357365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792453" y="4215933"/>
            <a:ext cx="184942" cy="1261323"/>
          </a:xfrm>
          <a:prstGeom prst="rect">
            <a:avLst/>
          </a:prstGeom>
          <a:solidFill>
            <a:srgbClr val="1C5765"/>
          </a:solidFill>
          <a:ln/>
        </p:spPr>
      </p:sp>
      <p:sp>
        <p:nvSpPr>
          <p:cNvPr id="97" name="Text 95"/>
          <p:cNvSpPr txBox="1"/>
          <p:nvPr/>
        </p:nvSpPr>
        <p:spPr>
          <a:xfrm>
            <a:off x="2746733" y="406048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51958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089234" y="5059581"/>
            <a:ext cx="184942" cy="417675"/>
          </a:xfrm>
          <a:prstGeom prst="rect">
            <a:avLst/>
          </a:prstGeom>
          <a:solidFill>
            <a:srgbClr val="3D8F5F"/>
          </a:solidFill>
          <a:ln/>
        </p:spPr>
      </p:sp>
      <p:sp>
        <p:nvSpPr>
          <p:cNvPr id="100" name="Text 98"/>
          <p:cNvSpPr txBox="1"/>
          <p:nvPr/>
        </p:nvSpPr>
        <p:spPr>
          <a:xfrm>
            <a:off x="3089234" y="520441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089234" y="4238061"/>
            <a:ext cx="184942" cy="821520"/>
          </a:xfrm>
          <a:prstGeom prst="rect">
            <a:avLst/>
          </a:prstGeom>
          <a:solidFill>
            <a:srgbClr val="6FAEBB"/>
          </a:solidFill>
          <a:ln/>
        </p:spPr>
      </p:sp>
      <p:sp>
        <p:nvSpPr>
          <p:cNvPr id="102" name="Text 100"/>
          <p:cNvSpPr txBox="1"/>
          <p:nvPr/>
        </p:nvSpPr>
        <p:spPr>
          <a:xfrm>
            <a:off x="3089234" y="458481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089234" y="4019542"/>
            <a:ext cx="184942" cy="218519"/>
          </a:xfrm>
          <a:prstGeom prst="rect">
            <a:avLst/>
          </a:prstGeom>
          <a:solidFill>
            <a:srgbClr val="C88A2E"/>
          </a:solidFill>
          <a:ln/>
        </p:spPr>
      </p:sp>
      <p:sp>
        <p:nvSpPr>
          <p:cNvPr id="104" name="Text 102"/>
          <p:cNvSpPr txBox="1"/>
          <p:nvPr/>
        </p:nvSpPr>
        <p:spPr>
          <a:xfrm>
            <a:off x="3089234" y="406479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089234" y="3856345"/>
            <a:ext cx="184942" cy="163198"/>
          </a:xfrm>
          <a:prstGeom prst="rect">
            <a:avLst/>
          </a:prstGeom>
          <a:solidFill>
            <a:srgbClr val="7A3B21"/>
          </a:solidFill>
          <a:ln/>
        </p:spPr>
      </p:sp>
      <p:sp>
        <p:nvSpPr>
          <p:cNvPr id="106" name="Text 104"/>
          <p:cNvSpPr txBox="1"/>
          <p:nvPr/>
        </p:nvSpPr>
        <p:spPr>
          <a:xfrm>
            <a:off x="3089234" y="387393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043514" y="370089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306179" y="4528497"/>
            <a:ext cx="184942" cy="948759"/>
          </a:xfrm>
          <a:prstGeom prst="rect">
            <a:avLst/>
          </a:prstGeom>
          <a:solidFill>
            <a:srgbClr val="1C5765"/>
          </a:solidFill>
          <a:ln/>
        </p:spPr>
      </p:sp>
      <p:sp>
        <p:nvSpPr>
          <p:cNvPr id="109" name="Text 107"/>
          <p:cNvSpPr txBox="1"/>
          <p:nvPr/>
        </p:nvSpPr>
        <p:spPr>
          <a:xfrm>
            <a:off x="3260459" y="437304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03331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3749264" y="4824466"/>
            <a:ext cx="184942" cy="652790"/>
          </a:xfrm>
          <a:prstGeom prst="rect">
            <a:avLst/>
          </a:prstGeom>
          <a:solidFill>
            <a:srgbClr val="3D8F5F"/>
          </a:solidFill>
          <a:ln/>
        </p:spPr>
      </p:sp>
      <p:sp>
        <p:nvSpPr>
          <p:cNvPr id="112" name="Text 110"/>
          <p:cNvSpPr txBox="1"/>
          <p:nvPr/>
        </p:nvSpPr>
        <p:spPr>
          <a:xfrm>
            <a:off x="3749264" y="50868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3749264" y="4108056"/>
            <a:ext cx="184942" cy="716410"/>
          </a:xfrm>
          <a:prstGeom prst="rect">
            <a:avLst/>
          </a:prstGeom>
          <a:solidFill>
            <a:srgbClr val="6FAEBB"/>
          </a:solidFill>
          <a:ln/>
        </p:spPr>
      </p:sp>
      <p:sp>
        <p:nvSpPr>
          <p:cNvPr id="114" name="Text 112"/>
          <p:cNvSpPr txBox="1"/>
          <p:nvPr/>
        </p:nvSpPr>
        <p:spPr>
          <a:xfrm>
            <a:off x="3749264" y="44022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3749264" y="3690381"/>
            <a:ext cx="184942" cy="417675"/>
          </a:xfrm>
          <a:prstGeom prst="rect">
            <a:avLst/>
          </a:prstGeom>
          <a:solidFill>
            <a:srgbClr val="C88A2E"/>
          </a:solidFill>
          <a:ln/>
        </p:spPr>
      </p:sp>
      <p:sp>
        <p:nvSpPr>
          <p:cNvPr id="116" name="Text 114"/>
          <p:cNvSpPr txBox="1"/>
          <p:nvPr/>
        </p:nvSpPr>
        <p:spPr>
          <a:xfrm>
            <a:off x="3749264" y="383521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3749264" y="3593569"/>
            <a:ext cx="184942" cy="96812"/>
          </a:xfrm>
          <a:prstGeom prst="rect">
            <a:avLst/>
          </a:prstGeom>
          <a:solidFill>
            <a:srgbClr val="7A3B21"/>
          </a:solidFill>
          <a:ln/>
        </p:spPr>
      </p:sp>
      <p:sp>
        <p:nvSpPr>
          <p:cNvPr id="118" name="Text 116"/>
          <p:cNvSpPr txBox="1"/>
          <p:nvPr/>
        </p:nvSpPr>
        <p:spPr>
          <a:xfrm>
            <a:off x="3703544" y="34381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396621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69334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262991" y="4968301"/>
            <a:ext cx="184942" cy="508955"/>
          </a:xfrm>
          <a:prstGeom prst="rect">
            <a:avLst/>
          </a:prstGeom>
          <a:solidFill>
            <a:srgbClr val="3D8F5F"/>
          </a:solidFill>
          <a:ln/>
        </p:spPr>
      </p:sp>
      <p:sp>
        <p:nvSpPr>
          <p:cNvPr id="122" name="Text 120"/>
          <p:cNvSpPr txBox="1"/>
          <p:nvPr/>
        </p:nvSpPr>
        <p:spPr>
          <a:xfrm>
            <a:off x="4262991" y="515877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262991" y="4279552"/>
            <a:ext cx="184942" cy="688749"/>
          </a:xfrm>
          <a:prstGeom prst="rect">
            <a:avLst/>
          </a:prstGeom>
          <a:solidFill>
            <a:srgbClr val="6FAEBB"/>
          </a:solidFill>
          <a:ln/>
        </p:spPr>
      </p:sp>
      <p:sp>
        <p:nvSpPr>
          <p:cNvPr id="124" name="Text 122"/>
          <p:cNvSpPr txBox="1"/>
          <p:nvPr/>
        </p:nvSpPr>
        <p:spPr>
          <a:xfrm>
            <a:off x="4262991" y="455991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262991" y="3914432"/>
            <a:ext cx="184942" cy="365120"/>
          </a:xfrm>
          <a:prstGeom prst="rect">
            <a:avLst/>
          </a:prstGeom>
          <a:solidFill>
            <a:srgbClr val="C88A2E"/>
          </a:solidFill>
          <a:ln/>
        </p:spPr>
      </p:sp>
      <p:sp>
        <p:nvSpPr>
          <p:cNvPr id="126" name="Text 124"/>
          <p:cNvSpPr txBox="1"/>
          <p:nvPr/>
        </p:nvSpPr>
        <p:spPr>
          <a:xfrm>
            <a:off x="4262991" y="403298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262991" y="3886772"/>
            <a:ext cx="184942" cy="27661"/>
          </a:xfrm>
          <a:prstGeom prst="rect">
            <a:avLst/>
          </a:prstGeom>
          <a:solidFill>
            <a:srgbClr val="7A3B21"/>
          </a:solidFill>
          <a:ln/>
        </p:spPr>
      </p:sp>
      <p:sp>
        <p:nvSpPr>
          <p:cNvPr id="128" name="Text 126"/>
          <p:cNvSpPr txBox="1"/>
          <p:nvPr/>
        </p:nvSpPr>
        <p:spPr>
          <a:xfrm>
            <a:off x="4217271" y="3731324"/>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479937" y="3798258"/>
            <a:ext cx="184942" cy="1678998"/>
          </a:xfrm>
          <a:prstGeom prst="rect">
            <a:avLst/>
          </a:prstGeom>
          <a:solidFill>
            <a:srgbClr val="1C5765"/>
          </a:solidFill>
          <a:ln/>
        </p:spPr>
      </p:sp>
      <p:sp>
        <p:nvSpPr>
          <p:cNvPr id="130" name="Text 128"/>
          <p:cNvSpPr txBox="1"/>
          <p:nvPr/>
        </p:nvSpPr>
        <p:spPr>
          <a:xfrm>
            <a:off x="4434217" y="364281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20707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4776718" y="4940640"/>
            <a:ext cx="184942" cy="536616"/>
          </a:xfrm>
          <a:prstGeom prst="rect">
            <a:avLst/>
          </a:prstGeom>
          <a:solidFill>
            <a:srgbClr val="3D8F5F"/>
          </a:solidFill>
          <a:ln/>
        </p:spPr>
      </p:sp>
      <p:sp>
        <p:nvSpPr>
          <p:cNvPr id="133" name="Text 131"/>
          <p:cNvSpPr txBox="1"/>
          <p:nvPr/>
        </p:nvSpPr>
        <p:spPr>
          <a:xfrm>
            <a:off x="4776718" y="514494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4776718" y="4105290"/>
            <a:ext cx="184942" cy="835350"/>
          </a:xfrm>
          <a:prstGeom prst="rect">
            <a:avLst/>
          </a:prstGeom>
          <a:solidFill>
            <a:srgbClr val="6FAEBB"/>
          </a:solidFill>
          <a:ln/>
        </p:spPr>
      </p:sp>
      <p:sp>
        <p:nvSpPr>
          <p:cNvPr id="135" name="Text 133"/>
          <p:cNvSpPr txBox="1"/>
          <p:nvPr/>
        </p:nvSpPr>
        <p:spPr>
          <a:xfrm>
            <a:off x="4776718" y="44589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4776718" y="3640592"/>
            <a:ext cx="184942" cy="464698"/>
          </a:xfrm>
          <a:prstGeom prst="rect">
            <a:avLst/>
          </a:prstGeom>
          <a:solidFill>
            <a:srgbClr val="C88A2E"/>
          </a:solidFill>
          <a:ln/>
        </p:spPr>
      </p:sp>
      <p:sp>
        <p:nvSpPr>
          <p:cNvPr id="137" name="Text 135"/>
          <p:cNvSpPr txBox="1"/>
          <p:nvPr/>
        </p:nvSpPr>
        <p:spPr>
          <a:xfrm>
            <a:off x="4776718" y="380893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4776718" y="3610166"/>
            <a:ext cx="184942" cy="30427"/>
          </a:xfrm>
          <a:prstGeom prst="rect">
            <a:avLst/>
          </a:prstGeom>
          <a:solidFill>
            <a:srgbClr val="7A3B21"/>
          </a:solidFill>
          <a:ln/>
        </p:spPr>
      </p:sp>
      <p:sp>
        <p:nvSpPr>
          <p:cNvPr id="139" name="Text 137"/>
          <p:cNvSpPr txBox="1"/>
          <p:nvPr/>
        </p:nvSpPr>
        <p:spPr>
          <a:xfrm>
            <a:off x="4730998" y="345471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4993663" y="4318277"/>
            <a:ext cx="184942" cy="1158979"/>
          </a:xfrm>
          <a:prstGeom prst="rect">
            <a:avLst/>
          </a:prstGeom>
          <a:solidFill>
            <a:srgbClr val="1C5765"/>
          </a:solidFill>
          <a:ln/>
        </p:spPr>
      </p:sp>
      <p:sp>
        <p:nvSpPr>
          <p:cNvPr id="141" name="Text 139"/>
          <p:cNvSpPr txBox="1"/>
          <p:nvPr/>
        </p:nvSpPr>
        <p:spPr>
          <a:xfrm>
            <a:off x="4947943" y="416282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472079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5290444" y="5015324"/>
            <a:ext cx="184942" cy="461932"/>
          </a:xfrm>
          <a:prstGeom prst="rect">
            <a:avLst/>
          </a:prstGeom>
          <a:solidFill>
            <a:srgbClr val="3D8F5F"/>
          </a:solidFill>
          <a:ln/>
        </p:spPr>
      </p:sp>
      <p:sp>
        <p:nvSpPr>
          <p:cNvPr id="144" name="Text 142"/>
          <p:cNvSpPr txBox="1"/>
          <p:nvPr/>
        </p:nvSpPr>
        <p:spPr>
          <a:xfrm>
            <a:off x="5290444" y="518228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5290444" y="4110822"/>
            <a:ext cx="184942" cy="904502"/>
          </a:xfrm>
          <a:prstGeom prst="rect">
            <a:avLst/>
          </a:prstGeom>
          <a:solidFill>
            <a:srgbClr val="6FAEBB"/>
          </a:solidFill>
          <a:ln/>
        </p:spPr>
      </p:sp>
      <p:sp>
        <p:nvSpPr>
          <p:cNvPr id="146" name="Text 144"/>
          <p:cNvSpPr txBox="1"/>
          <p:nvPr/>
        </p:nvSpPr>
        <p:spPr>
          <a:xfrm>
            <a:off x="5290444" y="449906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5290444" y="3579739"/>
            <a:ext cx="184942" cy="531084"/>
          </a:xfrm>
          <a:prstGeom prst="rect">
            <a:avLst/>
          </a:prstGeom>
          <a:solidFill>
            <a:srgbClr val="C88A2E"/>
          </a:solidFill>
          <a:ln/>
        </p:spPr>
      </p:sp>
      <p:sp>
        <p:nvSpPr>
          <p:cNvPr id="148" name="Text 146"/>
          <p:cNvSpPr txBox="1"/>
          <p:nvPr/>
        </p:nvSpPr>
        <p:spPr>
          <a:xfrm>
            <a:off x="5290444" y="378127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5290444" y="3546546"/>
            <a:ext cx="184942" cy="33193"/>
          </a:xfrm>
          <a:prstGeom prst="rect">
            <a:avLst/>
          </a:prstGeom>
          <a:solidFill>
            <a:srgbClr val="7A3B21"/>
          </a:solidFill>
          <a:ln/>
        </p:spPr>
      </p:sp>
      <p:sp>
        <p:nvSpPr>
          <p:cNvPr id="150" name="Text 148"/>
          <p:cNvSpPr txBox="1"/>
          <p:nvPr/>
        </p:nvSpPr>
        <p:spPr>
          <a:xfrm>
            <a:off x="5244724" y="339109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507390" y="4282318"/>
            <a:ext cx="184942" cy="1194938"/>
          </a:xfrm>
          <a:prstGeom prst="rect">
            <a:avLst/>
          </a:prstGeom>
          <a:solidFill>
            <a:srgbClr val="1C5765"/>
          </a:solidFill>
          <a:ln/>
        </p:spPr>
      </p:sp>
      <p:sp>
        <p:nvSpPr>
          <p:cNvPr id="152" name="Text 150"/>
          <p:cNvSpPr txBox="1"/>
          <p:nvPr/>
        </p:nvSpPr>
        <p:spPr>
          <a:xfrm>
            <a:off x="5461670" y="412687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523452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5804171" y="5092774"/>
            <a:ext cx="184942" cy="384482"/>
          </a:xfrm>
          <a:prstGeom prst="rect">
            <a:avLst/>
          </a:prstGeom>
          <a:solidFill>
            <a:srgbClr val="3D8F5F"/>
          </a:solidFill>
          <a:ln/>
        </p:spPr>
      </p:sp>
      <p:sp>
        <p:nvSpPr>
          <p:cNvPr id="155" name="Text 153"/>
          <p:cNvSpPr txBox="1"/>
          <p:nvPr/>
        </p:nvSpPr>
        <p:spPr>
          <a:xfrm>
            <a:off x="5804171" y="522100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5804171" y="4409557"/>
            <a:ext cx="184942" cy="683217"/>
          </a:xfrm>
          <a:prstGeom prst="rect">
            <a:avLst/>
          </a:prstGeom>
          <a:solidFill>
            <a:srgbClr val="6FAEBB"/>
          </a:solidFill>
          <a:ln/>
        </p:spPr>
      </p:sp>
      <p:sp>
        <p:nvSpPr>
          <p:cNvPr id="157" name="Text 155"/>
          <p:cNvSpPr txBox="1"/>
          <p:nvPr/>
        </p:nvSpPr>
        <p:spPr>
          <a:xfrm>
            <a:off x="5804171" y="46871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5804171" y="3701445"/>
            <a:ext cx="184942" cy="708111"/>
          </a:xfrm>
          <a:prstGeom prst="rect">
            <a:avLst/>
          </a:prstGeom>
          <a:solidFill>
            <a:srgbClr val="C88A2E"/>
          </a:solidFill>
          <a:ln/>
        </p:spPr>
      </p:sp>
      <p:sp>
        <p:nvSpPr>
          <p:cNvPr id="159" name="Text 157"/>
          <p:cNvSpPr txBox="1"/>
          <p:nvPr/>
        </p:nvSpPr>
        <p:spPr>
          <a:xfrm>
            <a:off x="5804171" y="39914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5804171" y="3659955"/>
            <a:ext cx="184942" cy="41491"/>
          </a:xfrm>
          <a:prstGeom prst="rect">
            <a:avLst/>
          </a:prstGeom>
          <a:solidFill>
            <a:srgbClr val="7A3B21"/>
          </a:solidFill>
          <a:ln/>
        </p:spPr>
      </p:sp>
      <p:sp>
        <p:nvSpPr>
          <p:cNvPr id="161" name="Text 159"/>
          <p:cNvSpPr txBox="1"/>
          <p:nvPr/>
        </p:nvSpPr>
        <p:spPr>
          <a:xfrm>
            <a:off x="5758451" y="350450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6021116" y="4285084"/>
            <a:ext cx="184942" cy="1192172"/>
          </a:xfrm>
          <a:prstGeom prst="rect">
            <a:avLst/>
          </a:prstGeom>
          <a:solidFill>
            <a:srgbClr val="1C5765"/>
          </a:solidFill>
          <a:ln/>
        </p:spPr>
      </p:sp>
      <p:sp>
        <p:nvSpPr>
          <p:cNvPr id="163" name="Text 161"/>
          <p:cNvSpPr txBox="1"/>
          <p:nvPr/>
        </p:nvSpPr>
        <p:spPr>
          <a:xfrm>
            <a:off x="5975396" y="4129636"/>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574825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6317897" y="5020856"/>
            <a:ext cx="184942" cy="456400"/>
          </a:xfrm>
          <a:prstGeom prst="rect">
            <a:avLst/>
          </a:prstGeom>
          <a:solidFill>
            <a:srgbClr val="3D8F5F"/>
          </a:solidFill>
          <a:ln/>
        </p:spPr>
      </p:sp>
      <p:sp>
        <p:nvSpPr>
          <p:cNvPr id="166" name="Text 164"/>
          <p:cNvSpPr txBox="1"/>
          <p:nvPr/>
        </p:nvSpPr>
        <p:spPr>
          <a:xfrm>
            <a:off x="6317897" y="518504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165</a:t>
            </a:r>
            <a:endParaRPr lang="en-US" sz="600" dirty="0"/>
          </a:p>
        </p:txBody>
      </p:sp>
      <p:sp>
        <p:nvSpPr>
          <p:cNvPr id="167" name="Shape 165"/>
          <p:cNvSpPr/>
          <p:nvPr/>
        </p:nvSpPr>
        <p:spPr>
          <a:xfrm>
            <a:off x="6317897" y="4617011"/>
            <a:ext cx="184942" cy="403845"/>
          </a:xfrm>
          <a:prstGeom prst="rect">
            <a:avLst/>
          </a:prstGeom>
          <a:solidFill>
            <a:srgbClr val="6FAEBB"/>
          </a:solidFill>
          <a:ln/>
        </p:spPr>
      </p:sp>
      <p:sp>
        <p:nvSpPr>
          <p:cNvPr id="168" name="Text 166"/>
          <p:cNvSpPr txBox="1"/>
          <p:nvPr/>
        </p:nvSpPr>
        <p:spPr>
          <a:xfrm>
            <a:off x="6317897" y="475492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146</a:t>
            </a:r>
            <a:endParaRPr lang="en-US" sz="600" dirty="0"/>
          </a:p>
        </p:txBody>
      </p:sp>
      <p:sp>
        <p:nvSpPr>
          <p:cNvPr id="169" name="Shape 167"/>
          <p:cNvSpPr/>
          <p:nvPr/>
        </p:nvSpPr>
        <p:spPr>
          <a:xfrm>
            <a:off x="6317897" y="3878473"/>
            <a:ext cx="184942" cy="738538"/>
          </a:xfrm>
          <a:prstGeom prst="rect">
            <a:avLst/>
          </a:prstGeom>
          <a:solidFill>
            <a:srgbClr val="C88A2E"/>
          </a:solidFill>
          <a:ln/>
        </p:spPr>
      </p:sp>
      <p:sp>
        <p:nvSpPr>
          <p:cNvPr id="170" name="Text 168"/>
          <p:cNvSpPr txBox="1"/>
          <p:nvPr/>
        </p:nvSpPr>
        <p:spPr>
          <a:xfrm>
            <a:off x="6317897" y="418373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267</a:t>
            </a:r>
            <a:endParaRPr lang="en-US" sz="600" dirty="0"/>
          </a:p>
        </p:txBody>
      </p:sp>
      <p:sp>
        <p:nvSpPr>
          <p:cNvPr id="171" name="Shape 169"/>
          <p:cNvSpPr/>
          <p:nvPr/>
        </p:nvSpPr>
        <p:spPr>
          <a:xfrm>
            <a:off x="6317897" y="3850813"/>
            <a:ext cx="184942" cy="27661"/>
          </a:xfrm>
          <a:prstGeom prst="rect">
            <a:avLst/>
          </a:prstGeom>
          <a:solidFill>
            <a:srgbClr val="7A3B21"/>
          </a:solidFill>
          <a:ln/>
        </p:spPr>
      </p:sp>
      <p:sp>
        <p:nvSpPr>
          <p:cNvPr id="172" name="Text 170"/>
          <p:cNvSpPr txBox="1"/>
          <p:nvPr/>
        </p:nvSpPr>
        <p:spPr>
          <a:xfrm>
            <a:off x="6272177" y="3695365"/>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588</a:t>
            </a:r>
            <a:endParaRPr lang="en-US" sz="620" dirty="0"/>
          </a:p>
        </p:txBody>
      </p:sp>
      <p:sp>
        <p:nvSpPr>
          <p:cNvPr id="173" name="Shape 171"/>
          <p:cNvSpPr/>
          <p:nvPr/>
        </p:nvSpPr>
        <p:spPr>
          <a:xfrm>
            <a:off x="6534843" y="3787193"/>
            <a:ext cx="184942" cy="1690063"/>
          </a:xfrm>
          <a:prstGeom prst="rect">
            <a:avLst/>
          </a:prstGeom>
          <a:solidFill>
            <a:srgbClr val="1C5765"/>
          </a:solidFill>
          <a:ln/>
        </p:spPr>
      </p:sp>
      <p:sp>
        <p:nvSpPr>
          <p:cNvPr id="174" name="Text 172"/>
          <p:cNvSpPr txBox="1"/>
          <p:nvPr/>
        </p:nvSpPr>
        <p:spPr>
          <a:xfrm>
            <a:off x="6489123" y="363174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611</a:t>
            </a:r>
            <a:endParaRPr lang="en-US" sz="620" dirty="0"/>
          </a:p>
        </p:txBody>
      </p:sp>
      <p:sp>
        <p:nvSpPr>
          <p:cNvPr id="175" name="Text 173"/>
          <p:cNvSpPr txBox="1"/>
          <p:nvPr/>
        </p:nvSpPr>
        <p:spPr>
          <a:xfrm>
            <a:off x="6261977"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10-18</a:t>
            </a:r>
            <a:endParaRPr lang="en-US" sz="650" dirty="0"/>
          </a:p>
        </p:txBody>
      </p:sp>
      <p:sp>
        <p:nvSpPr>
          <p:cNvPr id="176" name="Shape 174"/>
          <p:cNvSpPr/>
          <p:nvPr/>
        </p:nvSpPr>
        <p:spPr>
          <a:xfrm>
            <a:off x="923544" y="5477256"/>
            <a:ext cx="5852160" cy="10973"/>
          </a:xfrm>
          <a:prstGeom prst="rect">
            <a:avLst/>
          </a:prstGeom>
          <a:solidFill>
            <a:srgbClr val="12293A"/>
          </a:solidFill>
          <a:ln/>
        </p:spPr>
      </p:sp>
      <p:sp>
        <p:nvSpPr>
          <p:cNvPr id="177" name="Shape 175"/>
          <p:cNvSpPr/>
          <p:nvPr/>
        </p:nvSpPr>
        <p:spPr>
          <a:xfrm>
            <a:off x="3610134" y="3209544"/>
            <a:ext cx="20117" cy="2267712"/>
          </a:xfrm>
          <a:prstGeom prst="rect">
            <a:avLst/>
          </a:prstGeom>
          <a:solidFill>
            <a:srgbClr val="B4552D"/>
          </a:solidFill>
          <a:ln/>
        </p:spPr>
      </p:sp>
      <p:sp>
        <p:nvSpPr>
          <p:cNvPr id="178" name="Shape 176"/>
          <p:cNvSpPr/>
          <p:nvPr/>
        </p:nvSpPr>
        <p:spPr>
          <a:xfrm>
            <a:off x="3152934" y="3017520"/>
            <a:ext cx="960120" cy="201168"/>
          </a:xfrm>
          <a:prstGeom prst="roundRect">
            <a:avLst>
              <a:gd name="adj" fmla="val 50000"/>
            </a:avLst>
          </a:prstGeom>
          <a:solidFill>
            <a:srgbClr val="B4552D"/>
          </a:solidFill>
          <a:ln/>
        </p:spPr>
      </p:sp>
      <p:sp>
        <p:nvSpPr>
          <p:cNvPr id="179" name="Text 177"/>
          <p:cNvSpPr txBox="1"/>
          <p:nvPr/>
        </p:nvSpPr>
        <p:spPr>
          <a:xfrm>
            <a:off x="3152934"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80" name="Text 178"/>
          <p:cNvSpPr txBox="1"/>
          <p:nvPr/>
        </p:nvSpPr>
        <p:spPr>
          <a:xfrm>
            <a:off x="978408" y="5687568"/>
            <a:ext cx="2568633"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81" name="Text 179"/>
          <p:cNvSpPr txBox="1"/>
          <p:nvPr/>
        </p:nvSpPr>
        <p:spPr>
          <a:xfrm>
            <a:off x="3693345" y="5687568"/>
            <a:ext cx="3082359"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82" name="Text 180"/>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83" name="Shape 181"/>
          <p:cNvSpPr/>
          <p:nvPr/>
        </p:nvSpPr>
        <p:spPr>
          <a:xfrm>
            <a:off x="7178040" y="2395728"/>
            <a:ext cx="4599432" cy="2788920"/>
          </a:xfrm>
          <a:prstGeom prst="roundRect">
            <a:avLst>
              <a:gd name="adj" fmla="val 2295"/>
            </a:avLst>
          </a:prstGeom>
          <a:solidFill>
            <a:srgbClr val="FFFFFF"/>
          </a:solidFill>
          <a:ln/>
          <a:effectLst>
            <a:outerShdw sx="100000" sy="100000" kx="0" ky="0" algn="bl" rotWithShape="0" blurRad="76200" dist="25400" dir="5400000">
              <a:srgbClr val="9AAAB5">
                <a:alpha val="35000"/>
              </a:srgbClr>
            </a:outerShdw>
          </a:effectLst>
        </p:spPr>
      </p:sp>
      <p:sp>
        <p:nvSpPr>
          <p:cNvPr id="184" name="Text 182"/>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5" name="Text 183"/>
          <p:cNvSpPr txBox="1"/>
          <p:nvPr/>
        </p:nvSpPr>
        <p:spPr>
          <a:xfrm>
            <a:off x="7379208" y="2816352"/>
            <a:ext cx="4187952" cy="224028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Second straight fall, and this time throughput did it.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564 in against 611 resolved, so open went 657 → 588. Last week the backlog only fell because inflow was quiet; this week the closed bar cleared the stack outright.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8–30 band emptied — but a third of it aged rather than closed.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8–30 days went 247 → 146 while 31–90 went 256 → 267. 277 cases are now past 30 days against 271 a week ago, and the median open ticket is 27 days old.</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the clean win.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 against 15 last week and 73 at the start of August. Oldest work is genuinely being cleared.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86" name="Shape 184"/>
          <p:cNvSpPr/>
          <p:nvPr/>
        </p:nvSpPr>
        <p:spPr>
          <a:xfrm>
            <a:off x="7178040" y="5303520"/>
            <a:ext cx="4599432" cy="1005840"/>
          </a:xfrm>
          <a:prstGeom prst="roundRect">
            <a:avLst>
              <a:gd name="adj" fmla="val 6364"/>
            </a:avLst>
          </a:prstGeom>
          <a:solidFill>
            <a:srgbClr val="FFFFFF"/>
          </a:solidFill>
          <a:ln/>
          <a:effectLst>
            <a:outerShdw sx="100000" sy="100000" kx="0" ky="0" algn="bl" rotWithShape="0" blurRad="76200" dist="25400" dir="5400000">
              <a:srgbClr val="9AAAB5">
                <a:alpha val="35000"/>
              </a:srgbClr>
            </a:outerShdw>
          </a:effectLst>
        </p:spPr>
      </p:sp>
      <p:sp>
        <p:nvSpPr>
          <p:cNvPr id="187" name="Text 185"/>
          <p:cNvSpPr txBox="1"/>
          <p:nvPr/>
        </p:nvSpPr>
        <p:spPr>
          <a:xfrm>
            <a:off x="7379208" y="5394960"/>
            <a:ext cx="4197096" cy="201168"/>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WHERE THE 588 OPEN SIT   </a:t>
            </a:r>
            <a:pPr indent="0" marL="0">
              <a:buNone/>
            </a:pPr>
            <a:r>
              <a:rPr lang="en-US" sz="630" dirty="0">
                <a:solidFill>
                  <a:srgbClr val="8FA1AC"/>
                </a:solidFill>
                <a:latin typeface="Poppins" pitchFamily="34" charset="0"/>
                <a:ea typeface="Poppins" pitchFamily="34" charset="-122"/>
                <a:cs typeface="Poppins" pitchFamily="34" charset="-120"/>
              </a:rPr>
              <a:t>the two pending states are counted in</a:t>
            </a:r>
            <a:endParaRPr lang="en-US" sz="950" dirty="0"/>
          </a:p>
        </p:txBody>
      </p:sp>
      <p:sp>
        <p:nvSpPr>
          <p:cNvPr id="188" name="Shape 186"/>
          <p:cNvSpPr/>
          <p:nvPr/>
        </p:nvSpPr>
        <p:spPr>
          <a:xfrm>
            <a:off x="7379208" y="5632704"/>
            <a:ext cx="1001268" cy="420624"/>
          </a:xfrm>
          <a:prstGeom prst="rect">
            <a:avLst/>
          </a:prstGeom>
          <a:solidFill>
            <a:srgbClr val="F2F6F8"/>
          </a:solidFill>
          <a:ln/>
        </p:spPr>
      </p:sp>
      <p:sp>
        <p:nvSpPr>
          <p:cNvPr id="189" name="Text 187"/>
          <p:cNvSpPr txBox="1"/>
          <p:nvPr/>
        </p:nvSpPr>
        <p:spPr>
          <a:xfrm>
            <a:off x="7470648"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443</a:t>
            </a:r>
            <a:endParaRPr lang="en-US" sz="1400" dirty="0"/>
          </a:p>
        </p:txBody>
      </p:sp>
      <p:sp>
        <p:nvSpPr>
          <p:cNvPr id="190" name="Text 188"/>
          <p:cNvSpPr txBox="1"/>
          <p:nvPr/>
        </p:nvSpPr>
        <p:spPr>
          <a:xfrm>
            <a:off x="7406640"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NEW</a:t>
            </a:r>
            <a:endParaRPr lang="en-US" sz="620" dirty="0"/>
          </a:p>
        </p:txBody>
      </p:sp>
      <p:sp>
        <p:nvSpPr>
          <p:cNvPr id="191" name="Shape 189"/>
          <p:cNvSpPr/>
          <p:nvPr/>
        </p:nvSpPr>
        <p:spPr>
          <a:xfrm>
            <a:off x="8444484" y="5632704"/>
            <a:ext cx="1001268" cy="420624"/>
          </a:xfrm>
          <a:prstGeom prst="rect">
            <a:avLst/>
          </a:prstGeom>
          <a:solidFill>
            <a:srgbClr val="F2F6F8"/>
          </a:solidFill>
          <a:ln/>
        </p:spPr>
      </p:sp>
      <p:sp>
        <p:nvSpPr>
          <p:cNvPr id="192" name="Text 190"/>
          <p:cNvSpPr txBox="1"/>
          <p:nvPr/>
        </p:nvSpPr>
        <p:spPr>
          <a:xfrm>
            <a:off x="8535924"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87</a:t>
            </a:r>
            <a:endParaRPr lang="en-US" sz="1400" dirty="0"/>
          </a:p>
        </p:txBody>
      </p:sp>
      <p:sp>
        <p:nvSpPr>
          <p:cNvPr id="193" name="Text 191"/>
          <p:cNvSpPr txBox="1"/>
          <p:nvPr/>
        </p:nvSpPr>
        <p:spPr>
          <a:xfrm>
            <a:off x="8471916"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IN PROGRESS</a:t>
            </a:r>
            <a:endParaRPr lang="en-US" sz="620" dirty="0"/>
          </a:p>
        </p:txBody>
      </p:sp>
      <p:sp>
        <p:nvSpPr>
          <p:cNvPr id="194" name="Shape 192"/>
          <p:cNvSpPr/>
          <p:nvPr/>
        </p:nvSpPr>
        <p:spPr>
          <a:xfrm>
            <a:off x="9509760" y="5632704"/>
            <a:ext cx="1001268" cy="420624"/>
          </a:xfrm>
          <a:prstGeom prst="rect">
            <a:avLst/>
          </a:prstGeom>
          <a:solidFill>
            <a:srgbClr val="F7EEDF"/>
          </a:solidFill>
          <a:ln/>
        </p:spPr>
      </p:sp>
      <p:sp>
        <p:nvSpPr>
          <p:cNvPr id="195" name="Shape 193"/>
          <p:cNvSpPr/>
          <p:nvPr/>
        </p:nvSpPr>
        <p:spPr>
          <a:xfrm>
            <a:off x="9509760" y="5632704"/>
            <a:ext cx="32004" cy="420624"/>
          </a:xfrm>
          <a:prstGeom prst="rect">
            <a:avLst/>
          </a:prstGeom>
          <a:solidFill>
            <a:srgbClr val="C88A2E"/>
          </a:solidFill>
          <a:ln/>
        </p:spPr>
      </p:sp>
      <p:sp>
        <p:nvSpPr>
          <p:cNvPr id="196" name="Text 194"/>
          <p:cNvSpPr txBox="1"/>
          <p:nvPr/>
        </p:nvSpPr>
        <p:spPr>
          <a:xfrm>
            <a:off x="9601200"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197" name="Text 195"/>
          <p:cNvSpPr txBox="1"/>
          <p:nvPr/>
        </p:nvSpPr>
        <p:spPr>
          <a:xfrm>
            <a:off x="9537192"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INTERNAL</a:t>
            </a:r>
            <a:endParaRPr lang="en-US" sz="540" dirty="0"/>
          </a:p>
        </p:txBody>
      </p:sp>
      <p:sp>
        <p:nvSpPr>
          <p:cNvPr id="198" name="Shape 196"/>
          <p:cNvSpPr/>
          <p:nvPr/>
        </p:nvSpPr>
        <p:spPr>
          <a:xfrm>
            <a:off x="10575036" y="5632704"/>
            <a:ext cx="1001268" cy="420624"/>
          </a:xfrm>
          <a:prstGeom prst="rect">
            <a:avLst/>
          </a:prstGeom>
          <a:solidFill>
            <a:srgbClr val="F7EEDF"/>
          </a:solidFill>
          <a:ln/>
        </p:spPr>
      </p:sp>
      <p:sp>
        <p:nvSpPr>
          <p:cNvPr id="199" name="Shape 197"/>
          <p:cNvSpPr/>
          <p:nvPr/>
        </p:nvSpPr>
        <p:spPr>
          <a:xfrm>
            <a:off x="10575036" y="5632704"/>
            <a:ext cx="32004" cy="420624"/>
          </a:xfrm>
          <a:prstGeom prst="rect">
            <a:avLst/>
          </a:prstGeom>
          <a:solidFill>
            <a:srgbClr val="C88A2E"/>
          </a:solidFill>
          <a:ln/>
        </p:spPr>
      </p:sp>
      <p:sp>
        <p:nvSpPr>
          <p:cNvPr id="200" name="Text 198"/>
          <p:cNvSpPr txBox="1"/>
          <p:nvPr/>
        </p:nvSpPr>
        <p:spPr>
          <a:xfrm>
            <a:off x="10666476"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201" name="Text 199"/>
          <p:cNvSpPr txBox="1"/>
          <p:nvPr/>
        </p:nvSpPr>
        <p:spPr>
          <a:xfrm>
            <a:off x="10602468"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EXTERNAL</a:t>
            </a:r>
            <a:endParaRPr lang="en-US" sz="540" dirty="0"/>
          </a:p>
        </p:txBody>
      </p:sp>
      <p:sp>
        <p:nvSpPr>
          <p:cNvPr id="202" name="Text 200"/>
          <p:cNvSpPr txBox="1"/>
          <p:nvPr/>
        </p:nvSpPr>
        <p:spPr>
          <a:xfrm>
            <a:off x="7379208" y="6099048"/>
            <a:ext cx="4197096" cy="274320"/>
          </a:xfrm>
          <a:prstGeom prst="rect">
            <a:avLst/>
          </a:prstGeom>
          <a:noFill/>
          <a:ln/>
        </p:spPr>
        <p:txBody>
          <a:bodyPr wrap="square" lIns="0" tIns="0" rIns="0" bIns="0" rtlCol="0" anchor="t"/>
          <a:lstStyle/>
          <a:p>
            <a:pPr indent="0" marL="0">
              <a:buNone/>
            </a:pPr>
            <a:r>
              <a:rPr lang="en-US" sz="640" dirty="0">
                <a:solidFill>
                  <a:srgbClr val="5E7280"/>
                </a:solidFill>
                <a:latin typeface="Poppins" pitchFamily="34" charset="0"/>
                <a:ea typeface="Poppins" pitchFamily="34" charset="-122"/>
                <a:cs typeface="Poppins" pitchFamily="34" charset="-120"/>
              </a:rPr>
              <a:t>Pending Internal and Pending External are inside the 588 — 58 tickets, 10% of it. New is down 529 → 443, the first fall, but still 75% of everything open.</a:t>
            </a:r>
            <a:endParaRPr lang="en-US" sz="640" dirty="0"/>
          </a:p>
        </p:txBody>
      </p:sp>
      <p:sp>
        <p:nvSpPr>
          <p:cNvPr id="203" name="Shape 201"/>
          <p:cNvSpPr/>
          <p:nvPr/>
        </p:nvSpPr>
        <p:spPr>
          <a:xfrm>
            <a:off x="8642909" y="6510528"/>
            <a:ext cx="3134563" cy="256032"/>
          </a:xfrm>
          <a:prstGeom prst="roundRect">
            <a:avLst>
              <a:gd name="adj" fmla="val 46429"/>
            </a:avLst>
          </a:prstGeom>
          <a:solidFill>
            <a:srgbClr val="12293A"/>
          </a:solidFill>
          <a:ln/>
        </p:spPr>
      </p:sp>
      <p:sp>
        <p:nvSpPr>
          <p:cNvPr id="204" name="Text 202"/>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342278" y="6510528"/>
            <a:ext cx="5435194" cy="256032"/>
          </a:xfrm>
          <a:prstGeom prst="roundRect">
            <a:avLst>
              <a:gd name="adj" fmla="val 46429"/>
            </a:avLst>
          </a:prstGeom>
          <a:solidFill>
            <a:srgbClr val="12293A"/>
          </a:solidFill>
          <a:ln/>
        </p:spPr>
      </p:sp>
      <p:sp>
        <p:nvSpPr>
          <p:cNvPr id="286" name="Text 284"/>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342278" y="6510528"/>
            <a:ext cx="5435194" cy="256032"/>
          </a:xfrm>
          <a:prstGeom prst="roundRect">
            <a:avLst>
              <a:gd name="adj" fmla="val 46429"/>
            </a:avLst>
          </a:prstGeom>
          <a:solidFill>
            <a:srgbClr val="12293A"/>
          </a:solidFill>
          <a:ln/>
        </p:spPr>
      </p:sp>
      <p:sp>
        <p:nvSpPr>
          <p:cNvPr id="91" name="Text 89"/>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39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12 daily · 42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111,689</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1–12 Oct · October month-to-date at the 12 Oct capture — no capture received this week, so this figure is a week stale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855878"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26%</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90042"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D4E9ED"/>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50876"/>
          </a:xfrm>
          <a:prstGeom prst="rect">
            <a:avLst/>
          </a:prstGeom>
          <a:solidFill>
            <a:srgbClr val="EDF5F7"/>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97403"/>
            <a:ext cx="996696" cy="150876"/>
          </a:xfrm>
          <a:prstGeom prst="rect">
            <a:avLst/>
          </a:prstGeom>
          <a:solidFill>
            <a:srgbClr val="EDF5F7"/>
          </a:solidFill>
          <a:ln/>
        </p:spPr>
      </p:sp>
      <p:sp>
        <p:nvSpPr>
          <p:cNvPr id="57" name="Text 55"/>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97403"/>
            <a:ext cx="996696" cy="150876"/>
          </a:xfrm>
          <a:prstGeom prst="rect">
            <a:avLst/>
          </a:prstGeom>
          <a:solidFill>
            <a:srgbClr val="D4E9ED"/>
          </a:solidFill>
          <a:ln/>
        </p:spPr>
      </p:sp>
      <p:sp>
        <p:nvSpPr>
          <p:cNvPr id="59" name="Text 57"/>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97403"/>
            <a:ext cx="996696" cy="150876"/>
          </a:xfrm>
          <a:prstGeom prst="rect">
            <a:avLst/>
          </a:prstGeom>
          <a:solidFill>
            <a:srgbClr val="8FC3CC"/>
          </a:solidFill>
          <a:ln/>
        </p:spPr>
      </p:sp>
      <p:sp>
        <p:nvSpPr>
          <p:cNvPr id="61" name="Text 59"/>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97403"/>
            <a:ext cx="996696" cy="150876"/>
          </a:xfrm>
          <a:prstGeom prst="rect">
            <a:avLst/>
          </a:prstGeom>
          <a:solidFill>
            <a:srgbClr val="8FC3CC"/>
          </a:solidFill>
          <a:ln/>
        </p:spPr>
      </p:sp>
      <p:sp>
        <p:nvSpPr>
          <p:cNvPr id="63" name="Text 61"/>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77,260</a:t>
            </a:r>
            <a:endParaRPr lang="en-US" sz="680" dirty="0"/>
          </a:p>
        </p:txBody>
      </p:sp>
      <p:sp>
        <p:nvSpPr>
          <p:cNvPr id="64" name="Text 62"/>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230,929</a:t>
            </a:r>
            <a:endParaRPr lang="en-US" sz="700" dirty="0"/>
          </a:p>
        </p:txBody>
      </p:sp>
      <p:sp>
        <p:nvSpPr>
          <p:cNvPr id="65" name="Text 63"/>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6" name="Shape 64"/>
          <p:cNvSpPr/>
          <p:nvPr/>
        </p:nvSpPr>
        <p:spPr>
          <a:xfrm>
            <a:off x="2084832" y="3171139"/>
            <a:ext cx="996696" cy="150876"/>
          </a:xfrm>
          <a:prstGeom prst="rect">
            <a:avLst/>
          </a:prstGeom>
          <a:solidFill>
            <a:srgbClr val="D4E9ED"/>
          </a:solidFill>
          <a:ln/>
        </p:spPr>
      </p:sp>
      <p:sp>
        <p:nvSpPr>
          <p:cNvPr id="67" name="Text 65"/>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68" name="Shape 66"/>
          <p:cNvSpPr/>
          <p:nvPr/>
        </p:nvSpPr>
        <p:spPr>
          <a:xfrm>
            <a:off x="3163824" y="3171139"/>
            <a:ext cx="996696" cy="150876"/>
          </a:xfrm>
          <a:prstGeom prst="rect">
            <a:avLst/>
          </a:prstGeom>
          <a:solidFill>
            <a:srgbClr val="D4E9ED"/>
          </a:solidFill>
          <a:ln/>
        </p:spPr>
      </p:sp>
      <p:sp>
        <p:nvSpPr>
          <p:cNvPr id="69" name="Text 67"/>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0" name="Shape 68"/>
          <p:cNvSpPr/>
          <p:nvPr/>
        </p:nvSpPr>
        <p:spPr>
          <a:xfrm>
            <a:off x="4242816" y="3171139"/>
            <a:ext cx="996696" cy="150876"/>
          </a:xfrm>
          <a:prstGeom prst="rect">
            <a:avLst/>
          </a:prstGeom>
          <a:solidFill>
            <a:srgbClr val="EDF5F7"/>
          </a:solidFill>
          <a:ln/>
        </p:spPr>
      </p:sp>
      <p:sp>
        <p:nvSpPr>
          <p:cNvPr id="71" name="Text 69"/>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2" name="Text 70"/>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73" name="Text 71"/>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74" name="Text 72"/>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5" name="Shape 73"/>
          <p:cNvSpPr/>
          <p:nvPr/>
        </p:nvSpPr>
        <p:spPr>
          <a:xfrm>
            <a:off x="2084832" y="3344875"/>
            <a:ext cx="996696" cy="150876"/>
          </a:xfrm>
          <a:prstGeom prst="rect">
            <a:avLst/>
          </a:prstGeom>
          <a:solidFill>
            <a:srgbClr val="EDF5F7"/>
          </a:solidFill>
          <a:ln/>
        </p:spPr>
      </p:sp>
      <p:sp>
        <p:nvSpPr>
          <p:cNvPr id="76" name="Text 74"/>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77" name="Shape 75"/>
          <p:cNvSpPr/>
          <p:nvPr/>
        </p:nvSpPr>
        <p:spPr>
          <a:xfrm>
            <a:off x="3163824" y="3344875"/>
            <a:ext cx="996696" cy="150876"/>
          </a:xfrm>
          <a:prstGeom prst="rect">
            <a:avLst/>
          </a:prstGeom>
          <a:solidFill>
            <a:srgbClr val="D4E9ED"/>
          </a:solidFill>
          <a:ln/>
        </p:spPr>
      </p:sp>
      <p:sp>
        <p:nvSpPr>
          <p:cNvPr id="78" name="Text 76"/>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79" name="Shape 77"/>
          <p:cNvSpPr/>
          <p:nvPr/>
        </p:nvSpPr>
        <p:spPr>
          <a:xfrm>
            <a:off x="4242816" y="3344875"/>
            <a:ext cx="996696" cy="150876"/>
          </a:xfrm>
          <a:prstGeom prst="rect">
            <a:avLst/>
          </a:prstGeom>
          <a:solidFill>
            <a:srgbClr val="D4E9ED"/>
          </a:solidFill>
          <a:ln/>
        </p:spPr>
      </p:sp>
      <p:sp>
        <p:nvSpPr>
          <p:cNvPr id="80" name="Text 78"/>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1" name="Shape 79"/>
          <p:cNvSpPr/>
          <p:nvPr/>
        </p:nvSpPr>
        <p:spPr>
          <a:xfrm>
            <a:off x="5321808" y="3344875"/>
            <a:ext cx="996696" cy="150876"/>
          </a:xfrm>
          <a:prstGeom prst="rect">
            <a:avLst/>
          </a:prstGeom>
          <a:solidFill>
            <a:srgbClr val="EDF5F7"/>
          </a:solidFill>
          <a:ln/>
        </p:spPr>
      </p:sp>
      <p:sp>
        <p:nvSpPr>
          <p:cNvPr id="82" name="Text 80"/>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1,321</a:t>
            </a:r>
            <a:endParaRPr lang="en-US" sz="680" dirty="0"/>
          </a:p>
        </p:txBody>
      </p:sp>
      <p:sp>
        <p:nvSpPr>
          <p:cNvPr id="83" name="Text 81"/>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68,332</a:t>
            </a:r>
            <a:endParaRPr lang="en-US" sz="700" dirty="0"/>
          </a:p>
        </p:txBody>
      </p:sp>
      <p:sp>
        <p:nvSpPr>
          <p:cNvPr id="84" name="Text 82"/>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5" name="Shape 83"/>
          <p:cNvSpPr/>
          <p:nvPr/>
        </p:nvSpPr>
        <p:spPr>
          <a:xfrm>
            <a:off x="2084832" y="3518611"/>
            <a:ext cx="996696" cy="150876"/>
          </a:xfrm>
          <a:prstGeom prst="rect">
            <a:avLst/>
          </a:prstGeom>
          <a:solidFill>
            <a:srgbClr val="D4E9ED"/>
          </a:solidFill>
          <a:ln/>
        </p:spPr>
      </p:sp>
      <p:sp>
        <p:nvSpPr>
          <p:cNvPr id="86" name="Text 84"/>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87" name="Shape 85"/>
          <p:cNvSpPr/>
          <p:nvPr/>
        </p:nvSpPr>
        <p:spPr>
          <a:xfrm>
            <a:off x="3163824" y="3518611"/>
            <a:ext cx="996696" cy="150876"/>
          </a:xfrm>
          <a:prstGeom prst="rect">
            <a:avLst/>
          </a:prstGeom>
          <a:solidFill>
            <a:srgbClr val="EDF5F7"/>
          </a:solidFill>
          <a:ln/>
        </p:spPr>
      </p:sp>
      <p:sp>
        <p:nvSpPr>
          <p:cNvPr id="88" name="Text 86"/>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89" name="Shape 87"/>
          <p:cNvSpPr/>
          <p:nvPr/>
        </p:nvSpPr>
        <p:spPr>
          <a:xfrm>
            <a:off x="4242816" y="3518611"/>
            <a:ext cx="996696" cy="150876"/>
          </a:xfrm>
          <a:prstGeom prst="rect">
            <a:avLst/>
          </a:prstGeom>
          <a:solidFill>
            <a:srgbClr val="D4E9ED"/>
          </a:solidFill>
          <a:ln/>
        </p:spPr>
      </p:sp>
      <p:sp>
        <p:nvSpPr>
          <p:cNvPr id="90" name="Text 88"/>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1" name="Shape 89"/>
          <p:cNvSpPr/>
          <p:nvPr/>
        </p:nvSpPr>
        <p:spPr>
          <a:xfrm>
            <a:off x="5321808" y="3518611"/>
            <a:ext cx="996696" cy="150876"/>
          </a:xfrm>
          <a:prstGeom prst="rect">
            <a:avLst/>
          </a:prstGeom>
          <a:solidFill>
            <a:srgbClr val="EDF5F7"/>
          </a:solidFill>
          <a:ln/>
        </p:spPr>
      </p:sp>
      <p:sp>
        <p:nvSpPr>
          <p:cNvPr id="92" name="Text 90"/>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6,988</a:t>
            </a:r>
            <a:endParaRPr lang="en-US" sz="680" dirty="0"/>
          </a:p>
        </p:txBody>
      </p:sp>
      <p:sp>
        <p:nvSpPr>
          <p:cNvPr id="93" name="Text 91"/>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74,992</a:t>
            </a:r>
            <a:endParaRPr lang="en-US" sz="700" dirty="0"/>
          </a:p>
        </p:txBody>
      </p:sp>
      <p:sp>
        <p:nvSpPr>
          <p:cNvPr id="94" name="Text 92"/>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5" name="Shape 93"/>
          <p:cNvSpPr/>
          <p:nvPr/>
        </p:nvSpPr>
        <p:spPr>
          <a:xfrm>
            <a:off x="2084832" y="3692347"/>
            <a:ext cx="996696" cy="150876"/>
          </a:xfrm>
          <a:prstGeom prst="rect">
            <a:avLst/>
          </a:prstGeom>
          <a:solidFill>
            <a:srgbClr val="EDF5F7"/>
          </a:solidFill>
          <a:ln/>
        </p:spPr>
      </p:sp>
      <p:sp>
        <p:nvSpPr>
          <p:cNvPr id="96" name="Text 94"/>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97" name="Shape 95"/>
          <p:cNvSpPr/>
          <p:nvPr/>
        </p:nvSpPr>
        <p:spPr>
          <a:xfrm>
            <a:off x="3163824" y="3692347"/>
            <a:ext cx="996696" cy="150876"/>
          </a:xfrm>
          <a:prstGeom prst="rect">
            <a:avLst/>
          </a:prstGeom>
          <a:solidFill>
            <a:srgbClr val="EDF5F7"/>
          </a:solidFill>
          <a:ln/>
        </p:spPr>
      </p:sp>
      <p:sp>
        <p:nvSpPr>
          <p:cNvPr id="98" name="Text 96"/>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99" name="Shape 97"/>
          <p:cNvSpPr/>
          <p:nvPr/>
        </p:nvSpPr>
        <p:spPr>
          <a:xfrm>
            <a:off x="4242816" y="3692347"/>
            <a:ext cx="996696" cy="150876"/>
          </a:xfrm>
          <a:prstGeom prst="rect">
            <a:avLst/>
          </a:prstGeom>
          <a:solidFill>
            <a:srgbClr val="EDF5F7"/>
          </a:solidFill>
          <a:ln/>
        </p:spPr>
      </p:sp>
      <p:sp>
        <p:nvSpPr>
          <p:cNvPr id="100" name="Text 98"/>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1" name="Shape 99"/>
          <p:cNvSpPr/>
          <p:nvPr/>
        </p:nvSpPr>
        <p:spPr>
          <a:xfrm>
            <a:off x="5321808" y="3692347"/>
            <a:ext cx="996696" cy="150876"/>
          </a:xfrm>
          <a:prstGeom prst="rect">
            <a:avLst/>
          </a:prstGeom>
          <a:solidFill>
            <a:srgbClr val="EDF5F7"/>
          </a:solidFill>
          <a:ln/>
        </p:spPr>
      </p:sp>
      <p:sp>
        <p:nvSpPr>
          <p:cNvPr id="102" name="Text 100"/>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3,013</a:t>
            </a:r>
            <a:endParaRPr lang="en-US" sz="680" dirty="0"/>
          </a:p>
        </p:txBody>
      </p:sp>
      <p:sp>
        <p:nvSpPr>
          <p:cNvPr id="103" name="Text 101"/>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52,920</a:t>
            </a:r>
            <a:endParaRPr lang="en-US" sz="700" dirty="0"/>
          </a:p>
        </p:txBody>
      </p:sp>
      <p:sp>
        <p:nvSpPr>
          <p:cNvPr id="104" name="Text 102"/>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5" name="Text 103"/>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6" name="Shape 104"/>
          <p:cNvSpPr/>
          <p:nvPr/>
        </p:nvSpPr>
        <p:spPr>
          <a:xfrm>
            <a:off x="3163824" y="3866083"/>
            <a:ext cx="996696" cy="150876"/>
          </a:xfrm>
          <a:prstGeom prst="rect">
            <a:avLst/>
          </a:prstGeom>
          <a:solidFill>
            <a:srgbClr val="D4E9ED"/>
          </a:solidFill>
          <a:ln/>
        </p:spPr>
      </p:sp>
      <p:sp>
        <p:nvSpPr>
          <p:cNvPr id="107" name="Text 105"/>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08" name="Shape 106"/>
          <p:cNvSpPr/>
          <p:nvPr/>
        </p:nvSpPr>
        <p:spPr>
          <a:xfrm>
            <a:off x="4242816" y="3866083"/>
            <a:ext cx="996696" cy="150876"/>
          </a:xfrm>
          <a:prstGeom prst="rect">
            <a:avLst/>
          </a:prstGeom>
          <a:solidFill>
            <a:srgbClr val="D4E9ED"/>
          </a:solidFill>
          <a:ln/>
        </p:spPr>
      </p:sp>
      <p:sp>
        <p:nvSpPr>
          <p:cNvPr id="109" name="Text 107"/>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0" name="Shape 108"/>
          <p:cNvSpPr/>
          <p:nvPr/>
        </p:nvSpPr>
        <p:spPr>
          <a:xfrm>
            <a:off x="5321808" y="3866083"/>
            <a:ext cx="996696" cy="150876"/>
          </a:xfrm>
          <a:prstGeom prst="rect">
            <a:avLst/>
          </a:prstGeom>
          <a:solidFill>
            <a:srgbClr val="EDF5F7"/>
          </a:solidFill>
          <a:ln/>
        </p:spPr>
      </p:sp>
      <p:sp>
        <p:nvSpPr>
          <p:cNvPr id="111" name="Text 109"/>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1,642</a:t>
            </a:r>
            <a:endParaRPr lang="en-US" sz="680" dirty="0"/>
          </a:p>
        </p:txBody>
      </p:sp>
      <p:sp>
        <p:nvSpPr>
          <p:cNvPr id="112" name="Text 110"/>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67,787</a:t>
            </a:r>
            <a:endParaRPr lang="en-US" sz="700" dirty="0"/>
          </a:p>
        </p:txBody>
      </p:sp>
      <p:sp>
        <p:nvSpPr>
          <p:cNvPr id="113" name="Text 111"/>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4" name="Shape 112"/>
          <p:cNvSpPr/>
          <p:nvPr/>
        </p:nvSpPr>
        <p:spPr>
          <a:xfrm>
            <a:off x="2084832" y="4039819"/>
            <a:ext cx="996696" cy="150876"/>
          </a:xfrm>
          <a:prstGeom prst="rect">
            <a:avLst/>
          </a:prstGeom>
          <a:solidFill>
            <a:srgbClr val="EDF5F7"/>
          </a:solidFill>
          <a:ln/>
        </p:spPr>
      </p:sp>
      <p:sp>
        <p:nvSpPr>
          <p:cNvPr id="115" name="Text 113"/>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6" name="Shape 114"/>
          <p:cNvSpPr/>
          <p:nvPr/>
        </p:nvSpPr>
        <p:spPr>
          <a:xfrm>
            <a:off x="3163824" y="4039819"/>
            <a:ext cx="996696" cy="150876"/>
          </a:xfrm>
          <a:prstGeom prst="rect">
            <a:avLst/>
          </a:prstGeom>
          <a:solidFill>
            <a:srgbClr val="D4E9ED"/>
          </a:solidFill>
          <a:ln/>
        </p:spPr>
      </p:sp>
      <p:sp>
        <p:nvSpPr>
          <p:cNvPr id="117" name="Text 115"/>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18" name="Shape 116"/>
          <p:cNvSpPr/>
          <p:nvPr/>
        </p:nvSpPr>
        <p:spPr>
          <a:xfrm>
            <a:off x="4242816" y="4039819"/>
            <a:ext cx="996696" cy="150876"/>
          </a:xfrm>
          <a:prstGeom prst="rect">
            <a:avLst/>
          </a:prstGeom>
          <a:solidFill>
            <a:srgbClr val="EDF5F7"/>
          </a:solidFill>
          <a:ln/>
        </p:spPr>
      </p:sp>
      <p:sp>
        <p:nvSpPr>
          <p:cNvPr id="119" name="Text 117"/>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0" name="Shape 118"/>
          <p:cNvSpPr/>
          <p:nvPr/>
        </p:nvSpPr>
        <p:spPr>
          <a:xfrm>
            <a:off x="5321808" y="4039819"/>
            <a:ext cx="996696" cy="150876"/>
          </a:xfrm>
          <a:prstGeom prst="rect">
            <a:avLst/>
          </a:prstGeom>
          <a:solidFill>
            <a:srgbClr val="EDF5F7"/>
          </a:solidFill>
          <a:ln/>
        </p:spPr>
      </p:sp>
      <p:sp>
        <p:nvSpPr>
          <p:cNvPr id="121" name="Text 119"/>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2,939</a:t>
            </a:r>
            <a:endParaRPr lang="en-US" sz="680" dirty="0"/>
          </a:p>
        </p:txBody>
      </p:sp>
      <p:sp>
        <p:nvSpPr>
          <p:cNvPr id="122" name="Text 120"/>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37,109</a:t>
            </a:r>
            <a:endParaRPr lang="en-US" sz="700" dirty="0"/>
          </a:p>
        </p:txBody>
      </p:sp>
      <p:sp>
        <p:nvSpPr>
          <p:cNvPr id="123" name="Text 121"/>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4" name="Shape 122"/>
          <p:cNvSpPr/>
          <p:nvPr/>
        </p:nvSpPr>
        <p:spPr>
          <a:xfrm>
            <a:off x="2084832" y="4213555"/>
            <a:ext cx="996696" cy="150876"/>
          </a:xfrm>
          <a:prstGeom prst="rect">
            <a:avLst/>
          </a:prstGeom>
          <a:solidFill>
            <a:srgbClr val="EDF5F7"/>
          </a:solidFill>
          <a:ln/>
        </p:spPr>
      </p:sp>
      <p:sp>
        <p:nvSpPr>
          <p:cNvPr id="125" name="Text 123"/>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6" name="Shape 124"/>
          <p:cNvSpPr/>
          <p:nvPr/>
        </p:nvSpPr>
        <p:spPr>
          <a:xfrm>
            <a:off x="3163824" y="4213555"/>
            <a:ext cx="996696" cy="150876"/>
          </a:xfrm>
          <a:prstGeom prst="rect">
            <a:avLst/>
          </a:prstGeom>
          <a:solidFill>
            <a:srgbClr val="EDF5F7"/>
          </a:solidFill>
          <a:ln/>
        </p:spPr>
      </p:sp>
      <p:sp>
        <p:nvSpPr>
          <p:cNvPr id="127" name="Text 125"/>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28" name="Shape 126"/>
          <p:cNvSpPr/>
          <p:nvPr/>
        </p:nvSpPr>
        <p:spPr>
          <a:xfrm>
            <a:off x="4242816" y="4213555"/>
            <a:ext cx="996696" cy="150876"/>
          </a:xfrm>
          <a:prstGeom prst="rect">
            <a:avLst/>
          </a:prstGeom>
          <a:solidFill>
            <a:srgbClr val="EDF5F7"/>
          </a:solidFill>
          <a:ln/>
        </p:spPr>
      </p:sp>
      <p:sp>
        <p:nvSpPr>
          <p:cNvPr id="129" name="Text 127"/>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0" name="Shape 128"/>
          <p:cNvSpPr/>
          <p:nvPr/>
        </p:nvSpPr>
        <p:spPr>
          <a:xfrm>
            <a:off x="5321808" y="4213555"/>
            <a:ext cx="996696" cy="150876"/>
          </a:xfrm>
          <a:prstGeom prst="rect">
            <a:avLst/>
          </a:prstGeom>
          <a:solidFill>
            <a:srgbClr val="EDF5F7"/>
          </a:solidFill>
          <a:ln/>
        </p:spPr>
      </p:sp>
      <p:sp>
        <p:nvSpPr>
          <p:cNvPr id="131" name="Text 129"/>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7,422</a:t>
            </a:r>
            <a:endParaRPr lang="en-US" sz="680" dirty="0"/>
          </a:p>
        </p:txBody>
      </p:sp>
      <p:sp>
        <p:nvSpPr>
          <p:cNvPr id="132" name="Text 130"/>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35,890</a:t>
            </a:r>
            <a:endParaRPr lang="en-US" sz="700" dirty="0"/>
          </a:p>
        </p:txBody>
      </p:sp>
      <p:sp>
        <p:nvSpPr>
          <p:cNvPr id="133" name="Text 131"/>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4" name="Shape 132"/>
          <p:cNvSpPr/>
          <p:nvPr/>
        </p:nvSpPr>
        <p:spPr>
          <a:xfrm>
            <a:off x="2084832" y="4387291"/>
            <a:ext cx="996696" cy="150876"/>
          </a:xfrm>
          <a:prstGeom prst="rect">
            <a:avLst/>
          </a:prstGeom>
          <a:solidFill>
            <a:srgbClr val="EDF5F7"/>
          </a:solidFill>
          <a:ln/>
        </p:spPr>
      </p:sp>
      <p:sp>
        <p:nvSpPr>
          <p:cNvPr id="135" name="Text 133"/>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6" name="Shape 134"/>
          <p:cNvSpPr/>
          <p:nvPr/>
        </p:nvSpPr>
        <p:spPr>
          <a:xfrm>
            <a:off x="3163824" y="4387291"/>
            <a:ext cx="996696" cy="150876"/>
          </a:xfrm>
          <a:prstGeom prst="rect">
            <a:avLst/>
          </a:prstGeom>
          <a:solidFill>
            <a:srgbClr val="EDF5F7"/>
          </a:solidFill>
          <a:ln/>
        </p:spPr>
      </p:sp>
      <p:sp>
        <p:nvSpPr>
          <p:cNvPr id="137" name="Text 135"/>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38" name="Shape 136"/>
          <p:cNvSpPr/>
          <p:nvPr/>
        </p:nvSpPr>
        <p:spPr>
          <a:xfrm>
            <a:off x="4242816" y="4387291"/>
            <a:ext cx="996696" cy="150876"/>
          </a:xfrm>
          <a:prstGeom prst="rect">
            <a:avLst/>
          </a:prstGeom>
          <a:solidFill>
            <a:srgbClr val="EDF5F7"/>
          </a:solidFill>
          <a:ln/>
        </p:spPr>
      </p:sp>
      <p:sp>
        <p:nvSpPr>
          <p:cNvPr id="139" name="Text 137"/>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0" name="Shape 138"/>
          <p:cNvSpPr/>
          <p:nvPr/>
        </p:nvSpPr>
        <p:spPr>
          <a:xfrm>
            <a:off x="5321808" y="4387291"/>
            <a:ext cx="996696" cy="150876"/>
          </a:xfrm>
          <a:prstGeom prst="rect">
            <a:avLst/>
          </a:prstGeom>
          <a:solidFill>
            <a:srgbClr val="EDF5F7"/>
          </a:solidFill>
          <a:ln/>
        </p:spPr>
      </p:sp>
      <p:sp>
        <p:nvSpPr>
          <p:cNvPr id="141" name="Text 139"/>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a:t>
            </a:r>
            <a:endParaRPr lang="en-US" sz="680" dirty="0"/>
          </a:p>
        </p:txBody>
      </p:sp>
      <p:sp>
        <p:nvSpPr>
          <p:cNvPr id="142" name="Text 140"/>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31,400</a:t>
            </a:r>
            <a:endParaRPr lang="en-US" sz="700" dirty="0"/>
          </a:p>
        </p:txBody>
      </p:sp>
      <p:sp>
        <p:nvSpPr>
          <p:cNvPr id="143" name="Shape 141"/>
          <p:cNvSpPr/>
          <p:nvPr/>
        </p:nvSpPr>
        <p:spPr>
          <a:xfrm>
            <a:off x="594360" y="4553712"/>
            <a:ext cx="7132320" cy="10973"/>
          </a:xfrm>
          <a:prstGeom prst="rect">
            <a:avLst/>
          </a:prstGeom>
          <a:solidFill>
            <a:srgbClr val="12293A"/>
          </a:solidFill>
          <a:ln/>
        </p:spPr>
      </p:sp>
      <p:sp>
        <p:nvSpPr>
          <p:cNvPr id="144" name="Text 142"/>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5" name="Text 143"/>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6" name="Text 144"/>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7" name="Text 145"/>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48" name="Text 146"/>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111,689</a:t>
            </a:r>
            <a:endParaRPr lang="en-US" sz="750" dirty="0"/>
          </a:p>
        </p:txBody>
      </p:sp>
      <p:sp>
        <p:nvSpPr>
          <p:cNvPr id="149" name="Text 147"/>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910,501</a:t>
            </a:r>
            <a:endParaRPr lang="en-US" sz="750" dirty="0"/>
          </a:p>
        </p:txBody>
      </p:sp>
      <p:sp>
        <p:nvSpPr>
          <p:cNvPr id="150" name="Text 148"/>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1" name="Shape 149"/>
          <p:cNvSpPr/>
          <p:nvPr/>
        </p:nvSpPr>
        <p:spPr>
          <a:xfrm>
            <a:off x="2075688" y="4892040"/>
            <a:ext cx="365107" cy="219456"/>
          </a:xfrm>
          <a:prstGeom prst="rect">
            <a:avLst/>
          </a:prstGeom>
          <a:solidFill>
            <a:srgbClr val="D4E9ED"/>
          </a:solidFill>
          <a:ln/>
        </p:spPr>
      </p:sp>
      <p:sp>
        <p:nvSpPr>
          <p:cNvPr id="152" name="Text 150"/>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3" name="Text 151"/>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4" name="Shape 152"/>
          <p:cNvSpPr/>
          <p:nvPr/>
        </p:nvSpPr>
        <p:spPr>
          <a:xfrm>
            <a:off x="2477371" y="4892040"/>
            <a:ext cx="365107" cy="219456"/>
          </a:xfrm>
          <a:prstGeom prst="rect">
            <a:avLst/>
          </a:prstGeom>
          <a:solidFill>
            <a:srgbClr val="D4E9ED"/>
          </a:solidFill>
          <a:ln/>
        </p:spPr>
      </p:sp>
      <p:sp>
        <p:nvSpPr>
          <p:cNvPr id="155" name="Text 153"/>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6" name="Text 154"/>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7" name="Shape 155"/>
          <p:cNvSpPr/>
          <p:nvPr/>
        </p:nvSpPr>
        <p:spPr>
          <a:xfrm>
            <a:off x="2879054" y="4892040"/>
            <a:ext cx="365107" cy="219456"/>
          </a:xfrm>
          <a:prstGeom prst="rect">
            <a:avLst/>
          </a:prstGeom>
          <a:solidFill>
            <a:srgbClr val="D4E9ED"/>
          </a:solidFill>
          <a:ln/>
        </p:spPr>
      </p:sp>
      <p:sp>
        <p:nvSpPr>
          <p:cNvPr id="158" name="Text 156"/>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9" name="Text 157"/>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0" name="Shape 158"/>
          <p:cNvSpPr/>
          <p:nvPr/>
        </p:nvSpPr>
        <p:spPr>
          <a:xfrm>
            <a:off x="3280737" y="4892040"/>
            <a:ext cx="365107" cy="219456"/>
          </a:xfrm>
          <a:prstGeom prst="rect">
            <a:avLst/>
          </a:prstGeom>
          <a:solidFill>
            <a:srgbClr val="B5D9E0"/>
          </a:solidFill>
          <a:ln/>
        </p:spPr>
      </p:sp>
      <p:sp>
        <p:nvSpPr>
          <p:cNvPr id="161" name="Text 159"/>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2" name="Text 160"/>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3" name="Shape 161"/>
          <p:cNvSpPr/>
          <p:nvPr/>
        </p:nvSpPr>
        <p:spPr>
          <a:xfrm>
            <a:off x="3682419" y="4892040"/>
            <a:ext cx="365107" cy="219456"/>
          </a:xfrm>
          <a:prstGeom prst="rect">
            <a:avLst/>
          </a:prstGeom>
          <a:solidFill>
            <a:srgbClr val="B5D9E0"/>
          </a:solidFill>
          <a:ln/>
        </p:spPr>
      </p:sp>
      <p:sp>
        <p:nvSpPr>
          <p:cNvPr id="164" name="Text 162"/>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5" name="Text 163"/>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6" name="Shape 164"/>
          <p:cNvSpPr/>
          <p:nvPr/>
        </p:nvSpPr>
        <p:spPr>
          <a:xfrm>
            <a:off x="4084102" y="4892040"/>
            <a:ext cx="365107" cy="219456"/>
          </a:xfrm>
          <a:prstGeom prst="rect">
            <a:avLst/>
          </a:prstGeom>
          <a:solidFill>
            <a:srgbClr val="B5D9E0"/>
          </a:solidFill>
          <a:ln/>
        </p:spPr>
      </p:sp>
      <p:sp>
        <p:nvSpPr>
          <p:cNvPr id="167" name="Text 165"/>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8" name="Text 166"/>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69" name="Shape 167"/>
          <p:cNvSpPr/>
          <p:nvPr/>
        </p:nvSpPr>
        <p:spPr>
          <a:xfrm>
            <a:off x="4485785" y="4892040"/>
            <a:ext cx="365107" cy="219456"/>
          </a:xfrm>
          <a:prstGeom prst="rect">
            <a:avLst/>
          </a:prstGeom>
          <a:solidFill>
            <a:srgbClr val="B5D9E0"/>
          </a:solidFill>
          <a:ln/>
        </p:spPr>
      </p:sp>
      <p:sp>
        <p:nvSpPr>
          <p:cNvPr id="170" name="Text 168"/>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1" name="Text 169"/>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2" name="Shape 170"/>
          <p:cNvSpPr/>
          <p:nvPr/>
        </p:nvSpPr>
        <p:spPr>
          <a:xfrm>
            <a:off x="4887468" y="4892040"/>
            <a:ext cx="365107" cy="219456"/>
          </a:xfrm>
          <a:prstGeom prst="rect">
            <a:avLst/>
          </a:prstGeom>
          <a:solidFill>
            <a:srgbClr val="B5D9E0"/>
          </a:solidFill>
          <a:ln/>
        </p:spPr>
      </p:sp>
      <p:sp>
        <p:nvSpPr>
          <p:cNvPr id="173" name="Text 171"/>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4" name="Text 172"/>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5" name="Shape 173"/>
          <p:cNvSpPr/>
          <p:nvPr/>
        </p:nvSpPr>
        <p:spPr>
          <a:xfrm>
            <a:off x="5289151" y="4892040"/>
            <a:ext cx="365107" cy="219456"/>
          </a:xfrm>
          <a:prstGeom prst="rect">
            <a:avLst/>
          </a:prstGeom>
          <a:solidFill>
            <a:srgbClr val="D4E9ED"/>
          </a:solidFill>
          <a:ln/>
        </p:spPr>
      </p:sp>
      <p:sp>
        <p:nvSpPr>
          <p:cNvPr id="176" name="Text 174"/>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7" name="Text 175"/>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8" name="Shape 176"/>
          <p:cNvSpPr/>
          <p:nvPr/>
        </p:nvSpPr>
        <p:spPr>
          <a:xfrm>
            <a:off x="5690834" y="4892040"/>
            <a:ext cx="365107" cy="219456"/>
          </a:xfrm>
          <a:prstGeom prst="rect">
            <a:avLst/>
          </a:prstGeom>
          <a:solidFill>
            <a:srgbClr val="2C8394"/>
          </a:solidFill>
          <a:ln/>
        </p:spPr>
      </p:sp>
      <p:sp>
        <p:nvSpPr>
          <p:cNvPr id="179" name="Text 177"/>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0" name="Text 178"/>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1" name="Shape 179"/>
          <p:cNvSpPr/>
          <p:nvPr/>
        </p:nvSpPr>
        <p:spPr>
          <a:xfrm>
            <a:off x="6092517" y="4892040"/>
            <a:ext cx="365107" cy="219456"/>
          </a:xfrm>
          <a:prstGeom prst="rect">
            <a:avLst/>
          </a:prstGeom>
          <a:solidFill>
            <a:srgbClr val="2C8394"/>
          </a:solidFill>
          <a:ln/>
        </p:spPr>
      </p:sp>
      <p:sp>
        <p:nvSpPr>
          <p:cNvPr id="182" name="Text 180"/>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3" name="Text 181"/>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4" name="Shape 182"/>
          <p:cNvSpPr/>
          <p:nvPr/>
        </p:nvSpPr>
        <p:spPr>
          <a:xfrm>
            <a:off x="6494199" y="4892040"/>
            <a:ext cx="365107" cy="219456"/>
          </a:xfrm>
          <a:prstGeom prst="rect">
            <a:avLst/>
          </a:prstGeom>
          <a:solidFill>
            <a:srgbClr val="8FC3CC"/>
          </a:solidFill>
          <a:ln/>
        </p:spPr>
      </p:sp>
      <p:sp>
        <p:nvSpPr>
          <p:cNvPr id="185" name="Text 183"/>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6" name="Text 184"/>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7" name="Shape 185"/>
          <p:cNvSpPr/>
          <p:nvPr/>
        </p:nvSpPr>
        <p:spPr>
          <a:xfrm>
            <a:off x="6895882" y="4892040"/>
            <a:ext cx="365107" cy="219456"/>
          </a:xfrm>
          <a:prstGeom prst="rect">
            <a:avLst/>
          </a:prstGeom>
          <a:solidFill>
            <a:srgbClr val="8FC3CC"/>
          </a:solidFill>
          <a:ln/>
        </p:spPr>
      </p:sp>
      <p:sp>
        <p:nvSpPr>
          <p:cNvPr id="188" name="Text 186"/>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89" name="Text 187"/>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0" name="Shape 188"/>
          <p:cNvSpPr/>
          <p:nvPr/>
        </p:nvSpPr>
        <p:spPr>
          <a:xfrm>
            <a:off x="7297565" y="4892040"/>
            <a:ext cx="365107" cy="219456"/>
          </a:xfrm>
          <a:prstGeom prst="rect">
            <a:avLst/>
          </a:prstGeom>
          <a:solidFill>
            <a:srgbClr val="8FC3CC"/>
          </a:solidFill>
          <a:ln/>
        </p:spPr>
      </p:sp>
      <p:sp>
        <p:nvSpPr>
          <p:cNvPr id="191" name="Text 189"/>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2" name="Text 190"/>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3" name="Text 191"/>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4" name="Shape 192"/>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5" name="Text 193"/>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6" name="Text 194"/>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~1012</a:t>
            </a:r>
            <a:endParaRPr lang="en-US" sz="2600" dirty="0"/>
          </a:p>
        </p:txBody>
      </p:sp>
      <p:sp>
        <p:nvSpPr>
          <p:cNvPr id="197" name="Text 195"/>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~770 baseline</a:t>
            </a:r>
            <a:endParaRPr lang="en-US" sz="750" dirty="0"/>
          </a:p>
        </p:txBody>
      </p:sp>
      <p:sp>
        <p:nvSpPr>
          <p:cNvPr id="198" name="Text 196"/>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199" name="Text 197"/>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+211</a:t>
            </a:r>
            <a:endParaRPr lang="en-US" sz="680" dirty="0"/>
          </a:p>
        </p:txBody>
      </p:sp>
      <p:sp>
        <p:nvSpPr>
          <p:cNvPr id="200" name="Text 198"/>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~696/wk</a:t>
            </a:r>
            <a:endParaRPr lang="en-US" sz="750" dirty="0"/>
          </a:p>
        </p:txBody>
      </p:sp>
      <p:sp>
        <p:nvSpPr>
          <p:cNvPr id="201" name="Text 199"/>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2" name="Text 200"/>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+32</a:t>
            </a:r>
            <a:endParaRPr lang="en-US" sz="680" dirty="0"/>
          </a:p>
        </p:txBody>
      </p:sp>
      <p:sp>
        <p:nvSpPr>
          <p:cNvPr id="203" name="Text 201"/>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~168/wk</a:t>
            </a:r>
            <a:endParaRPr lang="en-US" sz="750" dirty="0"/>
          </a:p>
        </p:txBody>
      </p:sp>
      <p:sp>
        <p:nvSpPr>
          <p:cNvPr id="204" name="Text 202"/>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5" name="Text 203"/>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06" name="Text 204"/>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07" name="Text 205"/>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8" name="Text 206"/>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09" name="Text 207"/>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10" name="Text 208"/>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1" name="Text 209"/>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2" name="Text 210"/>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~15/wk</a:t>
            </a:r>
            <a:endParaRPr lang="en-US" sz="750" dirty="0"/>
          </a:p>
        </p:txBody>
      </p:sp>
      <p:sp>
        <p:nvSpPr>
          <p:cNvPr id="213" name="Text 211"/>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4" name="Text 212"/>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5" name="Text 213"/>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16" name="Text 214"/>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17" name="Text 215"/>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18" name="Text 216"/>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9" name="Text 217"/>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0" name="Text 218"/>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1" name="Text 219"/>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2" name="Text 220"/>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3" name="Text 221"/>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4" name="Text 222"/>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5" name="Text 223"/>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26" name="Text 224"/>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7" name="Text 225"/>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8" name="Text 226"/>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5 Oct capture · new = first capture</a:t>
            </a:r>
            <a:endParaRPr lang="en-US" sz="600" dirty="0"/>
          </a:p>
        </p:txBody>
      </p:sp>
      <p:sp>
        <p:nvSpPr>
          <p:cNvPr id="229" name="Shape 227"/>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0" name="Text 228"/>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1" name="Text 229"/>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No Claude Admin capture this week — these are the 12 Oct numbers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and they are held, not refreshed. At that read: 39 of 47 active weekly but only 12 daily, down from 19 a week earlier, and stickiness had fallen on every surface except Claude Code (Cowork 33% → 24% DAU/MAU, Claude.ai 29% → 7%, Office Agents 11% → 0%, Claude Code 18% → 26%). October code output stood at 111,689 lines, 69% of it Nicolas Ibrahim. Next capture restores the series.</a:t>
            </a:r>
            <a:endParaRPr lang="en-US" sz="900" dirty="0"/>
          </a:p>
        </p:txBody>
      </p:sp>
      <p:sp>
        <p:nvSpPr>
          <p:cNvPr id="232" name="Shape 230"/>
          <p:cNvSpPr/>
          <p:nvPr/>
        </p:nvSpPr>
        <p:spPr>
          <a:xfrm>
            <a:off x="6653174" y="6510528"/>
            <a:ext cx="5124298" cy="256032"/>
          </a:xfrm>
          <a:prstGeom prst="roundRect">
            <a:avLst>
              <a:gd name="adj" fmla="val 46429"/>
            </a:avLst>
          </a:prstGeom>
          <a:solidFill>
            <a:srgbClr val="12293A"/>
          </a:solidFill>
          <a:ln/>
        </p:spPr>
      </p:sp>
      <p:sp>
        <p:nvSpPr>
          <p:cNvPr id="233" name="Text 231"/>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12 Oct) — no new capture this week</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2026-10-19T04:35:15Z</dcterms:created>
  <dcterms:modified xsi:type="dcterms:W3CDTF">2026-10-19T04:35:15Z</dcterms:modified>
</cp:coreProperties>
</file>