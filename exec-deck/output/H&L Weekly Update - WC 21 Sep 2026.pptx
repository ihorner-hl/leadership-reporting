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identified</c:v>
                </c:pt>
              </c:strCache>
            </c:strRef>
          </c:tx>
          <c:spPr>
            <a:solidFill>
              <a:srgbClr val="24435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0</c:v>
                </c:pt>
                <c:pt idx="5">
                  <c:v>0</c:v>
                </c:pt>
                <c:pt idx="6">
                  <c:v>0</c:v>
                </c:pt>
                <c:pt idx="7">
                  <c:v>23</c:v>
                </c:pt>
                <c:pt idx="8">
                  <c:v>9</c:v>
                </c:pt>
              </c:numCache>
            </c:numRef>
          </c:val>
        </c:ser>
        <c:ser>
          <c:idx val="1"/>
          <c:order val="1"/>
          <c:tx>
            <c:strRef>
              <c:f>Sheet1!$C$1</c:f>
              <c:strCache>
                <c:ptCount val="1"/>
                <c:pt idx="0">
                  <c:v>referred</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3</c:v>
                </c:pt>
                <c:pt idx="1">
                  <c:v>2</c:v>
                </c:pt>
                <c:pt idx="2">
                  <c:v>4</c:v>
                </c:pt>
                <c:pt idx="3">
                  <c:v>3</c:v>
                </c:pt>
                <c:pt idx="4">
                  <c:v>2</c:v>
                </c:pt>
                <c:pt idx="5">
                  <c:v>6</c:v>
                </c:pt>
                <c:pt idx="6">
                  <c:v>2</c:v>
                </c:pt>
                <c:pt idx="7">
                  <c:v>5</c:v>
                </c:pt>
                <c:pt idx="8">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lineChart>
        <c:varyColors val="0"/>
        <c:ser>
          <c:idx val="2"/>
          <c:order val="2"/>
          <c:tx>
            <c:strRef>
              <c:f>Sheet1!$D$1</c:f>
              <c:strCache>
                <c:ptCount val="1"/>
                <c:pt idx="0">
                  <c:v>cumulative referred</c:v>
                </c:pt>
              </c:strCache>
            </c:strRef>
          </c:tx>
          <c:spPr>
            <a:solidFill>
              <a:srgbClr val="C88A2E"/>
            </a:solidFill>
            <a:ln w="25400" cap="flat">
              <a:solidFill>
                <a:srgbClr val="C88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88A2E"/>
              </a:solidFill>
              <a:ln w="9525" cap="flat">
                <a:solidFill>
                  <a:srgbClr val="C88A2E"/>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c:v>
                </c:pt>
                <c:pt idx="1">
                  <c:v>5</c:v>
                </c:pt>
                <c:pt idx="2">
                  <c:v>9</c:v>
                </c:pt>
                <c:pt idx="3">
                  <c:v>12</c:v>
                </c:pt>
                <c:pt idx="4">
                  <c:v>14</c:v>
                </c:pt>
                <c:pt idx="5">
                  <c:v>20</c:v>
                </c:pt>
                <c:pt idx="6">
                  <c:v>22</c:v>
                </c:pt>
                <c:pt idx="7">
                  <c:v>27</c:v>
                </c:pt>
                <c:pt idx="8">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6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Closed won</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Sheet1!$B$2:$B$8</c:f>
              <c:numCache>
                <c:formatCode>General</c:formatCode>
                <c:ptCount val="7"/>
                <c:pt idx="0">
                  <c:v>89148</c:v>
                </c:pt>
                <c:pt idx="1">
                  <c:v>53717</c:v>
                </c:pt>
                <c:pt idx="2">
                  <c:v>200064</c:v>
                </c:pt>
                <c:pt idx="3">
                  <c:v>34236</c:v>
                </c:pt>
                <c:pt idx="4">
                  <c:v>39372</c:v>
                </c:pt>
                <c:pt idx="5">
                  <c:v>77748</c:v>
                </c:pt>
                <c:pt idx="6">
                  <c:v>15377</c:v>
                </c:pt>
              </c:numCache>
            </c:numRef>
          </c:val>
        </c:ser>
        <c:ser>
          <c:idx val="1"/>
          <c:order val="1"/>
          <c:tx>
            <c:strRef>
              <c:f>Sheet1!$C$1</c:f>
              <c:strCache>
                <c:ptCount val="1"/>
                <c:pt idx="0">
                  <c:v>Invoiced (new + expansion)</c:v>
                </c:pt>
              </c:strCache>
            </c:strRef>
          </c:tx>
          <c:spPr>
            <a:solidFill>
              <a:srgbClr val="3D8F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Jan</c:v>
                  </c:pt>
                  <c:pt idx="1">
                    <c:v>Feb</c:v>
                  </c:pt>
                  <c:pt idx="2">
                    <c:v>Mar</c:v>
                  </c:pt>
                  <c:pt idx="3">
                    <c:v>Apr</c:v>
                  </c:pt>
                  <c:pt idx="4">
                    <c:v>May</c:v>
                  </c:pt>
                  <c:pt idx="5">
                    <c:v>Jun</c:v>
                  </c:pt>
                  <c:pt idx="6">
                    <c:v>Jul</c:v>
                  </c:pt>
                </c:lvl>
              </c:multiLvlStrCache>
            </c:multiLvlStrRef>
          </c:cat>
          <c:val>
            <c:numRef>
              <c:f>Sheet1!$C$2:$C$8</c:f>
              <c:numCache>
                <c:formatCode>General</c:formatCode>
                <c:ptCount val="7"/>
                <c:pt idx="0">
                  <c:v>30732</c:v>
                </c:pt>
                <c:pt idx="1">
                  <c:v>66948</c:v>
                </c:pt>
                <c:pt idx="2">
                  <c:v>44352</c:v>
                </c:pt>
                <c:pt idx="3">
                  <c:v>58572</c:v>
                </c:pt>
                <c:pt idx="4">
                  <c:v>70788</c:v>
                </c:pt>
                <c:pt idx="5">
                  <c:v>45408</c:v>
                </c:pt>
                <c:pt idx="6">
                  <c:v>90012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7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0–7 days</c:v>
                </c:pt>
              </c:strCache>
            </c:strRef>
          </c:tx>
          <c:spPr>
            <a:solidFill>
              <a:srgbClr val="3D8F5F"/>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Sheet1!$A$2:$A$6</c:f>
              <c:multiLvlStrCache>
                <c:ptCount val="5"/>
                <c:lvl>
                  <c:pt idx="0">
                    <c:v>08-02</c:v>
                  </c:pt>
                  <c:pt idx="1">
                    <c:v>08-09</c:v>
                  </c:pt>
                  <c:pt idx="2">
                    <c:v>08-16</c:v>
                  </c:pt>
                  <c:pt idx="3">
                    <c:v>08-23</c:v>
                  </c:pt>
                  <c:pt idx="4">
                    <c:v>08-30</c:v>
                  </c:pt>
                </c:lvl>
              </c:multiLvlStrCache>
            </c:multiLvlStrRef>
          </c:cat>
          <c:val>
            <c:numRef>
              <c:f>Sheet1!$B$2:$B$6</c:f>
              <c:numCache>
                <c:formatCode>General</c:formatCode>
                <c:ptCount val="5"/>
                <c:pt idx="0">
                  <c:v>159</c:v>
                </c:pt>
                <c:pt idx="1">
                  <c:v>255</c:v>
                </c:pt>
                <c:pt idx="2">
                  <c:v>172</c:v>
                </c:pt>
                <c:pt idx="3">
                  <c:v>164</c:v>
                </c:pt>
                <c:pt idx="4">
                  <c:v>151</c:v>
                </c:pt>
              </c:numCache>
            </c:numRef>
          </c:val>
        </c:ser>
        <c:ser>
          <c:idx val="1"/>
          <c:order val="1"/>
          <c:tx>
            <c:strRef>
              <c:f>Sheet1!$C$1</c:f>
              <c:strCache>
                <c:ptCount val="1"/>
                <c:pt idx="0">
                  <c:v>8–30 days</c:v>
                </c:pt>
              </c:strCache>
            </c:strRef>
          </c:tx>
          <c:spPr>
            <a:solidFill>
              <a:srgbClr val="6FAEBB"/>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Sheet1!$A$2:$A$6</c:f>
              <c:multiLvlStrCache>
                <c:ptCount val="5"/>
                <c:lvl>
                  <c:pt idx="0">
                    <c:v>08-02</c:v>
                  </c:pt>
                  <c:pt idx="1">
                    <c:v>08-09</c:v>
                  </c:pt>
                  <c:pt idx="2">
                    <c:v>08-16</c:v>
                  </c:pt>
                  <c:pt idx="3">
                    <c:v>08-23</c:v>
                  </c:pt>
                  <c:pt idx="4">
                    <c:v>08-30</c:v>
                  </c:pt>
                </c:lvl>
              </c:multiLvlStrCache>
            </c:multiLvlStrRef>
          </c:cat>
          <c:val>
            <c:numRef>
              <c:f>Sheet1!$C$2:$C$6</c:f>
              <c:numCache>
                <c:formatCode>General</c:formatCode>
                <c:ptCount val="5"/>
                <c:pt idx="0">
                  <c:v>217</c:v>
                </c:pt>
                <c:pt idx="1">
                  <c:v>228</c:v>
                </c:pt>
                <c:pt idx="2">
                  <c:v>270</c:v>
                </c:pt>
                <c:pt idx="3">
                  <c:v>299</c:v>
                </c:pt>
                <c:pt idx="4">
                  <c:v>297</c:v>
                </c:pt>
              </c:numCache>
            </c:numRef>
          </c:val>
        </c:ser>
        <c:ser>
          <c:idx val="2"/>
          <c:order val="2"/>
          <c:tx>
            <c:strRef>
              <c:f>Sheet1!$D$1</c:f>
              <c:strCache>
                <c:ptCount val="1"/>
                <c:pt idx="0">
                  <c:v>31–90 days</c:v>
                </c:pt>
              </c:strCache>
            </c:strRef>
          </c:tx>
          <c:spPr>
            <a:solidFill>
              <a:srgbClr val="C88A2E"/>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Sheet1!$A$2:$A$6</c:f>
              <c:multiLvlStrCache>
                <c:ptCount val="5"/>
                <c:lvl>
                  <c:pt idx="0">
                    <c:v>08-02</c:v>
                  </c:pt>
                  <c:pt idx="1">
                    <c:v>08-09</c:v>
                  </c:pt>
                  <c:pt idx="2">
                    <c:v>08-16</c:v>
                  </c:pt>
                  <c:pt idx="3">
                    <c:v>08-23</c:v>
                  </c:pt>
                  <c:pt idx="4">
                    <c:v>08-30</c:v>
                  </c:pt>
                </c:lvl>
              </c:multiLvlStrCache>
            </c:multiLvlStrRef>
          </c:cat>
          <c:val>
            <c:numRef>
              <c:f>Sheet1!$D$2:$D$6</c:f>
              <c:numCache>
                <c:formatCode>General</c:formatCode>
                <c:ptCount val="5"/>
                <c:pt idx="0">
                  <c:v>237</c:v>
                </c:pt>
                <c:pt idx="1">
                  <c:v>85</c:v>
                </c:pt>
                <c:pt idx="2">
                  <c:v>90</c:v>
                </c:pt>
                <c:pt idx="3">
                  <c:v>111</c:v>
                </c:pt>
                <c:pt idx="4">
                  <c:v>79</c:v>
                </c:pt>
              </c:numCache>
            </c:numRef>
          </c:val>
        </c:ser>
        <c:ser>
          <c:idx val="3"/>
          <c:order val="3"/>
          <c:tx>
            <c:strRef>
              <c:f>Sheet1!$E$1</c:f>
              <c:strCache>
                <c:ptCount val="1"/>
                <c:pt idx="0">
                  <c:v>90+ days</c:v>
                </c:pt>
              </c:strCache>
            </c:strRef>
          </c:tx>
          <c:spPr>
            <a:solidFill>
              <a:srgbClr val="7A3B21"/>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Sheet1!$A$2:$A$6</c:f>
              <c:multiLvlStrCache>
                <c:ptCount val="5"/>
                <c:lvl>
                  <c:pt idx="0">
                    <c:v>08-02</c:v>
                  </c:pt>
                  <c:pt idx="1">
                    <c:v>08-09</c:v>
                  </c:pt>
                  <c:pt idx="2">
                    <c:v>08-16</c:v>
                  </c:pt>
                  <c:pt idx="3">
                    <c:v>08-23</c:v>
                  </c:pt>
                  <c:pt idx="4">
                    <c:v>08-30</c:v>
                  </c:pt>
                </c:lvl>
              </c:multiLvlStrCache>
            </c:multiLvlStrRef>
          </c:cat>
          <c:val>
            <c:numRef>
              <c:f>Sheet1!$E$2:$E$6</c:f>
              <c:numCache>
                <c:formatCode>General</c:formatCode>
                <c:ptCount val="5"/>
                <c:pt idx="0">
                  <c:v>73</c:v>
                </c:pt>
                <c:pt idx="1">
                  <c:v>57</c:v>
                </c:pt>
                <c:pt idx="2">
                  <c:v>52</c:v>
                </c:pt>
                <c:pt idx="3">
                  <c:v>58</c:v>
                </c:pt>
                <c:pt idx="4">
                  <c:v>59</c:v>
                </c:pt>
              </c:numCache>
            </c:numRef>
          </c:val>
        </c:ser>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max val="800"/>
          <c:min val="0"/>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FA1AC"/>
                </a:solidFill>
                <a:latin typeface="Poppin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0–7 days</c:v>
                </c:pt>
              </c:strCache>
            </c:strRef>
          </c:tx>
          <c:spPr>
            <a:solidFill>
              <a:srgbClr val="3D8F5F"/>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Sheet1!$A$2:$A$4</c:f>
              <c:multiLvlStrCache>
                <c:ptCount val="3"/>
                <c:lvl>
                  <c:pt idx="0">
                    <c:v>09-13</c:v>
                  </c:pt>
                  <c:pt idx="1">
                    <c:v>09-20</c:v>
                  </c:pt>
                  <c:pt idx="2">
                    <c:v>09-27</c:v>
                  </c:pt>
                </c:lvl>
              </c:multiLvlStrCache>
            </c:multiLvlStrRef>
          </c:cat>
          <c:val>
            <c:numRef>
              <c:f>Sheet1!$B$2:$B$4</c:f>
              <c:numCache>
                <c:formatCode>General</c:formatCode>
                <c:ptCount val="3"/>
                <c:pt idx="0">
                  <c:v>236</c:v>
                </c:pt>
                <c:pt idx="1">
                  <c:v>184</c:v>
                </c:pt>
                <c:pt idx="2">
                  <c:v>194</c:v>
                </c:pt>
              </c:numCache>
            </c:numRef>
          </c:val>
        </c:ser>
        <c:ser>
          <c:idx val="1"/>
          <c:order val="1"/>
          <c:tx>
            <c:strRef>
              <c:f>Sheet1!$C$1</c:f>
              <c:strCache>
                <c:ptCount val="1"/>
                <c:pt idx="0">
                  <c:v>8–30 days</c:v>
                </c:pt>
              </c:strCache>
            </c:strRef>
          </c:tx>
          <c:spPr>
            <a:solidFill>
              <a:srgbClr val="6FAEBB"/>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Sheet1!$A$2:$A$4</c:f>
              <c:multiLvlStrCache>
                <c:ptCount val="3"/>
                <c:lvl>
                  <c:pt idx="0">
                    <c:v>09-13</c:v>
                  </c:pt>
                  <c:pt idx="1">
                    <c:v>09-20</c:v>
                  </c:pt>
                  <c:pt idx="2">
                    <c:v>09-27</c:v>
                  </c:pt>
                </c:lvl>
              </c:multiLvlStrCache>
            </c:multiLvlStrRef>
          </c:cat>
          <c:val>
            <c:numRef>
              <c:f>Sheet1!$C$2:$C$4</c:f>
              <c:numCache>
                <c:formatCode>General</c:formatCode>
                <c:ptCount val="3"/>
                <c:pt idx="0">
                  <c:v>259</c:v>
                </c:pt>
                <c:pt idx="1">
                  <c:v>249</c:v>
                </c:pt>
                <c:pt idx="2">
                  <c:v>302</c:v>
                </c:pt>
              </c:numCache>
            </c:numRef>
          </c:val>
        </c:ser>
        <c:ser>
          <c:idx val="2"/>
          <c:order val="2"/>
          <c:tx>
            <c:strRef>
              <c:f>Sheet1!$D$1</c:f>
              <c:strCache>
                <c:ptCount val="1"/>
                <c:pt idx="0">
                  <c:v>31–90 days</c:v>
                </c:pt>
              </c:strCache>
            </c:strRef>
          </c:tx>
          <c:spPr>
            <a:solidFill>
              <a:srgbClr val="C88A2E"/>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Sheet1!$A$2:$A$4</c:f>
              <c:multiLvlStrCache>
                <c:ptCount val="3"/>
                <c:lvl>
                  <c:pt idx="0">
                    <c:v>09-13</c:v>
                  </c:pt>
                  <c:pt idx="1">
                    <c:v>09-20</c:v>
                  </c:pt>
                  <c:pt idx="2">
                    <c:v>09-27</c:v>
                  </c:pt>
                </c:lvl>
              </c:multiLvlStrCache>
            </c:multiLvlStrRef>
          </c:cat>
          <c:val>
            <c:numRef>
              <c:f>Sheet1!$D$2:$D$4</c:f>
              <c:numCache>
                <c:formatCode>General</c:formatCode>
                <c:ptCount val="3"/>
                <c:pt idx="0">
                  <c:v>151</c:v>
                </c:pt>
                <c:pt idx="1">
                  <c:v>132</c:v>
                </c:pt>
                <c:pt idx="2">
                  <c:v>168</c:v>
                </c:pt>
              </c:numCache>
            </c:numRef>
          </c:val>
        </c:ser>
        <c:ser>
          <c:idx val="3"/>
          <c:order val="3"/>
          <c:tx>
            <c:strRef>
              <c:f>Sheet1!$E$1</c:f>
              <c:strCache>
                <c:ptCount val="1"/>
                <c:pt idx="0">
                  <c:v>90+ days</c:v>
                </c:pt>
              </c:strCache>
            </c:strRef>
          </c:tx>
          <c:spPr>
            <a:solidFill>
              <a:srgbClr val="7A3B21"/>
            </a:solidFill>
            <a:effectLst/>
          </c:spPr>
          <c:invertIfNegative val="0"/>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cat>
            <c:multiLvlStrRef>
              <c:f>Sheet1!$A$2:$A$4</c:f>
              <c:multiLvlStrCache>
                <c:ptCount val="3"/>
                <c:lvl>
                  <c:pt idx="0">
                    <c:v>09-13</c:v>
                  </c:pt>
                  <c:pt idx="1">
                    <c:v>09-20</c:v>
                  </c:pt>
                  <c:pt idx="2">
                    <c:v>09-27</c:v>
                  </c:pt>
                </c:lvl>
              </c:multiLvlStrCache>
            </c:multiLvlStrRef>
          </c:cat>
          <c:val>
            <c:numRef>
              <c:f>Sheet1!$E$2:$E$4</c:f>
              <c:numCache>
                <c:formatCode>General</c:formatCode>
                <c:ptCount val="3"/>
                <c:pt idx="0">
                  <c:v>35</c:v>
                </c:pt>
                <c:pt idx="1">
                  <c:v>10</c:v>
                </c:pt>
                <c:pt idx="2">
                  <c:v>11</c:v>
                </c:pt>
              </c:numCache>
            </c:numRef>
          </c:val>
        </c:ser>
        <c:dLbls>
          <c:numFmt formatCode="#,##0" sourceLinked="0"/>
          <c:txPr>
            <a:bodyPr/>
            <a:lstStyle/>
            <a:p>
              <a:pPr>
                <a:defRPr b="0" i="0" strike="noStrike" sz="650" u="none">
                  <a:solidFill>
                    <a:srgbClr val="FFFFFF"/>
                  </a:solidFill>
                  <a:latin typeface="Poppins"/>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max val="800"/>
          <c:min val="0"/>
        </c:scaling>
        <c:delete val="1"/>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weekly deck produced after the Creatio → HubSpot migration (live 8 Sep 2026). Slide 3 carries the cutover register; per-slide source pills carry the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3A"/>
        </a:solidFill>
      </p:bgPr>
    </p:bg>
    <p:spTree>
      <p:nvGrpSpPr>
        <p:cNvPr id="1" name=""/>
        <p:cNvGrpSpPr/>
        <p:nvPr/>
      </p:nvGrpSpPr>
      <p:grpSpPr>
        <a:xfrm>
          <a:off x="0" y="0"/>
          <a:ext cx="0" cy="0"/>
          <a:chOff x="0" y="0"/>
          <a:chExt cx="0" cy="0"/>
        </a:xfrm>
      </p:grpSpPr>
      <p:sp>
        <p:nvSpPr>
          <p:cNvPr id="2" name="Shape 0"/>
          <p:cNvSpPr/>
          <p:nvPr/>
        </p:nvSpPr>
        <p:spPr>
          <a:xfrm>
            <a:off x="9709099" y="-1263701"/>
            <a:ext cx="3533242" cy="3533242"/>
          </a:xfrm>
          <a:prstGeom prst="ellipse">
            <a:avLst/>
          </a:prstGeom>
          <a:solidFill>
            <a:srgbClr val="1C5765"/>
          </a:solidFill>
          <a:ln/>
        </p:spPr>
      </p:sp>
      <p:sp>
        <p:nvSpPr>
          <p:cNvPr id="3" name="Shape 1"/>
          <p:cNvSpPr/>
          <p:nvPr/>
        </p:nvSpPr>
        <p:spPr>
          <a:xfrm>
            <a:off x="10112350" y="-860450"/>
            <a:ext cx="2726741" cy="2726741"/>
          </a:xfrm>
          <a:prstGeom prst="ellipse">
            <a:avLst/>
          </a:prstGeom>
          <a:solidFill>
            <a:srgbClr val="2C8394"/>
          </a:solidFill>
          <a:ln/>
        </p:spPr>
      </p:sp>
      <p:sp>
        <p:nvSpPr>
          <p:cNvPr id="4" name="Shape 2"/>
          <p:cNvSpPr/>
          <p:nvPr/>
        </p:nvSpPr>
        <p:spPr>
          <a:xfrm>
            <a:off x="10515600" y="-457200"/>
            <a:ext cx="1920240" cy="1920240"/>
          </a:xfrm>
          <a:prstGeom prst="ellipse">
            <a:avLst/>
          </a:prstGeom>
          <a:solidFill>
            <a:srgbClr val="6FAEBB"/>
          </a:solidFill>
          <a:ln/>
        </p:spPr>
      </p:sp>
      <p:sp>
        <p:nvSpPr>
          <p:cNvPr id="5" name="Shape 3"/>
          <p:cNvSpPr/>
          <p:nvPr/>
        </p:nvSpPr>
        <p:spPr>
          <a:xfrm>
            <a:off x="10918850" y="-53950"/>
            <a:ext cx="1113739" cy="1113739"/>
          </a:xfrm>
          <a:prstGeom prst="ellipse">
            <a:avLst/>
          </a:prstGeom>
          <a:solidFill>
            <a:srgbClr val="E4F1F4"/>
          </a:solidFill>
          <a:ln/>
        </p:spPr>
      </p:sp>
      <p:sp>
        <p:nvSpPr>
          <p:cNvPr id="6" name="Shape 4"/>
          <p:cNvSpPr/>
          <p:nvPr/>
        </p:nvSpPr>
        <p:spPr>
          <a:xfrm>
            <a:off x="868680" y="777240"/>
            <a:ext cx="1051560" cy="1051560"/>
          </a:xfrm>
          <a:prstGeom prst="roundRect">
            <a:avLst>
              <a:gd name="adj" fmla="val 13913"/>
            </a:avLst>
          </a:prstGeom>
          <a:solidFill>
            <a:srgbClr val="FFFFFF"/>
          </a:solidFill>
          <a:ln/>
          <a:effectLst>
            <a:outerShdw sx="100000" sy="100000" kx="0" ky="0" algn="bl" rotWithShape="0" blurRad="76200" dist="25400" dir="5400000">
              <a:srgbClr val="9AAAB5">
                <a:alpha val="35000"/>
              </a:srgbClr>
            </a:outerShdw>
          </a:effectLst>
        </p:spPr>
      </p:sp>
      <p:sp>
        <p:nvSpPr>
          <p:cNvPr id="7" name="Text 5"/>
          <p:cNvSpPr txBox="1"/>
          <p:nvPr/>
        </p:nvSpPr>
        <p:spPr>
          <a:xfrm>
            <a:off x="868680" y="777240"/>
            <a:ext cx="1051560" cy="1051560"/>
          </a:xfrm>
          <a:prstGeom prst="rect">
            <a:avLst/>
          </a:prstGeom>
          <a:noFill/>
          <a:ln/>
        </p:spPr>
        <p:txBody>
          <a:bodyPr wrap="square" lIns="0" tIns="0" rIns="0" bIns="0" rtlCol="0" anchor="ctr"/>
          <a:lstStyle/>
          <a:p>
            <a:pPr algn="ctr" indent="0" marL="0">
              <a:buNone/>
            </a:pPr>
            <a:r>
              <a:rPr lang="en-US" sz="2400" b="1" dirty="0">
                <a:solidFill>
                  <a:srgbClr val="12293A"/>
                </a:solidFill>
                <a:latin typeface="Poppins" pitchFamily="34" charset="0"/>
                <a:ea typeface="Poppins" pitchFamily="34" charset="-122"/>
                <a:cs typeface="Poppins" pitchFamily="34" charset="-120"/>
              </a:rPr>
              <a:t>H&amp;L</a:t>
            </a:r>
            <a:endParaRPr lang="en-US" sz="2400" dirty="0"/>
          </a:p>
        </p:txBody>
      </p:sp>
      <p:sp>
        <p:nvSpPr>
          <p:cNvPr id="8" name="Text 6"/>
          <p:cNvSpPr txBox="1"/>
          <p:nvPr/>
        </p:nvSpPr>
        <p:spPr>
          <a:xfrm>
            <a:off x="868680" y="2743200"/>
            <a:ext cx="10424160" cy="105156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H&amp;L Weekly Update</a:t>
            </a:r>
            <a:endParaRPr lang="en-US" sz="5400" dirty="0"/>
          </a:p>
        </p:txBody>
      </p:sp>
      <p:sp>
        <p:nvSpPr>
          <p:cNvPr id="9" name="Text 7"/>
          <p:cNvSpPr txBox="1"/>
          <p:nvPr/>
        </p:nvSpPr>
        <p:spPr>
          <a:xfrm>
            <a:off x="896112" y="3977640"/>
            <a:ext cx="8229600" cy="411480"/>
          </a:xfrm>
          <a:prstGeom prst="rect">
            <a:avLst/>
          </a:prstGeom>
          <a:noFill/>
          <a:ln/>
        </p:spPr>
        <p:txBody>
          <a:bodyPr wrap="square" lIns="0" tIns="0" rIns="0" bIns="0" rtlCol="0" anchor="ctr"/>
          <a:lstStyle/>
          <a:p>
            <a:pPr indent="0" marL="0">
              <a:buNone/>
            </a:pPr>
            <a:r>
              <a:rPr lang="en-US" sz="1800" b="1" dirty="0">
                <a:solidFill>
                  <a:srgbClr val="FFFFFF"/>
                </a:solidFill>
                <a:latin typeface="Poppins" pitchFamily="34" charset="0"/>
                <a:ea typeface="Poppins" pitchFamily="34" charset="-122"/>
                <a:cs typeface="Poppins" pitchFamily="34" charset="-120"/>
              </a:rPr>
              <a:t>Week commencing 21 September 2026</a:t>
            </a:r>
            <a:endParaRPr lang="en-US" sz="1800" dirty="0"/>
          </a:p>
        </p:txBody>
      </p:sp>
      <p:sp>
        <p:nvSpPr>
          <p:cNvPr id="10" name="Text 8"/>
          <p:cNvSpPr txBox="1"/>
          <p:nvPr/>
        </p:nvSpPr>
        <p:spPr>
          <a:xfrm>
            <a:off x="896112" y="4434840"/>
            <a:ext cx="8229600" cy="320040"/>
          </a:xfrm>
          <a:prstGeom prst="rect">
            <a:avLst/>
          </a:prstGeom>
          <a:noFill/>
          <a:ln/>
        </p:spPr>
        <p:txBody>
          <a:bodyPr wrap="square" lIns="0" tIns="0" rIns="0" bIns="0" rtlCol="0" anchor="ctr"/>
          <a:lstStyle/>
          <a:p>
            <a:pPr indent="0" marL="0">
              <a:buNone/>
            </a:pPr>
            <a:r>
              <a:rPr lang="en-US" sz="1100" dirty="0">
                <a:solidFill>
                  <a:srgbClr val="6FAEBB"/>
                </a:solidFill>
                <a:latin typeface="Poppins" pitchFamily="34" charset="0"/>
                <a:ea typeface="Poppins" pitchFamily="34" charset="-122"/>
                <a:cs typeface="Poppins" pitchFamily="34" charset="-120"/>
              </a:rPr>
              <a:t>Generated: 28 Sep 2026</a:t>
            </a:r>
            <a:endParaRPr lang="en-US" sz="1100" dirty="0"/>
          </a:p>
        </p:txBody>
      </p:sp>
      <p:sp>
        <p:nvSpPr>
          <p:cNvPr id="11" name="Shape 9"/>
          <p:cNvSpPr/>
          <p:nvPr/>
        </p:nvSpPr>
        <p:spPr>
          <a:xfrm>
            <a:off x="896112" y="5029200"/>
            <a:ext cx="4572000" cy="402336"/>
          </a:xfrm>
          <a:prstGeom prst="roundRect">
            <a:avLst>
              <a:gd name="adj" fmla="val 50000"/>
            </a:avLst>
          </a:prstGeom>
          <a:solidFill>
            <a:srgbClr val="B4552D"/>
          </a:solidFill>
          <a:ln/>
        </p:spPr>
      </p:sp>
      <p:sp>
        <p:nvSpPr>
          <p:cNvPr id="12" name="Text 10"/>
          <p:cNvSpPr txBox="1"/>
          <p:nvPr/>
        </p:nvSpPr>
        <p:spPr>
          <a:xfrm>
            <a:off x="896112" y="5029200"/>
            <a:ext cx="45720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POST-CUTOVER — WEEK 3 ON HUBSPOT SOURCES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Agenda</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371600"/>
            <a:ext cx="2670048" cy="82296"/>
          </a:xfrm>
          <a:prstGeom prst="rect">
            <a:avLst/>
          </a:prstGeom>
          <a:solidFill>
            <a:srgbClr val="2C8394"/>
          </a:solidFill>
          <a:ln/>
        </p:spPr>
      </p:sp>
      <p:sp>
        <p:nvSpPr>
          <p:cNvPr id="11" name="Shape 9"/>
          <p:cNvSpPr/>
          <p:nvPr/>
        </p:nvSpPr>
        <p:spPr>
          <a:xfrm>
            <a:off x="411480"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12" name="Shape 10"/>
          <p:cNvSpPr/>
          <p:nvPr/>
        </p:nvSpPr>
        <p:spPr>
          <a:xfrm>
            <a:off x="1435608" y="1874520"/>
            <a:ext cx="621792" cy="621792"/>
          </a:xfrm>
          <a:prstGeom prst="ellipse">
            <a:avLst/>
          </a:prstGeom>
          <a:solidFill>
            <a:srgbClr val="2C8394"/>
          </a:solidFill>
          <a:ln/>
          <a:effectLst>
            <a:outerShdw sx="100000" sy="100000" kx="0" ky="0" algn="bl" rotWithShape="0" blurRad="76200" dist="25400" dir="5400000">
              <a:srgbClr val="9AAAB5">
                <a:alpha val="35000"/>
              </a:srgbClr>
            </a:outerShdw>
          </a:effectLst>
        </p:spPr>
      </p:sp>
      <p:sp>
        <p:nvSpPr>
          <p:cNvPr id="13" name="Text 11"/>
          <p:cNvSpPr txBox="1"/>
          <p:nvPr/>
        </p:nvSpPr>
        <p:spPr>
          <a:xfrm>
            <a:off x="1435608"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14" name="Text 12"/>
          <p:cNvSpPr txBox="1"/>
          <p:nvPr/>
        </p:nvSpPr>
        <p:spPr>
          <a:xfrm>
            <a:off x="502920"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SELL?</a:t>
            </a:r>
            <a:endParaRPr lang="en-US" sz="1350" dirty="0"/>
          </a:p>
        </p:txBody>
      </p:sp>
      <p:sp>
        <p:nvSpPr>
          <p:cNvPr id="15" name="Text 13"/>
          <p:cNvSpPr txBox="1"/>
          <p:nvPr/>
        </p:nvSpPr>
        <p:spPr>
          <a:xfrm>
            <a:off x="502920" y="2971800"/>
            <a:ext cx="2487168" cy="274320"/>
          </a:xfrm>
          <a:prstGeom prst="rect">
            <a:avLst/>
          </a:prstGeom>
          <a:noFill/>
          <a:ln/>
        </p:spPr>
        <p:txBody>
          <a:bodyPr wrap="square" lIns="0" tIns="0" rIns="0" bIns="0" rtlCol="0" anchor="ctr"/>
          <a:lstStyle/>
          <a:p>
            <a:pPr algn="ctr" indent="0" marL="0">
              <a:buNone/>
            </a:pPr>
            <a:r>
              <a:rPr lang="en-US" sz="1000" b="1" dirty="0">
                <a:solidFill>
                  <a:srgbClr val="2C8394"/>
                </a:solidFill>
                <a:latin typeface="Poppins" pitchFamily="34" charset="0"/>
                <a:ea typeface="Poppins" pitchFamily="34" charset="-122"/>
                <a:cs typeface="Poppins" pitchFamily="34" charset="-120"/>
              </a:rPr>
              <a:t>Sales &amp; partner motion</a:t>
            </a:r>
            <a:endParaRPr lang="en-US" sz="1000" dirty="0"/>
          </a:p>
        </p:txBody>
      </p:sp>
      <p:sp>
        <p:nvSpPr>
          <p:cNvPr id="16" name="Shape 14"/>
          <p:cNvSpPr/>
          <p:nvPr/>
        </p:nvSpPr>
        <p:spPr>
          <a:xfrm>
            <a:off x="1426464" y="3310128"/>
            <a:ext cx="640080" cy="50292"/>
          </a:xfrm>
          <a:prstGeom prst="roundRect">
            <a:avLst>
              <a:gd name="adj" fmla="val 36364"/>
            </a:avLst>
          </a:prstGeom>
          <a:solidFill>
            <a:srgbClr val="E2EAEE"/>
          </a:solidFill>
          <a:ln/>
        </p:spPr>
      </p:sp>
      <p:sp>
        <p:nvSpPr>
          <p:cNvPr id="17" name="Text 15"/>
          <p:cNvSpPr txBox="1"/>
          <p:nvPr/>
        </p:nvSpPr>
        <p:spPr>
          <a:xfrm>
            <a:off x="612648"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Target vs Invoiced — sales team roll-up</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AI-Infused Products — pipeline &amp; conversion</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H&amp;L Pay — partner motion</a:t>
            </a:r>
            <a:endParaRPr lang="en-US" sz="950" dirty="0"/>
          </a:p>
        </p:txBody>
      </p:sp>
      <p:sp>
        <p:nvSpPr>
          <p:cNvPr id="18" name="Shape 16"/>
          <p:cNvSpPr/>
          <p:nvPr/>
        </p:nvSpPr>
        <p:spPr>
          <a:xfrm>
            <a:off x="3310128" y="1371600"/>
            <a:ext cx="2670048" cy="82296"/>
          </a:xfrm>
          <a:prstGeom prst="rect">
            <a:avLst/>
          </a:prstGeom>
          <a:solidFill>
            <a:srgbClr val="3D8F5F"/>
          </a:solidFill>
          <a:ln/>
        </p:spPr>
      </p:sp>
      <p:sp>
        <p:nvSpPr>
          <p:cNvPr id="19" name="Shape 17"/>
          <p:cNvSpPr/>
          <p:nvPr/>
        </p:nvSpPr>
        <p:spPr>
          <a:xfrm>
            <a:off x="3310128"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0" name="Shape 18"/>
          <p:cNvSpPr/>
          <p:nvPr/>
        </p:nvSpPr>
        <p:spPr>
          <a:xfrm>
            <a:off x="4334256" y="1874520"/>
            <a:ext cx="621792" cy="621792"/>
          </a:xfrm>
          <a:prstGeom prst="ellipse">
            <a:avLst/>
          </a:prstGeom>
          <a:solidFill>
            <a:srgbClr val="3D8F5F"/>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334256"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22" name="Text 20"/>
          <p:cNvSpPr txBox="1"/>
          <p:nvPr/>
        </p:nvSpPr>
        <p:spPr>
          <a:xfrm>
            <a:off x="3401568"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DELIVER?</a:t>
            </a:r>
            <a:endParaRPr lang="en-US" sz="1350" dirty="0"/>
          </a:p>
        </p:txBody>
      </p:sp>
      <p:sp>
        <p:nvSpPr>
          <p:cNvPr id="23" name="Text 21"/>
          <p:cNvSpPr txBox="1"/>
          <p:nvPr/>
        </p:nvSpPr>
        <p:spPr>
          <a:xfrm>
            <a:off x="3401568" y="2971800"/>
            <a:ext cx="2487168" cy="274320"/>
          </a:xfrm>
          <a:prstGeom prst="rect">
            <a:avLst/>
          </a:prstGeom>
          <a:noFill/>
          <a:ln/>
        </p:spPr>
        <p:txBody>
          <a:bodyPr wrap="square" lIns="0" tIns="0" rIns="0" bIns="0" rtlCol="0" anchor="ctr"/>
          <a:lstStyle/>
          <a:p>
            <a:pPr algn="ctr" indent="0" marL="0">
              <a:buNone/>
            </a:pPr>
            <a:r>
              <a:rPr lang="en-US" sz="1000" b="1" dirty="0">
                <a:solidFill>
                  <a:srgbClr val="3D8F5F"/>
                </a:solidFill>
                <a:latin typeface="Poppins" pitchFamily="34" charset="0"/>
                <a:ea typeface="Poppins" pitchFamily="34" charset="-122"/>
                <a:cs typeface="Poppins" pitchFamily="34" charset="-120"/>
              </a:rPr>
              <a:t>From signed to billed</a:t>
            </a:r>
            <a:endParaRPr lang="en-US" sz="1000" dirty="0"/>
          </a:p>
        </p:txBody>
      </p:sp>
      <p:sp>
        <p:nvSpPr>
          <p:cNvPr id="24" name="Shape 22"/>
          <p:cNvSpPr/>
          <p:nvPr/>
        </p:nvSpPr>
        <p:spPr>
          <a:xfrm>
            <a:off x="4325112" y="3310128"/>
            <a:ext cx="640080" cy="50292"/>
          </a:xfrm>
          <a:prstGeom prst="roundRect">
            <a:avLst>
              <a:gd name="adj" fmla="val 36364"/>
            </a:avLst>
          </a:prstGeom>
          <a:solidFill>
            <a:srgbClr val="E2EAEE"/>
          </a:solidFill>
          <a:ln/>
        </p:spPr>
      </p:sp>
      <p:sp>
        <p:nvSpPr>
          <p:cNvPr id="25" name="Text 23"/>
          <p:cNvSpPr txBox="1"/>
          <p:nvPr/>
        </p:nvSpPr>
        <p:spPr>
          <a:xfrm>
            <a:off x="3511296"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Utilisation &amp; Delivery Hours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Won vs Invoiced &amp; Retention</a:t>
            </a:r>
            <a:endParaRPr lang="en-US" sz="950" dirty="0"/>
          </a:p>
        </p:txBody>
      </p:sp>
      <p:sp>
        <p:nvSpPr>
          <p:cNvPr id="26" name="Shape 24"/>
          <p:cNvSpPr/>
          <p:nvPr/>
        </p:nvSpPr>
        <p:spPr>
          <a:xfrm>
            <a:off x="6208776" y="1371600"/>
            <a:ext cx="2670048" cy="82296"/>
          </a:xfrm>
          <a:prstGeom prst="rect">
            <a:avLst/>
          </a:prstGeom>
          <a:solidFill>
            <a:srgbClr val="C88A2E"/>
          </a:solidFill>
          <a:ln/>
        </p:spPr>
      </p:sp>
      <p:sp>
        <p:nvSpPr>
          <p:cNvPr id="27" name="Shape 25"/>
          <p:cNvSpPr/>
          <p:nvPr/>
        </p:nvSpPr>
        <p:spPr>
          <a:xfrm>
            <a:off x="6208776"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8" name="Shape 26"/>
          <p:cNvSpPr/>
          <p:nvPr/>
        </p:nvSpPr>
        <p:spPr>
          <a:xfrm>
            <a:off x="7232904" y="1874520"/>
            <a:ext cx="621792" cy="621792"/>
          </a:xfrm>
          <a:prstGeom prst="ellipse">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7232904"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30" name="Text 28"/>
          <p:cNvSpPr txBox="1"/>
          <p:nvPr/>
        </p:nvSpPr>
        <p:spPr>
          <a:xfrm>
            <a:off x="6300216"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KEEP THEM?</a:t>
            </a:r>
            <a:endParaRPr lang="en-US" sz="1350" dirty="0"/>
          </a:p>
        </p:txBody>
      </p:sp>
      <p:sp>
        <p:nvSpPr>
          <p:cNvPr id="31" name="Text 29"/>
          <p:cNvSpPr txBox="1"/>
          <p:nvPr/>
        </p:nvSpPr>
        <p:spPr>
          <a:xfrm>
            <a:off x="6300216" y="2971800"/>
            <a:ext cx="2487168" cy="274320"/>
          </a:xfrm>
          <a:prstGeom prst="rect">
            <a:avLst/>
          </a:prstGeom>
          <a:noFill/>
          <a:ln/>
        </p:spPr>
        <p:txBody>
          <a:bodyPr wrap="square" lIns="0" tIns="0" rIns="0" bIns="0" rtlCol="0" anchor="ctr"/>
          <a:lstStyle/>
          <a:p>
            <a:pPr algn="ctr" indent="0" marL="0">
              <a:buNone/>
            </a:pPr>
            <a:r>
              <a:rPr lang="en-US" sz="1000" b="1" dirty="0">
                <a:solidFill>
                  <a:srgbClr val="C88A2E"/>
                </a:solidFill>
                <a:latin typeface="Poppins" pitchFamily="34" charset="0"/>
                <a:ea typeface="Poppins" pitchFamily="34" charset="-122"/>
                <a:cs typeface="Poppins" pitchFamily="34" charset="-120"/>
              </a:rPr>
              <a:t>Support health</a:t>
            </a:r>
            <a:endParaRPr lang="en-US" sz="1000" dirty="0"/>
          </a:p>
        </p:txBody>
      </p:sp>
      <p:sp>
        <p:nvSpPr>
          <p:cNvPr id="32" name="Shape 30"/>
          <p:cNvSpPr/>
          <p:nvPr/>
        </p:nvSpPr>
        <p:spPr>
          <a:xfrm>
            <a:off x="7223760" y="3310128"/>
            <a:ext cx="640080" cy="50292"/>
          </a:xfrm>
          <a:prstGeom prst="roundRect">
            <a:avLst>
              <a:gd name="adj" fmla="val 36364"/>
            </a:avLst>
          </a:prstGeom>
          <a:solidFill>
            <a:srgbClr val="E2EAEE"/>
          </a:solidFill>
          <a:ln/>
        </p:spPr>
      </p:sp>
      <p:sp>
        <p:nvSpPr>
          <p:cNvPr id="33" name="Text 31"/>
          <p:cNvSpPr txBox="1"/>
          <p:nvPr/>
        </p:nvSpPr>
        <p:spPr>
          <a:xfrm>
            <a:off x="6409944"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Backlog, ageing &amp; first response</a:t>
            </a:r>
            <a:endParaRPr lang="en-US" sz="950" dirty="0"/>
          </a:p>
        </p:txBody>
      </p:sp>
      <p:sp>
        <p:nvSpPr>
          <p:cNvPr id="34" name="Shape 32"/>
          <p:cNvSpPr/>
          <p:nvPr/>
        </p:nvSpPr>
        <p:spPr>
          <a:xfrm>
            <a:off x="9107424" y="1371600"/>
            <a:ext cx="2670048" cy="82296"/>
          </a:xfrm>
          <a:prstGeom prst="rect">
            <a:avLst/>
          </a:prstGeom>
          <a:solidFill>
            <a:srgbClr val="12293A"/>
          </a:solidFill>
          <a:ln/>
        </p:spPr>
      </p:sp>
      <p:sp>
        <p:nvSpPr>
          <p:cNvPr id="35" name="Shape 33"/>
          <p:cNvSpPr/>
          <p:nvPr/>
        </p:nvSpPr>
        <p:spPr>
          <a:xfrm>
            <a:off x="9107424"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36" name="Shape 34"/>
          <p:cNvSpPr/>
          <p:nvPr/>
        </p:nvSpPr>
        <p:spPr>
          <a:xfrm>
            <a:off x="10131552" y="1874520"/>
            <a:ext cx="621792" cy="621792"/>
          </a:xfrm>
          <a:prstGeom prst="ellipse">
            <a:avLst/>
          </a:prstGeom>
          <a:solidFill>
            <a:srgbClr val="12293A"/>
          </a:solidFill>
          <a:ln/>
          <a:effectLst>
            <a:outerShdw sx="100000" sy="100000" kx="0" ky="0" algn="bl" rotWithShape="0" blurRad="76200" dist="25400" dir="5400000">
              <a:srgbClr val="9AAAB5">
                <a:alpha val="35000"/>
              </a:srgbClr>
            </a:outerShdw>
          </a:effectLst>
        </p:spPr>
      </p:sp>
      <p:sp>
        <p:nvSpPr>
          <p:cNvPr id="37" name="Text 35"/>
          <p:cNvSpPr txBox="1"/>
          <p:nvPr/>
        </p:nvSpPr>
        <p:spPr>
          <a:xfrm>
            <a:off x="10131552"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4</a:t>
            </a:r>
            <a:endParaRPr lang="en-US" sz="2200" dirty="0"/>
          </a:p>
        </p:txBody>
      </p:sp>
      <p:sp>
        <p:nvSpPr>
          <p:cNvPr id="38" name="Text 36"/>
          <p:cNvSpPr txBox="1"/>
          <p:nvPr/>
        </p:nvSpPr>
        <p:spPr>
          <a:xfrm>
            <a:off x="9198864"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BUILDING THE FUTURE?</a:t>
            </a:r>
            <a:endParaRPr lang="en-US" sz="1350" dirty="0"/>
          </a:p>
        </p:txBody>
      </p:sp>
      <p:sp>
        <p:nvSpPr>
          <p:cNvPr id="39" name="Text 37"/>
          <p:cNvSpPr txBox="1"/>
          <p:nvPr/>
        </p:nvSpPr>
        <p:spPr>
          <a:xfrm>
            <a:off x="9198864" y="2971800"/>
            <a:ext cx="2487168" cy="274320"/>
          </a:xfrm>
          <a:prstGeom prst="rect">
            <a:avLst/>
          </a:prstGeom>
          <a:noFill/>
          <a:ln/>
        </p:spPr>
        <p:txBody>
          <a:bodyPr wrap="square" lIns="0" tIns="0" rIns="0" bIns="0" rtlCol="0" anchor="ctr"/>
          <a:lstStyle/>
          <a:p>
            <a:pPr algn="ctr" indent="0" marL="0">
              <a:buNone/>
            </a:pPr>
            <a:r>
              <a:rPr lang="en-US" sz="1000" b="1" dirty="0">
                <a:solidFill>
                  <a:srgbClr val="8FA1AC"/>
                </a:solidFill>
                <a:latin typeface="Poppins" pitchFamily="34" charset="0"/>
                <a:ea typeface="Poppins" pitchFamily="34" charset="-122"/>
                <a:cs typeface="Poppins" pitchFamily="34" charset="-120"/>
              </a:rPr>
              <a:t>Product, AI &amp; projects</a:t>
            </a:r>
            <a:endParaRPr lang="en-US" sz="1000" dirty="0"/>
          </a:p>
        </p:txBody>
      </p:sp>
      <p:sp>
        <p:nvSpPr>
          <p:cNvPr id="40" name="Shape 38"/>
          <p:cNvSpPr/>
          <p:nvPr/>
        </p:nvSpPr>
        <p:spPr>
          <a:xfrm>
            <a:off x="10122408" y="3310128"/>
            <a:ext cx="640080" cy="50292"/>
          </a:xfrm>
          <a:prstGeom prst="roundRect">
            <a:avLst>
              <a:gd name="adj" fmla="val 36364"/>
            </a:avLst>
          </a:prstGeom>
          <a:solidFill>
            <a:srgbClr val="E2EAEE"/>
          </a:solidFill>
          <a:ln/>
        </p:spPr>
      </p:sp>
      <p:sp>
        <p:nvSpPr>
          <p:cNvPr id="41" name="Text 39"/>
          <p:cNvSpPr txBox="1"/>
          <p:nvPr/>
        </p:nvSpPr>
        <p:spPr>
          <a:xfrm>
            <a:off x="9308592"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Q3 Roadmap · GTM Readiness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 Usage — adoption &amp; activity</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Projects — portfolio status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Executive Summary</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1" name="Text 9"/>
          <p:cNvSpPr txBox="1"/>
          <p:nvPr/>
        </p:nvSpPr>
        <p:spPr>
          <a:xfrm>
            <a:off x="594360"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OVERALL PERFORMANCE &amp; FINANCE SUMMARY</a:t>
            </a:r>
            <a:endParaRPr lang="en-US" sz="1050" dirty="0"/>
          </a:p>
        </p:txBody>
      </p:sp>
      <p:sp>
        <p:nvSpPr>
          <p:cNvPr id="12" name="Text 10"/>
          <p:cNvSpPr txBox="1"/>
          <p:nvPr/>
        </p:nvSpPr>
        <p:spPr>
          <a:xfrm>
            <a:off x="594360"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hardware $526k = 74% of $715k vs 97% pace; this week +$116k gross (HW discounts −$8k) — Solotel Corporate is $102k of it</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3" name="Shape 11"/>
          <p:cNvSpPr/>
          <p:nvPr/>
        </p:nvSpPr>
        <p:spPr>
          <a:xfrm>
            <a:off x="4279392"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4462272"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SALES &amp; ACCOUNT MANAGEMENT SUMMARY</a:t>
            </a:r>
            <a:endParaRPr lang="en-US" sz="1050" dirty="0"/>
          </a:p>
        </p:txBody>
      </p:sp>
      <p:sp>
        <p:nvSpPr>
          <p:cNvPr id="15" name="Text 13"/>
          <p:cNvSpPr txBox="1"/>
          <p:nvPr/>
        </p:nvSpPr>
        <p:spPr>
          <a:xfrm>
            <a:off x="4462272"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closed-won this week 34 deals · $131k (HubSpot); no new MRR invoiced in the week — Q3 holds at $12.1k = 43% of OKR2</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6" name="Shape 14"/>
          <p:cNvSpPr/>
          <p:nvPr/>
        </p:nvSpPr>
        <p:spPr>
          <a:xfrm>
            <a:off x="8147304"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8330184"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PROFESSIONAL SERVICES SUMMARY</a:t>
            </a:r>
            <a:endParaRPr lang="en-US" sz="1050" dirty="0"/>
          </a:p>
        </p:txBody>
      </p:sp>
      <p:sp>
        <p:nvSpPr>
          <p:cNvPr id="18" name="Text 16"/>
          <p:cNvSpPr txBox="1"/>
          <p:nvPr/>
        </p:nvSpPr>
        <p:spPr>
          <a:xfrm>
            <a:off x="8330184"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billable utilisation 6.1% — 20.75h billed of 342h available, time logging reaching 17% of PS items</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9" name="Shape 17"/>
          <p:cNvSpPr/>
          <p:nvPr/>
        </p:nvSpPr>
        <p:spPr>
          <a:xfrm>
            <a:off x="411480"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594360"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SUPPORT SUMMARY</a:t>
            </a:r>
            <a:endParaRPr lang="en-US" sz="1050" dirty="0"/>
          </a:p>
        </p:txBody>
      </p:sp>
      <p:sp>
        <p:nvSpPr>
          <p:cNvPr id="21" name="Text 19"/>
          <p:cNvSpPr txBox="1"/>
          <p:nvPr/>
        </p:nvSpPr>
        <p:spPr>
          <a:xfrm>
            <a:off x="594360"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weekly inflow 498 vs resolved 420 — backlog 675 and rising for the first time since cutover</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2" name="Shape 20"/>
          <p:cNvSpPr/>
          <p:nvPr/>
        </p:nvSpPr>
        <p:spPr>
          <a:xfrm>
            <a:off x="4279392"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3" name="Text 21"/>
          <p:cNvSpPr txBox="1"/>
          <p:nvPr/>
        </p:nvSpPr>
        <p:spPr>
          <a:xfrm>
            <a:off x="4462272"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PRODUCT</a:t>
            </a:r>
            <a:endParaRPr lang="en-US" sz="1050" dirty="0"/>
          </a:p>
        </p:txBody>
      </p:sp>
      <p:sp>
        <p:nvSpPr>
          <p:cNvPr id="24" name="Text 22"/>
          <p:cNvSpPr txBox="1"/>
          <p:nvPr/>
        </p:nvSpPr>
        <p:spPr>
          <a:xfrm>
            <a:off x="4462272"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Q3 roadmap as at 19 Sep: 10 done · 12 on track · 3 not started · 2 at risk — tracker refresh pending</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5" name="Shape 23"/>
          <p:cNvSpPr/>
          <p:nvPr/>
        </p:nvSpPr>
        <p:spPr>
          <a:xfrm>
            <a:off x="8147304"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6" name="Text 24"/>
          <p:cNvSpPr txBox="1"/>
          <p:nvPr/>
        </p:nvSpPr>
        <p:spPr>
          <a:xfrm>
            <a:off x="8330184"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AI USAGE SUMMARY</a:t>
            </a:r>
            <a:endParaRPr lang="en-US" sz="1050" dirty="0"/>
          </a:p>
        </p:txBody>
      </p:sp>
      <p:sp>
        <p:nvSpPr>
          <p:cNvPr id="27" name="Text 25"/>
          <p:cNvSpPr txBox="1"/>
          <p:nvPr/>
        </p:nvSpPr>
        <p:spPr>
          <a:xfrm>
            <a:off x="8330184"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AI-draft adoption 2.9% this week (2 of 68) — 1 sent as-is, 1 edited, 1 rejected</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8" name="Text 26"/>
          <p:cNvSpPr txBox="1"/>
          <p:nvPr/>
        </p:nvSpPr>
        <p:spPr>
          <a:xfrm>
            <a:off x="411480" y="6510528"/>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Commentary is leadership-editable — pre-filled lines are computed from this week's sources; 'xx' needs an owner's input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Target vs Invoiced — Sales Team Roll-up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94360"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NEW MRR — Q3 · OKR2 $28k · team $30k</a:t>
            </a:r>
            <a:endParaRPr lang="en-US" sz="950" dirty="0"/>
          </a:p>
        </p:txBody>
      </p:sp>
      <p:sp>
        <p:nvSpPr>
          <p:cNvPr id="15" name="Text 13"/>
          <p:cNvSpPr txBox="1"/>
          <p:nvPr/>
        </p:nvSpPr>
        <p:spPr>
          <a:xfrm>
            <a:off x="594360"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$12k</a:t>
            </a:r>
            <a:pPr indent="0" marL="0">
              <a:buNone/>
            </a:pPr>
            <a:r>
              <a:rPr lang="en-US" sz="950" dirty="0">
                <a:solidFill>
                  <a:srgbClr val="5E7280"/>
                </a:solidFill>
                <a:latin typeface="Poppins" pitchFamily="34" charset="0"/>
                <a:ea typeface="Poppins" pitchFamily="34" charset="-122"/>
                <a:cs typeface="Poppins" pitchFamily="34" charset="-120"/>
              </a:rPr>
              <a:t>  of $28k target · register live</a:t>
            </a:r>
            <a:endParaRPr lang="en-US" sz="2400" dirty="0"/>
          </a:p>
        </p:txBody>
      </p:sp>
      <p:sp>
        <p:nvSpPr>
          <p:cNvPr id="16" name="Text 14"/>
          <p:cNvSpPr txBox="1"/>
          <p:nvPr/>
        </p:nvSpPr>
        <p:spPr>
          <a:xfrm>
            <a:off x="3794760" y="1371600"/>
            <a:ext cx="2057400" cy="310896"/>
          </a:xfrm>
          <a:prstGeom prst="rect">
            <a:avLst/>
          </a:prstGeom>
          <a:noFill/>
          <a:ln/>
        </p:spPr>
        <p:txBody>
          <a:bodyPr wrap="square" lIns="0" tIns="0" rIns="0" bIns="0" rtlCol="0" anchor="ctr"/>
          <a:lstStyle/>
          <a:p>
            <a:pPr algn="r" indent="0" marL="0">
              <a:buNone/>
            </a:pPr>
            <a:r>
              <a:rPr lang="en-US" sz="950" b="1" dirty="0">
                <a:solidFill>
                  <a:srgbClr val="C88A2E"/>
                </a:solidFill>
                <a:latin typeface="Poppins" pitchFamily="34" charset="0"/>
                <a:ea typeface="Poppins" pitchFamily="34" charset="-122"/>
                <a:cs typeface="Poppins" pitchFamily="34" charset="-120"/>
              </a:rPr>
              <a:t>nil this wk</a:t>
            </a:r>
            <a:endParaRPr lang="en-US" sz="950" dirty="0"/>
          </a:p>
        </p:txBody>
      </p:sp>
      <p:sp>
        <p:nvSpPr>
          <p:cNvPr id="17" name="Shape 15"/>
          <p:cNvSpPr/>
          <p:nvPr/>
        </p:nvSpPr>
        <p:spPr>
          <a:xfrm>
            <a:off x="594360" y="1901952"/>
            <a:ext cx="4206240" cy="100584"/>
          </a:xfrm>
          <a:prstGeom prst="roundRect">
            <a:avLst>
              <a:gd name="adj" fmla="val 45455"/>
            </a:avLst>
          </a:prstGeom>
          <a:solidFill>
            <a:srgbClr val="E2EAEE"/>
          </a:solidFill>
          <a:ln/>
        </p:spPr>
      </p:sp>
      <p:sp>
        <p:nvSpPr>
          <p:cNvPr id="18" name="Shape 16"/>
          <p:cNvSpPr/>
          <p:nvPr/>
        </p:nvSpPr>
        <p:spPr>
          <a:xfrm>
            <a:off x="594360" y="1901952"/>
            <a:ext cx="1808683" cy="100584"/>
          </a:xfrm>
          <a:prstGeom prst="roundRect">
            <a:avLst>
              <a:gd name="adj" fmla="val 45455"/>
            </a:avLst>
          </a:prstGeom>
          <a:solidFill>
            <a:srgbClr val="B4552D"/>
          </a:solidFill>
          <a:ln/>
        </p:spPr>
      </p:sp>
      <p:sp>
        <p:nvSpPr>
          <p:cNvPr id="19" name="Shape 17"/>
          <p:cNvSpPr/>
          <p:nvPr/>
        </p:nvSpPr>
        <p:spPr>
          <a:xfrm>
            <a:off x="4664354" y="1856232"/>
            <a:ext cx="20117" cy="192024"/>
          </a:xfrm>
          <a:prstGeom prst="rect">
            <a:avLst/>
          </a:prstGeom>
          <a:solidFill>
            <a:srgbClr val="12293A"/>
          </a:solidFill>
          <a:ln/>
        </p:spPr>
      </p:sp>
      <p:sp>
        <p:nvSpPr>
          <p:cNvPr id="20" name="Text 18"/>
          <p:cNvSpPr txBox="1"/>
          <p:nvPr/>
        </p:nvSpPr>
        <p:spPr>
          <a:xfrm>
            <a:off x="4892040"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43%</a:t>
            </a:r>
            <a:pPr algn="r" indent="0" marL="0">
              <a:buNone/>
            </a:pPr>
            <a:r>
              <a:rPr lang="en-US" sz="800" dirty="0">
                <a:solidFill>
                  <a:srgbClr val="8FA1AC"/>
                </a:solidFill>
                <a:latin typeface="Poppins" pitchFamily="34" charset="0"/>
                <a:ea typeface="Poppins" pitchFamily="34" charset="-122"/>
                <a:cs typeface="Poppins" pitchFamily="34" charset="-120"/>
              </a:rPr>
              <a:t> · pace 97%</a:t>
            </a:r>
            <a:endParaRPr lang="en-US" sz="1000" dirty="0"/>
          </a:p>
        </p:txBody>
      </p:sp>
      <p:sp>
        <p:nvSpPr>
          <p:cNvPr id="21" name="Shape 19"/>
          <p:cNvSpPr/>
          <p:nvPr/>
        </p:nvSpPr>
        <p:spPr>
          <a:xfrm>
            <a:off x="6245352"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428232"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HARDWARE — Q3 · OKR2 $715k · team $761k</a:t>
            </a:r>
            <a:endParaRPr lang="en-US" sz="950" dirty="0"/>
          </a:p>
        </p:txBody>
      </p:sp>
      <p:sp>
        <p:nvSpPr>
          <p:cNvPr id="23" name="Text 21"/>
          <p:cNvSpPr txBox="1"/>
          <p:nvPr/>
        </p:nvSpPr>
        <p:spPr>
          <a:xfrm>
            <a:off x="6428232"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$526k</a:t>
            </a:r>
            <a:pPr indent="0" marL="0">
              <a:buNone/>
            </a:pPr>
            <a:r>
              <a:rPr lang="en-US" sz="950" dirty="0">
                <a:solidFill>
                  <a:srgbClr val="5E7280"/>
                </a:solidFill>
                <a:latin typeface="Poppins" pitchFamily="34" charset="0"/>
                <a:ea typeface="Poppins" pitchFamily="34" charset="-122"/>
                <a:cs typeface="Poppins" pitchFamily="34" charset="-120"/>
              </a:rPr>
              <a:t>  of $715k target</a:t>
            </a:r>
            <a:endParaRPr lang="en-US" sz="2400" dirty="0"/>
          </a:p>
        </p:txBody>
      </p:sp>
      <p:sp>
        <p:nvSpPr>
          <p:cNvPr id="24" name="Text 22"/>
          <p:cNvSpPr txBox="1"/>
          <p:nvPr/>
        </p:nvSpPr>
        <p:spPr>
          <a:xfrm>
            <a:off x="9509760" y="1371600"/>
            <a:ext cx="2057400" cy="310896"/>
          </a:xfrm>
          <a:prstGeom prst="rect">
            <a:avLst/>
          </a:prstGeom>
          <a:noFill/>
          <a:ln/>
        </p:spPr>
        <p:txBody>
          <a:bodyPr wrap="square" lIns="0" tIns="0" rIns="0" bIns="0" rtlCol="0" anchor="ctr"/>
          <a:lstStyle/>
          <a:p>
            <a:pPr algn="r" indent="0" marL="0">
              <a:buNone/>
            </a:pPr>
            <a:r>
              <a:rPr lang="en-US" sz="950" b="1" dirty="0">
                <a:solidFill>
                  <a:srgbClr val="3D8F5F"/>
                </a:solidFill>
                <a:latin typeface="Poppins" pitchFamily="34" charset="0"/>
                <a:ea typeface="Poppins" pitchFamily="34" charset="-122"/>
                <a:cs typeface="Poppins" pitchFamily="34" charset="-120"/>
              </a:rPr>
              <a:t>▲ +$116k this wk</a:t>
            </a:r>
            <a:endParaRPr lang="en-US" sz="950" dirty="0"/>
          </a:p>
        </p:txBody>
      </p:sp>
      <p:sp>
        <p:nvSpPr>
          <p:cNvPr id="25" name="Shape 23"/>
          <p:cNvSpPr/>
          <p:nvPr/>
        </p:nvSpPr>
        <p:spPr>
          <a:xfrm>
            <a:off x="6428232" y="1901952"/>
            <a:ext cx="4206240" cy="100584"/>
          </a:xfrm>
          <a:prstGeom prst="roundRect">
            <a:avLst>
              <a:gd name="adj" fmla="val 45455"/>
            </a:avLst>
          </a:prstGeom>
          <a:solidFill>
            <a:srgbClr val="E2EAEE"/>
          </a:solidFill>
          <a:ln/>
        </p:spPr>
      </p:sp>
      <p:sp>
        <p:nvSpPr>
          <p:cNvPr id="26" name="Shape 24"/>
          <p:cNvSpPr/>
          <p:nvPr/>
        </p:nvSpPr>
        <p:spPr>
          <a:xfrm>
            <a:off x="6428232" y="1901952"/>
            <a:ext cx="3112618" cy="100584"/>
          </a:xfrm>
          <a:prstGeom prst="roundRect">
            <a:avLst>
              <a:gd name="adj" fmla="val 45455"/>
            </a:avLst>
          </a:prstGeom>
          <a:solidFill>
            <a:srgbClr val="B4552D"/>
          </a:solidFill>
          <a:ln/>
        </p:spPr>
      </p:sp>
      <p:sp>
        <p:nvSpPr>
          <p:cNvPr id="27" name="Shape 25"/>
          <p:cNvSpPr/>
          <p:nvPr/>
        </p:nvSpPr>
        <p:spPr>
          <a:xfrm>
            <a:off x="10498226" y="1856232"/>
            <a:ext cx="20117" cy="192024"/>
          </a:xfrm>
          <a:prstGeom prst="rect">
            <a:avLst/>
          </a:prstGeom>
          <a:solidFill>
            <a:srgbClr val="12293A"/>
          </a:solidFill>
          <a:ln/>
        </p:spPr>
      </p:sp>
      <p:sp>
        <p:nvSpPr>
          <p:cNvPr id="28" name="Text 26"/>
          <p:cNvSpPr txBox="1"/>
          <p:nvPr/>
        </p:nvSpPr>
        <p:spPr>
          <a:xfrm>
            <a:off x="10725912"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74%</a:t>
            </a:r>
            <a:pPr algn="r" indent="0" marL="0">
              <a:buNone/>
            </a:pPr>
            <a:r>
              <a:rPr lang="en-US" sz="800" dirty="0">
                <a:solidFill>
                  <a:srgbClr val="8FA1AC"/>
                </a:solidFill>
                <a:latin typeface="Poppins" pitchFamily="34" charset="0"/>
                <a:ea typeface="Poppins" pitchFamily="34" charset="-122"/>
                <a:cs typeface="Poppins" pitchFamily="34" charset="-120"/>
              </a:rPr>
              <a:t> · pace 97%</a:t>
            </a:r>
            <a:endParaRPr lang="en-US" sz="1000" dirty="0"/>
          </a:p>
        </p:txBody>
      </p:sp>
      <p:sp>
        <p:nvSpPr>
          <p:cNvPr id="29" name="Shape 27"/>
          <p:cNvSpPr/>
          <p:nvPr/>
        </p:nvSpPr>
        <p:spPr>
          <a:xfrm>
            <a:off x="411480" y="2340864"/>
            <a:ext cx="7635240" cy="4041648"/>
          </a:xfrm>
          <a:prstGeom prst="roundRect">
            <a:avLst>
              <a:gd name="adj" fmla="val 1584"/>
            </a:avLst>
          </a:prstGeom>
          <a:solidFill>
            <a:srgbClr val="FFFFFF"/>
          </a:solidFill>
          <a:ln/>
          <a:effectLst>
            <a:outerShdw sx="100000" sy="100000" kx="0" ky="0" algn="bl" rotWithShape="0" blurRad="76200" dist="25400" dir="5400000">
              <a:srgbClr val="9AAAB5">
                <a:alpha val="35000"/>
              </a:srgbClr>
            </a:outerShdw>
          </a:effectLst>
        </p:spPr>
      </p:sp>
      <p:sp>
        <p:nvSpPr>
          <p:cNvPr id="30" name="Text 28"/>
          <p:cNvSpPr txBox="1"/>
          <p:nvPr/>
        </p:nvSpPr>
        <p:spPr>
          <a:xfrm>
            <a:off x="612648" y="2450592"/>
            <a:ext cx="723290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Q3 BY MEMBER   </a:t>
            </a:r>
            <a:pPr indent="0" marL="0">
              <a:buNone/>
            </a:pPr>
            <a:r>
              <a:rPr lang="en-US" sz="800" dirty="0">
                <a:solidFill>
                  <a:srgbClr val="8FA1AC"/>
                </a:solidFill>
                <a:latin typeface="Poppins" pitchFamily="34" charset="0"/>
                <a:ea typeface="Poppins" pitchFamily="34" charset="-122"/>
                <a:cs typeface="Poppins" pitchFamily="34" charset="-120"/>
              </a:rPr>
              <a:t>▮ pace mark = share of quarter elapsed (97%)</a:t>
            </a:r>
            <a:endParaRPr lang="en-US" sz="1200" dirty="0"/>
          </a:p>
        </p:txBody>
      </p:sp>
      <p:sp>
        <p:nvSpPr>
          <p:cNvPr id="31" name="Text 29"/>
          <p:cNvSpPr txBox="1"/>
          <p:nvPr/>
        </p:nvSpPr>
        <p:spPr>
          <a:xfrm>
            <a:off x="2221992" y="2724912"/>
            <a:ext cx="2194560"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NEW MRR ($/qtr) · register live</a:t>
            </a:r>
            <a:endParaRPr lang="en-US" sz="800" dirty="0"/>
          </a:p>
        </p:txBody>
      </p:sp>
      <p:sp>
        <p:nvSpPr>
          <p:cNvPr id="32" name="Text 30"/>
          <p:cNvSpPr txBox="1"/>
          <p:nvPr/>
        </p:nvSpPr>
        <p:spPr>
          <a:xfrm>
            <a:off x="4617720" y="2724912"/>
            <a:ext cx="3383280"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HARDWARE ($/qtr) · extracts to 27 Sep · Δ wk = 21–27 Sep</a:t>
            </a:r>
            <a:endParaRPr lang="en-US" sz="800" dirty="0"/>
          </a:p>
        </p:txBody>
      </p:sp>
      <p:sp>
        <p:nvSpPr>
          <p:cNvPr id="33" name="Text 31"/>
          <p:cNvSpPr txBox="1"/>
          <p:nvPr/>
        </p:nvSpPr>
        <p:spPr>
          <a:xfrm>
            <a:off x="612648" y="2944368"/>
            <a:ext cx="155448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MEMBER</a:t>
            </a:r>
            <a:endParaRPr lang="en-US" sz="750" dirty="0"/>
          </a:p>
        </p:txBody>
      </p:sp>
      <p:sp>
        <p:nvSpPr>
          <p:cNvPr id="34" name="Text 32"/>
          <p:cNvSpPr txBox="1"/>
          <p:nvPr/>
        </p:nvSpPr>
        <p:spPr>
          <a:xfrm>
            <a:off x="2221992" y="2944368"/>
            <a:ext cx="56692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5" name="Text 33"/>
          <p:cNvSpPr txBox="1"/>
          <p:nvPr/>
        </p:nvSpPr>
        <p:spPr>
          <a:xfrm>
            <a:off x="2807208" y="2944368"/>
            <a:ext cx="56692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36" name="Text 34"/>
          <p:cNvSpPr txBox="1"/>
          <p:nvPr/>
        </p:nvSpPr>
        <p:spPr>
          <a:xfrm>
            <a:off x="3429000" y="2944368"/>
            <a:ext cx="969264"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37" name="Text 35"/>
          <p:cNvSpPr txBox="1"/>
          <p:nvPr/>
        </p:nvSpPr>
        <p:spPr>
          <a:xfrm>
            <a:off x="4617720" y="2944368"/>
            <a:ext cx="64008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8" name="Text 36"/>
          <p:cNvSpPr txBox="1"/>
          <p:nvPr/>
        </p:nvSpPr>
        <p:spPr>
          <a:xfrm>
            <a:off x="5294376" y="2944368"/>
            <a:ext cx="65836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39" name="Text 37"/>
          <p:cNvSpPr txBox="1"/>
          <p:nvPr/>
        </p:nvSpPr>
        <p:spPr>
          <a:xfrm>
            <a:off x="6007608" y="2944368"/>
            <a:ext cx="969264"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40" name="Text 38"/>
          <p:cNvSpPr txBox="1"/>
          <p:nvPr/>
        </p:nvSpPr>
        <p:spPr>
          <a:xfrm>
            <a:off x="7013448" y="2944368"/>
            <a:ext cx="82296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Δ WK</a:t>
            </a:r>
            <a:endParaRPr lang="en-US" sz="750" dirty="0"/>
          </a:p>
        </p:txBody>
      </p:sp>
      <p:sp>
        <p:nvSpPr>
          <p:cNvPr id="41" name="Shape 39"/>
          <p:cNvSpPr/>
          <p:nvPr/>
        </p:nvSpPr>
        <p:spPr>
          <a:xfrm>
            <a:off x="612648" y="3461004"/>
            <a:ext cx="7232904" cy="6401"/>
          </a:xfrm>
          <a:prstGeom prst="rect">
            <a:avLst/>
          </a:prstGeom>
          <a:solidFill>
            <a:srgbClr val="E2EAEE"/>
          </a:solidFill>
          <a:ln/>
        </p:spPr>
      </p:sp>
      <p:sp>
        <p:nvSpPr>
          <p:cNvPr id="42" name="Text 40"/>
          <p:cNvSpPr txBox="1"/>
          <p:nvPr/>
        </p:nvSpPr>
        <p:spPr>
          <a:xfrm>
            <a:off x="612648" y="3182112"/>
            <a:ext cx="1591056"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Bjorn Magabo</a:t>
            </a:r>
            <a:endParaRPr lang="en-US" sz="900" dirty="0"/>
          </a:p>
        </p:txBody>
      </p:sp>
      <p:sp>
        <p:nvSpPr>
          <p:cNvPr id="43" name="Text 41"/>
          <p:cNvSpPr txBox="1"/>
          <p:nvPr/>
        </p:nvSpPr>
        <p:spPr>
          <a:xfrm>
            <a:off x="2221992" y="3182112"/>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44" name="Text 42"/>
          <p:cNvSpPr txBox="1"/>
          <p:nvPr/>
        </p:nvSpPr>
        <p:spPr>
          <a:xfrm>
            <a:off x="2807208" y="3182112"/>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$4k</a:t>
            </a:r>
            <a:endParaRPr lang="en-US" sz="850" dirty="0"/>
          </a:p>
        </p:txBody>
      </p:sp>
      <p:sp>
        <p:nvSpPr>
          <p:cNvPr id="45" name="Shape 43"/>
          <p:cNvSpPr/>
          <p:nvPr/>
        </p:nvSpPr>
        <p:spPr>
          <a:xfrm>
            <a:off x="3465576" y="3294126"/>
            <a:ext cx="731520" cy="100584"/>
          </a:xfrm>
          <a:prstGeom prst="roundRect">
            <a:avLst>
              <a:gd name="adj" fmla="val 45455"/>
            </a:avLst>
          </a:prstGeom>
          <a:solidFill>
            <a:srgbClr val="E2EAEE"/>
          </a:solidFill>
          <a:ln/>
        </p:spPr>
      </p:sp>
      <p:sp>
        <p:nvSpPr>
          <p:cNvPr id="46" name="Shape 44"/>
          <p:cNvSpPr/>
          <p:nvPr/>
        </p:nvSpPr>
        <p:spPr>
          <a:xfrm>
            <a:off x="3465576" y="3294126"/>
            <a:ext cx="651053" cy="100584"/>
          </a:xfrm>
          <a:prstGeom prst="roundRect">
            <a:avLst>
              <a:gd name="adj" fmla="val 45455"/>
            </a:avLst>
          </a:prstGeom>
          <a:solidFill>
            <a:srgbClr val="B4552D"/>
          </a:solidFill>
          <a:ln/>
        </p:spPr>
      </p:sp>
      <p:sp>
        <p:nvSpPr>
          <p:cNvPr id="47" name="Shape 45"/>
          <p:cNvSpPr/>
          <p:nvPr/>
        </p:nvSpPr>
        <p:spPr>
          <a:xfrm>
            <a:off x="4165092" y="3248406"/>
            <a:ext cx="20117" cy="192024"/>
          </a:xfrm>
          <a:prstGeom prst="rect">
            <a:avLst/>
          </a:prstGeom>
          <a:solidFill>
            <a:srgbClr val="12293A"/>
          </a:solidFill>
          <a:ln/>
        </p:spPr>
      </p:sp>
      <p:sp>
        <p:nvSpPr>
          <p:cNvPr id="48" name="Text 46"/>
          <p:cNvSpPr txBox="1"/>
          <p:nvPr/>
        </p:nvSpPr>
        <p:spPr>
          <a:xfrm>
            <a:off x="4233672" y="3182112"/>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89%</a:t>
            </a:r>
            <a:endParaRPr lang="en-US" sz="800" dirty="0"/>
          </a:p>
        </p:txBody>
      </p:sp>
      <p:sp>
        <p:nvSpPr>
          <p:cNvPr id="49" name="Text 47"/>
          <p:cNvSpPr txBox="1"/>
          <p:nvPr/>
        </p:nvSpPr>
        <p:spPr>
          <a:xfrm>
            <a:off x="4617720" y="3182112"/>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$140k</a:t>
            </a:r>
            <a:endParaRPr lang="en-US" sz="850" dirty="0"/>
          </a:p>
        </p:txBody>
      </p:sp>
      <p:sp>
        <p:nvSpPr>
          <p:cNvPr id="50" name="Text 48"/>
          <p:cNvSpPr txBox="1"/>
          <p:nvPr/>
        </p:nvSpPr>
        <p:spPr>
          <a:xfrm>
            <a:off x="5294376" y="3182112"/>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$52k</a:t>
            </a:r>
            <a:endParaRPr lang="en-US" sz="850" dirty="0"/>
          </a:p>
        </p:txBody>
      </p:sp>
      <p:sp>
        <p:nvSpPr>
          <p:cNvPr id="51" name="Shape 49"/>
          <p:cNvSpPr/>
          <p:nvPr/>
        </p:nvSpPr>
        <p:spPr>
          <a:xfrm>
            <a:off x="6044184" y="3294126"/>
            <a:ext cx="731520" cy="100584"/>
          </a:xfrm>
          <a:prstGeom prst="roundRect">
            <a:avLst>
              <a:gd name="adj" fmla="val 45455"/>
            </a:avLst>
          </a:prstGeom>
          <a:solidFill>
            <a:srgbClr val="E2EAEE"/>
          </a:solidFill>
          <a:ln/>
        </p:spPr>
      </p:sp>
      <p:sp>
        <p:nvSpPr>
          <p:cNvPr id="52" name="Shape 50"/>
          <p:cNvSpPr/>
          <p:nvPr/>
        </p:nvSpPr>
        <p:spPr>
          <a:xfrm>
            <a:off x="6044184" y="3294126"/>
            <a:ext cx="270662" cy="100584"/>
          </a:xfrm>
          <a:prstGeom prst="roundRect">
            <a:avLst>
              <a:gd name="adj" fmla="val 45455"/>
            </a:avLst>
          </a:prstGeom>
          <a:solidFill>
            <a:srgbClr val="B4552D"/>
          </a:solidFill>
          <a:ln/>
        </p:spPr>
      </p:sp>
      <p:sp>
        <p:nvSpPr>
          <p:cNvPr id="53" name="Shape 51"/>
          <p:cNvSpPr/>
          <p:nvPr/>
        </p:nvSpPr>
        <p:spPr>
          <a:xfrm>
            <a:off x="6743700" y="3248406"/>
            <a:ext cx="20117" cy="192024"/>
          </a:xfrm>
          <a:prstGeom prst="rect">
            <a:avLst/>
          </a:prstGeom>
          <a:solidFill>
            <a:srgbClr val="12293A"/>
          </a:solidFill>
          <a:ln/>
        </p:spPr>
      </p:sp>
      <p:sp>
        <p:nvSpPr>
          <p:cNvPr id="54" name="Text 52"/>
          <p:cNvSpPr txBox="1"/>
          <p:nvPr/>
        </p:nvSpPr>
        <p:spPr>
          <a:xfrm>
            <a:off x="6812280" y="3182112"/>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37%</a:t>
            </a:r>
            <a:endParaRPr lang="en-US" sz="800" dirty="0"/>
          </a:p>
        </p:txBody>
      </p:sp>
      <p:sp>
        <p:nvSpPr>
          <p:cNvPr id="55" name="Text 53"/>
          <p:cNvSpPr txBox="1"/>
          <p:nvPr/>
        </p:nvSpPr>
        <p:spPr>
          <a:xfrm>
            <a:off x="7013448" y="3182112"/>
            <a:ext cx="82296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+405</a:t>
            </a:r>
            <a:endParaRPr lang="en-US" sz="850" dirty="0"/>
          </a:p>
        </p:txBody>
      </p:sp>
      <p:sp>
        <p:nvSpPr>
          <p:cNvPr id="56" name="Shape 54"/>
          <p:cNvSpPr/>
          <p:nvPr/>
        </p:nvSpPr>
        <p:spPr>
          <a:xfrm>
            <a:off x="612648" y="3776472"/>
            <a:ext cx="7232904" cy="6401"/>
          </a:xfrm>
          <a:prstGeom prst="rect">
            <a:avLst/>
          </a:prstGeom>
          <a:solidFill>
            <a:srgbClr val="E2EAEE"/>
          </a:solidFill>
          <a:ln/>
        </p:spPr>
      </p:sp>
      <p:sp>
        <p:nvSpPr>
          <p:cNvPr id="57" name="Text 55"/>
          <p:cNvSpPr txBox="1"/>
          <p:nvPr/>
        </p:nvSpPr>
        <p:spPr>
          <a:xfrm>
            <a:off x="612648" y="3497580"/>
            <a:ext cx="1591056"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Brett Gorman</a:t>
            </a:r>
            <a:endParaRPr lang="en-US" sz="900" dirty="0"/>
          </a:p>
        </p:txBody>
      </p:sp>
      <p:sp>
        <p:nvSpPr>
          <p:cNvPr id="58" name="Text 56"/>
          <p:cNvSpPr txBox="1"/>
          <p:nvPr/>
        </p:nvSpPr>
        <p:spPr>
          <a:xfrm>
            <a:off x="2221992" y="3497580"/>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59" name="Text 57"/>
          <p:cNvSpPr txBox="1"/>
          <p:nvPr/>
        </p:nvSpPr>
        <p:spPr>
          <a:xfrm>
            <a:off x="2807208" y="3497580"/>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$3k</a:t>
            </a:r>
            <a:endParaRPr lang="en-US" sz="850" dirty="0"/>
          </a:p>
        </p:txBody>
      </p:sp>
      <p:sp>
        <p:nvSpPr>
          <p:cNvPr id="60" name="Shape 58"/>
          <p:cNvSpPr/>
          <p:nvPr/>
        </p:nvSpPr>
        <p:spPr>
          <a:xfrm>
            <a:off x="3465576" y="3609594"/>
            <a:ext cx="731520" cy="100584"/>
          </a:xfrm>
          <a:prstGeom prst="roundRect">
            <a:avLst>
              <a:gd name="adj" fmla="val 45455"/>
            </a:avLst>
          </a:prstGeom>
          <a:solidFill>
            <a:srgbClr val="E2EAEE"/>
          </a:solidFill>
          <a:ln/>
        </p:spPr>
      </p:sp>
      <p:sp>
        <p:nvSpPr>
          <p:cNvPr id="61" name="Shape 59"/>
          <p:cNvSpPr/>
          <p:nvPr/>
        </p:nvSpPr>
        <p:spPr>
          <a:xfrm>
            <a:off x="3465576" y="3609594"/>
            <a:ext cx="490118" cy="100584"/>
          </a:xfrm>
          <a:prstGeom prst="roundRect">
            <a:avLst>
              <a:gd name="adj" fmla="val 45455"/>
            </a:avLst>
          </a:prstGeom>
          <a:solidFill>
            <a:srgbClr val="B4552D"/>
          </a:solidFill>
          <a:ln/>
        </p:spPr>
      </p:sp>
      <p:sp>
        <p:nvSpPr>
          <p:cNvPr id="62" name="Shape 60"/>
          <p:cNvSpPr/>
          <p:nvPr/>
        </p:nvSpPr>
        <p:spPr>
          <a:xfrm>
            <a:off x="4165092" y="3563874"/>
            <a:ext cx="20117" cy="192024"/>
          </a:xfrm>
          <a:prstGeom prst="rect">
            <a:avLst/>
          </a:prstGeom>
          <a:solidFill>
            <a:srgbClr val="12293A"/>
          </a:solidFill>
          <a:ln/>
        </p:spPr>
      </p:sp>
      <p:sp>
        <p:nvSpPr>
          <p:cNvPr id="63" name="Text 61"/>
          <p:cNvSpPr txBox="1"/>
          <p:nvPr/>
        </p:nvSpPr>
        <p:spPr>
          <a:xfrm>
            <a:off x="4233672" y="3497580"/>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67%</a:t>
            </a:r>
            <a:endParaRPr lang="en-US" sz="800" dirty="0"/>
          </a:p>
        </p:txBody>
      </p:sp>
      <p:sp>
        <p:nvSpPr>
          <p:cNvPr id="64" name="Text 62"/>
          <p:cNvSpPr txBox="1"/>
          <p:nvPr/>
        </p:nvSpPr>
        <p:spPr>
          <a:xfrm>
            <a:off x="4617720" y="3497580"/>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$143k</a:t>
            </a:r>
            <a:endParaRPr lang="en-US" sz="850" dirty="0"/>
          </a:p>
        </p:txBody>
      </p:sp>
      <p:sp>
        <p:nvSpPr>
          <p:cNvPr id="65" name="Text 63"/>
          <p:cNvSpPr txBox="1"/>
          <p:nvPr/>
        </p:nvSpPr>
        <p:spPr>
          <a:xfrm>
            <a:off x="5294376" y="3497580"/>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$87k</a:t>
            </a:r>
            <a:endParaRPr lang="en-US" sz="850" dirty="0"/>
          </a:p>
        </p:txBody>
      </p:sp>
      <p:sp>
        <p:nvSpPr>
          <p:cNvPr id="66" name="Shape 64"/>
          <p:cNvSpPr/>
          <p:nvPr/>
        </p:nvSpPr>
        <p:spPr>
          <a:xfrm>
            <a:off x="6044184" y="3609594"/>
            <a:ext cx="731520" cy="100584"/>
          </a:xfrm>
          <a:prstGeom prst="roundRect">
            <a:avLst>
              <a:gd name="adj" fmla="val 45455"/>
            </a:avLst>
          </a:prstGeom>
          <a:solidFill>
            <a:srgbClr val="E2EAEE"/>
          </a:solidFill>
          <a:ln/>
        </p:spPr>
      </p:sp>
      <p:sp>
        <p:nvSpPr>
          <p:cNvPr id="67" name="Shape 65"/>
          <p:cNvSpPr/>
          <p:nvPr/>
        </p:nvSpPr>
        <p:spPr>
          <a:xfrm>
            <a:off x="6044184" y="3609594"/>
            <a:ext cx="446227" cy="100584"/>
          </a:xfrm>
          <a:prstGeom prst="roundRect">
            <a:avLst>
              <a:gd name="adj" fmla="val 45455"/>
            </a:avLst>
          </a:prstGeom>
          <a:solidFill>
            <a:srgbClr val="B4552D"/>
          </a:solidFill>
          <a:ln/>
        </p:spPr>
      </p:sp>
      <p:sp>
        <p:nvSpPr>
          <p:cNvPr id="68" name="Shape 66"/>
          <p:cNvSpPr/>
          <p:nvPr/>
        </p:nvSpPr>
        <p:spPr>
          <a:xfrm>
            <a:off x="6743700" y="3563874"/>
            <a:ext cx="20117" cy="192024"/>
          </a:xfrm>
          <a:prstGeom prst="rect">
            <a:avLst/>
          </a:prstGeom>
          <a:solidFill>
            <a:srgbClr val="12293A"/>
          </a:solidFill>
          <a:ln/>
        </p:spPr>
      </p:sp>
      <p:sp>
        <p:nvSpPr>
          <p:cNvPr id="69" name="Text 67"/>
          <p:cNvSpPr txBox="1"/>
          <p:nvPr/>
        </p:nvSpPr>
        <p:spPr>
          <a:xfrm>
            <a:off x="6812280" y="3497580"/>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61%</a:t>
            </a:r>
            <a:endParaRPr lang="en-US" sz="800" dirty="0"/>
          </a:p>
        </p:txBody>
      </p:sp>
      <p:sp>
        <p:nvSpPr>
          <p:cNvPr id="70" name="Text 68"/>
          <p:cNvSpPr txBox="1"/>
          <p:nvPr/>
        </p:nvSpPr>
        <p:spPr>
          <a:xfrm>
            <a:off x="7013448" y="3497580"/>
            <a:ext cx="82296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+9k</a:t>
            </a:r>
            <a:endParaRPr lang="en-US" sz="850" dirty="0"/>
          </a:p>
        </p:txBody>
      </p:sp>
      <p:sp>
        <p:nvSpPr>
          <p:cNvPr id="71" name="Shape 69"/>
          <p:cNvSpPr/>
          <p:nvPr/>
        </p:nvSpPr>
        <p:spPr>
          <a:xfrm>
            <a:off x="612648" y="4091940"/>
            <a:ext cx="7232904" cy="6401"/>
          </a:xfrm>
          <a:prstGeom prst="rect">
            <a:avLst/>
          </a:prstGeom>
          <a:solidFill>
            <a:srgbClr val="E2EAEE"/>
          </a:solidFill>
          <a:ln/>
        </p:spPr>
      </p:sp>
      <p:sp>
        <p:nvSpPr>
          <p:cNvPr id="72" name="Text 70"/>
          <p:cNvSpPr txBox="1"/>
          <p:nvPr/>
        </p:nvSpPr>
        <p:spPr>
          <a:xfrm>
            <a:off x="612648" y="3813048"/>
            <a:ext cx="1591056"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Bradford Young</a:t>
            </a:r>
            <a:endParaRPr lang="en-US" sz="900" dirty="0"/>
          </a:p>
        </p:txBody>
      </p:sp>
      <p:sp>
        <p:nvSpPr>
          <p:cNvPr id="73" name="Text 71"/>
          <p:cNvSpPr txBox="1"/>
          <p:nvPr/>
        </p:nvSpPr>
        <p:spPr>
          <a:xfrm>
            <a:off x="2221992" y="3813048"/>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74" name="Text 72"/>
          <p:cNvSpPr txBox="1"/>
          <p:nvPr/>
        </p:nvSpPr>
        <p:spPr>
          <a:xfrm>
            <a:off x="2807208" y="3813048"/>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$3k</a:t>
            </a:r>
            <a:endParaRPr lang="en-US" sz="850" dirty="0"/>
          </a:p>
        </p:txBody>
      </p:sp>
      <p:sp>
        <p:nvSpPr>
          <p:cNvPr id="75" name="Shape 73"/>
          <p:cNvSpPr/>
          <p:nvPr/>
        </p:nvSpPr>
        <p:spPr>
          <a:xfrm>
            <a:off x="3465576" y="3925062"/>
            <a:ext cx="731520" cy="100584"/>
          </a:xfrm>
          <a:prstGeom prst="roundRect">
            <a:avLst>
              <a:gd name="adj" fmla="val 45455"/>
            </a:avLst>
          </a:prstGeom>
          <a:solidFill>
            <a:srgbClr val="E2EAEE"/>
          </a:solidFill>
          <a:ln/>
        </p:spPr>
      </p:sp>
      <p:sp>
        <p:nvSpPr>
          <p:cNvPr id="76" name="Shape 74"/>
          <p:cNvSpPr/>
          <p:nvPr/>
        </p:nvSpPr>
        <p:spPr>
          <a:xfrm>
            <a:off x="3465576" y="3925062"/>
            <a:ext cx="365760" cy="100584"/>
          </a:xfrm>
          <a:prstGeom prst="roundRect">
            <a:avLst>
              <a:gd name="adj" fmla="val 45455"/>
            </a:avLst>
          </a:prstGeom>
          <a:solidFill>
            <a:srgbClr val="B4552D"/>
          </a:solidFill>
          <a:ln/>
        </p:spPr>
      </p:sp>
      <p:sp>
        <p:nvSpPr>
          <p:cNvPr id="77" name="Shape 75"/>
          <p:cNvSpPr/>
          <p:nvPr/>
        </p:nvSpPr>
        <p:spPr>
          <a:xfrm>
            <a:off x="4165092" y="3879342"/>
            <a:ext cx="20117" cy="192024"/>
          </a:xfrm>
          <a:prstGeom prst="rect">
            <a:avLst/>
          </a:prstGeom>
          <a:solidFill>
            <a:srgbClr val="12293A"/>
          </a:solidFill>
          <a:ln/>
        </p:spPr>
      </p:sp>
      <p:sp>
        <p:nvSpPr>
          <p:cNvPr id="78" name="Text 76"/>
          <p:cNvSpPr txBox="1"/>
          <p:nvPr/>
        </p:nvSpPr>
        <p:spPr>
          <a:xfrm>
            <a:off x="4233672" y="3813048"/>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50%</a:t>
            </a:r>
            <a:endParaRPr lang="en-US" sz="800" dirty="0"/>
          </a:p>
        </p:txBody>
      </p:sp>
      <p:sp>
        <p:nvSpPr>
          <p:cNvPr id="79" name="Text 77"/>
          <p:cNvSpPr txBox="1"/>
          <p:nvPr/>
        </p:nvSpPr>
        <p:spPr>
          <a:xfrm>
            <a:off x="4617720" y="3813048"/>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$163k</a:t>
            </a:r>
            <a:endParaRPr lang="en-US" sz="850" dirty="0"/>
          </a:p>
        </p:txBody>
      </p:sp>
      <p:sp>
        <p:nvSpPr>
          <p:cNvPr id="80" name="Text 78"/>
          <p:cNvSpPr txBox="1"/>
          <p:nvPr/>
        </p:nvSpPr>
        <p:spPr>
          <a:xfrm>
            <a:off x="5294376" y="3813048"/>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$53k</a:t>
            </a:r>
            <a:endParaRPr lang="en-US" sz="850" dirty="0"/>
          </a:p>
        </p:txBody>
      </p:sp>
      <p:sp>
        <p:nvSpPr>
          <p:cNvPr id="81" name="Shape 79"/>
          <p:cNvSpPr/>
          <p:nvPr/>
        </p:nvSpPr>
        <p:spPr>
          <a:xfrm>
            <a:off x="6044184" y="3925062"/>
            <a:ext cx="731520" cy="100584"/>
          </a:xfrm>
          <a:prstGeom prst="roundRect">
            <a:avLst>
              <a:gd name="adj" fmla="val 45455"/>
            </a:avLst>
          </a:prstGeom>
          <a:solidFill>
            <a:srgbClr val="E2EAEE"/>
          </a:solidFill>
          <a:ln/>
        </p:spPr>
      </p:sp>
      <p:sp>
        <p:nvSpPr>
          <p:cNvPr id="82" name="Shape 80"/>
          <p:cNvSpPr/>
          <p:nvPr/>
        </p:nvSpPr>
        <p:spPr>
          <a:xfrm>
            <a:off x="6044184" y="3925062"/>
            <a:ext cx="241402" cy="100584"/>
          </a:xfrm>
          <a:prstGeom prst="roundRect">
            <a:avLst>
              <a:gd name="adj" fmla="val 45455"/>
            </a:avLst>
          </a:prstGeom>
          <a:solidFill>
            <a:srgbClr val="B4552D"/>
          </a:solidFill>
          <a:ln/>
        </p:spPr>
      </p:sp>
      <p:sp>
        <p:nvSpPr>
          <p:cNvPr id="83" name="Shape 81"/>
          <p:cNvSpPr/>
          <p:nvPr/>
        </p:nvSpPr>
        <p:spPr>
          <a:xfrm>
            <a:off x="6743700" y="3879342"/>
            <a:ext cx="20117" cy="192024"/>
          </a:xfrm>
          <a:prstGeom prst="rect">
            <a:avLst/>
          </a:prstGeom>
          <a:solidFill>
            <a:srgbClr val="12293A"/>
          </a:solidFill>
          <a:ln/>
        </p:spPr>
      </p:sp>
      <p:sp>
        <p:nvSpPr>
          <p:cNvPr id="84" name="Text 82"/>
          <p:cNvSpPr txBox="1"/>
          <p:nvPr/>
        </p:nvSpPr>
        <p:spPr>
          <a:xfrm>
            <a:off x="6812280" y="3813048"/>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33%</a:t>
            </a:r>
            <a:endParaRPr lang="en-US" sz="800" dirty="0"/>
          </a:p>
        </p:txBody>
      </p:sp>
      <p:sp>
        <p:nvSpPr>
          <p:cNvPr id="85" name="Text 83"/>
          <p:cNvSpPr txBox="1"/>
          <p:nvPr/>
        </p:nvSpPr>
        <p:spPr>
          <a:xfrm>
            <a:off x="7013448" y="3813048"/>
            <a:ext cx="82296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+2k</a:t>
            </a:r>
            <a:endParaRPr lang="en-US" sz="850" dirty="0"/>
          </a:p>
        </p:txBody>
      </p:sp>
      <p:sp>
        <p:nvSpPr>
          <p:cNvPr id="86" name="Shape 84"/>
          <p:cNvSpPr/>
          <p:nvPr/>
        </p:nvSpPr>
        <p:spPr>
          <a:xfrm>
            <a:off x="612648" y="4407408"/>
            <a:ext cx="7232904" cy="6401"/>
          </a:xfrm>
          <a:prstGeom prst="rect">
            <a:avLst/>
          </a:prstGeom>
          <a:solidFill>
            <a:srgbClr val="E2EAEE"/>
          </a:solidFill>
          <a:ln/>
        </p:spPr>
      </p:sp>
      <p:sp>
        <p:nvSpPr>
          <p:cNvPr id="87" name="Text 85"/>
          <p:cNvSpPr txBox="1"/>
          <p:nvPr/>
        </p:nvSpPr>
        <p:spPr>
          <a:xfrm>
            <a:off x="612648" y="4128516"/>
            <a:ext cx="1591056"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Jasmine Hikuroa</a:t>
            </a:r>
            <a:endParaRPr lang="en-US" sz="900" dirty="0"/>
          </a:p>
        </p:txBody>
      </p:sp>
      <p:sp>
        <p:nvSpPr>
          <p:cNvPr id="88" name="Text 86"/>
          <p:cNvSpPr txBox="1"/>
          <p:nvPr/>
        </p:nvSpPr>
        <p:spPr>
          <a:xfrm>
            <a:off x="2221992" y="4128516"/>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$6k</a:t>
            </a:r>
            <a:endParaRPr lang="en-US" sz="850" dirty="0"/>
          </a:p>
        </p:txBody>
      </p:sp>
      <p:sp>
        <p:nvSpPr>
          <p:cNvPr id="89" name="Text 87"/>
          <p:cNvSpPr txBox="1"/>
          <p:nvPr/>
        </p:nvSpPr>
        <p:spPr>
          <a:xfrm>
            <a:off x="2807208" y="4128516"/>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$2k</a:t>
            </a:r>
            <a:endParaRPr lang="en-US" sz="850" dirty="0"/>
          </a:p>
        </p:txBody>
      </p:sp>
      <p:sp>
        <p:nvSpPr>
          <p:cNvPr id="90" name="Shape 88"/>
          <p:cNvSpPr/>
          <p:nvPr/>
        </p:nvSpPr>
        <p:spPr>
          <a:xfrm>
            <a:off x="3465576" y="4240530"/>
            <a:ext cx="731520" cy="100584"/>
          </a:xfrm>
          <a:prstGeom prst="roundRect">
            <a:avLst>
              <a:gd name="adj" fmla="val 45455"/>
            </a:avLst>
          </a:prstGeom>
          <a:solidFill>
            <a:srgbClr val="E2EAEE"/>
          </a:solidFill>
          <a:ln/>
        </p:spPr>
      </p:sp>
      <p:sp>
        <p:nvSpPr>
          <p:cNvPr id="91" name="Shape 89"/>
          <p:cNvSpPr/>
          <p:nvPr/>
        </p:nvSpPr>
        <p:spPr>
          <a:xfrm>
            <a:off x="3465576" y="4240530"/>
            <a:ext cx="197510" cy="100584"/>
          </a:xfrm>
          <a:prstGeom prst="roundRect">
            <a:avLst>
              <a:gd name="adj" fmla="val 45455"/>
            </a:avLst>
          </a:prstGeom>
          <a:solidFill>
            <a:srgbClr val="B4552D"/>
          </a:solidFill>
          <a:ln/>
        </p:spPr>
      </p:sp>
      <p:sp>
        <p:nvSpPr>
          <p:cNvPr id="92" name="Shape 90"/>
          <p:cNvSpPr/>
          <p:nvPr/>
        </p:nvSpPr>
        <p:spPr>
          <a:xfrm>
            <a:off x="4165092" y="4194810"/>
            <a:ext cx="20117" cy="192024"/>
          </a:xfrm>
          <a:prstGeom prst="rect">
            <a:avLst/>
          </a:prstGeom>
          <a:solidFill>
            <a:srgbClr val="12293A"/>
          </a:solidFill>
          <a:ln/>
        </p:spPr>
      </p:sp>
      <p:sp>
        <p:nvSpPr>
          <p:cNvPr id="93" name="Text 91"/>
          <p:cNvSpPr txBox="1"/>
          <p:nvPr/>
        </p:nvSpPr>
        <p:spPr>
          <a:xfrm>
            <a:off x="4233672" y="4128516"/>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27%</a:t>
            </a:r>
            <a:endParaRPr lang="en-US" sz="800" dirty="0"/>
          </a:p>
        </p:txBody>
      </p:sp>
      <p:sp>
        <p:nvSpPr>
          <p:cNvPr id="94" name="Text 92"/>
          <p:cNvSpPr txBox="1"/>
          <p:nvPr/>
        </p:nvSpPr>
        <p:spPr>
          <a:xfrm>
            <a:off x="4617720" y="4128516"/>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$214k</a:t>
            </a:r>
            <a:endParaRPr lang="en-US" sz="850" dirty="0"/>
          </a:p>
        </p:txBody>
      </p:sp>
      <p:sp>
        <p:nvSpPr>
          <p:cNvPr id="95" name="Text 93"/>
          <p:cNvSpPr txBox="1"/>
          <p:nvPr/>
        </p:nvSpPr>
        <p:spPr>
          <a:xfrm>
            <a:off x="5294376" y="4128516"/>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$245k</a:t>
            </a:r>
            <a:endParaRPr lang="en-US" sz="850" dirty="0"/>
          </a:p>
        </p:txBody>
      </p:sp>
      <p:sp>
        <p:nvSpPr>
          <p:cNvPr id="96" name="Shape 94"/>
          <p:cNvSpPr/>
          <p:nvPr/>
        </p:nvSpPr>
        <p:spPr>
          <a:xfrm>
            <a:off x="6044184" y="4240530"/>
            <a:ext cx="731520" cy="100584"/>
          </a:xfrm>
          <a:prstGeom prst="roundRect">
            <a:avLst>
              <a:gd name="adj" fmla="val 45455"/>
            </a:avLst>
          </a:prstGeom>
          <a:solidFill>
            <a:srgbClr val="E2EAEE"/>
          </a:solidFill>
          <a:ln/>
        </p:spPr>
      </p:sp>
      <p:sp>
        <p:nvSpPr>
          <p:cNvPr id="97" name="Shape 95"/>
          <p:cNvSpPr/>
          <p:nvPr/>
        </p:nvSpPr>
        <p:spPr>
          <a:xfrm>
            <a:off x="6044184" y="4240530"/>
            <a:ext cx="731520" cy="100584"/>
          </a:xfrm>
          <a:prstGeom prst="roundRect">
            <a:avLst>
              <a:gd name="adj" fmla="val 45455"/>
            </a:avLst>
          </a:prstGeom>
          <a:solidFill>
            <a:srgbClr val="B4552D"/>
          </a:solidFill>
          <a:ln/>
        </p:spPr>
      </p:sp>
      <p:sp>
        <p:nvSpPr>
          <p:cNvPr id="98" name="Shape 96"/>
          <p:cNvSpPr/>
          <p:nvPr/>
        </p:nvSpPr>
        <p:spPr>
          <a:xfrm>
            <a:off x="6743700" y="4194810"/>
            <a:ext cx="20117" cy="192024"/>
          </a:xfrm>
          <a:prstGeom prst="rect">
            <a:avLst/>
          </a:prstGeom>
          <a:solidFill>
            <a:srgbClr val="12293A"/>
          </a:solidFill>
          <a:ln/>
        </p:spPr>
      </p:sp>
      <p:sp>
        <p:nvSpPr>
          <p:cNvPr id="99" name="Text 97"/>
          <p:cNvSpPr txBox="1"/>
          <p:nvPr/>
        </p:nvSpPr>
        <p:spPr>
          <a:xfrm>
            <a:off x="6812280" y="4128516"/>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115%</a:t>
            </a:r>
            <a:endParaRPr lang="en-US" sz="800" dirty="0"/>
          </a:p>
        </p:txBody>
      </p:sp>
      <p:sp>
        <p:nvSpPr>
          <p:cNvPr id="100" name="Text 98"/>
          <p:cNvSpPr txBox="1"/>
          <p:nvPr/>
        </p:nvSpPr>
        <p:spPr>
          <a:xfrm>
            <a:off x="7013448" y="4128516"/>
            <a:ext cx="82296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+102k</a:t>
            </a:r>
            <a:endParaRPr lang="en-US" sz="850" dirty="0"/>
          </a:p>
        </p:txBody>
      </p:sp>
      <p:sp>
        <p:nvSpPr>
          <p:cNvPr id="101" name="Shape 99"/>
          <p:cNvSpPr/>
          <p:nvPr/>
        </p:nvSpPr>
        <p:spPr>
          <a:xfrm>
            <a:off x="612648" y="4722876"/>
            <a:ext cx="7232904" cy="6401"/>
          </a:xfrm>
          <a:prstGeom prst="rect">
            <a:avLst/>
          </a:prstGeom>
          <a:solidFill>
            <a:srgbClr val="E2EAEE"/>
          </a:solidFill>
          <a:ln/>
        </p:spPr>
      </p:sp>
      <p:sp>
        <p:nvSpPr>
          <p:cNvPr id="102" name="Text 100"/>
          <p:cNvSpPr txBox="1"/>
          <p:nvPr/>
        </p:nvSpPr>
        <p:spPr>
          <a:xfrm>
            <a:off x="612648" y="4443984"/>
            <a:ext cx="1591056"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Phuong Ho</a:t>
            </a:r>
            <a:endParaRPr lang="en-US" sz="900" dirty="0"/>
          </a:p>
        </p:txBody>
      </p:sp>
      <p:sp>
        <p:nvSpPr>
          <p:cNvPr id="103" name="Text 101"/>
          <p:cNvSpPr txBox="1"/>
          <p:nvPr/>
        </p:nvSpPr>
        <p:spPr>
          <a:xfrm>
            <a:off x="2221992" y="4443984"/>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$2k</a:t>
            </a:r>
            <a:endParaRPr lang="en-US" sz="850" dirty="0"/>
          </a:p>
        </p:txBody>
      </p:sp>
      <p:sp>
        <p:nvSpPr>
          <p:cNvPr id="104" name="Text 102"/>
          <p:cNvSpPr txBox="1"/>
          <p:nvPr/>
        </p:nvSpPr>
        <p:spPr>
          <a:xfrm>
            <a:off x="2807208" y="4443984"/>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$205</a:t>
            </a:r>
            <a:endParaRPr lang="en-US" sz="850" dirty="0"/>
          </a:p>
        </p:txBody>
      </p:sp>
      <p:sp>
        <p:nvSpPr>
          <p:cNvPr id="105" name="Shape 103"/>
          <p:cNvSpPr/>
          <p:nvPr/>
        </p:nvSpPr>
        <p:spPr>
          <a:xfrm>
            <a:off x="3465576" y="4555998"/>
            <a:ext cx="731520" cy="100584"/>
          </a:xfrm>
          <a:prstGeom prst="roundRect">
            <a:avLst>
              <a:gd name="adj" fmla="val 45455"/>
            </a:avLst>
          </a:prstGeom>
          <a:solidFill>
            <a:srgbClr val="E2EAEE"/>
          </a:solidFill>
          <a:ln/>
        </p:spPr>
      </p:sp>
      <p:sp>
        <p:nvSpPr>
          <p:cNvPr id="106" name="Shape 104"/>
          <p:cNvSpPr/>
          <p:nvPr/>
        </p:nvSpPr>
        <p:spPr>
          <a:xfrm>
            <a:off x="3465576" y="4555998"/>
            <a:ext cx="73152" cy="100584"/>
          </a:xfrm>
          <a:prstGeom prst="roundRect">
            <a:avLst>
              <a:gd name="adj" fmla="val 62500"/>
            </a:avLst>
          </a:prstGeom>
          <a:solidFill>
            <a:srgbClr val="B4552D"/>
          </a:solidFill>
          <a:ln/>
        </p:spPr>
      </p:sp>
      <p:sp>
        <p:nvSpPr>
          <p:cNvPr id="107" name="Shape 105"/>
          <p:cNvSpPr/>
          <p:nvPr/>
        </p:nvSpPr>
        <p:spPr>
          <a:xfrm>
            <a:off x="4165092" y="4510278"/>
            <a:ext cx="20117" cy="192024"/>
          </a:xfrm>
          <a:prstGeom prst="rect">
            <a:avLst/>
          </a:prstGeom>
          <a:solidFill>
            <a:srgbClr val="12293A"/>
          </a:solidFill>
          <a:ln/>
        </p:spPr>
      </p:sp>
      <p:sp>
        <p:nvSpPr>
          <p:cNvPr id="108" name="Text 106"/>
          <p:cNvSpPr txBox="1"/>
          <p:nvPr/>
        </p:nvSpPr>
        <p:spPr>
          <a:xfrm>
            <a:off x="4233672" y="4443984"/>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10%</a:t>
            </a:r>
            <a:endParaRPr lang="en-US" sz="800" dirty="0"/>
          </a:p>
        </p:txBody>
      </p:sp>
      <p:sp>
        <p:nvSpPr>
          <p:cNvPr id="109" name="Text 107"/>
          <p:cNvSpPr txBox="1"/>
          <p:nvPr/>
        </p:nvSpPr>
        <p:spPr>
          <a:xfrm>
            <a:off x="4617720" y="4443984"/>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$55k</a:t>
            </a:r>
            <a:endParaRPr lang="en-US" sz="850" dirty="0"/>
          </a:p>
        </p:txBody>
      </p:sp>
      <p:sp>
        <p:nvSpPr>
          <p:cNvPr id="110" name="Text 108"/>
          <p:cNvSpPr txBox="1"/>
          <p:nvPr/>
        </p:nvSpPr>
        <p:spPr>
          <a:xfrm>
            <a:off x="5294376" y="4443984"/>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$14k</a:t>
            </a:r>
            <a:endParaRPr lang="en-US" sz="850" dirty="0"/>
          </a:p>
        </p:txBody>
      </p:sp>
      <p:sp>
        <p:nvSpPr>
          <p:cNvPr id="111" name="Shape 109"/>
          <p:cNvSpPr/>
          <p:nvPr/>
        </p:nvSpPr>
        <p:spPr>
          <a:xfrm>
            <a:off x="6044184" y="4555998"/>
            <a:ext cx="731520" cy="100584"/>
          </a:xfrm>
          <a:prstGeom prst="roundRect">
            <a:avLst>
              <a:gd name="adj" fmla="val 45455"/>
            </a:avLst>
          </a:prstGeom>
          <a:solidFill>
            <a:srgbClr val="E2EAEE"/>
          </a:solidFill>
          <a:ln/>
        </p:spPr>
      </p:sp>
      <p:sp>
        <p:nvSpPr>
          <p:cNvPr id="112" name="Shape 110"/>
          <p:cNvSpPr/>
          <p:nvPr/>
        </p:nvSpPr>
        <p:spPr>
          <a:xfrm>
            <a:off x="6044184" y="4555998"/>
            <a:ext cx="190195" cy="100584"/>
          </a:xfrm>
          <a:prstGeom prst="roundRect">
            <a:avLst>
              <a:gd name="adj" fmla="val 45455"/>
            </a:avLst>
          </a:prstGeom>
          <a:solidFill>
            <a:srgbClr val="B4552D"/>
          </a:solidFill>
          <a:ln/>
        </p:spPr>
      </p:sp>
      <p:sp>
        <p:nvSpPr>
          <p:cNvPr id="113" name="Shape 111"/>
          <p:cNvSpPr/>
          <p:nvPr/>
        </p:nvSpPr>
        <p:spPr>
          <a:xfrm>
            <a:off x="6743700" y="4510278"/>
            <a:ext cx="20117" cy="192024"/>
          </a:xfrm>
          <a:prstGeom prst="rect">
            <a:avLst/>
          </a:prstGeom>
          <a:solidFill>
            <a:srgbClr val="12293A"/>
          </a:solidFill>
          <a:ln/>
        </p:spPr>
      </p:sp>
      <p:sp>
        <p:nvSpPr>
          <p:cNvPr id="114" name="Text 112"/>
          <p:cNvSpPr txBox="1"/>
          <p:nvPr/>
        </p:nvSpPr>
        <p:spPr>
          <a:xfrm>
            <a:off x="6812280" y="4443984"/>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26%</a:t>
            </a:r>
            <a:endParaRPr lang="en-US" sz="800" dirty="0"/>
          </a:p>
        </p:txBody>
      </p:sp>
      <p:sp>
        <p:nvSpPr>
          <p:cNvPr id="115" name="Text 113"/>
          <p:cNvSpPr txBox="1"/>
          <p:nvPr/>
        </p:nvSpPr>
        <p:spPr>
          <a:xfrm>
            <a:off x="7013448" y="4443984"/>
            <a:ext cx="82296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+2k</a:t>
            </a:r>
            <a:endParaRPr lang="en-US" sz="850" dirty="0"/>
          </a:p>
        </p:txBody>
      </p:sp>
      <p:sp>
        <p:nvSpPr>
          <p:cNvPr id="116" name="Shape 114"/>
          <p:cNvSpPr/>
          <p:nvPr/>
        </p:nvSpPr>
        <p:spPr>
          <a:xfrm>
            <a:off x="612648" y="5038344"/>
            <a:ext cx="7232904" cy="6401"/>
          </a:xfrm>
          <a:prstGeom prst="rect">
            <a:avLst/>
          </a:prstGeom>
          <a:solidFill>
            <a:srgbClr val="E2EAEE"/>
          </a:solidFill>
          <a:ln/>
        </p:spPr>
      </p:sp>
      <p:sp>
        <p:nvSpPr>
          <p:cNvPr id="117" name="Text 115"/>
          <p:cNvSpPr txBox="1"/>
          <p:nvPr/>
        </p:nvSpPr>
        <p:spPr>
          <a:xfrm>
            <a:off x="612648" y="4759452"/>
            <a:ext cx="1591056"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Mick Teasdale</a:t>
            </a:r>
            <a:endParaRPr lang="en-US" sz="900" dirty="0"/>
          </a:p>
        </p:txBody>
      </p:sp>
      <p:sp>
        <p:nvSpPr>
          <p:cNvPr id="118" name="Text 116"/>
          <p:cNvSpPr txBox="1"/>
          <p:nvPr/>
        </p:nvSpPr>
        <p:spPr>
          <a:xfrm>
            <a:off x="2221992" y="4759452"/>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$3k</a:t>
            </a:r>
            <a:endParaRPr lang="en-US" sz="850" dirty="0"/>
          </a:p>
        </p:txBody>
      </p:sp>
      <p:sp>
        <p:nvSpPr>
          <p:cNvPr id="119" name="Text 117"/>
          <p:cNvSpPr txBox="1"/>
          <p:nvPr/>
        </p:nvSpPr>
        <p:spPr>
          <a:xfrm>
            <a:off x="2807208" y="4759452"/>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$0</a:t>
            </a:r>
            <a:endParaRPr lang="en-US" sz="850" dirty="0"/>
          </a:p>
        </p:txBody>
      </p:sp>
      <p:sp>
        <p:nvSpPr>
          <p:cNvPr id="120" name="Shape 118"/>
          <p:cNvSpPr/>
          <p:nvPr/>
        </p:nvSpPr>
        <p:spPr>
          <a:xfrm>
            <a:off x="3465576" y="4871466"/>
            <a:ext cx="731520" cy="100584"/>
          </a:xfrm>
          <a:prstGeom prst="roundRect">
            <a:avLst>
              <a:gd name="adj" fmla="val 45455"/>
            </a:avLst>
          </a:prstGeom>
          <a:solidFill>
            <a:srgbClr val="E2EAEE"/>
          </a:solidFill>
          <a:ln/>
        </p:spPr>
      </p:sp>
      <p:sp>
        <p:nvSpPr>
          <p:cNvPr id="121" name="Shape 119"/>
          <p:cNvSpPr/>
          <p:nvPr/>
        </p:nvSpPr>
        <p:spPr>
          <a:xfrm>
            <a:off x="3465576" y="4871466"/>
            <a:ext cx="54864" cy="100584"/>
          </a:xfrm>
          <a:prstGeom prst="roundRect">
            <a:avLst>
              <a:gd name="adj" fmla="val 83333"/>
            </a:avLst>
          </a:prstGeom>
          <a:solidFill>
            <a:srgbClr val="B4552D"/>
          </a:solidFill>
          <a:ln/>
        </p:spPr>
      </p:sp>
      <p:sp>
        <p:nvSpPr>
          <p:cNvPr id="122" name="Shape 120"/>
          <p:cNvSpPr/>
          <p:nvPr/>
        </p:nvSpPr>
        <p:spPr>
          <a:xfrm>
            <a:off x="4165092" y="4825746"/>
            <a:ext cx="20117" cy="192024"/>
          </a:xfrm>
          <a:prstGeom prst="rect">
            <a:avLst/>
          </a:prstGeom>
          <a:solidFill>
            <a:srgbClr val="12293A"/>
          </a:solidFill>
          <a:ln/>
        </p:spPr>
      </p:sp>
      <p:sp>
        <p:nvSpPr>
          <p:cNvPr id="123" name="Text 121"/>
          <p:cNvSpPr txBox="1"/>
          <p:nvPr/>
        </p:nvSpPr>
        <p:spPr>
          <a:xfrm>
            <a:off x="4233672" y="4759452"/>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0%</a:t>
            </a:r>
            <a:endParaRPr lang="en-US" sz="800" dirty="0"/>
          </a:p>
        </p:txBody>
      </p:sp>
      <p:sp>
        <p:nvSpPr>
          <p:cNvPr id="124" name="Text 122"/>
          <p:cNvSpPr txBox="1"/>
          <p:nvPr/>
        </p:nvSpPr>
        <p:spPr>
          <a:xfrm>
            <a:off x="4617720" y="4759452"/>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$46k</a:t>
            </a:r>
            <a:endParaRPr lang="en-US" sz="850" dirty="0"/>
          </a:p>
        </p:txBody>
      </p:sp>
      <p:sp>
        <p:nvSpPr>
          <p:cNvPr id="125" name="Text 123"/>
          <p:cNvSpPr txBox="1"/>
          <p:nvPr/>
        </p:nvSpPr>
        <p:spPr>
          <a:xfrm>
            <a:off x="5294376" y="4759452"/>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26" name="Text 124"/>
          <p:cNvSpPr txBox="1"/>
          <p:nvPr/>
        </p:nvSpPr>
        <p:spPr>
          <a:xfrm>
            <a:off x="6007608" y="4759452"/>
            <a:ext cx="969264"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27" name="Text 125"/>
          <p:cNvSpPr txBox="1"/>
          <p:nvPr/>
        </p:nvSpPr>
        <p:spPr>
          <a:xfrm>
            <a:off x="7013448" y="4759452"/>
            <a:ext cx="822960"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28" name="Shape 126"/>
          <p:cNvSpPr/>
          <p:nvPr/>
        </p:nvSpPr>
        <p:spPr>
          <a:xfrm>
            <a:off x="612648" y="5353812"/>
            <a:ext cx="7232904" cy="6401"/>
          </a:xfrm>
          <a:prstGeom prst="rect">
            <a:avLst/>
          </a:prstGeom>
          <a:solidFill>
            <a:srgbClr val="E2EAEE"/>
          </a:solidFill>
          <a:ln/>
        </p:spPr>
      </p:sp>
      <p:sp>
        <p:nvSpPr>
          <p:cNvPr id="129" name="Text 127"/>
          <p:cNvSpPr txBox="1"/>
          <p:nvPr/>
        </p:nvSpPr>
        <p:spPr>
          <a:xfrm>
            <a:off x="612648" y="5074920"/>
            <a:ext cx="1591056" cy="315468"/>
          </a:xfrm>
          <a:prstGeom prst="rect">
            <a:avLst/>
          </a:prstGeom>
          <a:noFill/>
          <a:ln/>
        </p:spPr>
        <p:txBody>
          <a:bodyPr wrap="square" lIns="0" tIns="0" rIns="0" bIns="0" rtlCol="0" anchor="ctr"/>
          <a:lstStyle/>
          <a:p>
            <a:pPr indent="0" marL="0">
              <a:buNone/>
            </a:pPr>
            <a:r>
              <a:rPr lang="en-US" sz="900" dirty="0">
                <a:solidFill>
                  <a:srgbClr val="C88A2E"/>
                </a:solidFill>
                <a:latin typeface="Poppins" pitchFamily="34" charset="0"/>
                <a:ea typeface="Poppins" pitchFamily="34" charset="-122"/>
                <a:cs typeface="Poppins" pitchFamily="34" charset="-120"/>
              </a:rPr>
              <a:t>Unassigned</a:t>
            </a:r>
            <a:endParaRPr lang="en-US" sz="900" dirty="0"/>
          </a:p>
        </p:txBody>
      </p:sp>
      <p:sp>
        <p:nvSpPr>
          <p:cNvPr id="130" name="Text 128"/>
          <p:cNvSpPr txBox="1"/>
          <p:nvPr/>
        </p:nvSpPr>
        <p:spPr>
          <a:xfrm>
            <a:off x="2221992" y="5074920"/>
            <a:ext cx="56692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$4k</a:t>
            </a:r>
            <a:endParaRPr lang="en-US" sz="850" dirty="0"/>
          </a:p>
        </p:txBody>
      </p:sp>
      <p:sp>
        <p:nvSpPr>
          <p:cNvPr id="131" name="Text 129"/>
          <p:cNvSpPr txBox="1"/>
          <p:nvPr/>
        </p:nvSpPr>
        <p:spPr>
          <a:xfrm>
            <a:off x="2807208" y="5074920"/>
            <a:ext cx="56692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$40</a:t>
            </a:r>
            <a:endParaRPr lang="en-US" sz="850" dirty="0"/>
          </a:p>
        </p:txBody>
      </p:sp>
      <p:sp>
        <p:nvSpPr>
          <p:cNvPr id="132" name="Shape 130"/>
          <p:cNvSpPr/>
          <p:nvPr/>
        </p:nvSpPr>
        <p:spPr>
          <a:xfrm>
            <a:off x="3465576" y="5186934"/>
            <a:ext cx="731520" cy="100584"/>
          </a:xfrm>
          <a:prstGeom prst="roundRect">
            <a:avLst>
              <a:gd name="adj" fmla="val 45455"/>
            </a:avLst>
          </a:prstGeom>
          <a:solidFill>
            <a:srgbClr val="E2EAEE"/>
          </a:solidFill>
          <a:ln/>
        </p:spPr>
      </p:sp>
      <p:sp>
        <p:nvSpPr>
          <p:cNvPr id="133" name="Shape 131"/>
          <p:cNvSpPr/>
          <p:nvPr/>
        </p:nvSpPr>
        <p:spPr>
          <a:xfrm>
            <a:off x="3465576" y="5186934"/>
            <a:ext cx="54864" cy="100584"/>
          </a:xfrm>
          <a:prstGeom prst="roundRect">
            <a:avLst>
              <a:gd name="adj" fmla="val 83333"/>
            </a:avLst>
          </a:prstGeom>
          <a:solidFill>
            <a:srgbClr val="B4552D"/>
          </a:solidFill>
          <a:ln/>
        </p:spPr>
      </p:sp>
      <p:sp>
        <p:nvSpPr>
          <p:cNvPr id="134" name="Shape 132"/>
          <p:cNvSpPr/>
          <p:nvPr/>
        </p:nvSpPr>
        <p:spPr>
          <a:xfrm>
            <a:off x="4165092" y="5141214"/>
            <a:ext cx="20117" cy="192024"/>
          </a:xfrm>
          <a:prstGeom prst="rect">
            <a:avLst/>
          </a:prstGeom>
          <a:solidFill>
            <a:srgbClr val="12293A"/>
          </a:solidFill>
          <a:ln/>
        </p:spPr>
      </p:sp>
      <p:sp>
        <p:nvSpPr>
          <p:cNvPr id="135" name="Text 133"/>
          <p:cNvSpPr txBox="1"/>
          <p:nvPr/>
        </p:nvSpPr>
        <p:spPr>
          <a:xfrm>
            <a:off x="4233672" y="5074920"/>
            <a:ext cx="384048"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a:t>
            </a:r>
            <a:endParaRPr lang="en-US" sz="800" dirty="0"/>
          </a:p>
        </p:txBody>
      </p:sp>
      <p:sp>
        <p:nvSpPr>
          <p:cNvPr id="136" name="Text 134"/>
          <p:cNvSpPr txBox="1"/>
          <p:nvPr/>
        </p:nvSpPr>
        <p:spPr>
          <a:xfrm>
            <a:off x="4617720" y="5074920"/>
            <a:ext cx="64008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a:t>
            </a:r>
            <a:endParaRPr lang="en-US" sz="850" dirty="0"/>
          </a:p>
        </p:txBody>
      </p:sp>
      <p:sp>
        <p:nvSpPr>
          <p:cNvPr id="137" name="Text 135"/>
          <p:cNvSpPr txBox="1"/>
          <p:nvPr/>
        </p:nvSpPr>
        <p:spPr>
          <a:xfrm>
            <a:off x="5294376" y="5074920"/>
            <a:ext cx="65836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38" name="Text 136"/>
          <p:cNvSpPr txBox="1"/>
          <p:nvPr/>
        </p:nvSpPr>
        <p:spPr>
          <a:xfrm>
            <a:off x="6007608" y="5074920"/>
            <a:ext cx="969264"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39" name="Text 137"/>
          <p:cNvSpPr txBox="1"/>
          <p:nvPr/>
        </p:nvSpPr>
        <p:spPr>
          <a:xfrm>
            <a:off x="7013448" y="5074920"/>
            <a:ext cx="822960"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40" name="Shape 138"/>
          <p:cNvSpPr/>
          <p:nvPr/>
        </p:nvSpPr>
        <p:spPr>
          <a:xfrm>
            <a:off x="612648" y="5381244"/>
            <a:ext cx="7232904" cy="14630"/>
          </a:xfrm>
          <a:prstGeom prst="rect">
            <a:avLst/>
          </a:prstGeom>
          <a:solidFill>
            <a:srgbClr val="12293A"/>
          </a:solidFill>
          <a:ln/>
        </p:spPr>
      </p:sp>
      <p:sp>
        <p:nvSpPr>
          <p:cNvPr id="141" name="Text 139"/>
          <p:cNvSpPr txBox="1"/>
          <p:nvPr/>
        </p:nvSpPr>
        <p:spPr>
          <a:xfrm>
            <a:off x="612648" y="5426964"/>
            <a:ext cx="1591056" cy="274320"/>
          </a:xfrm>
          <a:prstGeom prst="rect">
            <a:avLst/>
          </a:prstGeom>
          <a:noFill/>
          <a:ln/>
        </p:spPr>
        <p:txBody>
          <a:bodyPr wrap="square" lIns="0" tIns="0" rIns="0" bIns="0" rtlCol="0" anchor="ctr"/>
          <a:lstStyle/>
          <a:p>
            <a:pPr indent="0" marL="0">
              <a:buNone/>
            </a:pPr>
            <a:r>
              <a:rPr lang="en-US" sz="900" b="1" dirty="0">
                <a:solidFill>
                  <a:srgbClr val="12293A"/>
                </a:solidFill>
                <a:latin typeface="Poppins" pitchFamily="34" charset="0"/>
                <a:ea typeface="Poppins" pitchFamily="34" charset="-122"/>
                <a:cs typeface="Poppins" pitchFamily="34" charset="-120"/>
              </a:rPr>
              <a:t>SALES TEAM TOTAL</a:t>
            </a:r>
            <a:endParaRPr lang="en-US" sz="900" dirty="0"/>
          </a:p>
        </p:txBody>
      </p:sp>
      <p:sp>
        <p:nvSpPr>
          <p:cNvPr id="142" name="Text 140"/>
          <p:cNvSpPr txBox="1"/>
          <p:nvPr/>
        </p:nvSpPr>
        <p:spPr>
          <a:xfrm>
            <a:off x="2221992" y="5426964"/>
            <a:ext cx="566928"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$30k</a:t>
            </a:r>
            <a:endParaRPr lang="en-US" sz="850" dirty="0"/>
          </a:p>
        </p:txBody>
      </p:sp>
      <p:sp>
        <p:nvSpPr>
          <p:cNvPr id="143" name="Text 141"/>
          <p:cNvSpPr txBox="1"/>
          <p:nvPr/>
        </p:nvSpPr>
        <p:spPr>
          <a:xfrm>
            <a:off x="2807208" y="5426964"/>
            <a:ext cx="566928"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$12k</a:t>
            </a:r>
            <a:endParaRPr lang="en-US" sz="850" dirty="0"/>
          </a:p>
        </p:txBody>
      </p:sp>
      <p:sp>
        <p:nvSpPr>
          <p:cNvPr id="144" name="Text 142"/>
          <p:cNvSpPr txBox="1"/>
          <p:nvPr/>
        </p:nvSpPr>
        <p:spPr>
          <a:xfrm>
            <a:off x="4617720" y="5426964"/>
            <a:ext cx="640080"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$761k</a:t>
            </a:r>
            <a:endParaRPr lang="en-US" sz="850" dirty="0"/>
          </a:p>
        </p:txBody>
      </p:sp>
      <p:sp>
        <p:nvSpPr>
          <p:cNvPr id="145" name="Text 143"/>
          <p:cNvSpPr txBox="1"/>
          <p:nvPr/>
        </p:nvSpPr>
        <p:spPr>
          <a:xfrm>
            <a:off x="5294376" y="5426964"/>
            <a:ext cx="658368"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$526k</a:t>
            </a:r>
            <a:endParaRPr lang="en-US" sz="850" dirty="0"/>
          </a:p>
        </p:txBody>
      </p:sp>
      <p:sp>
        <p:nvSpPr>
          <p:cNvPr id="146" name="Text 144"/>
          <p:cNvSpPr txBox="1"/>
          <p:nvPr/>
        </p:nvSpPr>
        <p:spPr>
          <a:xfrm>
            <a:off x="6007608" y="5426964"/>
            <a:ext cx="969264" cy="274320"/>
          </a:xfrm>
          <a:prstGeom prst="rect">
            <a:avLst/>
          </a:prstGeom>
          <a:noFill/>
          <a:ln/>
        </p:spPr>
        <p:txBody>
          <a:bodyPr wrap="square" lIns="0" tIns="0" rIns="0" bIns="0" rtlCol="0" anchor="ctr"/>
          <a:lstStyle/>
          <a:p>
            <a:pPr algn="ctr" indent="0" marL="0">
              <a:buNone/>
            </a:pPr>
            <a:r>
              <a:rPr lang="en-US" sz="850" b="1" dirty="0">
                <a:solidFill>
                  <a:srgbClr val="B4552D"/>
                </a:solidFill>
                <a:latin typeface="Poppins" pitchFamily="34" charset="0"/>
                <a:ea typeface="Poppins" pitchFamily="34" charset="-122"/>
                <a:cs typeface="Poppins" pitchFamily="34" charset="-120"/>
              </a:rPr>
              <a:t>69%</a:t>
            </a:r>
            <a:endParaRPr lang="en-US" sz="850" dirty="0"/>
          </a:p>
        </p:txBody>
      </p:sp>
      <p:sp>
        <p:nvSpPr>
          <p:cNvPr id="147" name="Text 145"/>
          <p:cNvSpPr txBox="1"/>
          <p:nvPr/>
        </p:nvSpPr>
        <p:spPr>
          <a:xfrm>
            <a:off x="7013448" y="5426964"/>
            <a:ext cx="822960" cy="274320"/>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+116k</a:t>
            </a:r>
            <a:endParaRPr lang="en-US" sz="850" dirty="0"/>
          </a:p>
        </p:txBody>
      </p:sp>
      <p:sp>
        <p:nvSpPr>
          <p:cNvPr id="148" name="Text 146"/>
          <p:cNvSpPr txBox="1"/>
          <p:nvPr/>
        </p:nvSpPr>
        <p:spPr>
          <a:xfrm>
            <a:off x="612648" y="5719572"/>
            <a:ext cx="7232904" cy="21945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MRR = net new + expansion invoiced in Q3 (movement register, live 27 Sep) · H&amp;L Pay net new $1,770/mo is tracked separately and never sits inside core MRR</a:t>
            </a:r>
            <a:endParaRPr lang="en-US" sz="700" dirty="0"/>
          </a:p>
        </p:txBody>
      </p:sp>
      <p:sp>
        <p:nvSpPr>
          <p:cNvPr id="149" name="Shape 147"/>
          <p:cNvSpPr/>
          <p:nvPr/>
        </p:nvSpPr>
        <p:spPr>
          <a:xfrm>
            <a:off x="8229600" y="2340864"/>
            <a:ext cx="3547872" cy="4041648"/>
          </a:xfrm>
          <a:prstGeom prst="roundRect">
            <a:avLst>
              <a:gd name="adj" fmla="val 1804"/>
            </a:avLst>
          </a:prstGeom>
          <a:solidFill>
            <a:srgbClr val="FFFFFF"/>
          </a:solidFill>
          <a:ln/>
          <a:effectLst>
            <a:outerShdw sx="100000" sy="100000" kx="0" ky="0" algn="bl" rotWithShape="0" blurRad="76200" dist="25400" dir="5400000">
              <a:srgbClr val="9AAAB5">
                <a:alpha val="35000"/>
              </a:srgbClr>
            </a:outerShdw>
          </a:effectLst>
        </p:spPr>
      </p:sp>
      <p:sp>
        <p:nvSpPr>
          <p:cNvPr id="150" name="Text 148"/>
          <p:cNvSpPr txBox="1"/>
          <p:nvPr/>
        </p:nvSpPr>
        <p:spPr>
          <a:xfrm>
            <a:off x="8430768" y="2450592"/>
            <a:ext cx="31821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51" name="Text 149"/>
          <p:cNvSpPr txBox="1"/>
          <p:nvPr/>
        </p:nvSpPr>
        <p:spPr>
          <a:xfrm>
            <a:off x="8430768" y="2761488"/>
            <a:ext cx="3136392" cy="3493008"/>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Hardware is $526k (74%)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against a 97% pace mark. The 21–27 Sep 2026 extract added $116k gross — the biggest week of the quarter — but $102k of it is one Corporate account (Solotel) booked to Jasmine, who jumps to 115% of target.</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Discounts eased in proportion: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hardware discounts ran -$8.4k on $115.6k gross (7%) against -$10.2k on $37.6k (27%) last week. Net hardware for the week is $107.2k.</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New MRR did not move at all this week.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The register carries no new-MRR rows dated 21–27 Sep 2026, so Q3 stays at $12,129 — 43% of the $28k OKR2 against a 97% pace mark. The last entry was 18 Sep; the next dated ones are 28 Sep ($598, Piermount) and 30 Sep ($62) — inside Q3 but after this reporting week.</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HW = commissionable only, gross of discounts · attainment = invoiced, never closed-won · pace = day 89 of 92 in Q3 (Jul–Sep) at week end 27 Sep.</a:t>
            </a:r>
            <a:endParaRPr lang="en-US" sz="900" dirty="0"/>
          </a:p>
        </p:txBody>
      </p:sp>
      <p:sp>
        <p:nvSpPr>
          <p:cNvPr id="152" name="Shape 150"/>
          <p:cNvSpPr/>
          <p:nvPr/>
        </p:nvSpPr>
        <p:spPr>
          <a:xfrm>
            <a:off x="7585862" y="6510528"/>
            <a:ext cx="4191610" cy="256032"/>
          </a:xfrm>
          <a:prstGeom prst="roundRect">
            <a:avLst>
              <a:gd name="adj" fmla="val 46429"/>
            </a:avLst>
          </a:prstGeom>
          <a:solidFill>
            <a:srgbClr val="12293A"/>
          </a:solidFill>
          <a:ln/>
        </p:spPr>
      </p:sp>
      <p:sp>
        <p:nvSpPr>
          <p:cNvPr id="153" name="Text 151"/>
          <p:cNvSpPr txBox="1"/>
          <p:nvPr/>
        </p:nvSpPr>
        <p:spPr>
          <a:xfrm>
            <a:off x="7585862" y="6510528"/>
            <a:ext cx="419161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Sysnet extract 21–27 Sep + MRR movement register (live)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AI-Infused Products — Pipeline</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&amp; Product</a:t>
            </a:r>
            <a:endParaRPr lang="en-US" sz="1050" dirty="0"/>
          </a:p>
        </p:txBody>
      </p:sp>
      <p:sp>
        <p:nvSpPr>
          <p:cNvPr id="7" name="Shape 5"/>
          <p:cNvSpPr/>
          <p:nvPr/>
        </p:nvSpPr>
        <p:spPr>
          <a:xfrm>
            <a:off x="8686800" y="82296"/>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PIPELINE</a:t>
            </a:r>
            <a:endParaRPr lang="en-US" sz="950" dirty="0"/>
          </a:p>
        </p:txBody>
      </p:sp>
      <p:sp>
        <p:nvSpPr>
          <p:cNvPr id="17" name="Text 15"/>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400" b="1" dirty="0">
                <a:solidFill>
                  <a:srgbClr val="12293A"/>
                </a:solidFill>
                <a:latin typeface="Poppins" pitchFamily="34" charset="0"/>
                <a:ea typeface="Poppins" pitchFamily="34" charset="-122"/>
                <a:cs typeface="Poppins" pitchFamily="34" charset="-120"/>
              </a:rPr>
              <a:t>US$2,103</a:t>
            </a:r>
            <a:endParaRPr lang="en-US" sz="2400" dirty="0"/>
          </a:p>
        </p:txBody>
      </p:sp>
      <p:sp>
        <p:nvSpPr>
          <p:cNvPr id="18" name="Text 16"/>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A$2,953 · 32 deals not yet ordered</a:t>
            </a:r>
            <a:endParaRPr lang="en-US" sz="780" dirty="0"/>
          </a:p>
        </p:txBody>
      </p:sp>
      <p:sp>
        <p:nvSpPr>
          <p:cNvPr id="19" name="Shape 17"/>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ORDER PLACED</a:t>
            </a:r>
            <a:endParaRPr lang="en-US" sz="950" dirty="0"/>
          </a:p>
        </p:txBody>
      </p:sp>
      <p:sp>
        <p:nvSpPr>
          <p:cNvPr id="21" name="Text 19"/>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3D8F5F"/>
                </a:solidFill>
                <a:latin typeface="Poppins" pitchFamily="34" charset="0"/>
                <a:ea typeface="Poppins" pitchFamily="34" charset="-122"/>
                <a:cs typeface="Poppins" pitchFamily="34" charset="-120"/>
              </a:rPr>
              <a:t>US$221</a:t>
            </a:r>
            <a:endParaRPr lang="en-US" sz="2400" dirty="0"/>
          </a:p>
        </p:txBody>
      </p:sp>
      <p:sp>
        <p:nvSpPr>
          <p:cNvPr id="22" name="Text 20"/>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A$310 · 6 deals since 1 Jul</a:t>
            </a:r>
            <a:endParaRPr lang="en-US" sz="780" dirty="0"/>
          </a:p>
        </p:txBody>
      </p:sp>
      <p:sp>
        <p:nvSpPr>
          <p:cNvPr id="23" name="Shape 21"/>
          <p:cNvSpPr/>
          <p:nvPr/>
        </p:nvSpPr>
        <p:spPr>
          <a:xfrm>
            <a:off x="617220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CLOSED LOST</a:t>
            </a:r>
            <a:endParaRPr lang="en-US" sz="950" dirty="0"/>
          </a:p>
        </p:txBody>
      </p:sp>
      <p:sp>
        <p:nvSpPr>
          <p:cNvPr id="25" name="Text 23"/>
          <p:cNvSpPr txBox="1"/>
          <p:nvPr/>
        </p:nvSpPr>
        <p:spPr>
          <a:xfrm>
            <a:off x="6318504" y="1261872"/>
            <a:ext cx="2404872" cy="310896"/>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US$257</a:t>
            </a:r>
            <a:endParaRPr lang="en-US" sz="2400" dirty="0"/>
          </a:p>
        </p:txBody>
      </p:sp>
      <p:sp>
        <p:nvSpPr>
          <p:cNvPr id="26" name="Text 24"/>
          <p:cNvSpPr txBox="1"/>
          <p:nvPr/>
        </p:nvSpPr>
        <p:spPr>
          <a:xfrm>
            <a:off x="633679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A$361 · 3 deals since 1 Jul</a:t>
            </a:r>
            <a:endParaRPr lang="en-US" sz="780" dirty="0"/>
          </a:p>
        </p:txBody>
      </p:sp>
      <p:sp>
        <p:nvSpPr>
          <p:cNvPr id="27" name="Shape 25"/>
          <p:cNvSpPr/>
          <p:nvPr/>
        </p:nvSpPr>
        <p:spPr>
          <a:xfrm>
            <a:off x="9052560" y="987552"/>
            <a:ext cx="272491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078992"/>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CONVERSION — OF CLOSED</a:t>
            </a:r>
            <a:endParaRPr lang="en-US" sz="950" dirty="0"/>
          </a:p>
        </p:txBody>
      </p:sp>
      <p:sp>
        <p:nvSpPr>
          <p:cNvPr id="29" name="Text 27"/>
          <p:cNvSpPr txBox="1"/>
          <p:nvPr/>
        </p:nvSpPr>
        <p:spPr>
          <a:xfrm>
            <a:off x="9198864" y="1261872"/>
            <a:ext cx="2432304"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67%</a:t>
            </a:r>
            <a:endParaRPr lang="en-US" sz="2400" dirty="0"/>
          </a:p>
        </p:txBody>
      </p:sp>
      <p:sp>
        <p:nvSpPr>
          <p:cNvPr id="30" name="Text 28"/>
          <p:cNvSpPr txBox="1"/>
          <p:nvPr/>
        </p:nvSpPr>
        <p:spPr>
          <a:xfrm>
            <a:off x="9217152" y="1609344"/>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6 placed / 3 lost by count · 46% by value</a:t>
            </a:r>
            <a:endParaRPr lang="en-US" sz="780" dirty="0"/>
          </a:p>
        </p:txBody>
      </p:sp>
      <p:sp>
        <p:nvSpPr>
          <p:cNvPr id="31" name="Shape 29"/>
          <p:cNvSpPr/>
          <p:nvPr/>
        </p:nvSpPr>
        <p:spPr>
          <a:xfrm>
            <a:off x="411480" y="2212848"/>
            <a:ext cx="6858000" cy="3200400"/>
          </a:xfrm>
          <a:prstGeom prst="roundRect">
            <a:avLst>
              <a:gd name="adj" fmla="val 2000"/>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304288"/>
            <a:ext cx="645566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PIPELINE BY STAGE   </a:t>
            </a:r>
            <a:pPr indent="0" marL="0">
              <a:buNone/>
            </a:pPr>
            <a:r>
              <a:rPr lang="en-US" sz="680" dirty="0">
                <a:solidFill>
                  <a:srgbClr val="8FA1AC"/>
                </a:solidFill>
                <a:latin typeface="Poppins" pitchFamily="34" charset="0"/>
                <a:ea typeface="Poppins" pitchFamily="34" charset="-122"/>
                <a:cs typeface="Poppins" pitchFamily="34" charset="-120"/>
              </a:rPr>
              <a:t>converted at 0.7122 AUD→USD</a:t>
            </a:r>
            <a:endParaRPr lang="en-US" sz="1150" dirty="0"/>
          </a:p>
        </p:txBody>
      </p:sp>
      <p:sp>
        <p:nvSpPr>
          <p:cNvPr id="33" name="Text 31"/>
          <p:cNvSpPr txBox="1"/>
          <p:nvPr/>
        </p:nvSpPr>
        <p:spPr>
          <a:xfrm>
            <a:off x="667512" y="2633472"/>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Discovery</a:t>
            </a:r>
            <a:endParaRPr lang="en-US" sz="850" dirty="0"/>
          </a:p>
        </p:txBody>
      </p:sp>
      <p:sp>
        <p:nvSpPr>
          <p:cNvPr id="34" name="Shape 32"/>
          <p:cNvSpPr/>
          <p:nvPr/>
        </p:nvSpPr>
        <p:spPr>
          <a:xfrm>
            <a:off x="1828800" y="2734056"/>
            <a:ext cx="247054" cy="182880"/>
          </a:xfrm>
          <a:prstGeom prst="roundRect">
            <a:avLst>
              <a:gd name="adj" fmla="val 40000"/>
            </a:avLst>
          </a:prstGeom>
          <a:solidFill>
            <a:srgbClr val="2C8394"/>
          </a:solidFill>
          <a:ln/>
        </p:spPr>
      </p:sp>
      <p:sp>
        <p:nvSpPr>
          <p:cNvPr id="35" name="Text 33"/>
          <p:cNvSpPr txBox="1"/>
          <p:nvPr/>
        </p:nvSpPr>
        <p:spPr>
          <a:xfrm>
            <a:off x="5669280" y="2633472"/>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US$85</a:t>
            </a:r>
            <a:endParaRPr lang="en-US" sz="900" dirty="0"/>
          </a:p>
        </p:txBody>
      </p:sp>
      <p:sp>
        <p:nvSpPr>
          <p:cNvPr id="36" name="Text 34"/>
          <p:cNvSpPr txBox="1"/>
          <p:nvPr/>
        </p:nvSpPr>
        <p:spPr>
          <a:xfrm>
            <a:off x="6583680" y="2633472"/>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2 deals</a:t>
            </a:r>
            <a:endParaRPr lang="en-US" sz="750" dirty="0"/>
          </a:p>
        </p:txBody>
      </p:sp>
      <p:sp>
        <p:nvSpPr>
          <p:cNvPr id="37" name="Text 35"/>
          <p:cNvSpPr txBox="1"/>
          <p:nvPr/>
        </p:nvSpPr>
        <p:spPr>
          <a:xfrm>
            <a:off x="667512" y="2980944"/>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Quote Sent</a:t>
            </a:r>
            <a:endParaRPr lang="en-US" sz="850" dirty="0"/>
          </a:p>
        </p:txBody>
      </p:sp>
      <p:sp>
        <p:nvSpPr>
          <p:cNvPr id="38" name="Shape 36"/>
          <p:cNvSpPr/>
          <p:nvPr/>
        </p:nvSpPr>
        <p:spPr>
          <a:xfrm>
            <a:off x="1828800" y="3081528"/>
            <a:ext cx="3749040" cy="182880"/>
          </a:xfrm>
          <a:prstGeom prst="roundRect">
            <a:avLst>
              <a:gd name="adj" fmla="val 40000"/>
            </a:avLst>
          </a:prstGeom>
          <a:solidFill>
            <a:srgbClr val="2C8394"/>
          </a:solidFill>
          <a:ln/>
        </p:spPr>
      </p:sp>
      <p:sp>
        <p:nvSpPr>
          <p:cNvPr id="39" name="Text 37"/>
          <p:cNvSpPr txBox="1"/>
          <p:nvPr/>
        </p:nvSpPr>
        <p:spPr>
          <a:xfrm>
            <a:off x="5669280" y="2980944"/>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US$1,297</a:t>
            </a:r>
            <a:endParaRPr lang="en-US" sz="900" dirty="0"/>
          </a:p>
        </p:txBody>
      </p:sp>
      <p:sp>
        <p:nvSpPr>
          <p:cNvPr id="40" name="Text 38"/>
          <p:cNvSpPr txBox="1"/>
          <p:nvPr/>
        </p:nvSpPr>
        <p:spPr>
          <a:xfrm>
            <a:off x="6583680" y="2980944"/>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21 deals</a:t>
            </a:r>
            <a:endParaRPr lang="en-US" sz="750" dirty="0"/>
          </a:p>
        </p:txBody>
      </p:sp>
      <p:sp>
        <p:nvSpPr>
          <p:cNvPr id="41" name="Text 39"/>
          <p:cNvSpPr txBox="1"/>
          <p:nvPr/>
        </p:nvSpPr>
        <p:spPr>
          <a:xfrm>
            <a:off x="667512" y="3328416"/>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Negotiation</a:t>
            </a:r>
            <a:endParaRPr lang="en-US" sz="850" dirty="0"/>
          </a:p>
        </p:txBody>
      </p:sp>
      <p:sp>
        <p:nvSpPr>
          <p:cNvPr id="42" name="Shape 40"/>
          <p:cNvSpPr/>
          <p:nvPr/>
        </p:nvSpPr>
        <p:spPr>
          <a:xfrm>
            <a:off x="1828800" y="3429000"/>
            <a:ext cx="2083486" cy="182880"/>
          </a:xfrm>
          <a:prstGeom prst="roundRect">
            <a:avLst>
              <a:gd name="adj" fmla="val 40000"/>
            </a:avLst>
          </a:prstGeom>
          <a:solidFill>
            <a:srgbClr val="2C8394"/>
          </a:solidFill>
          <a:ln/>
        </p:spPr>
      </p:sp>
      <p:sp>
        <p:nvSpPr>
          <p:cNvPr id="43" name="Text 41"/>
          <p:cNvSpPr txBox="1"/>
          <p:nvPr/>
        </p:nvSpPr>
        <p:spPr>
          <a:xfrm>
            <a:off x="5669280" y="3328416"/>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US$721</a:t>
            </a:r>
            <a:endParaRPr lang="en-US" sz="900" dirty="0"/>
          </a:p>
        </p:txBody>
      </p:sp>
      <p:sp>
        <p:nvSpPr>
          <p:cNvPr id="44" name="Text 42"/>
          <p:cNvSpPr txBox="1"/>
          <p:nvPr/>
        </p:nvSpPr>
        <p:spPr>
          <a:xfrm>
            <a:off x="6583680" y="3328416"/>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 deals</a:t>
            </a:r>
            <a:endParaRPr lang="en-US" sz="750" dirty="0"/>
          </a:p>
        </p:txBody>
      </p:sp>
      <p:sp>
        <p:nvSpPr>
          <p:cNvPr id="45" name="Text 43"/>
          <p:cNvSpPr txBox="1"/>
          <p:nvPr/>
        </p:nvSpPr>
        <p:spPr>
          <a:xfrm>
            <a:off x="667512" y="3675888"/>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Order Placed</a:t>
            </a:r>
            <a:endParaRPr lang="en-US" sz="850" dirty="0"/>
          </a:p>
        </p:txBody>
      </p:sp>
      <p:sp>
        <p:nvSpPr>
          <p:cNvPr id="46" name="Shape 44"/>
          <p:cNvSpPr/>
          <p:nvPr/>
        </p:nvSpPr>
        <p:spPr>
          <a:xfrm>
            <a:off x="1828800" y="3776472"/>
            <a:ext cx="638222" cy="182880"/>
          </a:xfrm>
          <a:prstGeom prst="roundRect">
            <a:avLst>
              <a:gd name="adj" fmla="val 40000"/>
            </a:avLst>
          </a:prstGeom>
          <a:solidFill>
            <a:srgbClr val="3D8F5F"/>
          </a:solidFill>
          <a:ln/>
        </p:spPr>
      </p:sp>
      <p:sp>
        <p:nvSpPr>
          <p:cNvPr id="47" name="Text 45"/>
          <p:cNvSpPr txBox="1"/>
          <p:nvPr/>
        </p:nvSpPr>
        <p:spPr>
          <a:xfrm>
            <a:off x="5669280" y="3675888"/>
            <a:ext cx="868680" cy="347472"/>
          </a:xfrm>
          <a:prstGeom prst="rect">
            <a:avLst/>
          </a:prstGeom>
          <a:noFill/>
          <a:ln/>
        </p:spPr>
        <p:txBody>
          <a:bodyPr wrap="square" lIns="0" tIns="0" rIns="0" bIns="0" rtlCol="0" anchor="ctr"/>
          <a:lstStyle/>
          <a:p>
            <a:pPr algn="r" indent="0" marL="0">
              <a:buNone/>
            </a:pPr>
            <a:r>
              <a:rPr lang="en-US" sz="900" b="1" dirty="0">
                <a:solidFill>
                  <a:srgbClr val="3D8F5F"/>
                </a:solidFill>
                <a:latin typeface="Poppins" pitchFamily="34" charset="0"/>
                <a:ea typeface="Poppins" pitchFamily="34" charset="-122"/>
                <a:cs typeface="Poppins" pitchFamily="34" charset="-120"/>
              </a:rPr>
              <a:t>US$221</a:t>
            </a:r>
            <a:endParaRPr lang="en-US" sz="900" dirty="0"/>
          </a:p>
        </p:txBody>
      </p:sp>
      <p:sp>
        <p:nvSpPr>
          <p:cNvPr id="48" name="Text 46"/>
          <p:cNvSpPr txBox="1"/>
          <p:nvPr/>
        </p:nvSpPr>
        <p:spPr>
          <a:xfrm>
            <a:off x="6583680" y="3675888"/>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 deals</a:t>
            </a:r>
            <a:endParaRPr lang="en-US" sz="750" dirty="0"/>
          </a:p>
        </p:txBody>
      </p:sp>
      <p:sp>
        <p:nvSpPr>
          <p:cNvPr id="49" name="Text 47"/>
          <p:cNvSpPr txBox="1"/>
          <p:nvPr/>
        </p:nvSpPr>
        <p:spPr>
          <a:xfrm>
            <a:off x="667512" y="4023360"/>
            <a:ext cx="1097280" cy="347472"/>
          </a:xfrm>
          <a:prstGeom prst="rect">
            <a:avLst/>
          </a:prstGeom>
          <a:noFill/>
          <a:ln/>
        </p:spPr>
        <p:txBody>
          <a:bodyPr wrap="square" lIns="0" tIns="0" rIns="0" bIns="0" rtlCol="0" anchor="ctr"/>
          <a:lstStyle/>
          <a:p>
            <a:pPr indent="0" marL="0">
              <a:buNone/>
            </a:pPr>
            <a:r>
              <a:rPr lang="en-US" sz="850" b="1" dirty="0">
                <a:solidFill>
                  <a:srgbClr val="5E7280"/>
                </a:solidFill>
                <a:latin typeface="Poppins" pitchFamily="34" charset="0"/>
                <a:ea typeface="Poppins" pitchFamily="34" charset="-122"/>
                <a:cs typeface="Poppins" pitchFamily="34" charset="-120"/>
              </a:rPr>
              <a:t>Closed Lost</a:t>
            </a:r>
            <a:endParaRPr lang="en-US" sz="850" dirty="0"/>
          </a:p>
        </p:txBody>
      </p:sp>
      <p:sp>
        <p:nvSpPr>
          <p:cNvPr id="50" name="Shape 48"/>
          <p:cNvSpPr/>
          <p:nvPr/>
        </p:nvSpPr>
        <p:spPr>
          <a:xfrm>
            <a:off x="1828800" y="4123944"/>
            <a:ext cx="743220" cy="182880"/>
          </a:xfrm>
          <a:prstGeom prst="roundRect">
            <a:avLst>
              <a:gd name="adj" fmla="val 40000"/>
            </a:avLst>
          </a:prstGeom>
          <a:solidFill>
            <a:srgbClr val="B4552D"/>
          </a:solidFill>
          <a:ln/>
        </p:spPr>
      </p:sp>
      <p:sp>
        <p:nvSpPr>
          <p:cNvPr id="51" name="Text 49"/>
          <p:cNvSpPr txBox="1"/>
          <p:nvPr/>
        </p:nvSpPr>
        <p:spPr>
          <a:xfrm>
            <a:off x="5669280" y="4023360"/>
            <a:ext cx="868680" cy="347472"/>
          </a:xfrm>
          <a:prstGeom prst="rect">
            <a:avLst/>
          </a:prstGeom>
          <a:noFill/>
          <a:ln/>
        </p:spPr>
        <p:txBody>
          <a:bodyPr wrap="square" lIns="0" tIns="0" rIns="0" bIns="0" rtlCol="0" anchor="ctr"/>
          <a:lstStyle/>
          <a:p>
            <a:pPr algn="r" indent="0" marL="0">
              <a:buNone/>
            </a:pPr>
            <a:r>
              <a:rPr lang="en-US" sz="900" b="1" dirty="0">
                <a:solidFill>
                  <a:srgbClr val="B4552D"/>
                </a:solidFill>
                <a:latin typeface="Poppins" pitchFamily="34" charset="0"/>
                <a:ea typeface="Poppins" pitchFamily="34" charset="-122"/>
                <a:cs typeface="Poppins" pitchFamily="34" charset="-120"/>
              </a:rPr>
              <a:t>US$257</a:t>
            </a:r>
            <a:endParaRPr lang="en-US" sz="900" dirty="0"/>
          </a:p>
        </p:txBody>
      </p:sp>
      <p:sp>
        <p:nvSpPr>
          <p:cNvPr id="52" name="Text 50"/>
          <p:cNvSpPr txBox="1"/>
          <p:nvPr/>
        </p:nvSpPr>
        <p:spPr>
          <a:xfrm>
            <a:off x="6583680" y="4023360"/>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 deals</a:t>
            </a:r>
            <a:endParaRPr lang="en-US" sz="750" dirty="0"/>
          </a:p>
        </p:txBody>
      </p:sp>
      <p:sp>
        <p:nvSpPr>
          <p:cNvPr id="53" name="Shape 51"/>
          <p:cNvSpPr/>
          <p:nvPr/>
        </p:nvSpPr>
        <p:spPr>
          <a:xfrm>
            <a:off x="667512" y="3653028"/>
            <a:ext cx="6345936" cy="12802"/>
          </a:xfrm>
          <a:prstGeom prst="rect">
            <a:avLst/>
          </a:prstGeom>
          <a:solidFill>
            <a:srgbClr val="3D8F5F"/>
          </a:solidFill>
          <a:ln/>
        </p:spPr>
      </p:sp>
      <p:sp>
        <p:nvSpPr>
          <p:cNvPr id="54" name="Text 52"/>
          <p:cNvSpPr txBox="1"/>
          <p:nvPr/>
        </p:nvSpPr>
        <p:spPr>
          <a:xfrm>
            <a:off x="3977640" y="3493008"/>
            <a:ext cx="1600200" cy="155448"/>
          </a:xfrm>
          <a:prstGeom prst="rect">
            <a:avLst/>
          </a:prstGeom>
          <a:noFill/>
          <a:ln/>
        </p:spPr>
        <p:txBody>
          <a:bodyPr wrap="square" lIns="0" tIns="0" rIns="0" bIns="0" rtlCol="0" anchor="ctr"/>
          <a:lstStyle/>
          <a:p>
            <a:pPr algn="r" indent="0" marL="0">
              <a:buNone/>
            </a:pPr>
            <a:r>
              <a:rPr lang="en-US" sz="600" b="1" dirty="0">
                <a:solidFill>
                  <a:srgbClr val="2C8394"/>
                </a:solidFill>
                <a:latin typeface="Poppins" pitchFamily="34" charset="0"/>
                <a:ea typeface="Poppins" pitchFamily="34" charset="-122"/>
                <a:cs typeface="Poppins" pitchFamily="34" charset="-120"/>
              </a:rPr>
              <a:t>▲  NOT ORDER PLACED</a:t>
            </a:r>
            <a:endParaRPr lang="en-US" sz="600" dirty="0"/>
          </a:p>
        </p:txBody>
      </p:sp>
      <p:sp>
        <p:nvSpPr>
          <p:cNvPr id="55" name="Text 53"/>
          <p:cNvSpPr txBox="1"/>
          <p:nvPr/>
        </p:nvSpPr>
        <p:spPr>
          <a:xfrm>
            <a:off x="3977640" y="3703320"/>
            <a:ext cx="1600200" cy="155448"/>
          </a:xfrm>
          <a:prstGeom prst="rect">
            <a:avLst/>
          </a:prstGeom>
          <a:noFill/>
          <a:ln/>
        </p:spPr>
        <p:txBody>
          <a:bodyPr wrap="square" lIns="0" tIns="0" rIns="0" bIns="0" rtlCol="0" anchor="ctr"/>
          <a:lstStyle/>
          <a:p>
            <a:pPr algn="r" indent="0" marL="0">
              <a:buNone/>
            </a:pPr>
            <a:r>
              <a:rPr lang="en-US" sz="600" b="1" dirty="0">
                <a:solidFill>
                  <a:srgbClr val="3D8F5F"/>
                </a:solidFill>
                <a:latin typeface="Poppins" pitchFamily="34" charset="0"/>
                <a:ea typeface="Poppins" pitchFamily="34" charset="-122"/>
                <a:cs typeface="Poppins" pitchFamily="34" charset="-120"/>
              </a:rPr>
              <a:t>▼  ORDER PLACED</a:t>
            </a:r>
            <a:endParaRPr lang="en-US" sz="600" dirty="0"/>
          </a:p>
        </p:txBody>
      </p:sp>
      <p:sp>
        <p:nvSpPr>
          <p:cNvPr id="56" name="Text 54"/>
          <p:cNvSpPr txBox="1"/>
          <p:nvPr/>
        </p:nvSpPr>
        <p:spPr>
          <a:xfrm>
            <a:off x="667512" y="4517136"/>
            <a:ext cx="2743200" cy="182880"/>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ORDER PLACED VS NOT — SHARE</a:t>
            </a:r>
            <a:endParaRPr lang="en-US" sz="800" dirty="0"/>
          </a:p>
        </p:txBody>
      </p:sp>
      <p:sp>
        <p:nvSpPr>
          <p:cNvPr id="57" name="Text 55"/>
          <p:cNvSpPr txBox="1"/>
          <p:nvPr/>
        </p:nvSpPr>
        <p:spPr>
          <a:xfrm>
            <a:off x="667512" y="4754880"/>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VALUE</a:t>
            </a:r>
            <a:endParaRPr lang="en-US" sz="700" dirty="0"/>
          </a:p>
        </p:txBody>
      </p:sp>
      <p:sp>
        <p:nvSpPr>
          <p:cNvPr id="58" name="Shape 56"/>
          <p:cNvSpPr/>
          <p:nvPr/>
        </p:nvSpPr>
        <p:spPr>
          <a:xfrm>
            <a:off x="1828800" y="4800600"/>
            <a:ext cx="406736" cy="164592"/>
          </a:xfrm>
          <a:prstGeom prst="rect">
            <a:avLst/>
          </a:prstGeom>
          <a:solidFill>
            <a:srgbClr val="3D8F5F"/>
          </a:solidFill>
          <a:ln/>
        </p:spPr>
      </p:sp>
      <p:sp>
        <p:nvSpPr>
          <p:cNvPr id="59" name="Text 57"/>
          <p:cNvSpPr txBox="1"/>
          <p:nvPr/>
        </p:nvSpPr>
        <p:spPr>
          <a:xfrm>
            <a:off x="1828800" y="4782312"/>
            <a:ext cx="406736"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9%</a:t>
            </a:r>
            <a:endParaRPr lang="en-US" sz="650" dirty="0"/>
          </a:p>
        </p:txBody>
      </p:sp>
      <p:sp>
        <p:nvSpPr>
          <p:cNvPr id="60" name="Shape 58"/>
          <p:cNvSpPr/>
          <p:nvPr/>
        </p:nvSpPr>
        <p:spPr>
          <a:xfrm>
            <a:off x="2253824" y="4800600"/>
            <a:ext cx="3874492" cy="164592"/>
          </a:xfrm>
          <a:prstGeom prst="rect">
            <a:avLst/>
          </a:prstGeom>
          <a:solidFill>
            <a:srgbClr val="2C8394"/>
          </a:solidFill>
          <a:ln/>
        </p:spPr>
      </p:sp>
      <p:sp>
        <p:nvSpPr>
          <p:cNvPr id="61" name="Text 59"/>
          <p:cNvSpPr txBox="1"/>
          <p:nvPr/>
        </p:nvSpPr>
        <p:spPr>
          <a:xfrm>
            <a:off x="2253824" y="4782312"/>
            <a:ext cx="3874492"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81%</a:t>
            </a:r>
            <a:endParaRPr lang="en-US" sz="650" dirty="0"/>
          </a:p>
        </p:txBody>
      </p:sp>
      <p:sp>
        <p:nvSpPr>
          <p:cNvPr id="62" name="Shape 60"/>
          <p:cNvSpPr/>
          <p:nvPr/>
        </p:nvSpPr>
        <p:spPr>
          <a:xfrm>
            <a:off x="6146605" y="4800600"/>
            <a:ext cx="473651" cy="164592"/>
          </a:xfrm>
          <a:prstGeom prst="rect">
            <a:avLst/>
          </a:prstGeom>
          <a:solidFill>
            <a:srgbClr val="B4552D"/>
          </a:solidFill>
          <a:ln/>
        </p:spPr>
      </p:sp>
      <p:sp>
        <p:nvSpPr>
          <p:cNvPr id="63" name="Text 61"/>
          <p:cNvSpPr txBox="1"/>
          <p:nvPr/>
        </p:nvSpPr>
        <p:spPr>
          <a:xfrm>
            <a:off x="6146605" y="4782312"/>
            <a:ext cx="473651"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10%</a:t>
            </a:r>
            <a:endParaRPr lang="en-US" sz="650" dirty="0"/>
          </a:p>
        </p:txBody>
      </p:sp>
      <p:sp>
        <p:nvSpPr>
          <p:cNvPr id="64" name="Text 62"/>
          <p:cNvSpPr txBox="1"/>
          <p:nvPr/>
        </p:nvSpPr>
        <p:spPr>
          <a:xfrm>
            <a:off x="667512" y="5065776"/>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DEALS</a:t>
            </a:r>
            <a:endParaRPr lang="en-US" sz="700" dirty="0"/>
          </a:p>
        </p:txBody>
      </p:sp>
      <p:sp>
        <p:nvSpPr>
          <p:cNvPr id="65" name="Shape 63"/>
          <p:cNvSpPr/>
          <p:nvPr/>
        </p:nvSpPr>
        <p:spPr>
          <a:xfrm>
            <a:off x="1828800" y="5111496"/>
            <a:ext cx="695836" cy="164592"/>
          </a:xfrm>
          <a:prstGeom prst="rect">
            <a:avLst/>
          </a:prstGeom>
          <a:solidFill>
            <a:srgbClr val="3D8F5F"/>
          </a:solidFill>
          <a:ln/>
        </p:spPr>
      </p:sp>
      <p:sp>
        <p:nvSpPr>
          <p:cNvPr id="66" name="Text 64"/>
          <p:cNvSpPr txBox="1"/>
          <p:nvPr/>
        </p:nvSpPr>
        <p:spPr>
          <a:xfrm>
            <a:off x="1828800" y="5093208"/>
            <a:ext cx="695836"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15%</a:t>
            </a:r>
            <a:endParaRPr lang="en-US" sz="650" dirty="0"/>
          </a:p>
        </p:txBody>
      </p:sp>
      <p:sp>
        <p:nvSpPr>
          <p:cNvPr id="67" name="Shape 65"/>
          <p:cNvSpPr/>
          <p:nvPr/>
        </p:nvSpPr>
        <p:spPr>
          <a:xfrm>
            <a:off x="2542924" y="5111496"/>
            <a:ext cx="3711126" cy="164592"/>
          </a:xfrm>
          <a:prstGeom prst="rect">
            <a:avLst/>
          </a:prstGeom>
          <a:solidFill>
            <a:srgbClr val="2C8394"/>
          </a:solidFill>
          <a:ln/>
        </p:spPr>
      </p:sp>
      <p:sp>
        <p:nvSpPr>
          <p:cNvPr id="68" name="Text 66"/>
          <p:cNvSpPr txBox="1"/>
          <p:nvPr/>
        </p:nvSpPr>
        <p:spPr>
          <a:xfrm>
            <a:off x="2542924" y="5093208"/>
            <a:ext cx="3711126"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78%</a:t>
            </a:r>
            <a:endParaRPr lang="en-US" sz="650" dirty="0"/>
          </a:p>
        </p:txBody>
      </p:sp>
      <p:sp>
        <p:nvSpPr>
          <p:cNvPr id="69" name="Shape 67"/>
          <p:cNvSpPr/>
          <p:nvPr/>
        </p:nvSpPr>
        <p:spPr>
          <a:xfrm>
            <a:off x="6272338" y="5111496"/>
            <a:ext cx="347918" cy="164592"/>
          </a:xfrm>
          <a:prstGeom prst="rect">
            <a:avLst/>
          </a:prstGeom>
          <a:solidFill>
            <a:srgbClr val="B4552D"/>
          </a:solidFill>
          <a:ln/>
        </p:spPr>
      </p:sp>
      <p:sp>
        <p:nvSpPr>
          <p:cNvPr id="70" name="Text 68"/>
          <p:cNvSpPr txBox="1"/>
          <p:nvPr/>
        </p:nvSpPr>
        <p:spPr>
          <a:xfrm>
            <a:off x="6272338" y="5093208"/>
            <a:ext cx="347918"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7%</a:t>
            </a:r>
            <a:endParaRPr lang="en-US" sz="650" dirty="0"/>
          </a:p>
        </p:txBody>
      </p:sp>
      <p:sp>
        <p:nvSpPr>
          <p:cNvPr id="71" name="Shape 69"/>
          <p:cNvSpPr/>
          <p:nvPr/>
        </p:nvSpPr>
        <p:spPr>
          <a:xfrm>
            <a:off x="3657600" y="4562856"/>
            <a:ext cx="91440" cy="91440"/>
          </a:xfrm>
          <a:prstGeom prst="rect">
            <a:avLst/>
          </a:prstGeom>
          <a:solidFill>
            <a:srgbClr val="3D8F5F"/>
          </a:solidFill>
          <a:ln/>
        </p:spPr>
      </p:sp>
      <p:sp>
        <p:nvSpPr>
          <p:cNvPr id="72" name="Text 70"/>
          <p:cNvSpPr txBox="1"/>
          <p:nvPr/>
        </p:nvSpPr>
        <p:spPr>
          <a:xfrm>
            <a:off x="378561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Order placed</a:t>
            </a:r>
            <a:endParaRPr lang="en-US" sz="630" dirty="0"/>
          </a:p>
        </p:txBody>
      </p:sp>
      <p:sp>
        <p:nvSpPr>
          <p:cNvPr id="73" name="Shape 71"/>
          <p:cNvSpPr/>
          <p:nvPr/>
        </p:nvSpPr>
        <p:spPr>
          <a:xfrm>
            <a:off x="4754880" y="4562856"/>
            <a:ext cx="91440" cy="91440"/>
          </a:xfrm>
          <a:prstGeom prst="rect">
            <a:avLst/>
          </a:prstGeom>
          <a:solidFill>
            <a:srgbClr val="2C8394"/>
          </a:solidFill>
          <a:ln/>
        </p:spPr>
      </p:sp>
      <p:sp>
        <p:nvSpPr>
          <p:cNvPr id="74" name="Text 72"/>
          <p:cNvSpPr txBox="1"/>
          <p:nvPr/>
        </p:nvSpPr>
        <p:spPr>
          <a:xfrm>
            <a:off x="488289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Still open</a:t>
            </a:r>
            <a:endParaRPr lang="en-US" sz="630" dirty="0"/>
          </a:p>
        </p:txBody>
      </p:sp>
      <p:sp>
        <p:nvSpPr>
          <p:cNvPr id="75" name="Shape 73"/>
          <p:cNvSpPr/>
          <p:nvPr/>
        </p:nvSpPr>
        <p:spPr>
          <a:xfrm>
            <a:off x="5852160" y="4562856"/>
            <a:ext cx="91440" cy="91440"/>
          </a:xfrm>
          <a:prstGeom prst="rect">
            <a:avLst/>
          </a:prstGeom>
          <a:solidFill>
            <a:srgbClr val="B4552D"/>
          </a:solidFill>
          <a:ln/>
        </p:spPr>
      </p:sp>
      <p:sp>
        <p:nvSpPr>
          <p:cNvPr id="76" name="Text 74"/>
          <p:cNvSpPr txBox="1"/>
          <p:nvPr/>
        </p:nvSpPr>
        <p:spPr>
          <a:xfrm>
            <a:off x="598017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Closed lost</a:t>
            </a:r>
            <a:endParaRPr lang="en-US" sz="630" dirty="0"/>
          </a:p>
        </p:txBody>
      </p:sp>
      <p:sp>
        <p:nvSpPr>
          <p:cNvPr id="77" name="Shape 75"/>
          <p:cNvSpPr/>
          <p:nvPr/>
        </p:nvSpPr>
        <p:spPr>
          <a:xfrm>
            <a:off x="7452360" y="2212848"/>
            <a:ext cx="4325112" cy="1828800"/>
          </a:xfrm>
          <a:prstGeom prst="roundRect">
            <a:avLst>
              <a:gd name="adj" fmla="val 3500"/>
            </a:avLst>
          </a:prstGeom>
          <a:solidFill>
            <a:srgbClr val="FFFFFF"/>
          </a:solidFill>
          <a:ln/>
          <a:effectLst>
            <a:outerShdw sx="100000" sy="100000" kx="0" ky="0" algn="bl" rotWithShape="0" blurRad="76200" dist="25400" dir="5400000">
              <a:srgbClr val="9AAAB5">
                <a:alpha val="35000"/>
              </a:srgbClr>
            </a:outerShdw>
          </a:effectLst>
        </p:spPr>
      </p:sp>
      <p:sp>
        <p:nvSpPr>
          <p:cNvPr id="78" name="Text 76"/>
          <p:cNvSpPr txBox="1"/>
          <p:nvPr/>
        </p:nvSpPr>
        <p:spPr>
          <a:xfrm>
            <a:off x="7653528" y="2322576"/>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BY PRODUCT</a:t>
            </a:r>
            <a:endParaRPr lang="en-US" sz="1200" dirty="0"/>
          </a:p>
        </p:txBody>
      </p:sp>
      <p:sp>
        <p:nvSpPr>
          <p:cNvPr id="79" name="Text 77"/>
          <p:cNvSpPr txBox="1"/>
          <p:nvPr/>
        </p:nvSpPr>
        <p:spPr>
          <a:xfrm>
            <a:off x="7653528" y="2596896"/>
            <a:ext cx="18745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PRODUCT</a:t>
            </a:r>
            <a:endParaRPr lang="en-US" sz="650" dirty="0"/>
          </a:p>
        </p:txBody>
      </p:sp>
      <p:sp>
        <p:nvSpPr>
          <p:cNvPr id="80" name="Text 78"/>
          <p:cNvSpPr txBox="1"/>
          <p:nvPr/>
        </p:nvSpPr>
        <p:spPr>
          <a:xfrm>
            <a:off x="960120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OPEN</a:t>
            </a:r>
            <a:endParaRPr lang="en-US" sz="650" dirty="0"/>
          </a:p>
        </p:txBody>
      </p:sp>
      <p:sp>
        <p:nvSpPr>
          <p:cNvPr id="81" name="Text 79"/>
          <p:cNvSpPr txBox="1"/>
          <p:nvPr/>
        </p:nvSpPr>
        <p:spPr>
          <a:xfrm>
            <a:off x="1033272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PLACED</a:t>
            </a:r>
            <a:endParaRPr lang="en-US" sz="650" dirty="0"/>
          </a:p>
        </p:txBody>
      </p:sp>
      <p:sp>
        <p:nvSpPr>
          <p:cNvPr id="82" name="Text 80"/>
          <p:cNvSpPr txBox="1"/>
          <p:nvPr/>
        </p:nvSpPr>
        <p:spPr>
          <a:xfrm>
            <a:off x="11064240" y="2596896"/>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LOST</a:t>
            </a:r>
            <a:endParaRPr lang="en-US" sz="650" dirty="0"/>
          </a:p>
        </p:txBody>
      </p:sp>
      <p:sp>
        <p:nvSpPr>
          <p:cNvPr id="83" name="Text 81"/>
          <p:cNvSpPr txBox="1"/>
          <p:nvPr/>
        </p:nvSpPr>
        <p:spPr>
          <a:xfrm>
            <a:off x="7653528" y="2798064"/>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H&amp;L ROAM Monthly</a:t>
            </a:r>
            <a:endParaRPr lang="en-US" sz="750" dirty="0"/>
          </a:p>
        </p:txBody>
      </p:sp>
      <p:sp>
        <p:nvSpPr>
          <p:cNvPr id="84" name="Text 82"/>
          <p:cNvSpPr txBox="1"/>
          <p:nvPr/>
        </p:nvSpPr>
        <p:spPr>
          <a:xfrm>
            <a:off x="7653528" y="2935224"/>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$29–31/unit/mo · most volume</a:t>
            </a:r>
            <a:endParaRPr lang="en-US" sz="530" dirty="0"/>
          </a:p>
        </p:txBody>
      </p:sp>
      <p:sp>
        <p:nvSpPr>
          <p:cNvPr id="85" name="Text 83"/>
          <p:cNvSpPr txBox="1"/>
          <p:nvPr/>
        </p:nvSpPr>
        <p:spPr>
          <a:xfrm>
            <a:off x="9601200" y="2798064"/>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US$1,251</a:t>
            </a:r>
            <a:endParaRPr lang="en-US" sz="750" dirty="0"/>
          </a:p>
        </p:txBody>
      </p:sp>
      <p:sp>
        <p:nvSpPr>
          <p:cNvPr id="86" name="Text 84"/>
          <p:cNvSpPr txBox="1"/>
          <p:nvPr/>
        </p:nvSpPr>
        <p:spPr>
          <a:xfrm>
            <a:off x="10332720" y="2798064"/>
            <a:ext cx="658368"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US$221</a:t>
            </a:r>
            <a:endParaRPr lang="en-US" sz="750" dirty="0"/>
          </a:p>
        </p:txBody>
      </p:sp>
      <p:sp>
        <p:nvSpPr>
          <p:cNvPr id="87" name="Text 85"/>
          <p:cNvSpPr txBox="1"/>
          <p:nvPr/>
        </p:nvSpPr>
        <p:spPr>
          <a:xfrm>
            <a:off x="11064240" y="2798064"/>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US$44</a:t>
            </a:r>
            <a:endParaRPr lang="en-US" sz="750" dirty="0"/>
          </a:p>
        </p:txBody>
      </p:sp>
      <p:sp>
        <p:nvSpPr>
          <p:cNvPr id="88" name="Text 86"/>
          <p:cNvSpPr txBox="1"/>
          <p:nvPr/>
        </p:nvSpPr>
        <p:spPr>
          <a:xfrm>
            <a:off x="7653528" y="3099816"/>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Sentinel Reporting</a:t>
            </a:r>
            <a:endParaRPr lang="en-US" sz="750" dirty="0"/>
          </a:p>
        </p:txBody>
      </p:sp>
      <p:sp>
        <p:nvSpPr>
          <p:cNvPr id="89" name="Text 87"/>
          <p:cNvSpPr txBox="1"/>
          <p:nvPr/>
        </p:nvSpPr>
        <p:spPr>
          <a:xfrm>
            <a:off x="7653528" y="3236976"/>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$299/unit licence · no orders yet</a:t>
            </a:r>
            <a:endParaRPr lang="en-US" sz="530" dirty="0"/>
          </a:p>
        </p:txBody>
      </p:sp>
      <p:sp>
        <p:nvSpPr>
          <p:cNvPr id="90" name="Text 88"/>
          <p:cNvSpPr txBox="1"/>
          <p:nvPr/>
        </p:nvSpPr>
        <p:spPr>
          <a:xfrm>
            <a:off x="9601200" y="3099816"/>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US$852</a:t>
            </a:r>
            <a:endParaRPr lang="en-US" sz="750" dirty="0"/>
          </a:p>
        </p:txBody>
      </p:sp>
      <p:sp>
        <p:nvSpPr>
          <p:cNvPr id="91" name="Text 89"/>
          <p:cNvSpPr txBox="1"/>
          <p:nvPr/>
        </p:nvSpPr>
        <p:spPr>
          <a:xfrm>
            <a:off x="10332720" y="3099816"/>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2" name="Text 90"/>
          <p:cNvSpPr txBox="1"/>
          <p:nvPr/>
        </p:nvSpPr>
        <p:spPr>
          <a:xfrm>
            <a:off x="11064240" y="3099816"/>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US$213</a:t>
            </a:r>
            <a:endParaRPr lang="en-US" sz="750" dirty="0"/>
          </a:p>
        </p:txBody>
      </p:sp>
      <p:sp>
        <p:nvSpPr>
          <p:cNvPr id="93" name="Text 91"/>
          <p:cNvSpPr txBox="1"/>
          <p:nvPr/>
        </p:nvSpPr>
        <p:spPr>
          <a:xfrm>
            <a:off x="7653528" y="3401568"/>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QR Ordering (OrderNow)</a:t>
            </a:r>
            <a:endParaRPr lang="en-US" sz="750" dirty="0"/>
          </a:p>
        </p:txBody>
      </p:sp>
      <p:sp>
        <p:nvSpPr>
          <p:cNvPr id="94" name="Text 92"/>
          <p:cNvSpPr txBox="1"/>
          <p:nvPr/>
        </p:nvSpPr>
        <p:spPr>
          <a:xfrm>
            <a:off x="7653528" y="3538728"/>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every line priced $0 — value understated</a:t>
            </a:r>
            <a:endParaRPr lang="en-US" sz="530" dirty="0"/>
          </a:p>
        </p:txBody>
      </p:sp>
      <p:sp>
        <p:nvSpPr>
          <p:cNvPr id="95" name="Text 93"/>
          <p:cNvSpPr txBox="1"/>
          <p:nvPr/>
        </p:nvSpPr>
        <p:spPr>
          <a:xfrm>
            <a:off x="960120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6" name="Text 94"/>
          <p:cNvSpPr txBox="1"/>
          <p:nvPr/>
        </p:nvSpPr>
        <p:spPr>
          <a:xfrm>
            <a:off x="1033272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7" name="Text 95"/>
          <p:cNvSpPr txBox="1"/>
          <p:nvPr/>
        </p:nvSpPr>
        <p:spPr>
          <a:xfrm>
            <a:off x="11064240" y="3401568"/>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8" name="Text 96"/>
          <p:cNvSpPr txBox="1"/>
          <p:nvPr/>
        </p:nvSpPr>
        <p:spPr>
          <a:xfrm>
            <a:off x="7653528" y="3703320"/>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H&amp;L ROAM Annual</a:t>
            </a:r>
            <a:endParaRPr lang="en-US" sz="750" dirty="0"/>
          </a:p>
        </p:txBody>
      </p:sp>
      <p:sp>
        <p:nvSpPr>
          <p:cNvPr id="99" name="Text 97"/>
          <p:cNvSpPr txBox="1"/>
          <p:nvPr/>
        </p:nvSpPr>
        <p:spPr>
          <a:xfrm>
            <a:off x="7653528" y="3840480"/>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flagged but no line items anywhere</a:t>
            </a:r>
            <a:endParaRPr lang="en-US" sz="530" dirty="0"/>
          </a:p>
        </p:txBody>
      </p:sp>
      <p:sp>
        <p:nvSpPr>
          <p:cNvPr id="100" name="Text 98"/>
          <p:cNvSpPr txBox="1"/>
          <p:nvPr/>
        </p:nvSpPr>
        <p:spPr>
          <a:xfrm>
            <a:off x="960120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1" name="Text 99"/>
          <p:cNvSpPr txBox="1"/>
          <p:nvPr/>
        </p:nvSpPr>
        <p:spPr>
          <a:xfrm>
            <a:off x="1033272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2" name="Text 100"/>
          <p:cNvSpPr txBox="1"/>
          <p:nvPr/>
        </p:nvSpPr>
        <p:spPr>
          <a:xfrm>
            <a:off x="11064240" y="3703320"/>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3" name="Shape 101"/>
          <p:cNvSpPr/>
          <p:nvPr/>
        </p:nvSpPr>
        <p:spPr>
          <a:xfrm>
            <a:off x="7452360" y="4169664"/>
            <a:ext cx="4325112" cy="1078992"/>
          </a:xfrm>
          <a:prstGeom prst="roundRect">
            <a:avLst>
              <a:gd name="adj" fmla="val 5932"/>
            </a:avLst>
          </a:prstGeom>
          <a:solidFill>
            <a:srgbClr val="FFFFFF"/>
          </a:solidFill>
          <a:ln/>
          <a:effectLst>
            <a:outerShdw sx="100000" sy="100000" kx="0" ky="0" algn="bl" rotWithShape="0" blurRad="76200" dist="25400" dir="5400000">
              <a:srgbClr val="9AAAB5">
                <a:alpha val="35000"/>
              </a:srgbClr>
            </a:outerShdw>
          </a:effectLst>
        </p:spPr>
      </p:sp>
      <p:sp>
        <p:nvSpPr>
          <p:cNvPr id="104" name="Text 102"/>
          <p:cNvSpPr txBox="1"/>
          <p:nvPr/>
        </p:nvSpPr>
        <p:spPr>
          <a:xfrm>
            <a:off x="7653528" y="4242816"/>
            <a:ext cx="3922776" cy="201168"/>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ANNUALISED VIEW</a:t>
            </a:r>
            <a:endParaRPr lang="en-US" sz="900" dirty="0"/>
          </a:p>
        </p:txBody>
      </p:sp>
      <p:sp>
        <p:nvSpPr>
          <p:cNvPr id="105" name="Text 103"/>
          <p:cNvSpPr txBox="1"/>
          <p:nvPr/>
        </p:nvSpPr>
        <p:spPr>
          <a:xfrm>
            <a:off x="7653528" y="4462272"/>
            <a:ext cx="1600200" cy="384048"/>
          </a:xfrm>
          <a:prstGeom prst="rect">
            <a:avLst/>
          </a:prstGeom>
          <a:noFill/>
          <a:ln/>
        </p:spPr>
        <p:txBody>
          <a:bodyPr wrap="square" lIns="0" tIns="0" rIns="0" bIns="0" rtlCol="0" anchor="ctr"/>
          <a:lstStyle/>
          <a:p>
            <a:pPr indent="0" marL="0">
              <a:buNone/>
            </a:pPr>
            <a:r>
              <a:rPr lang="en-US" sz="1800" b="1" dirty="0">
                <a:solidFill>
                  <a:srgbClr val="2C8394"/>
                </a:solidFill>
                <a:latin typeface="Poppins" pitchFamily="34" charset="0"/>
                <a:ea typeface="Poppins" pitchFamily="34" charset="-122"/>
                <a:cs typeface="Poppins" pitchFamily="34" charset="-120"/>
              </a:rPr>
              <a:t>US$15,016</a:t>
            </a:r>
            <a:endParaRPr lang="en-US" sz="1800" dirty="0"/>
          </a:p>
        </p:txBody>
      </p:sp>
      <p:sp>
        <p:nvSpPr>
          <p:cNvPr id="106" name="Text 104"/>
          <p:cNvSpPr txBox="1"/>
          <p:nvPr/>
        </p:nvSpPr>
        <p:spPr>
          <a:xfrm>
            <a:off x="9326880" y="4443984"/>
            <a:ext cx="2221992" cy="45720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open ROAM pipeline at ×12 (A$21,084) — the contract value behind the US$2,103 of monthly lines</a:t>
            </a:r>
            <a:endParaRPr lang="en-US" sz="700" dirty="0"/>
          </a:p>
        </p:txBody>
      </p:sp>
      <p:sp>
        <p:nvSpPr>
          <p:cNvPr id="107" name="Text 105"/>
          <p:cNvSpPr txBox="1"/>
          <p:nvPr/>
        </p:nvSpPr>
        <p:spPr>
          <a:xfrm>
            <a:off x="7653528" y="4901184"/>
            <a:ext cx="3922776" cy="274320"/>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AUD→USD 0.7122 (mid-market close 20 Sep 2026) — rate not refreshed this week; HubSpot holds no USD field</a:t>
            </a:r>
            <a:endParaRPr lang="en-US" sz="580" dirty="0"/>
          </a:p>
        </p:txBody>
      </p:sp>
      <p:sp>
        <p:nvSpPr>
          <p:cNvPr id="108" name="Shape 106"/>
          <p:cNvSpPr/>
          <p:nvPr/>
        </p:nvSpPr>
        <p:spPr>
          <a:xfrm>
            <a:off x="411480" y="5504688"/>
            <a:ext cx="11365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109" name="Text 107"/>
          <p:cNvSpPr txBox="1"/>
          <p:nvPr/>
        </p:nvSpPr>
        <p:spPr>
          <a:xfrm>
            <a:off x="612648" y="5614416"/>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10" name="Text 108"/>
          <p:cNvSpPr txBox="1"/>
          <p:nvPr/>
        </p:nvSpPr>
        <p:spPr>
          <a:xfrm>
            <a:off x="612648" y="5925312"/>
            <a:ext cx="10954512" cy="347472"/>
          </a:xfrm>
          <a:prstGeom prst="rect">
            <a:avLst/>
          </a:prstGeom>
          <a:noFill/>
          <a:ln/>
        </p:spPr>
        <p:txBody>
          <a:bodyPr wrap="square" lIns="0" tIns="0" rIns="0" bIns="0" rtlCol="0" anchor="t"/>
          <a:lstStyle/>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Conversion is real but tiny.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6 orders placed since 1 Jul (US$221) against 3 lost — 67% by count, 46% by value. All of it is ROAM; Sentinel has US$852 in play and no order yet.</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book is stuck mid-funnel: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US$2,018 of the US$2,103 open sits in Quote Sent and Negotiation across 30 deals — the movement to chase is quote-to-order, not top-of-funnel.</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QR Ordering is priced $0 on every line, so its value reads nil · ROAM lines are one month, not contract value.</a:t>
            </a:r>
            <a:endParaRPr lang="en-US" sz="900" dirty="0"/>
          </a:p>
        </p:txBody>
      </p:sp>
      <p:sp>
        <p:nvSpPr>
          <p:cNvPr id="111" name="Shape 109"/>
          <p:cNvSpPr/>
          <p:nvPr/>
        </p:nvSpPr>
        <p:spPr>
          <a:xfrm>
            <a:off x="7585862" y="6510528"/>
            <a:ext cx="4191610" cy="256032"/>
          </a:xfrm>
          <a:prstGeom prst="roundRect">
            <a:avLst>
              <a:gd name="adj" fmla="val 46429"/>
            </a:avLst>
          </a:prstGeom>
          <a:solidFill>
            <a:srgbClr val="12293A"/>
          </a:solidFill>
          <a:ln/>
        </p:spPr>
      </p:sp>
      <p:sp>
        <p:nvSpPr>
          <p:cNvPr id="112" name="Text 110"/>
          <p:cNvSpPr txBox="1"/>
          <p:nvPr/>
        </p:nvSpPr>
        <p:spPr>
          <a:xfrm>
            <a:off x="7585862" y="6510528"/>
            <a:ext cx="419161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line items · products flagged ai_infused (live)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H&amp;L Pay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REFERRALS GIVEN — ALL-TIME</a:t>
            </a:r>
            <a:endParaRPr lang="en-US" sz="950" dirty="0"/>
          </a:p>
        </p:txBody>
      </p:sp>
      <p:sp>
        <p:nvSpPr>
          <p:cNvPr id="15" name="Text 13"/>
          <p:cNvSpPr txBox="1"/>
          <p:nvPr/>
        </p:nvSpPr>
        <p:spPr>
          <a:xfrm>
            <a:off x="557784" y="1243584"/>
            <a:ext cx="3456432" cy="292608"/>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34</a:t>
            </a:r>
            <a:endParaRPr lang="en-US" sz="2600" dirty="0"/>
          </a:p>
        </p:txBody>
      </p:sp>
      <p:sp>
        <p:nvSpPr>
          <p:cNvPr id="16" name="Text 14"/>
          <p:cNvSpPr txBox="1"/>
          <p:nvPr/>
        </p:nvSpPr>
        <p:spPr>
          <a:xfrm>
            <a:off x="5760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tagged referred deals in the partner pipeline</a:t>
            </a:r>
            <a:endParaRPr lang="en-US" sz="780" dirty="0"/>
          </a:p>
        </p:txBody>
      </p:sp>
      <p:sp>
        <p:nvSpPr>
          <p:cNvPr id="17" name="Text 15"/>
          <p:cNvSpPr txBox="1"/>
          <p:nvPr/>
        </p:nvSpPr>
        <p:spPr>
          <a:xfrm>
            <a:off x="2377440" y="1042416"/>
            <a:ext cx="1600200" cy="182880"/>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7 this qtr · 11 last</a:t>
            </a:r>
            <a:endParaRPr lang="en-US" sz="750" dirty="0"/>
          </a:p>
        </p:txBody>
      </p:sp>
      <p:sp>
        <p:nvSpPr>
          <p:cNvPr id="18" name="Shape 16"/>
          <p:cNvSpPr/>
          <p:nvPr/>
        </p:nvSpPr>
        <p:spPr>
          <a:xfrm>
            <a:off x="42976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9" name="Text 17"/>
          <p:cNvSpPr txBox="1"/>
          <p:nvPr/>
        </p:nvSpPr>
        <p:spPr>
          <a:xfrm>
            <a:off x="44622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GMV — SIGNED</a:t>
            </a:r>
            <a:endParaRPr lang="en-US" sz="950" dirty="0"/>
          </a:p>
        </p:txBody>
      </p:sp>
      <p:sp>
        <p:nvSpPr>
          <p:cNvPr id="20" name="Text 18"/>
          <p:cNvSpPr txBox="1"/>
          <p:nvPr/>
        </p:nvSpPr>
        <p:spPr>
          <a:xfrm>
            <a:off x="4443984" y="1243584"/>
            <a:ext cx="3456432"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$38M</a:t>
            </a:r>
            <a:endParaRPr lang="en-US" sz="2600" dirty="0"/>
          </a:p>
        </p:txBody>
      </p:sp>
      <p:sp>
        <p:nvSpPr>
          <p:cNvPr id="21" name="Text 19"/>
          <p:cNvSpPr txBox="1"/>
          <p:nvPr/>
        </p:nvSpPr>
        <p:spPr>
          <a:xfrm>
            <a:off x="44622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14 deals won · 2 venues live &amp; billing</a:t>
            </a:r>
            <a:endParaRPr lang="en-US" sz="780" dirty="0"/>
          </a:p>
        </p:txBody>
      </p:sp>
      <p:sp>
        <p:nvSpPr>
          <p:cNvPr id="22" name="Text 20"/>
          <p:cNvSpPr txBox="1"/>
          <p:nvPr/>
        </p:nvSpPr>
        <p:spPr>
          <a:xfrm>
            <a:off x="6263640" y="1042416"/>
            <a:ext cx="1600200"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39% of all wins</a:t>
            </a:r>
            <a:endParaRPr lang="en-US" sz="750" dirty="0"/>
          </a:p>
        </p:txBody>
      </p:sp>
      <p:sp>
        <p:nvSpPr>
          <p:cNvPr id="23" name="Shape 21"/>
          <p:cNvSpPr/>
          <p:nvPr/>
        </p:nvSpPr>
        <p:spPr>
          <a:xfrm>
            <a:off x="8183880" y="969264"/>
            <a:ext cx="35935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348472" y="1060704"/>
            <a:ext cx="32644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 OPEN PIPELINE</a:t>
            </a:r>
            <a:endParaRPr lang="en-US" sz="950" dirty="0"/>
          </a:p>
        </p:txBody>
      </p:sp>
      <p:sp>
        <p:nvSpPr>
          <p:cNvPr id="25" name="Text 23"/>
          <p:cNvSpPr txBox="1"/>
          <p:nvPr/>
        </p:nvSpPr>
        <p:spPr>
          <a:xfrm>
            <a:off x="8330184" y="1243584"/>
            <a:ext cx="3300984"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$245M</a:t>
            </a:r>
            <a:endParaRPr lang="en-US" sz="2600" dirty="0"/>
          </a:p>
        </p:txBody>
      </p:sp>
      <p:sp>
        <p:nvSpPr>
          <p:cNvPr id="26" name="Text 24"/>
          <p:cNvSpPr txBox="1"/>
          <p:nvPr/>
        </p:nvSpPr>
        <p:spPr>
          <a:xfrm>
            <a:off x="8348472" y="1572768"/>
            <a:ext cx="3264408"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19 referred deals in negotiation</a:t>
            </a:r>
            <a:endParaRPr lang="en-US" sz="780" dirty="0"/>
          </a:p>
        </p:txBody>
      </p:sp>
      <p:sp>
        <p:nvSpPr>
          <p:cNvPr id="27" name="Shape 25"/>
          <p:cNvSpPr/>
          <p:nvPr/>
        </p:nvSpPr>
        <p:spPr>
          <a:xfrm>
            <a:off x="411480" y="2139696"/>
            <a:ext cx="6949440"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249424"/>
            <a:ext cx="64922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IDENTIFIED BY H&amp;L → REFERRED → SIGNED</a:t>
            </a:r>
            <a:endParaRPr lang="en-US" sz="1200" dirty="0"/>
          </a:p>
        </p:txBody>
      </p:sp>
      <p:sp>
        <p:nvSpPr>
          <p:cNvPr id="29" name="Shape 27"/>
          <p:cNvSpPr/>
          <p:nvPr/>
        </p:nvSpPr>
        <p:spPr>
          <a:xfrm>
            <a:off x="612648" y="2542032"/>
            <a:ext cx="1371600" cy="566928"/>
          </a:xfrm>
          <a:prstGeom prst="homePlate">
            <a:avLst/>
          </a:prstGeom>
          <a:solidFill>
            <a:srgbClr val="24435C"/>
          </a:solidFill>
          <a:ln/>
        </p:spPr>
      </p:sp>
      <p:sp>
        <p:nvSpPr>
          <p:cNvPr id="30" name="Text 28"/>
          <p:cNvSpPr txBox="1"/>
          <p:nvPr/>
        </p:nvSpPr>
        <p:spPr>
          <a:xfrm>
            <a:off x="72237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IDENTIFIED</a:t>
            </a:r>
            <a:endParaRPr lang="en-US" sz="550" dirty="0"/>
          </a:p>
        </p:txBody>
      </p:sp>
      <p:sp>
        <p:nvSpPr>
          <p:cNvPr id="31" name="Text 29"/>
          <p:cNvSpPr txBox="1"/>
          <p:nvPr/>
        </p:nvSpPr>
        <p:spPr>
          <a:xfrm>
            <a:off x="72237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2" name="Text 30"/>
          <p:cNvSpPr txBox="1"/>
          <p:nvPr/>
        </p:nvSpPr>
        <p:spPr>
          <a:xfrm>
            <a:off x="64922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32 unique venues · register</a:t>
            </a:r>
            <a:endParaRPr lang="en-US" sz="550" dirty="0"/>
          </a:p>
        </p:txBody>
      </p:sp>
      <p:sp>
        <p:nvSpPr>
          <p:cNvPr id="33" name="Shape 31"/>
          <p:cNvSpPr/>
          <p:nvPr/>
        </p:nvSpPr>
        <p:spPr>
          <a:xfrm>
            <a:off x="1874520" y="2542032"/>
            <a:ext cx="1371600" cy="566928"/>
          </a:xfrm>
          <a:prstGeom prst="chevron">
            <a:avLst/>
          </a:prstGeom>
          <a:solidFill>
            <a:srgbClr val="3A6472"/>
          </a:solidFill>
          <a:ln/>
        </p:spPr>
      </p:sp>
      <p:sp>
        <p:nvSpPr>
          <p:cNvPr id="34" name="Text 32"/>
          <p:cNvSpPr txBox="1"/>
          <p:nvPr/>
        </p:nvSpPr>
        <p:spPr>
          <a:xfrm>
            <a:off x="2112264"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REFERRED</a:t>
            </a:r>
            <a:endParaRPr lang="en-US" sz="550" dirty="0"/>
          </a:p>
        </p:txBody>
      </p:sp>
      <p:sp>
        <p:nvSpPr>
          <p:cNvPr id="35" name="Text 33"/>
          <p:cNvSpPr txBox="1"/>
          <p:nvPr/>
        </p:nvSpPr>
        <p:spPr>
          <a:xfrm>
            <a:off x="2112264"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6" name="Text 34"/>
          <p:cNvSpPr txBox="1"/>
          <p:nvPr/>
        </p:nvSpPr>
        <p:spPr>
          <a:xfrm>
            <a:off x="2039112"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$285M GMV tagged</a:t>
            </a:r>
            <a:endParaRPr lang="en-US" sz="550" dirty="0"/>
          </a:p>
        </p:txBody>
      </p:sp>
      <p:sp>
        <p:nvSpPr>
          <p:cNvPr id="37" name="Shape 35"/>
          <p:cNvSpPr/>
          <p:nvPr/>
        </p:nvSpPr>
        <p:spPr>
          <a:xfrm>
            <a:off x="3136392" y="2542032"/>
            <a:ext cx="1371600" cy="566928"/>
          </a:xfrm>
          <a:prstGeom prst="chevron">
            <a:avLst/>
          </a:prstGeom>
          <a:solidFill>
            <a:srgbClr val="2C8394"/>
          </a:solidFill>
          <a:ln/>
        </p:spPr>
      </p:sp>
      <p:sp>
        <p:nvSpPr>
          <p:cNvPr id="38" name="Text 36"/>
          <p:cNvSpPr txBox="1"/>
          <p:nvPr/>
        </p:nvSpPr>
        <p:spPr>
          <a:xfrm>
            <a:off x="337413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OPEN</a:t>
            </a:r>
            <a:endParaRPr lang="en-US" sz="550" dirty="0"/>
          </a:p>
        </p:txBody>
      </p:sp>
      <p:sp>
        <p:nvSpPr>
          <p:cNvPr id="39" name="Text 37"/>
          <p:cNvSpPr txBox="1"/>
          <p:nvPr/>
        </p:nvSpPr>
        <p:spPr>
          <a:xfrm>
            <a:off x="337413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19</a:t>
            </a:r>
            <a:endParaRPr lang="en-US" sz="1600" dirty="0"/>
          </a:p>
        </p:txBody>
      </p:sp>
      <p:sp>
        <p:nvSpPr>
          <p:cNvPr id="40" name="Text 38"/>
          <p:cNvSpPr txBox="1"/>
          <p:nvPr/>
        </p:nvSpPr>
        <p:spPr>
          <a:xfrm>
            <a:off x="330098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$245M negotiating</a:t>
            </a:r>
            <a:endParaRPr lang="en-US" sz="550" dirty="0"/>
          </a:p>
        </p:txBody>
      </p:sp>
      <p:sp>
        <p:nvSpPr>
          <p:cNvPr id="41" name="Shape 39"/>
          <p:cNvSpPr/>
          <p:nvPr/>
        </p:nvSpPr>
        <p:spPr>
          <a:xfrm>
            <a:off x="4398264" y="2542032"/>
            <a:ext cx="1371600" cy="566928"/>
          </a:xfrm>
          <a:prstGeom prst="chevron">
            <a:avLst/>
          </a:prstGeom>
          <a:solidFill>
            <a:srgbClr val="3D8F5F"/>
          </a:solidFill>
          <a:ln/>
        </p:spPr>
      </p:sp>
      <p:sp>
        <p:nvSpPr>
          <p:cNvPr id="42" name="Text 40"/>
          <p:cNvSpPr txBox="1"/>
          <p:nvPr/>
        </p:nvSpPr>
        <p:spPr>
          <a:xfrm>
            <a:off x="4636008"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WON</a:t>
            </a:r>
            <a:endParaRPr lang="en-US" sz="550" dirty="0"/>
          </a:p>
        </p:txBody>
      </p:sp>
      <p:sp>
        <p:nvSpPr>
          <p:cNvPr id="43" name="Text 41"/>
          <p:cNvSpPr txBox="1"/>
          <p:nvPr/>
        </p:nvSpPr>
        <p:spPr>
          <a:xfrm>
            <a:off x="4636008"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14</a:t>
            </a:r>
            <a:endParaRPr lang="en-US" sz="1600" dirty="0"/>
          </a:p>
        </p:txBody>
      </p:sp>
      <p:sp>
        <p:nvSpPr>
          <p:cNvPr id="44" name="Text 42"/>
          <p:cNvSpPr txBox="1"/>
          <p:nvPr/>
        </p:nvSpPr>
        <p:spPr>
          <a:xfrm>
            <a:off x="4562856"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$38M signed</a:t>
            </a:r>
            <a:endParaRPr lang="en-US" sz="550" dirty="0"/>
          </a:p>
        </p:txBody>
      </p:sp>
      <p:sp>
        <p:nvSpPr>
          <p:cNvPr id="45" name="Shape 43"/>
          <p:cNvSpPr/>
          <p:nvPr/>
        </p:nvSpPr>
        <p:spPr>
          <a:xfrm>
            <a:off x="5660136" y="2542032"/>
            <a:ext cx="1371600" cy="566928"/>
          </a:xfrm>
          <a:prstGeom prst="chevron">
            <a:avLst/>
          </a:prstGeom>
          <a:solidFill>
            <a:srgbClr val="5B7C8A"/>
          </a:solidFill>
          <a:ln/>
        </p:spPr>
      </p:sp>
      <p:sp>
        <p:nvSpPr>
          <p:cNvPr id="46" name="Text 44"/>
          <p:cNvSpPr txBox="1"/>
          <p:nvPr/>
        </p:nvSpPr>
        <p:spPr>
          <a:xfrm>
            <a:off x="5897880"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SHARE OF WINS</a:t>
            </a:r>
            <a:endParaRPr lang="en-US" sz="550" dirty="0"/>
          </a:p>
        </p:txBody>
      </p:sp>
      <p:sp>
        <p:nvSpPr>
          <p:cNvPr id="47" name="Text 45"/>
          <p:cNvSpPr txBox="1"/>
          <p:nvPr/>
        </p:nvSpPr>
        <p:spPr>
          <a:xfrm>
            <a:off x="5897880"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39%</a:t>
            </a:r>
            <a:endParaRPr lang="en-US" sz="1600" dirty="0"/>
          </a:p>
        </p:txBody>
      </p:sp>
      <p:sp>
        <p:nvSpPr>
          <p:cNvPr id="48" name="Text 46"/>
          <p:cNvSpPr txBox="1"/>
          <p:nvPr/>
        </p:nvSpPr>
        <p:spPr>
          <a:xfrm>
            <a:off x="5824728"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of $98M signed</a:t>
            </a:r>
            <a:endParaRPr lang="en-US" sz="550" dirty="0"/>
          </a:p>
        </p:txBody>
      </p:sp>
      <p:sp>
        <p:nvSpPr>
          <p:cNvPr id="49" name="Text 47"/>
          <p:cNvSpPr txBox="1"/>
          <p:nvPr/>
        </p:nvSpPr>
        <p:spPr>
          <a:xfrm>
            <a:off x="612648" y="3383280"/>
            <a:ext cx="3291840" cy="182880"/>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REFERRAL FLOW — WHEN REFERRALS WERE GIVEN</a:t>
            </a:r>
            <a:endParaRPr lang="en-US" sz="850" dirty="0"/>
          </a:p>
        </p:txBody>
      </p:sp>
      <p:sp>
        <p:nvSpPr>
          <p:cNvPr id="50" name="Text 48"/>
          <p:cNvSpPr txBox="1"/>
          <p:nvPr/>
        </p:nvSpPr>
        <p:spPr>
          <a:xfrm>
            <a:off x="3886200" y="3383280"/>
            <a:ext cx="3200400" cy="182880"/>
          </a:xfrm>
          <a:prstGeom prst="rect">
            <a:avLst/>
          </a:prstGeom>
          <a:noFill/>
          <a:ln/>
        </p:spPr>
        <p:txBody>
          <a:bodyPr wrap="square" lIns="0" tIns="0" rIns="0" bIns="0" rtlCol="0" anchor="ctr"/>
          <a:lstStyle/>
          <a:p>
            <a:pPr algn="r" indent="0" marL="0">
              <a:buNone/>
            </a:pPr>
            <a:r>
              <a:rPr lang="en-US" sz="580" dirty="0">
                <a:solidFill>
                  <a:srgbClr val="8FA1AC"/>
                </a:solidFill>
                <a:latin typeface="Poppins" pitchFamily="34" charset="0"/>
                <a:ea typeface="Poppins" pitchFamily="34" charset="-122"/>
                <a:cs typeface="Poppins" pitchFamily="34" charset="-120"/>
              </a:rPr>
              <a:t>bars = identified / referred per month · line = cumulative referred → 27 YTD</a:t>
            </a:r>
            <a:endParaRPr lang="en-US" sz="580" dirty="0"/>
          </a:p>
        </p:txBody>
      </p:sp>
      <p:graphicFrame>
        <p:nvGraphicFramePr>
          <p:cNvPr id="51" name="Chart 0" descr=""/>
          <p:cNvGraphicFramePr/>
          <p:nvPr/>
        </p:nvGraphicFramePr>
        <p:xfrm>
          <a:off x="576072" y="3584448"/>
          <a:ext cx="6565392" cy="1389888"/>
        </p:xfrm>
        <a:graphic xmlns:a="http://schemas.openxmlformats.org/drawingml/2006/main">
          <a:graphicData uri="http://schemas.openxmlformats.org/drawingml/2006/chart">
            <c:chart xmlns:c="http://schemas.openxmlformats.org/drawingml/2006/chart" r:id="rId1"/>
          </a:graphicData>
        </a:graphic>
      </p:graphicFrame>
      <p:sp>
        <p:nvSpPr>
          <p:cNvPr id="52" name="Shape 49"/>
          <p:cNvSpPr/>
          <p:nvPr/>
        </p:nvSpPr>
        <p:spPr>
          <a:xfrm>
            <a:off x="7498080" y="2139696"/>
            <a:ext cx="4279392"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53" name="Text 50"/>
          <p:cNvSpPr txBox="1"/>
          <p:nvPr/>
        </p:nvSpPr>
        <p:spPr>
          <a:xfrm>
            <a:off x="7699248" y="2249424"/>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WHO IS GIVING THE REFERRALS</a:t>
            </a:r>
            <a:endParaRPr lang="en-US" sz="1200" dirty="0"/>
          </a:p>
        </p:txBody>
      </p:sp>
      <p:sp>
        <p:nvSpPr>
          <p:cNvPr id="54" name="Text 51"/>
          <p:cNvSpPr txBox="1"/>
          <p:nvPr/>
        </p:nvSpPr>
        <p:spPr>
          <a:xfrm>
            <a:off x="7699248" y="2542032"/>
            <a:ext cx="21031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REFERRER</a:t>
            </a:r>
            <a:endParaRPr lang="en-US" sz="650" dirty="0"/>
          </a:p>
        </p:txBody>
      </p:sp>
      <p:sp>
        <p:nvSpPr>
          <p:cNvPr id="55" name="Text 52"/>
          <p:cNvSpPr txBox="1"/>
          <p:nvPr/>
        </p:nvSpPr>
        <p:spPr>
          <a:xfrm>
            <a:off x="9921240" y="2542032"/>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GIVEN</a:t>
            </a:r>
            <a:endParaRPr lang="en-US" sz="650" dirty="0"/>
          </a:p>
        </p:txBody>
      </p:sp>
      <p:sp>
        <p:nvSpPr>
          <p:cNvPr id="56" name="Text 53"/>
          <p:cNvSpPr txBox="1"/>
          <p:nvPr/>
        </p:nvSpPr>
        <p:spPr>
          <a:xfrm>
            <a:off x="10561320" y="2542032"/>
            <a:ext cx="50292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WON</a:t>
            </a:r>
            <a:endParaRPr lang="en-US" sz="650" dirty="0"/>
          </a:p>
        </p:txBody>
      </p:sp>
      <p:sp>
        <p:nvSpPr>
          <p:cNvPr id="57" name="Text 54"/>
          <p:cNvSpPr txBox="1"/>
          <p:nvPr/>
        </p:nvSpPr>
        <p:spPr>
          <a:xfrm>
            <a:off x="11155680" y="2542032"/>
            <a:ext cx="45720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GMV</a:t>
            </a:r>
            <a:endParaRPr lang="en-US" sz="650" dirty="0"/>
          </a:p>
        </p:txBody>
      </p:sp>
      <p:sp>
        <p:nvSpPr>
          <p:cNvPr id="58" name="Text 55"/>
          <p:cNvSpPr txBox="1"/>
          <p:nvPr/>
        </p:nvSpPr>
        <p:spPr>
          <a:xfrm>
            <a:off x="7699248" y="274320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Bjorn Magabo</a:t>
            </a:r>
            <a:endParaRPr lang="en-US" sz="850" dirty="0"/>
          </a:p>
        </p:txBody>
      </p:sp>
      <p:sp>
        <p:nvSpPr>
          <p:cNvPr id="59" name="Shape 56"/>
          <p:cNvSpPr/>
          <p:nvPr/>
        </p:nvSpPr>
        <p:spPr>
          <a:xfrm>
            <a:off x="7699248" y="2971800"/>
            <a:ext cx="2011680" cy="41148"/>
          </a:xfrm>
          <a:prstGeom prst="rect">
            <a:avLst/>
          </a:prstGeom>
          <a:solidFill>
            <a:srgbClr val="2C8394"/>
          </a:solidFill>
          <a:ln/>
        </p:spPr>
      </p:sp>
      <p:sp>
        <p:nvSpPr>
          <p:cNvPr id="60" name="Text 57"/>
          <p:cNvSpPr txBox="1"/>
          <p:nvPr/>
        </p:nvSpPr>
        <p:spPr>
          <a:xfrm>
            <a:off x="9921240" y="27432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11</a:t>
            </a:r>
            <a:endParaRPr lang="en-US" sz="850" dirty="0"/>
          </a:p>
        </p:txBody>
      </p:sp>
      <p:sp>
        <p:nvSpPr>
          <p:cNvPr id="61" name="Text 58"/>
          <p:cNvSpPr txBox="1"/>
          <p:nvPr/>
        </p:nvSpPr>
        <p:spPr>
          <a:xfrm>
            <a:off x="10561320" y="274320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6</a:t>
            </a:r>
            <a:endParaRPr lang="en-US" sz="850" dirty="0"/>
          </a:p>
        </p:txBody>
      </p:sp>
      <p:sp>
        <p:nvSpPr>
          <p:cNvPr id="62" name="Text 59"/>
          <p:cNvSpPr txBox="1"/>
          <p:nvPr/>
        </p:nvSpPr>
        <p:spPr>
          <a:xfrm>
            <a:off x="11155680" y="27432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$65M</a:t>
            </a:r>
            <a:endParaRPr lang="en-US" sz="850" dirty="0"/>
          </a:p>
        </p:txBody>
      </p:sp>
      <p:sp>
        <p:nvSpPr>
          <p:cNvPr id="63" name="Text 60"/>
          <p:cNvSpPr txBox="1"/>
          <p:nvPr/>
        </p:nvSpPr>
        <p:spPr>
          <a:xfrm>
            <a:off x="7699248" y="310896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Bradford Young</a:t>
            </a:r>
            <a:endParaRPr lang="en-US" sz="850" dirty="0"/>
          </a:p>
        </p:txBody>
      </p:sp>
      <p:sp>
        <p:nvSpPr>
          <p:cNvPr id="64" name="Shape 61"/>
          <p:cNvSpPr/>
          <p:nvPr/>
        </p:nvSpPr>
        <p:spPr>
          <a:xfrm>
            <a:off x="7699248" y="3337560"/>
            <a:ext cx="1645920" cy="41148"/>
          </a:xfrm>
          <a:prstGeom prst="rect">
            <a:avLst/>
          </a:prstGeom>
          <a:solidFill>
            <a:srgbClr val="2C8394"/>
          </a:solidFill>
          <a:ln/>
        </p:spPr>
      </p:sp>
      <p:sp>
        <p:nvSpPr>
          <p:cNvPr id="65" name="Text 62"/>
          <p:cNvSpPr txBox="1"/>
          <p:nvPr/>
        </p:nvSpPr>
        <p:spPr>
          <a:xfrm>
            <a:off x="9921240" y="310896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9</a:t>
            </a:r>
            <a:endParaRPr lang="en-US" sz="850" dirty="0"/>
          </a:p>
        </p:txBody>
      </p:sp>
      <p:sp>
        <p:nvSpPr>
          <p:cNvPr id="66" name="Text 63"/>
          <p:cNvSpPr txBox="1"/>
          <p:nvPr/>
        </p:nvSpPr>
        <p:spPr>
          <a:xfrm>
            <a:off x="10561320" y="310896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5</a:t>
            </a:r>
            <a:endParaRPr lang="en-US" sz="850" dirty="0"/>
          </a:p>
        </p:txBody>
      </p:sp>
      <p:sp>
        <p:nvSpPr>
          <p:cNvPr id="67" name="Text 64"/>
          <p:cNvSpPr txBox="1"/>
          <p:nvPr/>
        </p:nvSpPr>
        <p:spPr>
          <a:xfrm>
            <a:off x="11155680" y="310896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$31M</a:t>
            </a:r>
            <a:endParaRPr lang="en-US" sz="850" dirty="0"/>
          </a:p>
        </p:txBody>
      </p:sp>
      <p:sp>
        <p:nvSpPr>
          <p:cNvPr id="68" name="Text 65"/>
          <p:cNvSpPr txBox="1"/>
          <p:nvPr/>
        </p:nvSpPr>
        <p:spPr>
          <a:xfrm>
            <a:off x="7699248" y="347472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Brett Gorman</a:t>
            </a:r>
            <a:endParaRPr lang="en-US" sz="850" dirty="0"/>
          </a:p>
        </p:txBody>
      </p:sp>
      <p:sp>
        <p:nvSpPr>
          <p:cNvPr id="69" name="Shape 66"/>
          <p:cNvSpPr/>
          <p:nvPr/>
        </p:nvSpPr>
        <p:spPr>
          <a:xfrm>
            <a:off x="7699248" y="3703320"/>
            <a:ext cx="1097280" cy="41148"/>
          </a:xfrm>
          <a:prstGeom prst="rect">
            <a:avLst/>
          </a:prstGeom>
          <a:solidFill>
            <a:srgbClr val="2C8394"/>
          </a:solidFill>
          <a:ln/>
        </p:spPr>
      </p:sp>
      <p:sp>
        <p:nvSpPr>
          <p:cNvPr id="70" name="Text 67"/>
          <p:cNvSpPr txBox="1"/>
          <p:nvPr/>
        </p:nvSpPr>
        <p:spPr>
          <a:xfrm>
            <a:off x="9921240" y="347472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6</a:t>
            </a:r>
            <a:endParaRPr lang="en-US" sz="850" dirty="0"/>
          </a:p>
        </p:txBody>
      </p:sp>
      <p:sp>
        <p:nvSpPr>
          <p:cNvPr id="71" name="Text 68"/>
          <p:cNvSpPr txBox="1"/>
          <p:nvPr/>
        </p:nvSpPr>
        <p:spPr>
          <a:xfrm>
            <a:off x="10561320" y="347472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72" name="Text 69"/>
          <p:cNvSpPr txBox="1"/>
          <p:nvPr/>
        </p:nvSpPr>
        <p:spPr>
          <a:xfrm>
            <a:off x="11155680" y="347472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$146M</a:t>
            </a:r>
            <a:endParaRPr lang="en-US" sz="850" dirty="0"/>
          </a:p>
        </p:txBody>
      </p:sp>
      <p:sp>
        <p:nvSpPr>
          <p:cNvPr id="73" name="Text 70"/>
          <p:cNvSpPr txBox="1"/>
          <p:nvPr/>
        </p:nvSpPr>
        <p:spPr>
          <a:xfrm>
            <a:off x="7699248" y="384048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Mick Teasdale</a:t>
            </a:r>
            <a:endParaRPr lang="en-US" sz="850" dirty="0"/>
          </a:p>
        </p:txBody>
      </p:sp>
      <p:sp>
        <p:nvSpPr>
          <p:cNvPr id="74" name="Shape 71"/>
          <p:cNvSpPr/>
          <p:nvPr/>
        </p:nvSpPr>
        <p:spPr>
          <a:xfrm>
            <a:off x="7699248" y="4069080"/>
            <a:ext cx="731520" cy="41148"/>
          </a:xfrm>
          <a:prstGeom prst="rect">
            <a:avLst/>
          </a:prstGeom>
          <a:solidFill>
            <a:srgbClr val="2C8394"/>
          </a:solidFill>
          <a:ln/>
        </p:spPr>
      </p:sp>
      <p:sp>
        <p:nvSpPr>
          <p:cNvPr id="75" name="Text 72"/>
          <p:cNvSpPr txBox="1"/>
          <p:nvPr/>
        </p:nvSpPr>
        <p:spPr>
          <a:xfrm>
            <a:off x="9921240" y="384048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4</a:t>
            </a:r>
            <a:endParaRPr lang="en-US" sz="850" dirty="0"/>
          </a:p>
        </p:txBody>
      </p:sp>
      <p:sp>
        <p:nvSpPr>
          <p:cNvPr id="76" name="Text 73"/>
          <p:cNvSpPr txBox="1"/>
          <p:nvPr/>
        </p:nvSpPr>
        <p:spPr>
          <a:xfrm>
            <a:off x="10561320" y="384048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a:t>
            </a:r>
            <a:endParaRPr lang="en-US" sz="850" dirty="0"/>
          </a:p>
        </p:txBody>
      </p:sp>
      <p:sp>
        <p:nvSpPr>
          <p:cNvPr id="77" name="Text 74"/>
          <p:cNvSpPr txBox="1"/>
          <p:nvPr/>
        </p:nvSpPr>
        <p:spPr>
          <a:xfrm>
            <a:off x="11155680" y="384048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$5M</a:t>
            </a:r>
            <a:endParaRPr lang="en-US" sz="850" dirty="0"/>
          </a:p>
        </p:txBody>
      </p:sp>
      <p:sp>
        <p:nvSpPr>
          <p:cNvPr id="78" name="Text 75"/>
          <p:cNvSpPr txBox="1"/>
          <p:nvPr/>
        </p:nvSpPr>
        <p:spPr>
          <a:xfrm>
            <a:off x="7699248" y="420624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Phuong Ho</a:t>
            </a:r>
            <a:endParaRPr lang="en-US" sz="850" dirty="0"/>
          </a:p>
        </p:txBody>
      </p:sp>
      <p:sp>
        <p:nvSpPr>
          <p:cNvPr id="79" name="Shape 76"/>
          <p:cNvSpPr/>
          <p:nvPr/>
        </p:nvSpPr>
        <p:spPr>
          <a:xfrm>
            <a:off x="7699248" y="4434840"/>
            <a:ext cx="548640" cy="41148"/>
          </a:xfrm>
          <a:prstGeom prst="rect">
            <a:avLst/>
          </a:prstGeom>
          <a:solidFill>
            <a:srgbClr val="2C8394"/>
          </a:solidFill>
          <a:ln/>
        </p:spPr>
      </p:sp>
      <p:sp>
        <p:nvSpPr>
          <p:cNvPr id="80" name="Text 77"/>
          <p:cNvSpPr txBox="1"/>
          <p:nvPr/>
        </p:nvSpPr>
        <p:spPr>
          <a:xfrm>
            <a:off x="9921240" y="420624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a:t>
            </a:r>
            <a:endParaRPr lang="en-US" sz="850" dirty="0"/>
          </a:p>
        </p:txBody>
      </p:sp>
      <p:sp>
        <p:nvSpPr>
          <p:cNvPr id="81" name="Text 78"/>
          <p:cNvSpPr txBox="1"/>
          <p:nvPr/>
        </p:nvSpPr>
        <p:spPr>
          <a:xfrm>
            <a:off x="10561320" y="420624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a:t>
            </a:r>
            <a:endParaRPr lang="en-US" sz="850" dirty="0"/>
          </a:p>
        </p:txBody>
      </p:sp>
      <p:sp>
        <p:nvSpPr>
          <p:cNvPr id="82" name="Text 79"/>
          <p:cNvSpPr txBox="1"/>
          <p:nvPr/>
        </p:nvSpPr>
        <p:spPr>
          <a:xfrm>
            <a:off x="11155680" y="420624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$23M</a:t>
            </a:r>
            <a:endParaRPr lang="en-US" sz="850" dirty="0"/>
          </a:p>
        </p:txBody>
      </p:sp>
      <p:sp>
        <p:nvSpPr>
          <p:cNvPr id="83" name="Text 80"/>
          <p:cNvSpPr txBox="1"/>
          <p:nvPr/>
        </p:nvSpPr>
        <p:spPr>
          <a:xfrm>
            <a:off x="7699248" y="4572000"/>
            <a:ext cx="2103120" cy="219456"/>
          </a:xfrm>
          <a:prstGeom prst="rect">
            <a:avLst/>
          </a:prstGeom>
          <a:noFill/>
          <a:ln/>
        </p:spPr>
        <p:txBody>
          <a:bodyPr wrap="square" lIns="0" tIns="0" rIns="0" bIns="0" rtlCol="0" anchor="ctr"/>
          <a:lstStyle/>
          <a:p>
            <a:pPr indent="0" marL="0">
              <a:buNone/>
            </a:pPr>
            <a:r>
              <a:rPr lang="en-US" sz="850" b="1" dirty="0">
                <a:solidFill>
                  <a:srgbClr val="8FA1AC"/>
                </a:solidFill>
                <a:latin typeface="Poppins" pitchFamily="34" charset="0"/>
                <a:ea typeface="Poppins" pitchFamily="34" charset="-122"/>
                <a:cs typeface="Poppins" pitchFamily="34" charset="-120"/>
              </a:rPr>
              <a:t>Unattributed</a:t>
            </a:r>
            <a:endParaRPr lang="en-US" sz="850" dirty="0"/>
          </a:p>
        </p:txBody>
      </p:sp>
      <p:sp>
        <p:nvSpPr>
          <p:cNvPr id="84" name="Shape 81"/>
          <p:cNvSpPr/>
          <p:nvPr/>
        </p:nvSpPr>
        <p:spPr>
          <a:xfrm>
            <a:off x="7699248" y="4800600"/>
            <a:ext cx="182880" cy="41148"/>
          </a:xfrm>
          <a:prstGeom prst="rect">
            <a:avLst/>
          </a:prstGeom>
          <a:solidFill>
            <a:srgbClr val="2C8394"/>
          </a:solidFill>
          <a:ln/>
        </p:spPr>
      </p:sp>
      <p:sp>
        <p:nvSpPr>
          <p:cNvPr id="85" name="Text 82"/>
          <p:cNvSpPr txBox="1"/>
          <p:nvPr/>
        </p:nvSpPr>
        <p:spPr>
          <a:xfrm>
            <a:off x="9921240" y="45720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a:t>
            </a:r>
            <a:endParaRPr lang="en-US" sz="850" dirty="0"/>
          </a:p>
        </p:txBody>
      </p:sp>
      <p:sp>
        <p:nvSpPr>
          <p:cNvPr id="86" name="Text 83"/>
          <p:cNvSpPr txBox="1"/>
          <p:nvPr/>
        </p:nvSpPr>
        <p:spPr>
          <a:xfrm>
            <a:off x="10561320" y="457200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87" name="Text 84"/>
          <p:cNvSpPr txBox="1"/>
          <p:nvPr/>
        </p:nvSpPr>
        <p:spPr>
          <a:xfrm>
            <a:off x="11155680" y="45720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$15M</a:t>
            </a:r>
            <a:endParaRPr lang="en-US" sz="850" dirty="0"/>
          </a:p>
        </p:txBody>
      </p:sp>
      <p:sp>
        <p:nvSpPr>
          <p:cNvPr id="88" name="Text 85"/>
          <p:cNvSpPr txBox="1"/>
          <p:nvPr/>
        </p:nvSpPr>
        <p:spPr>
          <a:xfrm>
            <a:off x="7699248" y="4956048"/>
            <a:ext cx="3877056" cy="201168"/>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6 deals untagged — referral figures are a floor. Referrer = Account Manager on the deal. The 28 Sep workbook adds no identifications or referrals, so these figures are unchanged from last week.</a:t>
            </a:r>
            <a:endParaRPr lang="en-US" sz="580" dirty="0"/>
          </a:p>
        </p:txBody>
      </p:sp>
      <p:sp>
        <p:nvSpPr>
          <p:cNvPr id="89" name="Shape 86"/>
          <p:cNvSpPr/>
          <p:nvPr/>
        </p:nvSpPr>
        <p:spPr>
          <a:xfrm>
            <a:off x="411480" y="5285232"/>
            <a:ext cx="11365992" cy="1133856"/>
          </a:xfrm>
          <a:prstGeom prst="roundRect">
            <a:avLst>
              <a:gd name="adj" fmla="val 5645"/>
            </a:avLst>
          </a:prstGeom>
          <a:solidFill>
            <a:srgbClr val="FFFFFF"/>
          </a:solidFill>
          <a:ln/>
          <a:effectLst>
            <a:outerShdw sx="100000" sy="100000" kx="0" ky="0" algn="bl" rotWithShape="0" blurRad="76200" dist="25400" dir="5400000">
              <a:srgbClr val="9AAAB5">
                <a:alpha val="35000"/>
              </a:srgbClr>
            </a:outerShdw>
          </a:effectLst>
        </p:spPr>
      </p:sp>
      <p:sp>
        <p:nvSpPr>
          <p:cNvPr id="90" name="Text 87"/>
          <p:cNvSpPr txBox="1"/>
          <p:nvPr/>
        </p:nvSpPr>
        <p:spPr>
          <a:xfrm>
            <a:off x="612648" y="5394960"/>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1" name="Text 88"/>
          <p:cNvSpPr txBox="1"/>
          <p:nvPr/>
        </p:nvSpPr>
        <p:spPr>
          <a:xfrm>
            <a:off x="612648" y="5705856"/>
            <a:ext cx="10954512" cy="585216"/>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Our referrals convert: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referred deals have produced 14 wins worth $38M GMV — 39% of everything H&amp;L Pay has signed — with $245M more in negotiation. Flow: 6 (Jun) → 2 (Jul) → 5 (Aug), 27 YTD.</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Identification is now tracked ahead of referral: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accounts flagged (32 unique venues) but only 10 carry a referral date — converting identified into referred is the gap. Ho (13) and Bradford (11) identify; Bjorn has flagged 4 and referred none.</a:t>
            </a:r>
            <a:endParaRPr lang="en-US" sz="900" dirty="0"/>
          </a:p>
        </p:txBody>
      </p:sp>
      <p:sp>
        <p:nvSpPr>
          <p:cNvPr id="92" name="Shape 89"/>
          <p:cNvSpPr/>
          <p:nvPr/>
        </p:nvSpPr>
        <p:spPr>
          <a:xfrm>
            <a:off x="6653174" y="6510528"/>
            <a:ext cx="5124298" cy="256032"/>
          </a:xfrm>
          <a:prstGeom prst="roundRect">
            <a:avLst>
              <a:gd name="adj" fmla="val 46429"/>
            </a:avLst>
          </a:prstGeom>
          <a:solidFill>
            <a:srgbClr val="12293A"/>
          </a:solidFill>
          <a:ln/>
        </p:spPr>
      </p:sp>
      <p:sp>
        <p:nvSpPr>
          <p:cNvPr id="93" name="Text 90"/>
          <p:cNvSpPr txBox="1"/>
          <p:nvPr/>
        </p:nvSpPr>
        <p:spPr>
          <a:xfrm>
            <a:off x="6653174" y="6510528"/>
            <a:ext cx="512429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H&amp;L identification register + ValPay export · workbook received 28 Sep</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Utilisation &amp; Delivery Hours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Professional Services</a:t>
            </a:r>
            <a:endParaRPr lang="en-US" sz="1050" dirty="0"/>
          </a:p>
        </p:txBody>
      </p:sp>
      <p:sp>
        <p:nvSpPr>
          <p:cNvPr id="7" name="Shape 5"/>
          <p:cNvSpPr/>
          <p:nvPr/>
        </p:nvSpPr>
        <p:spPr>
          <a:xfrm>
            <a:off x="8686800" y="82296"/>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BILLABLE UTILISATION</a:t>
            </a:r>
            <a:endParaRPr lang="en-US" sz="950" dirty="0"/>
          </a:p>
        </p:txBody>
      </p:sp>
      <p:sp>
        <p:nvSpPr>
          <p:cNvPr id="17" name="Text 15"/>
          <p:cNvSpPr txBox="1"/>
          <p:nvPr/>
        </p:nvSpPr>
        <p:spPr>
          <a:xfrm>
            <a:off x="557784" y="1298448"/>
            <a:ext cx="3346704"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6.1%</a:t>
            </a:r>
            <a:endParaRPr lang="en-US" sz="2600" dirty="0"/>
          </a:p>
        </p:txBody>
      </p:sp>
      <p:sp>
        <p:nvSpPr>
          <p:cNvPr id="18" name="Text 16"/>
          <p:cNvSpPr txBox="1"/>
          <p:nvPr/>
        </p:nvSpPr>
        <p:spPr>
          <a:xfrm>
            <a:off x="576072"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20.75h billed of 342h available · target 80%</a:t>
            </a:r>
            <a:endParaRPr lang="en-US" sz="780" dirty="0"/>
          </a:p>
        </p:txBody>
      </p:sp>
      <p:sp>
        <p:nvSpPr>
          <p:cNvPr id="19" name="Shape 17"/>
          <p:cNvSpPr/>
          <p:nvPr/>
        </p:nvSpPr>
        <p:spPr>
          <a:xfrm>
            <a:off x="4233672"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4398264"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AVAILABLE HOURS — THIS WEEK</a:t>
            </a:r>
            <a:endParaRPr lang="en-US" sz="950" dirty="0"/>
          </a:p>
        </p:txBody>
      </p:sp>
      <p:sp>
        <p:nvSpPr>
          <p:cNvPr id="21" name="Text 19"/>
          <p:cNvSpPr txBox="1"/>
          <p:nvPr/>
        </p:nvSpPr>
        <p:spPr>
          <a:xfrm>
            <a:off x="4379976" y="1298448"/>
            <a:ext cx="33467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342h</a:t>
            </a:r>
            <a:endParaRPr lang="en-US" sz="2600" dirty="0"/>
          </a:p>
        </p:txBody>
      </p:sp>
      <p:sp>
        <p:nvSpPr>
          <p:cNvPr id="22" name="Text 20"/>
          <p:cNvSpPr txBox="1"/>
          <p:nvPr/>
        </p:nvSpPr>
        <p:spPr>
          <a:xfrm>
            <a:off x="4398264"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9 people assigned to PS-pipeline tickets × 38h standard week</a:t>
            </a:r>
            <a:endParaRPr lang="en-US" sz="780" dirty="0"/>
          </a:p>
        </p:txBody>
      </p:sp>
      <p:sp>
        <p:nvSpPr>
          <p:cNvPr id="23" name="Shape 21"/>
          <p:cNvSpPr/>
          <p:nvPr/>
        </p:nvSpPr>
        <p:spPr>
          <a:xfrm>
            <a:off x="8055864" y="1024128"/>
            <a:ext cx="3721608"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220456" y="1115568"/>
            <a:ext cx="3392424"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TIME-LOGGING COVERAGE</a:t>
            </a:r>
            <a:endParaRPr lang="en-US" sz="950" dirty="0"/>
          </a:p>
        </p:txBody>
      </p:sp>
      <p:sp>
        <p:nvSpPr>
          <p:cNvPr id="25" name="Text 23"/>
          <p:cNvSpPr txBox="1"/>
          <p:nvPr/>
        </p:nvSpPr>
        <p:spPr>
          <a:xfrm>
            <a:off x="8202168" y="1298448"/>
            <a:ext cx="3429000"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17%</a:t>
            </a:r>
            <a:endParaRPr lang="en-US" sz="2600" dirty="0"/>
          </a:p>
        </p:txBody>
      </p:sp>
      <p:sp>
        <p:nvSpPr>
          <p:cNvPr id="26" name="Text 24"/>
          <p:cNvSpPr txBox="1"/>
          <p:nvPr/>
        </p:nvSpPr>
        <p:spPr>
          <a:xfrm>
            <a:off x="8220456" y="1691640"/>
            <a:ext cx="3392424"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11 of 63 PS items raised this week carry hours — utilisation reads low because logging is ramping, not because delivery stopped</a:t>
            </a:r>
            <a:endParaRPr lang="en-US" sz="780" dirty="0"/>
          </a:p>
        </p:txBody>
      </p:sp>
      <p:sp>
        <p:nvSpPr>
          <p:cNvPr id="27" name="Shape 25"/>
          <p:cNvSpPr/>
          <p:nvPr/>
        </p:nvSpPr>
        <p:spPr>
          <a:xfrm>
            <a:off x="411480" y="2395728"/>
            <a:ext cx="6583680" cy="3566160"/>
          </a:xfrm>
          <a:prstGeom prst="roundRect">
            <a:avLst>
              <a:gd name="adj" fmla="val 1795"/>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505456"/>
            <a:ext cx="618134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BILLABLE BY EMPLOYEE  </a:t>
            </a:r>
            <a:pPr indent="0" marL="0">
              <a:buNone/>
            </a:pPr>
            <a:r>
              <a:rPr lang="en-US" sz="700" dirty="0">
                <a:solidFill>
                  <a:srgbClr val="8FA1AC"/>
                </a:solidFill>
                <a:latin typeface="Poppins" pitchFamily="34" charset="0"/>
                <a:ea typeface="Poppins" pitchFamily="34" charset="-122"/>
                <a:cs typeface="Poppins" pitchFamily="34" charset="-120"/>
              </a:rPr>
              <a:t>hours logged against 38h available each</a:t>
            </a:r>
            <a:endParaRPr lang="en-US" sz="1200" dirty="0"/>
          </a:p>
        </p:txBody>
      </p:sp>
      <p:sp>
        <p:nvSpPr>
          <p:cNvPr id="29" name="Text 27"/>
          <p:cNvSpPr txBox="1"/>
          <p:nvPr/>
        </p:nvSpPr>
        <p:spPr>
          <a:xfrm>
            <a:off x="640080" y="2834640"/>
            <a:ext cx="1737360" cy="182880"/>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PS TEAM MEMBER</a:t>
            </a:r>
            <a:endParaRPr lang="en-US" sz="700" dirty="0"/>
          </a:p>
        </p:txBody>
      </p:sp>
      <p:sp>
        <p:nvSpPr>
          <p:cNvPr id="30" name="Text 28"/>
          <p:cNvSpPr txBox="1"/>
          <p:nvPr/>
        </p:nvSpPr>
        <p:spPr>
          <a:xfrm>
            <a:off x="50292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HOURS</a:t>
            </a:r>
            <a:endParaRPr lang="en-US" sz="700" dirty="0"/>
          </a:p>
        </p:txBody>
      </p:sp>
      <p:sp>
        <p:nvSpPr>
          <p:cNvPr id="31" name="Text 29"/>
          <p:cNvSpPr txBox="1"/>
          <p:nvPr/>
        </p:nvSpPr>
        <p:spPr>
          <a:xfrm>
            <a:off x="59436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UTIL %</a:t>
            </a:r>
            <a:endParaRPr lang="en-US" sz="700" dirty="0"/>
          </a:p>
        </p:txBody>
      </p:sp>
      <p:sp>
        <p:nvSpPr>
          <p:cNvPr id="32" name="Text 30"/>
          <p:cNvSpPr txBox="1"/>
          <p:nvPr/>
        </p:nvSpPr>
        <p:spPr>
          <a:xfrm>
            <a:off x="2468880" y="2816352"/>
            <a:ext cx="402336" cy="182880"/>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0%</a:t>
            </a:r>
            <a:endParaRPr lang="en-US" sz="650" dirty="0"/>
          </a:p>
        </p:txBody>
      </p:sp>
      <p:sp>
        <p:nvSpPr>
          <p:cNvPr id="33" name="Text 31"/>
          <p:cNvSpPr txBox="1"/>
          <p:nvPr/>
        </p:nvSpPr>
        <p:spPr>
          <a:xfrm>
            <a:off x="2743200"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20%</a:t>
            </a:r>
            <a:endParaRPr lang="en-US" sz="650" dirty="0"/>
          </a:p>
        </p:txBody>
      </p:sp>
      <p:sp>
        <p:nvSpPr>
          <p:cNvPr id="34" name="Shape 32"/>
          <p:cNvSpPr/>
          <p:nvPr/>
        </p:nvSpPr>
        <p:spPr>
          <a:xfrm>
            <a:off x="2944368" y="3017520"/>
            <a:ext cx="5486" cy="2139696"/>
          </a:xfrm>
          <a:prstGeom prst="rect">
            <a:avLst/>
          </a:prstGeom>
          <a:solidFill>
            <a:srgbClr val="E2EAEE"/>
          </a:solidFill>
          <a:ln/>
        </p:spPr>
      </p:sp>
      <p:sp>
        <p:nvSpPr>
          <p:cNvPr id="35" name="Text 33"/>
          <p:cNvSpPr txBox="1"/>
          <p:nvPr/>
        </p:nvSpPr>
        <p:spPr>
          <a:xfrm>
            <a:off x="3218688"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40%</a:t>
            </a:r>
            <a:endParaRPr lang="en-US" sz="650" dirty="0"/>
          </a:p>
        </p:txBody>
      </p:sp>
      <p:sp>
        <p:nvSpPr>
          <p:cNvPr id="36" name="Shape 34"/>
          <p:cNvSpPr/>
          <p:nvPr/>
        </p:nvSpPr>
        <p:spPr>
          <a:xfrm>
            <a:off x="3419856" y="3017520"/>
            <a:ext cx="5486" cy="2139696"/>
          </a:xfrm>
          <a:prstGeom prst="rect">
            <a:avLst/>
          </a:prstGeom>
          <a:solidFill>
            <a:srgbClr val="E2EAEE"/>
          </a:solidFill>
          <a:ln/>
        </p:spPr>
      </p:sp>
      <p:sp>
        <p:nvSpPr>
          <p:cNvPr id="37" name="Text 35"/>
          <p:cNvSpPr txBox="1"/>
          <p:nvPr/>
        </p:nvSpPr>
        <p:spPr>
          <a:xfrm>
            <a:off x="3694176"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60%</a:t>
            </a:r>
            <a:endParaRPr lang="en-US" sz="650" dirty="0"/>
          </a:p>
        </p:txBody>
      </p:sp>
      <p:sp>
        <p:nvSpPr>
          <p:cNvPr id="38" name="Shape 36"/>
          <p:cNvSpPr/>
          <p:nvPr/>
        </p:nvSpPr>
        <p:spPr>
          <a:xfrm>
            <a:off x="3895344" y="3017520"/>
            <a:ext cx="5486" cy="2139696"/>
          </a:xfrm>
          <a:prstGeom prst="rect">
            <a:avLst/>
          </a:prstGeom>
          <a:solidFill>
            <a:srgbClr val="E2EAEE"/>
          </a:solidFill>
          <a:ln/>
        </p:spPr>
      </p:sp>
      <p:sp>
        <p:nvSpPr>
          <p:cNvPr id="39" name="Text 37"/>
          <p:cNvSpPr txBox="1"/>
          <p:nvPr/>
        </p:nvSpPr>
        <p:spPr>
          <a:xfrm>
            <a:off x="4169664"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80%</a:t>
            </a:r>
            <a:endParaRPr lang="en-US" sz="650" dirty="0"/>
          </a:p>
        </p:txBody>
      </p:sp>
      <p:sp>
        <p:nvSpPr>
          <p:cNvPr id="40" name="Shape 38"/>
          <p:cNvSpPr/>
          <p:nvPr/>
        </p:nvSpPr>
        <p:spPr>
          <a:xfrm>
            <a:off x="4370832" y="3017520"/>
            <a:ext cx="5486" cy="2139696"/>
          </a:xfrm>
          <a:prstGeom prst="rect">
            <a:avLst/>
          </a:prstGeom>
          <a:solidFill>
            <a:srgbClr val="E2EAEE"/>
          </a:solidFill>
          <a:ln/>
        </p:spPr>
      </p:sp>
      <p:sp>
        <p:nvSpPr>
          <p:cNvPr id="41" name="Text 39"/>
          <p:cNvSpPr txBox="1"/>
          <p:nvPr/>
        </p:nvSpPr>
        <p:spPr>
          <a:xfrm>
            <a:off x="4443984" y="2816352"/>
            <a:ext cx="402336" cy="182880"/>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100%</a:t>
            </a:r>
            <a:endParaRPr lang="en-US" sz="650" dirty="0"/>
          </a:p>
        </p:txBody>
      </p:sp>
      <p:sp>
        <p:nvSpPr>
          <p:cNvPr id="42" name="Shape 40"/>
          <p:cNvSpPr/>
          <p:nvPr/>
        </p:nvSpPr>
        <p:spPr>
          <a:xfrm>
            <a:off x="4846320" y="3017520"/>
            <a:ext cx="5486" cy="2139696"/>
          </a:xfrm>
          <a:prstGeom prst="rect">
            <a:avLst/>
          </a:prstGeom>
          <a:solidFill>
            <a:srgbClr val="E2EAEE"/>
          </a:solidFill>
          <a:ln/>
        </p:spPr>
      </p:sp>
      <p:sp>
        <p:nvSpPr>
          <p:cNvPr id="43" name="Text 41"/>
          <p:cNvSpPr txBox="1"/>
          <p:nvPr/>
        </p:nvSpPr>
        <p:spPr>
          <a:xfrm>
            <a:off x="640080" y="3054096"/>
            <a:ext cx="1783080" cy="237744"/>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Rhys Woolcock</a:t>
            </a:r>
            <a:endParaRPr lang="en-US" sz="800" dirty="0"/>
          </a:p>
        </p:txBody>
      </p:sp>
      <p:sp>
        <p:nvSpPr>
          <p:cNvPr id="44" name="Shape 42"/>
          <p:cNvSpPr/>
          <p:nvPr/>
        </p:nvSpPr>
        <p:spPr>
          <a:xfrm>
            <a:off x="2468880" y="3143250"/>
            <a:ext cx="2377440" cy="59436"/>
          </a:xfrm>
          <a:prstGeom prst="roundRect">
            <a:avLst>
              <a:gd name="adj" fmla="val 49231"/>
            </a:avLst>
          </a:prstGeom>
          <a:solidFill>
            <a:srgbClr val="E2EAEE"/>
          </a:solidFill>
          <a:ln/>
        </p:spPr>
      </p:sp>
      <p:sp>
        <p:nvSpPr>
          <p:cNvPr id="45" name="Shape 43"/>
          <p:cNvSpPr/>
          <p:nvPr/>
        </p:nvSpPr>
        <p:spPr>
          <a:xfrm>
            <a:off x="2468880" y="3143250"/>
            <a:ext cx="656173" cy="59436"/>
          </a:xfrm>
          <a:prstGeom prst="roundRect">
            <a:avLst>
              <a:gd name="adj" fmla="val 49231"/>
            </a:avLst>
          </a:prstGeom>
          <a:solidFill>
            <a:srgbClr val="2C8394"/>
          </a:solidFill>
          <a:ln/>
        </p:spPr>
      </p:sp>
      <p:sp>
        <p:nvSpPr>
          <p:cNvPr id="46" name="Text 44"/>
          <p:cNvSpPr txBox="1"/>
          <p:nvPr/>
        </p:nvSpPr>
        <p:spPr>
          <a:xfrm>
            <a:off x="5029200" y="3054096"/>
            <a:ext cx="822960" cy="237744"/>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10.50h</a:t>
            </a:r>
            <a:endParaRPr lang="en-US" sz="800" dirty="0"/>
          </a:p>
        </p:txBody>
      </p:sp>
      <p:sp>
        <p:nvSpPr>
          <p:cNvPr id="47" name="Text 45"/>
          <p:cNvSpPr txBox="1"/>
          <p:nvPr/>
        </p:nvSpPr>
        <p:spPr>
          <a:xfrm>
            <a:off x="5943600" y="3054096"/>
            <a:ext cx="822960" cy="237744"/>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27.6%</a:t>
            </a:r>
            <a:endParaRPr lang="en-US" sz="800" dirty="0"/>
          </a:p>
        </p:txBody>
      </p:sp>
      <p:sp>
        <p:nvSpPr>
          <p:cNvPr id="48" name="Text 46"/>
          <p:cNvSpPr txBox="1"/>
          <p:nvPr/>
        </p:nvSpPr>
        <p:spPr>
          <a:xfrm>
            <a:off x="640080" y="3291840"/>
            <a:ext cx="1783080" cy="237744"/>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Joshua Casey</a:t>
            </a:r>
            <a:endParaRPr lang="en-US" sz="800" dirty="0"/>
          </a:p>
        </p:txBody>
      </p:sp>
      <p:sp>
        <p:nvSpPr>
          <p:cNvPr id="49" name="Shape 47"/>
          <p:cNvSpPr/>
          <p:nvPr/>
        </p:nvSpPr>
        <p:spPr>
          <a:xfrm>
            <a:off x="2468880" y="3380994"/>
            <a:ext cx="2377440" cy="59436"/>
          </a:xfrm>
          <a:prstGeom prst="roundRect">
            <a:avLst>
              <a:gd name="adj" fmla="val 49231"/>
            </a:avLst>
          </a:prstGeom>
          <a:solidFill>
            <a:srgbClr val="E2EAEE"/>
          </a:solidFill>
          <a:ln/>
        </p:spPr>
      </p:sp>
      <p:sp>
        <p:nvSpPr>
          <p:cNvPr id="50" name="Shape 48"/>
          <p:cNvSpPr/>
          <p:nvPr/>
        </p:nvSpPr>
        <p:spPr>
          <a:xfrm>
            <a:off x="2468880" y="3380994"/>
            <a:ext cx="501640" cy="59436"/>
          </a:xfrm>
          <a:prstGeom prst="roundRect">
            <a:avLst>
              <a:gd name="adj" fmla="val 49231"/>
            </a:avLst>
          </a:prstGeom>
          <a:solidFill>
            <a:srgbClr val="2C8394"/>
          </a:solidFill>
          <a:ln/>
        </p:spPr>
      </p:sp>
      <p:sp>
        <p:nvSpPr>
          <p:cNvPr id="51" name="Text 49"/>
          <p:cNvSpPr txBox="1"/>
          <p:nvPr/>
        </p:nvSpPr>
        <p:spPr>
          <a:xfrm>
            <a:off x="5029200" y="3291840"/>
            <a:ext cx="822960" cy="237744"/>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8.00h</a:t>
            </a:r>
            <a:endParaRPr lang="en-US" sz="800" dirty="0"/>
          </a:p>
        </p:txBody>
      </p:sp>
      <p:sp>
        <p:nvSpPr>
          <p:cNvPr id="52" name="Text 50"/>
          <p:cNvSpPr txBox="1"/>
          <p:nvPr/>
        </p:nvSpPr>
        <p:spPr>
          <a:xfrm>
            <a:off x="5943600" y="3291840"/>
            <a:ext cx="822960" cy="237744"/>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21.1%</a:t>
            </a:r>
            <a:endParaRPr lang="en-US" sz="800" dirty="0"/>
          </a:p>
        </p:txBody>
      </p:sp>
      <p:sp>
        <p:nvSpPr>
          <p:cNvPr id="53" name="Text 51"/>
          <p:cNvSpPr txBox="1"/>
          <p:nvPr/>
        </p:nvSpPr>
        <p:spPr>
          <a:xfrm>
            <a:off x="640080" y="3529584"/>
            <a:ext cx="1783080" cy="237744"/>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Argenis Rafael Guevara</a:t>
            </a:r>
            <a:endParaRPr lang="en-US" sz="800" dirty="0"/>
          </a:p>
        </p:txBody>
      </p:sp>
      <p:sp>
        <p:nvSpPr>
          <p:cNvPr id="54" name="Shape 52"/>
          <p:cNvSpPr/>
          <p:nvPr/>
        </p:nvSpPr>
        <p:spPr>
          <a:xfrm>
            <a:off x="2468880" y="3618738"/>
            <a:ext cx="2377440" cy="59436"/>
          </a:xfrm>
          <a:prstGeom prst="roundRect">
            <a:avLst>
              <a:gd name="adj" fmla="val 49231"/>
            </a:avLst>
          </a:prstGeom>
          <a:solidFill>
            <a:srgbClr val="E2EAEE"/>
          </a:solidFill>
          <a:ln/>
        </p:spPr>
      </p:sp>
      <p:sp>
        <p:nvSpPr>
          <p:cNvPr id="55" name="Shape 53"/>
          <p:cNvSpPr/>
          <p:nvPr/>
        </p:nvSpPr>
        <p:spPr>
          <a:xfrm>
            <a:off x="2468880" y="3618738"/>
            <a:ext cx="109362" cy="59436"/>
          </a:xfrm>
          <a:prstGeom prst="roundRect">
            <a:avLst>
              <a:gd name="adj" fmla="val 49231"/>
            </a:avLst>
          </a:prstGeom>
          <a:solidFill>
            <a:srgbClr val="2C8394"/>
          </a:solidFill>
          <a:ln/>
        </p:spPr>
      </p:sp>
      <p:sp>
        <p:nvSpPr>
          <p:cNvPr id="56" name="Text 54"/>
          <p:cNvSpPr txBox="1"/>
          <p:nvPr/>
        </p:nvSpPr>
        <p:spPr>
          <a:xfrm>
            <a:off x="5029200" y="3529584"/>
            <a:ext cx="822960" cy="237744"/>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1.75h</a:t>
            </a:r>
            <a:endParaRPr lang="en-US" sz="800" dirty="0"/>
          </a:p>
        </p:txBody>
      </p:sp>
      <p:sp>
        <p:nvSpPr>
          <p:cNvPr id="57" name="Text 55"/>
          <p:cNvSpPr txBox="1"/>
          <p:nvPr/>
        </p:nvSpPr>
        <p:spPr>
          <a:xfrm>
            <a:off x="5943600" y="3529584"/>
            <a:ext cx="822960" cy="237744"/>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4.6%</a:t>
            </a:r>
            <a:endParaRPr lang="en-US" sz="800" dirty="0"/>
          </a:p>
        </p:txBody>
      </p:sp>
      <p:sp>
        <p:nvSpPr>
          <p:cNvPr id="58" name="Text 56"/>
          <p:cNvSpPr txBox="1"/>
          <p:nvPr/>
        </p:nvSpPr>
        <p:spPr>
          <a:xfrm>
            <a:off x="640080" y="3767328"/>
            <a:ext cx="1783080" cy="237744"/>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Isayah Kuhlmann</a:t>
            </a:r>
            <a:endParaRPr lang="en-US" sz="800" dirty="0"/>
          </a:p>
        </p:txBody>
      </p:sp>
      <p:sp>
        <p:nvSpPr>
          <p:cNvPr id="59" name="Shape 57"/>
          <p:cNvSpPr/>
          <p:nvPr/>
        </p:nvSpPr>
        <p:spPr>
          <a:xfrm>
            <a:off x="2468880" y="3856482"/>
            <a:ext cx="2377440" cy="59436"/>
          </a:xfrm>
          <a:prstGeom prst="roundRect">
            <a:avLst>
              <a:gd name="adj" fmla="val 49231"/>
            </a:avLst>
          </a:prstGeom>
          <a:solidFill>
            <a:srgbClr val="E2EAEE"/>
          </a:solidFill>
          <a:ln/>
        </p:spPr>
      </p:sp>
      <p:sp>
        <p:nvSpPr>
          <p:cNvPr id="60" name="Shape 58"/>
          <p:cNvSpPr/>
          <p:nvPr/>
        </p:nvSpPr>
        <p:spPr>
          <a:xfrm>
            <a:off x="2468880" y="3856482"/>
            <a:ext cx="45720" cy="59436"/>
          </a:xfrm>
          <a:prstGeom prst="roundRect">
            <a:avLst>
              <a:gd name="adj" fmla="val 64000"/>
            </a:avLst>
          </a:prstGeom>
          <a:solidFill>
            <a:srgbClr val="2C8394"/>
          </a:solidFill>
          <a:ln/>
        </p:spPr>
      </p:sp>
      <p:sp>
        <p:nvSpPr>
          <p:cNvPr id="61" name="Text 59"/>
          <p:cNvSpPr txBox="1"/>
          <p:nvPr/>
        </p:nvSpPr>
        <p:spPr>
          <a:xfrm>
            <a:off x="5029200" y="3767328"/>
            <a:ext cx="822960" cy="237744"/>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0.50h</a:t>
            </a:r>
            <a:endParaRPr lang="en-US" sz="800" dirty="0"/>
          </a:p>
        </p:txBody>
      </p:sp>
      <p:sp>
        <p:nvSpPr>
          <p:cNvPr id="62" name="Text 60"/>
          <p:cNvSpPr txBox="1"/>
          <p:nvPr/>
        </p:nvSpPr>
        <p:spPr>
          <a:xfrm>
            <a:off x="5943600" y="3767328"/>
            <a:ext cx="822960" cy="237744"/>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1.3%</a:t>
            </a:r>
            <a:endParaRPr lang="en-US" sz="800" dirty="0"/>
          </a:p>
        </p:txBody>
      </p:sp>
      <p:sp>
        <p:nvSpPr>
          <p:cNvPr id="63" name="Text 61"/>
          <p:cNvSpPr txBox="1"/>
          <p:nvPr/>
        </p:nvSpPr>
        <p:spPr>
          <a:xfrm>
            <a:off x="640080" y="4005072"/>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Gregory St Clare-Hobbs</a:t>
            </a:r>
            <a:endParaRPr lang="en-US" sz="800" dirty="0"/>
          </a:p>
        </p:txBody>
      </p:sp>
      <p:sp>
        <p:nvSpPr>
          <p:cNvPr id="64" name="Shape 62"/>
          <p:cNvSpPr/>
          <p:nvPr/>
        </p:nvSpPr>
        <p:spPr>
          <a:xfrm>
            <a:off x="2468880" y="4094226"/>
            <a:ext cx="2377440" cy="59436"/>
          </a:xfrm>
          <a:prstGeom prst="roundRect">
            <a:avLst>
              <a:gd name="adj" fmla="val 49231"/>
            </a:avLst>
          </a:prstGeom>
          <a:solidFill>
            <a:srgbClr val="E2EAEE"/>
          </a:solidFill>
          <a:ln/>
        </p:spPr>
      </p:sp>
      <p:sp>
        <p:nvSpPr>
          <p:cNvPr id="65" name="Text 63"/>
          <p:cNvSpPr txBox="1"/>
          <p:nvPr/>
        </p:nvSpPr>
        <p:spPr>
          <a:xfrm>
            <a:off x="5029200" y="4005072"/>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66" name="Text 64"/>
          <p:cNvSpPr txBox="1"/>
          <p:nvPr/>
        </p:nvSpPr>
        <p:spPr>
          <a:xfrm>
            <a:off x="5943600" y="4005072"/>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67" name="Text 65"/>
          <p:cNvSpPr txBox="1"/>
          <p:nvPr/>
        </p:nvSpPr>
        <p:spPr>
          <a:xfrm>
            <a:off x="640080" y="4242816"/>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Isaac Mercado</a:t>
            </a:r>
            <a:endParaRPr lang="en-US" sz="800" dirty="0"/>
          </a:p>
        </p:txBody>
      </p:sp>
      <p:sp>
        <p:nvSpPr>
          <p:cNvPr id="68" name="Shape 66"/>
          <p:cNvSpPr/>
          <p:nvPr/>
        </p:nvSpPr>
        <p:spPr>
          <a:xfrm>
            <a:off x="2468880" y="4331970"/>
            <a:ext cx="2377440" cy="59436"/>
          </a:xfrm>
          <a:prstGeom prst="roundRect">
            <a:avLst>
              <a:gd name="adj" fmla="val 49231"/>
            </a:avLst>
          </a:prstGeom>
          <a:solidFill>
            <a:srgbClr val="E2EAEE"/>
          </a:solidFill>
          <a:ln/>
        </p:spPr>
      </p:sp>
      <p:sp>
        <p:nvSpPr>
          <p:cNvPr id="69" name="Text 67"/>
          <p:cNvSpPr txBox="1"/>
          <p:nvPr/>
        </p:nvSpPr>
        <p:spPr>
          <a:xfrm>
            <a:off x="5029200" y="4242816"/>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0" name="Text 68"/>
          <p:cNvSpPr txBox="1"/>
          <p:nvPr/>
        </p:nvSpPr>
        <p:spPr>
          <a:xfrm>
            <a:off x="5943600" y="4242816"/>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1" name="Text 69"/>
          <p:cNvSpPr txBox="1"/>
          <p:nvPr/>
        </p:nvSpPr>
        <p:spPr>
          <a:xfrm>
            <a:off x="640080" y="4480560"/>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Rodney Nolan</a:t>
            </a:r>
            <a:endParaRPr lang="en-US" sz="800" dirty="0"/>
          </a:p>
        </p:txBody>
      </p:sp>
      <p:sp>
        <p:nvSpPr>
          <p:cNvPr id="72" name="Shape 70"/>
          <p:cNvSpPr/>
          <p:nvPr/>
        </p:nvSpPr>
        <p:spPr>
          <a:xfrm>
            <a:off x="2468880" y="4569714"/>
            <a:ext cx="2377440" cy="59436"/>
          </a:xfrm>
          <a:prstGeom prst="roundRect">
            <a:avLst>
              <a:gd name="adj" fmla="val 49231"/>
            </a:avLst>
          </a:prstGeom>
          <a:solidFill>
            <a:srgbClr val="E2EAEE"/>
          </a:solidFill>
          <a:ln/>
        </p:spPr>
      </p:sp>
      <p:sp>
        <p:nvSpPr>
          <p:cNvPr id="73" name="Text 71"/>
          <p:cNvSpPr txBox="1"/>
          <p:nvPr/>
        </p:nvSpPr>
        <p:spPr>
          <a:xfrm>
            <a:off x="5029200" y="4480560"/>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4" name="Text 72"/>
          <p:cNvSpPr txBox="1"/>
          <p:nvPr/>
        </p:nvSpPr>
        <p:spPr>
          <a:xfrm>
            <a:off x="5943600" y="4480560"/>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5" name="Text 73"/>
          <p:cNvSpPr txBox="1"/>
          <p:nvPr/>
        </p:nvSpPr>
        <p:spPr>
          <a:xfrm>
            <a:off x="640080" y="4718304"/>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Karim AlRifaii</a:t>
            </a:r>
            <a:endParaRPr lang="en-US" sz="800" dirty="0"/>
          </a:p>
        </p:txBody>
      </p:sp>
      <p:sp>
        <p:nvSpPr>
          <p:cNvPr id="76" name="Shape 74"/>
          <p:cNvSpPr/>
          <p:nvPr/>
        </p:nvSpPr>
        <p:spPr>
          <a:xfrm>
            <a:off x="2468880" y="4807458"/>
            <a:ext cx="2377440" cy="59436"/>
          </a:xfrm>
          <a:prstGeom prst="roundRect">
            <a:avLst>
              <a:gd name="adj" fmla="val 49231"/>
            </a:avLst>
          </a:prstGeom>
          <a:solidFill>
            <a:srgbClr val="E2EAEE"/>
          </a:solidFill>
          <a:ln/>
        </p:spPr>
      </p:sp>
      <p:sp>
        <p:nvSpPr>
          <p:cNvPr id="77" name="Text 75"/>
          <p:cNvSpPr txBox="1"/>
          <p:nvPr/>
        </p:nvSpPr>
        <p:spPr>
          <a:xfrm>
            <a:off x="5029200" y="4718304"/>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8" name="Text 76"/>
          <p:cNvSpPr txBox="1"/>
          <p:nvPr/>
        </p:nvSpPr>
        <p:spPr>
          <a:xfrm>
            <a:off x="5943600" y="4718304"/>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9" name="Text 77"/>
          <p:cNvSpPr txBox="1"/>
          <p:nvPr/>
        </p:nvSpPr>
        <p:spPr>
          <a:xfrm>
            <a:off x="640080" y="4956048"/>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Ryan Neil Orande</a:t>
            </a:r>
            <a:endParaRPr lang="en-US" sz="800" dirty="0"/>
          </a:p>
        </p:txBody>
      </p:sp>
      <p:sp>
        <p:nvSpPr>
          <p:cNvPr id="80" name="Shape 78"/>
          <p:cNvSpPr/>
          <p:nvPr/>
        </p:nvSpPr>
        <p:spPr>
          <a:xfrm>
            <a:off x="2468880" y="5045202"/>
            <a:ext cx="2377440" cy="59436"/>
          </a:xfrm>
          <a:prstGeom prst="roundRect">
            <a:avLst>
              <a:gd name="adj" fmla="val 49231"/>
            </a:avLst>
          </a:prstGeom>
          <a:solidFill>
            <a:srgbClr val="E2EAEE"/>
          </a:solidFill>
          <a:ln/>
        </p:spPr>
      </p:sp>
      <p:sp>
        <p:nvSpPr>
          <p:cNvPr id="81" name="Text 79"/>
          <p:cNvSpPr txBox="1"/>
          <p:nvPr/>
        </p:nvSpPr>
        <p:spPr>
          <a:xfrm>
            <a:off x="5029200" y="4956048"/>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82" name="Text 80"/>
          <p:cNvSpPr txBox="1"/>
          <p:nvPr/>
        </p:nvSpPr>
        <p:spPr>
          <a:xfrm>
            <a:off x="5943600" y="4956048"/>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83" name="Shape 81"/>
          <p:cNvSpPr/>
          <p:nvPr/>
        </p:nvSpPr>
        <p:spPr>
          <a:xfrm>
            <a:off x="640080" y="5230368"/>
            <a:ext cx="6126480" cy="10973"/>
          </a:xfrm>
          <a:prstGeom prst="rect">
            <a:avLst/>
          </a:prstGeom>
          <a:solidFill>
            <a:srgbClr val="12293A"/>
          </a:solidFill>
          <a:ln/>
        </p:spPr>
      </p:sp>
      <p:sp>
        <p:nvSpPr>
          <p:cNvPr id="84" name="Text 82"/>
          <p:cNvSpPr txBox="1"/>
          <p:nvPr/>
        </p:nvSpPr>
        <p:spPr>
          <a:xfrm>
            <a:off x="640080" y="5266944"/>
            <a:ext cx="1783080" cy="237744"/>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TOTAL</a:t>
            </a:r>
            <a:endParaRPr lang="en-US" sz="850" dirty="0"/>
          </a:p>
        </p:txBody>
      </p:sp>
      <p:sp>
        <p:nvSpPr>
          <p:cNvPr id="85" name="Text 83"/>
          <p:cNvSpPr txBox="1"/>
          <p:nvPr/>
        </p:nvSpPr>
        <p:spPr>
          <a:xfrm>
            <a:off x="2468880" y="5266944"/>
            <a:ext cx="2377440" cy="237744"/>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9 PS people × 38h = 342h available</a:t>
            </a:r>
            <a:endParaRPr lang="en-US" sz="700" dirty="0"/>
          </a:p>
        </p:txBody>
      </p:sp>
      <p:sp>
        <p:nvSpPr>
          <p:cNvPr id="86" name="Text 84"/>
          <p:cNvSpPr txBox="1"/>
          <p:nvPr/>
        </p:nvSpPr>
        <p:spPr>
          <a:xfrm>
            <a:off x="5029200" y="5266944"/>
            <a:ext cx="822960" cy="237744"/>
          </a:xfrm>
          <a:prstGeom prst="rect">
            <a:avLst/>
          </a:prstGeom>
          <a:noFill/>
          <a:ln/>
        </p:spPr>
        <p:txBody>
          <a:bodyPr wrap="square" lIns="0" tIns="0" rIns="0" bIns="0" rtlCol="0" anchor="ctr"/>
          <a:lstStyle/>
          <a:p>
            <a:pPr algn="r" indent="0" marL="0">
              <a:buNone/>
            </a:pPr>
            <a:r>
              <a:rPr lang="en-US" sz="950" b="1" dirty="0">
                <a:solidFill>
                  <a:srgbClr val="2C8394"/>
                </a:solidFill>
                <a:latin typeface="Poppins" pitchFamily="34" charset="0"/>
                <a:ea typeface="Poppins" pitchFamily="34" charset="-122"/>
                <a:cs typeface="Poppins" pitchFamily="34" charset="-120"/>
              </a:rPr>
              <a:t>20.75h</a:t>
            </a:r>
            <a:endParaRPr lang="en-US" sz="950" dirty="0"/>
          </a:p>
        </p:txBody>
      </p:sp>
      <p:sp>
        <p:nvSpPr>
          <p:cNvPr id="87" name="Text 85"/>
          <p:cNvSpPr txBox="1"/>
          <p:nvPr/>
        </p:nvSpPr>
        <p:spPr>
          <a:xfrm>
            <a:off x="5943600" y="5266944"/>
            <a:ext cx="822960" cy="237744"/>
          </a:xfrm>
          <a:prstGeom prst="rect">
            <a:avLst/>
          </a:prstGeom>
          <a:noFill/>
          <a:ln/>
        </p:spPr>
        <p:txBody>
          <a:bodyPr wrap="square" lIns="0" tIns="0" rIns="0" bIns="0" rtlCol="0" anchor="ctr"/>
          <a:lstStyle/>
          <a:p>
            <a:pPr algn="r" indent="0" marL="0">
              <a:buNone/>
            </a:pPr>
            <a:r>
              <a:rPr lang="en-US" sz="950" b="1" dirty="0">
                <a:solidFill>
                  <a:srgbClr val="C88A2E"/>
                </a:solidFill>
                <a:latin typeface="Poppins" pitchFamily="34" charset="0"/>
                <a:ea typeface="Poppins" pitchFamily="34" charset="-122"/>
                <a:cs typeface="Poppins" pitchFamily="34" charset="-120"/>
              </a:rPr>
              <a:t>6.1%</a:t>
            </a:r>
            <a:endParaRPr lang="en-US" sz="950" dirty="0"/>
          </a:p>
        </p:txBody>
      </p:sp>
      <p:sp>
        <p:nvSpPr>
          <p:cNvPr id="88" name="Text 86"/>
          <p:cNvSpPr txBox="1"/>
          <p:nvPr/>
        </p:nvSpPr>
        <p:spPr>
          <a:xfrm>
            <a:off x="640080" y="5614416"/>
            <a:ext cx="6126480" cy="292608"/>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Available staff = the 9 Professional Services people assigned to PS-pipeline tickets open now or closed this week, at a 38h standard week. Anton Lopez, Jasmine Hikuroa, Bjorn Magabo, Phuong Ho, Katherine Fenwick and Yeran Hettiarachchy carry PS-pipeline tickets but are not Professional Services staff — they and their hours are excluded.</a:t>
            </a:r>
            <a:endParaRPr lang="en-US" sz="580" dirty="0"/>
          </a:p>
        </p:txBody>
      </p:sp>
      <p:sp>
        <p:nvSpPr>
          <p:cNvPr id="89" name="Shape 87"/>
          <p:cNvSpPr/>
          <p:nvPr/>
        </p:nvSpPr>
        <p:spPr>
          <a:xfrm>
            <a:off x="7178040" y="2395728"/>
            <a:ext cx="4599432" cy="1700784"/>
          </a:xfrm>
          <a:prstGeom prst="roundRect">
            <a:avLst>
              <a:gd name="adj" fmla="val 3763"/>
            </a:avLst>
          </a:prstGeom>
          <a:solidFill>
            <a:srgbClr val="FFFFFF"/>
          </a:solidFill>
          <a:ln/>
          <a:effectLst>
            <a:outerShdw sx="100000" sy="100000" kx="0" ky="0" algn="bl" rotWithShape="0" blurRad="76200" dist="25400" dir="5400000">
              <a:srgbClr val="9AAAB5">
                <a:alpha val="35000"/>
              </a:srgbClr>
            </a:outerShdw>
          </a:effectLst>
        </p:spPr>
      </p:sp>
      <p:sp>
        <p:nvSpPr>
          <p:cNvPr id="90" name="Text 88"/>
          <p:cNvSpPr txBox="1"/>
          <p:nvPr/>
        </p:nvSpPr>
        <p:spPr>
          <a:xfrm>
            <a:off x="7379208" y="2487168"/>
            <a:ext cx="4197096" cy="237744"/>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BILLABLE BY PS WORK  </a:t>
            </a:r>
            <a:pPr indent="0" marL="0">
              <a:buNone/>
            </a:pPr>
            <a:r>
              <a:rPr lang="en-US" sz="650" dirty="0">
                <a:solidFill>
                  <a:srgbClr val="8FA1AC"/>
                </a:solidFill>
                <a:latin typeface="Poppins" pitchFamily="34" charset="0"/>
                <a:ea typeface="Poppins" pitchFamily="34" charset="-122"/>
                <a:cs typeface="Poppins" pitchFamily="34" charset="-120"/>
              </a:rPr>
              <a:t>share of hours logged</a:t>
            </a:r>
            <a:endParaRPr lang="en-US" sz="1100" dirty="0"/>
          </a:p>
        </p:txBody>
      </p:sp>
      <p:sp>
        <p:nvSpPr>
          <p:cNvPr id="91" name="Text 89"/>
          <p:cNvSpPr txBox="1"/>
          <p:nvPr/>
        </p:nvSpPr>
        <p:spPr>
          <a:xfrm>
            <a:off x="7379208" y="2743200"/>
            <a:ext cx="1371600" cy="164592"/>
          </a:xfrm>
          <a:prstGeom prst="rect">
            <a:avLst/>
          </a:prstGeom>
          <a:noFill/>
          <a:ln/>
        </p:spPr>
        <p:txBody>
          <a:bodyPr wrap="square" lIns="0" tIns="0" rIns="0" bIns="0" rtlCol="0" anchor="ctr"/>
          <a:lstStyle/>
          <a:p>
            <a:pPr algn="l" indent="0" marL="0">
              <a:buNone/>
            </a:pPr>
            <a:r>
              <a:rPr lang="en-US" sz="680" b="1" dirty="0">
                <a:solidFill>
                  <a:srgbClr val="8FA1AC"/>
                </a:solidFill>
                <a:latin typeface="Poppins" pitchFamily="34" charset="0"/>
                <a:ea typeface="Poppins" pitchFamily="34" charset="-122"/>
                <a:cs typeface="Poppins" pitchFamily="34" charset="-120"/>
              </a:rPr>
              <a:t>SERVICE TYPE</a:t>
            </a:r>
            <a:endParaRPr lang="en-US" sz="680" dirty="0"/>
          </a:p>
        </p:txBody>
      </p:sp>
      <p:sp>
        <p:nvSpPr>
          <p:cNvPr id="92" name="Text 90"/>
          <p:cNvSpPr txBox="1"/>
          <p:nvPr/>
        </p:nvSpPr>
        <p:spPr>
          <a:xfrm>
            <a:off x="10287000" y="2743200"/>
            <a:ext cx="640080"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HOURS</a:t>
            </a:r>
            <a:endParaRPr lang="en-US" sz="680" dirty="0"/>
          </a:p>
        </p:txBody>
      </p:sp>
      <p:sp>
        <p:nvSpPr>
          <p:cNvPr id="93" name="Text 91"/>
          <p:cNvSpPr txBox="1"/>
          <p:nvPr/>
        </p:nvSpPr>
        <p:spPr>
          <a:xfrm>
            <a:off x="10972800" y="2743200"/>
            <a:ext cx="603504"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SHARE</a:t>
            </a:r>
            <a:endParaRPr lang="en-US" sz="680" dirty="0"/>
          </a:p>
        </p:txBody>
      </p:sp>
      <p:sp>
        <p:nvSpPr>
          <p:cNvPr id="94" name="Text 92"/>
          <p:cNvSpPr txBox="1"/>
          <p:nvPr/>
        </p:nvSpPr>
        <p:spPr>
          <a:xfrm>
            <a:off x="7379208" y="2907792"/>
            <a:ext cx="1371600" cy="15240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Tech</a:t>
            </a:r>
            <a:endParaRPr lang="en-US" sz="800" dirty="0"/>
          </a:p>
        </p:txBody>
      </p:sp>
      <p:sp>
        <p:nvSpPr>
          <p:cNvPr id="95" name="Shape 93"/>
          <p:cNvSpPr/>
          <p:nvPr/>
        </p:nvSpPr>
        <p:spPr>
          <a:xfrm>
            <a:off x="8823960" y="2954274"/>
            <a:ext cx="1371600" cy="59436"/>
          </a:xfrm>
          <a:prstGeom prst="roundRect">
            <a:avLst>
              <a:gd name="adj" fmla="val 49231"/>
            </a:avLst>
          </a:prstGeom>
          <a:solidFill>
            <a:srgbClr val="E2EAEE"/>
          </a:solidFill>
          <a:ln/>
        </p:spPr>
      </p:sp>
      <p:sp>
        <p:nvSpPr>
          <p:cNvPr id="96" name="Shape 94"/>
          <p:cNvSpPr/>
          <p:nvPr/>
        </p:nvSpPr>
        <p:spPr>
          <a:xfrm>
            <a:off x="8823960" y="2954274"/>
            <a:ext cx="1371600" cy="59436"/>
          </a:xfrm>
          <a:prstGeom prst="roundRect">
            <a:avLst>
              <a:gd name="adj" fmla="val 49231"/>
            </a:avLst>
          </a:prstGeom>
          <a:solidFill>
            <a:srgbClr val="2C8394"/>
          </a:solidFill>
          <a:ln/>
        </p:spPr>
      </p:sp>
      <p:sp>
        <p:nvSpPr>
          <p:cNvPr id="97" name="Text 95"/>
          <p:cNvSpPr txBox="1"/>
          <p:nvPr/>
        </p:nvSpPr>
        <p:spPr>
          <a:xfrm>
            <a:off x="10287000" y="2907792"/>
            <a:ext cx="640080" cy="152400"/>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16.50h</a:t>
            </a:r>
            <a:endParaRPr lang="en-US" sz="800" dirty="0"/>
          </a:p>
        </p:txBody>
      </p:sp>
      <p:sp>
        <p:nvSpPr>
          <p:cNvPr id="98" name="Text 96"/>
          <p:cNvSpPr txBox="1"/>
          <p:nvPr/>
        </p:nvSpPr>
        <p:spPr>
          <a:xfrm>
            <a:off x="10972800" y="2907792"/>
            <a:ext cx="603504" cy="152400"/>
          </a:xfrm>
          <a:prstGeom prst="rect">
            <a:avLst/>
          </a:prstGeom>
          <a:noFill/>
          <a:ln/>
        </p:spPr>
        <p:txBody>
          <a:bodyPr wrap="square" lIns="0" tIns="0" rIns="0" bIns="0" rtlCol="0" anchor="ctr"/>
          <a:lstStyle/>
          <a:p>
            <a:pPr algn="r" indent="0" marL="0">
              <a:buNone/>
            </a:pPr>
            <a:r>
              <a:rPr lang="en-US" sz="800" dirty="0">
                <a:solidFill>
                  <a:srgbClr val="5E7280"/>
                </a:solidFill>
                <a:latin typeface="Poppins" pitchFamily="34" charset="0"/>
                <a:ea typeface="Poppins" pitchFamily="34" charset="-122"/>
                <a:cs typeface="Poppins" pitchFamily="34" charset="-120"/>
              </a:rPr>
              <a:t>79.5%</a:t>
            </a:r>
            <a:endParaRPr lang="en-US" sz="800" dirty="0"/>
          </a:p>
        </p:txBody>
      </p:sp>
      <p:sp>
        <p:nvSpPr>
          <p:cNvPr id="99" name="Text 97"/>
          <p:cNvSpPr txBox="1"/>
          <p:nvPr/>
        </p:nvSpPr>
        <p:spPr>
          <a:xfrm>
            <a:off x="7379208" y="3060192"/>
            <a:ext cx="1371600" cy="15240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Integration</a:t>
            </a:r>
            <a:endParaRPr lang="en-US" sz="800" dirty="0"/>
          </a:p>
        </p:txBody>
      </p:sp>
      <p:sp>
        <p:nvSpPr>
          <p:cNvPr id="100" name="Shape 98"/>
          <p:cNvSpPr/>
          <p:nvPr/>
        </p:nvSpPr>
        <p:spPr>
          <a:xfrm>
            <a:off x="8823960" y="3106674"/>
            <a:ext cx="1371600" cy="59436"/>
          </a:xfrm>
          <a:prstGeom prst="roundRect">
            <a:avLst>
              <a:gd name="adj" fmla="val 49231"/>
            </a:avLst>
          </a:prstGeom>
          <a:solidFill>
            <a:srgbClr val="E2EAEE"/>
          </a:solidFill>
          <a:ln/>
        </p:spPr>
      </p:sp>
      <p:sp>
        <p:nvSpPr>
          <p:cNvPr id="101" name="Shape 99"/>
          <p:cNvSpPr/>
          <p:nvPr/>
        </p:nvSpPr>
        <p:spPr>
          <a:xfrm>
            <a:off x="8823960" y="3106674"/>
            <a:ext cx="166255" cy="59436"/>
          </a:xfrm>
          <a:prstGeom prst="roundRect">
            <a:avLst>
              <a:gd name="adj" fmla="val 49231"/>
            </a:avLst>
          </a:prstGeom>
          <a:solidFill>
            <a:srgbClr val="2C8394"/>
          </a:solidFill>
          <a:ln/>
        </p:spPr>
      </p:sp>
      <p:sp>
        <p:nvSpPr>
          <p:cNvPr id="102" name="Text 100"/>
          <p:cNvSpPr txBox="1"/>
          <p:nvPr/>
        </p:nvSpPr>
        <p:spPr>
          <a:xfrm>
            <a:off x="10287000" y="3060192"/>
            <a:ext cx="640080" cy="152400"/>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2.00h</a:t>
            </a:r>
            <a:endParaRPr lang="en-US" sz="800" dirty="0"/>
          </a:p>
        </p:txBody>
      </p:sp>
      <p:sp>
        <p:nvSpPr>
          <p:cNvPr id="103" name="Text 101"/>
          <p:cNvSpPr txBox="1"/>
          <p:nvPr/>
        </p:nvSpPr>
        <p:spPr>
          <a:xfrm>
            <a:off x="10972800" y="3060192"/>
            <a:ext cx="603504" cy="152400"/>
          </a:xfrm>
          <a:prstGeom prst="rect">
            <a:avLst/>
          </a:prstGeom>
          <a:noFill/>
          <a:ln/>
        </p:spPr>
        <p:txBody>
          <a:bodyPr wrap="square" lIns="0" tIns="0" rIns="0" bIns="0" rtlCol="0" anchor="ctr"/>
          <a:lstStyle/>
          <a:p>
            <a:pPr algn="r" indent="0" marL="0">
              <a:buNone/>
            </a:pPr>
            <a:r>
              <a:rPr lang="en-US" sz="800" dirty="0">
                <a:solidFill>
                  <a:srgbClr val="5E7280"/>
                </a:solidFill>
                <a:latin typeface="Poppins" pitchFamily="34" charset="0"/>
                <a:ea typeface="Poppins" pitchFamily="34" charset="-122"/>
                <a:cs typeface="Poppins" pitchFamily="34" charset="-120"/>
              </a:rPr>
              <a:t>9.6%</a:t>
            </a:r>
            <a:endParaRPr lang="en-US" sz="800" dirty="0"/>
          </a:p>
        </p:txBody>
      </p:sp>
      <p:sp>
        <p:nvSpPr>
          <p:cNvPr id="104" name="Text 102"/>
          <p:cNvSpPr txBox="1"/>
          <p:nvPr/>
        </p:nvSpPr>
        <p:spPr>
          <a:xfrm>
            <a:off x="7379208" y="3212592"/>
            <a:ext cx="1371600" cy="15240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Not required</a:t>
            </a:r>
            <a:endParaRPr lang="en-US" sz="800" dirty="0"/>
          </a:p>
        </p:txBody>
      </p:sp>
      <p:sp>
        <p:nvSpPr>
          <p:cNvPr id="105" name="Shape 103"/>
          <p:cNvSpPr/>
          <p:nvPr/>
        </p:nvSpPr>
        <p:spPr>
          <a:xfrm>
            <a:off x="8823960" y="3259074"/>
            <a:ext cx="1371600" cy="59436"/>
          </a:xfrm>
          <a:prstGeom prst="roundRect">
            <a:avLst>
              <a:gd name="adj" fmla="val 49231"/>
            </a:avLst>
          </a:prstGeom>
          <a:solidFill>
            <a:srgbClr val="E2EAEE"/>
          </a:solidFill>
          <a:ln/>
        </p:spPr>
      </p:sp>
      <p:sp>
        <p:nvSpPr>
          <p:cNvPr id="106" name="Shape 104"/>
          <p:cNvSpPr/>
          <p:nvPr/>
        </p:nvSpPr>
        <p:spPr>
          <a:xfrm>
            <a:off x="8823960" y="3259074"/>
            <a:ext cx="166255" cy="59436"/>
          </a:xfrm>
          <a:prstGeom prst="roundRect">
            <a:avLst>
              <a:gd name="adj" fmla="val 49231"/>
            </a:avLst>
          </a:prstGeom>
          <a:solidFill>
            <a:srgbClr val="2C8394"/>
          </a:solidFill>
          <a:ln/>
        </p:spPr>
      </p:sp>
      <p:sp>
        <p:nvSpPr>
          <p:cNvPr id="107" name="Text 105"/>
          <p:cNvSpPr txBox="1"/>
          <p:nvPr/>
        </p:nvSpPr>
        <p:spPr>
          <a:xfrm>
            <a:off x="10287000" y="3212592"/>
            <a:ext cx="640080" cy="152400"/>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2.00h</a:t>
            </a:r>
            <a:endParaRPr lang="en-US" sz="800" dirty="0"/>
          </a:p>
        </p:txBody>
      </p:sp>
      <p:sp>
        <p:nvSpPr>
          <p:cNvPr id="108" name="Text 106"/>
          <p:cNvSpPr txBox="1"/>
          <p:nvPr/>
        </p:nvSpPr>
        <p:spPr>
          <a:xfrm>
            <a:off x="10972800" y="3212592"/>
            <a:ext cx="603504" cy="152400"/>
          </a:xfrm>
          <a:prstGeom prst="rect">
            <a:avLst/>
          </a:prstGeom>
          <a:noFill/>
          <a:ln/>
        </p:spPr>
        <p:txBody>
          <a:bodyPr wrap="square" lIns="0" tIns="0" rIns="0" bIns="0" rtlCol="0" anchor="ctr"/>
          <a:lstStyle/>
          <a:p>
            <a:pPr algn="r" indent="0" marL="0">
              <a:buNone/>
            </a:pPr>
            <a:r>
              <a:rPr lang="en-US" sz="800" dirty="0">
                <a:solidFill>
                  <a:srgbClr val="5E7280"/>
                </a:solidFill>
                <a:latin typeface="Poppins" pitchFamily="34" charset="0"/>
                <a:ea typeface="Poppins" pitchFamily="34" charset="-122"/>
                <a:cs typeface="Poppins" pitchFamily="34" charset="-120"/>
              </a:rPr>
              <a:t>9.6%</a:t>
            </a:r>
            <a:endParaRPr lang="en-US" sz="800" dirty="0"/>
          </a:p>
        </p:txBody>
      </p:sp>
      <p:sp>
        <p:nvSpPr>
          <p:cNvPr id="109" name="Text 107"/>
          <p:cNvSpPr txBox="1"/>
          <p:nvPr/>
        </p:nvSpPr>
        <p:spPr>
          <a:xfrm>
            <a:off x="7379208" y="3364992"/>
            <a:ext cx="1371600" cy="15240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Warranty</a:t>
            </a:r>
            <a:endParaRPr lang="en-US" sz="800" dirty="0"/>
          </a:p>
        </p:txBody>
      </p:sp>
      <p:sp>
        <p:nvSpPr>
          <p:cNvPr id="110" name="Shape 108"/>
          <p:cNvSpPr/>
          <p:nvPr/>
        </p:nvSpPr>
        <p:spPr>
          <a:xfrm>
            <a:off x="8823960" y="3411474"/>
            <a:ext cx="1371600" cy="59436"/>
          </a:xfrm>
          <a:prstGeom prst="roundRect">
            <a:avLst>
              <a:gd name="adj" fmla="val 49231"/>
            </a:avLst>
          </a:prstGeom>
          <a:solidFill>
            <a:srgbClr val="E2EAEE"/>
          </a:solidFill>
          <a:ln/>
        </p:spPr>
      </p:sp>
      <p:sp>
        <p:nvSpPr>
          <p:cNvPr id="111" name="Shape 109"/>
          <p:cNvSpPr/>
          <p:nvPr/>
        </p:nvSpPr>
        <p:spPr>
          <a:xfrm>
            <a:off x="8823960" y="3411474"/>
            <a:ext cx="45720" cy="59436"/>
          </a:xfrm>
          <a:prstGeom prst="roundRect">
            <a:avLst>
              <a:gd name="adj" fmla="val 64000"/>
            </a:avLst>
          </a:prstGeom>
          <a:solidFill>
            <a:srgbClr val="2C8394"/>
          </a:solidFill>
          <a:ln/>
        </p:spPr>
      </p:sp>
      <p:sp>
        <p:nvSpPr>
          <p:cNvPr id="112" name="Text 110"/>
          <p:cNvSpPr txBox="1"/>
          <p:nvPr/>
        </p:nvSpPr>
        <p:spPr>
          <a:xfrm>
            <a:off x="10287000" y="3364992"/>
            <a:ext cx="640080" cy="152400"/>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0.25h</a:t>
            </a:r>
            <a:endParaRPr lang="en-US" sz="800" dirty="0"/>
          </a:p>
        </p:txBody>
      </p:sp>
      <p:sp>
        <p:nvSpPr>
          <p:cNvPr id="113" name="Text 111"/>
          <p:cNvSpPr txBox="1"/>
          <p:nvPr/>
        </p:nvSpPr>
        <p:spPr>
          <a:xfrm>
            <a:off x="10972800" y="3364992"/>
            <a:ext cx="603504" cy="152400"/>
          </a:xfrm>
          <a:prstGeom prst="rect">
            <a:avLst/>
          </a:prstGeom>
          <a:noFill/>
          <a:ln/>
        </p:spPr>
        <p:txBody>
          <a:bodyPr wrap="square" lIns="0" tIns="0" rIns="0" bIns="0" rtlCol="0" anchor="ctr"/>
          <a:lstStyle/>
          <a:p>
            <a:pPr algn="r" indent="0" marL="0">
              <a:buNone/>
            </a:pPr>
            <a:r>
              <a:rPr lang="en-US" sz="800" dirty="0">
                <a:solidFill>
                  <a:srgbClr val="5E7280"/>
                </a:solidFill>
                <a:latin typeface="Poppins" pitchFamily="34" charset="0"/>
                <a:ea typeface="Poppins" pitchFamily="34" charset="-122"/>
                <a:cs typeface="Poppins" pitchFamily="34" charset="-120"/>
              </a:rPr>
              <a:t>1.2%</a:t>
            </a:r>
            <a:endParaRPr lang="en-US" sz="800" dirty="0"/>
          </a:p>
        </p:txBody>
      </p:sp>
      <p:sp>
        <p:nvSpPr>
          <p:cNvPr id="114" name="Text 112"/>
          <p:cNvSpPr txBox="1"/>
          <p:nvPr/>
        </p:nvSpPr>
        <p:spPr>
          <a:xfrm>
            <a:off x="7379208" y="3517392"/>
            <a:ext cx="1371600" cy="152400"/>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Onboarding</a:t>
            </a:r>
            <a:endParaRPr lang="en-US" sz="800" dirty="0"/>
          </a:p>
        </p:txBody>
      </p:sp>
      <p:sp>
        <p:nvSpPr>
          <p:cNvPr id="115" name="Shape 113"/>
          <p:cNvSpPr/>
          <p:nvPr/>
        </p:nvSpPr>
        <p:spPr>
          <a:xfrm>
            <a:off x="8823960" y="3563874"/>
            <a:ext cx="1371600" cy="59436"/>
          </a:xfrm>
          <a:prstGeom prst="roundRect">
            <a:avLst>
              <a:gd name="adj" fmla="val 49231"/>
            </a:avLst>
          </a:prstGeom>
          <a:solidFill>
            <a:srgbClr val="E2EAEE"/>
          </a:solidFill>
          <a:ln/>
        </p:spPr>
      </p:sp>
      <p:sp>
        <p:nvSpPr>
          <p:cNvPr id="116" name="Text 114"/>
          <p:cNvSpPr txBox="1"/>
          <p:nvPr/>
        </p:nvSpPr>
        <p:spPr>
          <a:xfrm>
            <a:off x="10287000" y="3517392"/>
            <a:ext cx="640080" cy="152400"/>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17" name="Text 115"/>
          <p:cNvSpPr txBox="1"/>
          <p:nvPr/>
        </p:nvSpPr>
        <p:spPr>
          <a:xfrm>
            <a:off x="10972800" y="3517392"/>
            <a:ext cx="603504" cy="152400"/>
          </a:xfrm>
          <a:prstGeom prst="rect">
            <a:avLst/>
          </a:prstGeom>
          <a:noFill/>
          <a:ln/>
        </p:spPr>
        <p:txBody>
          <a:bodyPr wrap="square" lIns="0" tIns="0" rIns="0" bIns="0" rtlCol="0" anchor="ctr"/>
          <a:lstStyle/>
          <a:p>
            <a:pPr algn="r" indent="0" marL="0">
              <a:buNone/>
            </a:pPr>
            <a:r>
              <a:rPr lang="en-US" sz="650" dirty="0">
                <a:solidFill>
                  <a:srgbClr val="8FA1AC"/>
                </a:solidFill>
                <a:latin typeface="Poppins" pitchFamily="34" charset="0"/>
                <a:ea typeface="Poppins" pitchFamily="34" charset="-122"/>
                <a:cs typeface="Poppins" pitchFamily="34" charset="-120"/>
              </a:rPr>
              <a:t>none</a:t>
            </a:r>
            <a:endParaRPr lang="en-US" sz="650" dirty="0"/>
          </a:p>
        </p:txBody>
      </p:sp>
      <p:sp>
        <p:nvSpPr>
          <p:cNvPr id="118" name="Text 116"/>
          <p:cNvSpPr txBox="1"/>
          <p:nvPr/>
        </p:nvSpPr>
        <p:spPr>
          <a:xfrm>
            <a:off x="7379208" y="3669792"/>
            <a:ext cx="1371600" cy="152400"/>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Training</a:t>
            </a:r>
            <a:endParaRPr lang="en-US" sz="800" dirty="0"/>
          </a:p>
        </p:txBody>
      </p:sp>
      <p:sp>
        <p:nvSpPr>
          <p:cNvPr id="119" name="Shape 117"/>
          <p:cNvSpPr/>
          <p:nvPr/>
        </p:nvSpPr>
        <p:spPr>
          <a:xfrm>
            <a:off x="8823960" y="3716274"/>
            <a:ext cx="1371600" cy="59436"/>
          </a:xfrm>
          <a:prstGeom prst="roundRect">
            <a:avLst>
              <a:gd name="adj" fmla="val 49231"/>
            </a:avLst>
          </a:prstGeom>
          <a:solidFill>
            <a:srgbClr val="E2EAEE"/>
          </a:solidFill>
          <a:ln/>
        </p:spPr>
      </p:sp>
      <p:sp>
        <p:nvSpPr>
          <p:cNvPr id="120" name="Text 118"/>
          <p:cNvSpPr txBox="1"/>
          <p:nvPr/>
        </p:nvSpPr>
        <p:spPr>
          <a:xfrm>
            <a:off x="10287000" y="3669792"/>
            <a:ext cx="640080" cy="152400"/>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21" name="Text 119"/>
          <p:cNvSpPr txBox="1"/>
          <p:nvPr/>
        </p:nvSpPr>
        <p:spPr>
          <a:xfrm>
            <a:off x="10972800" y="3669792"/>
            <a:ext cx="603504" cy="152400"/>
          </a:xfrm>
          <a:prstGeom prst="rect">
            <a:avLst/>
          </a:prstGeom>
          <a:noFill/>
          <a:ln/>
        </p:spPr>
        <p:txBody>
          <a:bodyPr wrap="square" lIns="0" tIns="0" rIns="0" bIns="0" rtlCol="0" anchor="ctr"/>
          <a:lstStyle/>
          <a:p>
            <a:pPr algn="r" indent="0" marL="0">
              <a:buNone/>
            </a:pPr>
            <a:r>
              <a:rPr lang="en-US" sz="650" dirty="0">
                <a:solidFill>
                  <a:srgbClr val="8FA1AC"/>
                </a:solidFill>
                <a:latin typeface="Poppins" pitchFamily="34" charset="0"/>
                <a:ea typeface="Poppins" pitchFamily="34" charset="-122"/>
                <a:cs typeface="Poppins" pitchFamily="34" charset="-120"/>
              </a:rPr>
              <a:t>none</a:t>
            </a:r>
            <a:endParaRPr lang="en-US" sz="650" dirty="0"/>
          </a:p>
        </p:txBody>
      </p:sp>
      <p:sp>
        <p:nvSpPr>
          <p:cNvPr id="122" name="Shape 120"/>
          <p:cNvSpPr/>
          <p:nvPr/>
        </p:nvSpPr>
        <p:spPr>
          <a:xfrm>
            <a:off x="7379208" y="3849624"/>
            <a:ext cx="4197096" cy="10973"/>
          </a:xfrm>
          <a:prstGeom prst="rect">
            <a:avLst/>
          </a:prstGeom>
          <a:solidFill>
            <a:srgbClr val="12293A"/>
          </a:solidFill>
          <a:ln/>
        </p:spPr>
      </p:sp>
      <p:sp>
        <p:nvSpPr>
          <p:cNvPr id="123" name="Text 121"/>
          <p:cNvSpPr txBox="1"/>
          <p:nvPr/>
        </p:nvSpPr>
        <p:spPr>
          <a:xfrm>
            <a:off x="7379208" y="3877056"/>
            <a:ext cx="1371600" cy="182880"/>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TOTAL</a:t>
            </a:r>
            <a:endParaRPr lang="en-US" sz="850" dirty="0"/>
          </a:p>
        </p:txBody>
      </p:sp>
      <p:sp>
        <p:nvSpPr>
          <p:cNvPr id="124" name="Text 122"/>
          <p:cNvSpPr txBox="1"/>
          <p:nvPr/>
        </p:nvSpPr>
        <p:spPr>
          <a:xfrm>
            <a:off x="8823960" y="3877056"/>
            <a:ext cx="1371600" cy="182880"/>
          </a:xfrm>
          <a:prstGeom prst="rect">
            <a:avLst/>
          </a:prstGeom>
          <a:noFill/>
          <a:ln/>
        </p:spPr>
        <p:txBody>
          <a:bodyPr wrap="square" lIns="0" tIns="0" rIns="0" bIns="0" rtlCol="0" anchor="ctr"/>
          <a:lstStyle/>
          <a:p>
            <a:pPr indent="0" marL="0">
              <a:buNone/>
            </a:pPr>
            <a:r>
              <a:rPr lang="en-US" sz="650" dirty="0">
                <a:solidFill>
                  <a:srgbClr val="5E7280"/>
                </a:solidFill>
                <a:latin typeface="Poppins" pitchFamily="34" charset="0"/>
                <a:ea typeface="Poppins" pitchFamily="34" charset="-122"/>
                <a:cs typeface="Poppins" pitchFamily="34" charset="-120"/>
              </a:rPr>
              <a:t>11 PS items carry time</a:t>
            </a:r>
            <a:endParaRPr lang="en-US" sz="650" dirty="0"/>
          </a:p>
        </p:txBody>
      </p:sp>
      <p:sp>
        <p:nvSpPr>
          <p:cNvPr id="125" name="Text 123"/>
          <p:cNvSpPr txBox="1"/>
          <p:nvPr/>
        </p:nvSpPr>
        <p:spPr>
          <a:xfrm>
            <a:off x="10287000" y="3877056"/>
            <a:ext cx="640080" cy="182880"/>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20.75h</a:t>
            </a:r>
            <a:endParaRPr lang="en-US" sz="900" dirty="0"/>
          </a:p>
        </p:txBody>
      </p:sp>
      <p:sp>
        <p:nvSpPr>
          <p:cNvPr id="126" name="Text 124"/>
          <p:cNvSpPr txBox="1"/>
          <p:nvPr/>
        </p:nvSpPr>
        <p:spPr>
          <a:xfrm>
            <a:off x="10972800" y="3877056"/>
            <a:ext cx="603504" cy="182880"/>
          </a:xfrm>
          <a:prstGeom prst="rect">
            <a:avLst/>
          </a:prstGeom>
          <a:noFill/>
          <a:ln/>
        </p:spPr>
        <p:txBody>
          <a:bodyPr wrap="square" lIns="0" tIns="0" rIns="0" bIns="0" rtlCol="0" anchor="ctr"/>
          <a:lstStyle/>
          <a:p>
            <a:pPr algn="r" indent="0" marL="0">
              <a:buNone/>
            </a:pPr>
            <a:r>
              <a:rPr lang="en-US" sz="800" b="1" dirty="0">
                <a:solidFill>
                  <a:srgbClr val="5E7280"/>
                </a:solidFill>
                <a:latin typeface="Poppins" pitchFamily="34" charset="0"/>
                <a:ea typeface="Poppins" pitchFamily="34" charset="-122"/>
                <a:cs typeface="Poppins" pitchFamily="34" charset="-120"/>
              </a:rPr>
              <a:t>100%</a:t>
            </a:r>
            <a:endParaRPr lang="en-US" sz="800" dirty="0"/>
          </a:p>
        </p:txBody>
      </p:sp>
      <p:sp>
        <p:nvSpPr>
          <p:cNvPr id="127" name="Shape 125"/>
          <p:cNvSpPr/>
          <p:nvPr/>
        </p:nvSpPr>
        <p:spPr>
          <a:xfrm>
            <a:off x="7178040" y="4224528"/>
            <a:ext cx="4599432" cy="1737360"/>
          </a:xfrm>
          <a:prstGeom prst="roundRect">
            <a:avLst>
              <a:gd name="adj" fmla="val 3684"/>
            </a:avLst>
          </a:prstGeom>
          <a:solidFill>
            <a:srgbClr val="FFFFFF"/>
          </a:solidFill>
          <a:ln/>
          <a:effectLst>
            <a:outerShdw sx="100000" sy="100000" kx="0" ky="0" algn="bl" rotWithShape="0" blurRad="76200" dist="25400" dir="5400000">
              <a:srgbClr val="9AAAB5">
                <a:alpha val="35000"/>
              </a:srgbClr>
            </a:outerShdw>
          </a:effectLst>
        </p:spPr>
      </p:sp>
      <p:sp>
        <p:nvSpPr>
          <p:cNvPr id="128" name="Text 126"/>
          <p:cNvSpPr txBox="1"/>
          <p:nvPr/>
        </p:nvSpPr>
        <p:spPr>
          <a:xfrm>
            <a:off x="7379208" y="4334256"/>
            <a:ext cx="423367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29" name="Text 127"/>
          <p:cNvSpPr txBox="1"/>
          <p:nvPr/>
        </p:nvSpPr>
        <p:spPr>
          <a:xfrm>
            <a:off x="7379208" y="4645152"/>
            <a:ext cx="4187952" cy="1188720"/>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6.1% billable utilisation is a logging number, not a delivery number.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20.75h landed against 342h of capacity, but only 17% of the week's 63 PS items carry hours.</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Two people carry 89% of the logged total.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Rhys Woolcock 10.50h (27.6% of a 38h week) and Joshua Casey 8.00h (21.1%); 5 PS members logged nothing at all.</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Work is landing even where hours aren't.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69 PS cases opened this week; Tech carries 79.5% of logged time. Median time to close since 8 Sep: Tech 1.0 d.</a:t>
            </a:r>
            <a:endParaRPr lang="en-US" sz="900" dirty="0"/>
          </a:p>
        </p:txBody>
      </p:sp>
      <p:sp>
        <p:nvSpPr>
          <p:cNvPr id="130" name="Text 128"/>
          <p:cNvSpPr txBox="1"/>
          <p:nvPr/>
        </p:nvSpPr>
        <p:spPr>
          <a:xfrm>
            <a:off x="411480" y="6144768"/>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All logged hours are treated as billable — creatio_non_billable is still populated on only a handful of records, so billable/non-billable is not yet separable.</a:t>
            </a:r>
            <a:endParaRPr lang="en-US" sz="750" dirty="0"/>
          </a:p>
        </p:txBody>
      </p:sp>
      <p:sp>
        <p:nvSpPr>
          <p:cNvPr id="131" name="Shape 129"/>
          <p:cNvSpPr/>
          <p:nvPr/>
        </p:nvSpPr>
        <p:spPr>
          <a:xfrm>
            <a:off x="6155741" y="6510528"/>
            <a:ext cx="5621731" cy="256032"/>
          </a:xfrm>
          <a:prstGeom prst="roundRect">
            <a:avLst>
              <a:gd name="adj" fmla="val 46429"/>
            </a:avLst>
          </a:prstGeom>
          <a:solidFill>
            <a:srgbClr val="12293A"/>
          </a:solidFill>
          <a:ln/>
        </p:spPr>
      </p:sp>
      <p:sp>
        <p:nvSpPr>
          <p:cNvPr id="132" name="Text 130"/>
          <p:cNvSpPr txBox="1"/>
          <p:nvPr/>
        </p:nvSpPr>
        <p:spPr>
          <a:xfrm>
            <a:off x="6155741" y="6510528"/>
            <a:ext cx="5621731"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PS records (total_hours) + PS pipeline ticket owners — live, read-only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Won vs Invoiced &amp; Retention</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Professional Services &amp; 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6720840" cy="2880360"/>
          </a:xfrm>
          <a:prstGeom prst="roundRect">
            <a:avLst>
              <a:gd name="adj" fmla="val 2222"/>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612648" y="1097280"/>
            <a:ext cx="631850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CLOSED WON ARR VS INVOICED ARR BY MONTH · 2026   </a:t>
            </a:r>
            <a:pPr indent="0" marL="0">
              <a:buNone/>
            </a:pPr>
            <a:r>
              <a:rPr lang="en-US" sz="680" dirty="0">
                <a:solidFill>
                  <a:srgbClr val="C88A2E"/>
                </a:solidFill>
                <a:latin typeface="Poppins" pitchFamily="34" charset="0"/>
                <a:ea typeface="Poppins" pitchFamily="34" charset="-122"/>
                <a:cs typeface="Poppins" pitchFamily="34" charset="-120"/>
              </a:rPr>
              <a:t>frozen at cutover</a:t>
            </a:r>
            <a:endParaRPr lang="en-US" sz="1150" dirty="0"/>
          </a:p>
        </p:txBody>
      </p:sp>
      <p:graphicFrame>
        <p:nvGraphicFramePr>
          <p:cNvPr id="15" name="Chart 0" descr=""/>
          <p:cNvGraphicFramePr/>
          <p:nvPr/>
        </p:nvGraphicFramePr>
        <p:xfrm>
          <a:off x="594360" y="1335024"/>
          <a:ext cx="6318504" cy="2167128"/>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12648" y="3538728"/>
            <a:ext cx="6318504" cy="292608"/>
          </a:xfrm>
          <a:prstGeom prst="rect">
            <a:avLst/>
          </a:prstGeom>
          <a:noFill/>
          <a:ln/>
        </p:spPr>
        <p:txBody>
          <a:bodyPr wrap="square" lIns="0" tIns="0" rIns="0" bIns="0" rtlCol="0" anchor="t"/>
          <a:lstStyle/>
          <a:p>
            <a:pPr indent="0" marL="0">
              <a:buNone/>
            </a:pPr>
            <a:r>
              <a:rPr lang="en-US" sz="620" dirty="0">
                <a:solidFill>
                  <a:srgbClr val="8FA1AC"/>
                </a:solidFill>
                <a:latin typeface="Poppins" pitchFamily="34" charset="0"/>
                <a:ea typeface="Poppins" pitchFamily="34" charset="-122"/>
                <a:cs typeface="Poppins" pitchFamily="34" charset="-120"/>
              </a:rPr>
              <a:t>Frozen at cutover — Creatio ARR basis, as last published. Aug–Sep are not plotted: HubSpot closed-won is deal amount, not the Creatio ARR measure, so a new series starts once the post-cutover months are confirmed.</a:t>
            </a:r>
            <a:endParaRPr lang="en-US" sz="620" dirty="0"/>
          </a:p>
        </p:txBody>
      </p:sp>
      <p:sp>
        <p:nvSpPr>
          <p:cNvPr id="17" name="Shape 14"/>
          <p:cNvSpPr/>
          <p:nvPr/>
        </p:nvSpPr>
        <p:spPr>
          <a:xfrm>
            <a:off x="7269480" y="1005840"/>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18" name="Text 15"/>
          <p:cNvSpPr txBox="1"/>
          <p:nvPr/>
        </p:nvSpPr>
        <p:spPr>
          <a:xfrm>
            <a:off x="7434072" y="1097280"/>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AWAITING GO-LIVE — ARR</a:t>
            </a:r>
            <a:endParaRPr lang="en-US" sz="950" dirty="0"/>
          </a:p>
        </p:txBody>
      </p:sp>
      <p:sp>
        <p:nvSpPr>
          <p:cNvPr id="19" name="Text 16"/>
          <p:cNvSpPr txBox="1"/>
          <p:nvPr/>
        </p:nvSpPr>
        <p:spPr>
          <a:xfrm>
            <a:off x="7415784" y="1280160"/>
            <a:ext cx="4215384" cy="292608"/>
          </a:xfrm>
          <a:prstGeom prst="rect">
            <a:avLst/>
          </a:prstGeom>
          <a:noFill/>
          <a:ln/>
        </p:spPr>
        <p:txBody>
          <a:bodyPr wrap="square" lIns="0" tIns="0" rIns="0" bIns="0" rtlCol="0" anchor="ctr"/>
          <a:lstStyle/>
          <a:p>
            <a:pPr indent="0" marL="0">
              <a:buNone/>
            </a:pPr>
            <a:r>
              <a:rPr lang="en-US" sz="2000" b="1" dirty="0">
                <a:solidFill>
                  <a:srgbClr val="C88A2E"/>
                </a:solidFill>
                <a:latin typeface="Poppins" pitchFamily="34" charset="0"/>
                <a:ea typeface="Poppins" pitchFamily="34" charset="-122"/>
                <a:cs typeface="Poppins" pitchFamily="34" charset="-120"/>
              </a:rPr>
              <a:t>$250k</a:t>
            </a:r>
            <a:endParaRPr lang="en-US" sz="2000" dirty="0"/>
          </a:p>
        </p:txBody>
      </p:sp>
      <p:sp>
        <p:nvSpPr>
          <p:cNvPr id="20" name="Text 17"/>
          <p:cNvSpPr txBox="1"/>
          <p:nvPr/>
        </p:nvSpPr>
        <p:spPr>
          <a:xfrm>
            <a:off x="7434072" y="1609344"/>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497 deals won since Mar · 277 invoiced · 220 outstanding</a:t>
            </a:r>
            <a:endParaRPr lang="en-US" sz="780" dirty="0"/>
          </a:p>
        </p:txBody>
      </p:sp>
      <p:sp>
        <p:nvSpPr>
          <p:cNvPr id="21" name="Shape 18"/>
          <p:cNvSpPr/>
          <p:nvPr/>
        </p:nvSpPr>
        <p:spPr>
          <a:xfrm>
            <a:off x="7269480" y="1993392"/>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22" name="Text 19"/>
          <p:cNvSpPr txBox="1"/>
          <p:nvPr/>
        </p:nvSpPr>
        <p:spPr>
          <a:xfrm>
            <a:off x="7434072" y="2084832"/>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CHURNED ARR · 2025→</a:t>
            </a:r>
            <a:endParaRPr lang="en-US" sz="950" dirty="0"/>
          </a:p>
        </p:txBody>
      </p:sp>
      <p:sp>
        <p:nvSpPr>
          <p:cNvPr id="23" name="Text 20"/>
          <p:cNvSpPr txBox="1"/>
          <p:nvPr/>
        </p:nvSpPr>
        <p:spPr>
          <a:xfrm>
            <a:off x="7415784" y="2267712"/>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$1.17M</a:t>
            </a:r>
            <a:endParaRPr lang="en-US" sz="2000" dirty="0"/>
          </a:p>
        </p:txBody>
      </p:sp>
      <p:sp>
        <p:nvSpPr>
          <p:cNvPr id="24" name="Text 21"/>
          <p:cNvSpPr txBox="1"/>
          <p:nvPr/>
        </p:nvSpPr>
        <p:spPr>
          <a:xfrm>
            <a:off x="7434072" y="2596896"/>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262 logos lost · register live</a:t>
            </a:r>
            <a:endParaRPr lang="en-US" sz="780" dirty="0"/>
          </a:p>
        </p:txBody>
      </p:sp>
      <p:sp>
        <p:nvSpPr>
          <p:cNvPr id="25" name="Shape 22"/>
          <p:cNvSpPr/>
          <p:nvPr/>
        </p:nvSpPr>
        <p:spPr>
          <a:xfrm>
            <a:off x="7269480" y="2980944"/>
            <a:ext cx="4507992" cy="905256"/>
          </a:xfrm>
          <a:prstGeom prst="roundRect">
            <a:avLst>
              <a:gd name="adj" fmla="val 7071"/>
            </a:avLst>
          </a:prstGeom>
          <a:solidFill>
            <a:srgbClr val="FFFFFF"/>
          </a:solidFill>
          <a:ln/>
          <a:effectLst>
            <a:outerShdw sx="100000" sy="100000" kx="0" ky="0" algn="bl" rotWithShape="0" blurRad="76200" dist="25400" dir="5400000">
              <a:srgbClr val="9AAAB5">
                <a:alpha val="35000"/>
              </a:srgbClr>
            </a:outerShdw>
          </a:effectLst>
        </p:spPr>
      </p:sp>
      <p:sp>
        <p:nvSpPr>
          <p:cNvPr id="26" name="Text 23"/>
          <p:cNvSpPr txBox="1"/>
          <p:nvPr/>
        </p:nvSpPr>
        <p:spPr>
          <a:xfrm>
            <a:off x="7434072" y="3072384"/>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NET MRR MOVEMENT</a:t>
            </a:r>
            <a:endParaRPr lang="en-US" sz="950" dirty="0"/>
          </a:p>
        </p:txBody>
      </p:sp>
      <p:sp>
        <p:nvSpPr>
          <p:cNvPr id="27" name="Text 24"/>
          <p:cNvSpPr txBox="1"/>
          <p:nvPr/>
        </p:nvSpPr>
        <p:spPr>
          <a:xfrm>
            <a:off x="7415784" y="3255264"/>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-$6.3k</a:t>
            </a:r>
            <a:endParaRPr lang="en-US" sz="2000" dirty="0"/>
          </a:p>
        </p:txBody>
      </p:sp>
      <p:sp>
        <p:nvSpPr>
          <p:cNvPr id="28" name="Text 25"/>
          <p:cNvSpPr txBox="1"/>
          <p:nvPr/>
        </p:nvSpPr>
        <p:spPr>
          <a:xfrm>
            <a:off x="7434072" y="3584448"/>
            <a:ext cx="4178808" cy="246888"/>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Q3 (Jul–Sep) · movement register, live — the base is still shrinking</a:t>
            </a:r>
            <a:endParaRPr lang="en-US" sz="780" dirty="0"/>
          </a:p>
        </p:txBody>
      </p:sp>
      <p:sp>
        <p:nvSpPr>
          <p:cNvPr id="29" name="Shape 26"/>
          <p:cNvSpPr/>
          <p:nvPr/>
        </p:nvSpPr>
        <p:spPr>
          <a:xfrm>
            <a:off x="6309360" y="4023360"/>
            <a:ext cx="5468112"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30" name="Text 27"/>
          <p:cNvSpPr txBox="1"/>
          <p:nvPr/>
        </p:nvSpPr>
        <p:spPr>
          <a:xfrm>
            <a:off x="6510528" y="4105656"/>
            <a:ext cx="5065776" cy="237744"/>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TOP 10 NOT INVOICED   </a:t>
            </a:r>
            <a:pPr indent="0" marL="0">
              <a:buNone/>
            </a:pPr>
            <a:r>
              <a:rPr lang="en-US" sz="650" dirty="0">
                <a:solidFill>
                  <a:srgbClr val="8FA1AC"/>
                </a:solidFill>
                <a:latin typeface="Poppins" pitchFamily="34" charset="0"/>
                <a:ea typeface="Poppins" pitchFamily="34" charset="-122"/>
                <a:cs typeface="Poppins" pitchFamily="34" charset="-120"/>
              </a:rPr>
              <a:t>ARR — sums to the awaiting figure</a:t>
            </a:r>
            <a:endParaRPr lang="en-US" sz="1100" dirty="0"/>
          </a:p>
        </p:txBody>
      </p:sp>
      <p:sp>
        <p:nvSpPr>
          <p:cNvPr id="31" name="Text 28"/>
          <p:cNvSpPr txBox="1"/>
          <p:nvPr/>
        </p:nvSpPr>
        <p:spPr>
          <a:xfrm>
            <a:off x="6748272" y="4352544"/>
            <a:ext cx="2286000" cy="164592"/>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CLIENT</a:t>
            </a:r>
            <a:endParaRPr lang="en-US" sz="700" dirty="0"/>
          </a:p>
        </p:txBody>
      </p:sp>
      <p:sp>
        <p:nvSpPr>
          <p:cNvPr id="32" name="Text 29"/>
          <p:cNvSpPr txBox="1"/>
          <p:nvPr/>
        </p:nvSpPr>
        <p:spPr>
          <a:xfrm>
            <a:off x="9052560" y="4352544"/>
            <a:ext cx="82296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ARR</a:t>
            </a:r>
            <a:endParaRPr lang="en-US" sz="700" dirty="0"/>
          </a:p>
        </p:txBody>
      </p:sp>
      <p:sp>
        <p:nvSpPr>
          <p:cNvPr id="33" name="Text 30"/>
          <p:cNvSpPr txBox="1"/>
          <p:nvPr/>
        </p:nvSpPr>
        <p:spPr>
          <a:xfrm>
            <a:off x="9921240" y="4352544"/>
            <a:ext cx="6858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MRR/mo</a:t>
            </a:r>
            <a:endParaRPr lang="en-US" sz="700" dirty="0"/>
          </a:p>
        </p:txBody>
      </p:sp>
      <p:sp>
        <p:nvSpPr>
          <p:cNvPr id="34" name="Text 31"/>
          <p:cNvSpPr txBox="1"/>
          <p:nvPr/>
        </p:nvSpPr>
        <p:spPr>
          <a:xfrm>
            <a:off x="10652760" y="4352544"/>
            <a:ext cx="4572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WON</a:t>
            </a:r>
            <a:endParaRPr lang="en-US" sz="700" dirty="0"/>
          </a:p>
        </p:txBody>
      </p:sp>
      <p:sp>
        <p:nvSpPr>
          <p:cNvPr id="35" name="Text 32"/>
          <p:cNvSpPr txBox="1"/>
          <p:nvPr/>
        </p:nvSpPr>
        <p:spPr>
          <a:xfrm>
            <a:off x="11155680" y="4352544"/>
            <a:ext cx="384048"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DEALS</a:t>
            </a:r>
            <a:endParaRPr lang="en-US" sz="700" dirty="0"/>
          </a:p>
        </p:txBody>
      </p:sp>
      <p:sp>
        <p:nvSpPr>
          <p:cNvPr id="36" name="Text 33"/>
          <p:cNvSpPr txBox="1"/>
          <p:nvPr/>
        </p:nvSpPr>
        <p:spPr>
          <a:xfrm>
            <a:off x="6510528" y="453542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a:t>
            </a:r>
            <a:endParaRPr lang="en-US" sz="700" dirty="0"/>
          </a:p>
        </p:txBody>
      </p:sp>
      <p:sp>
        <p:nvSpPr>
          <p:cNvPr id="37" name="Text 34"/>
          <p:cNvSpPr txBox="1"/>
          <p:nvPr/>
        </p:nvSpPr>
        <p:spPr>
          <a:xfrm>
            <a:off x="6748272" y="453542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Oscars Group ◆</a:t>
            </a:r>
            <a:endParaRPr lang="en-US" sz="750" dirty="0"/>
          </a:p>
        </p:txBody>
      </p:sp>
      <p:sp>
        <p:nvSpPr>
          <p:cNvPr id="38" name="Text 35"/>
          <p:cNvSpPr txBox="1"/>
          <p:nvPr/>
        </p:nvSpPr>
        <p:spPr>
          <a:xfrm>
            <a:off x="9052560" y="453542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$155k</a:t>
            </a:r>
            <a:endParaRPr lang="en-US" sz="750" dirty="0"/>
          </a:p>
        </p:txBody>
      </p:sp>
      <p:sp>
        <p:nvSpPr>
          <p:cNvPr id="39" name="Text 36"/>
          <p:cNvSpPr txBox="1"/>
          <p:nvPr/>
        </p:nvSpPr>
        <p:spPr>
          <a:xfrm>
            <a:off x="9921240" y="453542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$12,880</a:t>
            </a:r>
            <a:endParaRPr lang="en-US" sz="750" dirty="0"/>
          </a:p>
        </p:txBody>
      </p:sp>
      <p:sp>
        <p:nvSpPr>
          <p:cNvPr id="40" name="Text 37"/>
          <p:cNvSpPr txBox="1"/>
          <p:nvPr/>
        </p:nvSpPr>
        <p:spPr>
          <a:xfrm>
            <a:off x="10652760" y="453542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41" name="Text 38"/>
          <p:cNvSpPr txBox="1"/>
          <p:nvPr/>
        </p:nvSpPr>
        <p:spPr>
          <a:xfrm>
            <a:off x="11155680" y="4535424"/>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42" name="Text 39"/>
          <p:cNvSpPr txBox="1"/>
          <p:nvPr/>
        </p:nvSpPr>
        <p:spPr>
          <a:xfrm>
            <a:off x="6510528" y="4710989"/>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2</a:t>
            </a:r>
            <a:endParaRPr lang="en-US" sz="700" dirty="0"/>
          </a:p>
        </p:txBody>
      </p:sp>
      <p:sp>
        <p:nvSpPr>
          <p:cNvPr id="43" name="Text 40"/>
          <p:cNvSpPr txBox="1"/>
          <p:nvPr/>
        </p:nvSpPr>
        <p:spPr>
          <a:xfrm>
            <a:off x="6748272" y="4710989"/>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Wayi Restaurant</a:t>
            </a:r>
            <a:endParaRPr lang="en-US" sz="750" dirty="0"/>
          </a:p>
        </p:txBody>
      </p:sp>
      <p:sp>
        <p:nvSpPr>
          <p:cNvPr id="44" name="Text 41"/>
          <p:cNvSpPr txBox="1"/>
          <p:nvPr/>
        </p:nvSpPr>
        <p:spPr>
          <a:xfrm>
            <a:off x="9052560" y="4710989"/>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$21k</a:t>
            </a:r>
            <a:endParaRPr lang="en-US" sz="750" dirty="0"/>
          </a:p>
        </p:txBody>
      </p:sp>
      <p:sp>
        <p:nvSpPr>
          <p:cNvPr id="45" name="Text 42"/>
          <p:cNvSpPr txBox="1"/>
          <p:nvPr/>
        </p:nvSpPr>
        <p:spPr>
          <a:xfrm>
            <a:off x="9921240" y="4710989"/>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$1,790</a:t>
            </a:r>
            <a:endParaRPr lang="en-US" sz="750" dirty="0"/>
          </a:p>
        </p:txBody>
      </p:sp>
      <p:sp>
        <p:nvSpPr>
          <p:cNvPr id="46" name="Text 43"/>
          <p:cNvSpPr txBox="1"/>
          <p:nvPr/>
        </p:nvSpPr>
        <p:spPr>
          <a:xfrm>
            <a:off x="10652760" y="4710989"/>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May</a:t>
            </a:r>
            <a:endParaRPr lang="en-US" sz="750" dirty="0"/>
          </a:p>
        </p:txBody>
      </p:sp>
      <p:sp>
        <p:nvSpPr>
          <p:cNvPr id="47" name="Text 44"/>
          <p:cNvSpPr txBox="1"/>
          <p:nvPr/>
        </p:nvSpPr>
        <p:spPr>
          <a:xfrm>
            <a:off x="11155680" y="4710989"/>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48" name="Text 45"/>
          <p:cNvSpPr txBox="1"/>
          <p:nvPr/>
        </p:nvSpPr>
        <p:spPr>
          <a:xfrm>
            <a:off x="6510528" y="488655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3</a:t>
            </a:r>
            <a:endParaRPr lang="en-US" sz="700" dirty="0"/>
          </a:p>
        </p:txBody>
      </p:sp>
      <p:sp>
        <p:nvSpPr>
          <p:cNvPr id="49" name="Text 46"/>
          <p:cNvSpPr txBox="1"/>
          <p:nvPr/>
        </p:nvSpPr>
        <p:spPr>
          <a:xfrm>
            <a:off x="6748272" y="488655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Hallmark Hospitality · 2 venues</a:t>
            </a:r>
            <a:endParaRPr lang="en-US" sz="750" dirty="0"/>
          </a:p>
        </p:txBody>
      </p:sp>
      <p:sp>
        <p:nvSpPr>
          <p:cNvPr id="50" name="Text 47"/>
          <p:cNvSpPr txBox="1"/>
          <p:nvPr/>
        </p:nvSpPr>
        <p:spPr>
          <a:xfrm>
            <a:off x="9052560" y="488655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$19k</a:t>
            </a:r>
            <a:endParaRPr lang="en-US" sz="750" dirty="0"/>
          </a:p>
        </p:txBody>
      </p:sp>
      <p:sp>
        <p:nvSpPr>
          <p:cNvPr id="51" name="Text 48"/>
          <p:cNvSpPr txBox="1"/>
          <p:nvPr/>
        </p:nvSpPr>
        <p:spPr>
          <a:xfrm>
            <a:off x="9921240" y="488655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$1,557</a:t>
            </a:r>
            <a:endParaRPr lang="en-US" sz="750" dirty="0"/>
          </a:p>
        </p:txBody>
      </p:sp>
      <p:sp>
        <p:nvSpPr>
          <p:cNvPr id="52" name="Text 49"/>
          <p:cNvSpPr txBox="1"/>
          <p:nvPr/>
        </p:nvSpPr>
        <p:spPr>
          <a:xfrm>
            <a:off x="10652760" y="488655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Jun</a:t>
            </a:r>
            <a:endParaRPr lang="en-US" sz="750" dirty="0"/>
          </a:p>
        </p:txBody>
      </p:sp>
      <p:sp>
        <p:nvSpPr>
          <p:cNvPr id="53" name="Text 50"/>
          <p:cNvSpPr txBox="1"/>
          <p:nvPr/>
        </p:nvSpPr>
        <p:spPr>
          <a:xfrm>
            <a:off x="11155680" y="4886554"/>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a:t>
            </a:r>
            <a:endParaRPr lang="en-US" sz="750" dirty="0"/>
          </a:p>
        </p:txBody>
      </p:sp>
      <p:sp>
        <p:nvSpPr>
          <p:cNvPr id="54" name="Text 51"/>
          <p:cNvSpPr txBox="1"/>
          <p:nvPr/>
        </p:nvSpPr>
        <p:spPr>
          <a:xfrm>
            <a:off x="6510528" y="506211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4</a:t>
            </a:r>
            <a:endParaRPr lang="en-US" sz="700" dirty="0"/>
          </a:p>
        </p:txBody>
      </p:sp>
      <p:sp>
        <p:nvSpPr>
          <p:cNvPr id="55" name="Text 52"/>
          <p:cNvSpPr txBox="1"/>
          <p:nvPr/>
        </p:nvSpPr>
        <p:spPr>
          <a:xfrm>
            <a:off x="6748272" y="506211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BRG · 2 venues</a:t>
            </a:r>
            <a:endParaRPr lang="en-US" sz="750" dirty="0"/>
          </a:p>
        </p:txBody>
      </p:sp>
      <p:sp>
        <p:nvSpPr>
          <p:cNvPr id="56" name="Text 53"/>
          <p:cNvSpPr txBox="1"/>
          <p:nvPr/>
        </p:nvSpPr>
        <p:spPr>
          <a:xfrm>
            <a:off x="9052560" y="506211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57" name="Text 54"/>
          <p:cNvSpPr txBox="1"/>
          <p:nvPr/>
        </p:nvSpPr>
        <p:spPr>
          <a:xfrm>
            <a:off x="9921240" y="506211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$492</a:t>
            </a:r>
            <a:endParaRPr lang="en-US" sz="750" dirty="0"/>
          </a:p>
        </p:txBody>
      </p:sp>
      <p:sp>
        <p:nvSpPr>
          <p:cNvPr id="58" name="Text 55"/>
          <p:cNvSpPr txBox="1"/>
          <p:nvPr/>
        </p:nvSpPr>
        <p:spPr>
          <a:xfrm>
            <a:off x="10652760" y="506211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Jul</a:t>
            </a:r>
            <a:endParaRPr lang="en-US" sz="750" dirty="0"/>
          </a:p>
        </p:txBody>
      </p:sp>
      <p:sp>
        <p:nvSpPr>
          <p:cNvPr id="59" name="Text 56"/>
          <p:cNvSpPr txBox="1"/>
          <p:nvPr/>
        </p:nvSpPr>
        <p:spPr>
          <a:xfrm>
            <a:off x="11155680" y="5062118"/>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2</a:t>
            </a:r>
            <a:endParaRPr lang="en-US" sz="750" dirty="0"/>
          </a:p>
        </p:txBody>
      </p:sp>
      <p:sp>
        <p:nvSpPr>
          <p:cNvPr id="60" name="Text 57"/>
          <p:cNvSpPr txBox="1"/>
          <p:nvPr/>
        </p:nvSpPr>
        <p:spPr>
          <a:xfrm>
            <a:off x="6510528" y="523768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5</a:t>
            </a:r>
            <a:endParaRPr lang="en-US" sz="700" dirty="0"/>
          </a:p>
        </p:txBody>
      </p:sp>
      <p:sp>
        <p:nvSpPr>
          <p:cNvPr id="61" name="Text 58"/>
          <p:cNvSpPr txBox="1"/>
          <p:nvPr/>
        </p:nvSpPr>
        <p:spPr>
          <a:xfrm>
            <a:off x="6748272" y="523768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Grand Cru - Claremont</a:t>
            </a:r>
            <a:endParaRPr lang="en-US" sz="750" dirty="0"/>
          </a:p>
        </p:txBody>
      </p:sp>
      <p:sp>
        <p:nvSpPr>
          <p:cNvPr id="62" name="Text 59"/>
          <p:cNvSpPr txBox="1"/>
          <p:nvPr/>
        </p:nvSpPr>
        <p:spPr>
          <a:xfrm>
            <a:off x="9052560" y="523768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63" name="Text 60"/>
          <p:cNvSpPr txBox="1"/>
          <p:nvPr/>
        </p:nvSpPr>
        <p:spPr>
          <a:xfrm>
            <a:off x="9921240" y="523768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$480</a:t>
            </a:r>
            <a:endParaRPr lang="en-US" sz="750" dirty="0"/>
          </a:p>
        </p:txBody>
      </p:sp>
      <p:sp>
        <p:nvSpPr>
          <p:cNvPr id="64" name="Text 61"/>
          <p:cNvSpPr txBox="1"/>
          <p:nvPr/>
        </p:nvSpPr>
        <p:spPr>
          <a:xfrm>
            <a:off x="10652760" y="523768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Aug</a:t>
            </a:r>
            <a:endParaRPr lang="en-US" sz="750" dirty="0"/>
          </a:p>
        </p:txBody>
      </p:sp>
      <p:sp>
        <p:nvSpPr>
          <p:cNvPr id="65" name="Text 62"/>
          <p:cNvSpPr txBox="1"/>
          <p:nvPr/>
        </p:nvSpPr>
        <p:spPr>
          <a:xfrm>
            <a:off x="11155680" y="5237683"/>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66" name="Text 63"/>
          <p:cNvSpPr txBox="1"/>
          <p:nvPr/>
        </p:nvSpPr>
        <p:spPr>
          <a:xfrm>
            <a:off x="6510528" y="541324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6</a:t>
            </a:r>
            <a:endParaRPr lang="en-US" sz="700" dirty="0"/>
          </a:p>
        </p:txBody>
      </p:sp>
      <p:sp>
        <p:nvSpPr>
          <p:cNvPr id="67" name="Text 64"/>
          <p:cNvSpPr txBox="1"/>
          <p:nvPr/>
        </p:nvSpPr>
        <p:spPr>
          <a:xfrm>
            <a:off x="6748272" y="541324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Downs Club Toowoomba</a:t>
            </a:r>
            <a:endParaRPr lang="en-US" sz="750" dirty="0"/>
          </a:p>
        </p:txBody>
      </p:sp>
      <p:sp>
        <p:nvSpPr>
          <p:cNvPr id="68" name="Text 65"/>
          <p:cNvSpPr txBox="1"/>
          <p:nvPr/>
        </p:nvSpPr>
        <p:spPr>
          <a:xfrm>
            <a:off x="9052560" y="541324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69" name="Text 66"/>
          <p:cNvSpPr txBox="1"/>
          <p:nvPr/>
        </p:nvSpPr>
        <p:spPr>
          <a:xfrm>
            <a:off x="9921240" y="541324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$455</a:t>
            </a:r>
            <a:endParaRPr lang="en-US" sz="750" dirty="0"/>
          </a:p>
        </p:txBody>
      </p:sp>
      <p:sp>
        <p:nvSpPr>
          <p:cNvPr id="70" name="Text 67"/>
          <p:cNvSpPr txBox="1"/>
          <p:nvPr/>
        </p:nvSpPr>
        <p:spPr>
          <a:xfrm>
            <a:off x="10652760" y="541324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May</a:t>
            </a:r>
            <a:endParaRPr lang="en-US" sz="750" dirty="0"/>
          </a:p>
        </p:txBody>
      </p:sp>
      <p:sp>
        <p:nvSpPr>
          <p:cNvPr id="71" name="Text 68"/>
          <p:cNvSpPr txBox="1"/>
          <p:nvPr/>
        </p:nvSpPr>
        <p:spPr>
          <a:xfrm>
            <a:off x="11155680" y="5413248"/>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72" name="Text 69"/>
          <p:cNvSpPr txBox="1"/>
          <p:nvPr/>
        </p:nvSpPr>
        <p:spPr>
          <a:xfrm>
            <a:off x="6510528" y="558881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7</a:t>
            </a:r>
            <a:endParaRPr lang="en-US" sz="700" dirty="0"/>
          </a:p>
        </p:txBody>
      </p:sp>
      <p:sp>
        <p:nvSpPr>
          <p:cNvPr id="73" name="Text 70"/>
          <p:cNvSpPr txBox="1"/>
          <p:nvPr/>
        </p:nvSpPr>
        <p:spPr>
          <a:xfrm>
            <a:off x="6748272" y="558881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Crazy Horse Revue</a:t>
            </a:r>
            <a:endParaRPr lang="en-US" sz="750" dirty="0"/>
          </a:p>
        </p:txBody>
      </p:sp>
      <p:sp>
        <p:nvSpPr>
          <p:cNvPr id="74" name="Text 71"/>
          <p:cNvSpPr txBox="1"/>
          <p:nvPr/>
        </p:nvSpPr>
        <p:spPr>
          <a:xfrm>
            <a:off x="9052560" y="558881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75" name="Text 72"/>
          <p:cNvSpPr txBox="1"/>
          <p:nvPr/>
        </p:nvSpPr>
        <p:spPr>
          <a:xfrm>
            <a:off x="9921240" y="558881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$437</a:t>
            </a:r>
            <a:endParaRPr lang="en-US" sz="750" dirty="0"/>
          </a:p>
        </p:txBody>
      </p:sp>
      <p:sp>
        <p:nvSpPr>
          <p:cNvPr id="76" name="Text 73"/>
          <p:cNvSpPr txBox="1"/>
          <p:nvPr/>
        </p:nvSpPr>
        <p:spPr>
          <a:xfrm>
            <a:off x="10652760" y="558881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Apr</a:t>
            </a:r>
            <a:endParaRPr lang="en-US" sz="750" dirty="0"/>
          </a:p>
        </p:txBody>
      </p:sp>
      <p:sp>
        <p:nvSpPr>
          <p:cNvPr id="77" name="Text 74"/>
          <p:cNvSpPr txBox="1"/>
          <p:nvPr/>
        </p:nvSpPr>
        <p:spPr>
          <a:xfrm>
            <a:off x="11155680" y="5588813"/>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78" name="Text 75"/>
          <p:cNvSpPr txBox="1"/>
          <p:nvPr/>
        </p:nvSpPr>
        <p:spPr>
          <a:xfrm>
            <a:off x="6510528" y="576437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8</a:t>
            </a:r>
            <a:endParaRPr lang="en-US" sz="700" dirty="0"/>
          </a:p>
        </p:txBody>
      </p:sp>
      <p:sp>
        <p:nvSpPr>
          <p:cNvPr id="79" name="Text 76"/>
          <p:cNvSpPr txBox="1"/>
          <p:nvPr/>
        </p:nvSpPr>
        <p:spPr>
          <a:xfrm>
            <a:off x="6748272" y="576437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Citi Group - Harp</a:t>
            </a:r>
            <a:endParaRPr lang="en-US" sz="750" dirty="0"/>
          </a:p>
        </p:txBody>
      </p:sp>
      <p:sp>
        <p:nvSpPr>
          <p:cNvPr id="80" name="Text 77"/>
          <p:cNvSpPr txBox="1"/>
          <p:nvPr/>
        </p:nvSpPr>
        <p:spPr>
          <a:xfrm>
            <a:off x="9052560" y="576437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1" name="Text 78"/>
          <p:cNvSpPr txBox="1"/>
          <p:nvPr/>
        </p:nvSpPr>
        <p:spPr>
          <a:xfrm>
            <a:off x="9921240" y="576437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$410</a:t>
            </a:r>
            <a:endParaRPr lang="en-US" sz="750" dirty="0"/>
          </a:p>
        </p:txBody>
      </p:sp>
      <p:sp>
        <p:nvSpPr>
          <p:cNvPr id="82" name="Text 79"/>
          <p:cNvSpPr txBox="1"/>
          <p:nvPr/>
        </p:nvSpPr>
        <p:spPr>
          <a:xfrm>
            <a:off x="10652760" y="576437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83" name="Text 80"/>
          <p:cNvSpPr txBox="1"/>
          <p:nvPr/>
        </p:nvSpPr>
        <p:spPr>
          <a:xfrm>
            <a:off x="11155680" y="5764378"/>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84" name="Text 81"/>
          <p:cNvSpPr txBox="1"/>
          <p:nvPr/>
        </p:nvSpPr>
        <p:spPr>
          <a:xfrm>
            <a:off x="6510528" y="5939942"/>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9</a:t>
            </a:r>
            <a:endParaRPr lang="en-US" sz="700" dirty="0"/>
          </a:p>
        </p:txBody>
      </p:sp>
      <p:sp>
        <p:nvSpPr>
          <p:cNvPr id="85" name="Text 82"/>
          <p:cNvSpPr txBox="1"/>
          <p:nvPr/>
        </p:nvSpPr>
        <p:spPr>
          <a:xfrm>
            <a:off x="6748272" y="5939942"/>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Woodside Beach Hotel</a:t>
            </a:r>
            <a:endParaRPr lang="en-US" sz="750" dirty="0"/>
          </a:p>
        </p:txBody>
      </p:sp>
      <p:sp>
        <p:nvSpPr>
          <p:cNvPr id="86" name="Text 83"/>
          <p:cNvSpPr txBox="1"/>
          <p:nvPr/>
        </p:nvSpPr>
        <p:spPr>
          <a:xfrm>
            <a:off x="9052560" y="5939942"/>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7" name="Text 84"/>
          <p:cNvSpPr txBox="1"/>
          <p:nvPr/>
        </p:nvSpPr>
        <p:spPr>
          <a:xfrm>
            <a:off x="9921240" y="5939942"/>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$394</a:t>
            </a:r>
            <a:endParaRPr lang="en-US" sz="750" dirty="0"/>
          </a:p>
        </p:txBody>
      </p:sp>
      <p:sp>
        <p:nvSpPr>
          <p:cNvPr id="88" name="Text 85"/>
          <p:cNvSpPr txBox="1"/>
          <p:nvPr/>
        </p:nvSpPr>
        <p:spPr>
          <a:xfrm>
            <a:off x="10652760" y="5939942"/>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89" name="Text 86"/>
          <p:cNvSpPr txBox="1"/>
          <p:nvPr/>
        </p:nvSpPr>
        <p:spPr>
          <a:xfrm>
            <a:off x="11155680" y="5939942"/>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90" name="Text 87"/>
          <p:cNvSpPr txBox="1"/>
          <p:nvPr/>
        </p:nvSpPr>
        <p:spPr>
          <a:xfrm>
            <a:off x="6510528" y="6115507"/>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10</a:t>
            </a:r>
            <a:endParaRPr lang="en-US" sz="700" dirty="0"/>
          </a:p>
        </p:txBody>
      </p:sp>
      <p:sp>
        <p:nvSpPr>
          <p:cNvPr id="91" name="Text 88"/>
          <p:cNvSpPr txBox="1"/>
          <p:nvPr/>
        </p:nvSpPr>
        <p:spPr>
          <a:xfrm>
            <a:off x="6748272" y="6115507"/>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Bistro Margaux</a:t>
            </a:r>
            <a:endParaRPr lang="en-US" sz="750" dirty="0"/>
          </a:p>
        </p:txBody>
      </p:sp>
      <p:sp>
        <p:nvSpPr>
          <p:cNvPr id="92" name="Text 89"/>
          <p:cNvSpPr txBox="1"/>
          <p:nvPr/>
        </p:nvSpPr>
        <p:spPr>
          <a:xfrm>
            <a:off x="9052560" y="6115507"/>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$4k</a:t>
            </a:r>
            <a:endParaRPr lang="en-US" sz="750" dirty="0"/>
          </a:p>
        </p:txBody>
      </p:sp>
      <p:sp>
        <p:nvSpPr>
          <p:cNvPr id="93" name="Text 90"/>
          <p:cNvSpPr txBox="1"/>
          <p:nvPr/>
        </p:nvSpPr>
        <p:spPr>
          <a:xfrm>
            <a:off x="9921240" y="6115507"/>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$333</a:t>
            </a:r>
            <a:endParaRPr lang="en-US" sz="750" dirty="0"/>
          </a:p>
        </p:txBody>
      </p:sp>
      <p:sp>
        <p:nvSpPr>
          <p:cNvPr id="94" name="Text 91"/>
          <p:cNvSpPr txBox="1"/>
          <p:nvPr/>
        </p:nvSpPr>
        <p:spPr>
          <a:xfrm>
            <a:off x="10652760" y="6115507"/>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Aug</a:t>
            </a:r>
            <a:endParaRPr lang="en-US" sz="750" dirty="0"/>
          </a:p>
        </p:txBody>
      </p:sp>
      <p:sp>
        <p:nvSpPr>
          <p:cNvPr id="95" name="Text 92"/>
          <p:cNvSpPr txBox="1"/>
          <p:nvPr/>
        </p:nvSpPr>
        <p:spPr>
          <a:xfrm>
            <a:off x="11155680" y="6115507"/>
            <a:ext cx="384048"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a:t>
            </a:r>
            <a:endParaRPr lang="en-US" sz="750" dirty="0"/>
          </a:p>
        </p:txBody>
      </p:sp>
      <p:sp>
        <p:nvSpPr>
          <p:cNvPr id="96" name="Shape 93"/>
          <p:cNvSpPr/>
          <p:nvPr/>
        </p:nvSpPr>
        <p:spPr>
          <a:xfrm>
            <a:off x="411480" y="4023360"/>
            <a:ext cx="5760720"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97" name="Text 94"/>
          <p:cNvSpPr txBox="1"/>
          <p:nvPr/>
        </p:nvSpPr>
        <p:spPr>
          <a:xfrm>
            <a:off x="612648" y="4133088"/>
            <a:ext cx="530352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8" name="Text 95"/>
          <p:cNvSpPr txBox="1"/>
          <p:nvPr/>
        </p:nvSpPr>
        <p:spPr>
          <a:xfrm>
            <a:off x="612648" y="4425696"/>
            <a:ext cx="5349240" cy="1810512"/>
          </a:xfrm>
          <a:prstGeom prst="rect">
            <a:avLst/>
          </a:prstGeom>
          <a:noFill/>
          <a:ln/>
        </p:spPr>
        <p:txBody>
          <a:bodyPr wrap="square" lIns="0" tIns="0" rIns="0" bIns="0" rtlCol="0" anchor="t"/>
          <a:lstStyle/>
          <a:p>
            <a:pPr indent="0" marL="0">
              <a:buNone/>
            </a:pPr>
            <a:r>
              <a:rPr lang="en-US" sz="850" b="1" dirty="0">
                <a:solidFill>
                  <a:srgbClr val="B4552D"/>
                </a:solidFill>
                <a:latin typeface="Poppins" pitchFamily="34" charset="0"/>
                <a:ea typeface="Poppins" pitchFamily="34" charset="-122"/>
                <a:cs typeface="Poppins" pitchFamily="34" charset="-120"/>
              </a:rPr>
              <a:t>•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Install-to-invoice lag runs 60–90 days — wins bill ~a quarter later; March wins still uninvoiced are past normal lag and worth chasing.</a:t>
            </a:r>
            <a:endParaRPr lang="en-US" sz="850" dirty="0"/>
          </a:p>
          <a:p>
            <a:pPr indent="0" marL="0">
              <a:buNone/>
            </a:pPr>
            <a:r>
              <a:rPr lang="en-US" sz="850" b="1" dirty="0">
                <a:solidFill>
                  <a:srgbClr val="C88A2E"/>
                </a:solidFill>
                <a:latin typeface="Poppins" pitchFamily="34" charset="0"/>
                <a:ea typeface="Poppins" pitchFamily="34" charset="-122"/>
                <a:cs typeface="Poppins" pitchFamily="34" charset="-120"/>
              </a:rPr>
              <a:t>•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Uninvoiced is top-loaded: Oscars Group is 62% of the $250k awaiting go-live; the top 3 clients are ~78%.</a:t>
            </a:r>
            <a:endParaRPr lang="en-US" sz="850" dirty="0"/>
          </a:p>
          <a:p>
            <a:pPr indent="0" marL="0">
              <a:buNone/>
            </a:pPr>
            <a:r>
              <a:rPr lang="en-US" sz="850" b="1" dirty="0">
                <a:solidFill>
                  <a:srgbClr val="2C8394"/>
                </a:solidFill>
                <a:latin typeface="Poppins" pitchFamily="34" charset="0"/>
                <a:ea typeface="Poppins" pitchFamily="34" charset="-122"/>
                <a:cs typeface="Poppins" pitchFamily="34" charset="-120"/>
              </a:rPr>
              <a:t>•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Churn reads from the movement register (live): $1.17M of ARR across 262 logos since 2025, plus $235k lost to contraction on accounts that stayed. Q3 net MRR is -$6.3k — new business is not covering it.</a:t>
            </a:r>
            <a:endParaRPr lang="en-US" sz="850" dirty="0"/>
          </a:p>
          <a:p>
            <a:pPr indent="0" marL="0">
              <a:buNone/>
            </a:pPr>
            <a:r>
              <a:rPr lang="en-US" sz="85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850" dirty="0">
                <a:solidFill>
                  <a:srgbClr val="8FA1AC"/>
                </a:solidFill>
                <a:latin typeface="Poppins" pitchFamily="34" charset="0"/>
                <a:ea typeface="Poppins" pitchFamily="34" charset="-122"/>
                <a:cs typeface="Poppins" pitchFamily="34" charset="-120"/>
              </a:rPr>
              <a:t>AVC excluded — Creatio MRR field misstated (annual values in the monthly field); correction pending.</a:t>
            </a:r>
            <a:endParaRPr lang="en-US" sz="850" dirty="0"/>
          </a:p>
          <a:p>
            <a:pPr indent="0" marL="0">
              <a:buNone/>
            </a:pPr>
            <a:r>
              <a:rPr lang="en-US" sz="900" b="1" dirty="0">
                <a:solidFill>
                  <a:srgbClr val="2C8394"/>
                </a:solidFill>
                <a:latin typeface="Poppins" pitchFamily="34" charset="0"/>
                <a:ea typeface="Poppins" pitchFamily="34" charset="-122"/>
                <a:cs typeface="Poppins" pitchFamily="34" charset="-120"/>
              </a:rPr>
              <a:t>GO-LIVE CONTEXT</a:t>
            </a:r>
            <a:endParaRPr lang="en-US" sz="850" dirty="0"/>
          </a:p>
          <a:p>
            <a:pPr indent="0" marL="0">
              <a:buNone/>
            </a:pPr>
            <a:r>
              <a:rPr lang="en-US" sz="850" b="1" dirty="0">
                <a:solidFill>
                  <a:srgbClr val="C88A2E"/>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Oscars Group — </a:t>
            </a:r>
            <a:pPr indent="0" marL="0">
              <a:buNone/>
            </a:pPr>
            <a:r>
              <a:rPr lang="en-US" sz="850" dirty="0">
                <a:solidFill>
                  <a:srgbClr val="3A4B57"/>
                </a:solidFill>
                <a:latin typeface="Poppins" pitchFamily="34" charset="0"/>
                <a:ea typeface="Poppins" pitchFamily="34" charset="-122"/>
                <a:cs typeface="Poppins" pitchFamily="34" charset="-120"/>
              </a:rPr>
              <a:t>Signed — ~1.5x rollout timeline expected. Keen to start but held by old provider's contract terms; asking H&amp;L for a discount to bridge.</a:t>
            </a:r>
            <a:endParaRPr lang="en-US" sz="850" dirty="0"/>
          </a:p>
        </p:txBody>
      </p:sp>
      <p:sp>
        <p:nvSpPr>
          <p:cNvPr id="99" name="Text 96"/>
          <p:cNvSpPr txBox="1"/>
          <p:nvPr/>
        </p:nvSpPr>
        <p:spPr>
          <a:xfrm>
            <a:off x="411480" y="6455664"/>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Invoiced = new + expansion MRR movements annualised</a:t>
            </a:r>
            <a:endParaRPr lang="en-US" sz="750" dirty="0"/>
          </a:p>
        </p:txBody>
      </p:sp>
      <p:sp>
        <p:nvSpPr>
          <p:cNvPr id="100" name="Shape 97"/>
          <p:cNvSpPr/>
          <p:nvPr/>
        </p:nvSpPr>
        <p:spPr>
          <a:xfrm>
            <a:off x="7337146" y="6510528"/>
            <a:ext cx="4440326" cy="256032"/>
          </a:xfrm>
          <a:prstGeom prst="roundRect">
            <a:avLst>
              <a:gd name="adj" fmla="val 46429"/>
            </a:avLst>
          </a:prstGeom>
          <a:solidFill>
            <a:srgbClr val="12293A"/>
          </a:solidFill>
          <a:ln/>
        </p:spPr>
      </p:sp>
      <p:sp>
        <p:nvSpPr>
          <p:cNvPr id="101" name="Text 98"/>
          <p:cNvSpPr txBox="1"/>
          <p:nvPr/>
        </p:nvSpPr>
        <p:spPr>
          <a:xfrm>
            <a:off x="7337146" y="6510528"/>
            <a:ext cx="4440326"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Finance Weekly Invoicing &amp; Creatio · movement register live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Backlog</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Support</a:t>
            </a:r>
            <a:endParaRPr lang="en-US" sz="1050" dirty="0"/>
          </a:p>
        </p:txBody>
      </p:sp>
      <p:sp>
        <p:nvSpPr>
          <p:cNvPr id="7" name="Shape 5"/>
          <p:cNvSpPr/>
          <p:nvPr/>
        </p:nvSpPr>
        <p:spPr>
          <a:xfrm>
            <a:off x="8686800" y="82296"/>
            <a:ext cx="1965960" cy="347472"/>
          </a:xfrm>
          <a:prstGeom prst="roundRect">
            <a:avLst>
              <a:gd name="adj" fmla="val 50000"/>
            </a:avLst>
          </a:prstGeom>
          <a:solidFill>
            <a:srgbClr val="C88A2E"/>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3  ·  DID WE KEEP THEM?</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BACKLOG</a:t>
            </a:r>
            <a:endParaRPr lang="en-US" sz="950" dirty="0"/>
          </a:p>
        </p:txBody>
      </p:sp>
      <p:sp>
        <p:nvSpPr>
          <p:cNvPr id="17" name="Text 15"/>
          <p:cNvSpPr txBox="1"/>
          <p:nvPr/>
        </p:nvSpPr>
        <p:spPr>
          <a:xfrm>
            <a:off x="55778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675</a:t>
            </a:r>
            <a:endParaRPr lang="en-US" sz="2600" dirty="0"/>
          </a:p>
        </p:txBody>
      </p:sp>
      <p:sp>
        <p:nvSpPr>
          <p:cNvPr id="18" name="Text 16"/>
          <p:cNvSpPr txBox="1"/>
          <p:nvPr/>
        </p:nvSpPr>
        <p:spPr>
          <a:xfrm>
            <a:off x="57607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as at 27 Sep</a:t>
            </a:r>
            <a:endParaRPr lang="en-US" sz="780" dirty="0"/>
          </a:p>
        </p:txBody>
      </p:sp>
      <p:sp>
        <p:nvSpPr>
          <p:cNvPr id="19" name="Shape 17"/>
          <p:cNvSpPr/>
          <p:nvPr/>
        </p:nvSpPr>
        <p:spPr>
          <a:xfrm>
            <a:off x="329184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PAST 30 DAYS</a:t>
            </a:r>
            <a:endParaRPr lang="en-US" sz="950" dirty="0"/>
          </a:p>
        </p:txBody>
      </p:sp>
      <p:sp>
        <p:nvSpPr>
          <p:cNvPr id="21" name="Text 19"/>
          <p:cNvSpPr txBox="1"/>
          <p:nvPr/>
        </p:nvSpPr>
        <p:spPr>
          <a:xfrm>
            <a:off x="343814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179</a:t>
            </a:r>
            <a:endParaRPr lang="en-US" sz="2600" dirty="0"/>
          </a:p>
        </p:txBody>
      </p:sp>
      <p:sp>
        <p:nvSpPr>
          <p:cNvPr id="22" name="Text 20"/>
          <p:cNvSpPr txBox="1"/>
          <p:nvPr/>
        </p:nvSpPr>
        <p:spPr>
          <a:xfrm>
            <a:off x="345643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resolution overdue</a:t>
            </a:r>
            <a:endParaRPr lang="en-US" sz="780" dirty="0"/>
          </a:p>
        </p:txBody>
      </p:sp>
      <p:sp>
        <p:nvSpPr>
          <p:cNvPr id="23" name="Shape 21"/>
          <p:cNvSpPr/>
          <p:nvPr/>
        </p:nvSpPr>
        <p:spPr>
          <a:xfrm>
            <a:off x="617220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MEDIAN TICKET AGE</a:t>
            </a:r>
            <a:endParaRPr lang="en-US" sz="950" dirty="0"/>
          </a:p>
        </p:txBody>
      </p:sp>
      <p:sp>
        <p:nvSpPr>
          <p:cNvPr id="25" name="Text 23"/>
          <p:cNvSpPr txBox="1"/>
          <p:nvPr/>
        </p:nvSpPr>
        <p:spPr>
          <a:xfrm>
            <a:off x="631850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17 Days</a:t>
            </a:r>
            <a:endParaRPr lang="en-US" sz="2600" dirty="0"/>
          </a:p>
        </p:txBody>
      </p:sp>
      <p:sp>
        <p:nvSpPr>
          <p:cNvPr id="26" name="Text 24"/>
          <p:cNvSpPr txBox="1"/>
          <p:nvPr/>
        </p:nvSpPr>
        <p:spPr>
          <a:xfrm>
            <a:off x="633679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All open tickets</a:t>
            </a:r>
            <a:endParaRPr lang="en-US" sz="780" dirty="0"/>
          </a:p>
        </p:txBody>
      </p:sp>
      <p:sp>
        <p:nvSpPr>
          <p:cNvPr id="27" name="Shape 25"/>
          <p:cNvSpPr/>
          <p:nvPr/>
        </p:nvSpPr>
        <p:spPr>
          <a:xfrm>
            <a:off x="9052560" y="1024128"/>
            <a:ext cx="27249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115568"/>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TOTAL CASES</a:t>
            </a:r>
            <a:endParaRPr lang="en-US" sz="950" dirty="0"/>
          </a:p>
        </p:txBody>
      </p:sp>
      <p:sp>
        <p:nvSpPr>
          <p:cNvPr id="29" name="Text 27"/>
          <p:cNvSpPr txBox="1"/>
          <p:nvPr/>
        </p:nvSpPr>
        <p:spPr>
          <a:xfrm>
            <a:off x="9198864" y="1298448"/>
            <a:ext cx="24323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13,627</a:t>
            </a:r>
            <a:endParaRPr lang="en-US" sz="2600" dirty="0"/>
          </a:p>
        </p:txBody>
      </p:sp>
      <p:sp>
        <p:nvSpPr>
          <p:cNvPr id="30" name="Text 28"/>
          <p:cNvSpPr txBox="1"/>
          <p:nvPr/>
        </p:nvSpPr>
        <p:spPr>
          <a:xfrm>
            <a:off x="9217152" y="1691640"/>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 Feb 26 → 27 Sep 26 · HubSpot basis (all Support-pipeline tickets)</a:t>
            </a:r>
            <a:endParaRPr lang="en-US" sz="780" dirty="0"/>
          </a:p>
        </p:txBody>
      </p:sp>
      <p:sp>
        <p:nvSpPr>
          <p:cNvPr id="31" name="Shape 29"/>
          <p:cNvSpPr/>
          <p:nvPr/>
        </p:nvSpPr>
        <p:spPr>
          <a:xfrm>
            <a:off x="411480" y="2395728"/>
            <a:ext cx="6583680" cy="3913632"/>
          </a:xfrm>
          <a:prstGeom prst="roundRect">
            <a:avLst>
              <a:gd name="adj" fmla="val 1636"/>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505456"/>
            <a:ext cx="493776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OPEN BACKLOG BY AGE BAND — WEEKLY</a:t>
            </a:r>
            <a:endParaRPr lang="en-US" sz="1200" dirty="0"/>
          </a:p>
        </p:txBody>
      </p:sp>
      <p:sp>
        <p:nvSpPr>
          <p:cNvPr id="33" name="Shape 31"/>
          <p:cNvSpPr/>
          <p:nvPr/>
        </p:nvSpPr>
        <p:spPr>
          <a:xfrm>
            <a:off x="630936" y="2807208"/>
            <a:ext cx="109728" cy="109728"/>
          </a:xfrm>
          <a:prstGeom prst="rect">
            <a:avLst/>
          </a:prstGeom>
          <a:solidFill>
            <a:srgbClr val="3D8F5F"/>
          </a:solidFill>
          <a:ln/>
        </p:spPr>
      </p:sp>
      <p:sp>
        <p:nvSpPr>
          <p:cNvPr id="34" name="Text 32"/>
          <p:cNvSpPr txBox="1"/>
          <p:nvPr/>
        </p:nvSpPr>
        <p:spPr>
          <a:xfrm>
            <a:off x="76809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0–7 days</a:t>
            </a:r>
            <a:endParaRPr lang="en-US" sz="680" dirty="0"/>
          </a:p>
        </p:txBody>
      </p:sp>
      <p:sp>
        <p:nvSpPr>
          <p:cNvPr id="35" name="Shape 33"/>
          <p:cNvSpPr/>
          <p:nvPr/>
        </p:nvSpPr>
        <p:spPr>
          <a:xfrm>
            <a:off x="1472184" y="2807208"/>
            <a:ext cx="109728" cy="109728"/>
          </a:xfrm>
          <a:prstGeom prst="rect">
            <a:avLst/>
          </a:prstGeom>
          <a:solidFill>
            <a:srgbClr val="6FAEBB"/>
          </a:solidFill>
          <a:ln/>
        </p:spPr>
      </p:sp>
      <p:sp>
        <p:nvSpPr>
          <p:cNvPr id="36" name="Text 34"/>
          <p:cNvSpPr txBox="1"/>
          <p:nvPr/>
        </p:nvSpPr>
        <p:spPr>
          <a:xfrm>
            <a:off x="1609344"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8–30 days</a:t>
            </a:r>
            <a:endParaRPr lang="en-US" sz="680" dirty="0"/>
          </a:p>
        </p:txBody>
      </p:sp>
      <p:sp>
        <p:nvSpPr>
          <p:cNvPr id="37" name="Shape 35"/>
          <p:cNvSpPr/>
          <p:nvPr/>
        </p:nvSpPr>
        <p:spPr>
          <a:xfrm>
            <a:off x="2313432" y="2807208"/>
            <a:ext cx="109728" cy="109728"/>
          </a:xfrm>
          <a:prstGeom prst="rect">
            <a:avLst/>
          </a:prstGeom>
          <a:solidFill>
            <a:srgbClr val="C88A2E"/>
          </a:solidFill>
          <a:ln/>
        </p:spPr>
      </p:sp>
      <p:sp>
        <p:nvSpPr>
          <p:cNvPr id="38" name="Text 36"/>
          <p:cNvSpPr txBox="1"/>
          <p:nvPr/>
        </p:nvSpPr>
        <p:spPr>
          <a:xfrm>
            <a:off x="2450592"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31–90 days</a:t>
            </a:r>
            <a:endParaRPr lang="en-US" sz="680" dirty="0"/>
          </a:p>
        </p:txBody>
      </p:sp>
      <p:sp>
        <p:nvSpPr>
          <p:cNvPr id="39" name="Shape 37"/>
          <p:cNvSpPr/>
          <p:nvPr/>
        </p:nvSpPr>
        <p:spPr>
          <a:xfrm>
            <a:off x="3154680" y="2807208"/>
            <a:ext cx="109728" cy="109728"/>
          </a:xfrm>
          <a:prstGeom prst="rect">
            <a:avLst/>
          </a:prstGeom>
          <a:solidFill>
            <a:srgbClr val="7A3B21"/>
          </a:solidFill>
          <a:ln/>
        </p:spPr>
      </p:sp>
      <p:sp>
        <p:nvSpPr>
          <p:cNvPr id="40" name="Text 38"/>
          <p:cNvSpPr txBox="1"/>
          <p:nvPr/>
        </p:nvSpPr>
        <p:spPr>
          <a:xfrm>
            <a:off x="3291840"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90+ days</a:t>
            </a:r>
            <a:endParaRPr lang="en-US" sz="680" dirty="0"/>
          </a:p>
        </p:txBody>
      </p:sp>
      <p:graphicFrame>
        <p:nvGraphicFramePr>
          <p:cNvPr id="41" name="Chart 0" descr=""/>
          <p:cNvGraphicFramePr/>
          <p:nvPr/>
        </p:nvGraphicFramePr>
        <p:xfrm>
          <a:off x="539496" y="3054096"/>
          <a:ext cx="393192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2" name="Chart 1" descr=""/>
          <p:cNvGraphicFramePr/>
          <p:nvPr/>
        </p:nvGraphicFramePr>
        <p:xfrm>
          <a:off x="4727448" y="3054096"/>
          <a:ext cx="2121408" cy="2697480"/>
        </p:xfrm>
        <a:graphic xmlns:a="http://schemas.openxmlformats.org/drawingml/2006/main">
          <a:graphicData uri="http://schemas.openxmlformats.org/drawingml/2006/chart">
            <c:chart xmlns:c="http://schemas.openxmlformats.org/drawingml/2006/chart" r:id="rId2"/>
          </a:graphicData>
        </a:graphic>
      </p:graphicFrame>
      <p:sp>
        <p:nvSpPr>
          <p:cNvPr id="43" name="Shape 39"/>
          <p:cNvSpPr/>
          <p:nvPr/>
        </p:nvSpPr>
        <p:spPr>
          <a:xfrm>
            <a:off x="4599432" y="3099816"/>
            <a:ext cx="20117" cy="2331720"/>
          </a:xfrm>
          <a:prstGeom prst="rect">
            <a:avLst/>
          </a:prstGeom>
          <a:solidFill>
            <a:srgbClr val="B4552D"/>
          </a:solidFill>
          <a:ln/>
        </p:spPr>
      </p:sp>
      <p:sp>
        <p:nvSpPr>
          <p:cNvPr id="44" name="Shape 40"/>
          <p:cNvSpPr/>
          <p:nvPr/>
        </p:nvSpPr>
        <p:spPr>
          <a:xfrm>
            <a:off x="4142232" y="2761488"/>
            <a:ext cx="960120" cy="201168"/>
          </a:xfrm>
          <a:prstGeom prst="roundRect">
            <a:avLst>
              <a:gd name="adj" fmla="val 50000"/>
            </a:avLst>
          </a:prstGeom>
          <a:solidFill>
            <a:srgbClr val="B4552D"/>
          </a:solidFill>
          <a:ln/>
        </p:spPr>
      </p:sp>
      <p:sp>
        <p:nvSpPr>
          <p:cNvPr id="45" name="Text 41"/>
          <p:cNvSpPr txBox="1"/>
          <p:nvPr/>
        </p:nvSpPr>
        <p:spPr>
          <a:xfrm>
            <a:off x="4142232" y="2761488"/>
            <a:ext cx="960120" cy="201168"/>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CUTOVER 8 SEP</a:t>
            </a:r>
            <a:endParaRPr lang="en-US" sz="600" dirty="0"/>
          </a:p>
        </p:txBody>
      </p:sp>
      <p:sp>
        <p:nvSpPr>
          <p:cNvPr id="46" name="Text 42"/>
          <p:cNvSpPr txBox="1"/>
          <p:nvPr/>
        </p:nvSpPr>
        <p:spPr>
          <a:xfrm>
            <a:off x="960120" y="5641848"/>
            <a:ext cx="3108960" cy="182880"/>
          </a:xfrm>
          <a:prstGeom prst="rect">
            <a:avLst/>
          </a:prstGeom>
          <a:noFill/>
          <a:ln/>
        </p:spPr>
        <p:txBody>
          <a:bodyPr wrap="square" lIns="0" tIns="0" rIns="0" bIns="0" rtlCol="0" anchor="ctr"/>
          <a:lstStyle/>
          <a:p>
            <a:pPr algn="ctr" indent="0" marL="0">
              <a:buNone/>
            </a:pPr>
            <a:r>
              <a:rPr lang="en-US" sz="650" b="1" dirty="0">
                <a:solidFill>
                  <a:srgbClr val="C88A2E"/>
                </a:solidFill>
                <a:latin typeface="Poppins" pitchFamily="34" charset="0"/>
                <a:ea typeface="Poppins" pitchFamily="34" charset="-122"/>
                <a:cs typeface="Poppins" pitchFamily="34" charset="-120"/>
              </a:rPr>
              <a:t>CREATIO — FROZEN</a:t>
            </a:r>
            <a:endParaRPr lang="en-US" sz="650" dirty="0"/>
          </a:p>
        </p:txBody>
      </p:sp>
      <p:sp>
        <p:nvSpPr>
          <p:cNvPr id="47" name="Text 43"/>
          <p:cNvSpPr txBox="1"/>
          <p:nvPr/>
        </p:nvSpPr>
        <p:spPr>
          <a:xfrm>
            <a:off x="4727448" y="5641848"/>
            <a:ext cx="2121408" cy="182880"/>
          </a:xfrm>
          <a:prstGeom prst="rect">
            <a:avLst/>
          </a:prstGeom>
          <a:noFill/>
          <a:ln/>
        </p:spPr>
        <p:txBody>
          <a:bodyPr wrap="square" lIns="0" tIns="0" rIns="0" bIns="0" rtlCol="0" anchor="ctr"/>
          <a:lstStyle/>
          <a:p>
            <a:pPr algn="ctr" indent="0" marL="0">
              <a:buNone/>
            </a:pPr>
            <a:r>
              <a:rPr lang="en-US" sz="650" b="1" dirty="0">
                <a:solidFill>
                  <a:srgbClr val="2C8394"/>
                </a:solidFill>
                <a:latin typeface="Poppins" pitchFamily="34" charset="0"/>
                <a:ea typeface="Poppins" pitchFamily="34" charset="-122"/>
                <a:cs typeface="Poppins" pitchFamily="34" charset="-120"/>
              </a:rPr>
              <a:t>HUBSPOT — LIVE</a:t>
            </a:r>
            <a:endParaRPr lang="en-US" sz="650" dirty="0"/>
          </a:p>
        </p:txBody>
      </p:sp>
      <p:sp>
        <p:nvSpPr>
          <p:cNvPr id="48" name="Text 44"/>
          <p:cNvSpPr txBox="1"/>
          <p:nvPr/>
        </p:nvSpPr>
        <p:spPr>
          <a:xfrm>
            <a:off x="612648" y="5925312"/>
            <a:ext cx="6181344" cy="329184"/>
          </a:xfrm>
          <a:prstGeom prst="rect">
            <a:avLst/>
          </a:prstGeom>
          <a:noFill/>
          <a:ln/>
        </p:spPr>
        <p:txBody>
          <a:bodyPr wrap="square" lIns="0" tIns="0" rIns="0" bIns="0" rtlCol="0" anchor="t"/>
          <a:lstStyle/>
          <a:p>
            <a:pPr indent="0" marL="0">
              <a:buNone/>
            </a:pPr>
            <a:r>
              <a:rPr lang="en-US" sz="650" dirty="0">
                <a:solidFill>
                  <a:srgbClr val="8FA1AC"/>
                </a:solidFill>
                <a:latin typeface="Poppins" pitchFamily="34" charset="0"/>
                <a:ea typeface="Poppins" pitchFamily="34" charset="-122"/>
                <a:cs typeface="Poppins" pitchFamily="34" charset="-120"/>
              </a:rPr>
              <a:t>Weeks to 30 Aug are the frozen Creatio series (extracts ended 4 Sep); 13, 20 &amp; 27 Sep read live from HubSpot. The 7 Sep week falls inside the migration and is not reported.</a:t>
            </a:r>
            <a:endParaRPr lang="en-US" sz="650" dirty="0"/>
          </a:p>
        </p:txBody>
      </p:sp>
      <p:sp>
        <p:nvSpPr>
          <p:cNvPr id="49" name="Shape 45"/>
          <p:cNvSpPr/>
          <p:nvPr/>
        </p:nvSpPr>
        <p:spPr>
          <a:xfrm>
            <a:off x="7178040" y="2395728"/>
            <a:ext cx="4599432" cy="3913632"/>
          </a:xfrm>
          <a:prstGeom prst="roundRect">
            <a:avLst>
              <a:gd name="adj" fmla="val 1636"/>
            </a:avLst>
          </a:prstGeom>
          <a:solidFill>
            <a:srgbClr val="FFFFFF"/>
          </a:solidFill>
          <a:ln/>
          <a:effectLst>
            <a:outerShdw sx="100000" sy="100000" kx="0" ky="0" algn="bl" rotWithShape="0" blurRad="76200" dist="25400" dir="5400000">
              <a:srgbClr val="9AAAB5">
                <a:alpha val="35000"/>
              </a:srgbClr>
            </a:outerShdw>
          </a:effectLst>
        </p:spPr>
      </p:sp>
      <p:sp>
        <p:nvSpPr>
          <p:cNvPr id="50" name="Text 46"/>
          <p:cNvSpPr txBox="1"/>
          <p:nvPr/>
        </p:nvSpPr>
        <p:spPr>
          <a:xfrm>
            <a:off x="7379208" y="2505456"/>
            <a:ext cx="423367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51" name="Text 47"/>
          <p:cNvSpPr txBox="1"/>
          <p:nvPr/>
        </p:nvSpPr>
        <p:spPr>
          <a:xfrm>
            <a:off x="7379208" y="2816352"/>
            <a:ext cx="4187952" cy="3364992"/>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backlog turned this week.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Inflow 498 beat resolved 420 — the first week since cutover where it did. Open rose 575 → 675, and the 8–30 day band carried it (249 → 302). The 90+ tail is still the win: 10 → 11.</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31–90 days is where it is building.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That band went 132 → 168 in the week, so 179 cases are now past 30 days against 142 a fortnight ago. Work aged 8–30 days is ageing through rather than closing.</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queue is still the live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626 open cases show no first response. Migrated tickets answered only in Creatio count as unanswered here — treat as a ceiling until the transition washes through.</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SLA fields are populating on new HubSpot tickets — attainment reporting returns once coverage is credible.</a:t>
            </a:r>
            <a:endParaRPr lang="en-US" sz="900" dirty="0"/>
          </a:p>
        </p:txBody>
      </p:sp>
      <p:sp>
        <p:nvSpPr>
          <p:cNvPr id="52" name="Shape 48"/>
          <p:cNvSpPr/>
          <p:nvPr/>
        </p:nvSpPr>
        <p:spPr>
          <a:xfrm>
            <a:off x="8642909" y="6510528"/>
            <a:ext cx="3134563" cy="256032"/>
          </a:xfrm>
          <a:prstGeom prst="roundRect">
            <a:avLst>
              <a:gd name="adj" fmla="val 46429"/>
            </a:avLst>
          </a:prstGeom>
          <a:solidFill>
            <a:srgbClr val="12293A"/>
          </a:solidFill>
          <a:ln/>
        </p:spPr>
      </p:sp>
      <p:sp>
        <p:nvSpPr>
          <p:cNvPr id="53" name="Text 49"/>
          <p:cNvSpPr txBox="1"/>
          <p:nvPr/>
        </p:nvSpPr>
        <p:spPr>
          <a:xfrm>
            <a:off x="8642909" y="6510528"/>
            <a:ext cx="313456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(live) — cut over from Creatio</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Q3 Roadmap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164592" cy="164592"/>
          </a:xfrm>
          <a:prstGeom prst="ellipse">
            <a:avLst/>
          </a:prstGeom>
          <a:solidFill>
            <a:srgbClr val="3D8F5F"/>
          </a:solidFill>
          <a:ln/>
        </p:spPr>
      </p:sp>
      <p:sp>
        <p:nvSpPr>
          <p:cNvPr id="14" name="Text 12"/>
          <p:cNvSpPr txBox="1"/>
          <p:nvPr/>
        </p:nvSpPr>
        <p:spPr>
          <a:xfrm>
            <a:off x="630936"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10 Done</a:t>
            </a:r>
            <a:endParaRPr lang="en-US" sz="1100" dirty="0"/>
          </a:p>
        </p:txBody>
      </p:sp>
      <p:sp>
        <p:nvSpPr>
          <p:cNvPr id="15" name="Shape 13"/>
          <p:cNvSpPr/>
          <p:nvPr/>
        </p:nvSpPr>
        <p:spPr>
          <a:xfrm>
            <a:off x="1595628" y="987552"/>
            <a:ext cx="164592" cy="164592"/>
          </a:xfrm>
          <a:prstGeom prst="ellipse">
            <a:avLst/>
          </a:prstGeom>
          <a:solidFill>
            <a:srgbClr val="C88A2E"/>
          </a:solidFill>
          <a:ln/>
        </p:spPr>
      </p:sp>
      <p:sp>
        <p:nvSpPr>
          <p:cNvPr id="16" name="Text 14"/>
          <p:cNvSpPr txBox="1"/>
          <p:nvPr/>
        </p:nvSpPr>
        <p:spPr>
          <a:xfrm>
            <a:off x="1815084"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12 On Track</a:t>
            </a:r>
            <a:endParaRPr lang="en-US" sz="1100" dirty="0"/>
          </a:p>
        </p:txBody>
      </p:sp>
      <p:sp>
        <p:nvSpPr>
          <p:cNvPr id="17" name="Shape 15"/>
          <p:cNvSpPr/>
          <p:nvPr/>
        </p:nvSpPr>
        <p:spPr>
          <a:xfrm>
            <a:off x="3090672" y="987552"/>
            <a:ext cx="164592" cy="164592"/>
          </a:xfrm>
          <a:prstGeom prst="ellipse">
            <a:avLst/>
          </a:prstGeom>
          <a:solidFill>
            <a:srgbClr val="C7D3DA"/>
          </a:solidFill>
          <a:ln/>
        </p:spPr>
      </p:sp>
      <p:sp>
        <p:nvSpPr>
          <p:cNvPr id="18" name="Text 16"/>
          <p:cNvSpPr txBox="1"/>
          <p:nvPr/>
        </p:nvSpPr>
        <p:spPr>
          <a:xfrm>
            <a:off x="3310128"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3 Not Started</a:t>
            </a:r>
            <a:endParaRPr lang="en-US" sz="1100" dirty="0"/>
          </a:p>
        </p:txBody>
      </p:sp>
      <p:sp>
        <p:nvSpPr>
          <p:cNvPr id="19" name="Shape 17"/>
          <p:cNvSpPr/>
          <p:nvPr/>
        </p:nvSpPr>
        <p:spPr>
          <a:xfrm>
            <a:off x="4741164" y="987552"/>
            <a:ext cx="164592" cy="164592"/>
          </a:xfrm>
          <a:prstGeom prst="ellipse">
            <a:avLst/>
          </a:prstGeom>
          <a:solidFill>
            <a:srgbClr val="B4552D"/>
          </a:solidFill>
          <a:ln/>
        </p:spPr>
      </p:sp>
      <p:sp>
        <p:nvSpPr>
          <p:cNvPr id="20" name="Text 18"/>
          <p:cNvSpPr txBox="1"/>
          <p:nvPr/>
        </p:nvSpPr>
        <p:spPr>
          <a:xfrm>
            <a:off x="4960620"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2 At risk</a:t>
            </a:r>
            <a:endParaRPr lang="en-US" sz="1100" dirty="0"/>
          </a:p>
        </p:txBody>
      </p:sp>
      <p:sp>
        <p:nvSpPr>
          <p:cNvPr id="21" name="Text 19"/>
          <p:cNvSpPr txBox="1"/>
          <p:nvPr/>
        </p:nvSpPr>
        <p:spPr>
          <a:xfrm>
            <a:off x="6080760" y="914400"/>
            <a:ext cx="2377440" cy="292608"/>
          </a:xfrm>
          <a:prstGeom prst="rect">
            <a:avLst/>
          </a:prstGeom>
          <a:noFill/>
          <a:ln/>
        </p:spPr>
        <p:txBody>
          <a:bodyPr wrap="square" lIns="0" tIns="0" rIns="0" bIns="0" rtlCol="0" anchor="ctr"/>
          <a:lstStyle/>
          <a:p>
            <a:pPr indent="0" marL="0">
              <a:buNone/>
            </a:pPr>
            <a:r>
              <a:rPr lang="en-US" sz="950" dirty="0">
                <a:solidFill>
                  <a:srgbClr val="8FA1AC"/>
                </a:solidFill>
                <a:latin typeface="Poppins" pitchFamily="34" charset="0"/>
                <a:ea typeface="Poppins" pitchFamily="34" charset="-122"/>
                <a:cs typeface="Poppins" pitchFamily="34" charset="-120"/>
              </a:rPr>
              <a:t>· 27 items across 6 sprints</a:t>
            </a:r>
            <a:endParaRPr lang="en-US" sz="950" dirty="0"/>
          </a:p>
        </p:txBody>
      </p:sp>
      <p:sp>
        <p:nvSpPr>
          <p:cNvPr id="22" name="Text 20"/>
          <p:cNvSpPr txBox="1"/>
          <p:nvPr/>
        </p:nvSpPr>
        <p:spPr>
          <a:xfrm>
            <a:off x="379476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wk1-2</a:t>
            </a:r>
            <a:endParaRPr lang="en-US" sz="900" dirty="0"/>
          </a:p>
        </p:txBody>
      </p:sp>
      <p:sp>
        <p:nvSpPr>
          <p:cNvPr id="23" name="Text 21"/>
          <p:cNvSpPr txBox="1"/>
          <p:nvPr/>
        </p:nvSpPr>
        <p:spPr>
          <a:xfrm>
            <a:off x="5125212"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wk3-4</a:t>
            </a:r>
            <a:endParaRPr lang="en-US" sz="900" dirty="0"/>
          </a:p>
        </p:txBody>
      </p:sp>
      <p:sp>
        <p:nvSpPr>
          <p:cNvPr id="24" name="Text 22"/>
          <p:cNvSpPr txBox="1"/>
          <p:nvPr/>
        </p:nvSpPr>
        <p:spPr>
          <a:xfrm>
            <a:off x="6455664"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wk1-2</a:t>
            </a:r>
            <a:endParaRPr lang="en-US" sz="900" dirty="0"/>
          </a:p>
        </p:txBody>
      </p:sp>
      <p:sp>
        <p:nvSpPr>
          <p:cNvPr id="25" name="Text 23"/>
          <p:cNvSpPr txBox="1"/>
          <p:nvPr/>
        </p:nvSpPr>
        <p:spPr>
          <a:xfrm>
            <a:off x="7786116"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wk3-4</a:t>
            </a:r>
            <a:endParaRPr lang="en-US" sz="900" dirty="0"/>
          </a:p>
        </p:txBody>
      </p:sp>
      <p:sp>
        <p:nvSpPr>
          <p:cNvPr id="26" name="Text 24"/>
          <p:cNvSpPr txBox="1"/>
          <p:nvPr/>
        </p:nvSpPr>
        <p:spPr>
          <a:xfrm>
            <a:off x="9116568"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wk1-2</a:t>
            </a:r>
            <a:endParaRPr lang="en-US" sz="900" dirty="0"/>
          </a:p>
        </p:txBody>
      </p:sp>
      <p:sp>
        <p:nvSpPr>
          <p:cNvPr id="27" name="Text 25"/>
          <p:cNvSpPr txBox="1"/>
          <p:nvPr/>
        </p:nvSpPr>
        <p:spPr>
          <a:xfrm>
            <a:off x="1044702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wk3-4</a:t>
            </a:r>
            <a:endParaRPr lang="en-US" sz="900" dirty="0"/>
          </a:p>
        </p:txBody>
      </p:sp>
      <p:sp>
        <p:nvSpPr>
          <p:cNvPr id="28" name="Shape 26"/>
          <p:cNvSpPr/>
          <p:nvPr/>
        </p:nvSpPr>
        <p:spPr>
          <a:xfrm>
            <a:off x="411480" y="1572768"/>
            <a:ext cx="11365992" cy="175565"/>
          </a:xfrm>
          <a:prstGeom prst="rect">
            <a:avLst/>
          </a:prstGeom>
          <a:solidFill>
            <a:srgbClr val="FFFFFF"/>
          </a:solidFill>
          <a:ln/>
        </p:spPr>
      </p:sp>
      <p:sp>
        <p:nvSpPr>
          <p:cNvPr id="29" name="Text 27"/>
          <p:cNvSpPr txBox="1"/>
          <p:nvPr/>
        </p:nvSpPr>
        <p:spPr>
          <a:xfrm>
            <a:off x="457200" y="157276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Phase 1B</a:t>
            </a:r>
            <a:endParaRPr lang="en-US" sz="730" dirty="0"/>
          </a:p>
        </p:txBody>
      </p:sp>
      <p:sp>
        <p:nvSpPr>
          <p:cNvPr id="30" name="Shape 28"/>
          <p:cNvSpPr/>
          <p:nvPr/>
        </p:nvSpPr>
        <p:spPr>
          <a:xfrm>
            <a:off x="3794760" y="1591056"/>
            <a:ext cx="10973" cy="148133"/>
          </a:xfrm>
          <a:prstGeom prst="rect">
            <a:avLst/>
          </a:prstGeom>
          <a:solidFill>
            <a:srgbClr val="E2EAEE"/>
          </a:solidFill>
          <a:ln/>
        </p:spPr>
      </p:sp>
      <p:sp>
        <p:nvSpPr>
          <p:cNvPr id="31" name="Shape 29"/>
          <p:cNvSpPr/>
          <p:nvPr/>
        </p:nvSpPr>
        <p:spPr>
          <a:xfrm>
            <a:off x="5125212" y="1591056"/>
            <a:ext cx="10973" cy="148133"/>
          </a:xfrm>
          <a:prstGeom prst="rect">
            <a:avLst/>
          </a:prstGeom>
          <a:solidFill>
            <a:srgbClr val="E2EAEE"/>
          </a:solidFill>
          <a:ln/>
        </p:spPr>
      </p:sp>
      <p:sp>
        <p:nvSpPr>
          <p:cNvPr id="32" name="Shape 30"/>
          <p:cNvSpPr/>
          <p:nvPr/>
        </p:nvSpPr>
        <p:spPr>
          <a:xfrm>
            <a:off x="6455664" y="1591056"/>
            <a:ext cx="10973" cy="148133"/>
          </a:xfrm>
          <a:prstGeom prst="rect">
            <a:avLst/>
          </a:prstGeom>
          <a:solidFill>
            <a:srgbClr val="E2EAEE"/>
          </a:solidFill>
          <a:ln/>
        </p:spPr>
      </p:sp>
      <p:sp>
        <p:nvSpPr>
          <p:cNvPr id="33" name="Shape 31"/>
          <p:cNvSpPr/>
          <p:nvPr/>
        </p:nvSpPr>
        <p:spPr>
          <a:xfrm>
            <a:off x="7786116" y="1591056"/>
            <a:ext cx="10973" cy="148133"/>
          </a:xfrm>
          <a:prstGeom prst="rect">
            <a:avLst/>
          </a:prstGeom>
          <a:solidFill>
            <a:srgbClr val="E2EAEE"/>
          </a:solidFill>
          <a:ln/>
        </p:spPr>
      </p:sp>
      <p:sp>
        <p:nvSpPr>
          <p:cNvPr id="34" name="Shape 32"/>
          <p:cNvSpPr/>
          <p:nvPr/>
        </p:nvSpPr>
        <p:spPr>
          <a:xfrm>
            <a:off x="9116568" y="1591056"/>
            <a:ext cx="10973" cy="148133"/>
          </a:xfrm>
          <a:prstGeom prst="rect">
            <a:avLst/>
          </a:prstGeom>
          <a:solidFill>
            <a:srgbClr val="E2EAEE"/>
          </a:solidFill>
          <a:ln/>
        </p:spPr>
      </p:sp>
      <p:sp>
        <p:nvSpPr>
          <p:cNvPr id="35" name="Shape 33"/>
          <p:cNvSpPr/>
          <p:nvPr/>
        </p:nvSpPr>
        <p:spPr>
          <a:xfrm>
            <a:off x="10447020" y="1591056"/>
            <a:ext cx="10973" cy="148133"/>
          </a:xfrm>
          <a:prstGeom prst="rect">
            <a:avLst/>
          </a:prstGeom>
          <a:solidFill>
            <a:srgbClr val="E2EAEE"/>
          </a:solidFill>
          <a:ln/>
        </p:spPr>
      </p:sp>
      <p:sp>
        <p:nvSpPr>
          <p:cNvPr id="36" name="Shape 34"/>
          <p:cNvSpPr/>
          <p:nvPr/>
        </p:nvSpPr>
        <p:spPr>
          <a:xfrm>
            <a:off x="3822192" y="1592885"/>
            <a:ext cx="1275588" cy="129845"/>
          </a:xfrm>
          <a:prstGeom prst="roundRect">
            <a:avLst>
              <a:gd name="adj" fmla="val 45775"/>
            </a:avLst>
          </a:prstGeom>
          <a:solidFill>
            <a:srgbClr val="3D8F5F"/>
          </a:solidFill>
          <a:ln/>
        </p:spPr>
      </p:sp>
      <p:sp>
        <p:nvSpPr>
          <p:cNvPr id="37" name="Text 35"/>
          <p:cNvSpPr txBox="1"/>
          <p:nvPr/>
        </p:nvSpPr>
        <p:spPr>
          <a:xfrm>
            <a:off x="3895344" y="158008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38" name="Text 36"/>
          <p:cNvSpPr txBox="1"/>
          <p:nvPr/>
        </p:nvSpPr>
        <p:spPr>
          <a:xfrm>
            <a:off x="457200" y="174833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Order at Bar</a:t>
            </a:r>
            <a:endParaRPr lang="en-US" sz="730" dirty="0"/>
          </a:p>
        </p:txBody>
      </p:sp>
      <p:sp>
        <p:nvSpPr>
          <p:cNvPr id="39" name="Shape 37"/>
          <p:cNvSpPr/>
          <p:nvPr/>
        </p:nvSpPr>
        <p:spPr>
          <a:xfrm>
            <a:off x="3794760" y="1766621"/>
            <a:ext cx="10973" cy="148133"/>
          </a:xfrm>
          <a:prstGeom prst="rect">
            <a:avLst/>
          </a:prstGeom>
          <a:solidFill>
            <a:srgbClr val="E2EAEE"/>
          </a:solidFill>
          <a:ln/>
        </p:spPr>
      </p:sp>
      <p:sp>
        <p:nvSpPr>
          <p:cNvPr id="40" name="Shape 38"/>
          <p:cNvSpPr/>
          <p:nvPr/>
        </p:nvSpPr>
        <p:spPr>
          <a:xfrm>
            <a:off x="5125212" y="1766621"/>
            <a:ext cx="10973" cy="148133"/>
          </a:xfrm>
          <a:prstGeom prst="rect">
            <a:avLst/>
          </a:prstGeom>
          <a:solidFill>
            <a:srgbClr val="E2EAEE"/>
          </a:solidFill>
          <a:ln/>
        </p:spPr>
      </p:sp>
      <p:sp>
        <p:nvSpPr>
          <p:cNvPr id="41" name="Shape 39"/>
          <p:cNvSpPr/>
          <p:nvPr/>
        </p:nvSpPr>
        <p:spPr>
          <a:xfrm>
            <a:off x="6455664" y="1766621"/>
            <a:ext cx="10973" cy="148133"/>
          </a:xfrm>
          <a:prstGeom prst="rect">
            <a:avLst/>
          </a:prstGeom>
          <a:solidFill>
            <a:srgbClr val="E2EAEE"/>
          </a:solidFill>
          <a:ln/>
        </p:spPr>
      </p:sp>
      <p:sp>
        <p:nvSpPr>
          <p:cNvPr id="42" name="Shape 40"/>
          <p:cNvSpPr/>
          <p:nvPr/>
        </p:nvSpPr>
        <p:spPr>
          <a:xfrm>
            <a:off x="7786116" y="1766621"/>
            <a:ext cx="10973" cy="148133"/>
          </a:xfrm>
          <a:prstGeom prst="rect">
            <a:avLst/>
          </a:prstGeom>
          <a:solidFill>
            <a:srgbClr val="E2EAEE"/>
          </a:solidFill>
          <a:ln/>
        </p:spPr>
      </p:sp>
      <p:sp>
        <p:nvSpPr>
          <p:cNvPr id="43" name="Shape 41"/>
          <p:cNvSpPr/>
          <p:nvPr/>
        </p:nvSpPr>
        <p:spPr>
          <a:xfrm>
            <a:off x="9116568" y="1766621"/>
            <a:ext cx="10973" cy="148133"/>
          </a:xfrm>
          <a:prstGeom prst="rect">
            <a:avLst/>
          </a:prstGeom>
          <a:solidFill>
            <a:srgbClr val="E2EAEE"/>
          </a:solidFill>
          <a:ln/>
        </p:spPr>
      </p:sp>
      <p:sp>
        <p:nvSpPr>
          <p:cNvPr id="44" name="Shape 42"/>
          <p:cNvSpPr/>
          <p:nvPr/>
        </p:nvSpPr>
        <p:spPr>
          <a:xfrm>
            <a:off x="10447020" y="1766621"/>
            <a:ext cx="10973" cy="148133"/>
          </a:xfrm>
          <a:prstGeom prst="rect">
            <a:avLst/>
          </a:prstGeom>
          <a:solidFill>
            <a:srgbClr val="E2EAEE"/>
          </a:solidFill>
          <a:ln/>
        </p:spPr>
      </p:sp>
      <p:sp>
        <p:nvSpPr>
          <p:cNvPr id="45" name="Shape 43"/>
          <p:cNvSpPr/>
          <p:nvPr/>
        </p:nvSpPr>
        <p:spPr>
          <a:xfrm>
            <a:off x="3822192" y="1768450"/>
            <a:ext cx="1275588" cy="129845"/>
          </a:xfrm>
          <a:prstGeom prst="roundRect">
            <a:avLst>
              <a:gd name="adj" fmla="val 45775"/>
            </a:avLst>
          </a:prstGeom>
          <a:solidFill>
            <a:srgbClr val="3D8F5F"/>
          </a:solidFill>
          <a:ln/>
        </p:spPr>
      </p:sp>
      <p:sp>
        <p:nvSpPr>
          <p:cNvPr id="46" name="Text 44"/>
          <p:cNvSpPr txBox="1"/>
          <p:nvPr/>
        </p:nvSpPr>
        <p:spPr>
          <a:xfrm>
            <a:off x="3895344" y="1755648"/>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47" name="Shape 45"/>
          <p:cNvSpPr/>
          <p:nvPr/>
        </p:nvSpPr>
        <p:spPr>
          <a:xfrm>
            <a:off x="411480" y="1923898"/>
            <a:ext cx="11365992" cy="175565"/>
          </a:xfrm>
          <a:prstGeom prst="rect">
            <a:avLst/>
          </a:prstGeom>
          <a:solidFill>
            <a:srgbClr val="FFFFFF"/>
          </a:solidFill>
          <a:ln/>
        </p:spPr>
      </p:sp>
      <p:sp>
        <p:nvSpPr>
          <p:cNvPr id="48" name="Text 46"/>
          <p:cNvSpPr txBox="1"/>
          <p:nvPr/>
        </p:nvSpPr>
        <p:spPr>
          <a:xfrm>
            <a:off x="457200" y="192389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WebOrders Reference/BatchID Capture</a:t>
            </a:r>
            <a:endParaRPr lang="en-US" sz="730" dirty="0"/>
          </a:p>
        </p:txBody>
      </p:sp>
      <p:sp>
        <p:nvSpPr>
          <p:cNvPr id="49" name="Shape 47"/>
          <p:cNvSpPr/>
          <p:nvPr/>
        </p:nvSpPr>
        <p:spPr>
          <a:xfrm>
            <a:off x="3794760" y="1942186"/>
            <a:ext cx="10973" cy="148133"/>
          </a:xfrm>
          <a:prstGeom prst="rect">
            <a:avLst/>
          </a:prstGeom>
          <a:solidFill>
            <a:srgbClr val="E2EAEE"/>
          </a:solidFill>
          <a:ln/>
        </p:spPr>
      </p:sp>
      <p:sp>
        <p:nvSpPr>
          <p:cNvPr id="50" name="Shape 48"/>
          <p:cNvSpPr/>
          <p:nvPr/>
        </p:nvSpPr>
        <p:spPr>
          <a:xfrm>
            <a:off x="5125212" y="1942186"/>
            <a:ext cx="10973" cy="148133"/>
          </a:xfrm>
          <a:prstGeom prst="rect">
            <a:avLst/>
          </a:prstGeom>
          <a:solidFill>
            <a:srgbClr val="E2EAEE"/>
          </a:solidFill>
          <a:ln/>
        </p:spPr>
      </p:sp>
      <p:sp>
        <p:nvSpPr>
          <p:cNvPr id="51" name="Shape 49"/>
          <p:cNvSpPr/>
          <p:nvPr/>
        </p:nvSpPr>
        <p:spPr>
          <a:xfrm>
            <a:off x="6455664" y="1942186"/>
            <a:ext cx="10973" cy="148133"/>
          </a:xfrm>
          <a:prstGeom prst="rect">
            <a:avLst/>
          </a:prstGeom>
          <a:solidFill>
            <a:srgbClr val="E2EAEE"/>
          </a:solidFill>
          <a:ln/>
        </p:spPr>
      </p:sp>
      <p:sp>
        <p:nvSpPr>
          <p:cNvPr id="52" name="Shape 50"/>
          <p:cNvSpPr/>
          <p:nvPr/>
        </p:nvSpPr>
        <p:spPr>
          <a:xfrm>
            <a:off x="7786116" y="1942186"/>
            <a:ext cx="10973" cy="148133"/>
          </a:xfrm>
          <a:prstGeom prst="rect">
            <a:avLst/>
          </a:prstGeom>
          <a:solidFill>
            <a:srgbClr val="E2EAEE"/>
          </a:solidFill>
          <a:ln/>
        </p:spPr>
      </p:sp>
      <p:sp>
        <p:nvSpPr>
          <p:cNvPr id="53" name="Shape 51"/>
          <p:cNvSpPr/>
          <p:nvPr/>
        </p:nvSpPr>
        <p:spPr>
          <a:xfrm>
            <a:off x="9116568" y="1942186"/>
            <a:ext cx="10973" cy="148133"/>
          </a:xfrm>
          <a:prstGeom prst="rect">
            <a:avLst/>
          </a:prstGeom>
          <a:solidFill>
            <a:srgbClr val="E2EAEE"/>
          </a:solidFill>
          <a:ln/>
        </p:spPr>
      </p:sp>
      <p:sp>
        <p:nvSpPr>
          <p:cNvPr id="54" name="Shape 52"/>
          <p:cNvSpPr/>
          <p:nvPr/>
        </p:nvSpPr>
        <p:spPr>
          <a:xfrm>
            <a:off x="10447020" y="1942186"/>
            <a:ext cx="10973" cy="148133"/>
          </a:xfrm>
          <a:prstGeom prst="rect">
            <a:avLst/>
          </a:prstGeom>
          <a:solidFill>
            <a:srgbClr val="E2EAEE"/>
          </a:solidFill>
          <a:ln/>
        </p:spPr>
      </p:sp>
      <p:sp>
        <p:nvSpPr>
          <p:cNvPr id="55" name="Shape 53"/>
          <p:cNvSpPr/>
          <p:nvPr/>
        </p:nvSpPr>
        <p:spPr>
          <a:xfrm>
            <a:off x="5152644" y="1944014"/>
            <a:ext cx="1275588" cy="129845"/>
          </a:xfrm>
          <a:prstGeom prst="roundRect">
            <a:avLst>
              <a:gd name="adj" fmla="val 45775"/>
            </a:avLst>
          </a:prstGeom>
          <a:solidFill>
            <a:srgbClr val="3D8F5F"/>
          </a:solidFill>
          <a:ln/>
        </p:spPr>
      </p:sp>
      <p:sp>
        <p:nvSpPr>
          <p:cNvPr id="56" name="Text 54"/>
          <p:cNvSpPr txBox="1"/>
          <p:nvPr/>
        </p:nvSpPr>
        <p:spPr>
          <a:xfrm>
            <a:off x="5225796" y="193121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57" name="Text 55"/>
          <p:cNvSpPr txBox="1"/>
          <p:nvPr/>
        </p:nvSpPr>
        <p:spPr>
          <a:xfrm>
            <a:off x="457200" y="209946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API Uplift</a:t>
            </a:r>
            <a:endParaRPr lang="en-US" sz="730" dirty="0"/>
          </a:p>
        </p:txBody>
      </p:sp>
      <p:sp>
        <p:nvSpPr>
          <p:cNvPr id="58" name="Shape 56"/>
          <p:cNvSpPr/>
          <p:nvPr/>
        </p:nvSpPr>
        <p:spPr>
          <a:xfrm>
            <a:off x="3794760" y="2117750"/>
            <a:ext cx="10973" cy="148133"/>
          </a:xfrm>
          <a:prstGeom prst="rect">
            <a:avLst/>
          </a:prstGeom>
          <a:solidFill>
            <a:srgbClr val="E2EAEE"/>
          </a:solidFill>
          <a:ln/>
        </p:spPr>
      </p:sp>
      <p:sp>
        <p:nvSpPr>
          <p:cNvPr id="59" name="Shape 57"/>
          <p:cNvSpPr/>
          <p:nvPr/>
        </p:nvSpPr>
        <p:spPr>
          <a:xfrm>
            <a:off x="5125212" y="2117750"/>
            <a:ext cx="10973" cy="148133"/>
          </a:xfrm>
          <a:prstGeom prst="rect">
            <a:avLst/>
          </a:prstGeom>
          <a:solidFill>
            <a:srgbClr val="E2EAEE"/>
          </a:solidFill>
          <a:ln/>
        </p:spPr>
      </p:sp>
      <p:sp>
        <p:nvSpPr>
          <p:cNvPr id="60" name="Shape 58"/>
          <p:cNvSpPr/>
          <p:nvPr/>
        </p:nvSpPr>
        <p:spPr>
          <a:xfrm>
            <a:off x="6455664" y="2117750"/>
            <a:ext cx="10973" cy="148133"/>
          </a:xfrm>
          <a:prstGeom prst="rect">
            <a:avLst/>
          </a:prstGeom>
          <a:solidFill>
            <a:srgbClr val="E2EAEE"/>
          </a:solidFill>
          <a:ln/>
        </p:spPr>
      </p:sp>
      <p:sp>
        <p:nvSpPr>
          <p:cNvPr id="61" name="Shape 59"/>
          <p:cNvSpPr/>
          <p:nvPr/>
        </p:nvSpPr>
        <p:spPr>
          <a:xfrm>
            <a:off x="7786116" y="2117750"/>
            <a:ext cx="10973" cy="148133"/>
          </a:xfrm>
          <a:prstGeom prst="rect">
            <a:avLst/>
          </a:prstGeom>
          <a:solidFill>
            <a:srgbClr val="E2EAEE"/>
          </a:solidFill>
          <a:ln/>
        </p:spPr>
      </p:sp>
      <p:sp>
        <p:nvSpPr>
          <p:cNvPr id="62" name="Shape 60"/>
          <p:cNvSpPr/>
          <p:nvPr/>
        </p:nvSpPr>
        <p:spPr>
          <a:xfrm>
            <a:off x="9116568" y="2117750"/>
            <a:ext cx="10973" cy="148133"/>
          </a:xfrm>
          <a:prstGeom prst="rect">
            <a:avLst/>
          </a:prstGeom>
          <a:solidFill>
            <a:srgbClr val="E2EAEE"/>
          </a:solidFill>
          <a:ln/>
        </p:spPr>
      </p:sp>
      <p:sp>
        <p:nvSpPr>
          <p:cNvPr id="63" name="Shape 61"/>
          <p:cNvSpPr/>
          <p:nvPr/>
        </p:nvSpPr>
        <p:spPr>
          <a:xfrm>
            <a:off x="10447020" y="2117750"/>
            <a:ext cx="10973" cy="148133"/>
          </a:xfrm>
          <a:prstGeom prst="rect">
            <a:avLst/>
          </a:prstGeom>
          <a:solidFill>
            <a:srgbClr val="E2EAEE"/>
          </a:solidFill>
          <a:ln/>
        </p:spPr>
      </p:sp>
      <p:sp>
        <p:nvSpPr>
          <p:cNvPr id="64" name="Shape 62"/>
          <p:cNvSpPr/>
          <p:nvPr/>
        </p:nvSpPr>
        <p:spPr>
          <a:xfrm>
            <a:off x="6483096" y="2119579"/>
            <a:ext cx="2606040" cy="129845"/>
          </a:xfrm>
          <a:prstGeom prst="roundRect">
            <a:avLst>
              <a:gd name="adj" fmla="val 45775"/>
            </a:avLst>
          </a:prstGeom>
          <a:solidFill>
            <a:srgbClr val="C88A2E"/>
          </a:solidFill>
          <a:ln/>
        </p:spPr>
      </p:sp>
      <p:sp>
        <p:nvSpPr>
          <p:cNvPr id="65" name="Text 63"/>
          <p:cNvSpPr txBox="1"/>
          <p:nvPr/>
        </p:nvSpPr>
        <p:spPr>
          <a:xfrm>
            <a:off x="6556248" y="210677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66" name="Shape 64"/>
          <p:cNvSpPr/>
          <p:nvPr/>
        </p:nvSpPr>
        <p:spPr>
          <a:xfrm>
            <a:off x="411480" y="2275027"/>
            <a:ext cx="11365992" cy="175565"/>
          </a:xfrm>
          <a:prstGeom prst="rect">
            <a:avLst/>
          </a:prstGeom>
          <a:solidFill>
            <a:srgbClr val="FFFFFF"/>
          </a:solidFill>
          <a:ln/>
        </p:spPr>
      </p:sp>
      <p:sp>
        <p:nvSpPr>
          <p:cNvPr id="67" name="Text 65"/>
          <p:cNvSpPr txBox="1"/>
          <p:nvPr/>
        </p:nvSpPr>
        <p:spPr>
          <a:xfrm>
            <a:off x="457200" y="227502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Onxy Gaming</a:t>
            </a:r>
            <a:endParaRPr lang="en-US" sz="730" dirty="0"/>
          </a:p>
        </p:txBody>
      </p:sp>
      <p:sp>
        <p:nvSpPr>
          <p:cNvPr id="68" name="Shape 66"/>
          <p:cNvSpPr/>
          <p:nvPr/>
        </p:nvSpPr>
        <p:spPr>
          <a:xfrm>
            <a:off x="3794760" y="2293315"/>
            <a:ext cx="10973" cy="148133"/>
          </a:xfrm>
          <a:prstGeom prst="rect">
            <a:avLst/>
          </a:prstGeom>
          <a:solidFill>
            <a:srgbClr val="E2EAEE"/>
          </a:solidFill>
          <a:ln/>
        </p:spPr>
      </p:sp>
      <p:sp>
        <p:nvSpPr>
          <p:cNvPr id="69" name="Shape 67"/>
          <p:cNvSpPr/>
          <p:nvPr/>
        </p:nvSpPr>
        <p:spPr>
          <a:xfrm>
            <a:off x="5125212" y="2293315"/>
            <a:ext cx="10973" cy="148133"/>
          </a:xfrm>
          <a:prstGeom prst="rect">
            <a:avLst/>
          </a:prstGeom>
          <a:solidFill>
            <a:srgbClr val="E2EAEE"/>
          </a:solidFill>
          <a:ln/>
        </p:spPr>
      </p:sp>
      <p:sp>
        <p:nvSpPr>
          <p:cNvPr id="70" name="Shape 68"/>
          <p:cNvSpPr/>
          <p:nvPr/>
        </p:nvSpPr>
        <p:spPr>
          <a:xfrm>
            <a:off x="6455664" y="2293315"/>
            <a:ext cx="10973" cy="148133"/>
          </a:xfrm>
          <a:prstGeom prst="rect">
            <a:avLst/>
          </a:prstGeom>
          <a:solidFill>
            <a:srgbClr val="E2EAEE"/>
          </a:solidFill>
          <a:ln/>
        </p:spPr>
      </p:sp>
      <p:sp>
        <p:nvSpPr>
          <p:cNvPr id="71" name="Shape 69"/>
          <p:cNvSpPr/>
          <p:nvPr/>
        </p:nvSpPr>
        <p:spPr>
          <a:xfrm>
            <a:off x="7786116" y="2293315"/>
            <a:ext cx="10973" cy="148133"/>
          </a:xfrm>
          <a:prstGeom prst="rect">
            <a:avLst/>
          </a:prstGeom>
          <a:solidFill>
            <a:srgbClr val="E2EAEE"/>
          </a:solidFill>
          <a:ln/>
        </p:spPr>
      </p:sp>
      <p:sp>
        <p:nvSpPr>
          <p:cNvPr id="72" name="Shape 70"/>
          <p:cNvSpPr/>
          <p:nvPr/>
        </p:nvSpPr>
        <p:spPr>
          <a:xfrm>
            <a:off x="9116568" y="2293315"/>
            <a:ext cx="10973" cy="148133"/>
          </a:xfrm>
          <a:prstGeom prst="rect">
            <a:avLst/>
          </a:prstGeom>
          <a:solidFill>
            <a:srgbClr val="E2EAEE"/>
          </a:solidFill>
          <a:ln/>
        </p:spPr>
      </p:sp>
      <p:sp>
        <p:nvSpPr>
          <p:cNvPr id="73" name="Shape 71"/>
          <p:cNvSpPr/>
          <p:nvPr/>
        </p:nvSpPr>
        <p:spPr>
          <a:xfrm>
            <a:off x="10447020" y="2293315"/>
            <a:ext cx="10973" cy="148133"/>
          </a:xfrm>
          <a:prstGeom prst="rect">
            <a:avLst/>
          </a:prstGeom>
          <a:solidFill>
            <a:srgbClr val="E2EAEE"/>
          </a:solidFill>
          <a:ln/>
        </p:spPr>
      </p:sp>
      <p:sp>
        <p:nvSpPr>
          <p:cNvPr id="74" name="Shape 72"/>
          <p:cNvSpPr/>
          <p:nvPr/>
        </p:nvSpPr>
        <p:spPr>
          <a:xfrm>
            <a:off x="3822192" y="2295144"/>
            <a:ext cx="1275588" cy="129845"/>
          </a:xfrm>
          <a:prstGeom prst="roundRect">
            <a:avLst>
              <a:gd name="adj" fmla="val 45775"/>
            </a:avLst>
          </a:prstGeom>
          <a:solidFill>
            <a:srgbClr val="3D8F5F"/>
          </a:solidFill>
          <a:ln/>
        </p:spPr>
      </p:sp>
      <p:sp>
        <p:nvSpPr>
          <p:cNvPr id="75" name="Text 73"/>
          <p:cNvSpPr txBox="1"/>
          <p:nvPr/>
        </p:nvSpPr>
        <p:spPr>
          <a:xfrm>
            <a:off x="3895344" y="228234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76" name="Text 74"/>
          <p:cNvSpPr txBox="1"/>
          <p:nvPr/>
        </p:nvSpPr>
        <p:spPr>
          <a:xfrm>
            <a:off x="457200" y="245059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SCIS Stock Movement</a:t>
            </a:r>
            <a:endParaRPr lang="en-US" sz="730" dirty="0"/>
          </a:p>
        </p:txBody>
      </p:sp>
      <p:sp>
        <p:nvSpPr>
          <p:cNvPr id="77" name="Shape 75"/>
          <p:cNvSpPr/>
          <p:nvPr/>
        </p:nvSpPr>
        <p:spPr>
          <a:xfrm>
            <a:off x="3794760" y="2468880"/>
            <a:ext cx="10973" cy="148133"/>
          </a:xfrm>
          <a:prstGeom prst="rect">
            <a:avLst/>
          </a:prstGeom>
          <a:solidFill>
            <a:srgbClr val="E2EAEE"/>
          </a:solidFill>
          <a:ln/>
        </p:spPr>
      </p:sp>
      <p:sp>
        <p:nvSpPr>
          <p:cNvPr id="78" name="Shape 76"/>
          <p:cNvSpPr/>
          <p:nvPr/>
        </p:nvSpPr>
        <p:spPr>
          <a:xfrm>
            <a:off x="5125212" y="2468880"/>
            <a:ext cx="10973" cy="148133"/>
          </a:xfrm>
          <a:prstGeom prst="rect">
            <a:avLst/>
          </a:prstGeom>
          <a:solidFill>
            <a:srgbClr val="E2EAEE"/>
          </a:solidFill>
          <a:ln/>
        </p:spPr>
      </p:sp>
      <p:sp>
        <p:nvSpPr>
          <p:cNvPr id="79" name="Shape 77"/>
          <p:cNvSpPr/>
          <p:nvPr/>
        </p:nvSpPr>
        <p:spPr>
          <a:xfrm>
            <a:off x="6455664" y="2468880"/>
            <a:ext cx="10973" cy="148133"/>
          </a:xfrm>
          <a:prstGeom prst="rect">
            <a:avLst/>
          </a:prstGeom>
          <a:solidFill>
            <a:srgbClr val="E2EAEE"/>
          </a:solidFill>
          <a:ln/>
        </p:spPr>
      </p:sp>
      <p:sp>
        <p:nvSpPr>
          <p:cNvPr id="80" name="Shape 78"/>
          <p:cNvSpPr/>
          <p:nvPr/>
        </p:nvSpPr>
        <p:spPr>
          <a:xfrm>
            <a:off x="7786116" y="2468880"/>
            <a:ext cx="10973" cy="148133"/>
          </a:xfrm>
          <a:prstGeom prst="rect">
            <a:avLst/>
          </a:prstGeom>
          <a:solidFill>
            <a:srgbClr val="E2EAEE"/>
          </a:solidFill>
          <a:ln/>
        </p:spPr>
      </p:sp>
      <p:sp>
        <p:nvSpPr>
          <p:cNvPr id="81" name="Shape 79"/>
          <p:cNvSpPr/>
          <p:nvPr/>
        </p:nvSpPr>
        <p:spPr>
          <a:xfrm>
            <a:off x="9116568" y="2468880"/>
            <a:ext cx="10973" cy="148133"/>
          </a:xfrm>
          <a:prstGeom prst="rect">
            <a:avLst/>
          </a:prstGeom>
          <a:solidFill>
            <a:srgbClr val="E2EAEE"/>
          </a:solidFill>
          <a:ln/>
        </p:spPr>
      </p:sp>
      <p:sp>
        <p:nvSpPr>
          <p:cNvPr id="82" name="Shape 80"/>
          <p:cNvSpPr/>
          <p:nvPr/>
        </p:nvSpPr>
        <p:spPr>
          <a:xfrm>
            <a:off x="10447020" y="2468880"/>
            <a:ext cx="10973" cy="148133"/>
          </a:xfrm>
          <a:prstGeom prst="rect">
            <a:avLst/>
          </a:prstGeom>
          <a:solidFill>
            <a:srgbClr val="E2EAEE"/>
          </a:solidFill>
          <a:ln/>
        </p:spPr>
      </p:sp>
      <p:sp>
        <p:nvSpPr>
          <p:cNvPr id="83" name="Shape 81"/>
          <p:cNvSpPr/>
          <p:nvPr/>
        </p:nvSpPr>
        <p:spPr>
          <a:xfrm>
            <a:off x="3822192" y="2470709"/>
            <a:ext cx="2606040" cy="129845"/>
          </a:xfrm>
          <a:prstGeom prst="roundRect">
            <a:avLst>
              <a:gd name="adj" fmla="val 45775"/>
            </a:avLst>
          </a:prstGeom>
          <a:solidFill>
            <a:srgbClr val="3D8F5F"/>
          </a:solidFill>
          <a:ln/>
        </p:spPr>
      </p:sp>
      <p:sp>
        <p:nvSpPr>
          <p:cNvPr id="84" name="Text 82"/>
          <p:cNvSpPr txBox="1"/>
          <p:nvPr/>
        </p:nvSpPr>
        <p:spPr>
          <a:xfrm>
            <a:off x="3895344" y="2457907"/>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85" name="Shape 83"/>
          <p:cNvSpPr/>
          <p:nvPr/>
        </p:nvSpPr>
        <p:spPr>
          <a:xfrm>
            <a:off x="411480" y="2626157"/>
            <a:ext cx="11365992" cy="175565"/>
          </a:xfrm>
          <a:prstGeom prst="rect">
            <a:avLst/>
          </a:prstGeom>
          <a:solidFill>
            <a:srgbClr val="FFFFFF"/>
          </a:solidFill>
          <a:ln/>
        </p:spPr>
      </p:sp>
      <p:sp>
        <p:nvSpPr>
          <p:cNvPr id="86" name="Text 84"/>
          <p:cNvSpPr txBox="1"/>
          <p:nvPr/>
        </p:nvSpPr>
        <p:spPr>
          <a:xfrm>
            <a:off x="457200" y="262615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EDR Auth</a:t>
            </a:r>
            <a:endParaRPr lang="en-US" sz="730" dirty="0"/>
          </a:p>
        </p:txBody>
      </p:sp>
      <p:sp>
        <p:nvSpPr>
          <p:cNvPr id="87" name="Shape 85"/>
          <p:cNvSpPr/>
          <p:nvPr/>
        </p:nvSpPr>
        <p:spPr>
          <a:xfrm>
            <a:off x="3794760" y="2644445"/>
            <a:ext cx="10973" cy="148133"/>
          </a:xfrm>
          <a:prstGeom prst="rect">
            <a:avLst/>
          </a:prstGeom>
          <a:solidFill>
            <a:srgbClr val="E2EAEE"/>
          </a:solidFill>
          <a:ln/>
        </p:spPr>
      </p:sp>
      <p:sp>
        <p:nvSpPr>
          <p:cNvPr id="88" name="Shape 86"/>
          <p:cNvSpPr/>
          <p:nvPr/>
        </p:nvSpPr>
        <p:spPr>
          <a:xfrm>
            <a:off x="5125212" y="2644445"/>
            <a:ext cx="10973" cy="148133"/>
          </a:xfrm>
          <a:prstGeom prst="rect">
            <a:avLst/>
          </a:prstGeom>
          <a:solidFill>
            <a:srgbClr val="E2EAEE"/>
          </a:solidFill>
          <a:ln/>
        </p:spPr>
      </p:sp>
      <p:sp>
        <p:nvSpPr>
          <p:cNvPr id="89" name="Shape 87"/>
          <p:cNvSpPr/>
          <p:nvPr/>
        </p:nvSpPr>
        <p:spPr>
          <a:xfrm>
            <a:off x="6455664" y="2644445"/>
            <a:ext cx="10973" cy="148133"/>
          </a:xfrm>
          <a:prstGeom prst="rect">
            <a:avLst/>
          </a:prstGeom>
          <a:solidFill>
            <a:srgbClr val="E2EAEE"/>
          </a:solidFill>
          <a:ln/>
        </p:spPr>
      </p:sp>
      <p:sp>
        <p:nvSpPr>
          <p:cNvPr id="90" name="Shape 88"/>
          <p:cNvSpPr/>
          <p:nvPr/>
        </p:nvSpPr>
        <p:spPr>
          <a:xfrm>
            <a:off x="7786116" y="2644445"/>
            <a:ext cx="10973" cy="148133"/>
          </a:xfrm>
          <a:prstGeom prst="rect">
            <a:avLst/>
          </a:prstGeom>
          <a:solidFill>
            <a:srgbClr val="E2EAEE"/>
          </a:solidFill>
          <a:ln/>
        </p:spPr>
      </p:sp>
      <p:sp>
        <p:nvSpPr>
          <p:cNvPr id="91" name="Shape 89"/>
          <p:cNvSpPr/>
          <p:nvPr/>
        </p:nvSpPr>
        <p:spPr>
          <a:xfrm>
            <a:off x="9116568" y="2644445"/>
            <a:ext cx="10973" cy="148133"/>
          </a:xfrm>
          <a:prstGeom prst="rect">
            <a:avLst/>
          </a:prstGeom>
          <a:solidFill>
            <a:srgbClr val="E2EAEE"/>
          </a:solidFill>
          <a:ln/>
        </p:spPr>
      </p:sp>
      <p:sp>
        <p:nvSpPr>
          <p:cNvPr id="92" name="Shape 90"/>
          <p:cNvSpPr/>
          <p:nvPr/>
        </p:nvSpPr>
        <p:spPr>
          <a:xfrm>
            <a:off x="10447020" y="2644445"/>
            <a:ext cx="10973" cy="148133"/>
          </a:xfrm>
          <a:prstGeom prst="rect">
            <a:avLst/>
          </a:prstGeom>
          <a:solidFill>
            <a:srgbClr val="E2EAEE"/>
          </a:solidFill>
          <a:ln/>
        </p:spPr>
      </p:sp>
      <p:sp>
        <p:nvSpPr>
          <p:cNvPr id="93" name="Shape 91"/>
          <p:cNvSpPr/>
          <p:nvPr/>
        </p:nvSpPr>
        <p:spPr>
          <a:xfrm>
            <a:off x="5152644" y="2646274"/>
            <a:ext cx="1275588" cy="129845"/>
          </a:xfrm>
          <a:prstGeom prst="roundRect">
            <a:avLst>
              <a:gd name="adj" fmla="val 45775"/>
            </a:avLst>
          </a:prstGeom>
          <a:solidFill>
            <a:srgbClr val="3D8F5F"/>
          </a:solidFill>
          <a:ln/>
        </p:spPr>
      </p:sp>
      <p:sp>
        <p:nvSpPr>
          <p:cNvPr id="94" name="Text 92"/>
          <p:cNvSpPr txBox="1"/>
          <p:nvPr/>
        </p:nvSpPr>
        <p:spPr>
          <a:xfrm>
            <a:off x="5225796" y="263347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95" name="Text 93"/>
          <p:cNvSpPr txBox="1"/>
          <p:nvPr/>
        </p:nvSpPr>
        <p:spPr>
          <a:xfrm>
            <a:off x="457200" y="280172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Accounts Flow Auto Promo File Delivery</a:t>
            </a:r>
            <a:endParaRPr lang="en-US" sz="730" dirty="0"/>
          </a:p>
        </p:txBody>
      </p:sp>
      <p:sp>
        <p:nvSpPr>
          <p:cNvPr id="96" name="Shape 94"/>
          <p:cNvSpPr/>
          <p:nvPr/>
        </p:nvSpPr>
        <p:spPr>
          <a:xfrm>
            <a:off x="3794760" y="2820010"/>
            <a:ext cx="10973" cy="148133"/>
          </a:xfrm>
          <a:prstGeom prst="rect">
            <a:avLst/>
          </a:prstGeom>
          <a:solidFill>
            <a:srgbClr val="E2EAEE"/>
          </a:solidFill>
          <a:ln/>
        </p:spPr>
      </p:sp>
      <p:sp>
        <p:nvSpPr>
          <p:cNvPr id="97" name="Shape 95"/>
          <p:cNvSpPr/>
          <p:nvPr/>
        </p:nvSpPr>
        <p:spPr>
          <a:xfrm>
            <a:off x="5125212" y="2820010"/>
            <a:ext cx="10973" cy="148133"/>
          </a:xfrm>
          <a:prstGeom prst="rect">
            <a:avLst/>
          </a:prstGeom>
          <a:solidFill>
            <a:srgbClr val="E2EAEE"/>
          </a:solidFill>
          <a:ln/>
        </p:spPr>
      </p:sp>
      <p:sp>
        <p:nvSpPr>
          <p:cNvPr id="98" name="Shape 96"/>
          <p:cNvSpPr/>
          <p:nvPr/>
        </p:nvSpPr>
        <p:spPr>
          <a:xfrm>
            <a:off x="6455664" y="2820010"/>
            <a:ext cx="10973" cy="148133"/>
          </a:xfrm>
          <a:prstGeom prst="rect">
            <a:avLst/>
          </a:prstGeom>
          <a:solidFill>
            <a:srgbClr val="E2EAEE"/>
          </a:solidFill>
          <a:ln/>
        </p:spPr>
      </p:sp>
      <p:sp>
        <p:nvSpPr>
          <p:cNvPr id="99" name="Shape 97"/>
          <p:cNvSpPr/>
          <p:nvPr/>
        </p:nvSpPr>
        <p:spPr>
          <a:xfrm>
            <a:off x="7786116" y="2820010"/>
            <a:ext cx="10973" cy="148133"/>
          </a:xfrm>
          <a:prstGeom prst="rect">
            <a:avLst/>
          </a:prstGeom>
          <a:solidFill>
            <a:srgbClr val="E2EAEE"/>
          </a:solidFill>
          <a:ln/>
        </p:spPr>
      </p:sp>
      <p:sp>
        <p:nvSpPr>
          <p:cNvPr id="100" name="Shape 98"/>
          <p:cNvSpPr/>
          <p:nvPr/>
        </p:nvSpPr>
        <p:spPr>
          <a:xfrm>
            <a:off x="9116568" y="2820010"/>
            <a:ext cx="10973" cy="148133"/>
          </a:xfrm>
          <a:prstGeom prst="rect">
            <a:avLst/>
          </a:prstGeom>
          <a:solidFill>
            <a:srgbClr val="E2EAEE"/>
          </a:solidFill>
          <a:ln/>
        </p:spPr>
      </p:sp>
      <p:sp>
        <p:nvSpPr>
          <p:cNvPr id="101" name="Shape 99"/>
          <p:cNvSpPr/>
          <p:nvPr/>
        </p:nvSpPr>
        <p:spPr>
          <a:xfrm>
            <a:off x="10447020" y="2820010"/>
            <a:ext cx="10973" cy="148133"/>
          </a:xfrm>
          <a:prstGeom prst="rect">
            <a:avLst/>
          </a:prstGeom>
          <a:solidFill>
            <a:srgbClr val="E2EAEE"/>
          </a:solidFill>
          <a:ln/>
        </p:spPr>
      </p:sp>
      <p:sp>
        <p:nvSpPr>
          <p:cNvPr id="102" name="Shape 100"/>
          <p:cNvSpPr/>
          <p:nvPr/>
        </p:nvSpPr>
        <p:spPr>
          <a:xfrm>
            <a:off x="5152644" y="2821838"/>
            <a:ext cx="1275588" cy="129845"/>
          </a:xfrm>
          <a:prstGeom prst="roundRect">
            <a:avLst>
              <a:gd name="adj" fmla="val 45775"/>
            </a:avLst>
          </a:prstGeom>
          <a:solidFill>
            <a:srgbClr val="3D8F5F"/>
          </a:solidFill>
          <a:ln/>
        </p:spPr>
      </p:sp>
      <p:sp>
        <p:nvSpPr>
          <p:cNvPr id="103" name="Text 101"/>
          <p:cNvSpPr txBox="1"/>
          <p:nvPr/>
        </p:nvSpPr>
        <p:spPr>
          <a:xfrm>
            <a:off x="5225796" y="2809037"/>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04" name="Shape 102"/>
          <p:cNvSpPr/>
          <p:nvPr/>
        </p:nvSpPr>
        <p:spPr>
          <a:xfrm>
            <a:off x="411480" y="2977286"/>
            <a:ext cx="11365992" cy="175565"/>
          </a:xfrm>
          <a:prstGeom prst="rect">
            <a:avLst/>
          </a:prstGeom>
          <a:solidFill>
            <a:srgbClr val="FFFFFF"/>
          </a:solidFill>
          <a:ln/>
        </p:spPr>
      </p:sp>
      <p:sp>
        <p:nvSpPr>
          <p:cNvPr id="105" name="Text 103"/>
          <p:cNvSpPr txBox="1"/>
          <p:nvPr/>
        </p:nvSpPr>
        <p:spPr>
          <a:xfrm>
            <a:off x="457200" y="297728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Create Stripe Terminal Simulator</a:t>
            </a:r>
            <a:endParaRPr lang="en-US" sz="730" dirty="0"/>
          </a:p>
        </p:txBody>
      </p:sp>
      <p:sp>
        <p:nvSpPr>
          <p:cNvPr id="106" name="Shape 104"/>
          <p:cNvSpPr/>
          <p:nvPr/>
        </p:nvSpPr>
        <p:spPr>
          <a:xfrm>
            <a:off x="3794760" y="2995574"/>
            <a:ext cx="10973" cy="148133"/>
          </a:xfrm>
          <a:prstGeom prst="rect">
            <a:avLst/>
          </a:prstGeom>
          <a:solidFill>
            <a:srgbClr val="E2EAEE"/>
          </a:solidFill>
          <a:ln/>
        </p:spPr>
      </p:sp>
      <p:sp>
        <p:nvSpPr>
          <p:cNvPr id="107" name="Shape 105"/>
          <p:cNvSpPr/>
          <p:nvPr/>
        </p:nvSpPr>
        <p:spPr>
          <a:xfrm>
            <a:off x="5125212" y="2995574"/>
            <a:ext cx="10973" cy="148133"/>
          </a:xfrm>
          <a:prstGeom prst="rect">
            <a:avLst/>
          </a:prstGeom>
          <a:solidFill>
            <a:srgbClr val="E2EAEE"/>
          </a:solidFill>
          <a:ln/>
        </p:spPr>
      </p:sp>
      <p:sp>
        <p:nvSpPr>
          <p:cNvPr id="108" name="Shape 106"/>
          <p:cNvSpPr/>
          <p:nvPr/>
        </p:nvSpPr>
        <p:spPr>
          <a:xfrm>
            <a:off x="6455664" y="2995574"/>
            <a:ext cx="10973" cy="148133"/>
          </a:xfrm>
          <a:prstGeom prst="rect">
            <a:avLst/>
          </a:prstGeom>
          <a:solidFill>
            <a:srgbClr val="E2EAEE"/>
          </a:solidFill>
          <a:ln/>
        </p:spPr>
      </p:sp>
      <p:sp>
        <p:nvSpPr>
          <p:cNvPr id="109" name="Shape 107"/>
          <p:cNvSpPr/>
          <p:nvPr/>
        </p:nvSpPr>
        <p:spPr>
          <a:xfrm>
            <a:off x="7786116" y="2995574"/>
            <a:ext cx="10973" cy="148133"/>
          </a:xfrm>
          <a:prstGeom prst="rect">
            <a:avLst/>
          </a:prstGeom>
          <a:solidFill>
            <a:srgbClr val="E2EAEE"/>
          </a:solidFill>
          <a:ln/>
        </p:spPr>
      </p:sp>
      <p:sp>
        <p:nvSpPr>
          <p:cNvPr id="110" name="Shape 108"/>
          <p:cNvSpPr/>
          <p:nvPr/>
        </p:nvSpPr>
        <p:spPr>
          <a:xfrm>
            <a:off x="9116568" y="2995574"/>
            <a:ext cx="10973" cy="148133"/>
          </a:xfrm>
          <a:prstGeom prst="rect">
            <a:avLst/>
          </a:prstGeom>
          <a:solidFill>
            <a:srgbClr val="E2EAEE"/>
          </a:solidFill>
          <a:ln/>
        </p:spPr>
      </p:sp>
      <p:sp>
        <p:nvSpPr>
          <p:cNvPr id="111" name="Shape 109"/>
          <p:cNvSpPr/>
          <p:nvPr/>
        </p:nvSpPr>
        <p:spPr>
          <a:xfrm>
            <a:off x="10447020" y="2995574"/>
            <a:ext cx="10973" cy="148133"/>
          </a:xfrm>
          <a:prstGeom prst="rect">
            <a:avLst/>
          </a:prstGeom>
          <a:solidFill>
            <a:srgbClr val="E2EAEE"/>
          </a:solidFill>
          <a:ln/>
        </p:spPr>
      </p:sp>
      <p:sp>
        <p:nvSpPr>
          <p:cNvPr id="112" name="Shape 110"/>
          <p:cNvSpPr/>
          <p:nvPr/>
        </p:nvSpPr>
        <p:spPr>
          <a:xfrm>
            <a:off x="5152644" y="2997403"/>
            <a:ext cx="1275588" cy="129845"/>
          </a:xfrm>
          <a:prstGeom prst="roundRect">
            <a:avLst>
              <a:gd name="adj" fmla="val 45775"/>
            </a:avLst>
          </a:prstGeom>
          <a:solidFill>
            <a:srgbClr val="3D8F5F"/>
          </a:solidFill>
          <a:ln/>
        </p:spPr>
      </p:sp>
      <p:sp>
        <p:nvSpPr>
          <p:cNvPr id="113" name="Text 111"/>
          <p:cNvSpPr txBox="1"/>
          <p:nvPr/>
        </p:nvSpPr>
        <p:spPr>
          <a:xfrm>
            <a:off x="5225796" y="298460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14" name="Text 112"/>
          <p:cNvSpPr txBox="1"/>
          <p:nvPr/>
        </p:nvSpPr>
        <p:spPr>
          <a:xfrm>
            <a:off x="457200" y="315285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Bug Fixes</a:t>
            </a:r>
            <a:endParaRPr lang="en-US" sz="730" dirty="0"/>
          </a:p>
        </p:txBody>
      </p:sp>
      <p:sp>
        <p:nvSpPr>
          <p:cNvPr id="115" name="Shape 113"/>
          <p:cNvSpPr/>
          <p:nvPr/>
        </p:nvSpPr>
        <p:spPr>
          <a:xfrm>
            <a:off x="3794760" y="3171139"/>
            <a:ext cx="10973" cy="148133"/>
          </a:xfrm>
          <a:prstGeom prst="rect">
            <a:avLst/>
          </a:prstGeom>
          <a:solidFill>
            <a:srgbClr val="E2EAEE"/>
          </a:solidFill>
          <a:ln/>
        </p:spPr>
      </p:sp>
      <p:sp>
        <p:nvSpPr>
          <p:cNvPr id="116" name="Shape 114"/>
          <p:cNvSpPr/>
          <p:nvPr/>
        </p:nvSpPr>
        <p:spPr>
          <a:xfrm>
            <a:off x="5125212" y="3171139"/>
            <a:ext cx="10973" cy="148133"/>
          </a:xfrm>
          <a:prstGeom prst="rect">
            <a:avLst/>
          </a:prstGeom>
          <a:solidFill>
            <a:srgbClr val="E2EAEE"/>
          </a:solidFill>
          <a:ln/>
        </p:spPr>
      </p:sp>
      <p:sp>
        <p:nvSpPr>
          <p:cNvPr id="117" name="Shape 115"/>
          <p:cNvSpPr/>
          <p:nvPr/>
        </p:nvSpPr>
        <p:spPr>
          <a:xfrm>
            <a:off x="6455664" y="3171139"/>
            <a:ext cx="10973" cy="148133"/>
          </a:xfrm>
          <a:prstGeom prst="rect">
            <a:avLst/>
          </a:prstGeom>
          <a:solidFill>
            <a:srgbClr val="E2EAEE"/>
          </a:solidFill>
          <a:ln/>
        </p:spPr>
      </p:sp>
      <p:sp>
        <p:nvSpPr>
          <p:cNvPr id="118" name="Shape 116"/>
          <p:cNvSpPr/>
          <p:nvPr/>
        </p:nvSpPr>
        <p:spPr>
          <a:xfrm>
            <a:off x="7786116" y="3171139"/>
            <a:ext cx="10973" cy="148133"/>
          </a:xfrm>
          <a:prstGeom prst="rect">
            <a:avLst/>
          </a:prstGeom>
          <a:solidFill>
            <a:srgbClr val="E2EAEE"/>
          </a:solidFill>
          <a:ln/>
        </p:spPr>
      </p:sp>
      <p:sp>
        <p:nvSpPr>
          <p:cNvPr id="119" name="Shape 117"/>
          <p:cNvSpPr/>
          <p:nvPr/>
        </p:nvSpPr>
        <p:spPr>
          <a:xfrm>
            <a:off x="9116568" y="3171139"/>
            <a:ext cx="10973" cy="148133"/>
          </a:xfrm>
          <a:prstGeom prst="rect">
            <a:avLst/>
          </a:prstGeom>
          <a:solidFill>
            <a:srgbClr val="E2EAEE"/>
          </a:solidFill>
          <a:ln/>
        </p:spPr>
      </p:sp>
      <p:sp>
        <p:nvSpPr>
          <p:cNvPr id="120" name="Shape 118"/>
          <p:cNvSpPr/>
          <p:nvPr/>
        </p:nvSpPr>
        <p:spPr>
          <a:xfrm>
            <a:off x="10447020" y="3171139"/>
            <a:ext cx="10973" cy="148133"/>
          </a:xfrm>
          <a:prstGeom prst="rect">
            <a:avLst/>
          </a:prstGeom>
          <a:solidFill>
            <a:srgbClr val="E2EAEE"/>
          </a:solidFill>
          <a:ln/>
        </p:spPr>
      </p:sp>
      <p:sp>
        <p:nvSpPr>
          <p:cNvPr id="121" name="Shape 119"/>
          <p:cNvSpPr/>
          <p:nvPr/>
        </p:nvSpPr>
        <p:spPr>
          <a:xfrm>
            <a:off x="3822192" y="3172968"/>
            <a:ext cx="1275588" cy="129845"/>
          </a:xfrm>
          <a:prstGeom prst="roundRect">
            <a:avLst>
              <a:gd name="adj" fmla="val 45775"/>
            </a:avLst>
          </a:prstGeom>
          <a:solidFill>
            <a:srgbClr val="3D8F5F"/>
          </a:solidFill>
          <a:ln/>
        </p:spPr>
      </p:sp>
      <p:sp>
        <p:nvSpPr>
          <p:cNvPr id="122" name="Text 120"/>
          <p:cNvSpPr txBox="1"/>
          <p:nvPr/>
        </p:nvSpPr>
        <p:spPr>
          <a:xfrm>
            <a:off x="3895344" y="316016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23" name="Shape 121"/>
          <p:cNvSpPr/>
          <p:nvPr/>
        </p:nvSpPr>
        <p:spPr>
          <a:xfrm>
            <a:off x="411480" y="3328416"/>
            <a:ext cx="11365992" cy="175565"/>
          </a:xfrm>
          <a:prstGeom prst="rect">
            <a:avLst/>
          </a:prstGeom>
          <a:solidFill>
            <a:srgbClr val="FFFFFF"/>
          </a:solidFill>
          <a:ln/>
        </p:spPr>
      </p:sp>
      <p:sp>
        <p:nvSpPr>
          <p:cNvPr id="124" name="Text 122"/>
          <p:cNvSpPr txBox="1"/>
          <p:nvPr/>
        </p:nvSpPr>
        <p:spPr>
          <a:xfrm>
            <a:off x="457200" y="332841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Food Pricing - PLU Visibility Filter</a:t>
            </a:r>
            <a:endParaRPr lang="en-US" sz="730" dirty="0"/>
          </a:p>
        </p:txBody>
      </p:sp>
      <p:sp>
        <p:nvSpPr>
          <p:cNvPr id="125" name="Shape 123"/>
          <p:cNvSpPr/>
          <p:nvPr/>
        </p:nvSpPr>
        <p:spPr>
          <a:xfrm>
            <a:off x="3794760" y="3346704"/>
            <a:ext cx="10973" cy="148133"/>
          </a:xfrm>
          <a:prstGeom prst="rect">
            <a:avLst/>
          </a:prstGeom>
          <a:solidFill>
            <a:srgbClr val="E2EAEE"/>
          </a:solidFill>
          <a:ln/>
        </p:spPr>
      </p:sp>
      <p:sp>
        <p:nvSpPr>
          <p:cNvPr id="126" name="Shape 124"/>
          <p:cNvSpPr/>
          <p:nvPr/>
        </p:nvSpPr>
        <p:spPr>
          <a:xfrm>
            <a:off x="5125212" y="3346704"/>
            <a:ext cx="10973" cy="148133"/>
          </a:xfrm>
          <a:prstGeom prst="rect">
            <a:avLst/>
          </a:prstGeom>
          <a:solidFill>
            <a:srgbClr val="E2EAEE"/>
          </a:solidFill>
          <a:ln/>
        </p:spPr>
      </p:sp>
      <p:sp>
        <p:nvSpPr>
          <p:cNvPr id="127" name="Shape 125"/>
          <p:cNvSpPr/>
          <p:nvPr/>
        </p:nvSpPr>
        <p:spPr>
          <a:xfrm>
            <a:off x="6455664" y="3346704"/>
            <a:ext cx="10973" cy="148133"/>
          </a:xfrm>
          <a:prstGeom prst="rect">
            <a:avLst/>
          </a:prstGeom>
          <a:solidFill>
            <a:srgbClr val="E2EAEE"/>
          </a:solidFill>
          <a:ln/>
        </p:spPr>
      </p:sp>
      <p:sp>
        <p:nvSpPr>
          <p:cNvPr id="128" name="Shape 126"/>
          <p:cNvSpPr/>
          <p:nvPr/>
        </p:nvSpPr>
        <p:spPr>
          <a:xfrm>
            <a:off x="7786116" y="3346704"/>
            <a:ext cx="10973" cy="148133"/>
          </a:xfrm>
          <a:prstGeom prst="rect">
            <a:avLst/>
          </a:prstGeom>
          <a:solidFill>
            <a:srgbClr val="E2EAEE"/>
          </a:solidFill>
          <a:ln/>
        </p:spPr>
      </p:sp>
      <p:sp>
        <p:nvSpPr>
          <p:cNvPr id="129" name="Shape 127"/>
          <p:cNvSpPr/>
          <p:nvPr/>
        </p:nvSpPr>
        <p:spPr>
          <a:xfrm>
            <a:off x="9116568" y="3346704"/>
            <a:ext cx="10973" cy="148133"/>
          </a:xfrm>
          <a:prstGeom prst="rect">
            <a:avLst/>
          </a:prstGeom>
          <a:solidFill>
            <a:srgbClr val="E2EAEE"/>
          </a:solidFill>
          <a:ln/>
        </p:spPr>
      </p:sp>
      <p:sp>
        <p:nvSpPr>
          <p:cNvPr id="130" name="Shape 128"/>
          <p:cNvSpPr/>
          <p:nvPr/>
        </p:nvSpPr>
        <p:spPr>
          <a:xfrm>
            <a:off x="10447020" y="3346704"/>
            <a:ext cx="10973" cy="148133"/>
          </a:xfrm>
          <a:prstGeom prst="rect">
            <a:avLst/>
          </a:prstGeom>
          <a:solidFill>
            <a:srgbClr val="E2EAEE"/>
          </a:solidFill>
          <a:ln/>
        </p:spPr>
      </p:sp>
      <p:sp>
        <p:nvSpPr>
          <p:cNvPr id="131" name="Shape 129"/>
          <p:cNvSpPr/>
          <p:nvPr/>
        </p:nvSpPr>
        <p:spPr>
          <a:xfrm>
            <a:off x="5152644" y="3348533"/>
            <a:ext cx="1275588" cy="129845"/>
          </a:xfrm>
          <a:prstGeom prst="roundRect">
            <a:avLst>
              <a:gd name="adj" fmla="val 45775"/>
            </a:avLst>
          </a:prstGeom>
          <a:solidFill>
            <a:srgbClr val="C88A2E"/>
          </a:solidFill>
          <a:ln/>
        </p:spPr>
      </p:sp>
      <p:sp>
        <p:nvSpPr>
          <p:cNvPr id="132" name="Text 130"/>
          <p:cNvSpPr txBox="1"/>
          <p:nvPr/>
        </p:nvSpPr>
        <p:spPr>
          <a:xfrm>
            <a:off x="5225796" y="3335731"/>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33" name="Text 131"/>
          <p:cNvSpPr txBox="1"/>
          <p:nvPr/>
        </p:nvSpPr>
        <p:spPr>
          <a:xfrm>
            <a:off x="457200" y="350398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RMS</a:t>
            </a:r>
            <a:endParaRPr lang="en-US" sz="730" dirty="0"/>
          </a:p>
        </p:txBody>
      </p:sp>
      <p:sp>
        <p:nvSpPr>
          <p:cNvPr id="134" name="Shape 132"/>
          <p:cNvSpPr/>
          <p:nvPr/>
        </p:nvSpPr>
        <p:spPr>
          <a:xfrm>
            <a:off x="3794760" y="3522269"/>
            <a:ext cx="10973" cy="148133"/>
          </a:xfrm>
          <a:prstGeom prst="rect">
            <a:avLst/>
          </a:prstGeom>
          <a:solidFill>
            <a:srgbClr val="E2EAEE"/>
          </a:solidFill>
          <a:ln/>
        </p:spPr>
      </p:sp>
      <p:sp>
        <p:nvSpPr>
          <p:cNvPr id="135" name="Shape 133"/>
          <p:cNvSpPr/>
          <p:nvPr/>
        </p:nvSpPr>
        <p:spPr>
          <a:xfrm>
            <a:off x="5125212" y="3522269"/>
            <a:ext cx="10973" cy="148133"/>
          </a:xfrm>
          <a:prstGeom prst="rect">
            <a:avLst/>
          </a:prstGeom>
          <a:solidFill>
            <a:srgbClr val="E2EAEE"/>
          </a:solidFill>
          <a:ln/>
        </p:spPr>
      </p:sp>
      <p:sp>
        <p:nvSpPr>
          <p:cNvPr id="136" name="Shape 134"/>
          <p:cNvSpPr/>
          <p:nvPr/>
        </p:nvSpPr>
        <p:spPr>
          <a:xfrm>
            <a:off x="6455664" y="3522269"/>
            <a:ext cx="10973" cy="148133"/>
          </a:xfrm>
          <a:prstGeom prst="rect">
            <a:avLst/>
          </a:prstGeom>
          <a:solidFill>
            <a:srgbClr val="E2EAEE"/>
          </a:solidFill>
          <a:ln/>
        </p:spPr>
      </p:sp>
      <p:sp>
        <p:nvSpPr>
          <p:cNvPr id="137" name="Shape 135"/>
          <p:cNvSpPr/>
          <p:nvPr/>
        </p:nvSpPr>
        <p:spPr>
          <a:xfrm>
            <a:off x="7786116" y="3522269"/>
            <a:ext cx="10973" cy="148133"/>
          </a:xfrm>
          <a:prstGeom prst="rect">
            <a:avLst/>
          </a:prstGeom>
          <a:solidFill>
            <a:srgbClr val="E2EAEE"/>
          </a:solidFill>
          <a:ln/>
        </p:spPr>
      </p:sp>
      <p:sp>
        <p:nvSpPr>
          <p:cNvPr id="138" name="Shape 136"/>
          <p:cNvSpPr/>
          <p:nvPr/>
        </p:nvSpPr>
        <p:spPr>
          <a:xfrm>
            <a:off x="9116568" y="3522269"/>
            <a:ext cx="10973" cy="148133"/>
          </a:xfrm>
          <a:prstGeom prst="rect">
            <a:avLst/>
          </a:prstGeom>
          <a:solidFill>
            <a:srgbClr val="E2EAEE"/>
          </a:solidFill>
          <a:ln/>
        </p:spPr>
      </p:sp>
      <p:sp>
        <p:nvSpPr>
          <p:cNvPr id="139" name="Shape 137"/>
          <p:cNvSpPr/>
          <p:nvPr/>
        </p:nvSpPr>
        <p:spPr>
          <a:xfrm>
            <a:off x="10447020" y="3522269"/>
            <a:ext cx="10973" cy="148133"/>
          </a:xfrm>
          <a:prstGeom prst="rect">
            <a:avLst/>
          </a:prstGeom>
          <a:solidFill>
            <a:srgbClr val="E2EAEE"/>
          </a:solidFill>
          <a:ln/>
        </p:spPr>
      </p:sp>
      <p:sp>
        <p:nvSpPr>
          <p:cNvPr id="140" name="Shape 138"/>
          <p:cNvSpPr/>
          <p:nvPr/>
        </p:nvSpPr>
        <p:spPr>
          <a:xfrm>
            <a:off x="6483096" y="3524098"/>
            <a:ext cx="1275588" cy="129845"/>
          </a:xfrm>
          <a:prstGeom prst="roundRect">
            <a:avLst>
              <a:gd name="adj" fmla="val 45775"/>
            </a:avLst>
          </a:prstGeom>
          <a:solidFill>
            <a:srgbClr val="C88A2E"/>
          </a:solidFill>
          <a:ln/>
        </p:spPr>
      </p:sp>
      <p:sp>
        <p:nvSpPr>
          <p:cNvPr id="141" name="Text 139"/>
          <p:cNvSpPr txBox="1"/>
          <p:nvPr/>
        </p:nvSpPr>
        <p:spPr>
          <a:xfrm>
            <a:off x="6556248" y="351129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142" name="Shape 140"/>
          <p:cNvSpPr/>
          <p:nvPr/>
        </p:nvSpPr>
        <p:spPr>
          <a:xfrm>
            <a:off x="411480" y="3679546"/>
            <a:ext cx="11365992" cy="175565"/>
          </a:xfrm>
          <a:prstGeom prst="rect">
            <a:avLst/>
          </a:prstGeom>
          <a:solidFill>
            <a:srgbClr val="FFFFFF"/>
          </a:solidFill>
          <a:ln/>
        </p:spPr>
      </p:sp>
      <p:sp>
        <p:nvSpPr>
          <p:cNvPr id="143" name="Text 141"/>
          <p:cNvSpPr txBox="1"/>
          <p:nvPr/>
        </p:nvSpPr>
        <p:spPr>
          <a:xfrm>
            <a:off x="457200" y="367954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LMG - various enhancemens</a:t>
            </a:r>
            <a:endParaRPr lang="en-US" sz="730" dirty="0"/>
          </a:p>
        </p:txBody>
      </p:sp>
      <p:sp>
        <p:nvSpPr>
          <p:cNvPr id="144" name="Shape 142"/>
          <p:cNvSpPr/>
          <p:nvPr/>
        </p:nvSpPr>
        <p:spPr>
          <a:xfrm>
            <a:off x="3794760" y="3697834"/>
            <a:ext cx="10973" cy="148133"/>
          </a:xfrm>
          <a:prstGeom prst="rect">
            <a:avLst/>
          </a:prstGeom>
          <a:solidFill>
            <a:srgbClr val="E2EAEE"/>
          </a:solidFill>
          <a:ln/>
        </p:spPr>
      </p:sp>
      <p:sp>
        <p:nvSpPr>
          <p:cNvPr id="145" name="Shape 143"/>
          <p:cNvSpPr/>
          <p:nvPr/>
        </p:nvSpPr>
        <p:spPr>
          <a:xfrm>
            <a:off x="5125212" y="3697834"/>
            <a:ext cx="10973" cy="148133"/>
          </a:xfrm>
          <a:prstGeom prst="rect">
            <a:avLst/>
          </a:prstGeom>
          <a:solidFill>
            <a:srgbClr val="E2EAEE"/>
          </a:solidFill>
          <a:ln/>
        </p:spPr>
      </p:sp>
      <p:sp>
        <p:nvSpPr>
          <p:cNvPr id="146" name="Shape 144"/>
          <p:cNvSpPr/>
          <p:nvPr/>
        </p:nvSpPr>
        <p:spPr>
          <a:xfrm>
            <a:off x="6455664" y="3697834"/>
            <a:ext cx="10973" cy="148133"/>
          </a:xfrm>
          <a:prstGeom prst="rect">
            <a:avLst/>
          </a:prstGeom>
          <a:solidFill>
            <a:srgbClr val="E2EAEE"/>
          </a:solidFill>
          <a:ln/>
        </p:spPr>
      </p:sp>
      <p:sp>
        <p:nvSpPr>
          <p:cNvPr id="147" name="Shape 145"/>
          <p:cNvSpPr/>
          <p:nvPr/>
        </p:nvSpPr>
        <p:spPr>
          <a:xfrm>
            <a:off x="7786116" y="3697834"/>
            <a:ext cx="10973" cy="148133"/>
          </a:xfrm>
          <a:prstGeom prst="rect">
            <a:avLst/>
          </a:prstGeom>
          <a:solidFill>
            <a:srgbClr val="E2EAEE"/>
          </a:solidFill>
          <a:ln/>
        </p:spPr>
      </p:sp>
      <p:sp>
        <p:nvSpPr>
          <p:cNvPr id="148" name="Shape 146"/>
          <p:cNvSpPr/>
          <p:nvPr/>
        </p:nvSpPr>
        <p:spPr>
          <a:xfrm>
            <a:off x="9116568" y="3697834"/>
            <a:ext cx="10973" cy="148133"/>
          </a:xfrm>
          <a:prstGeom prst="rect">
            <a:avLst/>
          </a:prstGeom>
          <a:solidFill>
            <a:srgbClr val="E2EAEE"/>
          </a:solidFill>
          <a:ln/>
        </p:spPr>
      </p:sp>
      <p:sp>
        <p:nvSpPr>
          <p:cNvPr id="149" name="Shape 147"/>
          <p:cNvSpPr/>
          <p:nvPr/>
        </p:nvSpPr>
        <p:spPr>
          <a:xfrm>
            <a:off x="10447020" y="3697834"/>
            <a:ext cx="10973" cy="148133"/>
          </a:xfrm>
          <a:prstGeom prst="rect">
            <a:avLst/>
          </a:prstGeom>
          <a:solidFill>
            <a:srgbClr val="E2EAEE"/>
          </a:solidFill>
          <a:ln/>
        </p:spPr>
      </p:sp>
      <p:sp>
        <p:nvSpPr>
          <p:cNvPr id="150" name="Shape 148"/>
          <p:cNvSpPr/>
          <p:nvPr/>
        </p:nvSpPr>
        <p:spPr>
          <a:xfrm>
            <a:off x="7813548" y="3699662"/>
            <a:ext cx="2606040" cy="129845"/>
          </a:xfrm>
          <a:prstGeom prst="roundRect">
            <a:avLst>
              <a:gd name="adj" fmla="val 45775"/>
            </a:avLst>
          </a:prstGeom>
          <a:solidFill>
            <a:srgbClr val="C7D3DA">
              <a:alpha val="75000"/>
            </a:srgbClr>
          </a:solidFill>
          <a:ln/>
        </p:spPr>
      </p:sp>
      <p:sp>
        <p:nvSpPr>
          <p:cNvPr id="151" name="Text 149"/>
          <p:cNvSpPr txBox="1"/>
          <p:nvPr/>
        </p:nvSpPr>
        <p:spPr>
          <a:xfrm>
            <a:off x="7886700" y="3686861"/>
            <a:ext cx="2496312"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52" name="Text 150"/>
          <p:cNvSpPr txBox="1"/>
          <p:nvPr/>
        </p:nvSpPr>
        <p:spPr>
          <a:xfrm>
            <a:off x="457200" y="385511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Bug Run 9.3</a:t>
            </a:r>
            <a:endParaRPr lang="en-US" sz="730" dirty="0"/>
          </a:p>
        </p:txBody>
      </p:sp>
      <p:sp>
        <p:nvSpPr>
          <p:cNvPr id="153" name="Shape 151"/>
          <p:cNvSpPr/>
          <p:nvPr/>
        </p:nvSpPr>
        <p:spPr>
          <a:xfrm>
            <a:off x="3794760" y="3873398"/>
            <a:ext cx="10973" cy="148133"/>
          </a:xfrm>
          <a:prstGeom prst="rect">
            <a:avLst/>
          </a:prstGeom>
          <a:solidFill>
            <a:srgbClr val="E2EAEE"/>
          </a:solidFill>
          <a:ln/>
        </p:spPr>
      </p:sp>
      <p:sp>
        <p:nvSpPr>
          <p:cNvPr id="154" name="Shape 152"/>
          <p:cNvSpPr/>
          <p:nvPr/>
        </p:nvSpPr>
        <p:spPr>
          <a:xfrm>
            <a:off x="5125212" y="3873398"/>
            <a:ext cx="10973" cy="148133"/>
          </a:xfrm>
          <a:prstGeom prst="rect">
            <a:avLst/>
          </a:prstGeom>
          <a:solidFill>
            <a:srgbClr val="E2EAEE"/>
          </a:solidFill>
          <a:ln/>
        </p:spPr>
      </p:sp>
      <p:sp>
        <p:nvSpPr>
          <p:cNvPr id="155" name="Shape 153"/>
          <p:cNvSpPr/>
          <p:nvPr/>
        </p:nvSpPr>
        <p:spPr>
          <a:xfrm>
            <a:off x="6455664" y="3873398"/>
            <a:ext cx="10973" cy="148133"/>
          </a:xfrm>
          <a:prstGeom prst="rect">
            <a:avLst/>
          </a:prstGeom>
          <a:solidFill>
            <a:srgbClr val="E2EAEE"/>
          </a:solidFill>
          <a:ln/>
        </p:spPr>
      </p:sp>
      <p:sp>
        <p:nvSpPr>
          <p:cNvPr id="156" name="Shape 154"/>
          <p:cNvSpPr/>
          <p:nvPr/>
        </p:nvSpPr>
        <p:spPr>
          <a:xfrm>
            <a:off x="7786116" y="3873398"/>
            <a:ext cx="10973" cy="148133"/>
          </a:xfrm>
          <a:prstGeom prst="rect">
            <a:avLst/>
          </a:prstGeom>
          <a:solidFill>
            <a:srgbClr val="E2EAEE"/>
          </a:solidFill>
          <a:ln/>
        </p:spPr>
      </p:sp>
      <p:sp>
        <p:nvSpPr>
          <p:cNvPr id="157" name="Shape 155"/>
          <p:cNvSpPr/>
          <p:nvPr/>
        </p:nvSpPr>
        <p:spPr>
          <a:xfrm>
            <a:off x="9116568" y="3873398"/>
            <a:ext cx="10973" cy="148133"/>
          </a:xfrm>
          <a:prstGeom prst="rect">
            <a:avLst/>
          </a:prstGeom>
          <a:solidFill>
            <a:srgbClr val="E2EAEE"/>
          </a:solidFill>
          <a:ln/>
        </p:spPr>
      </p:sp>
      <p:sp>
        <p:nvSpPr>
          <p:cNvPr id="158" name="Shape 156"/>
          <p:cNvSpPr/>
          <p:nvPr/>
        </p:nvSpPr>
        <p:spPr>
          <a:xfrm>
            <a:off x="10447020" y="3873398"/>
            <a:ext cx="10973" cy="148133"/>
          </a:xfrm>
          <a:prstGeom prst="rect">
            <a:avLst/>
          </a:prstGeom>
          <a:solidFill>
            <a:srgbClr val="E2EAEE"/>
          </a:solidFill>
          <a:ln/>
        </p:spPr>
      </p:sp>
      <p:sp>
        <p:nvSpPr>
          <p:cNvPr id="159" name="Shape 157"/>
          <p:cNvSpPr/>
          <p:nvPr/>
        </p:nvSpPr>
        <p:spPr>
          <a:xfrm>
            <a:off x="10474452" y="3875227"/>
            <a:ext cx="1275588" cy="129845"/>
          </a:xfrm>
          <a:prstGeom prst="roundRect">
            <a:avLst>
              <a:gd name="adj" fmla="val 45775"/>
            </a:avLst>
          </a:prstGeom>
          <a:solidFill>
            <a:srgbClr val="C7D3DA">
              <a:alpha val="75000"/>
            </a:srgbClr>
          </a:solidFill>
          <a:ln/>
        </p:spPr>
      </p:sp>
      <p:sp>
        <p:nvSpPr>
          <p:cNvPr id="160" name="Text 158"/>
          <p:cNvSpPr txBox="1"/>
          <p:nvPr/>
        </p:nvSpPr>
        <p:spPr>
          <a:xfrm>
            <a:off x="10547604" y="3862426"/>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61" name="Shape 159"/>
          <p:cNvSpPr/>
          <p:nvPr/>
        </p:nvSpPr>
        <p:spPr>
          <a:xfrm>
            <a:off x="411480" y="4030675"/>
            <a:ext cx="11365992" cy="175565"/>
          </a:xfrm>
          <a:prstGeom prst="rect">
            <a:avLst/>
          </a:prstGeom>
          <a:solidFill>
            <a:srgbClr val="FFFFFF"/>
          </a:solidFill>
          <a:ln/>
        </p:spPr>
      </p:sp>
      <p:sp>
        <p:nvSpPr>
          <p:cNvPr id="162" name="Text 160"/>
          <p:cNvSpPr txBox="1"/>
          <p:nvPr/>
        </p:nvSpPr>
        <p:spPr>
          <a:xfrm>
            <a:off x="457200" y="403067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OpenTable</a:t>
            </a:r>
            <a:endParaRPr lang="en-US" sz="730" dirty="0"/>
          </a:p>
        </p:txBody>
      </p:sp>
      <p:sp>
        <p:nvSpPr>
          <p:cNvPr id="163" name="Shape 161"/>
          <p:cNvSpPr/>
          <p:nvPr/>
        </p:nvSpPr>
        <p:spPr>
          <a:xfrm>
            <a:off x="3794760" y="4048963"/>
            <a:ext cx="10973" cy="148133"/>
          </a:xfrm>
          <a:prstGeom prst="rect">
            <a:avLst/>
          </a:prstGeom>
          <a:solidFill>
            <a:srgbClr val="E2EAEE"/>
          </a:solidFill>
          <a:ln/>
        </p:spPr>
      </p:sp>
      <p:sp>
        <p:nvSpPr>
          <p:cNvPr id="164" name="Shape 162"/>
          <p:cNvSpPr/>
          <p:nvPr/>
        </p:nvSpPr>
        <p:spPr>
          <a:xfrm>
            <a:off x="5125212" y="4048963"/>
            <a:ext cx="10973" cy="148133"/>
          </a:xfrm>
          <a:prstGeom prst="rect">
            <a:avLst/>
          </a:prstGeom>
          <a:solidFill>
            <a:srgbClr val="E2EAEE"/>
          </a:solidFill>
          <a:ln/>
        </p:spPr>
      </p:sp>
      <p:sp>
        <p:nvSpPr>
          <p:cNvPr id="165" name="Shape 163"/>
          <p:cNvSpPr/>
          <p:nvPr/>
        </p:nvSpPr>
        <p:spPr>
          <a:xfrm>
            <a:off x="6455664" y="4048963"/>
            <a:ext cx="10973" cy="148133"/>
          </a:xfrm>
          <a:prstGeom prst="rect">
            <a:avLst/>
          </a:prstGeom>
          <a:solidFill>
            <a:srgbClr val="E2EAEE"/>
          </a:solidFill>
          <a:ln/>
        </p:spPr>
      </p:sp>
      <p:sp>
        <p:nvSpPr>
          <p:cNvPr id="166" name="Shape 164"/>
          <p:cNvSpPr/>
          <p:nvPr/>
        </p:nvSpPr>
        <p:spPr>
          <a:xfrm>
            <a:off x="7786116" y="4048963"/>
            <a:ext cx="10973" cy="148133"/>
          </a:xfrm>
          <a:prstGeom prst="rect">
            <a:avLst/>
          </a:prstGeom>
          <a:solidFill>
            <a:srgbClr val="E2EAEE"/>
          </a:solidFill>
          <a:ln/>
        </p:spPr>
      </p:sp>
      <p:sp>
        <p:nvSpPr>
          <p:cNvPr id="167" name="Shape 165"/>
          <p:cNvSpPr/>
          <p:nvPr/>
        </p:nvSpPr>
        <p:spPr>
          <a:xfrm>
            <a:off x="9116568" y="4048963"/>
            <a:ext cx="10973" cy="148133"/>
          </a:xfrm>
          <a:prstGeom prst="rect">
            <a:avLst/>
          </a:prstGeom>
          <a:solidFill>
            <a:srgbClr val="E2EAEE"/>
          </a:solidFill>
          <a:ln/>
        </p:spPr>
      </p:sp>
      <p:sp>
        <p:nvSpPr>
          <p:cNvPr id="168" name="Shape 166"/>
          <p:cNvSpPr/>
          <p:nvPr/>
        </p:nvSpPr>
        <p:spPr>
          <a:xfrm>
            <a:off x="10447020" y="4048963"/>
            <a:ext cx="10973" cy="148133"/>
          </a:xfrm>
          <a:prstGeom prst="rect">
            <a:avLst/>
          </a:prstGeom>
          <a:solidFill>
            <a:srgbClr val="E2EAEE"/>
          </a:solidFill>
          <a:ln/>
        </p:spPr>
      </p:sp>
      <p:sp>
        <p:nvSpPr>
          <p:cNvPr id="169" name="Shape 167"/>
          <p:cNvSpPr/>
          <p:nvPr/>
        </p:nvSpPr>
        <p:spPr>
          <a:xfrm>
            <a:off x="3822192" y="4050792"/>
            <a:ext cx="2606040" cy="129845"/>
          </a:xfrm>
          <a:prstGeom prst="roundRect">
            <a:avLst>
              <a:gd name="adj" fmla="val 45775"/>
            </a:avLst>
          </a:prstGeom>
          <a:solidFill>
            <a:srgbClr val="3D8F5F"/>
          </a:solidFill>
          <a:ln/>
        </p:spPr>
      </p:sp>
      <p:sp>
        <p:nvSpPr>
          <p:cNvPr id="170" name="Text 168"/>
          <p:cNvSpPr txBox="1"/>
          <p:nvPr/>
        </p:nvSpPr>
        <p:spPr>
          <a:xfrm>
            <a:off x="3895344" y="4037990"/>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171" name="Text 169"/>
          <p:cNvSpPr txBox="1"/>
          <p:nvPr/>
        </p:nvSpPr>
        <p:spPr>
          <a:xfrm>
            <a:off x="457200" y="420624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Scan Work (SM-6423,SM-6478)</a:t>
            </a:r>
            <a:endParaRPr lang="en-US" sz="730" dirty="0"/>
          </a:p>
        </p:txBody>
      </p:sp>
      <p:sp>
        <p:nvSpPr>
          <p:cNvPr id="172" name="Shape 170"/>
          <p:cNvSpPr/>
          <p:nvPr/>
        </p:nvSpPr>
        <p:spPr>
          <a:xfrm>
            <a:off x="3794760" y="4224528"/>
            <a:ext cx="10973" cy="148133"/>
          </a:xfrm>
          <a:prstGeom prst="rect">
            <a:avLst/>
          </a:prstGeom>
          <a:solidFill>
            <a:srgbClr val="E2EAEE"/>
          </a:solidFill>
          <a:ln/>
        </p:spPr>
      </p:sp>
      <p:sp>
        <p:nvSpPr>
          <p:cNvPr id="173" name="Shape 171"/>
          <p:cNvSpPr/>
          <p:nvPr/>
        </p:nvSpPr>
        <p:spPr>
          <a:xfrm>
            <a:off x="5125212" y="4224528"/>
            <a:ext cx="10973" cy="148133"/>
          </a:xfrm>
          <a:prstGeom prst="rect">
            <a:avLst/>
          </a:prstGeom>
          <a:solidFill>
            <a:srgbClr val="E2EAEE"/>
          </a:solidFill>
          <a:ln/>
        </p:spPr>
      </p:sp>
      <p:sp>
        <p:nvSpPr>
          <p:cNvPr id="174" name="Shape 172"/>
          <p:cNvSpPr/>
          <p:nvPr/>
        </p:nvSpPr>
        <p:spPr>
          <a:xfrm>
            <a:off x="6455664" y="4224528"/>
            <a:ext cx="10973" cy="148133"/>
          </a:xfrm>
          <a:prstGeom prst="rect">
            <a:avLst/>
          </a:prstGeom>
          <a:solidFill>
            <a:srgbClr val="E2EAEE"/>
          </a:solidFill>
          <a:ln/>
        </p:spPr>
      </p:sp>
      <p:sp>
        <p:nvSpPr>
          <p:cNvPr id="175" name="Shape 173"/>
          <p:cNvSpPr/>
          <p:nvPr/>
        </p:nvSpPr>
        <p:spPr>
          <a:xfrm>
            <a:off x="7786116" y="4224528"/>
            <a:ext cx="10973" cy="148133"/>
          </a:xfrm>
          <a:prstGeom prst="rect">
            <a:avLst/>
          </a:prstGeom>
          <a:solidFill>
            <a:srgbClr val="E2EAEE"/>
          </a:solidFill>
          <a:ln/>
        </p:spPr>
      </p:sp>
      <p:sp>
        <p:nvSpPr>
          <p:cNvPr id="176" name="Shape 174"/>
          <p:cNvSpPr/>
          <p:nvPr/>
        </p:nvSpPr>
        <p:spPr>
          <a:xfrm>
            <a:off x="9116568" y="4224528"/>
            <a:ext cx="10973" cy="148133"/>
          </a:xfrm>
          <a:prstGeom prst="rect">
            <a:avLst/>
          </a:prstGeom>
          <a:solidFill>
            <a:srgbClr val="E2EAEE"/>
          </a:solidFill>
          <a:ln/>
        </p:spPr>
      </p:sp>
      <p:sp>
        <p:nvSpPr>
          <p:cNvPr id="177" name="Shape 175"/>
          <p:cNvSpPr/>
          <p:nvPr/>
        </p:nvSpPr>
        <p:spPr>
          <a:xfrm>
            <a:off x="10447020" y="4224528"/>
            <a:ext cx="10973" cy="148133"/>
          </a:xfrm>
          <a:prstGeom prst="rect">
            <a:avLst/>
          </a:prstGeom>
          <a:solidFill>
            <a:srgbClr val="E2EAEE"/>
          </a:solidFill>
          <a:ln/>
        </p:spPr>
      </p:sp>
      <p:sp>
        <p:nvSpPr>
          <p:cNvPr id="178" name="Shape 176"/>
          <p:cNvSpPr/>
          <p:nvPr/>
        </p:nvSpPr>
        <p:spPr>
          <a:xfrm>
            <a:off x="9144000" y="4226357"/>
            <a:ext cx="1275588" cy="129845"/>
          </a:xfrm>
          <a:prstGeom prst="roundRect">
            <a:avLst>
              <a:gd name="adj" fmla="val 45775"/>
            </a:avLst>
          </a:prstGeom>
          <a:solidFill>
            <a:srgbClr val="C7D3DA">
              <a:alpha val="75000"/>
            </a:srgbClr>
          </a:solidFill>
          <a:ln/>
        </p:spPr>
      </p:sp>
      <p:sp>
        <p:nvSpPr>
          <p:cNvPr id="179" name="Text 177"/>
          <p:cNvSpPr txBox="1"/>
          <p:nvPr/>
        </p:nvSpPr>
        <p:spPr>
          <a:xfrm>
            <a:off x="9217152" y="4213555"/>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Ciaran</a:t>
            </a:r>
            <a:endParaRPr lang="en-US" sz="650" dirty="0"/>
          </a:p>
        </p:txBody>
      </p:sp>
      <p:sp>
        <p:nvSpPr>
          <p:cNvPr id="180" name="Shape 178"/>
          <p:cNvSpPr/>
          <p:nvPr/>
        </p:nvSpPr>
        <p:spPr>
          <a:xfrm>
            <a:off x="411480" y="4381805"/>
            <a:ext cx="11365992" cy="175565"/>
          </a:xfrm>
          <a:prstGeom prst="rect">
            <a:avLst/>
          </a:prstGeom>
          <a:solidFill>
            <a:srgbClr val="FFFFFF"/>
          </a:solidFill>
          <a:ln/>
        </p:spPr>
      </p:sp>
      <p:sp>
        <p:nvSpPr>
          <p:cNvPr id="181" name="Text 179"/>
          <p:cNvSpPr txBox="1"/>
          <p:nvPr/>
        </p:nvSpPr>
        <p:spPr>
          <a:xfrm>
            <a:off x="457200" y="438180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Unattended Upgrades (released deployment)</a:t>
            </a:r>
            <a:endParaRPr lang="en-US" sz="730" dirty="0"/>
          </a:p>
        </p:txBody>
      </p:sp>
      <p:sp>
        <p:nvSpPr>
          <p:cNvPr id="182" name="Shape 180"/>
          <p:cNvSpPr/>
          <p:nvPr/>
        </p:nvSpPr>
        <p:spPr>
          <a:xfrm>
            <a:off x="3794760" y="4400093"/>
            <a:ext cx="10973" cy="148133"/>
          </a:xfrm>
          <a:prstGeom prst="rect">
            <a:avLst/>
          </a:prstGeom>
          <a:solidFill>
            <a:srgbClr val="E2EAEE"/>
          </a:solidFill>
          <a:ln/>
        </p:spPr>
      </p:sp>
      <p:sp>
        <p:nvSpPr>
          <p:cNvPr id="183" name="Shape 181"/>
          <p:cNvSpPr/>
          <p:nvPr/>
        </p:nvSpPr>
        <p:spPr>
          <a:xfrm>
            <a:off x="5125212" y="4400093"/>
            <a:ext cx="10973" cy="148133"/>
          </a:xfrm>
          <a:prstGeom prst="rect">
            <a:avLst/>
          </a:prstGeom>
          <a:solidFill>
            <a:srgbClr val="E2EAEE"/>
          </a:solidFill>
          <a:ln/>
        </p:spPr>
      </p:sp>
      <p:sp>
        <p:nvSpPr>
          <p:cNvPr id="184" name="Shape 182"/>
          <p:cNvSpPr/>
          <p:nvPr/>
        </p:nvSpPr>
        <p:spPr>
          <a:xfrm>
            <a:off x="6455664" y="4400093"/>
            <a:ext cx="10973" cy="148133"/>
          </a:xfrm>
          <a:prstGeom prst="rect">
            <a:avLst/>
          </a:prstGeom>
          <a:solidFill>
            <a:srgbClr val="E2EAEE"/>
          </a:solidFill>
          <a:ln/>
        </p:spPr>
      </p:sp>
      <p:sp>
        <p:nvSpPr>
          <p:cNvPr id="185" name="Shape 183"/>
          <p:cNvSpPr/>
          <p:nvPr/>
        </p:nvSpPr>
        <p:spPr>
          <a:xfrm>
            <a:off x="7786116" y="4400093"/>
            <a:ext cx="10973" cy="148133"/>
          </a:xfrm>
          <a:prstGeom prst="rect">
            <a:avLst/>
          </a:prstGeom>
          <a:solidFill>
            <a:srgbClr val="E2EAEE"/>
          </a:solidFill>
          <a:ln/>
        </p:spPr>
      </p:sp>
      <p:sp>
        <p:nvSpPr>
          <p:cNvPr id="186" name="Shape 184"/>
          <p:cNvSpPr/>
          <p:nvPr/>
        </p:nvSpPr>
        <p:spPr>
          <a:xfrm>
            <a:off x="9116568" y="4400093"/>
            <a:ext cx="10973" cy="148133"/>
          </a:xfrm>
          <a:prstGeom prst="rect">
            <a:avLst/>
          </a:prstGeom>
          <a:solidFill>
            <a:srgbClr val="E2EAEE"/>
          </a:solidFill>
          <a:ln/>
        </p:spPr>
      </p:sp>
      <p:sp>
        <p:nvSpPr>
          <p:cNvPr id="187" name="Shape 185"/>
          <p:cNvSpPr/>
          <p:nvPr/>
        </p:nvSpPr>
        <p:spPr>
          <a:xfrm>
            <a:off x="10447020" y="4400093"/>
            <a:ext cx="10973" cy="148133"/>
          </a:xfrm>
          <a:prstGeom prst="rect">
            <a:avLst/>
          </a:prstGeom>
          <a:solidFill>
            <a:srgbClr val="E2EAEE"/>
          </a:solidFill>
          <a:ln/>
        </p:spPr>
      </p:sp>
      <p:sp>
        <p:nvSpPr>
          <p:cNvPr id="188" name="Shape 186"/>
          <p:cNvSpPr/>
          <p:nvPr/>
        </p:nvSpPr>
        <p:spPr>
          <a:xfrm>
            <a:off x="3822192" y="4401922"/>
            <a:ext cx="3936492" cy="129845"/>
          </a:xfrm>
          <a:prstGeom prst="roundRect">
            <a:avLst>
              <a:gd name="adj" fmla="val 45775"/>
            </a:avLst>
          </a:prstGeom>
          <a:solidFill>
            <a:srgbClr val="C88A2E"/>
          </a:solidFill>
          <a:ln/>
        </p:spPr>
      </p:sp>
      <p:sp>
        <p:nvSpPr>
          <p:cNvPr id="189" name="Text 187"/>
          <p:cNvSpPr txBox="1"/>
          <p:nvPr/>
        </p:nvSpPr>
        <p:spPr>
          <a:xfrm>
            <a:off x="3895344" y="4389120"/>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90" name="Text 188"/>
          <p:cNvSpPr txBox="1"/>
          <p:nvPr/>
        </p:nvSpPr>
        <p:spPr>
          <a:xfrm>
            <a:off x="457200" y="455737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H&amp;L Pay - Tyro Parity</a:t>
            </a:r>
            <a:endParaRPr lang="en-US" sz="730" dirty="0"/>
          </a:p>
        </p:txBody>
      </p:sp>
      <p:sp>
        <p:nvSpPr>
          <p:cNvPr id="191" name="Shape 189"/>
          <p:cNvSpPr/>
          <p:nvPr/>
        </p:nvSpPr>
        <p:spPr>
          <a:xfrm>
            <a:off x="3794760" y="4575658"/>
            <a:ext cx="10973" cy="148133"/>
          </a:xfrm>
          <a:prstGeom prst="rect">
            <a:avLst/>
          </a:prstGeom>
          <a:solidFill>
            <a:srgbClr val="E2EAEE"/>
          </a:solidFill>
          <a:ln/>
        </p:spPr>
      </p:sp>
      <p:sp>
        <p:nvSpPr>
          <p:cNvPr id="192" name="Shape 190"/>
          <p:cNvSpPr/>
          <p:nvPr/>
        </p:nvSpPr>
        <p:spPr>
          <a:xfrm>
            <a:off x="5125212" y="4575658"/>
            <a:ext cx="10973" cy="148133"/>
          </a:xfrm>
          <a:prstGeom prst="rect">
            <a:avLst/>
          </a:prstGeom>
          <a:solidFill>
            <a:srgbClr val="E2EAEE"/>
          </a:solidFill>
          <a:ln/>
        </p:spPr>
      </p:sp>
      <p:sp>
        <p:nvSpPr>
          <p:cNvPr id="193" name="Shape 191"/>
          <p:cNvSpPr/>
          <p:nvPr/>
        </p:nvSpPr>
        <p:spPr>
          <a:xfrm>
            <a:off x="6455664" y="4575658"/>
            <a:ext cx="10973" cy="148133"/>
          </a:xfrm>
          <a:prstGeom prst="rect">
            <a:avLst/>
          </a:prstGeom>
          <a:solidFill>
            <a:srgbClr val="E2EAEE"/>
          </a:solidFill>
          <a:ln/>
        </p:spPr>
      </p:sp>
      <p:sp>
        <p:nvSpPr>
          <p:cNvPr id="194" name="Shape 192"/>
          <p:cNvSpPr/>
          <p:nvPr/>
        </p:nvSpPr>
        <p:spPr>
          <a:xfrm>
            <a:off x="7786116" y="4575658"/>
            <a:ext cx="10973" cy="148133"/>
          </a:xfrm>
          <a:prstGeom prst="rect">
            <a:avLst/>
          </a:prstGeom>
          <a:solidFill>
            <a:srgbClr val="E2EAEE"/>
          </a:solidFill>
          <a:ln/>
        </p:spPr>
      </p:sp>
      <p:sp>
        <p:nvSpPr>
          <p:cNvPr id="195" name="Shape 193"/>
          <p:cNvSpPr/>
          <p:nvPr/>
        </p:nvSpPr>
        <p:spPr>
          <a:xfrm>
            <a:off x="9116568" y="4575658"/>
            <a:ext cx="10973" cy="148133"/>
          </a:xfrm>
          <a:prstGeom prst="rect">
            <a:avLst/>
          </a:prstGeom>
          <a:solidFill>
            <a:srgbClr val="E2EAEE"/>
          </a:solidFill>
          <a:ln/>
        </p:spPr>
      </p:sp>
      <p:sp>
        <p:nvSpPr>
          <p:cNvPr id="196" name="Shape 194"/>
          <p:cNvSpPr/>
          <p:nvPr/>
        </p:nvSpPr>
        <p:spPr>
          <a:xfrm>
            <a:off x="10447020" y="4575658"/>
            <a:ext cx="10973" cy="148133"/>
          </a:xfrm>
          <a:prstGeom prst="rect">
            <a:avLst/>
          </a:prstGeom>
          <a:solidFill>
            <a:srgbClr val="E2EAEE"/>
          </a:solidFill>
          <a:ln/>
        </p:spPr>
      </p:sp>
      <p:sp>
        <p:nvSpPr>
          <p:cNvPr id="197" name="Shape 195"/>
          <p:cNvSpPr/>
          <p:nvPr/>
        </p:nvSpPr>
        <p:spPr>
          <a:xfrm>
            <a:off x="5152644" y="4577486"/>
            <a:ext cx="6597396" cy="129845"/>
          </a:xfrm>
          <a:prstGeom prst="roundRect">
            <a:avLst>
              <a:gd name="adj" fmla="val 45775"/>
            </a:avLst>
          </a:prstGeom>
          <a:solidFill>
            <a:srgbClr val="B4552D"/>
          </a:solidFill>
          <a:ln/>
        </p:spPr>
      </p:sp>
      <p:sp>
        <p:nvSpPr>
          <p:cNvPr id="198" name="Text 196"/>
          <p:cNvSpPr txBox="1"/>
          <p:nvPr/>
        </p:nvSpPr>
        <p:spPr>
          <a:xfrm>
            <a:off x="5225796" y="4564685"/>
            <a:ext cx="6487668"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Valpay</a:t>
            </a:r>
            <a:endParaRPr lang="en-US" sz="650" dirty="0"/>
          </a:p>
        </p:txBody>
      </p:sp>
      <p:sp>
        <p:nvSpPr>
          <p:cNvPr id="199" name="Shape 197"/>
          <p:cNvSpPr/>
          <p:nvPr/>
        </p:nvSpPr>
        <p:spPr>
          <a:xfrm>
            <a:off x="411480" y="4732934"/>
            <a:ext cx="11365992" cy="175565"/>
          </a:xfrm>
          <a:prstGeom prst="rect">
            <a:avLst/>
          </a:prstGeom>
          <a:solidFill>
            <a:srgbClr val="FFFFFF"/>
          </a:solidFill>
          <a:ln/>
        </p:spPr>
      </p:sp>
      <p:sp>
        <p:nvSpPr>
          <p:cNvPr id="200" name="Text 198"/>
          <p:cNvSpPr txBox="1"/>
          <p:nvPr/>
        </p:nvSpPr>
        <p:spPr>
          <a:xfrm>
            <a:off x="457200" y="473293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QR Code Ordering</a:t>
            </a:r>
            <a:endParaRPr lang="en-US" sz="730" dirty="0"/>
          </a:p>
        </p:txBody>
      </p:sp>
      <p:sp>
        <p:nvSpPr>
          <p:cNvPr id="201" name="Shape 199"/>
          <p:cNvSpPr/>
          <p:nvPr/>
        </p:nvSpPr>
        <p:spPr>
          <a:xfrm>
            <a:off x="3794760" y="4751222"/>
            <a:ext cx="10973" cy="148133"/>
          </a:xfrm>
          <a:prstGeom prst="rect">
            <a:avLst/>
          </a:prstGeom>
          <a:solidFill>
            <a:srgbClr val="E2EAEE"/>
          </a:solidFill>
          <a:ln/>
        </p:spPr>
      </p:sp>
      <p:sp>
        <p:nvSpPr>
          <p:cNvPr id="202" name="Shape 200"/>
          <p:cNvSpPr/>
          <p:nvPr/>
        </p:nvSpPr>
        <p:spPr>
          <a:xfrm>
            <a:off x="5125212" y="4751222"/>
            <a:ext cx="10973" cy="148133"/>
          </a:xfrm>
          <a:prstGeom prst="rect">
            <a:avLst/>
          </a:prstGeom>
          <a:solidFill>
            <a:srgbClr val="E2EAEE"/>
          </a:solidFill>
          <a:ln/>
        </p:spPr>
      </p:sp>
      <p:sp>
        <p:nvSpPr>
          <p:cNvPr id="203" name="Shape 201"/>
          <p:cNvSpPr/>
          <p:nvPr/>
        </p:nvSpPr>
        <p:spPr>
          <a:xfrm>
            <a:off x="6455664" y="4751222"/>
            <a:ext cx="10973" cy="148133"/>
          </a:xfrm>
          <a:prstGeom prst="rect">
            <a:avLst/>
          </a:prstGeom>
          <a:solidFill>
            <a:srgbClr val="E2EAEE"/>
          </a:solidFill>
          <a:ln/>
        </p:spPr>
      </p:sp>
      <p:sp>
        <p:nvSpPr>
          <p:cNvPr id="204" name="Shape 202"/>
          <p:cNvSpPr/>
          <p:nvPr/>
        </p:nvSpPr>
        <p:spPr>
          <a:xfrm>
            <a:off x="7786116" y="4751222"/>
            <a:ext cx="10973" cy="148133"/>
          </a:xfrm>
          <a:prstGeom prst="rect">
            <a:avLst/>
          </a:prstGeom>
          <a:solidFill>
            <a:srgbClr val="E2EAEE"/>
          </a:solidFill>
          <a:ln/>
        </p:spPr>
      </p:sp>
      <p:sp>
        <p:nvSpPr>
          <p:cNvPr id="205" name="Shape 203"/>
          <p:cNvSpPr/>
          <p:nvPr/>
        </p:nvSpPr>
        <p:spPr>
          <a:xfrm>
            <a:off x="9116568" y="4751222"/>
            <a:ext cx="10973" cy="148133"/>
          </a:xfrm>
          <a:prstGeom prst="rect">
            <a:avLst/>
          </a:prstGeom>
          <a:solidFill>
            <a:srgbClr val="E2EAEE"/>
          </a:solidFill>
          <a:ln/>
        </p:spPr>
      </p:sp>
      <p:sp>
        <p:nvSpPr>
          <p:cNvPr id="206" name="Shape 204"/>
          <p:cNvSpPr/>
          <p:nvPr/>
        </p:nvSpPr>
        <p:spPr>
          <a:xfrm>
            <a:off x="10447020" y="4751222"/>
            <a:ext cx="10973" cy="148133"/>
          </a:xfrm>
          <a:prstGeom prst="rect">
            <a:avLst/>
          </a:prstGeom>
          <a:solidFill>
            <a:srgbClr val="E2EAEE"/>
          </a:solidFill>
          <a:ln/>
        </p:spPr>
      </p:sp>
      <p:sp>
        <p:nvSpPr>
          <p:cNvPr id="207" name="Shape 205"/>
          <p:cNvSpPr/>
          <p:nvPr/>
        </p:nvSpPr>
        <p:spPr>
          <a:xfrm>
            <a:off x="3822192" y="4753051"/>
            <a:ext cx="7927848" cy="129845"/>
          </a:xfrm>
          <a:prstGeom prst="roundRect">
            <a:avLst>
              <a:gd name="adj" fmla="val 45775"/>
            </a:avLst>
          </a:prstGeom>
          <a:solidFill>
            <a:srgbClr val="C88A2E"/>
          </a:solidFill>
          <a:ln/>
        </p:spPr>
      </p:sp>
      <p:sp>
        <p:nvSpPr>
          <p:cNvPr id="208" name="Text 206"/>
          <p:cNvSpPr txBox="1"/>
          <p:nvPr/>
        </p:nvSpPr>
        <p:spPr>
          <a:xfrm>
            <a:off x="3895344" y="4740250"/>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Tony</a:t>
            </a:r>
            <a:endParaRPr lang="en-US" sz="650" dirty="0"/>
          </a:p>
        </p:txBody>
      </p:sp>
      <p:sp>
        <p:nvSpPr>
          <p:cNvPr id="209" name="Text 207"/>
          <p:cNvSpPr txBox="1"/>
          <p:nvPr/>
        </p:nvSpPr>
        <p:spPr>
          <a:xfrm>
            <a:off x="457200" y="490849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Native Apps</a:t>
            </a:r>
            <a:endParaRPr lang="en-US" sz="730" dirty="0"/>
          </a:p>
        </p:txBody>
      </p:sp>
      <p:sp>
        <p:nvSpPr>
          <p:cNvPr id="210" name="Shape 208"/>
          <p:cNvSpPr/>
          <p:nvPr/>
        </p:nvSpPr>
        <p:spPr>
          <a:xfrm>
            <a:off x="3794760" y="4926787"/>
            <a:ext cx="10973" cy="148133"/>
          </a:xfrm>
          <a:prstGeom prst="rect">
            <a:avLst/>
          </a:prstGeom>
          <a:solidFill>
            <a:srgbClr val="E2EAEE"/>
          </a:solidFill>
          <a:ln/>
        </p:spPr>
      </p:sp>
      <p:sp>
        <p:nvSpPr>
          <p:cNvPr id="211" name="Shape 209"/>
          <p:cNvSpPr/>
          <p:nvPr/>
        </p:nvSpPr>
        <p:spPr>
          <a:xfrm>
            <a:off x="5125212" y="4926787"/>
            <a:ext cx="10973" cy="148133"/>
          </a:xfrm>
          <a:prstGeom prst="rect">
            <a:avLst/>
          </a:prstGeom>
          <a:solidFill>
            <a:srgbClr val="E2EAEE"/>
          </a:solidFill>
          <a:ln/>
        </p:spPr>
      </p:sp>
      <p:sp>
        <p:nvSpPr>
          <p:cNvPr id="212" name="Shape 210"/>
          <p:cNvSpPr/>
          <p:nvPr/>
        </p:nvSpPr>
        <p:spPr>
          <a:xfrm>
            <a:off x="6455664" y="4926787"/>
            <a:ext cx="10973" cy="148133"/>
          </a:xfrm>
          <a:prstGeom prst="rect">
            <a:avLst/>
          </a:prstGeom>
          <a:solidFill>
            <a:srgbClr val="E2EAEE"/>
          </a:solidFill>
          <a:ln/>
        </p:spPr>
      </p:sp>
      <p:sp>
        <p:nvSpPr>
          <p:cNvPr id="213" name="Shape 211"/>
          <p:cNvSpPr/>
          <p:nvPr/>
        </p:nvSpPr>
        <p:spPr>
          <a:xfrm>
            <a:off x="7786116" y="4926787"/>
            <a:ext cx="10973" cy="148133"/>
          </a:xfrm>
          <a:prstGeom prst="rect">
            <a:avLst/>
          </a:prstGeom>
          <a:solidFill>
            <a:srgbClr val="E2EAEE"/>
          </a:solidFill>
          <a:ln/>
        </p:spPr>
      </p:sp>
      <p:sp>
        <p:nvSpPr>
          <p:cNvPr id="214" name="Shape 212"/>
          <p:cNvSpPr/>
          <p:nvPr/>
        </p:nvSpPr>
        <p:spPr>
          <a:xfrm>
            <a:off x="9116568" y="4926787"/>
            <a:ext cx="10973" cy="148133"/>
          </a:xfrm>
          <a:prstGeom prst="rect">
            <a:avLst/>
          </a:prstGeom>
          <a:solidFill>
            <a:srgbClr val="E2EAEE"/>
          </a:solidFill>
          <a:ln/>
        </p:spPr>
      </p:sp>
      <p:sp>
        <p:nvSpPr>
          <p:cNvPr id="215" name="Shape 213"/>
          <p:cNvSpPr/>
          <p:nvPr/>
        </p:nvSpPr>
        <p:spPr>
          <a:xfrm>
            <a:off x="10447020" y="4926787"/>
            <a:ext cx="10973" cy="148133"/>
          </a:xfrm>
          <a:prstGeom prst="rect">
            <a:avLst/>
          </a:prstGeom>
          <a:solidFill>
            <a:srgbClr val="E2EAEE"/>
          </a:solidFill>
          <a:ln/>
        </p:spPr>
      </p:sp>
      <p:sp>
        <p:nvSpPr>
          <p:cNvPr id="216" name="Shape 214"/>
          <p:cNvSpPr/>
          <p:nvPr/>
        </p:nvSpPr>
        <p:spPr>
          <a:xfrm>
            <a:off x="3822192" y="4928616"/>
            <a:ext cx="3936492" cy="129845"/>
          </a:xfrm>
          <a:prstGeom prst="roundRect">
            <a:avLst>
              <a:gd name="adj" fmla="val 45775"/>
            </a:avLst>
          </a:prstGeom>
          <a:solidFill>
            <a:srgbClr val="C88A2E"/>
          </a:solidFill>
          <a:ln/>
        </p:spPr>
      </p:sp>
      <p:sp>
        <p:nvSpPr>
          <p:cNvPr id="217" name="Text 215"/>
          <p:cNvSpPr txBox="1"/>
          <p:nvPr/>
        </p:nvSpPr>
        <p:spPr>
          <a:xfrm>
            <a:off x="3895344" y="491581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18" name="Shape 216"/>
          <p:cNvSpPr/>
          <p:nvPr/>
        </p:nvSpPr>
        <p:spPr>
          <a:xfrm>
            <a:off x="411480" y="5084064"/>
            <a:ext cx="11365992" cy="175565"/>
          </a:xfrm>
          <a:prstGeom prst="rect">
            <a:avLst/>
          </a:prstGeom>
          <a:solidFill>
            <a:srgbClr val="FFFFFF"/>
          </a:solidFill>
          <a:ln/>
        </p:spPr>
      </p:sp>
      <p:sp>
        <p:nvSpPr>
          <p:cNvPr id="219" name="Text 217"/>
          <p:cNvSpPr txBox="1"/>
          <p:nvPr/>
        </p:nvSpPr>
        <p:spPr>
          <a:xfrm>
            <a:off x="457200" y="508406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Adyen Native SDK</a:t>
            </a:r>
            <a:endParaRPr lang="en-US" sz="730" dirty="0"/>
          </a:p>
        </p:txBody>
      </p:sp>
      <p:sp>
        <p:nvSpPr>
          <p:cNvPr id="220" name="Shape 218"/>
          <p:cNvSpPr/>
          <p:nvPr/>
        </p:nvSpPr>
        <p:spPr>
          <a:xfrm>
            <a:off x="3794760" y="5102352"/>
            <a:ext cx="10973" cy="148133"/>
          </a:xfrm>
          <a:prstGeom prst="rect">
            <a:avLst/>
          </a:prstGeom>
          <a:solidFill>
            <a:srgbClr val="E2EAEE"/>
          </a:solidFill>
          <a:ln/>
        </p:spPr>
      </p:sp>
      <p:sp>
        <p:nvSpPr>
          <p:cNvPr id="221" name="Shape 219"/>
          <p:cNvSpPr/>
          <p:nvPr/>
        </p:nvSpPr>
        <p:spPr>
          <a:xfrm>
            <a:off x="5125212" y="5102352"/>
            <a:ext cx="10973" cy="148133"/>
          </a:xfrm>
          <a:prstGeom prst="rect">
            <a:avLst/>
          </a:prstGeom>
          <a:solidFill>
            <a:srgbClr val="E2EAEE"/>
          </a:solidFill>
          <a:ln/>
        </p:spPr>
      </p:sp>
      <p:sp>
        <p:nvSpPr>
          <p:cNvPr id="222" name="Shape 220"/>
          <p:cNvSpPr/>
          <p:nvPr/>
        </p:nvSpPr>
        <p:spPr>
          <a:xfrm>
            <a:off x="6455664" y="5102352"/>
            <a:ext cx="10973" cy="148133"/>
          </a:xfrm>
          <a:prstGeom prst="rect">
            <a:avLst/>
          </a:prstGeom>
          <a:solidFill>
            <a:srgbClr val="E2EAEE"/>
          </a:solidFill>
          <a:ln/>
        </p:spPr>
      </p:sp>
      <p:sp>
        <p:nvSpPr>
          <p:cNvPr id="223" name="Shape 221"/>
          <p:cNvSpPr/>
          <p:nvPr/>
        </p:nvSpPr>
        <p:spPr>
          <a:xfrm>
            <a:off x="7786116" y="5102352"/>
            <a:ext cx="10973" cy="148133"/>
          </a:xfrm>
          <a:prstGeom prst="rect">
            <a:avLst/>
          </a:prstGeom>
          <a:solidFill>
            <a:srgbClr val="E2EAEE"/>
          </a:solidFill>
          <a:ln/>
        </p:spPr>
      </p:sp>
      <p:sp>
        <p:nvSpPr>
          <p:cNvPr id="224" name="Shape 222"/>
          <p:cNvSpPr/>
          <p:nvPr/>
        </p:nvSpPr>
        <p:spPr>
          <a:xfrm>
            <a:off x="9116568" y="5102352"/>
            <a:ext cx="10973" cy="148133"/>
          </a:xfrm>
          <a:prstGeom prst="rect">
            <a:avLst/>
          </a:prstGeom>
          <a:solidFill>
            <a:srgbClr val="E2EAEE"/>
          </a:solidFill>
          <a:ln/>
        </p:spPr>
      </p:sp>
      <p:sp>
        <p:nvSpPr>
          <p:cNvPr id="225" name="Shape 223"/>
          <p:cNvSpPr/>
          <p:nvPr/>
        </p:nvSpPr>
        <p:spPr>
          <a:xfrm>
            <a:off x="10447020" y="5102352"/>
            <a:ext cx="10973" cy="148133"/>
          </a:xfrm>
          <a:prstGeom prst="rect">
            <a:avLst/>
          </a:prstGeom>
          <a:solidFill>
            <a:srgbClr val="E2EAEE"/>
          </a:solidFill>
          <a:ln/>
        </p:spPr>
      </p:sp>
      <p:sp>
        <p:nvSpPr>
          <p:cNvPr id="226" name="Shape 224"/>
          <p:cNvSpPr/>
          <p:nvPr/>
        </p:nvSpPr>
        <p:spPr>
          <a:xfrm>
            <a:off x="3822192" y="5104181"/>
            <a:ext cx="3936492" cy="129845"/>
          </a:xfrm>
          <a:prstGeom prst="roundRect">
            <a:avLst>
              <a:gd name="adj" fmla="val 45775"/>
            </a:avLst>
          </a:prstGeom>
          <a:solidFill>
            <a:srgbClr val="C88A2E"/>
          </a:solidFill>
          <a:ln/>
        </p:spPr>
      </p:sp>
      <p:sp>
        <p:nvSpPr>
          <p:cNvPr id="227" name="Text 225"/>
          <p:cNvSpPr txBox="1"/>
          <p:nvPr/>
        </p:nvSpPr>
        <p:spPr>
          <a:xfrm>
            <a:off x="3895344" y="5091379"/>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28" name="Text 226"/>
          <p:cNvSpPr txBox="1"/>
          <p:nvPr/>
        </p:nvSpPr>
        <p:spPr>
          <a:xfrm>
            <a:off x="457200" y="525962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Tyro Tap to Pay</a:t>
            </a:r>
            <a:endParaRPr lang="en-US" sz="730" dirty="0"/>
          </a:p>
        </p:txBody>
      </p:sp>
      <p:sp>
        <p:nvSpPr>
          <p:cNvPr id="229" name="Shape 227"/>
          <p:cNvSpPr/>
          <p:nvPr/>
        </p:nvSpPr>
        <p:spPr>
          <a:xfrm>
            <a:off x="3794760" y="5277917"/>
            <a:ext cx="10973" cy="148133"/>
          </a:xfrm>
          <a:prstGeom prst="rect">
            <a:avLst/>
          </a:prstGeom>
          <a:solidFill>
            <a:srgbClr val="E2EAEE"/>
          </a:solidFill>
          <a:ln/>
        </p:spPr>
      </p:sp>
      <p:sp>
        <p:nvSpPr>
          <p:cNvPr id="230" name="Shape 228"/>
          <p:cNvSpPr/>
          <p:nvPr/>
        </p:nvSpPr>
        <p:spPr>
          <a:xfrm>
            <a:off x="5125212" y="5277917"/>
            <a:ext cx="10973" cy="148133"/>
          </a:xfrm>
          <a:prstGeom prst="rect">
            <a:avLst/>
          </a:prstGeom>
          <a:solidFill>
            <a:srgbClr val="E2EAEE"/>
          </a:solidFill>
          <a:ln/>
        </p:spPr>
      </p:sp>
      <p:sp>
        <p:nvSpPr>
          <p:cNvPr id="231" name="Shape 229"/>
          <p:cNvSpPr/>
          <p:nvPr/>
        </p:nvSpPr>
        <p:spPr>
          <a:xfrm>
            <a:off x="6455664" y="5277917"/>
            <a:ext cx="10973" cy="148133"/>
          </a:xfrm>
          <a:prstGeom prst="rect">
            <a:avLst/>
          </a:prstGeom>
          <a:solidFill>
            <a:srgbClr val="E2EAEE"/>
          </a:solidFill>
          <a:ln/>
        </p:spPr>
      </p:sp>
      <p:sp>
        <p:nvSpPr>
          <p:cNvPr id="232" name="Shape 230"/>
          <p:cNvSpPr/>
          <p:nvPr/>
        </p:nvSpPr>
        <p:spPr>
          <a:xfrm>
            <a:off x="7786116" y="5277917"/>
            <a:ext cx="10973" cy="148133"/>
          </a:xfrm>
          <a:prstGeom prst="rect">
            <a:avLst/>
          </a:prstGeom>
          <a:solidFill>
            <a:srgbClr val="E2EAEE"/>
          </a:solidFill>
          <a:ln/>
        </p:spPr>
      </p:sp>
      <p:sp>
        <p:nvSpPr>
          <p:cNvPr id="233" name="Shape 231"/>
          <p:cNvSpPr/>
          <p:nvPr/>
        </p:nvSpPr>
        <p:spPr>
          <a:xfrm>
            <a:off x="9116568" y="5277917"/>
            <a:ext cx="10973" cy="148133"/>
          </a:xfrm>
          <a:prstGeom prst="rect">
            <a:avLst/>
          </a:prstGeom>
          <a:solidFill>
            <a:srgbClr val="E2EAEE"/>
          </a:solidFill>
          <a:ln/>
        </p:spPr>
      </p:sp>
      <p:sp>
        <p:nvSpPr>
          <p:cNvPr id="234" name="Shape 232"/>
          <p:cNvSpPr/>
          <p:nvPr/>
        </p:nvSpPr>
        <p:spPr>
          <a:xfrm>
            <a:off x="10447020" y="5277917"/>
            <a:ext cx="10973" cy="148133"/>
          </a:xfrm>
          <a:prstGeom prst="rect">
            <a:avLst/>
          </a:prstGeom>
          <a:solidFill>
            <a:srgbClr val="E2EAEE"/>
          </a:solidFill>
          <a:ln/>
        </p:spPr>
      </p:sp>
      <p:sp>
        <p:nvSpPr>
          <p:cNvPr id="235" name="Shape 233"/>
          <p:cNvSpPr/>
          <p:nvPr/>
        </p:nvSpPr>
        <p:spPr>
          <a:xfrm>
            <a:off x="3822192" y="5279746"/>
            <a:ext cx="3936492" cy="129845"/>
          </a:xfrm>
          <a:prstGeom prst="roundRect">
            <a:avLst>
              <a:gd name="adj" fmla="val 45775"/>
            </a:avLst>
          </a:prstGeom>
          <a:solidFill>
            <a:srgbClr val="C88A2E"/>
          </a:solidFill>
          <a:ln/>
        </p:spPr>
      </p:sp>
      <p:sp>
        <p:nvSpPr>
          <p:cNvPr id="236" name="Text 234"/>
          <p:cNvSpPr txBox="1"/>
          <p:nvPr/>
        </p:nvSpPr>
        <p:spPr>
          <a:xfrm>
            <a:off x="3895344" y="526694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37" name="Shape 235"/>
          <p:cNvSpPr/>
          <p:nvPr/>
        </p:nvSpPr>
        <p:spPr>
          <a:xfrm>
            <a:off x="411480" y="5435194"/>
            <a:ext cx="11365992" cy="175565"/>
          </a:xfrm>
          <a:prstGeom prst="rect">
            <a:avLst/>
          </a:prstGeom>
          <a:solidFill>
            <a:srgbClr val="FFFFFF"/>
          </a:solidFill>
          <a:ln/>
        </p:spPr>
      </p:sp>
      <p:sp>
        <p:nvSpPr>
          <p:cNvPr id="238" name="Text 236"/>
          <p:cNvSpPr txBox="1"/>
          <p:nvPr/>
        </p:nvSpPr>
        <p:spPr>
          <a:xfrm>
            <a:off x="457200" y="543519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Floorplan</a:t>
            </a:r>
            <a:endParaRPr lang="en-US" sz="730" dirty="0"/>
          </a:p>
        </p:txBody>
      </p:sp>
      <p:sp>
        <p:nvSpPr>
          <p:cNvPr id="239" name="Shape 237"/>
          <p:cNvSpPr/>
          <p:nvPr/>
        </p:nvSpPr>
        <p:spPr>
          <a:xfrm>
            <a:off x="3794760" y="5453482"/>
            <a:ext cx="10973" cy="148133"/>
          </a:xfrm>
          <a:prstGeom prst="rect">
            <a:avLst/>
          </a:prstGeom>
          <a:solidFill>
            <a:srgbClr val="E2EAEE"/>
          </a:solidFill>
          <a:ln/>
        </p:spPr>
      </p:sp>
      <p:sp>
        <p:nvSpPr>
          <p:cNvPr id="240" name="Shape 238"/>
          <p:cNvSpPr/>
          <p:nvPr/>
        </p:nvSpPr>
        <p:spPr>
          <a:xfrm>
            <a:off x="5125212" y="5453482"/>
            <a:ext cx="10973" cy="148133"/>
          </a:xfrm>
          <a:prstGeom prst="rect">
            <a:avLst/>
          </a:prstGeom>
          <a:solidFill>
            <a:srgbClr val="E2EAEE"/>
          </a:solidFill>
          <a:ln/>
        </p:spPr>
      </p:sp>
      <p:sp>
        <p:nvSpPr>
          <p:cNvPr id="241" name="Shape 239"/>
          <p:cNvSpPr/>
          <p:nvPr/>
        </p:nvSpPr>
        <p:spPr>
          <a:xfrm>
            <a:off x="6455664" y="5453482"/>
            <a:ext cx="10973" cy="148133"/>
          </a:xfrm>
          <a:prstGeom prst="rect">
            <a:avLst/>
          </a:prstGeom>
          <a:solidFill>
            <a:srgbClr val="E2EAEE"/>
          </a:solidFill>
          <a:ln/>
        </p:spPr>
      </p:sp>
      <p:sp>
        <p:nvSpPr>
          <p:cNvPr id="242" name="Shape 240"/>
          <p:cNvSpPr/>
          <p:nvPr/>
        </p:nvSpPr>
        <p:spPr>
          <a:xfrm>
            <a:off x="7786116" y="5453482"/>
            <a:ext cx="10973" cy="148133"/>
          </a:xfrm>
          <a:prstGeom prst="rect">
            <a:avLst/>
          </a:prstGeom>
          <a:solidFill>
            <a:srgbClr val="E2EAEE"/>
          </a:solidFill>
          <a:ln/>
        </p:spPr>
      </p:sp>
      <p:sp>
        <p:nvSpPr>
          <p:cNvPr id="243" name="Shape 241"/>
          <p:cNvSpPr/>
          <p:nvPr/>
        </p:nvSpPr>
        <p:spPr>
          <a:xfrm>
            <a:off x="9116568" y="5453482"/>
            <a:ext cx="10973" cy="148133"/>
          </a:xfrm>
          <a:prstGeom prst="rect">
            <a:avLst/>
          </a:prstGeom>
          <a:solidFill>
            <a:srgbClr val="E2EAEE"/>
          </a:solidFill>
          <a:ln/>
        </p:spPr>
      </p:sp>
      <p:sp>
        <p:nvSpPr>
          <p:cNvPr id="244" name="Shape 242"/>
          <p:cNvSpPr/>
          <p:nvPr/>
        </p:nvSpPr>
        <p:spPr>
          <a:xfrm>
            <a:off x="10447020" y="5453482"/>
            <a:ext cx="10973" cy="148133"/>
          </a:xfrm>
          <a:prstGeom prst="rect">
            <a:avLst/>
          </a:prstGeom>
          <a:solidFill>
            <a:srgbClr val="E2EAEE"/>
          </a:solidFill>
          <a:ln/>
        </p:spPr>
      </p:sp>
      <p:sp>
        <p:nvSpPr>
          <p:cNvPr id="245" name="Shape 243"/>
          <p:cNvSpPr/>
          <p:nvPr/>
        </p:nvSpPr>
        <p:spPr>
          <a:xfrm>
            <a:off x="3822192" y="5455310"/>
            <a:ext cx="1275588" cy="129845"/>
          </a:xfrm>
          <a:prstGeom prst="roundRect">
            <a:avLst>
              <a:gd name="adj" fmla="val 45775"/>
            </a:avLst>
          </a:prstGeom>
          <a:solidFill>
            <a:srgbClr val="C88A2E"/>
          </a:solidFill>
          <a:ln/>
        </p:spPr>
      </p:sp>
      <p:sp>
        <p:nvSpPr>
          <p:cNvPr id="246" name="Text 244"/>
          <p:cNvSpPr txBox="1"/>
          <p:nvPr/>
        </p:nvSpPr>
        <p:spPr>
          <a:xfrm>
            <a:off x="3895344" y="5442509"/>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47" name="Text 245"/>
          <p:cNvSpPr txBox="1"/>
          <p:nvPr/>
        </p:nvSpPr>
        <p:spPr>
          <a:xfrm>
            <a:off x="457200" y="561075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The Pass Integration</a:t>
            </a:r>
            <a:endParaRPr lang="en-US" sz="730" dirty="0"/>
          </a:p>
        </p:txBody>
      </p:sp>
      <p:sp>
        <p:nvSpPr>
          <p:cNvPr id="248" name="Shape 246"/>
          <p:cNvSpPr/>
          <p:nvPr/>
        </p:nvSpPr>
        <p:spPr>
          <a:xfrm>
            <a:off x="3794760" y="5629046"/>
            <a:ext cx="10973" cy="148133"/>
          </a:xfrm>
          <a:prstGeom prst="rect">
            <a:avLst/>
          </a:prstGeom>
          <a:solidFill>
            <a:srgbClr val="E2EAEE"/>
          </a:solidFill>
          <a:ln/>
        </p:spPr>
      </p:sp>
      <p:sp>
        <p:nvSpPr>
          <p:cNvPr id="249" name="Shape 247"/>
          <p:cNvSpPr/>
          <p:nvPr/>
        </p:nvSpPr>
        <p:spPr>
          <a:xfrm>
            <a:off x="5125212" y="5629046"/>
            <a:ext cx="10973" cy="148133"/>
          </a:xfrm>
          <a:prstGeom prst="rect">
            <a:avLst/>
          </a:prstGeom>
          <a:solidFill>
            <a:srgbClr val="E2EAEE"/>
          </a:solidFill>
          <a:ln/>
        </p:spPr>
      </p:sp>
      <p:sp>
        <p:nvSpPr>
          <p:cNvPr id="250" name="Shape 248"/>
          <p:cNvSpPr/>
          <p:nvPr/>
        </p:nvSpPr>
        <p:spPr>
          <a:xfrm>
            <a:off x="6455664" y="5629046"/>
            <a:ext cx="10973" cy="148133"/>
          </a:xfrm>
          <a:prstGeom prst="rect">
            <a:avLst/>
          </a:prstGeom>
          <a:solidFill>
            <a:srgbClr val="E2EAEE"/>
          </a:solidFill>
          <a:ln/>
        </p:spPr>
      </p:sp>
      <p:sp>
        <p:nvSpPr>
          <p:cNvPr id="251" name="Shape 249"/>
          <p:cNvSpPr/>
          <p:nvPr/>
        </p:nvSpPr>
        <p:spPr>
          <a:xfrm>
            <a:off x="7786116" y="5629046"/>
            <a:ext cx="10973" cy="148133"/>
          </a:xfrm>
          <a:prstGeom prst="rect">
            <a:avLst/>
          </a:prstGeom>
          <a:solidFill>
            <a:srgbClr val="E2EAEE"/>
          </a:solidFill>
          <a:ln/>
        </p:spPr>
      </p:sp>
      <p:sp>
        <p:nvSpPr>
          <p:cNvPr id="252" name="Shape 250"/>
          <p:cNvSpPr/>
          <p:nvPr/>
        </p:nvSpPr>
        <p:spPr>
          <a:xfrm>
            <a:off x="9116568" y="5629046"/>
            <a:ext cx="10973" cy="148133"/>
          </a:xfrm>
          <a:prstGeom prst="rect">
            <a:avLst/>
          </a:prstGeom>
          <a:solidFill>
            <a:srgbClr val="E2EAEE"/>
          </a:solidFill>
          <a:ln/>
        </p:spPr>
      </p:sp>
      <p:sp>
        <p:nvSpPr>
          <p:cNvPr id="253" name="Shape 251"/>
          <p:cNvSpPr/>
          <p:nvPr/>
        </p:nvSpPr>
        <p:spPr>
          <a:xfrm>
            <a:off x="10447020" y="5629046"/>
            <a:ext cx="10973" cy="148133"/>
          </a:xfrm>
          <a:prstGeom prst="rect">
            <a:avLst/>
          </a:prstGeom>
          <a:solidFill>
            <a:srgbClr val="E2EAEE"/>
          </a:solidFill>
          <a:ln/>
        </p:spPr>
      </p:sp>
      <p:sp>
        <p:nvSpPr>
          <p:cNvPr id="254" name="Shape 252"/>
          <p:cNvSpPr/>
          <p:nvPr/>
        </p:nvSpPr>
        <p:spPr>
          <a:xfrm>
            <a:off x="6483096" y="5630875"/>
            <a:ext cx="5266944" cy="129845"/>
          </a:xfrm>
          <a:prstGeom prst="roundRect">
            <a:avLst>
              <a:gd name="adj" fmla="val 45775"/>
            </a:avLst>
          </a:prstGeom>
          <a:solidFill>
            <a:srgbClr val="B4552D"/>
          </a:solidFill>
          <a:ln/>
        </p:spPr>
      </p:sp>
      <p:sp>
        <p:nvSpPr>
          <p:cNvPr id="255" name="Text 253"/>
          <p:cNvSpPr txBox="1"/>
          <p:nvPr/>
        </p:nvSpPr>
        <p:spPr>
          <a:xfrm>
            <a:off x="6556248" y="5618074"/>
            <a:ext cx="5157216"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56" name="Shape 254"/>
          <p:cNvSpPr/>
          <p:nvPr/>
        </p:nvSpPr>
        <p:spPr>
          <a:xfrm>
            <a:off x="411480" y="5786323"/>
            <a:ext cx="11365992" cy="175565"/>
          </a:xfrm>
          <a:prstGeom prst="rect">
            <a:avLst/>
          </a:prstGeom>
          <a:solidFill>
            <a:srgbClr val="FFFFFF"/>
          </a:solidFill>
          <a:ln/>
        </p:spPr>
      </p:sp>
      <p:sp>
        <p:nvSpPr>
          <p:cNvPr id="257" name="Text 255"/>
          <p:cNvSpPr txBox="1"/>
          <p:nvPr/>
        </p:nvSpPr>
        <p:spPr>
          <a:xfrm>
            <a:off x="457200" y="578632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Quick Sale for Events</a:t>
            </a:r>
            <a:endParaRPr lang="en-US" sz="730" dirty="0"/>
          </a:p>
        </p:txBody>
      </p:sp>
      <p:sp>
        <p:nvSpPr>
          <p:cNvPr id="258" name="Shape 256"/>
          <p:cNvSpPr/>
          <p:nvPr/>
        </p:nvSpPr>
        <p:spPr>
          <a:xfrm>
            <a:off x="3794760" y="5804611"/>
            <a:ext cx="10973" cy="148133"/>
          </a:xfrm>
          <a:prstGeom prst="rect">
            <a:avLst/>
          </a:prstGeom>
          <a:solidFill>
            <a:srgbClr val="E2EAEE"/>
          </a:solidFill>
          <a:ln/>
        </p:spPr>
      </p:sp>
      <p:sp>
        <p:nvSpPr>
          <p:cNvPr id="259" name="Shape 257"/>
          <p:cNvSpPr/>
          <p:nvPr/>
        </p:nvSpPr>
        <p:spPr>
          <a:xfrm>
            <a:off x="5125212" y="5804611"/>
            <a:ext cx="10973" cy="148133"/>
          </a:xfrm>
          <a:prstGeom prst="rect">
            <a:avLst/>
          </a:prstGeom>
          <a:solidFill>
            <a:srgbClr val="E2EAEE"/>
          </a:solidFill>
          <a:ln/>
        </p:spPr>
      </p:sp>
      <p:sp>
        <p:nvSpPr>
          <p:cNvPr id="260" name="Shape 258"/>
          <p:cNvSpPr/>
          <p:nvPr/>
        </p:nvSpPr>
        <p:spPr>
          <a:xfrm>
            <a:off x="6455664" y="5804611"/>
            <a:ext cx="10973" cy="148133"/>
          </a:xfrm>
          <a:prstGeom prst="rect">
            <a:avLst/>
          </a:prstGeom>
          <a:solidFill>
            <a:srgbClr val="E2EAEE"/>
          </a:solidFill>
          <a:ln/>
        </p:spPr>
      </p:sp>
      <p:sp>
        <p:nvSpPr>
          <p:cNvPr id="261" name="Shape 259"/>
          <p:cNvSpPr/>
          <p:nvPr/>
        </p:nvSpPr>
        <p:spPr>
          <a:xfrm>
            <a:off x="7786116" y="5804611"/>
            <a:ext cx="10973" cy="148133"/>
          </a:xfrm>
          <a:prstGeom prst="rect">
            <a:avLst/>
          </a:prstGeom>
          <a:solidFill>
            <a:srgbClr val="E2EAEE"/>
          </a:solidFill>
          <a:ln/>
        </p:spPr>
      </p:sp>
      <p:sp>
        <p:nvSpPr>
          <p:cNvPr id="262" name="Shape 260"/>
          <p:cNvSpPr/>
          <p:nvPr/>
        </p:nvSpPr>
        <p:spPr>
          <a:xfrm>
            <a:off x="9116568" y="5804611"/>
            <a:ext cx="10973" cy="148133"/>
          </a:xfrm>
          <a:prstGeom prst="rect">
            <a:avLst/>
          </a:prstGeom>
          <a:solidFill>
            <a:srgbClr val="E2EAEE"/>
          </a:solidFill>
          <a:ln/>
        </p:spPr>
      </p:sp>
      <p:sp>
        <p:nvSpPr>
          <p:cNvPr id="263" name="Shape 261"/>
          <p:cNvSpPr/>
          <p:nvPr/>
        </p:nvSpPr>
        <p:spPr>
          <a:xfrm>
            <a:off x="10447020" y="5804611"/>
            <a:ext cx="10973" cy="148133"/>
          </a:xfrm>
          <a:prstGeom prst="rect">
            <a:avLst/>
          </a:prstGeom>
          <a:solidFill>
            <a:srgbClr val="E2EAEE"/>
          </a:solidFill>
          <a:ln/>
        </p:spPr>
      </p:sp>
      <p:sp>
        <p:nvSpPr>
          <p:cNvPr id="264" name="Shape 262"/>
          <p:cNvSpPr/>
          <p:nvPr/>
        </p:nvSpPr>
        <p:spPr>
          <a:xfrm>
            <a:off x="6483096" y="5806440"/>
            <a:ext cx="2606040" cy="129845"/>
          </a:xfrm>
          <a:prstGeom prst="roundRect">
            <a:avLst>
              <a:gd name="adj" fmla="val 45775"/>
            </a:avLst>
          </a:prstGeom>
          <a:solidFill>
            <a:srgbClr val="C88A2E"/>
          </a:solidFill>
          <a:ln/>
        </p:spPr>
      </p:sp>
      <p:sp>
        <p:nvSpPr>
          <p:cNvPr id="265" name="Text 263"/>
          <p:cNvSpPr txBox="1"/>
          <p:nvPr/>
        </p:nvSpPr>
        <p:spPr>
          <a:xfrm>
            <a:off x="6556248" y="579363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66" name="Text 264"/>
          <p:cNvSpPr txBox="1"/>
          <p:nvPr/>
        </p:nvSpPr>
        <p:spPr>
          <a:xfrm>
            <a:off x="457200" y="596188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Happy Hour</a:t>
            </a:r>
            <a:endParaRPr lang="en-US" sz="730" dirty="0"/>
          </a:p>
        </p:txBody>
      </p:sp>
      <p:sp>
        <p:nvSpPr>
          <p:cNvPr id="267" name="Shape 265"/>
          <p:cNvSpPr/>
          <p:nvPr/>
        </p:nvSpPr>
        <p:spPr>
          <a:xfrm>
            <a:off x="3794760" y="5980176"/>
            <a:ext cx="10973" cy="148133"/>
          </a:xfrm>
          <a:prstGeom prst="rect">
            <a:avLst/>
          </a:prstGeom>
          <a:solidFill>
            <a:srgbClr val="E2EAEE"/>
          </a:solidFill>
          <a:ln/>
        </p:spPr>
      </p:sp>
      <p:sp>
        <p:nvSpPr>
          <p:cNvPr id="268" name="Shape 266"/>
          <p:cNvSpPr/>
          <p:nvPr/>
        </p:nvSpPr>
        <p:spPr>
          <a:xfrm>
            <a:off x="5125212" y="5980176"/>
            <a:ext cx="10973" cy="148133"/>
          </a:xfrm>
          <a:prstGeom prst="rect">
            <a:avLst/>
          </a:prstGeom>
          <a:solidFill>
            <a:srgbClr val="E2EAEE"/>
          </a:solidFill>
          <a:ln/>
        </p:spPr>
      </p:sp>
      <p:sp>
        <p:nvSpPr>
          <p:cNvPr id="269" name="Shape 267"/>
          <p:cNvSpPr/>
          <p:nvPr/>
        </p:nvSpPr>
        <p:spPr>
          <a:xfrm>
            <a:off x="6455664" y="5980176"/>
            <a:ext cx="10973" cy="148133"/>
          </a:xfrm>
          <a:prstGeom prst="rect">
            <a:avLst/>
          </a:prstGeom>
          <a:solidFill>
            <a:srgbClr val="E2EAEE"/>
          </a:solidFill>
          <a:ln/>
        </p:spPr>
      </p:sp>
      <p:sp>
        <p:nvSpPr>
          <p:cNvPr id="270" name="Shape 268"/>
          <p:cNvSpPr/>
          <p:nvPr/>
        </p:nvSpPr>
        <p:spPr>
          <a:xfrm>
            <a:off x="7786116" y="5980176"/>
            <a:ext cx="10973" cy="148133"/>
          </a:xfrm>
          <a:prstGeom prst="rect">
            <a:avLst/>
          </a:prstGeom>
          <a:solidFill>
            <a:srgbClr val="E2EAEE"/>
          </a:solidFill>
          <a:ln/>
        </p:spPr>
      </p:sp>
      <p:sp>
        <p:nvSpPr>
          <p:cNvPr id="271" name="Shape 269"/>
          <p:cNvSpPr/>
          <p:nvPr/>
        </p:nvSpPr>
        <p:spPr>
          <a:xfrm>
            <a:off x="9116568" y="5980176"/>
            <a:ext cx="10973" cy="148133"/>
          </a:xfrm>
          <a:prstGeom prst="rect">
            <a:avLst/>
          </a:prstGeom>
          <a:solidFill>
            <a:srgbClr val="E2EAEE"/>
          </a:solidFill>
          <a:ln/>
        </p:spPr>
      </p:sp>
      <p:sp>
        <p:nvSpPr>
          <p:cNvPr id="272" name="Shape 270"/>
          <p:cNvSpPr/>
          <p:nvPr/>
        </p:nvSpPr>
        <p:spPr>
          <a:xfrm>
            <a:off x="10447020" y="5980176"/>
            <a:ext cx="10973" cy="148133"/>
          </a:xfrm>
          <a:prstGeom prst="rect">
            <a:avLst/>
          </a:prstGeom>
          <a:solidFill>
            <a:srgbClr val="E2EAEE"/>
          </a:solidFill>
          <a:ln/>
        </p:spPr>
      </p:sp>
      <p:sp>
        <p:nvSpPr>
          <p:cNvPr id="273" name="Shape 271"/>
          <p:cNvSpPr/>
          <p:nvPr/>
        </p:nvSpPr>
        <p:spPr>
          <a:xfrm>
            <a:off x="9144000" y="5982005"/>
            <a:ext cx="2606040" cy="129845"/>
          </a:xfrm>
          <a:prstGeom prst="roundRect">
            <a:avLst>
              <a:gd name="adj" fmla="val 45775"/>
            </a:avLst>
          </a:prstGeom>
          <a:solidFill>
            <a:srgbClr val="C88A2E"/>
          </a:solidFill>
          <a:ln/>
        </p:spPr>
      </p:sp>
      <p:sp>
        <p:nvSpPr>
          <p:cNvPr id="274" name="Text 272"/>
          <p:cNvSpPr txBox="1"/>
          <p:nvPr/>
        </p:nvSpPr>
        <p:spPr>
          <a:xfrm>
            <a:off x="9217152" y="5969203"/>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75" name="Shape 273"/>
          <p:cNvSpPr/>
          <p:nvPr/>
        </p:nvSpPr>
        <p:spPr>
          <a:xfrm>
            <a:off x="411480" y="6137453"/>
            <a:ext cx="11365992" cy="175565"/>
          </a:xfrm>
          <a:prstGeom prst="rect">
            <a:avLst/>
          </a:prstGeom>
          <a:solidFill>
            <a:srgbClr val="FFFFFF"/>
          </a:solidFill>
          <a:ln/>
        </p:spPr>
      </p:sp>
      <p:sp>
        <p:nvSpPr>
          <p:cNvPr id="276" name="Text 274"/>
          <p:cNvSpPr txBox="1"/>
          <p:nvPr/>
        </p:nvSpPr>
        <p:spPr>
          <a:xfrm>
            <a:off x="457200" y="613745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Data Product #1 - Margin Capture (Lucas)</a:t>
            </a:r>
            <a:endParaRPr lang="en-US" sz="730" dirty="0"/>
          </a:p>
        </p:txBody>
      </p:sp>
      <p:sp>
        <p:nvSpPr>
          <p:cNvPr id="277" name="Shape 275"/>
          <p:cNvSpPr/>
          <p:nvPr/>
        </p:nvSpPr>
        <p:spPr>
          <a:xfrm>
            <a:off x="3794760" y="6155741"/>
            <a:ext cx="10973" cy="148133"/>
          </a:xfrm>
          <a:prstGeom prst="rect">
            <a:avLst/>
          </a:prstGeom>
          <a:solidFill>
            <a:srgbClr val="E2EAEE"/>
          </a:solidFill>
          <a:ln/>
        </p:spPr>
      </p:sp>
      <p:sp>
        <p:nvSpPr>
          <p:cNvPr id="278" name="Shape 276"/>
          <p:cNvSpPr/>
          <p:nvPr/>
        </p:nvSpPr>
        <p:spPr>
          <a:xfrm>
            <a:off x="5125212" y="6155741"/>
            <a:ext cx="10973" cy="148133"/>
          </a:xfrm>
          <a:prstGeom prst="rect">
            <a:avLst/>
          </a:prstGeom>
          <a:solidFill>
            <a:srgbClr val="E2EAEE"/>
          </a:solidFill>
          <a:ln/>
        </p:spPr>
      </p:sp>
      <p:sp>
        <p:nvSpPr>
          <p:cNvPr id="279" name="Shape 277"/>
          <p:cNvSpPr/>
          <p:nvPr/>
        </p:nvSpPr>
        <p:spPr>
          <a:xfrm>
            <a:off x="6455664" y="6155741"/>
            <a:ext cx="10973" cy="148133"/>
          </a:xfrm>
          <a:prstGeom prst="rect">
            <a:avLst/>
          </a:prstGeom>
          <a:solidFill>
            <a:srgbClr val="E2EAEE"/>
          </a:solidFill>
          <a:ln/>
        </p:spPr>
      </p:sp>
      <p:sp>
        <p:nvSpPr>
          <p:cNvPr id="280" name="Shape 278"/>
          <p:cNvSpPr/>
          <p:nvPr/>
        </p:nvSpPr>
        <p:spPr>
          <a:xfrm>
            <a:off x="7786116" y="6155741"/>
            <a:ext cx="10973" cy="148133"/>
          </a:xfrm>
          <a:prstGeom prst="rect">
            <a:avLst/>
          </a:prstGeom>
          <a:solidFill>
            <a:srgbClr val="E2EAEE"/>
          </a:solidFill>
          <a:ln/>
        </p:spPr>
      </p:sp>
      <p:sp>
        <p:nvSpPr>
          <p:cNvPr id="281" name="Shape 279"/>
          <p:cNvSpPr/>
          <p:nvPr/>
        </p:nvSpPr>
        <p:spPr>
          <a:xfrm>
            <a:off x="9116568" y="6155741"/>
            <a:ext cx="10973" cy="148133"/>
          </a:xfrm>
          <a:prstGeom prst="rect">
            <a:avLst/>
          </a:prstGeom>
          <a:solidFill>
            <a:srgbClr val="E2EAEE"/>
          </a:solidFill>
          <a:ln/>
        </p:spPr>
      </p:sp>
      <p:sp>
        <p:nvSpPr>
          <p:cNvPr id="282" name="Shape 280"/>
          <p:cNvSpPr/>
          <p:nvPr/>
        </p:nvSpPr>
        <p:spPr>
          <a:xfrm>
            <a:off x="10447020" y="6155741"/>
            <a:ext cx="10973" cy="148133"/>
          </a:xfrm>
          <a:prstGeom prst="rect">
            <a:avLst/>
          </a:prstGeom>
          <a:solidFill>
            <a:srgbClr val="E2EAEE"/>
          </a:solidFill>
          <a:ln/>
        </p:spPr>
      </p:sp>
      <p:sp>
        <p:nvSpPr>
          <p:cNvPr id="283" name="Shape 281"/>
          <p:cNvSpPr/>
          <p:nvPr/>
        </p:nvSpPr>
        <p:spPr>
          <a:xfrm>
            <a:off x="3822192" y="6157570"/>
            <a:ext cx="7927848" cy="129845"/>
          </a:xfrm>
          <a:prstGeom prst="roundRect">
            <a:avLst>
              <a:gd name="adj" fmla="val 45775"/>
            </a:avLst>
          </a:prstGeom>
          <a:solidFill>
            <a:srgbClr val="C88A2E"/>
          </a:solidFill>
          <a:ln/>
        </p:spPr>
      </p:sp>
      <p:sp>
        <p:nvSpPr>
          <p:cNvPr id="284" name="Text 282"/>
          <p:cNvSpPr txBox="1"/>
          <p:nvPr/>
        </p:nvSpPr>
        <p:spPr>
          <a:xfrm>
            <a:off x="3895344" y="6144768"/>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Ammar</a:t>
            </a:r>
            <a:endParaRPr lang="en-US" sz="650" dirty="0"/>
          </a:p>
        </p:txBody>
      </p:sp>
      <p:sp>
        <p:nvSpPr>
          <p:cNvPr id="285" name="Shape 283"/>
          <p:cNvSpPr/>
          <p:nvPr/>
        </p:nvSpPr>
        <p:spPr>
          <a:xfrm>
            <a:off x="7399325" y="6510528"/>
            <a:ext cx="4378147" cy="256032"/>
          </a:xfrm>
          <a:prstGeom prst="roundRect">
            <a:avLst>
              <a:gd name="adj" fmla="val 46429"/>
            </a:avLst>
          </a:prstGeom>
          <a:solidFill>
            <a:srgbClr val="12293A"/>
          </a:solidFill>
          <a:ln/>
        </p:spPr>
      </p:sp>
      <p:sp>
        <p:nvSpPr>
          <p:cNvPr id="286" name="Text 284"/>
          <p:cNvSpPr txBox="1"/>
          <p:nvPr/>
        </p:nvSpPr>
        <p:spPr>
          <a:xfrm>
            <a:off x="7399325" y="6510528"/>
            <a:ext cx="4378147"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GTM Readiness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11365992" cy="457200"/>
          </a:xfrm>
          <a:prstGeom prst="roundRect">
            <a:avLst>
              <a:gd name="adj" fmla="val 12000"/>
            </a:avLst>
          </a:prstGeom>
          <a:solidFill>
            <a:srgbClr val="12293A"/>
          </a:solidFill>
          <a:ln/>
        </p:spPr>
      </p:sp>
      <p:sp>
        <p:nvSpPr>
          <p:cNvPr id="14" name="Text 12"/>
          <p:cNvSpPr txBox="1"/>
          <p:nvPr/>
        </p:nvSpPr>
        <p:spPr>
          <a:xfrm>
            <a:off x="594360" y="1005840"/>
            <a:ext cx="1737360" cy="45720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PRODUCT</a:t>
            </a:r>
            <a:endParaRPr lang="en-US" sz="900" dirty="0"/>
          </a:p>
        </p:txBody>
      </p:sp>
      <p:sp>
        <p:nvSpPr>
          <p:cNvPr id="15" name="Text 13"/>
          <p:cNvSpPr txBox="1"/>
          <p:nvPr/>
        </p:nvSpPr>
        <p:spPr>
          <a:xfrm>
            <a:off x="251460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MESSAGING &amp; COLLATERAL</a:t>
            </a:r>
            <a:endParaRPr lang="en-US" sz="580" dirty="0"/>
          </a:p>
        </p:txBody>
      </p:sp>
      <p:sp>
        <p:nvSpPr>
          <p:cNvPr id="16" name="Text 14"/>
          <p:cNvSpPr txBox="1"/>
          <p:nvPr/>
        </p:nvSpPr>
        <p:spPr>
          <a:xfrm>
            <a:off x="354787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VALUE CASE $ PROVEN</a:t>
            </a:r>
            <a:endParaRPr lang="en-US" sz="580" dirty="0"/>
          </a:p>
        </p:txBody>
      </p:sp>
      <p:sp>
        <p:nvSpPr>
          <p:cNvPr id="17" name="Text 15"/>
          <p:cNvSpPr txBox="1"/>
          <p:nvPr/>
        </p:nvSpPr>
        <p:spPr>
          <a:xfrm>
            <a:off x="458114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PRICING &amp; PACKAGING</a:t>
            </a:r>
            <a:endParaRPr lang="en-US" sz="580" dirty="0"/>
          </a:p>
        </p:txBody>
      </p:sp>
      <p:sp>
        <p:nvSpPr>
          <p:cNvPr id="18" name="Text 16"/>
          <p:cNvSpPr txBox="1"/>
          <p:nvPr/>
        </p:nvSpPr>
        <p:spPr>
          <a:xfrm>
            <a:off x="561441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CONTRACT &amp; DATA TERMS</a:t>
            </a:r>
            <a:endParaRPr lang="en-US" sz="580" dirty="0"/>
          </a:p>
        </p:txBody>
      </p:sp>
      <p:sp>
        <p:nvSpPr>
          <p:cNvPr id="19" name="Text 17"/>
          <p:cNvSpPr txBox="1"/>
          <p:nvPr/>
        </p:nvSpPr>
        <p:spPr>
          <a:xfrm>
            <a:off x="6647688"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BILLING &amp; METERING</a:t>
            </a:r>
            <a:endParaRPr lang="en-US" sz="580" dirty="0"/>
          </a:p>
        </p:txBody>
      </p:sp>
      <p:sp>
        <p:nvSpPr>
          <p:cNvPr id="20" name="Text 18"/>
          <p:cNvSpPr txBox="1"/>
          <p:nvPr/>
        </p:nvSpPr>
        <p:spPr>
          <a:xfrm>
            <a:off x="768096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REFERENCE PILOT</a:t>
            </a:r>
            <a:endParaRPr lang="en-US" sz="580" dirty="0"/>
          </a:p>
        </p:txBody>
      </p:sp>
      <p:sp>
        <p:nvSpPr>
          <p:cNvPr id="21" name="Text 19"/>
          <p:cNvSpPr txBox="1"/>
          <p:nvPr/>
        </p:nvSpPr>
        <p:spPr>
          <a:xfrm>
            <a:off x="871423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SALES ENABLED</a:t>
            </a:r>
            <a:endParaRPr lang="en-US" sz="580" dirty="0"/>
          </a:p>
        </p:txBody>
      </p:sp>
      <p:sp>
        <p:nvSpPr>
          <p:cNvPr id="22" name="Text 20"/>
          <p:cNvSpPr txBox="1"/>
          <p:nvPr/>
        </p:nvSpPr>
        <p:spPr>
          <a:xfrm>
            <a:off x="974750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SUPPORT &amp; REMI</a:t>
            </a:r>
            <a:endParaRPr lang="en-US" sz="580" dirty="0"/>
          </a:p>
        </p:txBody>
      </p:sp>
      <p:sp>
        <p:nvSpPr>
          <p:cNvPr id="23" name="Text 21"/>
          <p:cNvSpPr txBox="1"/>
          <p:nvPr/>
        </p:nvSpPr>
        <p:spPr>
          <a:xfrm>
            <a:off x="1078077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AI ACCURACY &amp; FALLBACK</a:t>
            </a:r>
            <a:endParaRPr lang="en-US" sz="580" dirty="0"/>
          </a:p>
        </p:txBody>
      </p:sp>
      <p:sp>
        <p:nvSpPr>
          <p:cNvPr id="24" name="Shape 22"/>
          <p:cNvSpPr/>
          <p:nvPr/>
        </p:nvSpPr>
        <p:spPr>
          <a:xfrm>
            <a:off x="411480" y="1627632"/>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594360" y="1627632"/>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QR Ordering (OrderNow)</a:t>
            </a:r>
            <a:endParaRPr lang="en-US" sz="1100" dirty="0"/>
          </a:p>
        </p:txBody>
      </p:sp>
      <p:sp>
        <p:nvSpPr>
          <p:cNvPr id="26" name="Shape 24"/>
          <p:cNvSpPr/>
          <p:nvPr/>
        </p:nvSpPr>
        <p:spPr>
          <a:xfrm>
            <a:off x="2514600"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27" name="Text 25"/>
          <p:cNvSpPr txBox="1"/>
          <p:nvPr/>
        </p:nvSpPr>
        <p:spPr>
          <a:xfrm>
            <a:off x="251460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Jasmine</a:t>
            </a:r>
            <a:endParaRPr lang="en-US" sz="850" dirty="0"/>
          </a:p>
        </p:txBody>
      </p:sp>
      <p:sp>
        <p:nvSpPr>
          <p:cNvPr id="28" name="Shape 26"/>
          <p:cNvSpPr/>
          <p:nvPr/>
        </p:nvSpPr>
        <p:spPr>
          <a:xfrm>
            <a:off x="3547872"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354787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30" name="Shape 28"/>
          <p:cNvSpPr/>
          <p:nvPr/>
        </p:nvSpPr>
        <p:spPr>
          <a:xfrm>
            <a:off x="4581144"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1" name="Text 29"/>
          <p:cNvSpPr txBox="1"/>
          <p:nvPr/>
        </p:nvSpPr>
        <p:spPr>
          <a:xfrm>
            <a:off x="458114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2" name="Shape 30"/>
          <p:cNvSpPr/>
          <p:nvPr/>
        </p:nvSpPr>
        <p:spPr>
          <a:xfrm>
            <a:off x="561441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3" name="Text 31"/>
          <p:cNvSpPr txBox="1"/>
          <p:nvPr/>
        </p:nvSpPr>
        <p:spPr>
          <a:xfrm>
            <a:off x="561441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4" name="Shape 32"/>
          <p:cNvSpPr/>
          <p:nvPr/>
        </p:nvSpPr>
        <p:spPr>
          <a:xfrm>
            <a:off x="6647688"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5" name="Text 33"/>
          <p:cNvSpPr txBox="1"/>
          <p:nvPr/>
        </p:nvSpPr>
        <p:spPr>
          <a:xfrm>
            <a:off x="6647688"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36" name="Shape 34"/>
          <p:cNvSpPr/>
          <p:nvPr/>
        </p:nvSpPr>
        <p:spPr>
          <a:xfrm>
            <a:off x="7680960"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7" name="Text 35"/>
          <p:cNvSpPr txBox="1"/>
          <p:nvPr/>
        </p:nvSpPr>
        <p:spPr>
          <a:xfrm>
            <a:off x="768096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38" name="Shape 36"/>
          <p:cNvSpPr/>
          <p:nvPr/>
        </p:nvSpPr>
        <p:spPr>
          <a:xfrm>
            <a:off x="8714232"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39" name="Text 37"/>
          <p:cNvSpPr txBox="1"/>
          <p:nvPr/>
        </p:nvSpPr>
        <p:spPr>
          <a:xfrm>
            <a:off x="871423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0" name="Shape 38"/>
          <p:cNvSpPr/>
          <p:nvPr/>
        </p:nvSpPr>
        <p:spPr>
          <a:xfrm>
            <a:off x="9747504"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41" name="Text 39"/>
          <p:cNvSpPr txBox="1"/>
          <p:nvPr/>
        </p:nvSpPr>
        <p:spPr>
          <a:xfrm>
            <a:off x="974750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2" name="Shape 40"/>
          <p:cNvSpPr/>
          <p:nvPr/>
        </p:nvSpPr>
        <p:spPr>
          <a:xfrm>
            <a:off x="1078077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3" name="Text 41"/>
          <p:cNvSpPr txBox="1"/>
          <p:nvPr/>
        </p:nvSpPr>
        <p:spPr>
          <a:xfrm>
            <a:off x="1078077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Eric</a:t>
            </a:r>
            <a:endParaRPr lang="en-US" sz="850" dirty="0"/>
          </a:p>
        </p:txBody>
      </p:sp>
      <p:sp>
        <p:nvSpPr>
          <p:cNvPr id="44" name="Shape 42"/>
          <p:cNvSpPr/>
          <p:nvPr/>
        </p:nvSpPr>
        <p:spPr>
          <a:xfrm>
            <a:off x="411480" y="2340864"/>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594360" y="2340864"/>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Roam</a:t>
            </a:r>
            <a:endParaRPr lang="en-US" sz="1100" dirty="0"/>
          </a:p>
        </p:txBody>
      </p:sp>
      <p:sp>
        <p:nvSpPr>
          <p:cNvPr id="46" name="Shape 44"/>
          <p:cNvSpPr/>
          <p:nvPr/>
        </p:nvSpPr>
        <p:spPr>
          <a:xfrm>
            <a:off x="2514600"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7" name="Text 45"/>
          <p:cNvSpPr txBox="1"/>
          <p:nvPr/>
        </p:nvSpPr>
        <p:spPr>
          <a:xfrm>
            <a:off x="251460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Bjorn</a:t>
            </a:r>
            <a:endParaRPr lang="en-US" sz="850" dirty="0"/>
          </a:p>
        </p:txBody>
      </p:sp>
      <p:sp>
        <p:nvSpPr>
          <p:cNvPr id="48" name="Shape 46"/>
          <p:cNvSpPr/>
          <p:nvPr/>
        </p:nvSpPr>
        <p:spPr>
          <a:xfrm>
            <a:off x="3547872"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9" name="Text 47"/>
          <p:cNvSpPr txBox="1"/>
          <p:nvPr/>
        </p:nvSpPr>
        <p:spPr>
          <a:xfrm>
            <a:off x="354787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50" name="Shape 48"/>
          <p:cNvSpPr/>
          <p:nvPr/>
        </p:nvSpPr>
        <p:spPr>
          <a:xfrm>
            <a:off x="458114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1" name="Text 49"/>
          <p:cNvSpPr txBox="1"/>
          <p:nvPr/>
        </p:nvSpPr>
        <p:spPr>
          <a:xfrm>
            <a:off x="458114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2" name="Shape 50"/>
          <p:cNvSpPr/>
          <p:nvPr/>
        </p:nvSpPr>
        <p:spPr>
          <a:xfrm>
            <a:off x="5614416"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3" name="Text 51"/>
          <p:cNvSpPr txBox="1"/>
          <p:nvPr/>
        </p:nvSpPr>
        <p:spPr>
          <a:xfrm>
            <a:off x="5614416"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4" name="Shape 52"/>
          <p:cNvSpPr/>
          <p:nvPr/>
        </p:nvSpPr>
        <p:spPr>
          <a:xfrm>
            <a:off x="6647688"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5" name="Text 53"/>
          <p:cNvSpPr txBox="1"/>
          <p:nvPr/>
        </p:nvSpPr>
        <p:spPr>
          <a:xfrm>
            <a:off x="6647688"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56" name="Shape 54"/>
          <p:cNvSpPr/>
          <p:nvPr/>
        </p:nvSpPr>
        <p:spPr>
          <a:xfrm>
            <a:off x="7680960"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7" name="Text 55"/>
          <p:cNvSpPr txBox="1"/>
          <p:nvPr/>
        </p:nvSpPr>
        <p:spPr>
          <a:xfrm>
            <a:off x="768096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58" name="Shape 56"/>
          <p:cNvSpPr/>
          <p:nvPr/>
        </p:nvSpPr>
        <p:spPr>
          <a:xfrm>
            <a:off x="8714232"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59" name="Text 57"/>
          <p:cNvSpPr txBox="1"/>
          <p:nvPr/>
        </p:nvSpPr>
        <p:spPr>
          <a:xfrm>
            <a:off x="871423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0" name="Shape 58"/>
          <p:cNvSpPr/>
          <p:nvPr/>
        </p:nvSpPr>
        <p:spPr>
          <a:xfrm>
            <a:off x="974750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61" name="Text 59"/>
          <p:cNvSpPr txBox="1"/>
          <p:nvPr/>
        </p:nvSpPr>
        <p:spPr>
          <a:xfrm>
            <a:off x="974750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2" name="Shape 60"/>
          <p:cNvSpPr/>
          <p:nvPr/>
        </p:nvSpPr>
        <p:spPr>
          <a:xfrm>
            <a:off x="10780776" y="2496312"/>
            <a:ext cx="969264" cy="292608"/>
          </a:xfrm>
          <a:prstGeom prst="roundRect">
            <a:avLst>
              <a:gd name="adj" fmla="val 50000"/>
            </a:avLst>
          </a:prstGeom>
          <a:solidFill>
            <a:srgbClr val="C7D3DA"/>
          </a:solidFill>
          <a:ln/>
          <a:effectLst>
            <a:outerShdw sx="100000" sy="100000" kx="0" ky="0" algn="bl" rotWithShape="0" blurRad="76200" dist="25400" dir="5400000">
              <a:srgbClr val="9AAAB5">
                <a:alpha val="35000"/>
              </a:srgbClr>
            </a:outerShdw>
          </a:effectLst>
        </p:spPr>
      </p:sp>
      <p:sp>
        <p:nvSpPr>
          <p:cNvPr id="63" name="Text 61"/>
          <p:cNvSpPr txBox="1"/>
          <p:nvPr/>
        </p:nvSpPr>
        <p:spPr>
          <a:xfrm>
            <a:off x="10780776" y="2496312"/>
            <a:ext cx="969264" cy="292608"/>
          </a:xfrm>
          <a:prstGeom prst="rect">
            <a:avLst/>
          </a:prstGeom>
          <a:noFill/>
          <a:ln/>
        </p:spPr>
        <p:txBody>
          <a:bodyPr wrap="square" lIns="0" tIns="0" rIns="0" bIns="0" rtlCol="0" anchor="ctr"/>
          <a:lstStyle/>
          <a:p>
            <a:pPr algn="ctr" indent="0" marL="0">
              <a:buNone/>
            </a:pPr>
            <a:r>
              <a:rPr lang="en-US" sz="850" b="1" dirty="0">
                <a:solidFill>
                  <a:srgbClr val="5E7280"/>
                </a:solidFill>
                <a:latin typeface="Poppins" pitchFamily="34" charset="0"/>
                <a:ea typeface="Poppins" pitchFamily="34" charset="-122"/>
                <a:cs typeface="Poppins" pitchFamily="34" charset="-120"/>
              </a:rPr>
              <a:t>N/A</a:t>
            </a:r>
            <a:endParaRPr lang="en-US" sz="850" dirty="0"/>
          </a:p>
        </p:txBody>
      </p:sp>
      <p:sp>
        <p:nvSpPr>
          <p:cNvPr id="64" name="Shape 62"/>
          <p:cNvSpPr/>
          <p:nvPr/>
        </p:nvSpPr>
        <p:spPr>
          <a:xfrm>
            <a:off x="411480" y="3054096"/>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65" name="Text 63"/>
          <p:cNvSpPr txBox="1"/>
          <p:nvPr/>
        </p:nvSpPr>
        <p:spPr>
          <a:xfrm>
            <a:off x="594360" y="3054096"/>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Sentinel AI</a:t>
            </a:r>
            <a:endParaRPr lang="en-US" sz="1100" dirty="0"/>
          </a:p>
        </p:txBody>
      </p:sp>
      <p:sp>
        <p:nvSpPr>
          <p:cNvPr id="66" name="Shape 64"/>
          <p:cNvSpPr/>
          <p:nvPr/>
        </p:nvSpPr>
        <p:spPr>
          <a:xfrm>
            <a:off x="2514600"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67" name="Text 65"/>
          <p:cNvSpPr txBox="1"/>
          <p:nvPr/>
        </p:nvSpPr>
        <p:spPr>
          <a:xfrm>
            <a:off x="251460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Bradford *1</a:t>
            </a:r>
            <a:endParaRPr lang="en-US" sz="850" dirty="0"/>
          </a:p>
        </p:txBody>
      </p:sp>
      <p:sp>
        <p:nvSpPr>
          <p:cNvPr id="68" name="Shape 66"/>
          <p:cNvSpPr/>
          <p:nvPr/>
        </p:nvSpPr>
        <p:spPr>
          <a:xfrm>
            <a:off x="3547872"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69" name="Text 67"/>
          <p:cNvSpPr txBox="1"/>
          <p:nvPr/>
        </p:nvSpPr>
        <p:spPr>
          <a:xfrm>
            <a:off x="354787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70" name="Shape 68"/>
          <p:cNvSpPr/>
          <p:nvPr/>
        </p:nvSpPr>
        <p:spPr>
          <a:xfrm>
            <a:off x="458114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1" name="Text 69"/>
          <p:cNvSpPr txBox="1"/>
          <p:nvPr/>
        </p:nvSpPr>
        <p:spPr>
          <a:xfrm>
            <a:off x="458114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2" name="Shape 70"/>
          <p:cNvSpPr/>
          <p:nvPr/>
        </p:nvSpPr>
        <p:spPr>
          <a:xfrm>
            <a:off x="561441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3" name="Text 71"/>
          <p:cNvSpPr txBox="1"/>
          <p:nvPr/>
        </p:nvSpPr>
        <p:spPr>
          <a:xfrm>
            <a:off x="561441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4" name="Shape 72"/>
          <p:cNvSpPr/>
          <p:nvPr/>
        </p:nvSpPr>
        <p:spPr>
          <a:xfrm>
            <a:off x="6647688"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5" name="Text 73"/>
          <p:cNvSpPr txBox="1"/>
          <p:nvPr/>
        </p:nvSpPr>
        <p:spPr>
          <a:xfrm>
            <a:off x="6647688"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76" name="Shape 74"/>
          <p:cNvSpPr/>
          <p:nvPr/>
        </p:nvSpPr>
        <p:spPr>
          <a:xfrm>
            <a:off x="7680960"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77" name="Text 75"/>
          <p:cNvSpPr txBox="1"/>
          <p:nvPr/>
        </p:nvSpPr>
        <p:spPr>
          <a:xfrm>
            <a:off x="768096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78" name="Shape 76"/>
          <p:cNvSpPr/>
          <p:nvPr/>
        </p:nvSpPr>
        <p:spPr>
          <a:xfrm>
            <a:off x="8714232"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9" name="Text 77"/>
          <p:cNvSpPr txBox="1"/>
          <p:nvPr/>
        </p:nvSpPr>
        <p:spPr>
          <a:xfrm>
            <a:off x="871423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0" name="Shape 78"/>
          <p:cNvSpPr/>
          <p:nvPr/>
        </p:nvSpPr>
        <p:spPr>
          <a:xfrm>
            <a:off x="974750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1" name="Text 79"/>
          <p:cNvSpPr txBox="1"/>
          <p:nvPr/>
        </p:nvSpPr>
        <p:spPr>
          <a:xfrm>
            <a:off x="974750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2" name="Shape 80"/>
          <p:cNvSpPr/>
          <p:nvPr/>
        </p:nvSpPr>
        <p:spPr>
          <a:xfrm>
            <a:off x="1078077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3" name="Text 81"/>
          <p:cNvSpPr txBox="1"/>
          <p:nvPr/>
        </p:nvSpPr>
        <p:spPr>
          <a:xfrm>
            <a:off x="1078077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Ammar</a:t>
            </a:r>
            <a:endParaRPr lang="en-US" sz="850" dirty="0"/>
          </a:p>
        </p:txBody>
      </p:sp>
      <p:sp>
        <p:nvSpPr>
          <p:cNvPr id="84" name="Shape 82"/>
          <p:cNvSpPr/>
          <p:nvPr/>
        </p:nvSpPr>
        <p:spPr>
          <a:xfrm>
            <a:off x="411480" y="3931920"/>
            <a:ext cx="6035040"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5" name="Text 83"/>
          <p:cNvSpPr txBox="1"/>
          <p:nvPr/>
        </p:nvSpPr>
        <p:spPr>
          <a:xfrm>
            <a:off x="612648" y="4041648"/>
            <a:ext cx="56692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GTM READINESS — AI SUMMARY</a:t>
            </a:r>
            <a:endParaRPr lang="en-US" sz="1200" dirty="0"/>
          </a:p>
        </p:txBody>
      </p:sp>
      <p:sp>
        <p:nvSpPr>
          <p:cNvPr id="86" name="Text 84"/>
          <p:cNvSpPr txBox="1"/>
          <p:nvPr/>
        </p:nvSpPr>
        <p:spPr>
          <a:xfrm>
            <a:off x="612648" y="4352544"/>
            <a:ext cx="5623560" cy="1847088"/>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Launch scoreboard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Roam 78% · QR Ordering (OrderNow) 33% · Sentinel AI 11% (green = done, amber = half-credit)</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Red gates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QR Ordering (OrderNow) is blocked on Messaging &amp; collateral, Sales enabled, Support &amp; Remi; Sentinel AI is blocked on Messaging &amp; collateral, Pricing &amp; packaging, Contract &amp; data terms, Billing &amp; metering, Sales enabled, Support &amp; Remi, AI accuracy &amp; fallback. Nothing else stops a launch.</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Who owns it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24 of 27 dimensions have a named owner on the pill; 1 carries a note. An unowned red is a stalled red.</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*1 Sentinel AI · Messaging &amp; collateral: MF to give BY prototype to produce a 1pgr pitch</a:t>
            </a:r>
            <a:endParaRPr lang="en-US" sz="900" dirty="0"/>
          </a:p>
        </p:txBody>
      </p:sp>
      <p:sp>
        <p:nvSpPr>
          <p:cNvPr id="87" name="Shape 85"/>
          <p:cNvSpPr/>
          <p:nvPr/>
        </p:nvSpPr>
        <p:spPr>
          <a:xfrm>
            <a:off x="6629400" y="3931920"/>
            <a:ext cx="5148072"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8" name="Text 86"/>
          <p:cNvSpPr txBox="1"/>
          <p:nvPr/>
        </p:nvSpPr>
        <p:spPr>
          <a:xfrm>
            <a:off x="6830568" y="4041648"/>
            <a:ext cx="47823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ROADMAP — AI SUMMARY</a:t>
            </a:r>
            <a:endParaRPr lang="en-US" sz="1200" dirty="0"/>
          </a:p>
        </p:txBody>
      </p:sp>
      <p:sp>
        <p:nvSpPr>
          <p:cNvPr id="89" name="Text 87"/>
          <p:cNvSpPr txBox="1"/>
          <p:nvPr/>
        </p:nvSpPr>
        <p:spPr>
          <a:xfrm>
            <a:off x="6830568" y="4352544"/>
            <a:ext cx="4736592" cy="1847088"/>
          </a:xfrm>
          <a:prstGeom prst="rect">
            <a:avLst/>
          </a:prstGeom>
          <a:noFill/>
          <a:ln/>
        </p:spPr>
        <p:txBody>
          <a:bodyPr wrap="square" lIns="0" tIns="0" rIns="0" bIns="0" rtlCol="0" anchor="t"/>
          <a:lstStyle/>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ALH Food Pricing - PLU Visibility Filter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Requirements gathered - behind schedule</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H&amp;L Pay - Tyro Parity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Tarek interviewing next week</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The Pass Integration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Needs validation</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Tyro Tap to Pay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Awaiting certification</a:t>
            </a:r>
            <a:endParaRPr lang="en-US" sz="900" dirty="0"/>
          </a:p>
        </p:txBody>
      </p:sp>
      <p:sp>
        <p:nvSpPr>
          <p:cNvPr id="90" name="Shape 88"/>
          <p:cNvSpPr/>
          <p:nvPr/>
        </p:nvSpPr>
        <p:spPr>
          <a:xfrm>
            <a:off x="7399325" y="6510528"/>
            <a:ext cx="4378147" cy="256032"/>
          </a:xfrm>
          <a:prstGeom prst="roundRect">
            <a:avLst>
              <a:gd name="adj" fmla="val 46429"/>
            </a:avLst>
          </a:prstGeom>
          <a:solidFill>
            <a:srgbClr val="12293A"/>
          </a:solidFill>
          <a:ln/>
        </p:spPr>
      </p:sp>
      <p:sp>
        <p:nvSpPr>
          <p:cNvPr id="91" name="Text 89"/>
          <p:cNvSpPr txBox="1"/>
          <p:nvPr/>
        </p:nvSpPr>
        <p:spPr>
          <a:xfrm>
            <a:off x="7399325" y="6510528"/>
            <a:ext cx="4378147"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 Usage — Adoption &amp; Activity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IT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ACTIVE MEMBERS</a:t>
            </a:r>
            <a:endParaRPr lang="en-US" sz="950" dirty="0"/>
          </a:p>
        </p:txBody>
      </p:sp>
      <p:sp>
        <p:nvSpPr>
          <p:cNvPr id="15" name="Text 13"/>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37 of 47</a:t>
            </a:r>
            <a:endParaRPr lang="en-US" sz="2600" dirty="0"/>
          </a:p>
        </p:txBody>
      </p:sp>
      <p:sp>
        <p:nvSpPr>
          <p:cNvPr id="16" name="Text 14"/>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weekly active · 10 daily · 43 monthly</a:t>
            </a:r>
            <a:endParaRPr lang="en-US" sz="780" dirty="0"/>
          </a:p>
        </p:txBody>
      </p:sp>
      <p:sp>
        <p:nvSpPr>
          <p:cNvPr id="17" name="Shape 15"/>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8" name="Text 16"/>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LINES OF CODE — LAST WEEK</a:t>
            </a:r>
            <a:endParaRPr lang="en-US" sz="950" dirty="0"/>
          </a:p>
        </p:txBody>
      </p:sp>
      <p:sp>
        <p:nvSpPr>
          <p:cNvPr id="19" name="Text 17"/>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176,102 ▲</a:t>
            </a:r>
            <a:endParaRPr lang="en-US" sz="2400" dirty="0"/>
          </a:p>
        </p:txBody>
      </p:sp>
      <p:sp>
        <p:nvSpPr>
          <p:cNvPr id="20" name="Text 18"/>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week to 27 Sep · derived from the September month-to-date delta since the 20 Sep capture</a:t>
            </a:r>
            <a:endParaRPr lang="en-US" sz="780" dirty="0"/>
          </a:p>
        </p:txBody>
      </p:sp>
      <p:sp>
        <p:nvSpPr>
          <p:cNvPr id="21" name="Shape 19"/>
          <p:cNvSpPr/>
          <p:nvPr/>
        </p:nvSpPr>
        <p:spPr>
          <a:xfrm>
            <a:off x="6172200" y="987552"/>
            <a:ext cx="560527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336792" y="1060704"/>
            <a:ext cx="5276088" cy="201168"/>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PLATFORM STICKINESS — SHARE OF MONTHLY USERS ACTIVE DAILY</a:t>
            </a:r>
            <a:endParaRPr lang="en-US" sz="850" dirty="0"/>
          </a:p>
        </p:txBody>
      </p:sp>
      <p:sp>
        <p:nvSpPr>
          <p:cNvPr id="23" name="Text 21"/>
          <p:cNvSpPr txBox="1"/>
          <p:nvPr/>
        </p:nvSpPr>
        <p:spPr>
          <a:xfrm>
            <a:off x="6336792" y="129844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 Code</a:t>
            </a:r>
            <a:endParaRPr lang="en-US" sz="750" dirty="0"/>
          </a:p>
        </p:txBody>
      </p:sp>
      <p:sp>
        <p:nvSpPr>
          <p:cNvPr id="24" name="Shape 22"/>
          <p:cNvSpPr/>
          <p:nvPr/>
        </p:nvSpPr>
        <p:spPr>
          <a:xfrm>
            <a:off x="7498080" y="1335024"/>
            <a:ext cx="3291840" cy="91440"/>
          </a:xfrm>
          <a:prstGeom prst="roundRect">
            <a:avLst>
              <a:gd name="adj" fmla="val 40000"/>
            </a:avLst>
          </a:prstGeom>
          <a:solidFill>
            <a:srgbClr val="E2EAEE"/>
          </a:solidFill>
          <a:ln/>
        </p:spPr>
      </p:sp>
      <p:sp>
        <p:nvSpPr>
          <p:cNvPr id="25" name="Shape 23"/>
          <p:cNvSpPr/>
          <p:nvPr/>
        </p:nvSpPr>
        <p:spPr>
          <a:xfrm>
            <a:off x="7498080" y="1335024"/>
            <a:ext cx="395021" cy="91440"/>
          </a:xfrm>
          <a:prstGeom prst="roundRect">
            <a:avLst>
              <a:gd name="adj" fmla="val 40000"/>
            </a:avLst>
          </a:prstGeom>
          <a:solidFill>
            <a:srgbClr val="2C8394"/>
          </a:solidFill>
          <a:ln/>
        </p:spPr>
      </p:sp>
      <p:sp>
        <p:nvSpPr>
          <p:cNvPr id="26" name="Text 24"/>
          <p:cNvSpPr txBox="1"/>
          <p:nvPr/>
        </p:nvSpPr>
        <p:spPr>
          <a:xfrm>
            <a:off x="10881360" y="129844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12%</a:t>
            </a:r>
            <a:endParaRPr lang="en-US" sz="800" dirty="0"/>
          </a:p>
        </p:txBody>
      </p:sp>
      <p:sp>
        <p:nvSpPr>
          <p:cNvPr id="27" name="Text 25"/>
          <p:cNvSpPr txBox="1"/>
          <p:nvPr/>
        </p:nvSpPr>
        <p:spPr>
          <a:xfrm>
            <a:off x="6336792" y="148132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Cowork</a:t>
            </a:r>
            <a:endParaRPr lang="en-US" sz="750" dirty="0"/>
          </a:p>
        </p:txBody>
      </p:sp>
      <p:sp>
        <p:nvSpPr>
          <p:cNvPr id="28" name="Shape 26"/>
          <p:cNvSpPr/>
          <p:nvPr/>
        </p:nvSpPr>
        <p:spPr>
          <a:xfrm>
            <a:off x="7498080" y="1517904"/>
            <a:ext cx="3291840" cy="91440"/>
          </a:xfrm>
          <a:prstGeom prst="roundRect">
            <a:avLst>
              <a:gd name="adj" fmla="val 40000"/>
            </a:avLst>
          </a:prstGeom>
          <a:solidFill>
            <a:srgbClr val="E2EAEE"/>
          </a:solidFill>
          <a:ln/>
        </p:spPr>
      </p:sp>
      <p:sp>
        <p:nvSpPr>
          <p:cNvPr id="29" name="Shape 27"/>
          <p:cNvSpPr/>
          <p:nvPr/>
        </p:nvSpPr>
        <p:spPr>
          <a:xfrm>
            <a:off x="7498080" y="1517904"/>
            <a:ext cx="757123" cy="91440"/>
          </a:xfrm>
          <a:prstGeom prst="roundRect">
            <a:avLst>
              <a:gd name="adj" fmla="val 40000"/>
            </a:avLst>
          </a:prstGeom>
          <a:solidFill>
            <a:srgbClr val="2C8394"/>
          </a:solidFill>
          <a:ln/>
        </p:spPr>
      </p:sp>
      <p:sp>
        <p:nvSpPr>
          <p:cNvPr id="30" name="Text 28"/>
          <p:cNvSpPr txBox="1"/>
          <p:nvPr/>
        </p:nvSpPr>
        <p:spPr>
          <a:xfrm>
            <a:off x="10881360" y="148132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23%</a:t>
            </a:r>
            <a:endParaRPr lang="en-US" sz="800" dirty="0"/>
          </a:p>
        </p:txBody>
      </p:sp>
      <p:sp>
        <p:nvSpPr>
          <p:cNvPr id="31" name="Text 29"/>
          <p:cNvSpPr txBox="1"/>
          <p:nvPr/>
        </p:nvSpPr>
        <p:spPr>
          <a:xfrm>
            <a:off x="6336792" y="166420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Claude.ai</a:t>
            </a:r>
            <a:endParaRPr lang="en-US" sz="750" dirty="0"/>
          </a:p>
        </p:txBody>
      </p:sp>
      <p:sp>
        <p:nvSpPr>
          <p:cNvPr id="32" name="Shape 30"/>
          <p:cNvSpPr/>
          <p:nvPr/>
        </p:nvSpPr>
        <p:spPr>
          <a:xfrm>
            <a:off x="7498080" y="1700784"/>
            <a:ext cx="3291840" cy="91440"/>
          </a:xfrm>
          <a:prstGeom prst="roundRect">
            <a:avLst>
              <a:gd name="adj" fmla="val 40000"/>
            </a:avLst>
          </a:prstGeom>
          <a:solidFill>
            <a:srgbClr val="E2EAEE"/>
          </a:solidFill>
          <a:ln/>
        </p:spPr>
      </p:sp>
      <p:sp>
        <p:nvSpPr>
          <p:cNvPr id="33" name="Shape 31"/>
          <p:cNvSpPr/>
          <p:nvPr/>
        </p:nvSpPr>
        <p:spPr>
          <a:xfrm>
            <a:off x="7498080" y="1700784"/>
            <a:ext cx="230429" cy="91440"/>
          </a:xfrm>
          <a:prstGeom prst="roundRect">
            <a:avLst>
              <a:gd name="adj" fmla="val 40000"/>
            </a:avLst>
          </a:prstGeom>
          <a:solidFill>
            <a:srgbClr val="2C8394"/>
          </a:solidFill>
          <a:ln/>
        </p:spPr>
      </p:sp>
      <p:sp>
        <p:nvSpPr>
          <p:cNvPr id="34" name="Text 32"/>
          <p:cNvSpPr txBox="1"/>
          <p:nvPr/>
        </p:nvSpPr>
        <p:spPr>
          <a:xfrm>
            <a:off x="10881360" y="166420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7%</a:t>
            </a:r>
            <a:endParaRPr lang="en-US" sz="800" dirty="0"/>
          </a:p>
        </p:txBody>
      </p:sp>
      <p:sp>
        <p:nvSpPr>
          <p:cNvPr id="35" name="Text 33"/>
          <p:cNvSpPr txBox="1"/>
          <p:nvPr/>
        </p:nvSpPr>
        <p:spPr>
          <a:xfrm>
            <a:off x="6336792" y="184708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Office Agents</a:t>
            </a:r>
            <a:endParaRPr lang="en-US" sz="750" dirty="0"/>
          </a:p>
        </p:txBody>
      </p:sp>
      <p:sp>
        <p:nvSpPr>
          <p:cNvPr id="36" name="Shape 34"/>
          <p:cNvSpPr/>
          <p:nvPr/>
        </p:nvSpPr>
        <p:spPr>
          <a:xfrm>
            <a:off x="7498080" y="1883664"/>
            <a:ext cx="3291840" cy="91440"/>
          </a:xfrm>
          <a:prstGeom prst="roundRect">
            <a:avLst>
              <a:gd name="adj" fmla="val 40000"/>
            </a:avLst>
          </a:prstGeom>
          <a:solidFill>
            <a:srgbClr val="E2EAEE"/>
          </a:solidFill>
          <a:ln/>
        </p:spPr>
      </p:sp>
      <p:sp>
        <p:nvSpPr>
          <p:cNvPr id="37" name="Shape 35"/>
          <p:cNvSpPr/>
          <p:nvPr/>
        </p:nvSpPr>
        <p:spPr>
          <a:xfrm>
            <a:off x="7498080" y="1883664"/>
            <a:ext cx="45720" cy="91440"/>
          </a:xfrm>
          <a:prstGeom prst="roundRect">
            <a:avLst>
              <a:gd name="adj" fmla="val 80000"/>
            </a:avLst>
          </a:prstGeom>
          <a:solidFill>
            <a:srgbClr val="2C8394"/>
          </a:solidFill>
          <a:ln/>
        </p:spPr>
      </p:sp>
      <p:sp>
        <p:nvSpPr>
          <p:cNvPr id="38" name="Text 36"/>
          <p:cNvSpPr txBox="1"/>
          <p:nvPr/>
        </p:nvSpPr>
        <p:spPr>
          <a:xfrm>
            <a:off x="10881360" y="184708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a:t>
            </a:r>
            <a:endParaRPr lang="en-US" sz="800" dirty="0"/>
          </a:p>
        </p:txBody>
      </p:sp>
      <p:sp>
        <p:nvSpPr>
          <p:cNvPr id="39" name="Shape 37"/>
          <p:cNvSpPr/>
          <p:nvPr/>
        </p:nvSpPr>
        <p:spPr>
          <a:xfrm>
            <a:off x="411480" y="2212848"/>
            <a:ext cx="7498080"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40" name="Text 38"/>
          <p:cNvSpPr txBox="1"/>
          <p:nvPr/>
        </p:nvSpPr>
        <p:spPr>
          <a:xfrm>
            <a:off x="612648" y="2322576"/>
            <a:ext cx="69494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THE CODE PICTURE — WHO, BY MONTH · AND THE WEEKLY RHYTHM BENEATH IT</a:t>
            </a:r>
            <a:endParaRPr lang="en-US" sz="1200" dirty="0"/>
          </a:p>
        </p:txBody>
      </p:sp>
      <p:sp>
        <p:nvSpPr>
          <p:cNvPr id="41" name="Text 39"/>
          <p:cNvSpPr txBox="1"/>
          <p:nvPr/>
        </p:nvSpPr>
        <p:spPr>
          <a:xfrm>
            <a:off x="2057400"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Jun</a:t>
            </a:r>
            <a:endParaRPr lang="en-US" sz="800" dirty="0"/>
          </a:p>
        </p:txBody>
      </p:sp>
      <p:sp>
        <p:nvSpPr>
          <p:cNvPr id="42" name="Text 40"/>
          <p:cNvSpPr txBox="1"/>
          <p:nvPr/>
        </p:nvSpPr>
        <p:spPr>
          <a:xfrm>
            <a:off x="3136392"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Jul</a:t>
            </a:r>
            <a:endParaRPr lang="en-US" sz="800" dirty="0"/>
          </a:p>
        </p:txBody>
      </p:sp>
      <p:sp>
        <p:nvSpPr>
          <p:cNvPr id="43" name="Text 41"/>
          <p:cNvSpPr txBox="1"/>
          <p:nvPr/>
        </p:nvSpPr>
        <p:spPr>
          <a:xfrm>
            <a:off x="4215384"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Aug</a:t>
            </a:r>
            <a:endParaRPr lang="en-US" sz="800" dirty="0"/>
          </a:p>
        </p:txBody>
      </p:sp>
      <p:sp>
        <p:nvSpPr>
          <p:cNvPr id="44" name="Text 42"/>
          <p:cNvSpPr txBox="1"/>
          <p:nvPr/>
        </p:nvSpPr>
        <p:spPr>
          <a:xfrm>
            <a:off x="5294376"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Sep</a:t>
            </a:r>
            <a:endParaRPr lang="en-US" sz="800" dirty="0"/>
          </a:p>
        </p:txBody>
      </p:sp>
      <p:sp>
        <p:nvSpPr>
          <p:cNvPr id="45" name="Text 43"/>
          <p:cNvSpPr txBox="1"/>
          <p:nvPr/>
        </p:nvSpPr>
        <p:spPr>
          <a:xfrm>
            <a:off x="6400800" y="2596896"/>
            <a:ext cx="1280160" cy="182880"/>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46" name="Text 44"/>
          <p:cNvSpPr txBox="1"/>
          <p:nvPr/>
        </p:nvSpPr>
        <p:spPr>
          <a:xfrm>
            <a:off x="594360" y="2816352"/>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Brad Smith</a:t>
            </a:r>
            <a:endParaRPr lang="en-US" sz="720" dirty="0"/>
          </a:p>
        </p:txBody>
      </p:sp>
      <p:sp>
        <p:nvSpPr>
          <p:cNvPr id="47" name="Shape 45"/>
          <p:cNvSpPr/>
          <p:nvPr/>
        </p:nvSpPr>
        <p:spPr>
          <a:xfrm>
            <a:off x="2084832" y="2823667"/>
            <a:ext cx="996696" cy="150876"/>
          </a:xfrm>
          <a:prstGeom prst="rect">
            <a:avLst/>
          </a:prstGeom>
          <a:solidFill>
            <a:srgbClr val="EDF5F7"/>
          </a:solidFill>
          <a:ln/>
        </p:spPr>
      </p:sp>
      <p:sp>
        <p:nvSpPr>
          <p:cNvPr id="48" name="Text 46"/>
          <p:cNvSpPr txBox="1"/>
          <p:nvPr/>
        </p:nvSpPr>
        <p:spPr>
          <a:xfrm>
            <a:off x="2057400"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10,351</a:t>
            </a:r>
            <a:endParaRPr lang="en-US" sz="680" dirty="0"/>
          </a:p>
        </p:txBody>
      </p:sp>
      <p:sp>
        <p:nvSpPr>
          <p:cNvPr id="49" name="Shape 47"/>
          <p:cNvSpPr/>
          <p:nvPr/>
        </p:nvSpPr>
        <p:spPr>
          <a:xfrm>
            <a:off x="3163824" y="2823667"/>
            <a:ext cx="996696" cy="150876"/>
          </a:xfrm>
          <a:prstGeom prst="rect">
            <a:avLst/>
          </a:prstGeom>
          <a:solidFill>
            <a:srgbClr val="D4E9ED"/>
          </a:solidFill>
          <a:ln/>
        </p:spPr>
      </p:sp>
      <p:sp>
        <p:nvSpPr>
          <p:cNvPr id="50" name="Text 48"/>
          <p:cNvSpPr txBox="1"/>
          <p:nvPr/>
        </p:nvSpPr>
        <p:spPr>
          <a:xfrm>
            <a:off x="3136392"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39,579</a:t>
            </a:r>
            <a:endParaRPr lang="en-US" sz="680" dirty="0"/>
          </a:p>
        </p:txBody>
      </p:sp>
      <p:sp>
        <p:nvSpPr>
          <p:cNvPr id="51" name="Shape 49"/>
          <p:cNvSpPr/>
          <p:nvPr/>
        </p:nvSpPr>
        <p:spPr>
          <a:xfrm>
            <a:off x="4242816" y="2823667"/>
            <a:ext cx="996696" cy="150876"/>
          </a:xfrm>
          <a:prstGeom prst="rect">
            <a:avLst/>
          </a:prstGeom>
          <a:solidFill>
            <a:srgbClr val="D4E9ED"/>
          </a:solidFill>
          <a:ln/>
        </p:spPr>
      </p:sp>
      <p:sp>
        <p:nvSpPr>
          <p:cNvPr id="52" name="Text 50"/>
          <p:cNvSpPr txBox="1"/>
          <p:nvPr/>
        </p:nvSpPr>
        <p:spPr>
          <a:xfrm>
            <a:off x="4215384"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41,244</a:t>
            </a:r>
            <a:endParaRPr lang="en-US" sz="680" dirty="0"/>
          </a:p>
        </p:txBody>
      </p:sp>
      <p:sp>
        <p:nvSpPr>
          <p:cNvPr id="53" name="Shape 51"/>
          <p:cNvSpPr/>
          <p:nvPr/>
        </p:nvSpPr>
        <p:spPr>
          <a:xfrm>
            <a:off x="5321808" y="2823667"/>
            <a:ext cx="996696" cy="150876"/>
          </a:xfrm>
          <a:prstGeom prst="rect">
            <a:avLst/>
          </a:prstGeom>
          <a:solidFill>
            <a:srgbClr val="EDF5F7"/>
          </a:solidFill>
          <a:ln/>
        </p:spPr>
      </p:sp>
      <p:sp>
        <p:nvSpPr>
          <p:cNvPr id="54" name="Text 52"/>
          <p:cNvSpPr txBox="1"/>
          <p:nvPr/>
        </p:nvSpPr>
        <p:spPr>
          <a:xfrm>
            <a:off x="5294376"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15,821</a:t>
            </a:r>
            <a:endParaRPr lang="en-US" sz="680" dirty="0"/>
          </a:p>
        </p:txBody>
      </p:sp>
      <p:sp>
        <p:nvSpPr>
          <p:cNvPr id="55" name="Text 53"/>
          <p:cNvSpPr txBox="1"/>
          <p:nvPr/>
        </p:nvSpPr>
        <p:spPr>
          <a:xfrm>
            <a:off x="6400800" y="2816352"/>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106,995</a:t>
            </a:r>
            <a:endParaRPr lang="en-US" sz="700" dirty="0"/>
          </a:p>
        </p:txBody>
      </p:sp>
      <p:sp>
        <p:nvSpPr>
          <p:cNvPr id="56" name="Text 54"/>
          <p:cNvSpPr txBox="1"/>
          <p:nvPr/>
        </p:nvSpPr>
        <p:spPr>
          <a:xfrm>
            <a:off x="594360" y="2990088"/>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Nicolas Ibrahim</a:t>
            </a:r>
            <a:endParaRPr lang="en-US" sz="720" dirty="0"/>
          </a:p>
        </p:txBody>
      </p:sp>
      <p:sp>
        <p:nvSpPr>
          <p:cNvPr id="57" name="Shape 55"/>
          <p:cNvSpPr/>
          <p:nvPr/>
        </p:nvSpPr>
        <p:spPr>
          <a:xfrm>
            <a:off x="2084832" y="2997403"/>
            <a:ext cx="996696" cy="150876"/>
          </a:xfrm>
          <a:prstGeom prst="rect">
            <a:avLst/>
          </a:prstGeom>
          <a:solidFill>
            <a:srgbClr val="EDF5F7"/>
          </a:solidFill>
          <a:ln/>
        </p:spPr>
      </p:sp>
      <p:sp>
        <p:nvSpPr>
          <p:cNvPr id="58" name="Text 56"/>
          <p:cNvSpPr txBox="1"/>
          <p:nvPr/>
        </p:nvSpPr>
        <p:spPr>
          <a:xfrm>
            <a:off x="2057400"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18,954</a:t>
            </a:r>
            <a:endParaRPr lang="en-US" sz="680" dirty="0"/>
          </a:p>
        </p:txBody>
      </p:sp>
      <p:sp>
        <p:nvSpPr>
          <p:cNvPr id="59" name="Shape 57"/>
          <p:cNvSpPr/>
          <p:nvPr/>
        </p:nvSpPr>
        <p:spPr>
          <a:xfrm>
            <a:off x="3163824" y="2997403"/>
            <a:ext cx="996696" cy="150876"/>
          </a:xfrm>
          <a:prstGeom prst="rect">
            <a:avLst/>
          </a:prstGeom>
          <a:solidFill>
            <a:srgbClr val="EDF5F7"/>
          </a:solidFill>
          <a:ln/>
        </p:spPr>
      </p:sp>
      <p:sp>
        <p:nvSpPr>
          <p:cNvPr id="60" name="Text 58"/>
          <p:cNvSpPr txBox="1"/>
          <p:nvPr/>
        </p:nvSpPr>
        <p:spPr>
          <a:xfrm>
            <a:off x="3136392"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15,834</a:t>
            </a:r>
            <a:endParaRPr lang="en-US" sz="680" dirty="0"/>
          </a:p>
        </p:txBody>
      </p:sp>
      <p:sp>
        <p:nvSpPr>
          <p:cNvPr id="61" name="Shape 59"/>
          <p:cNvSpPr/>
          <p:nvPr/>
        </p:nvSpPr>
        <p:spPr>
          <a:xfrm>
            <a:off x="4242816" y="2997403"/>
            <a:ext cx="996696" cy="150876"/>
          </a:xfrm>
          <a:prstGeom prst="rect">
            <a:avLst/>
          </a:prstGeom>
          <a:solidFill>
            <a:srgbClr val="D4E9ED"/>
          </a:solidFill>
          <a:ln/>
        </p:spPr>
      </p:sp>
      <p:sp>
        <p:nvSpPr>
          <p:cNvPr id="62" name="Text 60"/>
          <p:cNvSpPr txBox="1"/>
          <p:nvPr/>
        </p:nvSpPr>
        <p:spPr>
          <a:xfrm>
            <a:off x="4215384"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38,142</a:t>
            </a:r>
            <a:endParaRPr lang="en-US" sz="680" dirty="0"/>
          </a:p>
        </p:txBody>
      </p:sp>
      <p:sp>
        <p:nvSpPr>
          <p:cNvPr id="63" name="Shape 61"/>
          <p:cNvSpPr/>
          <p:nvPr/>
        </p:nvSpPr>
        <p:spPr>
          <a:xfrm>
            <a:off x="5321808" y="2997403"/>
            <a:ext cx="996696" cy="150876"/>
          </a:xfrm>
          <a:prstGeom prst="rect">
            <a:avLst/>
          </a:prstGeom>
          <a:solidFill>
            <a:srgbClr val="8FC3CC"/>
          </a:solidFill>
          <a:ln/>
        </p:spPr>
      </p:sp>
      <p:sp>
        <p:nvSpPr>
          <p:cNvPr id="64" name="Text 62"/>
          <p:cNvSpPr txBox="1"/>
          <p:nvPr/>
        </p:nvSpPr>
        <p:spPr>
          <a:xfrm>
            <a:off x="5294376"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99,693</a:t>
            </a:r>
            <a:endParaRPr lang="en-US" sz="680" dirty="0"/>
          </a:p>
        </p:txBody>
      </p:sp>
      <p:sp>
        <p:nvSpPr>
          <p:cNvPr id="65" name="Text 63"/>
          <p:cNvSpPr txBox="1"/>
          <p:nvPr/>
        </p:nvSpPr>
        <p:spPr>
          <a:xfrm>
            <a:off x="6400800" y="2990088"/>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172,623</a:t>
            </a:r>
            <a:endParaRPr lang="en-US" sz="700" dirty="0"/>
          </a:p>
        </p:txBody>
      </p:sp>
      <p:sp>
        <p:nvSpPr>
          <p:cNvPr id="66" name="Text 64"/>
          <p:cNvSpPr txBox="1"/>
          <p:nvPr/>
        </p:nvSpPr>
        <p:spPr>
          <a:xfrm>
            <a:off x="594360" y="3163824"/>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Hawraa Khalil</a:t>
            </a:r>
            <a:endParaRPr lang="en-US" sz="720" dirty="0"/>
          </a:p>
        </p:txBody>
      </p:sp>
      <p:sp>
        <p:nvSpPr>
          <p:cNvPr id="67" name="Shape 65"/>
          <p:cNvSpPr/>
          <p:nvPr/>
        </p:nvSpPr>
        <p:spPr>
          <a:xfrm>
            <a:off x="2084832" y="3171139"/>
            <a:ext cx="996696" cy="150876"/>
          </a:xfrm>
          <a:prstGeom prst="rect">
            <a:avLst/>
          </a:prstGeom>
          <a:solidFill>
            <a:srgbClr val="D4E9ED"/>
          </a:solidFill>
          <a:ln/>
        </p:spPr>
      </p:sp>
      <p:sp>
        <p:nvSpPr>
          <p:cNvPr id="68" name="Text 66"/>
          <p:cNvSpPr txBox="1"/>
          <p:nvPr/>
        </p:nvSpPr>
        <p:spPr>
          <a:xfrm>
            <a:off x="2057400"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22,385</a:t>
            </a:r>
            <a:endParaRPr lang="en-US" sz="680" dirty="0"/>
          </a:p>
        </p:txBody>
      </p:sp>
      <p:sp>
        <p:nvSpPr>
          <p:cNvPr id="69" name="Shape 67"/>
          <p:cNvSpPr/>
          <p:nvPr/>
        </p:nvSpPr>
        <p:spPr>
          <a:xfrm>
            <a:off x="3163824" y="3171139"/>
            <a:ext cx="996696" cy="150876"/>
          </a:xfrm>
          <a:prstGeom prst="rect">
            <a:avLst/>
          </a:prstGeom>
          <a:solidFill>
            <a:srgbClr val="D4E9ED"/>
          </a:solidFill>
          <a:ln/>
        </p:spPr>
      </p:sp>
      <p:sp>
        <p:nvSpPr>
          <p:cNvPr id="70" name="Text 68"/>
          <p:cNvSpPr txBox="1"/>
          <p:nvPr/>
        </p:nvSpPr>
        <p:spPr>
          <a:xfrm>
            <a:off x="3136392"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28,536</a:t>
            </a:r>
            <a:endParaRPr lang="en-US" sz="680" dirty="0"/>
          </a:p>
        </p:txBody>
      </p:sp>
      <p:sp>
        <p:nvSpPr>
          <p:cNvPr id="71" name="Shape 69"/>
          <p:cNvSpPr/>
          <p:nvPr/>
        </p:nvSpPr>
        <p:spPr>
          <a:xfrm>
            <a:off x="4242816" y="3171139"/>
            <a:ext cx="996696" cy="150876"/>
          </a:xfrm>
          <a:prstGeom prst="rect">
            <a:avLst/>
          </a:prstGeom>
          <a:solidFill>
            <a:srgbClr val="D4E9ED"/>
          </a:solidFill>
          <a:ln/>
        </p:spPr>
      </p:sp>
      <p:sp>
        <p:nvSpPr>
          <p:cNvPr id="72" name="Text 70"/>
          <p:cNvSpPr txBox="1"/>
          <p:nvPr/>
        </p:nvSpPr>
        <p:spPr>
          <a:xfrm>
            <a:off x="4215384"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23,285</a:t>
            </a:r>
            <a:endParaRPr lang="en-US" sz="680" dirty="0"/>
          </a:p>
        </p:txBody>
      </p:sp>
      <p:sp>
        <p:nvSpPr>
          <p:cNvPr id="73" name="Shape 71"/>
          <p:cNvSpPr/>
          <p:nvPr/>
        </p:nvSpPr>
        <p:spPr>
          <a:xfrm>
            <a:off x="5321808" y="3171139"/>
            <a:ext cx="996696" cy="150876"/>
          </a:xfrm>
          <a:prstGeom prst="rect">
            <a:avLst/>
          </a:prstGeom>
          <a:solidFill>
            <a:srgbClr val="EDF5F7"/>
          </a:solidFill>
          <a:ln/>
        </p:spPr>
      </p:sp>
      <p:sp>
        <p:nvSpPr>
          <p:cNvPr id="74" name="Text 72"/>
          <p:cNvSpPr txBox="1"/>
          <p:nvPr/>
        </p:nvSpPr>
        <p:spPr>
          <a:xfrm>
            <a:off x="5294376"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19,047</a:t>
            </a:r>
            <a:endParaRPr lang="en-US" sz="680" dirty="0"/>
          </a:p>
        </p:txBody>
      </p:sp>
      <p:sp>
        <p:nvSpPr>
          <p:cNvPr id="75" name="Text 73"/>
          <p:cNvSpPr txBox="1"/>
          <p:nvPr/>
        </p:nvSpPr>
        <p:spPr>
          <a:xfrm>
            <a:off x="6400800" y="3163824"/>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93,253</a:t>
            </a:r>
            <a:endParaRPr lang="en-US" sz="700" dirty="0"/>
          </a:p>
        </p:txBody>
      </p:sp>
      <p:sp>
        <p:nvSpPr>
          <p:cNvPr id="76" name="Text 74"/>
          <p:cNvSpPr txBox="1"/>
          <p:nvPr/>
        </p:nvSpPr>
        <p:spPr>
          <a:xfrm>
            <a:off x="594360" y="3337560"/>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Ciaran Dempsey</a:t>
            </a:r>
            <a:endParaRPr lang="en-US" sz="720" dirty="0"/>
          </a:p>
        </p:txBody>
      </p:sp>
      <p:sp>
        <p:nvSpPr>
          <p:cNvPr id="77" name="Shape 75"/>
          <p:cNvSpPr/>
          <p:nvPr/>
        </p:nvSpPr>
        <p:spPr>
          <a:xfrm>
            <a:off x="2084832" y="3344875"/>
            <a:ext cx="996696" cy="150876"/>
          </a:xfrm>
          <a:prstGeom prst="rect">
            <a:avLst/>
          </a:prstGeom>
          <a:solidFill>
            <a:srgbClr val="EDF5F7"/>
          </a:solidFill>
          <a:ln/>
        </p:spPr>
      </p:sp>
      <p:sp>
        <p:nvSpPr>
          <p:cNvPr id="78" name="Text 76"/>
          <p:cNvSpPr txBox="1"/>
          <p:nvPr/>
        </p:nvSpPr>
        <p:spPr>
          <a:xfrm>
            <a:off x="2057400"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6,280</a:t>
            </a:r>
            <a:endParaRPr lang="en-US" sz="680" dirty="0"/>
          </a:p>
        </p:txBody>
      </p:sp>
      <p:sp>
        <p:nvSpPr>
          <p:cNvPr id="79" name="Shape 77"/>
          <p:cNvSpPr/>
          <p:nvPr/>
        </p:nvSpPr>
        <p:spPr>
          <a:xfrm>
            <a:off x="3163824" y="3344875"/>
            <a:ext cx="996696" cy="150876"/>
          </a:xfrm>
          <a:prstGeom prst="rect">
            <a:avLst/>
          </a:prstGeom>
          <a:solidFill>
            <a:srgbClr val="EDF5F7"/>
          </a:solidFill>
          <a:ln/>
        </p:spPr>
      </p:sp>
      <p:sp>
        <p:nvSpPr>
          <p:cNvPr id="80" name="Text 78"/>
          <p:cNvSpPr txBox="1"/>
          <p:nvPr/>
        </p:nvSpPr>
        <p:spPr>
          <a:xfrm>
            <a:off x="3136392"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18,918</a:t>
            </a:r>
            <a:endParaRPr lang="en-US" sz="680" dirty="0"/>
          </a:p>
        </p:txBody>
      </p:sp>
      <p:sp>
        <p:nvSpPr>
          <p:cNvPr id="81" name="Shape 79"/>
          <p:cNvSpPr/>
          <p:nvPr/>
        </p:nvSpPr>
        <p:spPr>
          <a:xfrm>
            <a:off x="4242816" y="3344875"/>
            <a:ext cx="996696" cy="150876"/>
          </a:xfrm>
          <a:prstGeom prst="rect">
            <a:avLst/>
          </a:prstGeom>
          <a:solidFill>
            <a:srgbClr val="D4E9ED"/>
          </a:solidFill>
          <a:ln/>
        </p:spPr>
      </p:sp>
      <p:sp>
        <p:nvSpPr>
          <p:cNvPr id="82" name="Text 80"/>
          <p:cNvSpPr txBox="1"/>
          <p:nvPr/>
        </p:nvSpPr>
        <p:spPr>
          <a:xfrm>
            <a:off x="4215384"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23,650</a:t>
            </a:r>
            <a:endParaRPr lang="en-US" sz="680" dirty="0"/>
          </a:p>
        </p:txBody>
      </p:sp>
      <p:sp>
        <p:nvSpPr>
          <p:cNvPr id="83" name="Shape 81"/>
          <p:cNvSpPr/>
          <p:nvPr/>
        </p:nvSpPr>
        <p:spPr>
          <a:xfrm>
            <a:off x="5321808" y="3344875"/>
            <a:ext cx="996696" cy="150876"/>
          </a:xfrm>
          <a:prstGeom prst="rect">
            <a:avLst/>
          </a:prstGeom>
          <a:solidFill>
            <a:srgbClr val="D4E9ED"/>
          </a:solidFill>
          <a:ln/>
        </p:spPr>
      </p:sp>
      <p:sp>
        <p:nvSpPr>
          <p:cNvPr id="84" name="Text 82"/>
          <p:cNvSpPr txBox="1"/>
          <p:nvPr/>
        </p:nvSpPr>
        <p:spPr>
          <a:xfrm>
            <a:off x="5294376"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24,443</a:t>
            </a:r>
            <a:endParaRPr lang="en-US" sz="680" dirty="0"/>
          </a:p>
        </p:txBody>
      </p:sp>
      <p:sp>
        <p:nvSpPr>
          <p:cNvPr id="85" name="Text 83"/>
          <p:cNvSpPr txBox="1"/>
          <p:nvPr/>
        </p:nvSpPr>
        <p:spPr>
          <a:xfrm>
            <a:off x="6400800" y="3337560"/>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73,291</a:t>
            </a:r>
            <a:endParaRPr lang="en-US" sz="700" dirty="0"/>
          </a:p>
        </p:txBody>
      </p:sp>
      <p:sp>
        <p:nvSpPr>
          <p:cNvPr id="86" name="Text 84"/>
          <p:cNvSpPr txBox="1"/>
          <p:nvPr/>
        </p:nvSpPr>
        <p:spPr>
          <a:xfrm>
            <a:off x="594360" y="3511296"/>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David Corbett</a:t>
            </a:r>
            <a:endParaRPr lang="en-US" sz="720" dirty="0"/>
          </a:p>
        </p:txBody>
      </p:sp>
      <p:sp>
        <p:nvSpPr>
          <p:cNvPr id="87" name="Shape 85"/>
          <p:cNvSpPr/>
          <p:nvPr/>
        </p:nvSpPr>
        <p:spPr>
          <a:xfrm>
            <a:off x="2084832" y="3518611"/>
            <a:ext cx="996696" cy="150876"/>
          </a:xfrm>
          <a:prstGeom prst="rect">
            <a:avLst/>
          </a:prstGeom>
          <a:solidFill>
            <a:srgbClr val="EDF5F7"/>
          </a:solidFill>
          <a:ln/>
        </p:spPr>
      </p:sp>
      <p:sp>
        <p:nvSpPr>
          <p:cNvPr id="88" name="Text 86"/>
          <p:cNvSpPr txBox="1"/>
          <p:nvPr/>
        </p:nvSpPr>
        <p:spPr>
          <a:xfrm>
            <a:off x="2057400"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10,549</a:t>
            </a:r>
            <a:endParaRPr lang="en-US" sz="680" dirty="0"/>
          </a:p>
        </p:txBody>
      </p:sp>
      <p:sp>
        <p:nvSpPr>
          <p:cNvPr id="89" name="Shape 87"/>
          <p:cNvSpPr/>
          <p:nvPr/>
        </p:nvSpPr>
        <p:spPr>
          <a:xfrm>
            <a:off x="3163824" y="3518611"/>
            <a:ext cx="996696" cy="150876"/>
          </a:xfrm>
          <a:prstGeom prst="rect">
            <a:avLst/>
          </a:prstGeom>
          <a:solidFill>
            <a:srgbClr val="D4E9ED"/>
          </a:solidFill>
          <a:ln/>
        </p:spPr>
      </p:sp>
      <p:sp>
        <p:nvSpPr>
          <p:cNvPr id="90" name="Text 88"/>
          <p:cNvSpPr txBox="1"/>
          <p:nvPr/>
        </p:nvSpPr>
        <p:spPr>
          <a:xfrm>
            <a:off x="3136392"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27,031</a:t>
            </a:r>
            <a:endParaRPr lang="en-US" sz="680" dirty="0"/>
          </a:p>
        </p:txBody>
      </p:sp>
      <p:sp>
        <p:nvSpPr>
          <p:cNvPr id="91" name="Shape 89"/>
          <p:cNvSpPr/>
          <p:nvPr/>
        </p:nvSpPr>
        <p:spPr>
          <a:xfrm>
            <a:off x="4242816" y="3518611"/>
            <a:ext cx="996696" cy="150876"/>
          </a:xfrm>
          <a:prstGeom prst="rect">
            <a:avLst/>
          </a:prstGeom>
          <a:solidFill>
            <a:srgbClr val="EDF5F7"/>
          </a:solidFill>
          <a:ln/>
        </p:spPr>
      </p:sp>
      <p:sp>
        <p:nvSpPr>
          <p:cNvPr id="92" name="Text 90"/>
          <p:cNvSpPr txBox="1"/>
          <p:nvPr/>
        </p:nvSpPr>
        <p:spPr>
          <a:xfrm>
            <a:off x="4215384"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10,145</a:t>
            </a:r>
            <a:endParaRPr lang="en-US" sz="680" dirty="0"/>
          </a:p>
        </p:txBody>
      </p:sp>
      <p:sp>
        <p:nvSpPr>
          <p:cNvPr id="93" name="Shape 91"/>
          <p:cNvSpPr/>
          <p:nvPr/>
        </p:nvSpPr>
        <p:spPr>
          <a:xfrm>
            <a:off x="5321808" y="3518611"/>
            <a:ext cx="996696" cy="150876"/>
          </a:xfrm>
          <a:prstGeom prst="rect">
            <a:avLst/>
          </a:prstGeom>
          <a:solidFill>
            <a:srgbClr val="D4E9ED"/>
          </a:solidFill>
          <a:ln/>
        </p:spPr>
      </p:sp>
      <p:sp>
        <p:nvSpPr>
          <p:cNvPr id="94" name="Text 92"/>
          <p:cNvSpPr txBox="1"/>
          <p:nvPr/>
        </p:nvSpPr>
        <p:spPr>
          <a:xfrm>
            <a:off x="5294376"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30,828</a:t>
            </a:r>
            <a:endParaRPr lang="en-US" sz="680" dirty="0"/>
          </a:p>
        </p:txBody>
      </p:sp>
      <p:sp>
        <p:nvSpPr>
          <p:cNvPr id="95" name="Text 93"/>
          <p:cNvSpPr txBox="1"/>
          <p:nvPr/>
        </p:nvSpPr>
        <p:spPr>
          <a:xfrm>
            <a:off x="6400800" y="3511296"/>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78,553</a:t>
            </a:r>
            <a:endParaRPr lang="en-US" sz="700" dirty="0"/>
          </a:p>
        </p:txBody>
      </p:sp>
      <p:sp>
        <p:nvSpPr>
          <p:cNvPr id="96" name="Text 94"/>
          <p:cNvSpPr txBox="1"/>
          <p:nvPr/>
        </p:nvSpPr>
        <p:spPr>
          <a:xfrm>
            <a:off x="594360" y="3685032"/>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Chris Huang</a:t>
            </a:r>
            <a:endParaRPr lang="en-US" sz="720" dirty="0"/>
          </a:p>
        </p:txBody>
      </p:sp>
      <p:sp>
        <p:nvSpPr>
          <p:cNvPr id="97" name="Shape 95"/>
          <p:cNvSpPr/>
          <p:nvPr/>
        </p:nvSpPr>
        <p:spPr>
          <a:xfrm>
            <a:off x="2084832" y="3692347"/>
            <a:ext cx="996696" cy="150876"/>
          </a:xfrm>
          <a:prstGeom prst="rect">
            <a:avLst/>
          </a:prstGeom>
          <a:solidFill>
            <a:srgbClr val="EDF5F7"/>
          </a:solidFill>
          <a:ln/>
        </p:spPr>
      </p:sp>
      <p:sp>
        <p:nvSpPr>
          <p:cNvPr id="98" name="Text 96"/>
          <p:cNvSpPr txBox="1"/>
          <p:nvPr/>
        </p:nvSpPr>
        <p:spPr>
          <a:xfrm>
            <a:off x="2057400"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12,955</a:t>
            </a:r>
            <a:endParaRPr lang="en-US" sz="680" dirty="0"/>
          </a:p>
        </p:txBody>
      </p:sp>
      <p:sp>
        <p:nvSpPr>
          <p:cNvPr id="99" name="Shape 97"/>
          <p:cNvSpPr/>
          <p:nvPr/>
        </p:nvSpPr>
        <p:spPr>
          <a:xfrm>
            <a:off x="3163824" y="3692347"/>
            <a:ext cx="996696" cy="150876"/>
          </a:xfrm>
          <a:prstGeom prst="rect">
            <a:avLst/>
          </a:prstGeom>
          <a:solidFill>
            <a:srgbClr val="EDF5F7"/>
          </a:solidFill>
          <a:ln/>
        </p:spPr>
      </p:sp>
      <p:sp>
        <p:nvSpPr>
          <p:cNvPr id="100" name="Text 98"/>
          <p:cNvSpPr txBox="1"/>
          <p:nvPr/>
        </p:nvSpPr>
        <p:spPr>
          <a:xfrm>
            <a:off x="3136392"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19,535</a:t>
            </a:r>
            <a:endParaRPr lang="en-US" sz="680" dirty="0"/>
          </a:p>
        </p:txBody>
      </p:sp>
      <p:sp>
        <p:nvSpPr>
          <p:cNvPr id="101" name="Shape 99"/>
          <p:cNvSpPr/>
          <p:nvPr/>
        </p:nvSpPr>
        <p:spPr>
          <a:xfrm>
            <a:off x="4242816" y="3692347"/>
            <a:ext cx="996696" cy="150876"/>
          </a:xfrm>
          <a:prstGeom prst="rect">
            <a:avLst/>
          </a:prstGeom>
          <a:solidFill>
            <a:srgbClr val="EDF5F7"/>
          </a:solidFill>
          <a:ln/>
        </p:spPr>
      </p:sp>
      <p:sp>
        <p:nvSpPr>
          <p:cNvPr id="102" name="Text 100"/>
          <p:cNvSpPr txBox="1"/>
          <p:nvPr/>
        </p:nvSpPr>
        <p:spPr>
          <a:xfrm>
            <a:off x="4215384"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12,856</a:t>
            </a:r>
            <a:endParaRPr lang="en-US" sz="680" dirty="0"/>
          </a:p>
        </p:txBody>
      </p:sp>
      <p:sp>
        <p:nvSpPr>
          <p:cNvPr id="103" name="Shape 101"/>
          <p:cNvSpPr/>
          <p:nvPr/>
        </p:nvSpPr>
        <p:spPr>
          <a:xfrm>
            <a:off x="5321808" y="3692347"/>
            <a:ext cx="996696" cy="150876"/>
          </a:xfrm>
          <a:prstGeom prst="rect">
            <a:avLst/>
          </a:prstGeom>
          <a:solidFill>
            <a:srgbClr val="EDF5F7"/>
          </a:solidFill>
          <a:ln/>
        </p:spPr>
      </p:sp>
      <p:sp>
        <p:nvSpPr>
          <p:cNvPr id="104" name="Text 102"/>
          <p:cNvSpPr txBox="1"/>
          <p:nvPr/>
        </p:nvSpPr>
        <p:spPr>
          <a:xfrm>
            <a:off x="5294376"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17,516</a:t>
            </a:r>
            <a:endParaRPr lang="en-US" sz="680" dirty="0"/>
          </a:p>
        </p:txBody>
      </p:sp>
      <p:sp>
        <p:nvSpPr>
          <p:cNvPr id="105" name="Text 103"/>
          <p:cNvSpPr txBox="1"/>
          <p:nvPr/>
        </p:nvSpPr>
        <p:spPr>
          <a:xfrm>
            <a:off x="6400800" y="3685032"/>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62,862</a:t>
            </a:r>
            <a:endParaRPr lang="en-US" sz="700" dirty="0"/>
          </a:p>
        </p:txBody>
      </p:sp>
      <p:sp>
        <p:nvSpPr>
          <p:cNvPr id="106" name="Text 104"/>
          <p:cNvSpPr txBox="1"/>
          <p:nvPr/>
        </p:nvSpPr>
        <p:spPr>
          <a:xfrm>
            <a:off x="594360" y="3858768"/>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Rahul Kumar</a:t>
            </a:r>
            <a:endParaRPr lang="en-US" sz="720" dirty="0"/>
          </a:p>
        </p:txBody>
      </p:sp>
      <p:sp>
        <p:nvSpPr>
          <p:cNvPr id="107" name="Text 105"/>
          <p:cNvSpPr txBox="1"/>
          <p:nvPr/>
        </p:nvSpPr>
        <p:spPr>
          <a:xfrm>
            <a:off x="2057400" y="3858768"/>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108" name="Text 106"/>
          <p:cNvSpPr txBox="1"/>
          <p:nvPr/>
        </p:nvSpPr>
        <p:spPr>
          <a:xfrm>
            <a:off x="3136392" y="3858768"/>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109" name="Shape 107"/>
          <p:cNvSpPr/>
          <p:nvPr/>
        </p:nvSpPr>
        <p:spPr>
          <a:xfrm>
            <a:off x="4242816" y="3866083"/>
            <a:ext cx="996696" cy="150876"/>
          </a:xfrm>
          <a:prstGeom prst="rect">
            <a:avLst/>
          </a:prstGeom>
          <a:solidFill>
            <a:srgbClr val="D4E9ED"/>
          </a:solidFill>
          <a:ln/>
        </p:spPr>
      </p:sp>
      <p:sp>
        <p:nvSpPr>
          <p:cNvPr id="110" name="Text 108"/>
          <p:cNvSpPr txBox="1"/>
          <p:nvPr/>
        </p:nvSpPr>
        <p:spPr>
          <a:xfrm>
            <a:off x="4215384"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42,859</a:t>
            </a:r>
            <a:endParaRPr lang="en-US" sz="680" dirty="0"/>
          </a:p>
        </p:txBody>
      </p:sp>
      <p:sp>
        <p:nvSpPr>
          <p:cNvPr id="111" name="Shape 109"/>
          <p:cNvSpPr/>
          <p:nvPr/>
        </p:nvSpPr>
        <p:spPr>
          <a:xfrm>
            <a:off x="5321808" y="3866083"/>
            <a:ext cx="996696" cy="150876"/>
          </a:xfrm>
          <a:prstGeom prst="rect">
            <a:avLst/>
          </a:prstGeom>
          <a:solidFill>
            <a:srgbClr val="D4E9ED"/>
          </a:solidFill>
          <a:ln/>
        </p:spPr>
      </p:sp>
      <p:sp>
        <p:nvSpPr>
          <p:cNvPr id="112" name="Text 110"/>
          <p:cNvSpPr txBox="1"/>
          <p:nvPr/>
        </p:nvSpPr>
        <p:spPr>
          <a:xfrm>
            <a:off x="5294376"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23,286</a:t>
            </a:r>
            <a:endParaRPr lang="en-US" sz="680" dirty="0"/>
          </a:p>
        </p:txBody>
      </p:sp>
      <p:sp>
        <p:nvSpPr>
          <p:cNvPr id="113" name="Text 111"/>
          <p:cNvSpPr txBox="1"/>
          <p:nvPr/>
        </p:nvSpPr>
        <p:spPr>
          <a:xfrm>
            <a:off x="6400800" y="3858768"/>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66,145</a:t>
            </a:r>
            <a:endParaRPr lang="en-US" sz="700" dirty="0"/>
          </a:p>
        </p:txBody>
      </p:sp>
      <p:sp>
        <p:nvSpPr>
          <p:cNvPr id="114" name="Text 112"/>
          <p:cNvSpPr txBox="1"/>
          <p:nvPr/>
        </p:nvSpPr>
        <p:spPr>
          <a:xfrm>
            <a:off x="594360" y="4032504"/>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Mohamed Ammar</a:t>
            </a:r>
            <a:endParaRPr lang="en-US" sz="720" dirty="0"/>
          </a:p>
        </p:txBody>
      </p:sp>
      <p:sp>
        <p:nvSpPr>
          <p:cNvPr id="115" name="Shape 113"/>
          <p:cNvSpPr/>
          <p:nvPr/>
        </p:nvSpPr>
        <p:spPr>
          <a:xfrm>
            <a:off x="2084832" y="4039819"/>
            <a:ext cx="996696" cy="150876"/>
          </a:xfrm>
          <a:prstGeom prst="rect">
            <a:avLst/>
          </a:prstGeom>
          <a:solidFill>
            <a:srgbClr val="EDF5F7"/>
          </a:solidFill>
          <a:ln/>
        </p:spPr>
      </p:sp>
      <p:sp>
        <p:nvSpPr>
          <p:cNvPr id="116" name="Text 114"/>
          <p:cNvSpPr txBox="1"/>
          <p:nvPr/>
        </p:nvSpPr>
        <p:spPr>
          <a:xfrm>
            <a:off x="2057400"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7,046</a:t>
            </a:r>
            <a:endParaRPr lang="en-US" sz="680" dirty="0"/>
          </a:p>
        </p:txBody>
      </p:sp>
      <p:sp>
        <p:nvSpPr>
          <p:cNvPr id="117" name="Shape 115"/>
          <p:cNvSpPr/>
          <p:nvPr/>
        </p:nvSpPr>
        <p:spPr>
          <a:xfrm>
            <a:off x="3163824" y="4039819"/>
            <a:ext cx="996696" cy="150876"/>
          </a:xfrm>
          <a:prstGeom prst="rect">
            <a:avLst/>
          </a:prstGeom>
          <a:solidFill>
            <a:srgbClr val="EDF5F7"/>
          </a:solidFill>
          <a:ln/>
        </p:spPr>
      </p:sp>
      <p:sp>
        <p:nvSpPr>
          <p:cNvPr id="118" name="Text 116"/>
          <p:cNvSpPr txBox="1"/>
          <p:nvPr/>
        </p:nvSpPr>
        <p:spPr>
          <a:xfrm>
            <a:off x="3136392"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6,582</a:t>
            </a:r>
            <a:endParaRPr lang="en-US" sz="680" dirty="0"/>
          </a:p>
        </p:txBody>
      </p:sp>
      <p:sp>
        <p:nvSpPr>
          <p:cNvPr id="119" name="Shape 117"/>
          <p:cNvSpPr/>
          <p:nvPr/>
        </p:nvSpPr>
        <p:spPr>
          <a:xfrm>
            <a:off x="4242816" y="4039819"/>
            <a:ext cx="996696" cy="150876"/>
          </a:xfrm>
          <a:prstGeom prst="rect">
            <a:avLst/>
          </a:prstGeom>
          <a:solidFill>
            <a:srgbClr val="D4E9ED"/>
          </a:solidFill>
          <a:ln/>
        </p:spPr>
      </p:sp>
      <p:sp>
        <p:nvSpPr>
          <p:cNvPr id="120" name="Text 118"/>
          <p:cNvSpPr txBox="1"/>
          <p:nvPr/>
        </p:nvSpPr>
        <p:spPr>
          <a:xfrm>
            <a:off x="4215384"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23,266</a:t>
            </a:r>
            <a:endParaRPr lang="en-US" sz="680" dirty="0"/>
          </a:p>
        </p:txBody>
      </p:sp>
      <p:sp>
        <p:nvSpPr>
          <p:cNvPr id="121" name="Shape 119"/>
          <p:cNvSpPr/>
          <p:nvPr/>
        </p:nvSpPr>
        <p:spPr>
          <a:xfrm>
            <a:off x="5321808" y="4039819"/>
            <a:ext cx="996696" cy="150876"/>
          </a:xfrm>
          <a:prstGeom prst="rect">
            <a:avLst/>
          </a:prstGeom>
          <a:solidFill>
            <a:srgbClr val="EDF5F7"/>
          </a:solidFill>
          <a:ln/>
        </p:spPr>
      </p:sp>
      <p:sp>
        <p:nvSpPr>
          <p:cNvPr id="122" name="Text 120"/>
          <p:cNvSpPr txBox="1"/>
          <p:nvPr/>
        </p:nvSpPr>
        <p:spPr>
          <a:xfrm>
            <a:off x="5294376"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4,322</a:t>
            </a:r>
            <a:endParaRPr lang="en-US" sz="680" dirty="0"/>
          </a:p>
        </p:txBody>
      </p:sp>
      <p:sp>
        <p:nvSpPr>
          <p:cNvPr id="123" name="Text 121"/>
          <p:cNvSpPr txBox="1"/>
          <p:nvPr/>
        </p:nvSpPr>
        <p:spPr>
          <a:xfrm>
            <a:off x="6400800" y="4032504"/>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41,216</a:t>
            </a:r>
            <a:endParaRPr lang="en-US" sz="700" dirty="0"/>
          </a:p>
        </p:txBody>
      </p:sp>
      <p:sp>
        <p:nvSpPr>
          <p:cNvPr id="124" name="Text 122"/>
          <p:cNvSpPr txBox="1"/>
          <p:nvPr/>
        </p:nvSpPr>
        <p:spPr>
          <a:xfrm>
            <a:off x="594360" y="4206240"/>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Tony Ghoussein</a:t>
            </a:r>
            <a:endParaRPr lang="en-US" sz="720" dirty="0"/>
          </a:p>
        </p:txBody>
      </p:sp>
      <p:sp>
        <p:nvSpPr>
          <p:cNvPr id="125" name="Shape 123"/>
          <p:cNvSpPr/>
          <p:nvPr/>
        </p:nvSpPr>
        <p:spPr>
          <a:xfrm>
            <a:off x="2084832" y="4213555"/>
            <a:ext cx="996696" cy="150876"/>
          </a:xfrm>
          <a:prstGeom prst="rect">
            <a:avLst/>
          </a:prstGeom>
          <a:solidFill>
            <a:srgbClr val="EDF5F7"/>
          </a:solidFill>
          <a:ln/>
        </p:spPr>
      </p:sp>
      <p:sp>
        <p:nvSpPr>
          <p:cNvPr id="126" name="Text 124"/>
          <p:cNvSpPr txBox="1"/>
          <p:nvPr/>
        </p:nvSpPr>
        <p:spPr>
          <a:xfrm>
            <a:off x="2057400"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885</a:t>
            </a:r>
            <a:endParaRPr lang="en-US" sz="680" dirty="0"/>
          </a:p>
        </p:txBody>
      </p:sp>
      <p:sp>
        <p:nvSpPr>
          <p:cNvPr id="127" name="Shape 125"/>
          <p:cNvSpPr/>
          <p:nvPr/>
        </p:nvSpPr>
        <p:spPr>
          <a:xfrm>
            <a:off x="3163824" y="4213555"/>
            <a:ext cx="996696" cy="150876"/>
          </a:xfrm>
          <a:prstGeom prst="rect">
            <a:avLst/>
          </a:prstGeom>
          <a:solidFill>
            <a:srgbClr val="EDF5F7"/>
          </a:solidFill>
          <a:ln/>
        </p:spPr>
      </p:sp>
      <p:sp>
        <p:nvSpPr>
          <p:cNvPr id="128" name="Text 126"/>
          <p:cNvSpPr txBox="1"/>
          <p:nvPr/>
        </p:nvSpPr>
        <p:spPr>
          <a:xfrm>
            <a:off x="3136392"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6,208</a:t>
            </a:r>
            <a:endParaRPr lang="en-US" sz="680" dirty="0"/>
          </a:p>
        </p:txBody>
      </p:sp>
      <p:sp>
        <p:nvSpPr>
          <p:cNvPr id="129" name="Shape 127"/>
          <p:cNvSpPr/>
          <p:nvPr/>
        </p:nvSpPr>
        <p:spPr>
          <a:xfrm>
            <a:off x="4242816" y="4213555"/>
            <a:ext cx="996696" cy="150876"/>
          </a:xfrm>
          <a:prstGeom prst="rect">
            <a:avLst/>
          </a:prstGeom>
          <a:solidFill>
            <a:srgbClr val="EDF5F7"/>
          </a:solidFill>
          <a:ln/>
        </p:spPr>
      </p:sp>
      <p:sp>
        <p:nvSpPr>
          <p:cNvPr id="130" name="Text 128"/>
          <p:cNvSpPr txBox="1"/>
          <p:nvPr/>
        </p:nvSpPr>
        <p:spPr>
          <a:xfrm>
            <a:off x="4215384"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10,369</a:t>
            </a:r>
            <a:endParaRPr lang="en-US" sz="680" dirty="0"/>
          </a:p>
        </p:txBody>
      </p:sp>
      <p:sp>
        <p:nvSpPr>
          <p:cNvPr id="131" name="Shape 129"/>
          <p:cNvSpPr/>
          <p:nvPr/>
        </p:nvSpPr>
        <p:spPr>
          <a:xfrm>
            <a:off x="5321808" y="4213555"/>
            <a:ext cx="996696" cy="150876"/>
          </a:xfrm>
          <a:prstGeom prst="rect">
            <a:avLst/>
          </a:prstGeom>
          <a:solidFill>
            <a:srgbClr val="EDF5F7"/>
          </a:solidFill>
          <a:ln/>
        </p:spPr>
      </p:sp>
      <p:sp>
        <p:nvSpPr>
          <p:cNvPr id="132" name="Text 130"/>
          <p:cNvSpPr txBox="1"/>
          <p:nvPr/>
        </p:nvSpPr>
        <p:spPr>
          <a:xfrm>
            <a:off x="5294376"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11,891</a:t>
            </a:r>
            <a:endParaRPr lang="en-US" sz="680" dirty="0"/>
          </a:p>
        </p:txBody>
      </p:sp>
      <p:sp>
        <p:nvSpPr>
          <p:cNvPr id="133" name="Text 131"/>
          <p:cNvSpPr txBox="1"/>
          <p:nvPr/>
        </p:nvSpPr>
        <p:spPr>
          <a:xfrm>
            <a:off x="6400800" y="4206240"/>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29,353</a:t>
            </a:r>
            <a:endParaRPr lang="en-US" sz="700" dirty="0"/>
          </a:p>
        </p:txBody>
      </p:sp>
      <p:sp>
        <p:nvSpPr>
          <p:cNvPr id="134" name="Text 132"/>
          <p:cNvSpPr txBox="1"/>
          <p:nvPr/>
        </p:nvSpPr>
        <p:spPr>
          <a:xfrm>
            <a:off x="594360" y="4379976"/>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Eric Cruz</a:t>
            </a:r>
            <a:endParaRPr lang="en-US" sz="720" dirty="0"/>
          </a:p>
        </p:txBody>
      </p:sp>
      <p:sp>
        <p:nvSpPr>
          <p:cNvPr id="135" name="Shape 133"/>
          <p:cNvSpPr/>
          <p:nvPr/>
        </p:nvSpPr>
        <p:spPr>
          <a:xfrm>
            <a:off x="2084832" y="4387291"/>
            <a:ext cx="996696" cy="150876"/>
          </a:xfrm>
          <a:prstGeom prst="rect">
            <a:avLst/>
          </a:prstGeom>
          <a:solidFill>
            <a:srgbClr val="EDF5F7"/>
          </a:solidFill>
          <a:ln/>
        </p:spPr>
      </p:sp>
      <p:sp>
        <p:nvSpPr>
          <p:cNvPr id="136" name="Text 134"/>
          <p:cNvSpPr txBox="1"/>
          <p:nvPr/>
        </p:nvSpPr>
        <p:spPr>
          <a:xfrm>
            <a:off x="2057400"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1,666</a:t>
            </a:r>
            <a:endParaRPr lang="en-US" sz="680" dirty="0"/>
          </a:p>
        </p:txBody>
      </p:sp>
      <p:sp>
        <p:nvSpPr>
          <p:cNvPr id="137" name="Shape 135"/>
          <p:cNvSpPr/>
          <p:nvPr/>
        </p:nvSpPr>
        <p:spPr>
          <a:xfrm>
            <a:off x="3163824" y="4387291"/>
            <a:ext cx="996696" cy="150876"/>
          </a:xfrm>
          <a:prstGeom prst="rect">
            <a:avLst/>
          </a:prstGeom>
          <a:solidFill>
            <a:srgbClr val="EDF5F7"/>
          </a:solidFill>
          <a:ln/>
        </p:spPr>
      </p:sp>
      <p:sp>
        <p:nvSpPr>
          <p:cNvPr id="138" name="Text 136"/>
          <p:cNvSpPr txBox="1"/>
          <p:nvPr/>
        </p:nvSpPr>
        <p:spPr>
          <a:xfrm>
            <a:off x="3136392"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2,970</a:t>
            </a:r>
            <a:endParaRPr lang="en-US" sz="680" dirty="0"/>
          </a:p>
        </p:txBody>
      </p:sp>
      <p:sp>
        <p:nvSpPr>
          <p:cNvPr id="139" name="Shape 137"/>
          <p:cNvSpPr/>
          <p:nvPr/>
        </p:nvSpPr>
        <p:spPr>
          <a:xfrm>
            <a:off x="4242816" y="4387291"/>
            <a:ext cx="996696" cy="150876"/>
          </a:xfrm>
          <a:prstGeom prst="rect">
            <a:avLst/>
          </a:prstGeom>
          <a:solidFill>
            <a:srgbClr val="EDF5F7"/>
          </a:solidFill>
          <a:ln/>
        </p:spPr>
      </p:sp>
      <p:sp>
        <p:nvSpPr>
          <p:cNvPr id="140" name="Text 138"/>
          <p:cNvSpPr txBox="1"/>
          <p:nvPr/>
        </p:nvSpPr>
        <p:spPr>
          <a:xfrm>
            <a:off x="4215384"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7,237</a:t>
            </a:r>
            <a:endParaRPr lang="en-US" sz="680" dirty="0"/>
          </a:p>
        </p:txBody>
      </p:sp>
      <p:sp>
        <p:nvSpPr>
          <p:cNvPr id="141" name="Shape 139"/>
          <p:cNvSpPr/>
          <p:nvPr/>
        </p:nvSpPr>
        <p:spPr>
          <a:xfrm>
            <a:off x="5321808" y="4387291"/>
            <a:ext cx="996696" cy="150876"/>
          </a:xfrm>
          <a:prstGeom prst="rect">
            <a:avLst/>
          </a:prstGeom>
          <a:solidFill>
            <a:srgbClr val="EDF5F7"/>
          </a:solidFill>
          <a:ln/>
        </p:spPr>
      </p:sp>
      <p:sp>
        <p:nvSpPr>
          <p:cNvPr id="142" name="Text 140"/>
          <p:cNvSpPr txBox="1"/>
          <p:nvPr/>
        </p:nvSpPr>
        <p:spPr>
          <a:xfrm>
            <a:off x="5294376"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19,289</a:t>
            </a:r>
            <a:endParaRPr lang="en-US" sz="680" dirty="0"/>
          </a:p>
        </p:txBody>
      </p:sp>
      <p:sp>
        <p:nvSpPr>
          <p:cNvPr id="143" name="Text 141"/>
          <p:cNvSpPr txBox="1"/>
          <p:nvPr/>
        </p:nvSpPr>
        <p:spPr>
          <a:xfrm>
            <a:off x="6400800" y="4379976"/>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31,162</a:t>
            </a:r>
            <a:endParaRPr lang="en-US" sz="700" dirty="0"/>
          </a:p>
        </p:txBody>
      </p:sp>
      <p:sp>
        <p:nvSpPr>
          <p:cNvPr id="144" name="Shape 142"/>
          <p:cNvSpPr/>
          <p:nvPr/>
        </p:nvSpPr>
        <p:spPr>
          <a:xfrm>
            <a:off x="594360" y="4553712"/>
            <a:ext cx="7132320" cy="10973"/>
          </a:xfrm>
          <a:prstGeom prst="rect">
            <a:avLst/>
          </a:prstGeom>
          <a:solidFill>
            <a:srgbClr val="12293A"/>
          </a:solidFill>
          <a:ln/>
        </p:spPr>
      </p:sp>
      <p:sp>
        <p:nvSpPr>
          <p:cNvPr id="145" name="Text 143"/>
          <p:cNvSpPr txBox="1"/>
          <p:nvPr/>
        </p:nvSpPr>
        <p:spPr>
          <a:xfrm>
            <a:off x="594360" y="4581144"/>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ALL DEVELOPERS</a:t>
            </a:r>
            <a:endParaRPr lang="en-US" sz="750" dirty="0"/>
          </a:p>
        </p:txBody>
      </p:sp>
      <p:sp>
        <p:nvSpPr>
          <p:cNvPr id="146" name="Text 144"/>
          <p:cNvSpPr txBox="1"/>
          <p:nvPr/>
        </p:nvSpPr>
        <p:spPr>
          <a:xfrm>
            <a:off x="2057400"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120,224</a:t>
            </a:r>
            <a:endParaRPr lang="en-US" sz="750" dirty="0"/>
          </a:p>
        </p:txBody>
      </p:sp>
      <p:sp>
        <p:nvSpPr>
          <p:cNvPr id="147" name="Text 145"/>
          <p:cNvSpPr txBox="1"/>
          <p:nvPr/>
        </p:nvSpPr>
        <p:spPr>
          <a:xfrm>
            <a:off x="3136392"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228,132</a:t>
            </a:r>
            <a:endParaRPr lang="en-US" sz="750" dirty="0"/>
          </a:p>
        </p:txBody>
      </p:sp>
      <p:sp>
        <p:nvSpPr>
          <p:cNvPr id="148" name="Text 146"/>
          <p:cNvSpPr txBox="1"/>
          <p:nvPr/>
        </p:nvSpPr>
        <p:spPr>
          <a:xfrm>
            <a:off x="4215384"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293,419</a:t>
            </a:r>
            <a:endParaRPr lang="en-US" sz="750" dirty="0"/>
          </a:p>
        </p:txBody>
      </p:sp>
      <p:sp>
        <p:nvSpPr>
          <p:cNvPr id="149" name="Text 147"/>
          <p:cNvSpPr txBox="1"/>
          <p:nvPr/>
        </p:nvSpPr>
        <p:spPr>
          <a:xfrm>
            <a:off x="5294376"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277,261</a:t>
            </a:r>
            <a:endParaRPr lang="en-US" sz="750" dirty="0"/>
          </a:p>
        </p:txBody>
      </p:sp>
      <p:sp>
        <p:nvSpPr>
          <p:cNvPr id="150" name="Text 148"/>
          <p:cNvSpPr txBox="1"/>
          <p:nvPr/>
        </p:nvSpPr>
        <p:spPr>
          <a:xfrm>
            <a:off x="6400800" y="4581144"/>
            <a:ext cx="1280160"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919,036</a:t>
            </a:r>
            <a:endParaRPr lang="en-US" sz="750" dirty="0"/>
          </a:p>
        </p:txBody>
      </p:sp>
      <p:sp>
        <p:nvSpPr>
          <p:cNvPr id="151" name="Text 149"/>
          <p:cNvSpPr txBox="1"/>
          <p:nvPr/>
        </p:nvSpPr>
        <p:spPr>
          <a:xfrm>
            <a:off x="594360" y="4892040"/>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BY WEEK  </a:t>
            </a:r>
            <a:pPr indent="0" marL="0">
              <a:buNone/>
            </a:pPr>
            <a:r>
              <a:rPr lang="en-US" sz="600" dirty="0">
                <a:solidFill>
                  <a:srgbClr val="8FA1AC"/>
                </a:solidFill>
                <a:latin typeface="Poppins" pitchFamily="34" charset="0"/>
                <a:ea typeface="Poppins" pitchFamily="34" charset="-122"/>
                <a:cs typeface="Poppins" pitchFamily="34" charset="-120"/>
              </a:rPr>
              <a:t>cell = one week</a:t>
            </a:r>
            <a:endParaRPr lang="en-US" sz="750" dirty="0"/>
          </a:p>
        </p:txBody>
      </p:sp>
      <p:sp>
        <p:nvSpPr>
          <p:cNvPr id="152" name="Shape 150"/>
          <p:cNvSpPr/>
          <p:nvPr/>
        </p:nvSpPr>
        <p:spPr>
          <a:xfrm>
            <a:off x="2075688" y="4892040"/>
            <a:ext cx="365107" cy="219456"/>
          </a:xfrm>
          <a:prstGeom prst="rect">
            <a:avLst/>
          </a:prstGeom>
          <a:solidFill>
            <a:srgbClr val="D4E9ED"/>
          </a:solidFill>
          <a:ln/>
        </p:spPr>
      </p:sp>
      <p:sp>
        <p:nvSpPr>
          <p:cNvPr id="153" name="Text 151"/>
          <p:cNvSpPr txBox="1"/>
          <p:nvPr/>
        </p:nvSpPr>
        <p:spPr>
          <a:xfrm>
            <a:off x="2057400"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4" name="Text 152"/>
          <p:cNvSpPr txBox="1"/>
          <p:nvPr/>
        </p:nvSpPr>
        <p:spPr>
          <a:xfrm>
            <a:off x="2057400"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07</a:t>
            </a:r>
            <a:endParaRPr lang="en-US" sz="550" dirty="0"/>
          </a:p>
        </p:txBody>
      </p:sp>
      <p:sp>
        <p:nvSpPr>
          <p:cNvPr id="155" name="Shape 153"/>
          <p:cNvSpPr/>
          <p:nvPr/>
        </p:nvSpPr>
        <p:spPr>
          <a:xfrm>
            <a:off x="2477371" y="4892040"/>
            <a:ext cx="365107" cy="219456"/>
          </a:xfrm>
          <a:prstGeom prst="rect">
            <a:avLst/>
          </a:prstGeom>
          <a:solidFill>
            <a:srgbClr val="D4E9ED"/>
          </a:solidFill>
          <a:ln/>
        </p:spPr>
      </p:sp>
      <p:sp>
        <p:nvSpPr>
          <p:cNvPr id="156" name="Text 154"/>
          <p:cNvSpPr txBox="1"/>
          <p:nvPr/>
        </p:nvSpPr>
        <p:spPr>
          <a:xfrm>
            <a:off x="2459083"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7" name="Text 155"/>
          <p:cNvSpPr txBox="1"/>
          <p:nvPr/>
        </p:nvSpPr>
        <p:spPr>
          <a:xfrm>
            <a:off x="2459083"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14</a:t>
            </a:r>
            <a:endParaRPr lang="en-US" sz="550" dirty="0"/>
          </a:p>
        </p:txBody>
      </p:sp>
      <p:sp>
        <p:nvSpPr>
          <p:cNvPr id="158" name="Shape 156"/>
          <p:cNvSpPr/>
          <p:nvPr/>
        </p:nvSpPr>
        <p:spPr>
          <a:xfrm>
            <a:off x="2879054" y="4892040"/>
            <a:ext cx="365107" cy="219456"/>
          </a:xfrm>
          <a:prstGeom prst="rect">
            <a:avLst/>
          </a:prstGeom>
          <a:solidFill>
            <a:srgbClr val="D4E9ED"/>
          </a:solidFill>
          <a:ln/>
        </p:spPr>
      </p:sp>
      <p:sp>
        <p:nvSpPr>
          <p:cNvPr id="159" name="Text 157"/>
          <p:cNvSpPr txBox="1"/>
          <p:nvPr/>
        </p:nvSpPr>
        <p:spPr>
          <a:xfrm>
            <a:off x="2860766"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60" name="Text 158"/>
          <p:cNvSpPr txBox="1"/>
          <p:nvPr/>
        </p:nvSpPr>
        <p:spPr>
          <a:xfrm>
            <a:off x="2860766"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21</a:t>
            </a:r>
            <a:endParaRPr lang="en-US" sz="550" dirty="0"/>
          </a:p>
        </p:txBody>
      </p:sp>
      <p:sp>
        <p:nvSpPr>
          <p:cNvPr id="161" name="Shape 159"/>
          <p:cNvSpPr/>
          <p:nvPr/>
        </p:nvSpPr>
        <p:spPr>
          <a:xfrm>
            <a:off x="3280737" y="4892040"/>
            <a:ext cx="365107" cy="219456"/>
          </a:xfrm>
          <a:prstGeom prst="rect">
            <a:avLst/>
          </a:prstGeom>
          <a:solidFill>
            <a:srgbClr val="B5D9E0"/>
          </a:solidFill>
          <a:ln/>
        </p:spPr>
      </p:sp>
      <p:sp>
        <p:nvSpPr>
          <p:cNvPr id="162" name="Text 160"/>
          <p:cNvSpPr txBox="1"/>
          <p:nvPr/>
        </p:nvSpPr>
        <p:spPr>
          <a:xfrm>
            <a:off x="3262449"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41k</a:t>
            </a:r>
            <a:endParaRPr lang="en-US" sz="620" dirty="0"/>
          </a:p>
        </p:txBody>
      </p:sp>
      <p:sp>
        <p:nvSpPr>
          <p:cNvPr id="163" name="Text 161"/>
          <p:cNvSpPr txBox="1"/>
          <p:nvPr/>
        </p:nvSpPr>
        <p:spPr>
          <a:xfrm>
            <a:off x="3262449"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28</a:t>
            </a:r>
            <a:endParaRPr lang="en-US" sz="550" dirty="0"/>
          </a:p>
        </p:txBody>
      </p:sp>
      <p:sp>
        <p:nvSpPr>
          <p:cNvPr id="164" name="Shape 162"/>
          <p:cNvSpPr/>
          <p:nvPr/>
        </p:nvSpPr>
        <p:spPr>
          <a:xfrm>
            <a:off x="3682419" y="4892040"/>
            <a:ext cx="365107" cy="219456"/>
          </a:xfrm>
          <a:prstGeom prst="rect">
            <a:avLst/>
          </a:prstGeom>
          <a:solidFill>
            <a:srgbClr val="B5D9E0"/>
          </a:solidFill>
          <a:ln/>
        </p:spPr>
      </p:sp>
      <p:sp>
        <p:nvSpPr>
          <p:cNvPr id="165" name="Text 163"/>
          <p:cNvSpPr txBox="1"/>
          <p:nvPr/>
        </p:nvSpPr>
        <p:spPr>
          <a:xfrm>
            <a:off x="3664131"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66" name="Text 164"/>
          <p:cNvSpPr txBox="1"/>
          <p:nvPr/>
        </p:nvSpPr>
        <p:spPr>
          <a:xfrm>
            <a:off x="3664131"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05</a:t>
            </a:r>
            <a:endParaRPr lang="en-US" sz="550" dirty="0"/>
          </a:p>
        </p:txBody>
      </p:sp>
      <p:sp>
        <p:nvSpPr>
          <p:cNvPr id="167" name="Shape 165"/>
          <p:cNvSpPr/>
          <p:nvPr/>
        </p:nvSpPr>
        <p:spPr>
          <a:xfrm>
            <a:off x="4084102" y="4892040"/>
            <a:ext cx="365107" cy="219456"/>
          </a:xfrm>
          <a:prstGeom prst="rect">
            <a:avLst/>
          </a:prstGeom>
          <a:solidFill>
            <a:srgbClr val="B5D9E0"/>
          </a:solidFill>
          <a:ln/>
        </p:spPr>
      </p:sp>
      <p:sp>
        <p:nvSpPr>
          <p:cNvPr id="168" name="Text 166"/>
          <p:cNvSpPr txBox="1"/>
          <p:nvPr/>
        </p:nvSpPr>
        <p:spPr>
          <a:xfrm>
            <a:off x="4065814"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69" name="Text 167"/>
          <p:cNvSpPr txBox="1"/>
          <p:nvPr/>
        </p:nvSpPr>
        <p:spPr>
          <a:xfrm>
            <a:off x="4065814"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12</a:t>
            </a:r>
            <a:endParaRPr lang="en-US" sz="550" dirty="0"/>
          </a:p>
        </p:txBody>
      </p:sp>
      <p:sp>
        <p:nvSpPr>
          <p:cNvPr id="170" name="Shape 168"/>
          <p:cNvSpPr/>
          <p:nvPr/>
        </p:nvSpPr>
        <p:spPr>
          <a:xfrm>
            <a:off x="4485785" y="4892040"/>
            <a:ext cx="365107" cy="219456"/>
          </a:xfrm>
          <a:prstGeom prst="rect">
            <a:avLst/>
          </a:prstGeom>
          <a:solidFill>
            <a:srgbClr val="B5D9E0"/>
          </a:solidFill>
          <a:ln/>
        </p:spPr>
      </p:sp>
      <p:sp>
        <p:nvSpPr>
          <p:cNvPr id="171" name="Text 169"/>
          <p:cNvSpPr txBox="1"/>
          <p:nvPr/>
        </p:nvSpPr>
        <p:spPr>
          <a:xfrm>
            <a:off x="4467497"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72" name="Text 170"/>
          <p:cNvSpPr txBox="1"/>
          <p:nvPr/>
        </p:nvSpPr>
        <p:spPr>
          <a:xfrm>
            <a:off x="4467497"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19</a:t>
            </a:r>
            <a:endParaRPr lang="en-US" sz="550" dirty="0"/>
          </a:p>
        </p:txBody>
      </p:sp>
      <p:sp>
        <p:nvSpPr>
          <p:cNvPr id="173" name="Shape 171"/>
          <p:cNvSpPr/>
          <p:nvPr/>
        </p:nvSpPr>
        <p:spPr>
          <a:xfrm>
            <a:off x="4887468" y="4892040"/>
            <a:ext cx="365107" cy="219456"/>
          </a:xfrm>
          <a:prstGeom prst="rect">
            <a:avLst/>
          </a:prstGeom>
          <a:solidFill>
            <a:srgbClr val="B5D9E0"/>
          </a:solidFill>
          <a:ln/>
        </p:spPr>
      </p:sp>
      <p:sp>
        <p:nvSpPr>
          <p:cNvPr id="174" name="Text 172"/>
          <p:cNvSpPr txBox="1"/>
          <p:nvPr/>
        </p:nvSpPr>
        <p:spPr>
          <a:xfrm>
            <a:off x="4869180"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48k</a:t>
            </a:r>
            <a:endParaRPr lang="en-US" sz="620" dirty="0"/>
          </a:p>
        </p:txBody>
      </p:sp>
      <p:sp>
        <p:nvSpPr>
          <p:cNvPr id="175" name="Text 173"/>
          <p:cNvSpPr txBox="1"/>
          <p:nvPr/>
        </p:nvSpPr>
        <p:spPr>
          <a:xfrm>
            <a:off x="4869180"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26</a:t>
            </a:r>
            <a:endParaRPr lang="en-US" sz="550" dirty="0"/>
          </a:p>
        </p:txBody>
      </p:sp>
      <p:sp>
        <p:nvSpPr>
          <p:cNvPr id="176" name="Shape 174"/>
          <p:cNvSpPr/>
          <p:nvPr/>
        </p:nvSpPr>
        <p:spPr>
          <a:xfrm>
            <a:off x="5289151" y="4892040"/>
            <a:ext cx="365107" cy="219456"/>
          </a:xfrm>
          <a:prstGeom prst="rect">
            <a:avLst/>
          </a:prstGeom>
          <a:solidFill>
            <a:srgbClr val="D4E9ED"/>
          </a:solidFill>
          <a:ln/>
        </p:spPr>
      </p:sp>
      <p:sp>
        <p:nvSpPr>
          <p:cNvPr id="177" name="Text 175"/>
          <p:cNvSpPr txBox="1"/>
          <p:nvPr/>
        </p:nvSpPr>
        <p:spPr>
          <a:xfrm>
            <a:off x="5270863"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78" name="Text 176"/>
          <p:cNvSpPr txBox="1"/>
          <p:nvPr/>
        </p:nvSpPr>
        <p:spPr>
          <a:xfrm>
            <a:off x="5270863"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02</a:t>
            </a:r>
            <a:endParaRPr lang="en-US" sz="550" dirty="0"/>
          </a:p>
        </p:txBody>
      </p:sp>
      <p:sp>
        <p:nvSpPr>
          <p:cNvPr id="179" name="Shape 177"/>
          <p:cNvSpPr/>
          <p:nvPr/>
        </p:nvSpPr>
        <p:spPr>
          <a:xfrm>
            <a:off x="5690834" y="4892040"/>
            <a:ext cx="365107" cy="219456"/>
          </a:xfrm>
          <a:prstGeom prst="rect">
            <a:avLst/>
          </a:prstGeom>
          <a:solidFill>
            <a:srgbClr val="2C8394"/>
          </a:solidFill>
          <a:ln/>
        </p:spPr>
      </p:sp>
      <p:sp>
        <p:nvSpPr>
          <p:cNvPr id="180" name="Text 178"/>
          <p:cNvSpPr txBox="1"/>
          <p:nvPr/>
        </p:nvSpPr>
        <p:spPr>
          <a:xfrm>
            <a:off x="5672546" y="4892040"/>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78k</a:t>
            </a:r>
            <a:endParaRPr lang="en-US" sz="620" dirty="0"/>
          </a:p>
        </p:txBody>
      </p:sp>
      <p:sp>
        <p:nvSpPr>
          <p:cNvPr id="181" name="Text 179"/>
          <p:cNvSpPr txBox="1"/>
          <p:nvPr/>
        </p:nvSpPr>
        <p:spPr>
          <a:xfrm>
            <a:off x="5672546"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09</a:t>
            </a:r>
            <a:endParaRPr lang="en-US" sz="550" dirty="0"/>
          </a:p>
        </p:txBody>
      </p:sp>
      <p:sp>
        <p:nvSpPr>
          <p:cNvPr id="182" name="Shape 180"/>
          <p:cNvSpPr/>
          <p:nvPr/>
        </p:nvSpPr>
        <p:spPr>
          <a:xfrm>
            <a:off x="6092517" y="4892040"/>
            <a:ext cx="365107" cy="219456"/>
          </a:xfrm>
          <a:prstGeom prst="rect">
            <a:avLst/>
          </a:prstGeom>
          <a:solidFill>
            <a:srgbClr val="2C8394"/>
          </a:solidFill>
          <a:ln/>
        </p:spPr>
      </p:sp>
      <p:sp>
        <p:nvSpPr>
          <p:cNvPr id="183" name="Text 181"/>
          <p:cNvSpPr txBox="1"/>
          <p:nvPr/>
        </p:nvSpPr>
        <p:spPr>
          <a:xfrm>
            <a:off x="6074229" y="4892040"/>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87k</a:t>
            </a:r>
            <a:endParaRPr lang="en-US" sz="620" dirty="0"/>
          </a:p>
        </p:txBody>
      </p:sp>
      <p:sp>
        <p:nvSpPr>
          <p:cNvPr id="184" name="Text 182"/>
          <p:cNvSpPr txBox="1"/>
          <p:nvPr/>
        </p:nvSpPr>
        <p:spPr>
          <a:xfrm>
            <a:off x="6074229"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16</a:t>
            </a:r>
            <a:endParaRPr lang="en-US" sz="550" dirty="0"/>
          </a:p>
        </p:txBody>
      </p:sp>
      <p:sp>
        <p:nvSpPr>
          <p:cNvPr id="185" name="Shape 183"/>
          <p:cNvSpPr/>
          <p:nvPr/>
        </p:nvSpPr>
        <p:spPr>
          <a:xfrm>
            <a:off x="6494199" y="4892040"/>
            <a:ext cx="365107" cy="219456"/>
          </a:xfrm>
          <a:prstGeom prst="rect">
            <a:avLst/>
          </a:prstGeom>
          <a:solidFill>
            <a:srgbClr val="8FC3CC"/>
          </a:solidFill>
          <a:ln/>
        </p:spPr>
      </p:sp>
      <p:sp>
        <p:nvSpPr>
          <p:cNvPr id="186" name="Text 184"/>
          <p:cNvSpPr txBox="1"/>
          <p:nvPr/>
        </p:nvSpPr>
        <p:spPr>
          <a:xfrm>
            <a:off x="6475911"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68k</a:t>
            </a:r>
            <a:endParaRPr lang="en-US" sz="620" dirty="0"/>
          </a:p>
        </p:txBody>
      </p:sp>
      <p:sp>
        <p:nvSpPr>
          <p:cNvPr id="187" name="Text 185"/>
          <p:cNvSpPr txBox="1"/>
          <p:nvPr/>
        </p:nvSpPr>
        <p:spPr>
          <a:xfrm>
            <a:off x="6475911"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23</a:t>
            </a:r>
            <a:endParaRPr lang="en-US" sz="550" dirty="0"/>
          </a:p>
        </p:txBody>
      </p:sp>
      <p:sp>
        <p:nvSpPr>
          <p:cNvPr id="188" name="Shape 186"/>
          <p:cNvSpPr/>
          <p:nvPr/>
        </p:nvSpPr>
        <p:spPr>
          <a:xfrm>
            <a:off x="6895882" y="4892040"/>
            <a:ext cx="365107" cy="219456"/>
          </a:xfrm>
          <a:prstGeom prst="rect">
            <a:avLst/>
          </a:prstGeom>
          <a:solidFill>
            <a:srgbClr val="8FC3CC"/>
          </a:solidFill>
          <a:ln/>
        </p:spPr>
      </p:sp>
      <p:sp>
        <p:nvSpPr>
          <p:cNvPr id="189" name="Text 187"/>
          <p:cNvSpPr txBox="1"/>
          <p:nvPr/>
        </p:nvSpPr>
        <p:spPr>
          <a:xfrm>
            <a:off x="6877594"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60k</a:t>
            </a:r>
            <a:endParaRPr lang="en-US" sz="620" dirty="0"/>
          </a:p>
        </p:txBody>
      </p:sp>
      <p:sp>
        <p:nvSpPr>
          <p:cNvPr id="190" name="Text 188"/>
          <p:cNvSpPr txBox="1"/>
          <p:nvPr/>
        </p:nvSpPr>
        <p:spPr>
          <a:xfrm>
            <a:off x="6877594"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30</a:t>
            </a:r>
            <a:endParaRPr lang="en-US" sz="550" dirty="0"/>
          </a:p>
        </p:txBody>
      </p:sp>
      <p:sp>
        <p:nvSpPr>
          <p:cNvPr id="191" name="Shape 189"/>
          <p:cNvSpPr/>
          <p:nvPr/>
        </p:nvSpPr>
        <p:spPr>
          <a:xfrm>
            <a:off x="7297565" y="4892040"/>
            <a:ext cx="365107" cy="219456"/>
          </a:xfrm>
          <a:prstGeom prst="rect">
            <a:avLst/>
          </a:prstGeom>
          <a:solidFill>
            <a:srgbClr val="8FC3CC"/>
          </a:solidFill>
          <a:ln/>
        </p:spPr>
      </p:sp>
      <p:sp>
        <p:nvSpPr>
          <p:cNvPr id="192" name="Text 190"/>
          <p:cNvSpPr txBox="1"/>
          <p:nvPr/>
        </p:nvSpPr>
        <p:spPr>
          <a:xfrm>
            <a:off x="7279277"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66k</a:t>
            </a:r>
            <a:endParaRPr lang="en-US" sz="620" dirty="0"/>
          </a:p>
        </p:txBody>
      </p:sp>
      <p:sp>
        <p:nvSpPr>
          <p:cNvPr id="193" name="Text 191"/>
          <p:cNvSpPr txBox="1"/>
          <p:nvPr/>
        </p:nvSpPr>
        <p:spPr>
          <a:xfrm>
            <a:off x="7279277"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06</a:t>
            </a:r>
            <a:endParaRPr lang="en-US" sz="550" dirty="0"/>
          </a:p>
        </p:txBody>
      </p:sp>
      <p:sp>
        <p:nvSpPr>
          <p:cNvPr id="194" name="Text 192"/>
          <p:cNvSpPr txBox="1"/>
          <p:nvPr/>
        </p:nvSpPr>
        <p:spPr>
          <a:xfrm>
            <a:off x="594360" y="5340096"/>
            <a:ext cx="7132320" cy="201168"/>
          </a:xfrm>
          <a:prstGeom prst="rect">
            <a:avLst/>
          </a:prstGeom>
          <a:noFill/>
          <a:ln/>
        </p:spPr>
        <p:txBody>
          <a:bodyPr wrap="square" lIns="0" tIns="0" rIns="0" bIns="0" rtlCol="0" anchor="ctr"/>
          <a:lstStyle/>
          <a:p>
            <a:pPr indent="0" marL="0">
              <a:buNone/>
            </a:pPr>
            <a:r>
              <a:rPr lang="en-US" sz="600" dirty="0">
                <a:solidFill>
                  <a:srgbClr val="8FA1AC"/>
                </a:solidFill>
                <a:latin typeface="Poppins" pitchFamily="34" charset="0"/>
                <a:ea typeface="Poppins" pitchFamily="34" charset="-122"/>
                <a:cs typeface="Poppins" pitchFamily="34" charset="-120"/>
              </a:rPr>
              <a:t>cell = one week · series ends w/c 06 Sep — later captures give month-to-date only</a:t>
            </a:r>
            <a:endParaRPr lang="en-US" sz="600" dirty="0"/>
          </a:p>
        </p:txBody>
      </p:sp>
      <p:sp>
        <p:nvSpPr>
          <p:cNvPr id="195" name="Shape 193"/>
          <p:cNvSpPr/>
          <p:nvPr/>
        </p:nvSpPr>
        <p:spPr>
          <a:xfrm>
            <a:off x="8092440" y="2212848"/>
            <a:ext cx="3685032"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196" name="Text 194"/>
          <p:cNvSpPr txBox="1"/>
          <p:nvPr/>
        </p:nvSpPr>
        <p:spPr>
          <a:xfrm>
            <a:off x="8293608" y="2322576"/>
            <a:ext cx="32918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COWORK — SESSIONS PER WEEK</a:t>
            </a:r>
            <a:endParaRPr lang="en-US" sz="1200" dirty="0"/>
          </a:p>
        </p:txBody>
      </p:sp>
      <p:sp>
        <p:nvSpPr>
          <p:cNvPr id="197" name="Text 195"/>
          <p:cNvSpPr txBox="1"/>
          <p:nvPr/>
        </p:nvSpPr>
        <p:spPr>
          <a:xfrm>
            <a:off x="8275320" y="2596896"/>
            <a:ext cx="1371600" cy="548640"/>
          </a:xfrm>
          <a:prstGeom prst="rect">
            <a:avLst/>
          </a:prstGeom>
          <a:noFill/>
          <a:ln/>
        </p:spPr>
        <p:txBody>
          <a:bodyPr wrap="square" lIns="0" tIns="0" rIns="0" bIns="0" rtlCol="0" anchor="ctr"/>
          <a:lstStyle/>
          <a:p>
            <a:pPr indent="0" marL="0">
              <a:buNone/>
            </a:pPr>
            <a:r>
              <a:rPr lang="en-US" sz="3000" b="1" dirty="0">
                <a:solidFill>
                  <a:srgbClr val="2C8394"/>
                </a:solidFill>
                <a:latin typeface="Poppins" pitchFamily="34" charset="0"/>
                <a:ea typeface="Poppins" pitchFamily="34" charset="-122"/>
                <a:cs typeface="Poppins" pitchFamily="34" charset="-120"/>
              </a:rPr>
              <a:t>~476</a:t>
            </a:r>
            <a:endParaRPr lang="en-US" sz="3000" dirty="0"/>
          </a:p>
        </p:txBody>
      </p:sp>
      <p:sp>
        <p:nvSpPr>
          <p:cNvPr id="198" name="Text 196"/>
          <p:cNvSpPr txBox="1"/>
          <p:nvPr/>
        </p:nvSpPr>
        <p:spPr>
          <a:xfrm>
            <a:off x="9555480" y="2624328"/>
            <a:ext cx="2011680" cy="502920"/>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team total / wk
</a:t>
            </a:r>
            <a:pPr indent="0" marL="0">
              <a:buNone/>
            </a:pPr>
            <a:r>
              <a:rPr lang="en-US" sz="700" dirty="0">
                <a:solidFill>
                  <a:srgbClr val="8FA1AC"/>
                </a:solidFill>
                <a:latin typeface="Poppins" pitchFamily="34" charset="0"/>
                <a:ea typeface="Poppins" pitchFamily="34" charset="-122"/>
                <a:cs typeface="Poppins" pitchFamily="34" charset="-120"/>
              </a:rPr>
              <a:t>~137 baseline</a:t>
            </a:r>
            <a:endParaRPr lang="en-US" sz="750" dirty="0"/>
          </a:p>
        </p:txBody>
      </p:sp>
      <p:sp>
        <p:nvSpPr>
          <p:cNvPr id="199" name="Text 197"/>
          <p:cNvSpPr txBox="1"/>
          <p:nvPr/>
        </p:nvSpPr>
        <p:spPr>
          <a:xfrm>
            <a:off x="8275320" y="3236976"/>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Bjorn Magabo</a:t>
            </a:r>
            <a:endParaRPr lang="en-US" sz="750" dirty="0"/>
          </a:p>
        </p:txBody>
      </p:sp>
      <p:sp>
        <p:nvSpPr>
          <p:cNvPr id="200" name="Text 198"/>
          <p:cNvSpPr txBox="1"/>
          <p:nvPr/>
        </p:nvSpPr>
        <p:spPr>
          <a:xfrm>
            <a:off x="10058400" y="3236976"/>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01" name="Text 199"/>
          <p:cNvSpPr txBox="1"/>
          <p:nvPr/>
        </p:nvSpPr>
        <p:spPr>
          <a:xfrm>
            <a:off x="10835640" y="323697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~244/wk</a:t>
            </a:r>
            <a:endParaRPr lang="en-US" sz="750" dirty="0"/>
          </a:p>
        </p:txBody>
      </p:sp>
      <p:sp>
        <p:nvSpPr>
          <p:cNvPr id="202" name="Text 200"/>
          <p:cNvSpPr txBox="1"/>
          <p:nvPr/>
        </p:nvSpPr>
        <p:spPr>
          <a:xfrm>
            <a:off x="8275320" y="3429000"/>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Phuong Ho</a:t>
            </a:r>
            <a:endParaRPr lang="en-US" sz="750" dirty="0"/>
          </a:p>
        </p:txBody>
      </p:sp>
      <p:sp>
        <p:nvSpPr>
          <p:cNvPr id="203" name="Text 201"/>
          <p:cNvSpPr txBox="1"/>
          <p:nvPr/>
        </p:nvSpPr>
        <p:spPr>
          <a:xfrm>
            <a:off x="10058400" y="3429000"/>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04" name="Text 202"/>
          <p:cNvSpPr txBox="1"/>
          <p:nvPr/>
        </p:nvSpPr>
        <p:spPr>
          <a:xfrm>
            <a:off x="10835640" y="342900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~92/wk</a:t>
            </a:r>
            <a:endParaRPr lang="en-US" sz="750" dirty="0"/>
          </a:p>
        </p:txBody>
      </p:sp>
      <p:sp>
        <p:nvSpPr>
          <p:cNvPr id="205" name="Text 203"/>
          <p:cNvSpPr txBox="1"/>
          <p:nvPr/>
        </p:nvSpPr>
        <p:spPr>
          <a:xfrm>
            <a:off x="8275320" y="3621024"/>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Bradford Young</a:t>
            </a:r>
            <a:endParaRPr lang="en-US" sz="750" dirty="0"/>
          </a:p>
        </p:txBody>
      </p:sp>
      <p:sp>
        <p:nvSpPr>
          <p:cNvPr id="206" name="Text 204"/>
          <p:cNvSpPr txBox="1"/>
          <p:nvPr/>
        </p:nvSpPr>
        <p:spPr>
          <a:xfrm>
            <a:off x="10058400" y="3621024"/>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+2</a:t>
            </a:r>
            <a:endParaRPr lang="en-US" sz="680" dirty="0"/>
          </a:p>
        </p:txBody>
      </p:sp>
      <p:sp>
        <p:nvSpPr>
          <p:cNvPr id="207" name="Text 205"/>
          <p:cNvSpPr txBox="1"/>
          <p:nvPr/>
        </p:nvSpPr>
        <p:spPr>
          <a:xfrm>
            <a:off x="10835640" y="362102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~18/wk</a:t>
            </a:r>
            <a:endParaRPr lang="en-US" sz="750" dirty="0"/>
          </a:p>
        </p:txBody>
      </p:sp>
      <p:sp>
        <p:nvSpPr>
          <p:cNvPr id="208" name="Text 206"/>
          <p:cNvSpPr txBox="1"/>
          <p:nvPr/>
        </p:nvSpPr>
        <p:spPr>
          <a:xfrm>
            <a:off x="8275320" y="3813048"/>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Dave Corbett</a:t>
            </a:r>
            <a:endParaRPr lang="en-US" sz="750" dirty="0"/>
          </a:p>
        </p:txBody>
      </p:sp>
      <p:sp>
        <p:nvSpPr>
          <p:cNvPr id="209" name="Text 207"/>
          <p:cNvSpPr txBox="1"/>
          <p:nvPr/>
        </p:nvSpPr>
        <p:spPr>
          <a:xfrm>
            <a:off x="10058400" y="3813048"/>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0" name="Text 208"/>
          <p:cNvSpPr txBox="1"/>
          <p:nvPr/>
        </p:nvSpPr>
        <p:spPr>
          <a:xfrm>
            <a:off x="10835640" y="381304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~16/wk</a:t>
            </a:r>
            <a:endParaRPr lang="en-US" sz="750" dirty="0"/>
          </a:p>
        </p:txBody>
      </p:sp>
      <p:sp>
        <p:nvSpPr>
          <p:cNvPr id="211" name="Text 209"/>
          <p:cNvSpPr txBox="1"/>
          <p:nvPr/>
        </p:nvSpPr>
        <p:spPr>
          <a:xfrm>
            <a:off x="8275320" y="4005072"/>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Harjeet Sammi</a:t>
            </a:r>
            <a:endParaRPr lang="en-US" sz="750" dirty="0"/>
          </a:p>
        </p:txBody>
      </p:sp>
      <p:sp>
        <p:nvSpPr>
          <p:cNvPr id="212" name="Text 210"/>
          <p:cNvSpPr txBox="1"/>
          <p:nvPr/>
        </p:nvSpPr>
        <p:spPr>
          <a:xfrm>
            <a:off x="10058400" y="4005072"/>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3" name="Text 211"/>
          <p:cNvSpPr txBox="1"/>
          <p:nvPr/>
        </p:nvSpPr>
        <p:spPr>
          <a:xfrm>
            <a:off x="10835640" y="400507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~14/wk</a:t>
            </a:r>
            <a:endParaRPr lang="en-US" sz="750" dirty="0"/>
          </a:p>
        </p:txBody>
      </p:sp>
      <p:sp>
        <p:nvSpPr>
          <p:cNvPr id="214" name="Text 212"/>
          <p:cNvSpPr txBox="1"/>
          <p:nvPr/>
        </p:nvSpPr>
        <p:spPr>
          <a:xfrm>
            <a:off x="8275320" y="4197096"/>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Katherine Fenwick</a:t>
            </a:r>
            <a:endParaRPr lang="en-US" sz="750" dirty="0"/>
          </a:p>
        </p:txBody>
      </p:sp>
      <p:sp>
        <p:nvSpPr>
          <p:cNvPr id="215" name="Text 213"/>
          <p:cNvSpPr txBox="1"/>
          <p:nvPr/>
        </p:nvSpPr>
        <p:spPr>
          <a:xfrm>
            <a:off x="10058400" y="4197096"/>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-2</a:t>
            </a:r>
            <a:endParaRPr lang="en-US" sz="680" dirty="0"/>
          </a:p>
        </p:txBody>
      </p:sp>
      <p:sp>
        <p:nvSpPr>
          <p:cNvPr id="216" name="Text 214"/>
          <p:cNvSpPr txBox="1"/>
          <p:nvPr/>
        </p:nvSpPr>
        <p:spPr>
          <a:xfrm>
            <a:off x="10835640" y="419709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~12/wk</a:t>
            </a:r>
            <a:endParaRPr lang="en-US" sz="750" dirty="0"/>
          </a:p>
        </p:txBody>
      </p:sp>
      <p:sp>
        <p:nvSpPr>
          <p:cNvPr id="217" name="Text 215"/>
          <p:cNvSpPr txBox="1"/>
          <p:nvPr/>
        </p:nvSpPr>
        <p:spPr>
          <a:xfrm>
            <a:off x="8275320" y="4389120"/>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Matt Freeman</a:t>
            </a:r>
            <a:endParaRPr lang="en-US" sz="750" dirty="0"/>
          </a:p>
        </p:txBody>
      </p:sp>
      <p:sp>
        <p:nvSpPr>
          <p:cNvPr id="218" name="Text 216"/>
          <p:cNvSpPr txBox="1"/>
          <p:nvPr/>
        </p:nvSpPr>
        <p:spPr>
          <a:xfrm>
            <a:off x="10058400" y="4389120"/>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-5</a:t>
            </a:r>
            <a:endParaRPr lang="en-US" sz="680" dirty="0"/>
          </a:p>
        </p:txBody>
      </p:sp>
      <p:sp>
        <p:nvSpPr>
          <p:cNvPr id="219" name="Text 217"/>
          <p:cNvSpPr txBox="1"/>
          <p:nvPr/>
        </p:nvSpPr>
        <p:spPr>
          <a:xfrm>
            <a:off x="10835640" y="438912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~12/wk</a:t>
            </a:r>
            <a:endParaRPr lang="en-US" sz="750" dirty="0"/>
          </a:p>
        </p:txBody>
      </p:sp>
      <p:sp>
        <p:nvSpPr>
          <p:cNvPr id="220" name="Text 218"/>
          <p:cNvSpPr txBox="1"/>
          <p:nvPr/>
        </p:nvSpPr>
        <p:spPr>
          <a:xfrm>
            <a:off x="8275320" y="4581144"/>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Glynn Johnson</a:t>
            </a:r>
            <a:endParaRPr lang="en-US" sz="750" dirty="0"/>
          </a:p>
        </p:txBody>
      </p:sp>
      <p:sp>
        <p:nvSpPr>
          <p:cNvPr id="221" name="Text 219"/>
          <p:cNvSpPr txBox="1"/>
          <p:nvPr/>
        </p:nvSpPr>
        <p:spPr>
          <a:xfrm>
            <a:off x="10058400" y="4581144"/>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+4</a:t>
            </a:r>
            <a:endParaRPr lang="en-US" sz="680" dirty="0"/>
          </a:p>
        </p:txBody>
      </p:sp>
      <p:sp>
        <p:nvSpPr>
          <p:cNvPr id="222" name="Text 220"/>
          <p:cNvSpPr txBox="1"/>
          <p:nvPr/>
        </p:nvSpPr>
        <p:spPr>
          <a:xfrm>
            <a:off x="10835640" y="458114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~10/wk</a:t>
            </a:r>
            <a:endParaRPr lang="en-US" sz="750" dirty="0"/>
          </a:p>
        </p:txBody>
      </p:sp>
      <p:sp>
        <p:nvSpPr>
          <p:cNvPr id="223" name="Text 221"/>
          <p:cNvSpPr txBox="1"/>
          <p:nvPr/>
        </p:nvSpPr>
        <p:spPr>
          <a:xfrm>
            <a:off x="8275320" y="4773168"/>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Youssef Medhat</a:t>
            </a:r>
            <a:endParaRPr lang="en-US" sz="750" dirty="0"/>
          </a:p>
        </p:txBody>
      </p:sp>
      <p:sp>
        <p:nvSpPr>
          <p:cNvPr id="224" name="Text 222"/>
          <p:cNvSpPr txBox="1"/>
          <p:nvPr/>
        </p:nvSpPr>
        <p:spPr>
          <a:xfrm>
            <a:off x="10058400" y="4773168"/>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a:t>
            </a:r>
            <a:endParaRPr lang="en-US" sz="680" dirty="0"/>
          </a:p>
        </p:txBody>
      </p:sp>
      <p:sp>
        <p:nvSpPr>
          <p:cNvPr id="225" name="Text 223"/>
          <p:cNvSpPr txBox="1"/>
          <p:nvPr/>
        </p:nvSpPr>
        <p:spPr>
          <a:xfrm>
            <a:off x="10835640" y="477316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~7/wk</a:t>
            </a:r>
            <a:endParaRPr lang="en-US" sz="750" dirty="0"/>
          </a:p>
        </p:txBody>
      </p:sp>
      <p:sp>
        <p:nvSpPr>
          <p:cNvPr id="226" name="Text 224"/>
          <p:cNvSpPr txBox="1"/>
          <p:nvPr/>
        </p:nvSpPr>
        <p:spPr>
          <a:xfrm>
            <a:off x="8275320" y="4965192"/>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Isayah Kuhlmann</a:t>
            </a:r>
            <a:endParaRPr lang="en-US" sz="750" dirty="0"/>
          </a:p>
        </p:txBody>
      </p:sp>
      <p:sp>
        <p:nvSpPr>
          <p:cNvPr id="227" name="Text 225"/>
          <p:cNvSpPr txBox="1"/>
          <p:nvPr/>
        </p:nvSpPr>
        <p:spPr>
          <a:xfrm>
            <a:off x="10058400" y="4965192"/>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28" name="Text 226"/>
          <p:cNvSpPr txBox="1"/>
          <p:nvPr/>
        </p:nvSpPr>
        <p:spPr>
          <a:xfrm>
            <a:off x="10835640" y="496519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~7/wk</a:t>
            </a:r>
            <a:endParaRPr lang="en-US" sz="750" dirty="0"/>
          </a:p>
        </p:txBody>
      </p:sp>
      <p:sp>
        <p:nvSpPr>
          <p:cNvPr id="229" name="Text 227"/>
          <p:cNvSpPr txBox="1"/>
          <p:nvPr/>
        </p:nvSpPr>
        <p:spPr>
          <a:xfrm>
            <a:off x="8275320" y="5321808"/>
            <a:ext cx="3319272" cy="237744"/>
          </a:xfrm>
          <a:prstGeom prst="rect">
            <a:avLst/>
          </a:prstGeom>
          <a:noFill/>
          <a:ln/>
        </p:spPr>
        <p:txBody>
          <a:bodyPr wrap="square" lIns="0" tIns="0" rIns="0" bIns="0" rtlCol="0" anchor="t"/>
          <a:lstStyle/>
          <a:p>
            <a:pPr indent="0" marL="0">
              <a:buNone/>
            </a:pPr>
            <a:r>
              <a:rPr lang="en-US" sz="600" dirty="0">
                <a:solidFill>
                  <a:srgbClr val="8FA1AC"/>
                </a:solidFill>
                <a:latin typeface="Poppins" pitchFamily="34" charset="0"/>
                <a:ea typeface="Poppins" pitchFamily="34" charset="-122"/>
                <a:cs typeface="Poppins" pitchFamily="34" charset="-120"/>
              </a:rPr>
              <a:t>rate = 30-day sessions ÷ 4.3 · arrow = change vs last capture · — = first capture</a:t>
            </a:r>
            <a:endParaRPr lang="en-US" sz="600" dirty="0"/>
          </a:p>
        </p:txBody>
      </p:sp>
      <p:sp>
        <p:nvSpPr>
          <p:cNvPr id="230" name="Shape 228"/>
          <p:cNvSpPr/>
          <p:nvPr/>
        </p:nvSpPr>
        <p:spPr>
          <a:xfrm>
            <a:off x="411480" y="5669280"/>
            <a:ext cx="11365992" cy="786384"/>
          </a:xfrm>
          <a:prstGeom prst="roundRect">
            <a:avLst>
              <a:gd name="adj" fmla="val 8140"/>
            </a:avLst>
          </a:prstGeom>
          <a:solidFill>
            <a:srgbClr val="FFFFFF"/>
          </a:solidFill>
          <a:ln/>
          <a:effectLst>
            <a:outerShdw sx="100000" sy="100000" kx="0" ky="0" algn="bl" rotWithShape="0" blurRad="76200" dist="25400" dir="5400000">
              <a:srgbClr val="9AAAB5">
                <a:alpha val="35000"/>
              </a:srgbClr>
            </a:outerShdw>
          </a:effectLst>
        </p:spPr>
      </p:sp>
      <p:sp>
        <p:nvSpPr>
          <p:cNvPr id="231" name="Text 229"/>
          <p:cNvSpPr txBox="1"/>
          <p:nvPr/>
        </p:nvSpPr>
        <p:spPr>
          <a:xfrm>
            <a:off x="612648" y="5779008"/>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232" name="Text 230"/>
          <p:cNvSpPr txBox="1"/>
          <p:nvPr/>
        </p:nvSpPr>
        <p:spPr>
          <a:xfrm>
            <a:off x="612648" y="6089904"/>
            <a:ext cx="10954512" cy="237744"/>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37 of 47 active weekly (10 daily)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 Cowork is the stickiest surface at 23% DAU/MAU against Claude Code's 12%. September code output stands at 277,261 lines, 176,102 of them since the 20 Sep capture, with Nicolas Ibrahim on 99,693 alone. Bjorn Magabo alone logged 1,050 Cowork sessions in 30 days against 1,126 messages — roughly one message per session, so read it as very short repeated sessions, not depth of use.</a:t>
            </a:r>
            <a:endParaRPr lang="en-US" sz="900" dirty="0"/>
          </a:p>
        </p:txBody>
      </p:sp>
      <p:sp>
        <p:nvSpPr>
          <p:cNvPr id="233" name="Shape 231"/>
          <p:cNvSpPr/>
          <p:nvPr/>
        </p:nvSpPr>
        <p:spPr>
          <a:xfrm>
            <a:off x="8332013" y="6510528"/>
            <a:ext cx="3445459" cy="256032"/>
          </a:xfrm>
          <a:prstGeom prst="roundRect">
            <a:avLst>
              <a:gd name="adj" fmla="val 46429"/>
            </a:avLst>
          </a:prstGeom>
          <a:solidFill>
            <a:srgbClr val="12293A"/>
          </a:solidFill>
          <a:ln/>
        </p:spPr>
      </p:sp>
      <p:sp>
        <p:nvSpPr>
          <p:cNvPr id="234" name="Text 232"/>
          <p:cNvSpPr txBox="1"/>
          <p:nvPr/>
        </p:nvSpPr>
        <p:spPr>
          <a:xfrm>
            <a:off x="8332013" y="6510528"/>
            <a:ext cx="3445459"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Claude Admin weekly capture (30d to 27 Sep)</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Projects — Portfolio Status</a:t>
            </a:r>
            <a:endParaRPr lang="en-US" sz="2300" dirty="0"/>
          </a:p>
        </p:txBody>
      </p:sp>
      <p:sp>
        <p:nvSpPr>
          <p:cNvPr id="6" name="Shape 4"/>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7" name="Text 5"/>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8" name="Shape 6"/>
          <p:cNvSpPr/>
          <p:nvPr/>
        </p:nvSpPr>
        <p:spPr>
          <a:xfrm>
            <a:off x="10872216" y="0"/>
            <a:ext cx="841248" cy="841248"/>
          </a:xfrm>
          <a:prstGeom prst="ellipse">
            <a:avLst/>
          </a:prstGeom>
          <a:solidFill>
            <a:srgbClr val="1C5765"/>
          </a:solidFill>
          <a:ln/>
        </p:spPr>
      </p:sp>
      <p:sp>
        <p:nvSpPr>
          <p:cNvPr id="9" name="Shape 7"/>
          <p:cNvSpPr/>
          <p:nvPr/>
        </p:nvSpPr>
        <p:spPr>
          <a:xfrm>
            <a:off x="10968228" y="96012"/>
            <a:ext cx="649224" cy="649224"/>
          </a:xfrm>
          <a:prstGeom prst="ellipse">
            <a:avLst/>
          </a:prstGeom>
          <a:solidFill>
            <a:srgbClr val="2C8394"/>
          </a:solidFill>
          <a:ln/>
        </p:spPr>
      </p:sp>
      <p:sp>
        <p:nvSpPr>
          <p:cNvPr id="10" name="Shape 8"/>
          <p:cNvSpPr/>
          <p:nvPr/>
        </p:nvSpPr>
        <p:spPr>
          <a:xfrm>
            <a:off x="11064240" y="192024"/>
            <a:ext cx="457200" cy="457200"/>
          </a:xfrm>
          <a:prstGeom prst="ellipse">
            <a:avLst/>
          </a:prstGeom>
          <a:solidFill>
            <a:srgbClr val="6FAEBB"/>
          </a:solidFill>
          <a:ln/>
        </p:spPr>
      </p:sp>
      <p:sp>
        <p:nvSpPr>
          <p:cNvPr id="11" name="Shape 9"/>
          <p:cNvSpPr/>
          <p:nvPr/>
        </p:nvSpPr>
        <p:spPr>
          <a:xfrm>
            <a:off x="11160252" y="288036"/>
            <a:ext cx="265176" cy="265176"/>
          </a:xfrm>
          <a:prstGeom prst="ellipse">
            <a:avLst/>
          </a:prstGeom>
          <a:solidFill>
            <a:srgbClr val="E4F1F4"/>
          </a:solidFill>
          <a:ln/>
        </p:spPr>
      </p:sp>
      <p:sp>
        <p:nvSpPr>
          <p:cNvPr id="12" name="Text 10"/>
          <p:cNvSpPr txBox="1"/>
          <p:nvPr/>
        </p:nvSpPr>
        <p:spPr>
          <a:xfrm>
            <a:off x="7772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PROJECT</a:t>
            </a:r>
            <a:endParaRPr lang="en-US" sz="900" dirty="0"/>
          </a:p>
        </p:txBody>
      </p:sp>
      <p:sp>
        <p:nvSpPr>
          <p:cNvPr id="13" name="Text 11"/>
          <p:cNvSpPr txBox="1"/>
          <p:nvPr/>
        </p:nvSpPr>
        <p:spPr>
          <a:xfrm>
            <a:off x="452628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STATUS</a:t>
            </a:r>
            <a:endParaRPr lang="en-US" sz="900" dirty="0"/>
          </a:p>
        </p:txBody>
      </p:sp>
      <p:sp>
        <p:nvSpPr>
          <p:cNvPr id="14" name="Text 12"/>
          <p:cNvSpPr txBox="1"/>
          <p:nvPr/>
        </p:nvSpPr>
        <p:spPr>
          <a:xfrm>
            <a:off x="58064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CURRENT STATE</a:t>
            </a:r>
            <a:endParaRPr lang="en-US" sz="900" dirty="0"/>
          </a:p>
        </p:txBody>
      </p:sp>
      <p:sp>
        <p:nvSpPr>
          <p:cNvPr id="15" name="Text 13"/>
          <p:cNvSpPr txBox="1"/>
          <p:nvPr/>
        </p:nvSpPr>
        <p:spPr>
          <a:xfrm>
            <a:off x="891540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ROADBLOCK</a:t>
            </a:r>
            <a:endParaRPr lang="en-US" sz="900" dirty="0"/>
          </a:p>
        </p:txBody>
      </p:sp>
      <p:sp>
        <p:nvSpPr>
          <p:cNvPr id="16" name="Shape 14"/>
          <p:cNvSpPr/>
          <p:nvPr/>
        </p:nvSpPr>
        <p:spPr>
          <a:xfrm>
            <a:off x="548640" y="1298448"/>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777240" y="1408176"/>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HubSpot Migration</a:t>
            </a:r>
            <a:endParaRPr lang="en-US" sz="1300" dirty="0"/>
          </a:p>
        </p:txBody>
      </p:sp>
      <p:sp>
        <p:nvSpPr>
          <p:cNvPr id="18" name="Text 16"/>
          <p:cNvSpPr txBox="1"/>
          <p:nvPr/>
        </p:nvSpPr>
        <p:spPr>
          <a:xfrm>
            <a:off x="777240" y="1755648"/>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Shipped · live 2026-09-08</a:t>
            </a:r>
            <a:endParaRPr lang="en-US" sz="850" dirty="0"/>
          </a:p>
        </p:txBody>
      </p:sp>
      <p:sp>
        <p:nvSpPr>
          <p:cNvPr id="19" name="Text 17"/>
          <p:cNvSpPr txBox="1"/>
          <p:nvPr/>
        </p:nvSpPr>
        <p:spPr>
          <a:xfrm>
            <a:off x="777240" y="2048256"/>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20" name="Shape 18"/>
          <p:cNvSpPr/>
          <p:nvPr/>
        </p:nvSpPr>
        <p:spPr>
          <a:xfrm>
            <a:off x="4526280" y="1591056"/>
            <a:ext cx="1143000" cy="292608"/>
          </a:xfrm>
          <a:prstGeom prst="roundRect">
            <a:avLst>
              <a:gd name="adj" fmla="val 50000"/>
            </a:avLst>
          </a:prstGeom>
          <a:solidFill>
            <a:srgbClr val="2C8394"/>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526280" y="1591056"/>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DONE</a:t>
            </a:r>
            <a:endParaRPr lang="en-US" sz="850" dirty="0"/>
          </a:p>
        </p:txBody>
      </p:sp>
      <p:sp>
        <p:nvSpPr>
          <p:cNvPr id="22" name="Text 20"/>
          <p:cNvSpPr txBox="1"/>
          <p:nvPr/>
        </p:nvSpPr>
        <p:spPr>
          <a:xfrm>
            <a:off x="5806440" y="1408176"/>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complete</a:t>
            </a:r>
            <a:endParaRPr lang="en-US" sz="850" dirty="0"/>
          </a:p>
        </p:txBody>
      </p:sp>
      <p:sp>
        <p:nvSpPr>
          <p:cNvPr id="23" name="Text 21"/>
          <p:cNvSpPr txBox="1"/>
          <p:nvPr/>
        </p:nvSpPr>
        <p:spPr>
          <a:xfrm>
            <a:off x="8915400" y="1408176"/>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24" name="Shape 22"/>
          <p:cNvSpPr/>
          <p:nvPr/>
        </p:nvSpPr>
        <p:spPr>
          <a:xfrm>
            <a:off x="548640" y="2542032"/>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777240" y="2651760"/>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AI Support Agents — Email + Voice</a:t>
            </a:r>
            <a:endParaRPr lang="en-US" sz="1300" dirty="0"/>
          </a:p>
        </p:txBody>
      </p:sp>
      <p:sp>
        <p:nvSpPr>
          <p:cNvPr id="26" name="Text 24"/>
          <p:cNvSpPr txBox="1"/>
          <p:nvPr/>
        </p:nvSpPr>
        <p:spPr>
          <a:xfrm>
            <a:off x="777240" y="2999232"/>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Rollout</a:t>
            </a:r>
            <a:endParaRPr lang="en-US" sz="850" dirty="0"/>
          </a:p>
        </p:txBody>
      </p:sp>
      <p:sp>
        <p:nvSpPr>
          <p:cNvPr id="27" name="Text 25"/>
          <p:cNvSpPr txBox="1"/>
          <p:nvPr/>
        </p:nvSpPr>
        <p:spPr>
          <a:xfrm>
            <a:off x="777240" y="3291840"/>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 / Nicolas Ibrahim</a:t>
            </a:r>
            <a:endParaRPr lang="en-US" sz="800" dirty="0"/>
          </a:p>
        </p:txBody>
      </p:sp>
      <p:sp>
        <p:nvSpPr>
          <p:cNvPr id="28" name="Shape 26"/>
          <p:cNvSpPr/>
          <p:nvPr/>
        </p:nvSpPr>
        <p:spPr>
          <a:xfrm>
            <a:off x="4526280" y="2834640"/>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29" name="Text 27"/>
          <p:cNvSpPr txBox="1"/>
          <p:nvPr/>
        </p:nvSpPr>
        <p:spPr>
          <a:xfrm>
            <a:off x="4526280" y="2834640"/>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0" name="Text 28"/>
          <p:cNvSpPr txBox="1"/>
          <p:nvPr/>
        </p:nvSpPr>
        <p:spPr>
          <a:xfrm>
            <a:off x="5806440" y="2651760"/>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Live in HubSpot with drafts and voice triage handover, Autonomous launching on Sysnet and Exceed and gates will start to open progressively.</a:t>
            </a:r>
            <a:endParaRPr lang="en-US" sz="850" dirty="0"/>
          </a:p>
        </p:txBody>
      </p:sp>
      <p:sp>
        <p:nvSpPr>
          <p:cNvPr id="31" name="Text 29"/>
          <p:cNvSpPr txBox="1"/>
          <p:nvPr/>
        </p:nvSpPr>
        <p:spPr>
          <a:xfrm>
            <a:off x="8915400" y="2651760"/>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 – just cautiously rolling out.</a:t>
            </a:r>
            <a:endParaRPr lang="en-US" sz="800" dirty="0"/>
          </a:p>
        </p:txBody>
      </p:sp>
      <p:sp>
        <p:nvSpPr>
          <p:cNvPr id="32" name="Shape 30"/>
          <p:cNvSpPr/>
          <p:nvPr/>
        </p:nvSpPr>
        <p:spPr>
          <a:xfrm>
            <a:off x="548640" y="3785616"/>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33" name="Text 31"/>
          <p:cNvSpPr txBox="1"/>
          <p:nvPr/>
        </p:nvSpPr>
        <p:spPr>
          <a:xfrm>
            <a:off x="777240" y="3895344"/>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Leadership Reporting &amp; Hosting</a:t>
            </a:r>
            <a:endParaRPr lang="en-US" sz="1300" dirty="0"/>
          </a:p>
        </p:txBody>
      </p:sp>
      <p:sp>
        <p:nvSpPr>
          <p:cNvPr id="34" name="Text 32"/>
          <p:cNvSpPr txBox="1"/>
          <p:nvPr/>
        </p:nvSpPr>
        <p:spPr>
          <a:xfrm>
            <a:off x="777240" y="4242816"/>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a:t>
            </a:r>
            <a:endParaRPr lang="en-US" sz="850" dirty="0"/>
          </a:p>
        </p:txBody>
      </p:sp>
      <p:sp>
        <p:nvSpPr>
          <p:cNvPr id="35" name="Text 33"/>
          <p:cNvSpPr txBox="1"/>
          <p:nvPr/>
        </p:nvSpPr>
        <p:spPr>
          <a:xfrm>
            <a:off x="777240" y="4535424"/>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36" name="Shape 34"/>
          <p:cNvSpPr/>
          <p:nvPr/>
        </p:nvSpPr>
        <p:spPr>
          <a:xfrm>
            <a:off x="4526280" y="4078224"/>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37" name="Text 35"/>
          <p:cNvSpPr txBox="1"/>
          <p:nvPr/>
        </p:nvSpPr>
        <p:spPr>
          <a:xfrm>
            <a:off x="4526280" y="4078224"/>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8" name="Text 36"/>
          <p:cNvSpPr txBox="1"/>
          <p:nvPr/>
        </p:nvSpPr>
        <p:spPr>
          <a:xfrm>
            <a:off x="5806440" y="3895344"/>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is still ongoing but on track for 30 September</a:t>
            </a:r>
            <a:endParaRPr lang="en-US" sz="850" dirty="0"/>
          </a:p>
        </p:txBody>
      </p:sp>
      <p:sp>
        <p:nvSpPr>
          <p:cNvPr id="39" name="Text 37"/>
          <p:cNvSpPr txBox="1"/>
          <p:nvPr/>
        </p:nvSpPr>
        <p:spPr>
          <a:xfrm>
            <a:off x="8915400" y="3895344"/>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Time to build out reporting. The reporting scope from Anicca was limited.</a:t>
            </a:r>
            <a:endParaRPr lang="en-US" sz="800" dirty="0"/>
          </a:p>
        </p:txBody>
      </p:sp>
      <p:sp>
        <p:nvSpPr>
          <p:cNvPr id="40" name="Shape 38"/>
          <p:cNvSpPr/>
          <p:nvPr/>
        </p:nvSpPr>
        <p:spPr>
          <a:xfrm>
            <a:off x="548640" y="5029200"/>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41" name="Text 39"/>
          <p:cNvSpPr txBox="1"/>
          <p:nvPr/>
        </p:nvSpPr>
        <p:spPr>
          <a:xfrm>
            <a:off x="777240" y="5138928"/>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ALH RFP</a:t>
            </a:r>
            <a:endParaRPr lang="en-US" sz="1300" dirty="0"/>
          </a:p>
        </p:txBody>
      </p:sp>
      <p:sp>
        <p:nvSpPr>
          <p:cNvPr id="42" name="Text 40"/>
          <p:cNvSpPr txBox="1"/>
          <p:nvPr/>
        </p:nvSpPr>
        <p:spPr>
          <a:xfrm>
            <a:off x="777240" y="5486400"/>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Response</a:t>
            </a:r>
            <a:endParaRPr lang="en-US" sz="850" dirty="0"/>
          </a:p>
        </p:txBody>
      </p:sp>
      <p:sp>
        <p:nvSpPr>
          <p:cNvPr id="43" name="Text 41"/>
          <p:cNvSpPr txBox="1"/>
          <p:nvPr/>
        </p:nvSpPr>
        <p:spPr>
          <a:xfrm>
            <a:off x="777240" y="5779008"/>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Luke Plunkett</a:t>
            </a:r>
            <a:endParaRPr lang="en-US" sz="800" dirty="0"/>
          </a:p>
        </p:txBody>
      </p:sp>
      <p:sp>
        <p:nvSpPr>
          <p:cNvPr id="44" name="Shape 42"/>
          <p:cNvSpPr/>
          <p:nvPr/>
        </p:nvSpPr>
        <p:spPr>
          <a:xfrm>
            <a:off x="4526280" y="5321808"/>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4526280" y="5321808"/>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46" name="Text 44"/>
          <p:cNvSpPr txBox="1"/>
          <p:nvPr/>
        </p:nvSpPr>
        <p:spPr>
          <a:xfrm>
            <a:off x="5806440" y="5138928"/>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Waiting on outcome.</a:t>
            </a:r>
            <a:endParaRPr lang="en-US" sz="850" dirty="0"/>
          </a:p>
        </p:txBody>
      </p:sp>
      <p:sp>
        <p:nvSpPr>
          <p:cNvPr id="47" name="Text 45"/>
          <p:cNvSpPr txBox="1"/>
          <p:nvPr/>
        </p:nvSpPr>
        <p:spPr>
          <a:xfrm>
            <a:off x="8915400" y="5138928"/>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48" name="Text 46"/>
          <p:cNvSpPr txBox="1"/>
          <p:nvPr/>
        </p:nvSpPr>
        <p:spPr>
          <a:xfrm>
            <a:off x="411480" y="6400800"/>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Current state = next action from the weekly meeting record · roadblock = flagged risks · Operating Model Update not yet a tracked project — add it to the record to appear here.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2026-09-28T11:49:57Z</dcterms:created>
  <dcterms:modified xsi:type="dcterms:W3CDTF">2026-09-28T11:49:57Z</dcterms:modified>
</cp:coreProperties>
</file>