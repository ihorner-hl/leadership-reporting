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188</c:v>
                </c:pt>
                <c:pt idx="1">
                  <c:v>472</c:v>
                </c:pt>
                <c:pt idx="2">
                  <c:v>16627</c:v>
                </c:pt>
                <c:pt idx="3">
                  <c:v>3799</c:v>
                </c:pt>
                <c:pt idx="4">
                  <c:v>6312</c:v>
                </c:pt>
                <c:pt idx="5">
                  <c:v>17288</c:v>
                </c:pt>
                <c:pt idx="6">
                  <c:v>969</c:v>
                </c:pt>
                <c:pt idx="7">
                  <c:v>2685</c:v>
                </c:pt>
                <c:pt idx="8">
                  <c:v>8407</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2829</c:v>
                </c:pt>
                <c:pt idx="1">
                  <c:v>5205</c:v>
                </c:pt>
                <c:pt idx="2">
                  <c:v>5883</c:v>
                </c:pt>
                <c:pt idx="3">
                  <c:v>3463</c:v>
                </c:pt>
                <c:pt idx="4">
                  <c:v>5482</c:v>
                </c:pt>
                <c:pt idx="5">
                  <c:v>7087</c:v>
                </c:pt>
                <c:pt idx="6">
                  <c:v>4860</c:v>
                </c:pt>
                <c:pt idx="7">
                  <c:v>3700</c:v>
                </c:pt>
                <c:pt idx="8">
                  <c:v>6567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Sheet1!$B$2:$B$6</c:f>
              <c:numCache>
                <c:formatCode>General</c:formatCode>
                <c:ptCount val="5"/>
                <c:pt idx="0">
                  <c:v>159</c:v>
                </c:pt>
                <c:pt idx="1">
                  <c:v>255</c:v>
                </c:pt>
                <c:pt idx="2">
                  <c:v>172</c:v>
                </c:pt>
                <c:pt idx="3">
                  <c:v>164</c:v>
                </c:pt>
                <c:pt idx="4">
                  <c:v>151</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Sheet1!$C$2:$C$6</c:f>
              <c:numCache>
                <c:formatCode>General</c:formatCode>
                <c:ptCount val="5"/>
                <c:pt idx="0">
                  <c:v>217</c:v>
                </c:pt>
                <c:pt idx="1">
                  <c:v>228</c:v>
                </c:pt>
                <c:pt idx="2">
                  <c:v>270</c:v>
                </c:pt>
                <c:pt idx="3">
                  <c:v>299</c:v>
                </c:pt>
                <c:pt idx="4">
                  <c:v>297</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Sheet1!$D$2:$D$6</c:f>
              <c:numCache>
                <c:formatCode>General</c:formatCode>
                <c:ptCount val="5"/>
                <c:pt idx="0">
                  <c:v>237</c:v>
                </c:pt>
                <c:pt idx="1">
                  <c:v>85</c:v>
                </c:pt>
                <c:pt idx="2">
                  <c:v>90</c:v>
                </c:pt>
                <c:pt idx="3">
                  <c:v>111</c:v>
                </c:pt>
                <c:pt idx="4">
                  <c:v>79</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Sheet1!$E$2:$E$6</c:f>
              <c:numCache>
                <c:formatCode>General</c:formatCode>
                <c:ptCount val="5"/>
                <c:pt idx="0">
                  <c:v>73</c:v>
                </c:pt>
                <c:pt idx="1">
                  <c:v>57</c:v>
                </c:pt>
                <c:pt idx="2">
                  <c:v>52</c:v>
                </c:pt>
                <c:pt idx="3">
                  <c:v>58</c:v>
                </c:pt>
                <c:pt idx="4">
                  <c:v>59</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Sheet1!$B$2:$B$4</c:f>
              <c:numCache>
                <c:formatCode>General</c:formatCode>
                <c:ptCount val="3"/>
                <c:pt idx="0">
                  <c:v>236</c:v>
                </c:pt>
                <c:pt idx="1">
                  <c:v>184</c:v>
                </c:pt>
                <c:pt idx="2">
                  <c:v>194</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Sheet1!$C$2:$C$4</c:f>
              <c:numCache>
                <c:formatCode>General</c:formatCode>
                <c:ptCount val="3"/>
                <c:pt idx="0">
                  <c:v>259</c:v>
                </c:pt>
                <c:pt idx="1">
                  <c:v>249</c:v>
                </c:pt>
                <c:pt idx="2">
                  <c:v>302</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Sheet1!$D$2:$D$4</c:f>
              <c:numCache>
                <c:formatCode>General</c:formatCode>
                <c:ptCount val="3"/>
                <c:pt idx="0">
                  <c:v>151</c:v>
                </c:pt>
                <c:pt idx="1">
                  <c:v>132</c:v>
                </c:pt>
                <c:pt idx="2">
                  <c:v>168</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Sheet1!$E$2:$E$4</c:f>
              <c:numCache>
                <c:formatCode>General</c:formatCode>
                <c:ptCount val="3"/>
                <c:pt idx="0">
                  <c:v>35</c:v>
                </c:pt>
                <c:pt idx="1">
                  <c:v>10</c:v>
                </c:pt>
                <c:pt idx="2">
                  <c:v>11</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1"/>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21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28 Sep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POST-CUTOVER — WEEK 3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hardware $526k = 74% of $715k vs 97% pace; this week +$116k gross (HW discounts −$8k) — Solotel Corporate is $102k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closed-won this week 34 deals · $131k (HubSpot); net new MRR +$1.2k in the week (+$1.7k new, −$0.5k churn) · Q3 $15.1k = 54% of OKR2</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6.1% — 20.75h billed of 342h available, time logging reaching 17% of PS items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498 vs resolved 420 — backlog 675 and rising for the first time since cutover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2.9% this week (2 of 68) — 1 sent as-is, 1 edited, 1 rejected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$15k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+$1,204 net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2271370" cy="100584"/>
          </a:xfrm>
          <a:prstGeom prst="roundRect">
            <a:avLst>
              <a:gd name="adj" fmla="val 45455"/>
            </a:avLst>
          </a:prstGeom>
          <a:solidFill>
            <a:srgbClr val="B4552D"/>
          </a:solidFill>
          <a:ln/>
        </p:spPr>
      </p:sp>
      <p:sp>
        <p:nvSpPr>
          <p:cNvPr id="19" name="Shape 17"/>
          <p:cNvSpPr/>
          <p:nvPr/>
        </p:nvSpPr>
        <p:spPr>
          <a:xfrm>
            <a:off x="466435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54%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+$116k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49822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(97%)</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27 Sep</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488290" cy="100584"/>
          </a:xfrm>
          <a:prstGeom prst="roundRect">
            <a:avLst>
              <a:gd name="adj" fmla="val 45455"/>
            </a:avLst>
          </a:prstGeom>
          <a:solidFill>
            <a:srgbClr val="B4552D"/>
          </a:solidFill>
          <a:ln/>
        </p:spPr>
      </p:sp>
      <p:sp>
        <p:nvSpPr>
          <p:cNvPr id="48" name="Shape 46"/>
          <p:cNvSpPr/>
          <p:nvPr/>
        </p:nvSpPr>
        <p:spPr>
          <a:xfrm>
            <a:off x="3603650"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209763" cy="100584"/>
          </a:xfrm>
          <a:prstGeom prst="roundRect">
            <a:avLst>
              <a:gd name="adj" fmla="val 45455"/>
            </a:avLst>
          </a:prstGeom>
          <a:solidFill>
            <a:srgbClr val="B4552D"/>
          </a:solidFill>
          <a:ln/>
        </p:spPr>
      </p:sp>
      <p:sp>
        <p:nvSpPr>
          <p:cNvPr id="55" name="Shape 53"/>
          <p:cNvSpPr/>
          <p:nvPr/>
        </p:nvSpPr>
        <p:spPr>
          <a:xfrm>
            <a:off x="6419454"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+405</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444398" cy="100584"/>
          </a:xfrm>
          <a:prstGeom prst="roundRect">
            <a:avLst>
              <a:gd name="adj" fmla="val 45455"/>
            </a:avLst>
          </a:prstGeom>
          <a:solidFill>
            <a:srgbClr val="B4552D"/>
          </a:solidFill>
          <a:ln/>
        </p:spPr>
      </p:sp>
      <p:sp>
        <p:nvSpPr>
          <p:cNvPr id="64" name="Shape 62"/>
          <p:cNvSpPr/>
          <p:nvPr/>
        </p:nvSpPr>
        <p:spPr>
          <a:xfrm>
            <a:off x="3603650"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81%</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+246</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345826" cy="100584"/>
          </a:xfrm>
          <a:prstGeom prst="roundRect">
            <a:avLst>
              <a:gd name="adj" fmla="val 45455"/>
            </a:avLst>
          </a:prstGeom>
          <a:solidFill>
            <a:srgbClr val="B4552D"/>
          </a:solidFill>
          <a:ln/>
        </p:spPr>
      </p:sp>
      <p:sp>
        <p:nvSpPr>
          <p:cNvPr id="71" name="Shape 69"/>
          <p:cNvSpPr/>
          <p:nvPr/>
        </p:nvSpPr>
        <p:spPr>
          <a:xfrm>
            <a:off x="6419454"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+9k</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268834" cy="100584"/>
          </a:xfrm>
          <a:prstGeom prst="roundRect">
            <a:avLst>
              <a:gd name="adj" fmla="val 45455"/>
            </a:avLst>
          </a:prstGeom>
          <a:solidFill>
            <a:srgbClr val="B4552D"/>
          </a:solidFill>
          <a:ln/>
        </p:spPr>
      </p:sp>
      <p:sp>
        <p:nvSpPr>
          <p:cNvPr id="80" name="Shape 78"/>
          <p:cNvSpPr/>
          <p:nvPr/>
        </p:nvSpPr>
        <p:spPr>
          <a:xfrm>
            <a:off x="3603650"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49%</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187086" cy="100584"/>
          </a:xfrm>
          <a:prstGeom prst="roundRect">
            <a:avLst>
              <a:gd name="adj" fmla="val 45455"/>
            </a:avLst>
          </a:prstGeom>
          <a:solidFill>
            <a:srgbClr val="B4552D"/>
          </a:solidFill>
          <a:ln/>
        </p:spPr>
      </p:sp>
      <p:sp>
        <p:nvSpPr>
          <p:cNvPr id="87" name="Shape 85"/>
          <p:cNvSpPr/>
          <p:nvPr/>
        </p:nvSpPr>
        <p:spPr>
          <a:xfrm>
            <a:off x="6419454"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356616" cy="100584"/>
          </a:xfrm>
          <a:prstGeom prst="roundRect">
            <a:avLst>
              <a:gd name="adj" fmla="val 45455"/>
            </a:avLst>
          </a:prstGeom>
          <a:solidFill>
            <a:srgbClr val="B4552D"/>
          </a:solidFill>
          <a:ln/>
        </p:spPr>
      </p:sp>
      <p:sp>
        <p:nvSpPr>
          <p:cNvPr id="96" name="Shape 94"/>
          <p:cNvSpPr/>
          <p:nvPr/>
        </p:nvSpPr>
        <p:spPr>
          <a:xfrm>
            <a:off x="3603650"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65%</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+899</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566928" cy="100584"/>
          </a:xfrm>
          <a:prstGeom prst="roundRect">
            <a:avLst>
              <a:gd name="adj" fmla="val 45455"/>
            </a:avLst>
          </a:prstGeom>
          <a:solidFill>
            <a:srgbClr val="B4552D"/>
          </a:solidFill>
          <a:ln/>
        </p:spPr>
      </p:sp>
      <p:sp>
        <p:nvSpPr>
          <p:cNvPr id="103" name="Shape 101"/>
          <p:cNvSpPr/>
          <p:nvPr/>
        </p:nvSpPr>
        <p:spPr>
          <a:xfrm>
            <a:off x="6419454"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$264</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71323" cy="100584"/>
          </a:xfrm>
          <a:prstGeom prst="roundRect">
            <a:avLst>
              <a:gd name="adj" fmla="val 64103"/>
            </a:avLst>
          </a:prstGeom>
          <a:solidFill>
            <a:srgbClr val="B4552D"/>
          </a:solidFill>
          <a:ln/>
        </p:spPr>
      </p:sp>
      <p:sp>
        <p:nvSpPr>
          <p:cNvPr id="112" name="Shape 110"/>
          <p:cNvSpPr/>
          <p:nvPr/>
        </p:nvSpPr>
        <p:spPr>
          <a:xfrm>
            <a:off x="3603650"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+59</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147401" cy="100584"/>
          </a:xfrm>
          <a:prstGeom prst="roundRect">
            <a:avLst>
              <a:gd name="adj" fmla="val 45455"/>
            </a:avLst>
          </a:prstGeom>
          <a:solidFill>
            <a:srgbClr val="B4552D"/>
          </a:solidFill>
          <a:ln/>
        </p:spPr>
      </p:sp>
      <p:sp>
        <p:nvSpPr>
          <p:cNvPr id="119" name="Shape 117"/>
          <p:cNvSpPr/>
          <p:nvPr/>
        </p:nvSpPr>
        <p:spPr>
          <a:xfrm>
            <a:off x="6419454"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603650"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$40</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603650"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$15k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+1,204</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+116k</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27 Sep) · H&amp;L Pay net new $1,770/mo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is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a 97% pace mark. The 21–27 Sep 2026 extract added $116k gross — the biggest week of the quarter — but $102k of it is one Corporate account (Solotel) booked to Jasmine, who jumps to 115% of target.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Discounts eased in proportion: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hardware discounts ran -$8.4k on $115.6k gross (7%) against -$10.2k on $37.6k (27%) last week. Net hardware for the week is $107.2k.</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Net new MRR moved +$1,204 in the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Q3 stands at $15,126 — 54% of the $28k OKR2 against a 97% pace mark. New MRR added $1,659 (BRG Granville Tavern $899, Hallmark Coyote's Roadhouse $701, CSHG Walker Baker Evans $59); The Jungle Tingalpa churned $455, so net movement is +$1,204.</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day 89 of 92 in Q3 (Jul–Sep) at week end 27 Sep.</a:t>
            </a:r>
            <a:endParaRPr lang="en-US" sz="900" dirty="0"/>
          </a:p>
        </p:txBody>
      </p:sp>
      <p:sp>
        <p:nvSpPr>
          <p:cNvPr id="161" name="Shape 159"/>
          <p:cNvSpPr/>
          <p:nvPr/>
        </p:nvSpPr>
        <p:spPr>
          <a:xfrm>
            <a:off x="7088429" y="6510528"/>
            <a:ext cx="4689043" cy="256032"/>
          </a:xfrm>
          <a:prstGeom prst="roundRect">
            <a:avLst>
              <a:gd name="adj" fmla="val 46429"/>
            </a:avLst>
          </a:prstGeom>
          <a:solidFill>
            <a:srgbClr val="12293A"/>
          </a:solidFill>
          <a:ln/>
        </p:spPr>
      </p:sp>
      <p:sp>
        <p:nvSpPr>
          <p:cNvPr id="162" name="Text 160"/>
          <p:cNvSpPr txBox="1"/>
          <p:nvPr/>
        </p:nvSpPr>
        <p:spPr>
          <a:xfrm>
            <a:off x="7088429" y="6510528"/>
            <a:ext cx="468904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21–27 Sep + MRR movement register (live, 28 Sep)</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US$221</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A$310 · 6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67%</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6 placed / 3 lost by count · 46%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47054"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US$1,297</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21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083486"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US$721</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638222"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US$221</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7432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406736" cy="164592"/>
          </a:xfrm>
          <a:prstGeom prst="rect">
            <a:avLst/>
          </a:prstGeom>
          <a:solidFill>
            <a:srgbClr val="3D8F5F"/>
          </a:solidFill>
          <a:ln/>
        </p:spPr>
      </p:sp>
      <p:sp>
        <p:nvSpPr>
          <p:cNvPr id="59" name="Text 57"/>
          <p:cNvSpPr txBox="1"/>
          <p:nvPr/>
        </p:nvSpPr>
        <p:spPr>
          <a:xfrm>
            <a:off x="1828800" y="4782312"/>
            <a:ext cx="4067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9%</a:t>
            </a:r>
            <a:endParaRPr lang="en-US" sz="650" dirty="0"/>
          </a:p>
        </p:txBody>
      </p:sp>
      <p:sp>
        <p:nvSpPr>
          <p:cNvPr id="60" name="Shape 58"/>
          <p:cNvSpPr/>
          <p:nvPr/>
        </p:nvSpPr>
        <p:spPr>
          <a:xfrm>
            <a:off x="2253824" y="4800600"/>
            <a:ext cx="3874492" cy="164592"/>
          </a:xfrm>
          <a:prstGeom prst="rect">
            <a:avLst/>
          </a:prstGeom>
          <a:solidFill>
            <a:srgbClr val="2C8394"/>
          </a:solidFill>
          <a:ln/>
        </p:spPr>
      </p:sp>
      <p:sp>
        <p:nvSpPr>
          <p:cNvPr id="61" name="Text 59"/>
          <p:cNvSpPr txBox="1"/>
          <p:nvPr/>
        </p:nvSpPr>
        <p:spPr>
          <a:xfrm>
            <a:off x="2253824" y="4782312"/>
            <a:ext cx="38744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81%</a:t>
            </a:r>
            <a:endParaRPr lang="en-US" sz="650" dirty="0"/>
          </a:p>
        </p:txBody>
      </p:sp>
      <p:sp>
        <p:nvSpPr>
          <p:cNvPr id="62" name="Shape 60"/>
          <p:cNvSpPr/>
          <p:nvPr/>
        </p:nvSpPr>
        <p:spPr>
          <a:xfrm>
            <a:off x="6146605" y="4800600"/>
            <a:ext cx="473651" cy="164592"/>
          </a:xfrm>
          <a:prstGeom prst="rect">
            <a:avLst/>
          </a:prstGeom>
          <a:solidFill>
            <a:srgbClr val="B4552D"/>
          </a:solidFill>
          <a:ln/>
        </p:spPr>
      </p:sp>
      <p:sp>
        <p:nvSpPr>
          <p:cNvPr id="63" name="Text 61"/>
          <p:cNvSpPr txBox="1"/>
          <p:nvPr/>
        </p:nvSpPr>
        <p:spPr>
          <a:xfrm>
            <a:off x="6146605" y="4782312"/>
            <a:ext cx="47365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695836" cy="164592"/>
          </a:xfrm>
          <a:prstGeom prst="rect">
            <a:avLst/>
          </a:prstGeom>
          <a:solidFill>
            <a:srgbClr val="3D8F5F"/>
          </a:solidFill>
          <a:ln/>
        </p:spPr>
      </p:sp>
      <p:sp>
        <p:nvSpPr>
          <p:cNvPr id="66" name="Text 64"/>
          <p:cNvSpPr txBox="1"/>
          <p:nvPr/>
        </p:nvSpPr>
        <p:spPr>
          <a:xfrm>
            <a:off x="1828800" y="5093208"/>
            <a:ext cx="6958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67" name="Shape 65"/>
          <p:cNvSpPr/>
          <p:nvPr/>
        </p:nvSpPr>
        <p:spPr>
          <a:xfrm>
            <a:off x="2542924" y="5111496"/>
            <a:ext cx="3711126" cy="164592"/>
          </a:xfrm>
          <a:prstGeom prst="rect">
            <a:avLst/>
          </a:prstGeom>
          <a:solidFill>
            <a:srgbClr val="2C8394"/>
          </a:solidFill>
          <a:ln/>
        </p:spPr>
      </p:sp>
      <p:sp>
        <p:nvSpPr>
          <p:cNvPr id="68" name="Text 66"/>
          <p:cNvSpPr txBox="1"/>
          <p:nvPr/>
        </p:nvSpPr>
        <p:spPr>
          <a:xfrm>
            <a:off x="2542924" y="5093208"/>
            <a:ext cx="371112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78%</a:t>
            </a:r>
            <a:endParaRPr lang="en-US" sz="650" dirty="0"/>
          </a:p>
        </p:txBody>
      </p:sp>
      <p:sp>
        <p:nvSpPr>
          <p:cNvPr id="69" name="Shape 67"/>
          <p:cNvSpPr/>
          <p:nvPr/>
        </p:nvSpPr>
        <p:spPr>
          <a:xfrm>
            <a:off x="6272338" y="5111496"/>
            <a:ext cx="347918" cy="164592"/>
          </a:xfrm>
          <a:prstGeom prst="rect">
            <a:avLst/>
          </a:prstGeom>
          <a:solidFill>
            <a:srgbClr val="B4552D"/>
          </a:solidFill>
          <a:ln/>
        </p:spPr>
      </p:sp>
      <p:sp>
        <p:nvSpPr>
          <p:cNvPr id="70" name="Text 68"/>
          <p:cNvSpPr txBox="1"/>
          <p:nvPr/>
        </p:nvSpPr>
        <p:spPr>
          <a:xfrm>
            <a:off x="6272338" y="5093208"/>
            <a:ext cx="347918"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US$221</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 orders placed since 1 Jul (US$221) against 3 lost — 67% by count, 46%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30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28 Sep workbook adds no identifications or referrals, so these figures are unchanged from last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28 Sep</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6.1%</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20.75h billed of 342h available · target 80% · restates upward as hours land</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of 63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656173"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10.50h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27.6%</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501640"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8.00h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21.1%</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109362"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1.75h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4.6%</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20.75h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6.1%</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PS people on PS-pipeline tickets open now or closed this week, at 38h each. Lopez, Hikuroa, Magabo, Ho, Fenwick and Hettiarachchy hold PS tickets but are not PS staff — they and their hours are excluded.</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16174"/>
            <a:ext cx="1371600" cy="54864"/>
          </a:xfrm>
          <a:prstGeom prst="roundRect">
            <a:avLst>
              <a:gd name="adj" fmla="val 50000"/>
            </a:avLst>
          </a:prstGeom>
          <a:solidFill>
            <a:srgbClr val="E2EAEE"/>
          </a:solidFill>
          <a:ln/>
        </p:spPr>
      </p:sp>
      <p:sp>
        <p:nvSpPr>
          <p:cNvPr id="96" name="Shape 94"/>
          <p:cNvSpPr/>
          <p:nvPr/>
        </p:nvSpPr>
        <p:spPr>
          <a:xfrm>
            <a:off x="8823960" y="2916174"/>
            <a:ext cx="1371600" cy="54864"/>
          </a:xfrm>
          <a:prstGeom prst="roundRect">
            <a:avLst>
              <a:gd name="adj" fmla="val 50000"/>
            </a:avLst>
          </a:prstGeom>
          <a:solidFill>
            <a:srgbClr val="2C8394"/>
          </a:solidFill>
          <a:ln/>
        </p:spPr>
      </p:sp>
      <p:sp>
        <p:nvSpPr>
          <p:cNvPr id="97" name="Text 95"/>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16.50h</a:t>
            </a:r>
            <a:endParaRPr lang="en-US" sz="750" dirty="0"/>
          </a:p>
        </p:txBody>
      </p:sp>
      <p:sp>
        <p:nvSpPr>
          <p:cNvPr id="98" name="Text 96"/>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99" name="Text 97"/>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42666"/>
            <a:ext cx="1371600" cy="54864"/>
          </a:xfrm>
          <a:prstGeom prst="roundRect">
            <a:avLst>
              <a:gd name="adj" fmla="val 50000"/>
            </a:avLst>
          </a:prstGeom>
          <a:solidFill>
            <a:srgbClr val="E2EAEE"/>
          </a:solidFill>
          <a:ln/>
        </p:spPr>
      </p:sp>
      <p:sp>
        <p:nvSpPr>
          <p:cNvPr id="101" name="Shape 99"/>
          <p:cNvSpPr/>
          <p:nvPr/>
        </p:nvSpPr>
        <p:spPr>
          <a:xfrm>
            <a:off x="8823960" y="3042666"/>
            <a:ext cx="166255" cy="54864"/>
          </a:xfrm>
          <a:prstGeom prst="roundRect">
            <a:avLst>
              <a:gd name="adj" fmla="val 50000"/>
            </a:avLst>
          </a:prstGeom>
          <a:solidFill>
            <a:srgbClr val="2C8394"/>
          </a:solidFill>
          <a:ln/>
        </p:spPr>
      </p:sp>
      <p:sp>
        <p:nvSpPr>
          <p:cNvPr id="102" name="Text 100"/>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3" name="Text 101"/>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4" name="Text 102"/>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05" name="Shape 103"/>
          <p:cNvSpPr/>
          <p:nvPr/>
        </p:nvSpPr>
        <p:spPr>
          <a:xfrm>
            <a:off x="8823960" y="3169158"/>
            <a:ext cx="1371600" cy="54864"/>
          </a:xfrm>
          <a:prstGeom prst="roundRect">
            <a:avLst>
              <a:gd name="adj" fmla="val 50000"/>
            </a:avLst>
          </a:prstGeom>
          <a:solidFill>
            <a:srgbClr val="E2EAEE"/>
          </a:solidFill>
          <a:ln/>
        </p:spPr>
      </p:sp>
      <p:sp>
        <p:nvSpPr>
          <p:cNvPr id="106" name="Shape 104"/>
          <p:cNvSpPr/>
          <p:nvPr/>
        </p:nvSpPr>
        <p:spPr>
          <a:xfrm>
            <a:off x="8823960" y="3169158"/>
            <a:ext cx="166255" cy="54864"/>
          </a:xfrm>
          <a:prstGeom prst="roundRect">
            <a:avLst>
              <a:gd name="adj" fmla="val 50000"/>
            </a:avLst>
          </a:prstGeom>
          <a:solidFill>
            <a:srgbClr val="2C8394"/>
          </a:solidFill>
          <a:ln/>
        </p:spPr>
      </p:sp>
      <p:sp>
        <p:nvSpPr>
          <p:cNvPr id="107" name="Text 105"/>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8" name="Text 106"/>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9" name="Text 107"/>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Warranty</a:t>
            </a:r>
            <a:endParaRPr lang="en-US" sz="700" dirty="0"/>
          </a:p>
        </p:txBody>
      </p:sp>
      <p:sp>
        <p:nvSpPr>
          <p:cNvPr id="110" name="Shape 108"/>
          <p:cNvSpPr/>
          <p:nvPr/>
        </p:nvSpPr>
        <p:spPr>
          <a:xfrm>
            <a:off x="8823960" y="3295650"/>
            <a:ext cx="1371600" cy="54864"/>
          </a:xfrm>
          <a:prstGeom prst="roundRect">
            <a:avLst>
              <a:gd name="adj" fmla="val 50000"/>
            </a:avLst>
          </a:prstGeom>
          <a:solidFill>
            <a:srgbClr val="E2EAEE"/>
          </a:solidFill>
          <a:ln/>
        </p:spPr>
      </p:sp>
      <p:sp>
        <p:nvSpPr>
          <p:cNvPr id="111" name="Shape 109"/>
          <p:cNvSpPr/>
          <p:nvPr/>
        </p:nvSpPr>
        <p:spPr>
          <a:xfrm>
            <a:off x="8823960" y="3295650"/>
            <a:ext cx="45720" cy="54864"/>
          </a:xfrm>
          <a:prstGeom prst="roundRect">
            <a:avLst>
              <a:gd name="adj" fmla="val 60000"/>
            </a:avLst>
          </a:prstGeom>
          <a:solidFill>
            <a:srgbClr val="2C8394"/>
          </a:solidFill>
          <a:ln/>
        </p:spPr>
      </p:sp>
      <p:sp>
        <p:nvSpPr>
          <p:cNvPr id="112" name="Text 110"/>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0.25h</a:t>
            </a:r>
            <a:endParaRPr lang="en-US" sz="750" dirty="0"/>
          </a:p>
        </p:txBody>
      </p:sp>
      <p:sp>
        <p:nvSpPr>
          <p:cNvPr id="113" name="Text 111"/>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a:t>
            </a:r>
            <a:endParaRPr lang="en-US" sz="750" dirty="0"/>
          </a:p>
        </p:txBody>
      </p:sp>
      <p:sp>
        <p:nvSpPr>
          <p:cNvPr id="114" name="Text 112"/>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15" name="Shape 113"/>
          <p:cNvSpPr/>
          <p:nvPr/>
        </p:nvSpPr>
        <p:spPr>
          <a:xfrm>
            <a:off x="8823960" y="3422142"/>
            <a:ext cx="1371600" cy="54864"/>
          </a:xfrm>
          <a:prstGeom prst="roundRect">
            <a:avLst>
              <a:gd name="adj" fmla="val 50000"/>
            </a:avLst>
          </a:prstGeom>
          <a:solidFill>
            <a:srgbClr val="E2EAEE"/>
          </a:solidFill>
          <a:ln/>
        </p:spPr>
      </p:sp>
      <p:sp>
        <p:nvSpPr>
          <p:cNvPr id="116" name="Text 114"/>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7" name="Text 115"/>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8" name="Text 116"/>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19" name="Shape 117"/>
          <p:cNvSpPr/>
          <p:nvPr/>
        </p:nvSpPr>
        <p:spPr>
          <a:xfrm>
            <a:off x="8823960" y="3548634"/>
            <a:ext cx="1371600" cy="54864"/>
          </a:xfrm>
          <a:prstGeom prst="roundRect">
            <a:avLst>
              <a:gd name="adj" fmla="val 50000"/>
            </a:avLst>
          </a:prstGeom>
          <a:solidFill>
            <a:srgbClr val="E2EAEE"/>
          </a:solidFill>
          <a:ln/>
        </p:spPr>
      </p:sp>
      <p:sp>
        <p:nvSpPr>
          <p:cNvPr id="120" name="Text 118"/>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1" name="Text 119"/>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2" name="Shape 120"/>
          <p:cNvSpPr/>
          <p:nvPr/>
        </p:nvSpPr>
        <p:spPr>
          <a:xfrm>
            <a:off x="7379208" y="3657600"/>
            <a:ext cx="4197096" cy="10973"/>
          </a:xfrm>
          <a:prstGeom prst="rect">
            <a:avLst/>
          </a:prstGeom>
          <a:solidFill>
            <a:srgbClr val="12293A"/>
          </a:solidFill>
          <a:ln/>
        </p:spPr>
      </p:sp>
      <p:sp>
        <p:nvSpPr>
          <p:cNvPr id="123" name="Text 121"/>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4" name="Text 122"/>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11 PS items carry time</a:t>
            </a:r>
            <a:endParaRPr lang="en-US" sz="630" dirty="0"/>
          </a:p>
        </p:txBody>
      </p:sp>
      <p:sp>
        <p:nvSpPr>
          <p:cNvPr id="125" name="Text 123"/>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20.75h</a:t>
            </a:r>
            <a:endParaRPr lang="en-US" sz="850" dirty="0"/>
          </a:p>
        </p:txBody>
      </p:sp>
      <p:sp>
        <p:nvSpPr>
          <p:cNvPr id="126" name="Text 124"/>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7" name="Shape 125"/>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8" name="Text 126"/>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9" name="Text 127"/>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30" name="Text 128"/>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1" name="Text 129"/>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2" name="Text 130"/>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3" name="Text 131"/>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4" name="Shape 132"/>
          <p:cNvSpPr/>
          <p:nvPr/>
        </p:nvSpPr>
        <p:spPr>
          <a:xfrm>
            <a:off x="7379208" y="4631436"/>
            <a:ext cx="4197096" cy="5486"/>
          </a:xfrm>
          <a:prstGeom prst="rect">
            <a:avLst/>
          </a:prstGeom>
          <a:solidFill>
            <a:srgbClr val="E2EAEE"/>
          </a:solidFill>
          <a:ln/>
        </p:spPr>
      </p:sp>
      <p:sp>
        <p:nvSpPr>
          <p:cNvPr id="135" name="Text 133"/>
          <p:cNvSpPr txBox="1"/>
          <p:nvPr/>
        </p:nvSpPr>
        <p:spPr>
          <a:xfrm>
            <a:off x="7379208" y="4443984"/>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8–13 Sep</a:t>
            </a:r>
            <a:endParaRPr lang="en-US" sz="750" dirty="0"/>
          </a:p>
        </p:txBody>
      </p:sp>
      <p:sp>
        <p:nvSpPr>
          <p:cNvPr id="136" name="Text 134"/>
          <p:cNvSpPr txBox="1"/>
          <p:nvPr/>
        </p:nvSpPr>
        <p:spPr>
          <a:xfrm>
            <a:off x="8385048" y="4443984"/>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a:t>
            </a:r>
            <a:endParaRPr lang="en-US" sz="750" dirty="0"/>
          </a:p>
        </p:txBody>
      </p:sp>
      <p:sp>
        <p:nvSpPr>
          <p:cNvPr id="137" name="Text 135"/>
          <p:cNvSpPr txBox="1"/>
          <p:nvPr/>
        </p:nvSpPr>
        <p:spPr>
          <a:xfrm>
            <a:off x="8897112" y="4443984"/>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57.50h</a:t>
            </a:r>
            <a:endParaRPr lang="en-US" sz="800" dirty="0"/>
          </a:p>
        </p:txBody>
      </p:sp>
      <p:sp>
        <p:nvSpPr>
          <p:cNvPr id="138" name="Text 136"/>
          <p:cNvSpPr txBox="1"/>
          <p:nvPr/>
        </p:nvSpPr>
        <p:spPr>
          <a:xfrm>
            <a:off x="9729216" y="4443984"/>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16.8%</a:t>
            </a:r>
            <a:endParaRPr lang="en-US" sz="800" dirty="0"/>
          </a:p>
        </p:txBody>
      </p:sp>
      <p:sp>
        <p:nvSpPr>
          <p:cNvPr id="139" name="Text 137"/>
          <p:cNvSpPr txBox="1"/>
          <p:nvPr/>
        </p:nvSpPr>
        <p:spPr>
          <a:xfrm>
            <a:off x="10241280" y="4443984"/>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not reported</a:t>
            </a:r>
            <a:endParaRPr lang="en-US" sz="650" dirty="0"/>
          </a:p>
        </p:txBody>
      </p:sp>
      <p:sp>
        <p:nvSpPr>
          <p:cNvPr id="140" name="Shape 138"/>
          <p:cNvSpPr/>
          <p:nvPr/>
        </p:nvSpPr>
        <p:spPr>
          <a:xfrm>
            <a:off x="7379208" y="4828032"/>
            <a:ext cx="4197096" cy="5486"/>
          </a:xfrm>
          <a:prstGeom prst="rect">
            <a:avLst/>
          </a:prstGeom>
          <a:solidFill>
            <a:srgbClr val="E2EAEE"/>
          </a:solidFill>
          <a:ln/>
        </p:spPr>
      </p:sp>
      <p:sp>
        <p:nvSpPr>
          <p:cNvPr id="141" name="Text 139"/>
          <p:cNvSpPr txBox="1"/>
          <p:nvPr/>
        </p:nvSpPr>
        <p:spPr>
          <a:xfrm>
            <a:off x="7379208" y="4640580"/>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14–20 Sep</a:t>
            </a:r>
            <a:endParaRPr lang="en-US" sz="750" dirty="0"/>
          </a:p>
        </p:txBody>
      </p:sp>
      <p:sp>
        <p:nvSpPr>
          <p:cNvPr id="142" name="Text 140"/>
          <p:cNvSpPr txBox="1"/>
          <p:nvPr/>
        </p:nvSpPr>
        <p:spPr>
          <a:xfrm>
            <a:off x="8385048" y="4640580"/>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a:t>
            </a:r>
            <a:endParaRPr lang="en-US" sz="750" dirty="0"/>
          </a:p>
        </p:txBody>
      </p:sp>
      <p:sp>
        <p:nvSpPr>
          <p:cNvPr id="143" name="Text 141"/>
          <p:cNvSpPr txBox="1"/>
          <p:nvPr/>
        </p:nvSpPr>
        <p:spPr>
          <a:xfrm>
            <a:off x="8897112" y="4640580"/>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24.82h</a:t>
            </a:r>
            <a:endParaRPr lang="en-US" sz="800" dirty="0"/>
          </a:p>
        </p:txBody>
      </p:sp>
      <p:sp>
        <p:nvSpPr>
          <p:cNvPr id="144" name="Text 142"/>
          <p:cNvSpPr txBox="1"/>
          <p:nvPr/>
        </p:nvSpPr>
        <p:spPr>
          <a:xfrm>
            <a:off x="9729216" y="4640580"/>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7.3%</a:t>
            </a:r>
            <a:endParaRPr lang="en-US" sz="800" dirty="0"/>
          </a:p>
        </p:txBody>
      </p:sp>
      <p:sp>
        <p:nvSpPr>
          <p:cNvPr id="145" name="Text 143"/>
          <p:cNvSpPr txBox="1"/>
          <p:nvPr/>
        </p:nvSpPr>
        <p:spPr>
          <a:xfrm>
            <a:off x="10241280" y="4640580"/>
            <a:ext cx="1335024" cy="196596"/>
          </a:xfrm>
          <a:prstGeom prst="rect">
            <a:avLst/>
          </a:prstGeom>
          <a:noFill/>
          <a:ln/>
        </p:spPr>
        <p:txBody>
          <a:bodyPr wrap="square" lIns="0" tIns="0" rIns="0" bIns="0" rtlCol="0" anchor="ctr"/>
          <a:lstStyle/>
          <a:p>
            <a:pPr algn="r" indent="0" marL="0">
              <a:buNone/>
            </a:pPr>
            <a:r>
              <a:rPr lang="en-US" sz="630" b="1" dirty="0">
                <a:solidFill>
                  <a:srgbClr val="B4552D"/>
                </a:solidFill>
                <a:latin typeface="Poppins" pitchFamily="34" charset="0"/>
                <a:ea typeface="Poppins" pitchFamily="34" charset="-122"/>
                <a:cs typeface="Poppins" pitchFamily="34" charset="-120"/>
              </a:rPr>
              <a:t>16.07h · 4.7%   ▲ +8.75h</a:t>
            </a:r>
            <a:endParaRPr lang="en-US" sz="630" dirty="0"/>
          </a:p>
        </p:txBody>
      </p:sp>
      <p:sp>
        <p:nvSpPr>
          <p:cNvPr id="146" name="Shape 144"/>
          <p:cNvSpPr/>
          <p:nvPr/>
        </p:nvSpPr>
        <p:spPr>
          <a:xfrm>
            <a:off x="7379208" y="5024628"/>
            <a:ext cx="4197096" cy="5486"/>
          </a:xfrm>
          <a:prstGeom prst="rect">
            <a:avLst/>
          </a:prstGeom>
          <a:solidFill>
            <a:srgbClr val="E2EAEE"/>
          </a:solidFill>
          <a:ln/>
        </p:spPr>
      </p:sp>
      <p:sp>
        <p:nvSpPr>
          <p:cNvPr id="147" name="Text 145"/>
          <p:cNvSpPr txBox="1"/>
          <p:nvPr/>
        </p:nvSpPr>
        <p:spPr>
          <a:xfrm>
            <a:off x="7379208" y="4837176"/>
            <a:ext cx="960120" cy="196596"/>
          </a:xfrm>
          <a:prstGeom prst="rect">
            <a:avLst/>
          </a:prstGeom>
          <a:noFill/>
          <a:ln/>
        </p:spPr>
        <p:txBody>
          <a:bodyPr wrap="square" lIns="0" tIns="0" rIns="0" bIns="0" rtlCol="0" anchor="ctr"/>
          <a:lstStyle/>
          <a:p>
            <a:pPr indent="0" marL="0">
              <a:buNone/>
            </a:pPr>
            <a:r>
              <a:rPr lang="en-US" sz="750" b="1" dirty="0">
                <a:solidFill>
                  <a:srgbClr val="2C8394"/>
                </a:solidFill>
                <a:latin typeface="Poppins" pitchFamily="34" charset="0"/>
                <a:ea typeface="Poppins" pitchFamily="34" charset="-122"/>
                <a:cs typeface="Poppins" pitchFamily="34" charset="-120"/>
              </a:rPr>
              <a:t>21–27 Sep  ●</a:t>
            </a:r>
            <a:endParaRPr lang="en-US" sz="750" dirty="0"/>
          </a:p>
        </p:txBody>
      </p:sp>
      <p:sp>
        <p:nvSpPr>
          <p:cNvPr id="148" name="Text 146"/>
          <p:cNvSpPr txBox="1"/>
          <p:nvPr/>
        </p:nvSpPr>
        <p:spPr>
          <a:xfrm>
            <a:off x="8385048" y="4837176"/>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a:t>
            </a:r>
            <a:endParaRPr lang="en-US" sz="750" dirty="0"/>
          </a:p>
        </p:txBody>
      </p:sp>
      <p:sp>
        <p:nvSpPr>
          <p:cNvPr id="149" name="Text 147"/>
          <p:cNvSpPr txBox="1"/>
          <p:nvPr/>
        </p:nvSpPr>
        <p:spPr>
          <a:xfrm>
            <a:off x="8897112" y="4837176"/>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20.75h</a:t>
            </a:r>
            <a:endParaRPr lang="en-US" sz="800" dirty="0"/>
          </a:p>
        </p:txBody>
      </p:sp>
      <p:sp>
        <p:nvSpPr>
          <p:cNvPr id="150" name="Text 148"/>
          <p:cNvSpPr txBox="1"/>
          <p:nvPr/>
        </p:nvSpPr>
        <p:spPr>
          <a:xfrm>
            <a:off x="9729216" y="4837176"/>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6.1%</a:t>
            </a:r>
            <a:endParaRPr lang="en-US" sz="800" dirty="0"/>
          </a:p>
        </p:txBody>
      </p:sp>
      <p:sp>
        <p:nvSpPr>
          <p:cNvPr id="151" name="Text 149"/>
          <p:cNvSpPr txBox="1"/>
          <p:nvPr/>
        </p:nvSpPr>
        <p:spPr>
          <a:xfrm>
            <a:off x="10241280" y="4837176"/>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first report</a:t>
            </a:r>
            <a:endParaRPr lang="en-US" sz="650" dirty="0"/>
          </a:p>
        </p:txBody>
      </p:sp>
      <p:sp>
        <p:nvSpPr>
          <p:cNvPr id="152" name="Text 150"/>
          <p:cNvSpPr txBox="1"/>
          <p:nvPr/>
        </p:nvSpPr>
        <p:spPr>
          <a:xfrm>
            <a:off x="7379208" y="5065776"/>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Hours land retrospectively — treat the current week as a floor. Base held at 9 PS staff × 38h so the weeks compare.</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week's utilisation has already restated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14–20 Sep went out at 16.07h (4.7%) and now stands at 24.82h (7.3%) — Rhys +5.75h, Joshua +2.0h, Isayah +1.0h. This week's 6.1%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89% of the logged total.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10.50h and Joshua Casey 8.00h; 5 PS members logged nothing. 69 PS cases opened this week and Tech carries 79.5% of logged time.</a:t>
            </a:r>
            <a:endParaRPr lang="en-US" sz="900" dirty="0"/>
          </a:p>
        </p:txBody>
      </p:sp>
      <p:sp>
        <p:nvSpPr>
          <p:cNvPr id="156" name="Shape 154"/>
          <p:cNvSpPr/>
          <p:nvPr/>
        </p:nvSpPr>
        <p:spPr>
          <a:xfrm>
            <a:off x="6155741" y="6510528"/>
            <a:ext cx="5621731" cy="256032"/>
          </a:xfrm>
          <a:prstGeom prst="roundRect">
            <a:avLst>
              <a:gd name="adj" fmla="val 46429"/>
            </a:avLst>
          </a:prstGeom>
          <a:solidFill>
            <a:srgbClr val="12293A"/>
          </a:solidFill>
          <a:ln/>
        </p:spPr>
      </p:sp>
      <p:sp>
        <p:nvSpPr>
          <p:cNvPr id="157" name="Text 155"/>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Won = HubSpot closed-won Total Software (outright excluded, annual ÷ 12) by close date. Invoiced = movement register new + expansion by date of invoice. Both live and refreshed weekly — nothing on this slide is frozen.</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$236k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21 of the 66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$1.19M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258 logos · MRR movement register, live · HubSpot churn object still ramping</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Q3</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-$4.2k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new $15.1k − churn $12.7k − contraction $3.7k − credits $2.9k</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New Whyalla Hotel</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$606</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Royal Family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$597</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Gastevski - Australind Liquor Store</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$524</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Champion Lakes Tavern WA</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Commercial Hotel - Morgan</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$432</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Feb</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Argyle Hotel Maclean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$402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Litchfield Outback Resort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$387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Invoicing has overtaken wins this quarter.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Q3 invoiced $15,126 against $12,061 won — the register caught up on earlier wins, and September alone billed $6,567. Nine months of both series read live.</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is the whole story: $1.19M of ARR across 258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Q3 took $12.7k of MRR out against $15.1k in, plus $3.7k of contraction and $2.9k of credits. Net Q3 movement is −$4.2k.</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$236k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21 of the 66 deals that carried software MRR in 2026. Oscars Group is $155k of it — 66%. Matched on debtor ID and venue name, not debtor ID alone.</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HubSpot's Total Software does not yet agree with the register deal by deal.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Across the 39 won deals the register has invoiced it reads $22.9k/mo against $11.9k — 1.9x, and over 1.5x on 14 of them. The register stays the MRR source of record.</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excluded (parked licences, not counted in MRR); Grand Chancellor Adelaide is on the register awaiting an invoice date.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6653174" y="6510528"/>
            <a:ext cx="5124298" cy="256032"/>
          </a:xfrm>
          <a:prstGeom prst="roundRect">
            <a:avLst>
              <a:gd name="adj" fmla="val 46429"/>
            </a:avLst>
          </a:prstGeom>
          <a:solidFill>
            <a:srgbClr val="12293A"/>
          </a:solidFill>
          <a:ln/>
        </p:spPr>
      </p:sp>
      <p:sp>
        <p:nvSpPr>
          <p:cNvPr id="101" name="Text 98"/>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deals + MRR movement register (live, 28 Sep) — all series live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675</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27 Sep</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13,627</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27 Sep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49377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72184" y="2807208"/>
            <a:ext cx="109728" cy="109728"/>
          </a:xfrm>
          <a:prstGeom prst="rect">
            <a:avLst/>
          </a:prstGeom>
          <a:solidFill>
            <a:srgbClr val="6FAEBB"/>
          </a:solidFill>
          <a:ln/>
        </p:spPr>
      </p:sp>
      <p:sp>
        <p:nvSpPr>
          <p:cNvPr id="36" name="Text 34"/>
          <p:cNvSpPr txBox="1"/>
          <p:nvPr/>
        </p:nvSpPr>
        <p:spPr>
          <a:xfrm>
            <a:off x="1609344"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313432" y="2807208"/>
            <a:ext cx="109728" cy="109728"/>
          </a:xfrm>
          <a:prstGeom prst="rect">
            <a:avLst/>
          </a:prstGeom>
          <a:solidFill>
            <a:srgbClr val="C88A2E"/>
          </a:solidFill>
          <a:ln/>
        </p:spPr>
      </p:sp>
      <p:sp>
        <p:nvSpPr>
          <p:cNvPr id="38" name="Text 36"/>
          <p:cNvSpPr txBox="1"/>
          <p:nvPr/>
        </p:nvSpPr>
        <p:spPr>
          <a:xfrm>
            <a:off x="2450592"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154680" y="2807208"/>
            <a:ext cx="109728" cy="109728"/>
          </a:xfrm>
          <a:prstGeom prst="rect">
            <a:avLst/>
          </a:prstGeom>
          <a:solidFill>
            <a:srgbClr val="7A3B21"/>
          </a:solidFill>
          <a:ln/>
        </p:spPr>
      </p:sp>
      <p:sp>
        <p:nvSpPr>
          <p:cNvPr id="40" name="Text 38"/>
          <p:cNvSpPr txBox="1"/>
          <p:nvPr/>
        </p:nvSpPr>
        <p:spPr>
          <a:xfrm>
            <a:off x="3291840"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graphicFrame>
        <p:nvGraphicFramePr>
          <p:cNvPr id="41" name="Chart 0" descr=""/>
          <p:cNvGraphicFramePr/>
          <p:nvPr/>
        </p:nvGraphicFramePr>
        <p:xfrm>
          <a:off x="539496" y="3054096"/>
          <a:ext cx="393192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Chart 1" descr=""/>
          <p:cNvGraphicFramePr/>
          <p:nvPr/>
        </p:nvGraphicFramePr>
        <p:xfrm>
          <a:off x="4727448" y="3054096"/>
          <a:ext cx="2121408" cy="2697480"/>
        </p:xfrm>
        <a:graphic xmlns:a="http://schemas.openxmlformats.org/drawingml/2006/main">
          <a:graphicData uri="http://schemas.openxmlformats.org/drawingml/2006/chart">
            <c:chart xmlns:c="http://schemas.openxmlformats.org/drawingml/2006/chart" r:id="rId2"/>
          </a:graphicData>
        </a:graphic>
      </p:graphicFrame>
      <p:sp>
        <p:nvSpPr>
          <p:cNvPr id="43" name="Shape 39"/>
          <p:cNvSpPr/>
          <p:nvPr/>
        </p:nvSpPr>
        <p:spPr>
          <a:xfrm>
            <a:off x="4599432" y="3099816"/>
            <a:ext cx="20117" cy="2331720"/>
          </a:xfrm>
          <a:prstGeom prst="rect">
            <a:avLst/>
          </a:prstGeom>
          <a:solidFill>
            <a:srgbClr val="B4552D"/>
          </a:solidFill>
          <a:ln/>
        </p:spPr>
      </p:sp>
      <p:sp>
        <p:nvSpPr>
          <p:cNvPr id="44" name="Shape 40"/>
          <p:cNvSpPr/>
          <p:nvPr/>
        </p:nvSpPr>
        <p:spPr>
          <a:xfrm>
            <a:off x="4142232" y="2761488"/>
            <a:ext cx="960120" cy="201168"/>
          </a:xfrm>
          <a:prstGeom prst="roundRect">
            <a:avLst>
              <a:gd name="adj" fmla="val 50000"/>
            </a:avLst>
          </a:prstGeom>
          <a:solidFill>
            <a:srgbClr val="B4552D"/>
          </a:solidFill>
          <a:ln/>
        </p:spPr>
      </p:sp>
      <p:sp>
        <p:nvSpPr>
          <p:cNvPr id="45" name="Text 41"/>
          <p:cNvSpPr txBox="1"/>
          <p:nvPr/>
        </p:nvSpPr>
        <p:spPr>
          <a:xfrm>
            <a:off x="4142232" y="2761488"/>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46" name="Text 42"/>
          <p:cNvSpPr txBox="1"/>
          <p:nvPr/>
        </p:nvSpPr>
        <p:spPr>
          <a:xfrm>
            <a:off x="960120" y="5641848"/>
            <a:ext cx="310896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47" name="Text 43"/>
          <p:cNvSpPr txBox="1"/>
          <p:nvPr/>
        </p:nvSpPr>
        <p:spPr>
          <a:xfrm>
            <a:off x="4727448" y="5641848"/>
            <a:ext cx="2121408"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48" name="Text 44"/>
          <p:cNvSpPr txBox="1"/>
          <p:nvPr/>
        </p:nvSpPr>
        <p:spPr>
          <a:xfrm>
            <a:off x="612648" y="5925312"/>
            <a:ext cx="6181344" cy="329184"/>
          </a:xfrm>
          <a:prstGeom prst="rect">
            <a:avLst/>
          </a:prstGeom>
          <a:noFill/>
          <a:ln/>
        </p:spPr>
        <p:txBody>
          <a:bodyPr wrap="square" lIns="0" tIns="0" rIns="0" bIns="0" rtlCol="0" anchor="t"/>
          <a:lstStyle/>
          <a:p>
            <a:pPr indent="0" marL="0">
              <a:buNone/>
            </a:pPr>
            <a:r>
              <a:rPr lang="en-US" sz="650" dirty="0">
                <a:solidFill>
                  <a:srgbClr val="8FA1AC"/>
                </a:solidFill>
                <a:latin typeface="Poppins" pitchFamily="34" charset="0"/>
                <a:ea typeface="Poppins" pitchFamily="34" charset="-122"/>
                <a:cs typeface="Poppins" pitchFamily="34" charset="-120"/>
              </a:rPr>
              <a:t>Weeks to 30 Aug are the frozen Creatio series (extracts ended 4 Sep); 13, 20 &amp; 27 Sep read live from HubSpot. The 7 Sep week falls inside the migration and is not reported.</a:t>
            </a:r>
            <a:endParaRPr lang="en-US" sz="650" dirty="0"/>
          </a:p>
        </p:txBody>
      </p:sp>
      <p:sp>
        <p:nvSpPr>
          <p:cNvPr id="49" name="Shape 45"/>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50" name="Text 46"/>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51" name="Text 47"/>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turned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Inflow 498 beat resolved 420 — the first week since cutover where it did. Open rose 575 → 675, and the 8–30 day band carried it (249 → 302). The 90+ tail is still the win: 10 → 11.</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132 → 168 in the week, so 179 cases are now past 30 days against 142 a fortnight ago. Work aged 8–30 days is ageing through rather than closing.</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queue is still the live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626 open cases show no first response. Migrated tickets answered only in Creatio count as unanswered here — treat as a ceiling until the transition washes through.</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52" name="Shape 48"/>
          <p:cNvSpPr/>
          <p:nvPr/>
        </p:nvSpPr>
        <p:spPr>
          <a:xfrm>
            <a:off x="8642909" y="6510528"/>
            <a:ext cx="3134563" cy="256032"/>
          </a:xfrm>
          <a:prstGeom prst="roundRect">
            <a:avLst>
              <a:gd name="adj" fmla="val 46429"/>
            </a:avLst>
          </a:prstGeom>
          <a:solidFill>
            <a:srgbClr val="12293A"/>
          </a:solidFill>
          <a:ln/>
        </p:spPr>
      </p:sp>
      <p:sp>
        <p:nvSpPr>
          <p:cNvPr id="53" name="Text 49"/>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8332013" y="6510528"/>
            <a:ext cx="3445459" cy="256032"/>
          </a:xfrm>
          <a:prstGeom prst="roundRect">
            <a:avLst>
              <a:gd name="adj" fmla="val 46429"/>
            </a:avLst>
          </a:prstGeom>
          <a:solidFill>
            <a:srgbClr val="12293A"/>
          </a:solidFill>
          <a:ln/>
        </p:spPr>
      </p:sp>
      <p:sp>
        <p:nvSpPr>
          <p:cNvPr id="234" name="Text 232"/>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2026-09-28T23:43:18Z</dcterms:created>
  <dcterms:modified xsi:type="dcterms:W3CDTF">2026-09-28T23:43:18Z</dcterms:modified>
</cp:coreProperties>
</file>