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Closed won</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89148</c:v>
                </c:pt>
                <c:pt idx="1">
                  <c:v>53717</c:v>
                </c:pt>
                <c:pt idx="2">
                  <c:v>200064</c:v>
                </c:pt>
                <c:pt idx="3">
                  <c:v>34236</c:v>
                </c:pt>
                <c:pt idx="4">
                  <c:v>39372</c:v>
                </c:pt>
                <c:pt idx="5">
                  <c:v>77748</c:v>
                </c:pt>
                <c:pt idx="6">
                  <c:v>15377</c:v>
                </c:pt>
              </c:numCache>
            </c:numRef>
          </c:val>
        </c:ser>
        <c:ser>
          <c:idx val="1"/>
          <c:order val="1"/>
          <c:tx>
            <c:strRef>
              <c:f>Sheet1!$C$1</c:f>
              <c:strCache>
                <c:ptCount val="1"/>
                <c:pt idx="0">
                  <c:v>Invoiced (new + expansion)</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30732</c:v>
                </c:pt>
                <c:pt idx="1">
                  <c:v>66948</c:v>
                </c:pt>
                <c:pt idx="2">
                  <c:v>44352</c:v>
                </c:pt>
                <c:pt idx="3">
                  <c:v>58572</c:v>
                </c:pt>
                <c:pt idx="4">
                  <c:v>70788</c:v>
                </c:pt>
                <c:pt idx="5">
                  <c:v>45408</c:v>
                </c:pt>
                <c:pt idx="6">
                  <c:v>90012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no new MRR invoiced in the week — Q3 holds at $12.1k = 43%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$12k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nil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1808683"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43%</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490118"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67%</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65760"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50%</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197510"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27%</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$205</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73152" cy="100584"/>
          </a:xfrm>
          <a:prstGeom prst="roundRect">
            <a:avLst>
              <a:gd name="adj" fmla="val 62500"/>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$12k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did not move at all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The register carries no new-MRR rows dated 21–27 Sep 2026, so Q3 stays at $12,129 — 43% of the $28k OKR2 against a 97% pace mark. HubSpot shows $3,440 of new software MRR won in the week across 34 deals — none of it invoiced yet. The register's next dated entries are 28 and 30 Sep.</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585862" y="6510528"/>
            <a:ext cx="4191610" cy="256032"/>
          </a:xfrm>
          <a:prstGeom prst="roundRect">
            <a:avLst>
              <a:gd name="adj" fmla="val 46429"/>
            </a:avLst>
          </a:prstGeom>
          <a:solidFill>
            <a:srgbClr val="12293A"/>
          </a:solidFill>
          <a:ln/>
        </p:spPr>
      </p:sp>
      <p:sp>
        <p:nvSpPr>
          <p:cNvPr id="153" name="Text 151"/>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CLOSED WON ARR VS INVOICED ARR BY MONTH · 2026   </a:t>
            </a:r>
            <a:pPr indent="0" marL="0">
              <a:buNone/>
            </a:pPr>
            <a:r>
              <a:rPr lang="en-US" sz="680" dirty="0">
                <a:solidFill>
                  <a:srgbClr val="C88A2E"/>
                </a:solidFill>
                <a:latin typeface="Poppins" pitchFamily="34" charset="0"/>
                <a:ea typeface="Poppins" pitchFamily="34" charset="-122"/>
                <a:cs typeface="Poppins" pitchFamily="34" charset="-120"/>
              </a:rPr>
              <a:t>frozen at cutover</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Frozen at cutover — Creatio ARR basis, as last published. Aug–Sep are not plotted: HubSpot closed-won is deal amount, not the Creatio ARR measure, so a new series starts once the post-cutover months are confirmed.</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GO-LIVE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$250k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497 deals won since Mar · 277 invoiced · 220 outstanding</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$1.17M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262 logos lost · register live</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-$6.3k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Jul–Sep · won $12.1k (HubSpot) vs invoiced $12.1k (register) · churn has no HubSpot source</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DEALS</a:t>
            </a: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Group ◆</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Wayi Restaurant</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$21k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$1,790</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Hallmark Hospitality · 2 venues</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$19k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$1,557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a:t>
            </a: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BRG · 2 venues</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$492</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Jul</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a:t>
            </a: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Grand Cru - Claremont</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$480</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Downs Club Toowoomba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$455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Crazy Horse Revue</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$437</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Citi Group - Harp</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Woodside Beach Hotel</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$394</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Bistro Margaux</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$4k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$333</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Install-to-invoice lag runs 60–90 days; March wins still uninvoiced are past normal lag and worth chasing.</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Uninvoiced is top-loaded: Oscars Group is 62% of the $250k awaiting go-live; the top 3 clients are ~78%.</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Churn reads from the movement register: $1.17M of ARR across 262 logos since 2025, plus $235k lost to contraction. Q3 net MRR is -$6.3k — new business is not covering it.</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Won MRR now reads from HubSpot. </a:t>
            </a:r>
            <a:pPr indent="0" marL="0">
              <a:spcAft>
                <a:spcPts val="800"/>
              </a:spcAft>
              <a:buNone/>
            </a:pPr>
            <a:r>
              <a:rPr lang="en-US" sz="850" dirty="0">
                <a:solidFill>
                  <a:srgbClr val="3A4B57"/>
                </a:solidFill>
                <a:latin typeface="Poppins" pitchFamily="34" charset="0"/>
                <a:ea typeface="Poppins" pitchFamily="34" charset="-122"/>
                <a:cs typeface="Poppins" pitchFamily="34" charset="-120"/>
              </a:rPr>
              <a:t>Your Total Software field (outright excluded, annual ÷ 12) gives $3,440 won in 21–27 Sep and $12,061 across Q3 against $12,129 invoiced on the register — a 0.6% gap, so the two tie out. That is why the register shows a nil week: the $3.4k won has not been invoiced yet. Net movement still needs the register because HubSpot has no churn or contraction motion.</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2C8394"/>
                </a:solidFill>
                <a:latin typeface="Poppins" pitchFamily="34" charset="0"/>
                <a:ea typeface="Poppins" pitchFamily="34" charset="-122"/>
                <a:cs typeface="Poppins" pitchFamily="34" charset="-120"/>
              </a:rPr>
              <a:t>GO-LIVE CONTEXT · Oscars Group — </a:t>
            </a:r>
            <a:pPr indent="0" marL="0">
              <a:buNone/>
            </a:pPr>
            <a:r>
              <a:rPr lang="en-US" sz="850" dirty="0">
                <a:solidFill>
                  <a:srgbClr val="3A4B57"/>
                </a:solidFill>
                <a:latin typeface="Poppins" pitchFamily="34" charset="0"/>
                <a:ea typeface="Poppins" pitchFamily="34" charset="-122"/>
                <a:cs typeface="Poppins" pitchFamily="34" charset="-120"/>
              </a:rPr>
              <a:t>Signed — ~1.5x rollout timeline expected. Held by the old provider's contract terms; asking H&amp;L for a discount to bridge.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Invoiced = new + expansion MRR movements annualised</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total_software_cost (won) + finance movement register (invoiced) · chart frozen at cutover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2026-09-28T13:09:34Z</dcterms:created>
  <dcterms:modified xsi:type="dcterms:W3CDTF">2026-09-28T13:09:34Z</dcterms:modified>
</cp:coreProperties>
</file>