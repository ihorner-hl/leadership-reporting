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Closed won</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89148</c:v>
                </c:pt>
                <c:pt idx="1">
                  <c:v>53717</c:v>
                </c:pt>
                <c:pt idx="2">
                  <c:v>200064</c:v>
                </c:pt>
                <c:pt idx="3">
                  <c:v>34236</c:v>
                </c:pt>
                <c:pt idx="4">
                  <c:v>39372</c:v>
                </c:pt>
                <c:pt idx="5">
                  <c:v>77748</c:v>
                </c:pt>
                <c:pt idx="6">
                  <c:v>15377</c:v>
                </c:pt>
              </c:numCache>
            </c:numRef>
          </c:val>
        </c:ser>
        <c:ser>
          <c:idx val="1"/>
          <c:order val="1"/>
          <c:tx>
            <c:strRef>
              <c:f>Sheet1!$C$1</c:f>
              <c:strCache>
                <c:ptCount val="1"/>
                <c:pt idx="0">
                  <c:v>Invoiced (new + expansion)</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30732</c:v>
                </c:pt>
                <c:pt idx="1">
                  <c:v>66948</c:v>
                </c:pt>
                <c:pt idx="2">
                  <c:v>44352</c:v>
                </c:pt>
                <c:pt idx="3">
                  <c:v>58572</c:v>
                </c:pt>
                <c:pt idx="4">
                  <c:v>70788</c:v>
                </c:pt>
                <c:pt idx="5">
                  <c:v>45408</c:v>
                </c:pt>
                <c:pt idx="6">
                  <c:v>90012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Sheet1!$B$2:$B$6</c:f>
              <c:numCache>
                <c:formatCode>General</c:formatCode>
                <c:ptCount val="5"/>
                <c:pt idx="0">
                  <c:v>159</c:v>
                </c:pt>
                <c:pt idx="1">
                  <c:v>255</c:v>
                </c:pt>
                <c:pt idx="2">
                  <c:v>172</c:v>
                </c:pt>
                <c:pt idx="3">
                  <c:v>164</c:v>
                </c:pt>
                <c:pt idx="4">
                  <c:v>151</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Sheet1!$C$2:$C$6</c:f>
              <c:numCache>
                <c:formatCode>General</c:formatCode>
                <c:ptCount val="5"/>
                <c:pt idx="0">
                  <c:v>217</c:v>
                </c:pt>
                <c:pt idx="1">
                  <c:v>228</c:v>
                </c:pt>
                <c:pt idx="2">
                  <c:v>270</c:v>
                </c:pt>
                <c:pt idx="3">
                  <c:v>299</c:v>
                </c:pt>
                <c:pt idx="4">
                  <c:v>297</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Sheet1!$D$2:$D$6</c:f>
              <c:numCache>
                <c:formatCode>General</c:formatCode>
                <c:ptCount val="5"/>
                <c:pt idx="0">
                  <c:v>237</c:v>
                </c:pt>
                <c:pt idx="1">
                  <c:v>85</c:v>
                </c:pt>
                <c:pt idx="2">
                  <c:v>90</c:v>
                </c:pt>
                <c:pt idx="3">
                  <c:v>111</c:v>
                </c:pt>
                <c:pt idx="4">
                  <c:v>79</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Sheet1!$E$2:$E$6</c:f>
              <c:numCache>
                <c:formatCode>General</c:formatCode>
                <c:ptCount val="5"/>
                <c:pt idx="0">
                  <c:v>73</c:v>
                </c:pt>
                <c:pt idx="1">
                  <c:v>57</c:v>
                </c:pt>
                <c:pt idx="2">
                  <c:v>52</c:v>
                </c:pt>
                <c:pt idx="3">
                  <c:v>58</c:v>
                </c:pt>
                <c:pt idx="4">
                  <c:v>59</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Sheet1!$B$2:$B$4</c:f>
              <c:numCache>
                <c:formatCode>General</c:formatCode>
                <c:ptCount val="3"/>
                <c:pt idx="0">
                  <c:v>236</c:v>
                </c:pt>
                <c:pt idx="1">
                  <c:v>184</c:v>
                </c:pt>
                <c:pt idx="2">
                  <c:v>194</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Sheet1!$C$2:$C$4</c:f>
              <c:numCache>
                <c:formatCode>General</c:formatCode>
                <c:ptCount val="3"/>
                <c:pt idx="0">
                  <c:v>259</c:v>
                </c:pt>
                <c:pt idx="1">
                  <c:v>249</c:v>
                </c:pt>
                <c:pt idx="2">
                  <c:v>302</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Sheet1!$D$2:$D$4</c:f>
              <c:numCache>
                <c:formatCode>General</c:formatCode>
                <c:ptCount val="3"/>
                <c:pt idx="0">
                  <c:v>151</c:v>
                </c:pt>
                <c:pt idx="1">
                  <c:v>132</c:v>
                </c:pt>
                <c:pt idx="2">
                  <c:v>168</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Sheet1!$E$2:$E$4</c:f>
              <c:numCache>
                <c:formatCode>General</c:formatCode>
                <c:ptCount val="3"/>
                <c:pt idx="0">
                  <c:v>35</c:v>
                </c:pt>
                <c:pt idx="1">
                  <c:v>10</c:v>
                </c:pt>
                <c:pt idx="2">
                  <c:v>11</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1"/>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21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28 Sep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POST-CUTOVER — WEEK 3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hardware $526k = 74% of $715k vs 97% pace; this week +$116k gross (HW discounts −$8k) — Solotel Corporate is $102k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closed-won this week 34 deals · $131k (HubSpot); no new MRR invoiced in the week — Q3 holds at $12.1k = 43% of OKR2</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6.1% — 20.75h billed of 342h available, time logging reaching 17% of PS items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498 vs resolved 420 — backlog 675 and rising for the first time since cutover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AI-draft adoption 2.9% this week (2 of 68) — 1 sent as-is, 1 edited, 1 rejected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$12k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794760" y="1371600"/>
            <a:ext cx="2057400" cy="310896"/>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nil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1808683" cy="100584"/>
          </a:xfrm>
          <a:prstGeom prst="roundRect">
            <a:avLst>
              <a:gd name="adj" fmla="val 45455"/>
            </a:avLst>
          </a:prstGeom>
          <a:solidFill>
            <a:srgbClr val="B4552D"/>
          </a:solidFill>
          <a:ln/>
        </p:spPr>
      </p:sp>
      <p:sp>
        <p:nvSpPr>
          <p:cNvPr id="19" name="Shape 17"/>
          <p:cNvSpPr/>
          <p:nvPr/>
        </p:nvSpPr>
        <p:spPr>
          <a:xfrm>
            <a:off x="466435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43%</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+$116k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49822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(97%)</a:t>
            </a:r>
            <a:endParaRPr lang="en-US" sz="1200" dirty="0"/>
          </a:p>
        </p:txBody>
      </p:sp>
      <p:sp>
        <p:nvSpPr>
          <p:cNvPr id="31" name="Text 29"/>
          <p:cNvSpPr txBox="1"/>
          <p:nvPr/>
        </p:nvSpPr>
        <p:spPr>
          <a:xfrm>
            <a:off x="2221992" y="2724912"/>
            <a:ext cx="219456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617720" y="2724912"/>
            <a:ext cx="338328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27 Sep · Δ wk = 21–27 Sep</a:t>
            </a:r>
            <a:endParaRPr lang="en-US" sz="800" dirty="0"/>
          </a:p>
        </p:txBody>
      </p:sp>
      <p:sp>
        <p:nvSpPr>
          <p:cNvPr id="33" name="Text 31"/>
          <p:cNvSpPr txBox="1"/>
          <p:nvPr/>
        </p:nvSpPr>
        <p:spPr>
          <a:xfrm>
            <a:off x="612648" y="2944368"/>
            <a:ext cx="155448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221992"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807208"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429000"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4617720"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8" name="Text 36"/>
          <p:cNvSpPr txBox="1"/>
          <p:nvPr/>
        </p:nvSpPr>
        <p:spPr>
          <a:xfrm>
            <a:off x="5294376" y="2944368"/>
            <a:ext cx="65836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9" name="Text 37"/>
          <p:cNvSpPr txBox="1"/>
          <p:nvPr/>
        </p:nvSpPr>
        <p:spPr>
          <a:xfrm>
            <a:off x="6007608"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0" name="Text 38"/>
          <p:cNvSpPr txBox="1"/>
          <p:nvPr/>
        </p:nvSpPr>
        <p:spPr>
          <a:xfrm>
            <a:off x="7013448" y="2944368"/>
            <a:ext cx="82296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1" name="Shape 39"/>
          <p:cNvSpPr/>
          <p:nvPr/>
        </p:nvSpPr>
        <p:spPr>
          <a:xfrm>
            <a:off x="612648" y="3461004"/>
            <a:ext cx="7232904" cy="6401"/>
          </a:xfrm>
          <a:prstGeom prst="rect">
            <a:avLst/>
          </a:prstGeom>
          <a:solidFill>
            <a:srgbClr val="E2EAEE"/>
          </a:solidFill>
          <a:ln/>
        </p:spPr>
      </p:sp>
      <p:sp>
        <p:nvSpPr>
          <p:cNvPr id="42" name="Text 40"/>
          <p:cNvSpPr txBox="1"/>
          <p:nvPr/>
        </p:nvSpPr>
        <p:spPr>
          <a:xfrm>
            <a:off x="612648" y="318211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3" name="Text 41"/>
          <p:cNvSpPr txBox="1"/>
          <p:nvPr/>
        </p:nvSpPr>
        <p:spPr>
          <a:xfrm>
            <a:off x="2221992" y="318211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4" name="Text 42"/>
          <p:cNvSpPr txBox="1"/>
          <p:nvPr/>
        </p:nvSpPr>
        <p:spPr>
          <a:xfrm>
            <a:off x="2807208" y="318211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5" name="Shape 43"/>
          <p:cNvSpPr/>
          <p:nvPr/>
        </p:nvSpPr>
        <p:spPr>
          <a:xfrm>
            <a:off x="3465576" y="3294126"/>
            <a:ext cx="731520" cy="100584"/>
          </a:xfrm>
          <a:prstGeom prst="roundRect">
            <a:avLst>
              <a:gd name="adj" fmla="val 45455"/>
            </a:avLst>
          </a:prstGeom>
          <a:solidFill>
            <a:srgbClr val="E2EAEE"/>
          </a:solidFill>
          <a:ln/>
        </p:spPr>
      </p:sp>
      <p:sp>
        <p:nvSpPr>
          <p:cNvPr id="46" name="Shape 44"/>
          <p:cNvSpPr/>
          <p:nvPr/>
        </p:nvSpPr>
        <p:spPr>
          <a:xfrm>
            <a:off x="3465576" y="3294126"/>
            <a:ext cx="651053" cy="100584"/>
          </a:xfrm>
          <a:prstGeom prst="roundRect">
            <a:avLst>
              <a:gd name="adj" fmla="val 45455"/>
            </a:avLst>
          </a:prstGeom>
          <a:solidFill>
            <a:srgbClr val="B4552D"/>
          </a:solidFill>
          <a:ln/>
        </p:spPr>
      </p:sp>
      <p:sp>
        <p:nvSpPr>
          <p:cNvPr id="47" name="Shape 45"/>
          <p:cNvSpPr/>
          <p:nvPr/>
        </p:nvSpPr>
        <p:spPr>
          <a:xfrm>
            <a:off x="4165092" y="3248406"/>
            <a:ext cx="20117" cy="192024"/>
          </a:xfrm>
          <a:prstGeom prst="rect">
            <a:avLst/>
          </a:prstGeom>
          <a:solidFill>
            <a:srgbClr val="12293A"/>
          </a:solidFill>
          <a:ln/>
        </p:spPr>
      </p:sp>
      <p:sp>
        <p:nvSpPr>
          <p:cNvPr id="48" name="Text 46"/>
          <p:cNvSpPr txBox="1"/>
          <p:nvPr/>
        </p:nvSpPr>
        <p:spPr>
          <a:xfrm>
            <a:off x="4233672"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49" name="Text 47"/>
          <p:cNvSpPr txBox="1"/>
          <p:nvPr/>
        </p:nvSpPr>
        <p:spPr>
          <a:xfrm>
            <a:off x="4617720" y="318211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0" name="Text 48"/>
          <p:cNvSpPr txBox="1"/>
          <p:nvPr/>
        </p:nvSpPr>
        <p:spPr>
          <a:xfrm>
            <a:off x="5294376" y="318211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1" name="Shape 49"/>
          <p:cNvSpPr/>
          <p:nvPr/>
        </p:nvSpPr>
        <p:spPr>
          <a:xfrm>
            <a:off x="6044184" y="3294126"/>
            <a:ext cx="731520" cy="100584"/>
          </a:xfrm>
          <a:prstGeom prst="roundRect">
            <a:avLst>
              <a:gd name="adj" fmla="val 45455"/>
            </a:avLst>
          </a:prstGeom>
          <a:solidFill>
            <a:srgbClr val="E2EAEE"/>
          </a:solidFill>
          <a:ln/>
        </p:spPr>
      </p:sp>
      <p:sp>
        <p:nvSpPr>
          <p:cNvPr id="52" name="Shape 50"/>
          <p:cNvSpPr/>
          <p:nvPr/>
        </p:nvSpPr>
        <p:spPr>
          <a:xfrm>
            <a:off x="6044184" y="3294126"/>
            <a:ext cx="270662" cy="100584"/>
          </a:xfrm>
          <a:prstGeom prst="roundRect">
            <a:avLst>
              <a:gd name="adj" fmla="val 45455"/>
            </a:avLst>
          </a:prstGeom>
          <a:solidFill>
            <a:srgbClr val="B4552D"/>
          </a:solidFill>
          <a:ln/>
        </p:spPr>
      </p:sp>
      <p:sp>
        <p:nvSpPr>
          <p:cNvPr id="53" name="Shape 51"/>
          <p:cNvSpPr/>
          <p:nvPr/>
        </p:nvSpPr>
        <p:spPr>
          <a:xfrm>
            <a:off x="6743700" y="3248406"/>
            <a:ext cx="20117" cy="192024"/>
          </a:xfrm>
          <a:prstGeom prst="rect">
            <a:avLst/>
          </a:prstGeom>
          <a:solidFill>
            <a:srgbClr val="12293A"/>
          </a:solidFill>
          <a:ln/>
        </p:spPr>
      </p:sp>
      <p:sp>
        <p:nvSpPr>
          <p:cNvPr id="54" name="Text 52"/>
          <p:cNvSpPr txBox="1"/>
          <p:nvPr/>
        </p:nvSpPr>
        <p:spPr>
          <a:xfrm>
            <a:off x="6812280"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5" name="Text 53"/>
          <p:cNvSpPr txBox="1"/>
          <p:nvPr/>
        </p:nvSpPr>
        <p:spPr>
          <a:xfrm>
            <a:off x="7013448" y="3182112"/>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+405</a:t>
            </a:r>
            <a:endParaRPr lang="en-US" sz="850" dirty="0"/>
          </a:p>
        </p:txBody>
      </p:sp>
      <p:sp>
        <p:nvSpPr>
          <p:cNvPr id="56" name="Shape 54"/>
          <p:cNvSpPr/>
          <p:nvPr/>
        </p:nvSpPr>
        <p:spPr>
          <a:xfrm>
            <a:off x="612648" y="3776472"/>
            <a:ext cx="7232904" cy="6401"/>
          </a:xfrm>
          <a:prstGeom prst="rect">
            <a:avLst/>
          </a:prstGeom>
          <a:solidFill>
            <a:srgbClr val="E2EAEE"/>
          </a:solidFill>
          <a:ln/>
        </p:spPr>
      </p:sp>
      <p:sp>
        <p:nvSpPr>
          <p:cNvPr id="57" name="Text 55"/>
          <p:cNvSpPr txBox="1"/>
          <p:nvPr/>
        </p:nvSpPr>
        <p:spPr>
          <a:xfrm>
            <a:off x="612648" y="3497580"/>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58" name="Text 56"/>
          <p:cNvSpPr txBox="1"/>
          <p:nvPr/>
        </p:nvSpPr>
        <p:spPr>
          <a:xfrm>
            <a:off x="2221992" y="349758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59" name="Text 57"/>
          <p:cNvSpPr txBox="1"/>
          <p:nvPr/>
        </p:nvSpPr>
        <p:spPr>
          <a:xfrm>
            <a:off x="2807208" y="349758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60" name="Shape 58"/>
          <p:cNvSpPr/>
          <p:nvPr/>
        </p:nvSpPr>
        <p:spPr>
          <a:xfrm>
            <a:off x="3465576" y="3609594"/>
            <a:ext cx="731520" cy="100584"/>
          </a:xfrm>
          <a:prstGeom prst="roundRect">
            <a:avLst>
              <a:gd name="adj" fmla="val 45455"/>
            </a:avLst>
          </a:prstGeom>
          <a:solidFill>
            <a:srgbClr val="E2EAEE"/>
          </a:solidFill>
          <a:ln/>
        </p:spPr>
      </p:sp>
      <p:sp>
        <p:nvSpPr>
          <p:cNvPr id="61" name="Shape 59"/>
          <p:cNvSpPr/>
          <p:nvPr/>
        </p:nvSpPr>
        <p:spPr>
          <a:xfrm>
            <a:off x="3465576" y="3609594"/>
            <a:ext cx="490118" cy="100584"/>
          </a:xfrm>
          <a:prstGeom prst="roundRect">
            <a:avLst>
              <a:gd name="adj" fmla="val 45455"/>
            </a:avLst>
          </a:prstGeom>
          <a:solidFill>
            <a:srgbClr val="B4552D"/>
          </a:solidFill>
          <a:ln/>
        </p:spPr>
      </p:sp>
      <p:sp>
        <p:nvSpPr>
          <p:cNvPr id="62" name="Shape 60"/>
          <p:cNvSpPr/>
          <p:nvPr/>
        </p:nvSpPr>
        <p:spPr>
          <a:xfrm>
            <a:off x="4165092" y="3563874"/>
            <a:ext cx="20117" cy="192024"/>
          </a:xfrm>
          <a:prstGeom prst="rect">
            <a:avLst/>
          </a:prstGeom>
          <a:solidFill>
            <a:srgbClr val="12293A"/>
          </a:solidFill>
          <a:ln/>
        </p:spPr>
      </p:sp>
      <p:sp>
        <p:nvSpPr>
          <p:cNvPr id="63" name="Text 61"/>
          <p:cNvSpPr txBox="1"/>
          <p:nvPr/>
        </p:nvSpPr>
        <p:spPr>
          <a:xfrm>
            <a:off x="4233672"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67%</a:t>
            </a:r>
            <a:endParaRPr lang="en-US" sz="800" dirty="0"/>
          </a:p>
        </p:txBody>
      </p:sp>
      <p:sp>
        <p:nvSpPr>
          <p:cNvPr id="64" name="Text 62"/>
          <p:cNvSpPr txBox="1"/>
          <p:nvPr/>
        </p:nvSpPr>
        <p:spPr>
          <a:xfrm>
            <a:off x="4617720" y="349758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5" name="Text 63"/>
          <p:cNvSpPr txBox="1"/>
          <p:nvPr/>
        </p:nvSpPr>
        <p:spPr>
          <a:xfrm>
            <a:off x="5294376" y="349758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6" name="Shape 64"/>
          <p:cNvSpPr/>
          <p:nvPr/>
        </p:nvSpPr>
        <p:spPr>
          <a:xfrm>
            <a:off x="6044184" y="3609594"/>
            <a:ext cx="731520" cy="100584"/>
          </a:xfrm>
          <a:prstGeom prst="roundRect">
            <a:avLst>
              <a:gd name="adj" fmla="val 45455"/>
            </a:avLst>
          </a:prstGeom>
          <a:solidFill>
            <a:srgbClr val="E2EAEE"/>
          </a:solidFill>
          <a:ln/>
        </p:spPr>
      </p:sp>
      <p:sp>
        <p:nvSpPr>
          <p:cNvPr id="67" name="Shape 65"/>
          <p:cNvSpPr/>
          <p:nvPr/>
        </p:nvSpPr>
        <p:spPr>
          <a:xfrm>
            <a:off x="6044184" y="3609594"/>
            <a:ext cx="446227" cy="100584"/>
          </a:xfrm>
          <a:prstGeom prst="roundRect">
            <a:avLst>
              <a:gd name="adj" fmla="val 45455"/>
            </a:avLst>
          </a:prstGeom>
          <a:solidFill>
            <a:srgbClr val="B4552D"/>
          </a:solidFill>
          <a:ln/>
        </p:spPr>
      </p:sp>
      <p:sp>
        <p:nvSpPr>
          <p:cNvPr id="68" name="Shape 66"/>
          <p:cNvSpPr/>
          <p:nvPr/>
        </p:nvSpPr>
        <p:spPr>
          <a:xfrm>
            <a:off x="6743700" y="3563874"/>
            <a:ext cx="20117" cy="192024"/>
          </a:xfrm>
          <a:prstGeom prst="rect">
            <a:avLst/>
          </a:prstGeom>
          <a:solidFill>
            <a:srgbClr val="12293A"/>
          </a:solidFill>
          <a:ln/>
        </p:spPr>
      </p:sp>
      <p:sp>
        <p:nvSpPr>
          <p:cNvPr id="69" name="Text 67"/>
          <p:cNvSpPr txBox="1"/>
          <p:nvPr/>
        </p:nvSpPr>
        <p:spPr>
          <a:xfrm>
            <a:off x="6812280"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0" name="Text 68"/>
          <p:cNvSpPr txBox="1"/>
          <p:nvPr/>
        </p:nvSpPr>
        <p:spPr>
          <a:xfrm>
            <a:off x="7013448" y="3497580"/>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+9k</a:t>
            </a:r>
            <a:endParaRPr lang="en-US" sz="850" dirty="0"/>
          </a:p>
        </p:txBody>
      </p:sp>
      <p:sp>
        <p:nvSpPr>
          <p:cNvPr id="71" name="Shape 69"/>
          <p:cNvSpPr/>
          <p:nvPr/>
        </p:nvSpPr>
        <p:spPr>
          <a:xfrm>
            <a:off x="612648" y="4091940"/>
            <a:ext cx="7232904" cy="6401"/>
          </a:xfrm>
          <a:prstGeom prst="rect">
            <a:avLst/>
          </a:prstGeom>
          <a:solidFill>
            <a:srgbClr val="E2EAEE"/>
          </a:solidFill>
          <a:ln/>
        </p:spPr>
      </p:sp>
      <p:sp>
        <p:nvSpPr>
          <p:cNvPr id="72" name="Text 70"/>
          <p:cNvSpPr txBox="1"/>
          <p:nvPr/>
        </p:nvSpPr>
        <p:spPr>
          <a:xfrm>
            <a:off x="612648" y="3813048"/>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3" name="Text 71"/>
          <p:cNvSpPr txBox="1"/>
          <p:nvPr/>
        </p:nvSpPr>
        <p:spPr>
          <a:xfrm>
            <a:off x="2221992" y="3813048"/>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4" name="Text 72"/>
          <p:cNvSpPr txBox="1"/>
          <p:nvPr/>
        </p:nvSpPr>
        <p:spPr>
          <a:xfrm>
            <a:off x="2807208" y="3813048"/>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75" name="Shape 73"/>
          <p:cNvSpPr/>
          <p:nvPr/>
        </p:nvSpPr>
        <p:spPr>
          <a:xfrm>
            <a:off x="3465576" y="3925062"/>
            <a:ext cx="731520" cy="100584"/>
          </a:xfrm>
          <a:prstGeom prst="roundRect">
            <a:avLst>
              <a:gd name="adj" fmla="val 45455"/>
            </a:avLst>
          </a:prstGeom>
          <a:solidFill>
            <a:srgbClr val="E2EAEE"/>
          </a:solidFill>
          <a:ln/>
        </p:spPr>
      </p:sp>
      <p:sp>
        <p:nvSpPr>
          <p:cNvPr id="76" name="Shape 74"/>
          <p:cNvSpPr/>
          <p:nvPr/>
        </p:nvSpPr>
        <p:spPr>
          <a:xfrm>
            <a:off x="3465576" y="3925062"/>
            <a:ext cx="365760" cy="100584"/>
          </a:xfrm>
          <a:prstGeom prst="roundRect">
            <a:avLst>
              <a:gd name="adj" fmla="val 45455"/>
            </a:avLst>
          </a:prstGeom>
          <a:solidFill>
            <a:srgbClr val="B4552D"/>
          </a:solidFill>
          <a:ln/>
        </p:spPr>
      </p:sp>
      <p:sp>
        <p:nvSpPr>
          <p:cNvPr id="77" name="Shape 75"/>
          <p:cNvSpPr/>
          <p:nvPr/>
        </p:nvSpPr>
        <p:spPr>
          <a:xfrm>
            <a:off x="4165092" y="3879342"/>
            <a:ext cx="20117" cy="192024"/>
          </a:xfrm>
          <a:prstGeom prst="rect">
            <a:avLst/>
          </a:prstGeom>
          <a:solidFill>
            <a:srgbClr val="12293A"/>
          </a:solidFill>
          <a:ln/>
        </p:spPr>
      </p:sp>
      <p:sp>
        <p:nvSpPr>
          <p:cNvPr id="78" name="Text 76"/>
          <p:cNvSpPr txBox="1"/>
          <p:nvPr/>
        </p:nvSpPr>
        <p:spPr>
          <a:xfrm>
            <a:off x="4233672"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50%</a:t>
            </a:r>
            <a:endParaRPr lang="en-US" sz="800" dirty="0"/>
          </a:p>
        </p:txBody>
      </p:sp>
      <p:sp>
        <p:nvSpPr>
          <p:cNvPr id="79" name="Text 77"/>
          <p:cNvSpPr txBox="1"/>
          <p:nvPr/>
        </p:nvSpPr>
        <p:spPr>
          <a:xfrm>
            <a:off x="4617720" y="3813048"/>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0" name="Text 78"/>
          <p:cNvSpPr txBox="1"/>
          <p:nvPr/>
        </p:nvSpPr>
        <p:spPr>
          <a:xfrm>
            <a:off x="5294376" y="3813048"/>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1" name="Shape 79"/>
          <p:cNvSpPr/>
          <p:nvPr/>
        </p:nvSpPr>
        <p:spPr>
          <a:xfrm>
            <a:off x="6044184" y="3925062"/>
            <a:ext cx="731520" cy="100584"/>
          </a:xfrm>
          <a:prstGeom prst="roundRect">
            <a:avLst>
              <a:gd name="adj" fmla="val 45455"/>
            </a:avLst>
          </a:prstGeom>
          <a:solidFill>
            <a:srgbClr val="E2EAEE"/>
          </a:solidFill>
          <a:ln/>
        </p:spPr>
      </p:sp>
      <p:sp>
        <p:nvSpPr>
          <p:cNvPr id="82" name="Shape 80"/>
          <p:cNvSpPr/>
          <p:nvPr/>
        </p:nvSpPr>
        <p:spPr>
          <a:xfrm>
            <a:off x="6044184" y="3925062"/>
            <a:ext cx="241402" cy="100584"/>
          </a:xfrm>
          <a:prstGeom prst="roundRect">
            <a:avLst>
              <a:gd name="adj" fmla="val 45455"/>
            </a:avLst>
          </a:prstGeom>
          <a:solidFill>
            <a:srgbClr val="B4552D"/>
          </a:solidFill>
          <a:ln/>
        </p:spPr>
      </p:sp>
      <p:sp>
        <p:nvSpPr>
          <p:cNvPr id="83" name="Shape 81"/>
          <p:cNvSpPr/>
          <p:nvPr/>
        </p:nvSpPr>
        <p:spPr>
          <a:xfrm>
            <a:off x="6743700" y="3879342"/>
            <a:ext cx="20117" cy="192024"/>
          </a:xfrm>
          <a:prstGeom prst="rect">
            <a:avLst/>
          </a:prstGeom>
          <a:solidFill>
            <a:srgbClr val="12293A"/>
          </a:solidFill>
          <a:ln/>
        </p:spPr>
      </p:sp>
      <p:sp>
        <p:nvSpPr>
          <p:cNvPr id="84" name="Text 82"/>
          <p:cNvSpPr txBox="1"/>
          <p:nvPr/>
        </p:nvSpPr>
        <p:spPr>
          <a:xfrm>
            <a:off x="6812280"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5" name="Text 83"/>
          <p:cNvSpPr txBox="1"/>
          <p:nvPr/>
        </p:nvSpPr>
        <p:spPr>
          <a:xfrm>
            <a:off x="7013448" y="3813048"/>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86" name="Shape 84"/>
          <p:cNvSpPr/>
          <p:nvPr/>
        </p:nvSpPr>
        <p:spPr>
          <a:xfrm>
            <a:off x="612648" y="4407408"/>
            <a:ext cx="7232904" cy="6401"/>
          </a:xfrm>
          <a:prstGeom prst="rect">
            <a:avLst/>
          </a:prstGeom>
          <a:solidFill>
            <a:srgbClr val="E2EAEE"/>
          </a:solidFill>
          <a:ln/>
        </p:spPr>
      </p:sp>
      <p:sp>
        <p:nvSpPr>
          <p:cNvPr id="87" name="Text 85"/>
          <p:cNvSpPr txBox="1"/>
          <p:nvPr/>
        </p:nvSpPr>
        <p:spPr>
          <a:xfrm>
            <a:off x="612648" y="4128516"/>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88" name="Text 86"/>
          <p:cNvSpPr txBox="1"/>
          <p:nvPr/>
        </p:nvSpPr>
        <p:spPr>
          <a:xfrm>
            <a:off x="2221992" y="4128516"/>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89" name="Text 87"/>
          <p:cNvSpPr txBox="1"/>
          <p:nvPr/>
        </p:nvSpPr>
        <p:spPr>
          <a:xfrm>
            <a:off x="2807208" y="4128516"/>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0" name="Shape 88"/>
          <p:cNvSpPr/>
          <p:nvPr/>
        </p:nvSpPr>
        <p:spPr>
          <a:xfrm>
            <a:off x="3465576" y="4240530"/>
            <a:ext cx="731520" cy="100584"/>
          </a:xfrm>
          <a:prstGeom prst="roundRect">
            <a:avLst>
              <a:gd name="adj" fmla="val 45455"/>
            </a:avLst>
          </a:prstGeom>
          <a:solidFill>
            <a:srgbClr val="E2EAEE"/>
          </a:solidFill>
          <a:ln/>
        </p:spPr>
      </p:sp>
      <p:sp>
        <p:nvSpPr>
          <p:cNvPr id="91" name="Shape 89"/>
          <p:cNvSpPr/>
          <p:nvPr/>
        </p:nvSpPr>
        <p:spPr>
          <a:xfrm>
            <a:off x="3465576" y="4240530"/>
            <a:ext cx="197510" cy="100584"/>
          </a:xfrm>
          <a:prstGeom prst="roundRect">
            <a:avLst>
              <a:gd name="adj" fmla="val 45455"/>
            </a:avLst>
          </a:prstGeom>
          <a:solidFill>
            <a:srgbClr val="B4552D"/>
          </a:solidFill>
          <a:ln/>
        </p:spPr>
      </p:sp>
      <p:sp>
        <p:nvSpPr>
          <p:cNvPr id="92" name="Shape 90"/>
          <p:cNvSpPr/>
          <p:nvPr/>
        </p:nvSpPr>
        <p:spPr>
          <a:xfrm>
            <a:off x="4165092" y="4194810"/>
            <a:ext cx="20117" cy="192024"/>
          </a:xfrm>
          <a:prstGeom prst="rect">
            <a:avLst/>
          </a:prstGeom>
          <a:solidFill>
            <a:srgbClr val="12293A"/>
          </a:solidFill>
          <a:ln/>
        </p:spPr>
      </p:sp>
      <p:sp>
        <p:nvSpPr>
          <p:cNvPr id="93" name="Text 91"/>
          <p:cNvSpPr txBox="1"/>
          <p:nvPr/>
        </p:nvSpPr>
        <p:spPr>
          <a:xfrm>
            <a:off x="4233672"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27%</a:t>
            </a:r>
            <a:endParaRPr lang="en-US" sz="800" dirty="0"/>
          </a:p>
        </p:txBody>
      </p:sp>
      <p:sp>
        <p:nvSpPr>
          <p:cNvPr id="94" name="Text 92"/>
          <p:cNvSpPr txBox="1"/>
          <p:nvPr/>
        </p:nvSpPr>
        <p:spPr>
          <a:xfrm>
            <a:off x="4617720" y="4128516"/>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95" name="Text 93"/>
          <p:cNvSpPr txBox="1"/>
          <p:nvPr/>
        </p:nvSpPr>
        <p:spPr>
          <a:xfrm>
            <a:off x="5294376" y="4128516"/>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96" name="Shape 94"/>
          <p:cNvSpPr/>
          <p:nvPr/>
        </p:nvSpPr>
        <p:spPr>
          <a:xfrm>
            <a:off x="6044184" y="4240530"/>
            <a:ext cx="731520" cy="100584"/>
          </a:xfrm>
          <a:prstGeom prst="roundRect">
            <a:avLst>
              <a:gd name="adj" fmla="val 45455"/>
            </a:avLst>
          </a:prstGeom>
          <a:solidFill>
            <a:srgbClr val="E2EAEE"/>
          </a:solidFill>
          <a:ln/>
        </p:spPr>
      </p:sp>
      <p:sp>
        <p:nvSpPr>
          <p:cNvPr id="97" name="Shape 95"/>
          <p:cNvSpPr/>
          <p:nvPr/>
        </p:nvSpPr>
        <p:spPr>
          <a:xfrm>
            <a:off x="6044184" y="4240530"/>
            <a:ext cx="731520" cy="100584"/>
          </a:xfrm>
          <a:prstGeom prst="roundRect">
            <a:avLst>
              <a:gd name="adj" fmla="val 45455"/>
            </a:avLst>
          </a:prstGeom>
          <a:solidFill>
            <a:srgbClr val="B4552D"/>
          </a:solidFill>
          <a:ln/>
        </p:spPr>
      </p:sp>
      <p:sp>
        <p:nvSpPr>
          <p:cNvPr id="98" name="Shape 96"/>
          <p:cNvSpPr/>
          <p:nvPr/>
        </p:nvSpPr>
        <p:spPr>
          <a:xfrm>
            <a:off x="6743700" y="4194810"/>
            <a:ext cx="20117" cy="192024"/>
          </a:xfrm>
          <a:prstGeom prst="rect">
            <a:avLst/>
          </a:prstGeom>
          <a:solidFill>
            <a:srgbClr val="12293A"/>
          </a:solidFill>
          <a:ln/>
        </p:spPr>
      </p:sp>
      <p:sp>
        <p:nvSpPr>
          <p:cNvPr id="99" name="Text 97"/>
          <p:cNvSpPr txBox="1"/>
          <p:nvPr/>
        </p:nvSpPr>
        <p:spPr>
          <a:xfrm>
            <a:off x="6812280"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0" name="Text 98"/>
          <p:cNvSpPr txBox="1"/>
          <p:nvPr/>
        </p:nvSpPr>
        <p:spPr>
          <a:xfrm>
            <a:off x="7013448" y="4128516"/>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01" name="Shape 99"/>
          <p:cNvSpPr/>
          <p:nvPr/>
        </p:nvSpPr>
        <p:spPr>
          <a:xfrm>
            <a:off x="612648" y="4722876"/>
            <a:ext cx="7232904" cy="6401"/>
          </a:xfrm>
          <a:prstGeom prst="rect">
            <a:avLst/>
          </a:prstGeom>
          <a:solidFill>
            <a:srgbClr val="E2EAEE"/>
          </a:solidFill>
          <a:ln/>
        </p:spPr>
      </p:sp>
      <p:sp>
        <p:nvSpPr>
          <p:cNvPr id="102" name="Text 100"/>
          <p:cNvSpPr txBox="1"/>
          <p:nvPr/>
        </p:nvSpPr>
        <p:spPr>
          <a:xfrm>
            <a:off x="612648" y="4443984"/>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3" name="Text 101"/>
          <p:cNvSpPr txBox="1"/>
          <p:nvPr/>
        </p:nvSpPr>
        <p:spPr>
          <a:xfrm>
            <a:off x="2221992" y="4443984"/>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4" name="Text 102"/>
          <p:cNvSpPr txBox="1"/>
          <p:nvPr/>
        </p:nvSpPr>
        <p:spPr>
          <a:xfrm>
            <a:off x="2807208" y="4443984"/>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$205</a:t>
            </a:r>
            <a:endParaRPr lang="en-US" sz="850" dirty="0"/>
          </a:p>
        </p:txBody>
      </p:sp>
      <p:sp>
        <p:nvSpPr>
          <p:cNvPr id="105" name="Shape 103"/>
          <p:cNvSpPr/>
          <p:nvPr/>
        </p:nvSpPr>
        <p:spPr>
          <a:xfrm>
            <a:off x="3465576" y="4555998"/>
            <a:ext cx="731520" cy="100584"/>
          </a:xfrm>
          <a:prstGeom prst="roundRect">
            <a:avLst>
              <a:gd name="adj" fmla="val 45455"/>
            </a:avLst>
          </a:prstGeom>
          <a:solidFill>
            <a:srgbClr val="E2EAEE"/>
          </a:solidFill>
          <a:ln/>
        </p:spPr>
      </p:sp>
      <p:sp>
        <p:nvSpPr>
          <p:cNvPr id="106" name="Shape 104"/>
          <p:cNvSpPr/>
          <p:nvPr/>
        </p:nvSpPr>
        <p:spPr>
          <a:xfrm>
            <a:off x="3465576" y="4555998"/>
            <a:ext cx="73152" cy="100584"/>
          </a:xfrm>
          <a:prstGeom prst="roundRect">
            <a:avLst>
              <a:gd name="adj" fmla="val 62500"/>
            </a:avLst>
          </a:prstGeom>
          <a:solidFill>
            <a:srgbClr val="B4552D"/>
          </a:solidFill>
          <a:ln/>
        </p:spPr>
      </p:sp>
      <p:sp>
        <p:nvSpPr>
          <p:cNvPr id="107" name="Shape 105"/>
          <p:cNvSpPr/>
          <p:nvPr/>
        </p:nvSpPr>
        <p:spPr>
          <a:xfrm>
            <a:off x="4165092" y="4510278"/>
            <a:ext cx="20117" cy="192024"/>
          </a:xfrm>
          <a:prstGeom prst="rect">
            <a:avLst/>
          </a:prstGeom>
          <a:solidFill>
            <a:srgbClr val="12293A"/>
          </a:solidFill>
          <a:ln/>
        </p:spPr>
      </p:sp>
      <p:sp>
        <p:nvSpPr>
          <p:cNvPr id="108" name="Text 106"/>
          <p:cNvSpPr txBox="1"/>
          <p:nvPr/>
        </p:nvSpPr>
        <p:spPr>
          <a:xfrm>
            <a:off x="4233672"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10%</a:t>
            </a:r>
            <a:endParaRPr lang="en-US" sz="800" dirty="0"/>
          </a:p>
        </p:txBody>
      </p:sp>
      <p:sp>
        <p:nvSpPr>
          <p:cNvPr id="109" name="Text 107"/>
          <p:cNvSpPr txBox="1"/>
          <p:nvPr/>
        </p:nvSpPr>
        <p:spPr>
          <a:xfrm>
            <a:off x="4617720" y="4443984"/>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0" name="Text 108"/>
          <p:cNvSpPr txBox="1"/>
          <p:nvPr/>
        </p:nvSpPr>
        <p:spPr>
          <a:xfrm>
            <a:off x="5294376" y="4443984"/>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1" name="Shape 109"/>
          <p:cNvSpPr/>
          <p:nvPr/>
        </p:nvSpPr>
        <p:spPr>
          <a:xfrm>
            <a:off x="6044184" y="4555998"/>
            <a:ext cx="731520" cy="100584"/>
          </a:xfrm>
          <a:prstGeom prst="roundRect">
            <a:avLst>
              <a:gd name="adj" fmla="val 45455"/>
            </a:avLst>
          </a:prstGeom>
          <a:solidFill>
            <a:srgbClr val="E2EAEE"/>
          </a:solidFill>
          <a:ln/>
        </p:spPr>
      </p:sp>
      <p:sp>
        <p:nvSpPr>
          <p:cNvPr id="112" name="Shape 110"/>
          <p:cNvSpPr/>
          <p:nvPr/>
        </p:nvSpPr>
        <p:spPr>
          <a:xfrm>
            <a:off x="6044184" y="4555998"/>
            <a:ext cx="190195" cy="100584"/>
          </a:xfrm>
          <a:prstGeom prst="roundRect">
            <a:avLst>
              <a:gd name="adj" fmla="val 45455"/>
            </a:avLst>
          </a:prstGeom>
          <a:solidFill>
            <a:srgbClr val="B4552D"/>
          </a:solidFill>
          <a:ln/>
        </p:spPr>
      </p:sp>
      <p:sp>
        <p:nvSpPr>
          <p:cNvPr id="113" name="Shape 111"/>
          <p:cNvSpPr/>
          <p:nvPr/>
        </p:nvSpPr>
        <p:spPr>
          <a:xfrm>
            <a:off x="6743700" y="4510278"/>
            <a:ext cx="20117" cy="192024"/>
          </a:xfrm>
          <a:prstGeom prst="rect">
            <a:avLst/>
          </a:prstGeom>
          <a:solidFill>
            <a:srgbClr val="12293A"/>
          </a:solidFill>
          <a:ln/>
        </p:spPr>
      </p:sp>
      <p:sp>
        <p:nvSpPr>
          <p:cNvPr id="114" name="Text 112"/>
          <p:cNvSpPr txBox="1"/>
          <p:nvPr/>
        </p:nvSpPr>
        <p:spPr>
          <a:xfrm>
            <a:off x="6812280"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15" name="Text 113"/>
          <p:cNvSpPr txBox="1"/>
          <p:nvPr/>
        </p:nvSpPr>
        <p:spPr>
          <a:xfrm>
            <a:off x="7013448" y="4443984"/>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116" name="Shape 114"/>
          <p:cNvSpPr/>
          <p:nvPr/>
        </p:nvSpPr>
        <p:spPr>
          <a:xfrm>
            <a:off x="612648" y="5038344"/>
            <a:ext cx="7232904" cy="6401"/>
          </a:xfrm>
          <a:prstGeom prst="rect">
            <a:avLst/>
          </a:prstGeom>
          <a:solidFill>
            <a:srgbClr val="E2EAEE"/>
          </a:solidFill>
          <a:ln/>
        </p:spPr>
      </p:sp>
      <p:sp>
        <p:nvSpPr>
          <p:cNvPr id="117" name="Text 115"/>
          <p:cNvSpPr txBox="1"/>
          <p:nvPr/>
        </p:nvSpPr>
        <p:spPr>
          <a:xfrm>
            <a:off x="612648" y="475945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18" name="Text 116"/>
          <p:cNvSpPr txBox="1"/>
          <p:nvPr/>
        </p:nvSpPr>
        <p:spPr>
          <a:xfrm>
            <a:off x="2221992" y="475945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19" name="Text 117"/>
          <p:cNvSpPr txBox="1"/>
          <p:nvPr/>
        </p:nvSpPr>
        <p:spPr>
          <a:xfrm>
            <a:off x="2807208" y="475945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0" name="Shape 118"/>
          <p:cNvSpPr/>
          <p:nvPr/>
        </p:nvSpPr>
        <p:spPr>
          <a:xfrm>
            <a:off x="3465576" y="4871466"/>
            <a:ext cx="731520" cy="100584"/>
          </a:xfrm>
          <a:prstGeom prst="roundRect">
            <a:avLst>
              <a:gd name="adj" fmla="val 45455"/>
            </a:avLst>
          </a:prstGeom>
          <a:solidFill>
            <a:srgbClr val="E2EAEE"/>
          </a:solidFill>
          <a:ln/>
        </p:spPr>
      </p:sp>
      <p:sp>
        <p:nvSpPr>
          <p:cNvPr id="121" name="Shape 119"/>
          <p:cNvSpPr/>
          <p:nvPr/>
        </p:nvSpPr>
        <p:spPr>
          <a:xfrm>
            <a:off x="3465576" y="4871466"/>
            <a:ext cx="54864" cy="100584"/>
          </a:xfrm>
          <a:prstGeom prst="roundRect">
            <a:avLst>
              <a:gd name="adj" fmla="val 83333"/>
            </a:avLst>
          </a:prstGeom>
          <a:solidFill>
            <a:srgbClr val="B4552D"/>
          </a:solidFill>
          <a:ln/>
        </p:spPr>
      </p:sp>
      <p:sp>
        <p:nvSpPr>
          <p:cNvPr id="122" name="Shape 120"/>
          <p:cNvSpPr/>
          <p:nvPr/>
        </p:nvSpPr>
        <p:spPr>
          <a:xfrm>
            <a:off x="4165092" y="4825746"/>
            <a:ext cx="20117" cy="192024"/>
          </a:xfrm>
          <a:prstGeom prst="rect">
            <a:avLst/>
          </a:prstGeom>
          <a:solidFill>
            <a:srgbClr val="12293A"/>
          </a:solidFill>
          <a:ln/>
        </p:spPr>
      </p:sp>
      <p:sp>
        <p:nvSpPr>
          <p:cNvPr id="123" name="Text 121"/>
          <p:cNvSpPr txBox="1"/>
          <p:nvPr/>
        </p:nvSpPr>
        <p:spPr>
          <a:xfrm>
            <a:off x="4233672" y="475945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24" name="Text 122"/>
          <p:cNvSpPr txBox="1"/>
          <p:nvPr/>
        </p:nvSpPr>
        <p:spPr>
          <a:xfrm>
            <a:off x="4617720" y="475945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25" name="Text 123"/>
          <p:cNvSpPr txBox="1"/>
          <p:nvPr/>
        </p:nvSpPr>
        <p:spPr>
          <a:xfrm>
            <a:off x="5294376" y="475945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26" name="Text 124"/>
          <p:cNvSpPr txBox="1"/>
          <p:nvPr/>
        </p:nvSpPr>
        <p:spPr>
          <a:xfrm>
            <a:off x="6007608" y="4759452"/>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27" name="Text 125"/>
          <p:cNvSpPr txBox="1"/>
          <p:nvPr/>
        </p:nvSpPr>
        <p:spPr>
          <a:xfrm>
            <a:off x="7013448" y="4759452"/>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28" name="Shape 126"/>
          <p:cNvSpPr/>
          <p:nvPr/>
        </p:nvSpPr>
        <p:spPr>
          <a:xfrm>
            <a:off x="612648" y="5353812"/>
            <a:ext cx="7232904" cy="6401"/>
          </a:xfrm>
          <a:prstGeom prst="rect">
            <a:avLst/>
          </a:prstGeom>
          <a:solidFill>
            <a:srgbClr val="E2EAEE"/>
          </a:solidFill>
          <a:ln/>
        </p:spPr>
      </p:sp>
      <p:sp>
        <p:nvSpPr>
          <p:cNvPr id="129" name="Text 127"/>
          <p:cNvSpPr txBox="1"/>
          <p:nvPr/>
        </p:nvSpPr>
        <p:spPr>
          <a:xfrm>
            <a:off x="612648" y="5074920"/>
            <a:ext cx="1591056"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0" name="Text 128"/>
          <p:cNvSpPr txBox="1"/>
          <p:nvPr/>
        </p:nvSpPr>
        <p:spPr>
          <a:xfrm>
            <a:off x="2221992" y="507492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1" name="Text 129"/>
          <p:cNvSpPr txBox="1"/>
          <p:nvPr/>
        </p:nvSpPr>
        <p:spPr>
          <a:xfrm>
            <a:off x="2807208" y="507492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$40</a:t>
            </a:r>
            <a:endParaRPr lang="en-US" sz="850" dirty="0"/>
          </a:p>
        </p:txBody>
      </p:sp>
      <p:sp>
        <p:nvSpPr>
          <p:cNvPr id="132" name="Shape 130"/>
          <p:cNvSpPr/>
          <p:nvPr/>
        </p:nvSpPr>
        <p:spPr>
          <a:xfrm>
            <a:off x="3465576" y="5186934"/>
            <a:ext cx="731520" cy="100584"/>
          </a:xfrm>
          <a:prstGeom prst="roundRect">
            <a:avLst>
              <a:gd name="adj" fmla="val 45455"/>
            </a:avLst>
          </a:prstGeom>
          <a:solidFill>
            <a:srgbClr val="E2EAEE"/>
          </a:solidFill>
          <a:ln/>
        </p:spPr>
      </p:sp>
      <p:sp>
        <p:nvSpPr>
          <p:cNvPr id="133" name="Shape 131"/>
          <p:cNvSpPr/>
          <p:nvPr/>
        </p:nvSpPr>
        <p:spPr>
          <a:xfrm>
            <a:off x="3465576" y="5186934"/>
            <a:ext cx="54864" cy="100584"/>
          </a:xfrm>
          <a:prstGeom prst="roundRect">
            <a:avLst>
              <a:gd name="adj" fmla="val 83333"/>
            </a:avLst>
          </a:prstGeom>
          <a:solidFill>
            <a:srgbClr val="B4552D"/>
          </a:solidFill>
          <a:ln/>
        </p:spPr>
      </p:sp>
      <p:sp>
        <p:nvSpPr>
          <p:cNvPr id="134" name="Shape 132"/>
          <p:cNvSpPr/>
          <p:nvPr/>
        </p:nvSpPr>
        <p:spPr>
          <a:xfrm>
            <a:off x="4165092" y="5141214"/>
            <a:ext cx="20117" cy="192024"/>
          </a:xfrm>
          <a:prstGeom prst="rect">
            <a:avLst/>
          </a:prstGeom>
          <a:solidFill>
            <a:srgbClr val="12293A"/>
          </a:solidFill>
          <a:ln/>
        </p:spPr>
      </p:sp>
      <p:sp>
        <p:nvSpPr>
          <p:cNvPr id="135" name="Text 133"/>
          <p:cNvSpPr txBox="1"/>
          <p:nvPr/>
        </p:nvSpPr>
        <p:spPr>
          <a:xfrm>
            <a:off x="4233672" y="507492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a:t>
            </a:r>
            <a:endParaRPr lang="en-US" sz="800" dirty="0"/>
          </a:p>
        </p:txBody>
      </p:sp>
      <p:sp>
        <p:nvSpPr>
          <p:cNvPr id="136" name="Text 134"/>
          <p:cNvSpPr txBox="1"/>
          <p:nvPr/>
        </p:nvSpPr>
        <p:spPr>
          <a:xfrm>
            <a:off x="4617720" y="507492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37" name="Text 135"/>
          <p:cNvSpPr txBox="1"/>
          <p:nvPr/>
        </p:nvSpPr>
        <p:spPr>
          <a:xfrm>
            <a:off x="5294376" y="507492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8" name="Text 136"/>
          <p:cNvSpPr txBox="1"/>
          <p:nvPr/>
        </p:nvSpPr>
        <p:spPr>
          <a:xfrm>
            <a:off x="6007608" y="5074920"/>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9" name="Text 137"/>
          <p:cNvSpPr txBox="1"/>
          <p:nvPr/>
        </p:nvSpPr>
        <p:spPr>
          <a:xfrm>
            <a:off x="7013448" y="5074920"/>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0" name="Shape 138"/>
          <p:cNvSpPr/>
          <p:nvPr/>
        </p:nvSpPr>
        <p:spPr>
          <a:xfrm>
            <a:off x="612648" y="5381244"/>
            <a:ext cx="7232904" cy="14630"/>
          </a:xfrm>
          <a:prstGeom prst="rect">
            <a:avLst/>
          </a:prstGeom>
          <a:solidFill>
            <a:srgbClr val="12293A"/>
          </a:solidFill>
          <a:ln/>
        </p:spPr>
      </p:sp>
      <p:sp>
        <p:nvSpPr>
          <p:cNvPr id="141" name="Text 139"/>
          <p:cNvSpPr txBox="1"/>
          <p:nvPr/>
        </p:nvSpPr>
        <p:spPr>
          <a:xfrm>
            <a:off x="612648" y="5426964"/>
            <a:ext cx="1591056"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42" name="Text 140"/>
          <p:cNvSpPr txBox="1"/>
          <p:nvPr/>
        </p:nvSpPr>
        <p:spPr>
          <a:xfrm>
            <a:off x="2221992" y="5426964"/>
            <a:ext cx="56692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43" name="Text 141"/>
          <p:cNvSpPr txBox="1"/>
          <p:nvPr/>
        </p:nvSpPr>
        <p:spPr>
          <a:xfrm>
            <a:off x="2807208" y="5426964"/>
            <a:ext cx="56692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$12k</a:t>
            </a:r>
            <a:endParaRPr lang="en-US" sz="850" dirty="0"/>
          </a:p>
        </p:txBody>
      </p:sp>
      <p:sp>
        <p:nvSpPr>
          <p:cNvPr id="144" name="Text 142"/>
          <p:cNvSpPr txBox="1"/>
          <p:nvPr/>
        </p:nvSpPr>
        <p:spPr>
          <a:xfrm>
            <a:off x="4617720" y="5426964"/>
            <a:ext cx="64008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45" name="Text 143"/>
          <p:cNvSpPr txBox="1"/>
          <p:nvPr/>
        </p:nvSpPr>
        <p:spPr>
          <a:xfrm>
            <a:off x="5294376" y="5426964"/>
            <a:ext cx="65836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46" name="Text 144"/>
          <p:cNvSpPr txBox="1"/>
          <p:nvPr/>
        </p:nvSpPr>
        <p:spPr>
          <a:xfrm>
            <a:off x="6007608" y="5426964"/>
            <a:ext cx="969264"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47" name="Text 145"/>
          <p:cNvSpPr txBox="1"/>
          <p:nvPr/>
        </p:nvSpPr>
        <p:spPr>
          <a:xfrm>
            <a:off x="7013448" y="5426964"/>
            <a:ext cx="82296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+116k</a:t>
            </a:r>
            <a:endParaRPr lang="en-US" sz="850" dirty="0"/>
          </a:p>
        </p:txBody>
      </p:sp>
      <p:sp>
        <p:nvSpPr>
          <p:cNvPr id="148" name="Text 146"/>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live 27 Sep) · H&amp;L Pay net new $1,770/mo is tracked separately and never sits inside core MRR</a:t>
            </a:r>
            <a:endParaRPr lang="en-US" sz="700" dirty="0"/>
          </a:p>
        </p:txBody>
      </p:sp>
      <p:sp>
        <p:nvSpPr>
          <p:cNvPr id="149" name="Shape 147"/>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1" name="Text 149"/>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is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a 97% pace mark. The 21–27 Sep 2026 extract added $116k gross — the biggest week of the quarter — but $102k of it is one Corporate account (Solotel) booked to Jasmine, who jumps to 115% of target.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Discounts eased in proportion: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hardware discounts ran -$8.4k on $115.6k gross (7%) against -$10.2k on $37.6k (27%) last week. Net hardware for the week is $107.2k.</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New MRR did not move at all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The register carries no new-MRR rows dated 21–27 Sep 2026, so Q3 stays at $12,129 — 43% of the $28k OKR2 against a 97% pace mark. The last entry was 18 Sep; the next dated ones are 28 Sep ($598, Piermount) and 30 Sep ($62) — inside Q3 but after this reporting week.</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day 89 of 92 in Q3 (Jul–Sep) at week end 27 Sep.</a:t>
            </a:r>
            <a:endParaRPr lang="en-US" sz="900" dirty="0"/>
          </a:p>
        </p:txBody>
      </p:sp>
      <p:sp>
        <p:nvSpPr>
          <p:cNvPr id="152" name="Shape 150"/>
          <p:cNvSpPr/>
          <p:nvPr/>
        </p:nvSpPr>
        <p:spPr>
          <a:xfrm>
            <a:off x="7585862" y="6510528"/>
            <a:ext cx="4191610" cy="256032"/>
          </a:xfrm>
          <a:prstGeom prst="roundRect">
            <a:avLst>
              <a:gd name="adj" fmla="val 46429"/>
            </a:avLst>
          </a:prstGeom>
          <a:solidFill>
            <a:srgbClr val="12293A"/>
          </a:solidFill>
          <a:ln/>
        </p:spPr>
      </p:sp>
      <p:sp>
        <p:nvSpPr>
          <p:cNvPr id="153" name="Text 151"/>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21–27 Sep + MRR movement register (live)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US$221</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A$310 · 6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67%</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6 placed / 3 lost by count · 46%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47054"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US$1,297</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21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083486"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US$721</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638222"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US$221</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7432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406736" cy="164592"/>
          </a:xfrm>
          <a:prstGeom prst="rect">
            <a:avLst/>
          </a:prstGeom>
          <a:solidFill>
            <a:srgbClr val="3D8F5F"/>
          </a:solidFill>
          <a:ln/>
        </p:spPr>
      </p:sp>
      <p:sp>
        <p:nvSpPr>
          <p:cNvPr id="59" name="Text 57"/>
          <p:cNvSpPr txBox="1"/>
          <p:nvPr/>
        </p:nvSpPr>
        <p:spPr>
          <a:xfrm>
            <a:off x="1828800" y="4782312"/>
            <a:ext cx="4067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9%</a:t>
            </a:r>
            <a:endParaRPr lang="en-US" sz="650" dirty="0"/>
          </a:p>
        </p:txBody>
      </p:sp>
      <p:sp>
        <p:nvSpPr>
          <p:cNvPr id="60" name="Shape 58"/>
          <p:cNvSpPr/>
          <p:nvPr/>
        </p:nvSpPr>
        <p:spPr>
          <a:xfrm>
            <a:off x="2253824" y="4800600"/>
            <a:ext cx="3874492" cy="164592"/>
          </a:xfrm>
          <a:prstGeom prst="rect">
            <a:avLst/>
          </a:prstGeom>
          <a:solidFill>
            <a:srgbClr val="2C8394"/>
          </a:solidFill>
          <a:ln/>
        </p:spPr>
      </p:sp>
      <p:sp>
        <p:nvSpPr>
          <p:cNvPr id="61" name="Text 59"/>
          <p:cNvSpPr txBox="1"/>
          <p:nvPr/>
        </p:nvSpPr>
        <p:spPr>
          <a:xfrm>
            <a:off x="2253824" y="4782312"/>
            <a:ext cx="38744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81%</a:t>
            </a:r>
            <a:endParaRPr lang="en-US" sz="650" dirty="0"/>
          </a:p>
        </p:txBody>
      </p:sp>
      <p:sp>
        <p:nvSpPr>
          <p:cNvPr id="62" name="Shape 60"/>
          <p:cNvSpPr/>
          <p:nvPr/>
        </p:nvSpPr>
        <p:spPr>
          <a:xfrm>
            <a:off x="6146605" y="4800600"/>
            <a:ext cx="473651" cy="164592"/>
          </a:xfrm>
          <a:prstGeom prst="rect">
            <a:avLst/>
          </a:prstGeom>
          <a:solidFill>
            <a:srgbClr val="B4552D"/>
          </a:solidFill>
          <a:ln/>
        </p:spPr>
      </p:sp>
      <p:sp>
        <p:nvSpPr>
          <p:cNvPr id="63" name="Text 61"/>
          <p:cNvSpPr txBox="1"/>
          <p:nvPr/>
        </p:nvSpPr>
        <p:spPr>
          <a:xfrm>
            <a:off x="6146605" y="4782312"/>
            <a:ext cx="47365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695836" cy="164592"/>
          </a:xfrm>
          <a:prstGeom prst="rect">
            <a:avLst/>
          </a:prstGeom>
          <a:solidFill>
            <a:srgbClr val="3D8F5F"/>
          </a:solidFill>
          <a:ln/>
        </p:spPr>
      </p:sp>
      <p:sp>
        <p:nvSpPr>
          <p:cNvPr id="66" name="Text 64"/>
          <p:cNvSpPr txBox="1"/>
          <p:nvPr/>
        </p:nvSpPr>
        <p:spPr>
          <a:xfrm>
            <a:off x="1828800" y="5093208"/>
            <a:ext cx="6958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67" name="Shape 65"/>
          <p:cNvSpPr/>
          <p:nvPr/>
        </p:nvSpPr>
        <p:spPr>
          <a:xfrm>
            <a:off x="2542924" y="5111496"/>
            <a:ext cx="3711126" cy="164592"/>
          </a:xfrm>
          <a:prstGeom prst="rect">
            <a:avLst/>
          </a:prstGeom>
          <a:solidFill>
            <a:srgbClr val="2C8394"/>
          </a:solidFill>
          <a:ln/>
        </p:spPr>
      </p:sp>
      <p:sp>
        <p:nvSpPr>
          <p:cNvPr id="68" name="Text 66"/>
          <p:cNvSpPr txBox="1"/>
          <p:nvPr/>
        </p:nvSpPr>
        <p:spPr>
          <a:xfrm>
            <a:off x="2542924" y="5093208"/>
            <a:ext cx="371112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78%</a:t>
            </a:r>
            <a:endParaRPr lang="en-US" sz="650" dirty="0"/>
          </a:p>
        </p:txBody>
      </p:sp>
      <p:sp>
        <p:nvSpPr>
          <p:cNvPr id="69" name="Shape 67"/>
          <p:cNvSpPr/>
          <p:nvPr/>
        </p:nvSpPr>
        <p:spPr>
          <a:xfrm>
            <a:off x="6272338" y="5111496"/>
            <a:ext cx="347918" cy="164592"/>
          </a:xfrm>
          <a:prstGeom prst="rect">
            <a:avLst/>
          </a:prstGeom>
          <a:solidFill>
            <a:srgbClr val="B4552D"/>
          </a:solidFill>
          <a:ln/>
        </p:spPr>
      </p:sp>
      <p:sp>
        <p:nvSpPr>
          <p:cNvPr id="70" name="Text 68"/>
          <p:cNvSpPr txBox="1"/>
          <p:nvPr/>
        </p:nvSpPr>
        <p:spPr>
          <a:xfrm>
            <a:off x="6272338" y="5093208"/>
            <a:ext cx="347918"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US$221</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 orders placed since 1 Jul (US$221) against 3 lost — 67% by count, 46%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30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28 Sep workbook adds no identifications or referrals, so these figures are unchanged from last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28 Sep</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6.1%</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20.75h billed of 342h available · target 80% · restates upward as hours land</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of 63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656173"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10.50h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27.6%</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501640"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8.00h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21.1%</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109362"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1.75h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4.6%</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20.75h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6.1%</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PS people on PS-pipeline tickets open now or closed this week, at 38h each. Lopez, Hikuroa, Magabo, Ho, Fenwick and Hettiarachchy hold PS tickets but are not PS staff — they and their hours are excluded.</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16174"/>
            <a:ext cx="1371600" cy="54864"/>
          </a:xfrm>
          <a:prstGeom prst="roundRect">
            <a:avLst>
              <a:gd name="adj" fmla="val 50000"/>
            </a:avLst>
          </a:prstGeom>
          <a:solidFill>
            <a:srgbClr val="E2EAEE"/>
          </a:solidFill>
          <a:ln/>
        </p:spPr>
      </p:sp>
      <p:sp>
        <p:nvSpPr>
          <p:cNvPr id="96" name="Shape 94"/>
          <p:cNvSpPr/>
          <p:nvPr/>
        </p:nvSpPr>
        <p:spPr>
          <a:xfrm>
            <a:off x="8823960" y="2916174"/>
            <a:ext cx="1371600" cy="54864"/>
          </a:xfrm>
          <a:prstGeom prst="roundRect">
            <a:avLst>
              <a:gd name="adj" fmla="val 50000"/>
            </a:avLst>
          </a:prstGeom>
          <a:solidFill>
            <a:srgbClr val="2C8394"/>
          </a:solidFill>
          <a:ln/>
        </p:spPr>
      </p:sp>
      <p:sp>
        <p:nvSpPr>
          <p:cNvPr id="97" name="Text 95"/>
          <p:cNvSpPr txBox="1"/>
          <p:nvPr/>
        </p:nvSpPr>
        <p:spPr>
          <a:xfrm>
            <a:off x="10287000" y="2880360"/>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16.50h</a:t>
            </a:r>
            <a:endParaRPr lang="en-US" sz="750" dirty="0"/>
          </a:p>
        </p:txBody>
      </p:sp>
      <p:sp>
        <p:nvSpPr>
          <p:cNvPr id="98" name="Text 96"/>
          <p:cNvSpPr txBox="1"/>
          <p:nvPr/>
        </p:nvSpPr>
        <p:spPr>
          <a:xfrm>
            <a:off x="10972800" y="2880360"/>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79.5%</a:t>
            </a:r>
            <a:endParaRPr lang="en-US" sz="750" dirty="0"/>
          </a:p>
        </p:txBody>
      </p:sp>
      <p:sp>
        <p:nvSpPr>
          <p:cNvPr id="99" name="Text 97"/>
          <p:cNvSpPr txBox="1"/>
          <p:nvPr/>
        </p:nvSpPr>
        <p:spPr>
          <a:xfrm>
            <a:off x="7379208" y="3006852"/>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042666"/>
            <a:ext cx="1371600" cy="54864"/>
          </a:xfrm>
          <a:prstGeom prst="roundRect">
            <a:avLst>
              <a:gd name="adj" fmla="val 50000"/>
            </a:avLst>
          </a:prstGeom>
          <a:solidFill>
            <a:srgbClr val="E2EAEE"/>
          </a:solidFill>
          <a:ln/>
        </p:spPr>
      </p:sp>
      <p:sp>
        <p:nvSpPr>
          <p:cNvPr id="101" name="Shape 99"/>
          <p:cNvSpPr/>
          <p:nvPr/>
        </p:nvSpPr>
        <p:spPr>
          <a:xfrm>
            <a:off x="8823960" y="3042666"/>
            <a:ext cx="166255" cy="54864"/>
          </a:xfrm>
          <a:prstGeom prst="roundRect">
            <a:avLst>
              <a:gd name="adj" fmla="val 50000"/>
            </a:avLst>
          </a:prstGeom>
          <a:solidFill>
            <a:srgbClr val="2C8394"/>
          </a:solidFill>
          <a:ln/>
        </p:spPr>
      </p:sp>
      <p:sp>
        <p:nvSpPr>
          <p:cNvPr id="102" name="Text 100"/>
          <p:cNvSpPr txBox="1"/>
          <p:nvPr/>
        </p:nvSpPr>
        <p:spPr>
          <a:xfrm>
            <a:off x="10287000" y="3006852"/>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3" name="Text 101"/>
          <p:cNvSpPr txBox="1"/>
          <p:nvPr/>
        </p:nvSpPr>
        <p:spPr>
          <a:xfrm>
            <a:off x="10972800" y="3006852"/>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4" name="Text 102"/>
          <p:cNvSpPr txBox="1"/>
          <p:nvPr/>
        </p:nvSpPr>
        <p:spPr>
          <a:xfrm>
            <a:off x="7379208" y="3133344"/>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Not required</a:t>
            </a:r>
            <a:endParaRPr lang="en-US" sz="700" dirty="0"/>
          </a:p>
        </p:txBody>
      </p:sp>
      <p:sp>
        <p:nvSpPr>
          <p:cNvPr id="105" name="Shape 103"/>
          <p:cNvSpPr/>
          <p:nvPr/>
        </p:nvSpPr>
        <p:spPr>
          <a:xfrm>
            <a:off x="8823960" y="3169158"/>
            <a:ext cx="1371600" cy="54864"/>
          </a:xfrm>
          <a:prstGeom prst="roundRect">
            <a:avLst>
              <a:gd name="adj" fmla="val 50000"/>
            </a:avLst>
          </a:prstGeom>
          <a:solidFill>
            <a:srgbClr val="E2EAEE"/>
          </a:solidFill>
          <a:ln/>
        </p:spPr>
      </p:sp>
      <p:sp>
        <p:nvSpPr>
          <p:cNvPr id="106" name="Shape 104"/>
          <p:cNvSpPr/>
          <p:nvPr/>
        </p:nvSpPr>
        <p:spPr>
          <a:xfrm>
            <a:off x="8823960" y="3169158"/>
            <a:ext cx="166255" cy="54864"/>
          </a:xfrm>
          <a:prstGeom prst="roundRect">
            <a:avLst>
              <a:gd name="adj" fmla="val 50000"/>
            </a:avLst>
          </a:prstGeom>
          <a:solidFill>
            <a:srgbClr val="2C8394"/>
          </a:solidFill>
          <a:ln/>
        </p:spPr>
      </p:sp>
      <p:sp>
        <p:nvSpPr>
          <p:cNvPr id="107" name="Text 105"/>
          <p:cNvSpPr txBox="1"/>
          <p:nvPr/>
        </p:nvSpPr>
        <p:spPr>
          <a:xfrm>
            <a:off x="10287000" y="3133344"/>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8" name="Text 106"/>
          <p:cNvSpPr txBox="1"/>
          <p:nvPr/>
        </p:nvSpPr>
        <p:spPr>
          <a:xfrm>
            <a:off x="10972800" y="3133344"/>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9" name="Text 107"/>
          <p:cNvSpPr txBox="1"/>
          <p:nvPr/>
        </p:nvSpPr>
        <p:spPr>
          <a:xfrm>
            <a:off x="7379208" y="3259836"/>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Warranty</a:t>
            </a:r>
            <a:endParaRPr lang="en-US" sz="700" dirty="0"/>
          </a:p>
        </p:txBody>
      </p:sp>
      <p:sp>
        <p:nvSpPr>
          <p:cNvPr id="110" name="Shape 108"/>
          <p:cNvSpPr/>
          <p:nvPr/>
        </p:nvSpPr>
        <p:spPr>
          <a:xfrm>
            <a:off x="8823960" y="3295650"/>
            <a:ext cx="1371600" cy="54864"/>
          </a:xfrm>
          <a:prstGeom prst="roundRect">
            <a:avLst>
              <a:gd name="adj" fmla="val 50000"/>
            </a:avLst>
          </a:prstGeom>
          <a:solidFill>
            <a:srgbClr val="E2EAEE"/>
          </a:solidFill>
          <a:ln/>
        </p:spPr>
      </p:sp>
      <p:sp>
        <p:nvSpPr>
          <p:cNvPr id="111" name="Shape 109"/>
          <p:cNvSpPr/>
          <p:nvPr/>
        </p:nvSpPr>
        <p:spPr>
          <a:xfrm>
            <a:off x="8823960" y="3295650"/>
            <a:ext cx="45720" cy="54864"/>
          </a:xfrm>
          <a:prstGeom prst="roundRect">
            <a:avLst>
              <a:gd name="adj" fmla="val 60000"/>
            </a:avLst>
          </a:prstGeom>
          <a:solidFill>
            <a:srgbClr val="2C8394"/>
          </a:solidFill>
          <a:ln/>
        </p:spPr>
      </p:sp>
      <p:sp>
        <p:nvSpPr>
          <p:cNvPr id="112" name="Text 110"/>
          <p:cNvSpPr txBox="1"/>
          <p:nvPr/>
        </p:nvSpPr>
        <p:spPr>
          <a:xfrm>
            <a:off x="10287000" y="3259836"/>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0.25h</a:t>
            </a:r>
            <a:endParaRPr lang="en-US" sz="750" dirty="0"/>
          </a:p>
        </p:txBody>
      </p:sp>
      <p:sp>
        <p:nvSpPr>
          <p:cNvPr id="113" name="Text 111"/>
          <p:cNvSpPr txBox="1"/>
          <p:nvPr/>
        </p:nvSpPr>
        <p:spPr>
          <a:xfrm>
            <a:off x="10972800" y="3259836"/>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a:t>
            </a:r>
            <a:endParaRPr lang="en-US" sz="750" dirty="0"/>
          </a:p>
        </p:txBody>
      </p:sp>
      <p:sp>
        <p:nvSpPr>
          <p:cNvPr id="114" name="Text 112"/>
          <p:cNvSpPr txBox="1"/>
          <p:nvPr/>
        </p:nvSpPr>
        <p:spPr>
          <a:xfrm>
            <a:off x="7379208" y="3386328"/>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15" name="Shape 113"/>
          <p:cNvSpPr/>
          <p:nvPr/>
        </p:nvSpPr>
        <p:spPr>
          <a:xfrm>
            <a:off x="8823960" y="3422142"/>
            <a:ext cx="1371600" cy="54864"/>
          </a:xfrm>
          <a:prstGeom prst="roundRect">
            <a:avLst>
              <a:gd name="adj" fmla="val 50000"/>
            </a:avLst>
          </a:prstGeom>
          <a:solidFill>
            <a:srgbClr val="E2EAEE"/>
          </a:solidFill>
          <a:ln/>
        </p:spPr>
      </p:sp>
      <p:sp>
        <p:nvSpPr>
          <p:cNvPr id="116" name="Text 114"/>
          <p:cNvSpPr txBox="1"/>
          <p:nvPr/>
        </p:nvSpPr>
        <p:spPr>
          <a:xfrm>
            <a:off x="10287000" y="3386328"/>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7" name="Text 115"/>
          <p:cNvSpPr txBox="1"/>
          <p:nvPr/>
        </p:nvSpPr>
        <p:spPr>
          <a:xfrm>
            <a:off x="10972800" y="3386328"/>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8" name="Text 116"/>
          <p:cNvSpPr txBox="1"/>
          <p:nvPr/>
        </p:nvSpPr>
        <p:spPr>
          <a:xfrm>
            <a:off x="7379208" y="3512820"/>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Training</a:t>
            </a:r>
            <a:endParaRPr lang="en-US" sz="700" dirty="0"/>
          </a:p>
        </p:txBody>
      </p:sp>
      <p:sp>
        <p:nvSpPr>
          <p:cNvPr id="119" name="Shape 117"/>
          <p:cNvSpPr/>
          <p:nvPr/>
        </p:nvSpPr>
        <p:spPr>
          <a:xfrm>
            <a:off x="8823960" y="3548634"/>
            <a:ext cx="1371600" cy="54864"/>
          </a:xfrm>
          <a:prstGeom prst="roundRect">
            <a:avLst>
              <a:gd name="adj" fmla="val 50000"/>
            </a:avLst>
          </a:prstGeom>
          <a:solidFill>
            <a:srgbClr val="E2EAEE"/>
          </a:solidFill>
          <a:ln/>
        </p:spPr>
      </p:sp>
      <p:sp>
        <p:nvSpPr>
          <p:cNvPr id="120" name="Text 118"/>
          <p:cNvSpPr txBox="1"/>
          <p:nvPr/>
        </p:nvSpPr>
        <p:spPr>
          <a:xfrm>
            <a:off x="10287000" y="3512820"/>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21" name="Text 119"/>
          <p:cNvSpPr txBox="1"/>
          <p:nvPr/>
        </p:nvSpPr>
        <p:spPr>
          <a:xfrm>
            <a:off x="10972800" y="3512820"/>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22" name="Shape 120"/>
          <p:cNvSpPr/>
          <p:nvPr/>
        </p:nvSpPr>
        <p:spPr>
          <a:xfrm>
            <a:off x="7379208" y="3657600"/>
            <a:ext cx="4197096" cy="10973"/>
          </a:xfrm>
          <a:prstGeom prst="rect">
            <a:avLst/>
          </a:prstGeom>
          <a:solidFill>
            <a:srgbClr val="12293A"/>
          </a:solidFill>
          <a:ln/>
        </p:spPr>
      </p:sp>
      <p:sp>
        <p:nvSpPr>
          <p:cNvPr id="123" name="Text 121"/>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24" name="Text 122"/>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11 PS items carry time</a:t>
            </a:r>
            <a:endParaRPr lang="en-US" sz="630" dirty="0"/>
          </a:p>
        </p:txBody>
      </p:sp>
      <p:sp>
        <p:nvSpPr>
          <p:cNvPr id="125" name="Text 123"/>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20.75h</a:t>
            </a:r>
            <a:endParaRPr lang="en-US" sz="850" dirty="0"/>
          </a:p>
        </p:txBody>
      </p:sp>
      <p:sp>
        <p:nvSpPr>
          <p:cNvPr id="126" name="Text 124"/>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7" name="Shape 125"/>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8" name="Text 126"/>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9" name="Text 127"/>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30" name="Text 128"/>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31" name="Text 129"/>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32" name="Text 130"/>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33" name="Text 131"/>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34" name="Shape 132"/>
          <p:cNvSpPr/>
          <p:nvPr/>
        </p:nvSpPr>
        <p:spPr>
          <a:xfrm>
            <a:off x="7379208" y="4631436"/>
            <a:ext cx="4197096" cy="5486"/>
          </a:xfrm>
          <a:prstGeom prst="rect">
            <a:avLst/>
          </a:prstGeom>
          <a:solidFill>
            <a:srgbClr val="E2EAEE"/>
          </a:solidFill>
          <a:ln/>
        </p:spPr>
      </p:sp>
      <p:sp>
        <p:nvSpPr>
          <p:cNvPr id="135" name="Text 133"/>
          <p:cNvSpPr txBox="1"/>
          <p:nvPr/>
        </p:nvSpPr>
        <p:spPr>
          <a:xfrm>
            <a:off x="7379208" y="4443984"/>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8–13 Sep</a:t>
            </a:r>
            <a:endParaRPr lang="en-US" sz="750" dirty="0"/>
          </a:p>
        </p:txBody>
      </p:sp>
      <p:sp>
        <p:nvSpPr>
          <p:cNvPr id="136" name="Text 134"/>
          <p:cNvSpPr txBox="1"/>
          <p:nvPr/>
        </p:nvSpPr>
        <p:spPr>
          <a:xfrm>
            <a:off x="8385048" y="4443984"/>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a:t>
            </a:r>
            <a:endParaRPr lang="en-US" sz="750" dirty="0"/>
          </a:p>
        </p:txBody>
      </p:sp>
      <p:sp>
        <p:nvSpPr>
          <p:cNvPr id="137" name="Text 135"/>
          <p:cNvSpPr txBox="1"/>
          <p:nvPr/>
        </p:nvSpPr>
        <p:spPr>
          <a:xfrm>
            <a:off x="8897112" y="4443984"/>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57.50h</a:t>
            </a:r>
            <a:endParaRPr lang="en-US" sz="800" dirty="0"/>
          </a:p>
        </p:txBody>
      </p:sp>
      <p:sp>
        <p:nvSpPr>
          <p:cNvPr id="138" name="Text 136"/>
          <p:cNvSpPr txBox="1"/>
          <p:nvPr/>
        </p:nvSpPr>
        <p:spPr>
          <a:xfrm>
            <a:off x="9729216" y="4443984"/>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16.8%</a:t>
            </a:r>
            <a:endParaRPr lang="en-US" sz="800" dirty="0"/>
          </a:p>
        </p:txBody>
      </p:sp>
      <p:sp>
        <p:nvSpPr>
          <p:cNvPr id="139" name="Text 137"/>
          <p:cNvSpPr txBox="1"/>
          <p:nvPr/>
        </p:nvSpPr>
        <p:spPr>
          <a:xfrm>
            <a:off x="10241280" y="4443984"/>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not reported</a:t>
            </a:r>
            <a:endParaRPr lang="en-US" sz="650" dirty="0"/>
          </a:p>
        </p:txBody>
      </p:sp>
      <p:sp>
        <p:nvSpPr>
          <p:cNvPr id="140" name="Shape 138"/>
          <p:cNvSpPr/>
          <p:nvPr/>
        </p:nvSpPr>
        <p:spPr>
          <a:xfrm>
            <a:off x="7379208" y="4828032"/>
            <a:ext cx="4197096" cy="5486"/>
          </a:xfrm>
          <a:prstGeom prst="rect">
            <a:avLst/>
          </a:prstGeom>
          <a:solidFill>
            <a:srgbClr val="E2EAEE"/>
          </a:solidFill>
          <a:ln/>
        </p:spPr>
      </p:sp>
      <p:sp>
        <p:nvSpPr>
          <p:cNvPr id="141" name="Text 139"/>
          <p:cNvSpPr txBox="1"/>
          <p:nvPr/>
        </p:nvSpPr>
        <p:spPr>
          <a:xfrm>
            <a:off x="7379208" y="4640580"/>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14–20 Sep</a:t>
            </a:r>
            <a:endParaRPr lang="en-US" sz="750" dirty="0"/>
          </a:p>
        </p:txBody>
      </p:sp>
      <p:sp>
        <p:nvSpPr>
          <p:cNvPr id="142" name="Text 140"/>
          <p:cNvSpPr txBox="1"/>
          <p:nvPr/>
        </p:nvSpPr>
        <p:spPr>
          <a:xfrm>
            <a:off x="8385048" y="4640580"/>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a:t>
            </a:r>
            <a:endParaRPr lang="en-US" sz="750" dirty="0"/>
          </a:p>
        </p:txBody>
      </p:sp>
      <p:sp>
        <p:nvSpPr>
          <p:cNvPr id="143" name="Text 141"/>
          <p:cNvSpPr txBox="1"/>
          <p:nvPr/>
        </p:nvSpPr>
        <p:spPr>
          <a:xfrm>
            <a:off x="8897112" y="4640580"/>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24.82h</a:t>
            </a:r>
            <a:endParaRPr lang="en-US" sz="800" dirty="0"/>
          </a:p>
        </p:txBody>
      </p:sp>
      <p:sp>
        <p:nvSpPr>
          <p:cNvPr id="144" name="Text 142"/>
          <p:cNvSpPr txBox="1"/>
          <p:nvPr/>
        </p:nvSpPr>
        <p:spPr>
          <a:xfrm>
            <a:off x="9729216" y="4640580"/>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7.3%</a:t>
            </a:r>
            <a:endParaRPr lang="en-US" sz="800" dirty="0"/>
          </a:p>
        </p:txBody>
      </p:sp>
      <p:sp>
        <p:nvSpPr>
          <p:cNvPr id="145" name="Text 143"/>
          <p:cNvSpPr txBox="1"/>
          <p:nvPr/>
        </p:nvSpPr>
        <p:spPr>
          <a:xfrm>
            <a:off x="10241280" y="4640580"/>
            <a:ext cx="1335024" cy="196596"/>
          </a:xfrm>
          <a:prstGeom prst="rect">
            <a:avLst/>
          </a:prstGeom>
          <a:noFill/>
          <a:ln/>
        </p:spPr>
        <p:txBody>
          <a:bodyPr wrap="square" lIns="0" tIns="0" rIns="0" bIns="0" rtlCol="0" anchor="ctr"/>
          <a:lstStyle/>
          <a:p>
            <a:pPr algn="r" indent="0" marL="0">
              <a:buNone/>
            </a:pPr>
            <a:r>
              <a:rPr lang="en-US" sz="630" b="1" dirty="0">
                <a:solidFill>
                  <a:srgbClr val="B4552D"/>
                </a:solidFill>
                <a:latin typeface="Poppins" pitchFamily="34" charset="0"/>
                <a:ea typeface="Poppins" pitchFamily="34" charset="-122"/>
                <a:cs typeface="Poppins" pitchFamily="34" charset="-120"/>
              </a:rPr>
              <a:t>16.07h · 4.7%   ▲ +8.75h</a:t>
            </a:r>
            <a:endParaRPr lang="en-US" sz="630" dirty="0"/>
          </a:p>
        </p:txBody>
      </p:sp>
      <p:sp>
        <p:nvSpPr>
          <p:cNvPr id="146" name="Shape 144"/>
          <p:cNvSpPr/>
          <p:nvPr/>
        </p:nvSpPr>
        <p:spPr>
          <a:xfrm>
            <a:off x="7379208" y="5024628"/>
            <a:ext cx="4197096" cy="5486"/>
          </a:xfrm>
          <a:prstGeom prst="rect">
            <a:avLst/>
          </a:prstGeom>
          <a:solidFill>
            <a:srgbClr val="E2EAEE"/>
          </a:solidFill>
          <a:ln/>
        </p:spPr>
      </p:sp>
      <p:sp>
        <p:nvSpPr>
          <p:cNvPr id="147" name="Text 145"/>
          <p:cNvSpPr txBox="1"/>
          <p:nvPr/>
        </p:nvSpPr>
        <p:spPr>
          <a:xfrm>
            <a:off x="7379208" y="4837176"/>
            <a:ext cx="960120" cy="196596"/>
          </a:xfrm>
          <a:prstGeom prst="rect">
            <a:avLst/>
          </a:prstGeom>
          <a:noFill/>
          <a:ln/>
        </p:spPr>
        <p:txBody>
          <a:bodyPr wrap="square" lIns="0" tIns="0" rIns="0" bIns="0" rtlCol="0" anchor="ctr"/>
          <a:lstStyle/>
          <a:p>
            <a:pPr indent="0" marL="0">
              <a:buNone/>
            </a:pPr>
            <a:r>
              <a:rPr lang="en-US" sz="750" b="1" dirty="0">
                <a:solidFill>
                  <a:srgbClr val="2C8394"/>
                </a:solidFill>
                <a:latin typeface="Poppins" pitchFamily="34" charset="0"/>
                <a:ea typeface="Poppins" pitchFamily="34" charset="-122"/>
                <a:cs typeface="Poppins" pitchFamily="34" charset="-120"/>
              </a:rPr>
              <a:t>21–27 Sep  ●</a:t>
            </a:r>
            <a:endParaRPr lang="en-US" sz="750" dirty="0"/>
          </a:p>
        </p:txBody>
      </p:sp>
      <p:sp>
        <p:nvSpPr>
          <p:cNvPr id="148" name="Text 146"/>
          <p:cNvSpPr txBox="1"/>
          <p:nvPr/>
        </p:nvSpPr>
        <p:spPr>
          <a:xfrm>
            <a:off x="8385048" y="4837176"/>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11</a:t>
            </a:r>
            <a:endParaRPr lang="en-US" sz="750" dirty="0"/>
          </a:p>
        </p:txBody>
      </p:sp>
      <p:sp>
        <p:nvSpPr>
          <p:cNvPr id="149" name="Text 147"/>
          <p:cNvSpPr txBox="1"/>
          <p:nvPr/>
        </p:nvSpPr>
        <p:spPr>
          <a:xfrm>
            <a:off x="8897112" y="4837176"/>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20.75h</a:t>
            </a:r>
            <a:endParaRPr lang="en-US" sz="800" dirty="0"/>
          </a:p>
        </p:txBody>
      </p:sp>
      <p:sp>
        <p:nvSpPr>
          <p:cNvPr id="150" name="Text 148"/>
          <p:cNvSpPr txBox="1"/>
          <p:nvPr/>
        </p:nvSpPr>
        <p:spPr>
          <a:xfrm>
            <a:off x="9729216" y="4837176"/>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6.1%</a:t>
            </a:r>
            <a:endParaRPr lang="en-US" sz="800" dirty="0"/>
          </a:p>
        </p:txBody>
      </p:sp>
      <p:sp>
        <p:nvSpPr>
          <p:cNvPr id="151" name="Text 149"/>
          <p:cNvSpPr txBox="1"/>
          <p:nvPr/>
        </p:nvSpPr>
        <p:spPr>
          <a:xfrm>
            <a:off x="10241280" y="4837176"/>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first report</a:t>
            </a:r>
            <a:endParaRPr lang="en-US" sz="650" dirty="0"/>
          </a:p>
        </p:txBody>
      </p:sp>
      <p:sp>
        <p:nvSpPr>
          <p:cNvPr id="152" name="Text 150"/>
          <p:cNvSpPr txBox="1"/>
          <p:nvPr/>
        </p:nvSpPr>
        <p:spPr>
          <a:xfrm>
            <a:off x="7379208" y="5065776"/>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Hours land retrospectively — treat the current week as a floor. Base held at 9 PS staff × 38h so the weeks compare.</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week's utilisation has already restated upward.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14–20 Sep went out at 16.07h (4.7%) and now stands at 24.82h (7.3%) — Rhys +5.75h, Joshua +2.0h, Isayah +1.0h. This week's 6.1% is a floor, not a result.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89% of the logged total.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10.50h and Joshua Casey 8.00h; 5 PS members logged nothing. 69 PS cases opened this week and Tech carries 79.5% of logged time.</a:t>
            </a:r>
            <a:endParaRPr lang="en-US" sz="900" dirty="0"/>
          </a:p>
        </p:txBody>
      </p:sp>
      <p:sp>
        <p:nvSpPr>
          <p:cNvPr id="156" name="Shape 154"/>
          <p:cNvSpPr/>
          <p:nvPr/>
        </p:nvSpPr>
        <p:spPr>
          <a:xfrm>
            <a:off x="6155741" y="6510528"/>
            <a:ext cx="5621731" cy="256032"/>
          </a:xfrm>
          <a:prstGeom prst="roundRect">
            <a:avLst>
              <a:gd name="adj" fmla="val 46429"/>
            </a:avLst>
          </a:prstGeom>
          <a:solidFill>
            <a:srgbClr val="12293A"/>
          </a:solidFill>
          <a:ln/>
        </p:spPr>
      </p:sp>
      <p:sp>
        <p:nvSpPr>
          <p:cNvPr id="157" name="Text 155"/>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CLOSED WON ARR VS INVOICED ARR BY MONTH · 2026   </a:t>
            </a:r>
            <a:pPr indent="0" marL="0">
              <a:buNone/>
            </a:pPr>
            <a:r>
              <a:rPr lang="en-US" sz="680" dirty="0">
                <a:solidFill>
                  <a:srgbClr val="C88A2E"/>
                </a:solidFill>
                <a:latin typeface="Poppins" pitchFamily="34" charset="0"/>
                <a:ea typeface="Poppins" pitchFamily="34" charset="-122"/>
                <a:cs typeface="Poppins" pitchFamily="34" charset="-120"/>
              </a:rPr>
              <a:t>frozen at cutover</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Frozen at cutover — Creatio ARR basis, as last published. Aug–Sep are not plotted: HubSpot closed-won is deal amount, not the Creatio ARR measure, so a new series starts once the post-cutover months are confirmed.</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GO-LIVE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$250k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497 deals won since Mar · 277 invoiced · 220 outstanding</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$1.17M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262 logos lost · register live</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-$6.3k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Q3 (Jul–Sep) · movement register, live — the base is still shrinking</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DEALS</a:t>
            </a: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Group ◆</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Wayi Restaurant</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$21k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$1,790</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Hallmark Hospitality · 2 venues</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$19k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$1,557</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a:t>
            </a: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BRG · 2 venues</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$492</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Jul</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a:t>
            </a: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Grand Cru - Claremont</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$480</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Downs Club Toowoomba</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$455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Crazy Horse Revue</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$437</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Citi Group - Harp</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Woodside Beach Hotel</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$394</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Bistro Margaux</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$4k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$333</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Install-to-invoice lag runs 60–90 days — wins bill ~a quarter later; March wins still uninvoiced are past normal lag and worth chasing.</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Uninvoiced is top-loaded: Oscars Group is 62% of the $250k awaiting go-live; the top 3 clients are ~78%.</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Churn reads from the movement register (live): $1.17M of ARR across 262 logos since 2025, plus $235k lost to contraction on accounts that stayed. Q3 net MRR is -$6.3k — new business is not covering it.</a:t>
            </a:r>
            <a:endParaRPr lang="en-US" sz="850" dirty="0"/>
          </a:p>
          <a:p>
            <a:pPr indent="0" marL="0">
              <a:buNone/>
            </a:pPr>
            <a:r>
              <a:rPr lang="en-US" sz="85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850" dirty="0">
                <a:solidFill>
                  <a:srgbClr val="8FA1AC"/>
                </a:solidFill>
                <a:latin typeface="Poppins" pitchFamily="34" charset="0"/>
                <a:ea typeface="Poppins" pitchFamily="34" charset="-122"/>
                <a:cs typeface="Poppins" pitchFamily="34" charset="-120"/>
              </a:rPr>
              <a:t>AVC excluded — Creatio MRR field misstated (annual values in the monthly field); correction pending.</a:t>
            </a:r>
            <a:endParaRPr lang="en-US" sz="850" dirty="0"/>
          </a:p>
          <a:p>
            <a:pPr indent="0" marL="0">
              <a:buNone/>
            </a:pPr>
            <a:r>
              <a:rPr lang="en-US" sz="900" b="1" dirty="0">
                <a:solidFill>
                  <a:srgbClr val="2C8394"/>
                </a:solidFill>
                <a:latin typeface="Poppins" pitchFamily="34" charset="0"/>
                <a:ea typeface="Poppins" pitchFamily="34" charset="-122"/>
                <a:cs typeface="Poppins" pitchFamily="34" charset="-120"/>
              </a:rPr>
              <a:t>GO-LIVE CONTEXT</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Oscars Group — </a:t>
            </a:r>
            <a:pPr indent="0" marL="0">
              <a:buNone/>
            </a:pPr>
            <a:r>
              <a:rPr lang="en-US" sz="850" dirty="0">
                <a:solidFill>
                  <a:srgbClr val="3A4B57"/>
                </a:solidFill>
                <a:latin typeface="Poppins" pitchFamily="34" charset="0"/>
                <a:ea typeface="Poppins" pitchFamily="34" charset="-122"/>
                <a:cs typeface="Poppins" pitchFamily="34" charset="-120"/>
              </a:rPr>
              <a:t>Signed — ~1.5x rollout timeline expected. Keen to start but held by old provider's contract terms; asking H&amp;L for a discount to bridge.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Invoiced = new + expansion MRR movements annualised</a:t>
            </a:r>
            <a:endParaRPr lang="en-US" sz="750" dirty="0"/>
          </a:p>
        </p:txBody>
      </p:sp>
      <p:sp>
        <p:nvSpPr>
          <p:cNvPr id="100" name="Shape 97"/>
          <p:cNvSpPr/>
          <p:nvPr/>
        </p:nvSpPr>
        <p:spPr>
          <a:xfrm>
            <a:off x="7337146" y="6510528"/>
            <a:ext cx="4440326" cy="256032"/>
          </a:xfrm>
          <a:prstGeom prst="roundRect">
            <a:avLst>
              <a:gd name="adj" fmla="val 46429"/>
            </a:avLst>
          </a:prstGeom>
          <a:solidFill>
            <a:srgbClr val="12293A"/>
          </a:solidFill>
          <a:ln/>
        </p:spPr>
      </p:sp>
      <p:sp>
        <p:nvSpPr>
          <p:cNvPr id="101" name="Text 98"/>
          <p:cNvSpPr txBox="1"/>
          <p:nvPr/>
        </p:nvSpPr>
        <p:spPr>
          <a:xfrm>
            <a:off x="7337146" y="6510528"/>
            <a:ext cx="4440326"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Finance Weekly Invoicing &amp; Creatio · movement register live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675</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27 Sep</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13,627</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27 Sep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49377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72184" y="2807208"/>
            <a:ext cx="109728" cy="109728"/>
          </a:xfrm>
          <a:prstGeom prst="rect">
            <a:avLst/>
          </a:prstGeom>
          <a:solidFill>
            <a:srgbClr val="6FAEBB"/>
          </a:solidFill>
          <a:ln/>
        </p:spPr>
      </p:sp>
      <p:sp>
        <p:nvSpPr>
          <p:cNvPr id="36" name="Text 34"/>
          <p:cNvSpPr txBox="1"/>
          <p:nvPr/>
        </p:nvSpPr>
        <p:spPr>
          <a:xfrm>
            <a:off x="1609344"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313432" y="2807208"/>
            <a:ext cx="109728" cy="109728"/>
          </a:xfrm>
          <a:prstGeom prst="rect">
            <a:avLst/>
          </a:prstGeom>
          <a:solidFill>
            <a:srgbClr val="C88A2E"/>
          </a:solidFill>
          <a:ln/>
        </p:spPr>
      </p:sp>
      <p:sp>
        <p:nvSpPr>
          <p:cNvPr id="38" name="Text 36"/>
          <p:cNvSpPr txBox="1"/>
          <p:nvPr/>
        </p:nvSpPr>
        <p:spPr>
          <a:xfrm>
            <a:off x="2450592"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154680" y="2807208"/>
            <a:ext cx="109728" cy="109728"/>
          </a:xfrm>
          <a:prstGeom prst="rect">
            <a:avLst/>
          </a:prstGeom>
          <a:solidFill>
            <a:srgbClr val="7A3B21"/>
          </a:solidFill>
          <a:ln/>
        </p:spPr>
      </p:sp>
      <p:sp>
        <p:nvSpPr>
          <p:cNvPr id="40" name="Text 38"/>
          <p:cNvSpPr txBox="1"/>
          <p:nvPr/>
        </p:nvSpPr>
        <p:spPr>
          <a:xfrm>
            <a:off x="3291840"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graphicFrame>
        <p:nvGraphicFramePr>
          <p:cNvPr id="41" name="Chart 0" descr=""/>
          <p:cNvGraphicFramePr/>
          <p:nvPr/>
        </p:nvGraphicFramePr>
        <p:xfrm>
          <a:off x="539496" y="3054096"/>
          <a:ext cx="393192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2" name="Chart 1" descr=""/>
          <p:cNvGraphicFramePr/>
          <p:nvPr/>
        </p:nvGraphicFramePr>
        <p:xfrm>
          <a:off x="4727448" y="3054096"/>
          <a:ext cx="2121408" cy="2697480"/>
        </p:xfrm>
        <a:graphic xmlns:a="http://schemas.openxmlformats.org/drawingml/2006/main">
          <a:graphicData uri="http://schemas.openxmlformats.org/drawingml/2006/chart">
            <c:chart xmlns:c="http://schemas.openxmlformats.org/drawingml/2006/chart" r:id="rId2"/>
          </a:graphicData>
        </a:graphic>
      </p:graphicFrame>
      <p:sp>
        <p:nvSpPr>
          <p:cNvPr id="43" name="Shape 39"/>
          <p:cNvSpPr/>
          <p:nvPr/>
        </p:nvSpPr>
        <p:spPr>
          <a:xfrm>
            <a:off x="4599432" y="3099816"/>
            <a:ext cx="20117" cy="2331720"/>
          </a:xfrm>
          <a:prstGeom prst="rect">
            <a:avLst/>
          </a:prstGeom>
          <a:solidFill>
            <a:srgbClr val="B4552D"/>
          </a:solidFill>
          <a:ln/>
        </p:spPr>
      </p:sp>
      <p:sp>
        <p:nvSpPr>
          <p:cNvPr id="44" name="Shape 40"/>
          <p:cNvSpPr/>
          <p:nvPr/>
        </p:nvSpPr>
        <p:spPr>
          <a:xfrm>
            <a:off x="4142232" y="2761488"/>
            <a:ext cx="960120" cy="201168"/>
          </a:xfrm>
          <a:prstGeom prst="roundRect">
            <a:avLst>
              <a:gd name="adj" fmla="val 50000"/>
            </a:avLst>
          </a:prstGeom>
          <a:solidFill>
            <a:srgbClr val="B4552D"/>
          </a:solidFill>
          <a:ln/>
        </p:spPr>
      </p:sp>
      <p:sp>
        <p:nvSpPr>
          <p:cNvPr id="45" name="Text 41"/>
          <p:cNvSpPr txBox="1"/>
          <p:nvPr/>
        </p:nvSpPr>
        <p:spPr>
          <a:xfrm>
            <a:off x="4142232" y="2761488"/>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46" name="Text 42"/>
          <p:cNvSpPr txBox="1"/>
          <p:nvPr/>
        </p:nvSpPr>
        <p:spPr>
          <a:xfrm>
            <a:off x="960120" y="5641848"/>
            <a:ext cx="310896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47" name="Text 43"/>
          <p:cNvSpPr txBox="1"/>
          <p:nvPr/>
        </p:nvSpPr>
        <p:spPr>
          <a:xfrm>
            <a:off x="4727448" y="5641848"/>
            <a:ext cx="2121408"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48" name="Text 44"/>
          <p:cNvSpPr txBox="1"/>
          <p:nvPr/>
        </p:nvSpPr>
        <p:spPr>
          <a:xfrm>
            <a:off x="612648" y="5925312"/>
            <a:ext cx="6181344" cy="329184"/>
          </a:xfrm>
          <a:prstGeom prst="rect">
            <a:avLst/>
          </a:prstGeom>
          <a:noFill/>
          <a:ln/>
        </p:spPr>
        <p:txBody>
          <a:bodyPr wrap="square" lIns="0" tIns="0" rIns="0" bIns="0" rtlCol="0" anchor="t"/>
          <a:lstStyle/>
          <a:p>
            <a:pPr indent="0" marL="0">
              <a:buNone/>
            </a:pPr>
            <a:r>
              <a:rPr lang="en-US" sz="650" dirty="0">
                <a:solidFill>
                  <a:srgbClr val="8FA1AC"/>
                </a:solidFill>
                <a:latin typeface="Poppins" pitchFamily="34" charset="0"/>
                <a:ea typeface="Poppins" pitchFamily="34" charset="-122"/>
                <a:cs typeface="Poppins" pitchFamily="34" charset="-120"/>
              </a:rPr>
              <a:t>Weeks to 30 Aug are the frozen Creatio series (extracts ended 4 Sep); 13, 20 &amp; 27 Sep read live from HubSpot. The 7 Sep week falls inside the migration and is not reported.</a:t>
            </a:r>
            <a:endParaRPr lang="en-US" sz="650" dirty="0"/>
          </a:p>
        </p:txBody>
      </p:sp>
      <p:sp>
        <p:nvSpPr>
          <p:cNvPr id="49" name="Shape 45"/>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50" name="Text 46"/>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51" name="Text 47"/>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turned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Inflow 498 beat resolved 420 — the first week since cutover where it did. Open rose 575 → 675, and the 8–30 day band carried it (249 → 302). The 90+ tail is still the win: 10 → 11.</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132 → 168 in the week, so 179 cases are now past 30 days against 142 a fortnight ago. Work aged 8–30 days is ageing through rather than closing.</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queue is still the live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626 open cases show no first response. Migrated tickets answered only in Creatio count as unanswered here — treat as a ceiling until the transition washes through.</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52" name="Shape 48"/>
          <p:cNvSpPr/>
          <p:nvPr/>
        </p:nvSpPr>
        <p:spPr>
          <a:xfrm>
            <a:off x="8642909" y="6510528"/>
            <a:ext cx="3134563" cy="256032"/>
          </a:xfrm>
          <a:prstGeom prst="roundRect">
            <a:avLst>
              <a:gd name="adj" fmla="val 46429"/>
            </a:avLst>
          </a:prstGeom>
          <a:solidFill>
            <a:srgbClr val="12293A"/>
          </a:solidFill>
          <a:ln/>
        </p:spPr>
      </p:sp>
      <p:sp>
        <p:nvSpPr>
          <p:cNvPr id="53" name="Text 49"/>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37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10 daily · 43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LAST WEEK</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176,102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 to 27 Sep · derived from the September month-to-date delta since the 20 Sep capture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39502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12%</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Jun</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EDF5F7"/>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10,351</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51" name="Shape 49"/>
          <p:cNvSpPr/>
          <p:nvPr/>
        </p:nvSpPr>
        <p:spPr>
          <a:xfrm>
            <a:off x="4242816" y="2823667"/>
            <a:ext cx="996696" cy="150876"/>
          </a:xfrm>
          <a:prstGeom prst="rect">
            <a:avLst/>
          </a:prstGeom>
          <a:solidFill>
            <a:srgbClr val="D4E9ED"/>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3" name="Shape 51"/>
          <p:cNvSpPr/>
          <p:nvPr/>
        </p:nvSpPr>
        <p:spPr>
          <a:xfrm>
            <a:off x="5321808" y="2823667"/>
            <a:ext cx="996696" cy="150876"/>
          </a:xfrm>
          <a:prstGeom prst="rect">
            <a:avLst/>
          </a:prstGeom>
          <a:solidFill>
            <a:srgbClr val="EDF5F7"/>
          </a:solidFill>
          <a:ln/>
        </p:spPr>
      </p:sp>
      <p:sp>
        <p:nvSpPr>
          <p:cNvPr id="54" name="Text 52"/>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5" name="Text 53"/>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106,995</a:t>
            </a:r>
            <a:endParaRPr lang="en-US" sz="700" dirty="0"/>
          </a:p>
        </p:txBody>
      </p:sp>
      <p:sp>
        <p:nvSpPr>
          <p:cNvPr id="56" name="Text 54"/>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7" name="Shape 55"/>
          <p:cNvSpPr/>
          <p:nvPr/>
        </p:nvSpPr>
        <p:spPr>
          <a:xfrm>
            <a:off x="2084832" y="2997403"/>
            <a:ext cx="996696" cy="150876"/>
          </a:xfrm>
          <a:prstGeom prst="rect">
            <a:avLst/>
          </a:prstGeom>
          <a:solidFill>
            <a:srgbClr val="EDF5F7"/>
          </a:solidFill>
          <a:ln/>
        </p:spPr>
      </p:sp>
      <p:sp>
        <p:nvSpPr>
          <p:cNvPr id="58" name="Text 56"/>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18,954</a:t>
            </a:r>
            <a:endParaRPr lang="en-US" sz="680" dirty="0"/>
          </a:p>
        </p:txBody>
      </p:sp>
      <p:sp>
        <p:nvSpPr>
          <p:cNvPr id="59" name="Shape 57"/>
          <p:cNvSpPr/>
          <p:nvPr/>
        </p:nvSpPr>
        <p:spPr>
          <a:xfrm>
            <a:off x="3163824" y="2997403"/>
            <a:ext cx="996696" cy="150876"/>
          </a:xfrm>
          <a:prstGeom prst="rect">
            <a:avLst/>
          </a:prstGeom>
          <a:solidFill>
            <a:srgbClr val="EDF5F7"/>
          </a:solidFill>
          <a:ln/>
        </p:spPr>
      </p:sp>
      <p:sp>
        <p:nvSpPr>
          <p:cNvPr id="60" name="Text 58"/>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61" name="Shape 59"/>
          <p:cNvSpPr/>
          <p:nvPr/>
        </p:nvSpPr>
        <p:spPr>
          <a:xfrm>
            <a:off x="4242816" y="2997403"/>
            <a:ext cx="996696" cy="150876"/>
          </a:xfrm>
          <a:prstGeom prst="rect">
            <a:avLst/>
          </a:prstGeom>
          <a:solidFill>
            <a:srgbClr val="D4E9ED"/>
          </a:solidFill>
          <a:ln/>
        </p:spPr>
      </p:sp>
      <p:sp>
        <p:nvSpPr>
          <p:cNvPr id="62" name="Text 60"/>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3" name="Shape 61"/>
          <p:cNvSpPr/>
          <p:nvPr/>
        </p:nvSpPr>
        <p:spPr>
          <a:xfrm>
            <a:off x="5321808" y="2997403"/>
            <a:ext cx="996696" cy="150876"/>
          </a:xfrm>
          <a:prstGeom prst="rect">
            <a:avLst/>
          </a:prstGeom>
          <a:solidFill>
            <a:srgbClr val="8FC3CC"/>
          </a:solidFill>
          <a:ln/>
        </p:spPr>
      </p:sp>
      <p:sp>
        <p:nvSpPr>
          <p:cNvPr id="64" name="Text 62"/>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5" name="Text 63"/>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172,623</a:t>
            </a:r>
            <a:endParaRPr lang="en-US" sz="700" dirty="0"/>
          </a:p>
        </p:txBody>
      </p:sp>
      <p:sp>
        <p:nvSpPr>
          <p:cNvPr id="66" name="Text 64"/>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7" name="Shape 65"/>
          <p:cNvSpPr/>
          <p:nvPr/>
        </p:nvSpPr>
        <p:spPr>
          <a:xfrm>
            <a:off x="2084832" y="3171139"/>
            <a:ext cx="996696" cy="150876"/>
          </a:xfrm>
          <a:prstGeom prst="rect">
            <a:avLst/>
          </a:prstGeom>
          <a:solidFill>
            <a:srgbClr val="D4E9ED"/>
          </a:solidFill>
          <a:ln/>
        </p:spPr>
      </p:sp>
      <p:sp>
        <p:nvSpPr>
          <p:cNvPr id="68" name="Text 66"/>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22,385</a:t>
            </a:r>
            <a:endParaRPr lang="en-US" sz="680" dirty="0"/>
          </a:p>
        </p:txBody>
      </p:sp>
      <p:sp>
        <p:nvSpPr>
          <p:cNvPr id="69" name="Shape 67"/>
          <p:cNvSpPr/>
          <p:nvPr/>
        </p:nvSpPr>
        <p:spPr>
          <a:xfrm>
            <a:off x="3163824" y="3171139"/>
            <a:ext cx="996696" cy="150876"/>
          </a:xfrm>
          <a:prstGeom prst="rect">
            <a:avLst/>
          </a:prstGeom>
          <a:solidFill>
            <a:srgbClr val="D4E9ED"/>
          </a:solidFill>
          <a:ln/>
        </p:spPr>
      </p:sp>
      <p:sp>
        <p:nvSpPr>
          <p:cNvPr id="70" name="Text 68"/>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1" name="Shape 69"/>
          <p:cNvSpPr/>
          <p:nvPr/>
        </p:nvSpPr>
        <p:spPr>
          <a:xfrm>
            <a:off x="4242816" y="3171139"/>
            <a:ext cx="996696" cy="150876"/>
          </a:xfrm>
          <a:prstGeom prst="rect">
            <a:avLst/>
          </a:prstGeom>
          <a:solidFill>
            <a:srgbClr val="D4E9ED"/>
          </a:solidFill>
          <a:ln/>
        </p:spPr>
      </p:sp>
      <p:sp>
        <p:nvSpPr>
          <p:cNvPr id="72" name="Text 70"/>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3" name="Shape 71"/>
          <p:cNvSpPr/>
          <p:nvPr/>
        </p:nvSpPr>
        <p:spPr>
          <a:xfrm>
            <a:off x="5321808" y="3171139"/>
            <a:ext cx="996696" cy="150876"/>
          </a:xfrm>
          <a:prstGeom prst="rect">
            <a:avLst/>
          </a:prstGeom>
          <a:solidFill>
            <a:srgbClr val="EDF5F7"/>
          </a:solidFill>
          <a:ln/>
        </p:spPr>
      </p:sp>
      <p:sp>
        <p:nvSpPr>
          <p:cNvPr id="74" name="Text 72"/>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5" name="Text 73"/>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93,253</a:t>
            </a:r>
            <a:endParaRPr lang="en-US" sz="700" dirty="0"/>
          </a:p>
        </p:txBody>
      </p:sp>
      <p:sp>
        <p:nvSpPr>
          <p:cNvPr id="76" name="Text 74"/>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7" name="Shape 75"/>
          <p:cNvSpPr/>
          <p:nvPr/>
        </p:nvSpPr>
        <p:spPr>
          <a:xfrm>
            <a:off x="2084832" y="3344875"/>
            <a:ext cx="996696" cy="150876"/>
          </a:xfrm>
          <a:prstGeom prst="rect">
            <a:avLst/>
          </a:prstGeom>
          <a:solidFill>
            <a:srgbClr val="EDF5F7"/>
          </a:solidFill>
          <a:ln/>
        </p:spPr>
      </p:sp>
      <p:sp>
        <p:nvSpPr>
          <p:cNvPr id="78" name="Text 76"/>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6,280</a:t>
            </a:r>
            <a:endParaRPr lang="en-US" sz="680" dirty="0"/>
          </a:p>
        </p:txBody>
      </p:sp>
      <p:sp>
        <p:nvSpPr>
          <p:cNvPr id="79" name="Shape 77"/>
          <p:cNvSpPr/>
          <p:nvPr/>
        </p:nvSpPr>
        <p:spPr>
          <a:xfrm>
            <a:off x="3163824" y="3344875"/>
            <a:ext cx="996696" cy="150876"/>
          </a:xfrm>
          <a:prstGeom prst="rect">
            <a:avLst/>
          </a:prstGeom>
          <a:solidFill>
            <a:srgbClr val="EDF5F7"/>
          </a:solidFill>
          <a:ln/>
        </p:spPr>
      </p:sp>
      <p:sp>
        <p:nvSpPr>
          <p:cNvPr id="80" name="Text 78"/>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1" name="Shape 79"/>
          <p:cNvSpPr/>
          <p:nvPr/>
        </p:nvSpPr>
        <p:spPr>
          <a:xfrm>
            <a:off x="4242816" y="3344875"/>
            <a:ext cx="996696" cy="150876"/>
          </a:xfrm>
          <a:prstGeom prst="rect">
            <a:avLst/>
          </a:prstGeom>
          <a:solidFill>
            <a:srgbClr val="D4E9ED"/>
          </a:solidFill>
          <a:ln/>
        </p:spPr>
      </p:sp>
      <p:sp>
        <p:nvSpPr>
          <p:cNvPr id="82" name="Text 80"/>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3" name="Shape 81"/>
          <p:cNvSpPr/>
          <p:nvPr/>
        </p:nvSpPr>
        <p:spPr>
          <a:xfrm>
            <a:off x="5321808" y="3344875"/>
            <a:ext cx="996696" cy="150876"/>
          </a:xfrm>
          <a:prstGeom prst="rect">
            <a:avLst/>
          </a:prstGeom>
          <a:solidFill>
            <a:srgbClr val="D4E9ED"/>
          </a:solidFill>
          <a:ln/>
        </p:spPr>
      </p:sp>
      <p:sp>
        <p:nvSpPr>
          <p:cNvPr id="84" name="Text 82"/>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5" name="Text 83"/>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73,291</a:t>
            </a:r>
            <a:endParaRPr lang="en-US" sz="700" dirty="0"/>
          </a:p>
        </p:txBody>
      </p:sp>
      <p:sp>
        <p:nvSpPr>
          <p:cNvPr id="86" name="Text 84"/>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7" name="Shape 85"/>
          <p:cNvSpPr/>
          <p:nvPr/>
        </p:nvSpPr>
        <p:spPr>
          <a:xfrm>
            <a:off x="2084832" y="3518611"/>
            <a:ext cx="996696" cy="150876"/>
          </a:xfrm>
          <a:prstGeom prst="rect">
            <a:avLst/>
          </a:prstGeom>
          <a:solidFill>
            <a:srgbClr val="EDF5F7"/>
          </a:solidFill>
          <a:ln/>
        </p:spPr>
      </p:sp>
      <p:sp>
        <p:nvSpPr>
          <p:cNvPr id="88" name="Text 86"/>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10,549</a:t>
            </a:r>
            <a:endParaRPr lang="en-US" sz="680" dirty="0"/>
          </a:p>
        </p:txBody>
      </p:sp>
      <p:sp>
        <p:nvSpPr>
          <p:cNvPr id="89" name="Shape 87"/>
          <p:cNvSpPr/>
          <p:nvPr/>
        </p:nvSpPr>
        <p:spPr>
          <a:xfrm>
            <a:off x="3163824" y="3518611"/>
            <a:ext cx="996696" cy="150876"/>
          </a:xfrm>
          <a:prstGeom prst="rect">
            <a:avLst/>
          </a:prstGeom>
          <a:solidFill>
            <a:srgbClr val="D4E9ED"/>
          </a:solidFill>
          <a:ln/>
        </p:spPr>
      </p:sp>
      <p:sp>
        <p:nvSpPr>
          <p:cNvPr id="90" name="Text 88"/>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1" name="Shape 89"/>
          <p:cNvSpPr/>
          <p:nvPr/>
        </p:nvSpPr>
        <p:spPr>
          <a:xfrm>
            <a:off x="4242816" y="3518611"/>
            <a:ext cx="996696" cy="150876"/>
          </a:xfrm>
          <a:prstGeom prst="rect">
            <a:avLst/>
          </a:prstGeom>
          <a:solidFill>
            <a:srgbClr val="EDF5F7"/>
          </a:solidFill>
          <a:ln/>
        </p:spPr>
      </p:sp>
      <p:sp>
        <p:nvSpPr>
          <p:cNvPr id="92" name="Text 90"/>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3" name="Shape 91"/>
          <p:cNvSpPr/>
          <p:nvPr/>
        </p:nvSpPr>
        <p:spPr>
          <a:xfrm>
            <a:off x="5321808" y="3518611"/>
            <a:ext cx="996696" cy="150876"/>
          </a:xfrm>
          <a:prstGeom prst="rect">
            <a:avLst/>
          </a:prstGeom>
          <a:solidFill>
            <a:srgbClr val="D4E9ED"/>
          </a:solidFill>
          <a:ln/>
        </p:spPr>
      </p:sp>
      <p:sp>
        <p:nvSpPr>
          <p:cNvPr id="94" name="Text 92"/>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5" name="Text 93"/>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78,553</a:t>
            </a:r>
            <a:endParaRPr lang="en-US" sz="700" dirty="0"/>
          </a:p>
        </p:txBody>
      </p:sp>
      <p:sp>
        <p:nvSpPr>
          <p:cNvPr id="96" name="Text 94"/>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7" name="Shape 95"/>
          <p:cNvSpPr/>
          <p:nvPr/>
        </p:nvSpPr>
        <p:spPr>
          <a:xfrm>
            <a:off x="2084832" y="3692347"/>
            <a:ext cx="996696" cy="150876"/>
          </a:xfrm>
          <a:prstGeom prst="rect">
            <a:avLst/>
          </a:prstGeom>
          <a:solidFill>
            <a:srgbClr val="EDF5F7"/>
          </a:solidFill>
          <a:ln/>
        </p:spPr>
      </p:sp>
      <p:sp>
        <p:nvSpPr>
          <p:cNvPr id="98" name="Text 96"/>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12,955</a:t>
            </a:r>
            <a:endParaRPr lang="en-US" sz="680" dirty="0"/>
          </a:p>
        </p:txBody>
      </p:sp>
      <p:sp>
        <p:nvSpPr>
          <p:cNvPr id="99" name="Shape 97"/>
          <p:cNvSpPr/>
          <p:nvPr/>
        </p:nvSpPr>
        <p:spPr>
          <a:xfrm>
            <a:off x="3163824" y="3692347"/>
            <a:ext cx="996696" cy="150876"/>
          </a:xfrm>
          <a:prstGeom prst="rect">
            <a:avLst/>
          </a:prstGeom>
          <a:solidFill>
            <a:srgbClr val="EDF5F7"/>
          </a:solidFill>
          <a:ln/>
        </p:spPr>
      </p:sp>
      <p:sp>
        <p:nvSpPr>
          <p:cNvPr id="100" name="Text 98"/>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1" name="Shape 99"/>
          <p:cNvSpPr/>
          <p:nvPr/>
        </p:nvSpPr>
        <p:spPr>
          <a:xfrm>
            <a:off x="4242816" y="3692347"/>
            <a:ext cx="996696" cy="150876"/>
          </a:xfrm>
          <a:prstGeom prst="rect">
            <a:avLst/>
          </a:prstGeom>
          <a:solidFill>
            <a:srgbClr val="EDF5F7"/>
          </a:solidFill>
          <a:ln/>
        </p:spPr>
      </p:sp>
      <p:sp>
        <p:nvSpPr>
          <p:cNvPr id="102" name="Text 100"/>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3" name="Shape 101"/>
          <p:cNvSpPr/>
          <p:nvPr/>
        </p:nvSpPr>
        <p:spPr>
          <a:xfrm>
            <a:off x="5321808" y="3692347"/>
            <a:ext cx="996696" cy="150876"/>
          </a:xfrm>
          <a:prstGeom prst="rect">
            <a:avLst/>
          </a:prstGeom>
          <a:solidFill>
            <a:srgbClr val="EDF5F7"/>
          </a:solidFill>
          <a:ln/>
        </p:spPr>
      </p:sp>
      <p:sp>
        <p:nvSpPr>
          <p:cNvPr id="104" name="Text 102"/>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5" name="Text 103"/>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62,862</a:t>
            </a:r>
            <a:endParaRPr lang="en-US" sz="700" dirty="0"/>
          </a:p>
        </p:txBody>
      </p:sp>
      <p:sp>
        <p:nvSpPr>
          <p:cNvPr id="106" name="Text 104"/>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7" name="Text 105"/>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8" name="Text 106"/>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9" name="Shape 107"/>
          <p:cNvSpPr/>
          <p:nvPr/>
        </p:nvSpPr>
        <p:spPr>
          <a:xfrm>
            <a:off x="4242816" y="3866083"/>
            <a:ext cx="996696" cy="150876"/>
          </a:xfrm>
          <a:prstGeom prst="rect">
            <a:avLst/>
          </a:prstGeom>
          <a:solidFill>
            <a:srgbClr val="D4E9ED"/>
          </a:solidFill>
          <a:ln/>
        </p:spPr>
      </p:sp>
      <p:sp>
        <p:nvSpPr>
          <p:cNvPr id="110" name="Text 108"/>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1" name="Shape 109"/>
          <p:cNvSpPr/>
          <p:nvPr/>
        </p:nvSpPr>
        <p:spPr>
          <a:xfrm>
            <a:off x="5321808" y="3866083"/>
            <a:ext cx="996696" cy="150876"/>
          </a:xfrm>
          <a:prstGeom prst="rect">
            <a:avLst/>
          </a:prstGeom>
          <a:solidFill>
            <a:srgbClr val="D4E9ED"/>
          </a:solidFill>
          <a:ln/>
        </p:spPr>
      </p:sp>
      <p:sp>
        <p:nvSpPr>
          <p:cNvPr id="112" name="Text 110"/>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3" name="Text 111"/>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66,145</a:t>
            </a:r>
            <a:endParaRPr lang="en-US" sz="700" dirty="0"/>
          </a:p>
        </p:txBody>
      </p:sp>
      <p:sp>
        <p:nvSpPr>
          <p:cNvPr id="114" name="Text 112"/>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5" name="Shape 113"/>
          <p:cNvSpPr/>
          <p:nvPr/>
        </p:nvSpPr>
        <p:spPr>
          <a:xfrm>
            <a:off x="2084832" y="4039819"/>
            <a:ext cx="996696" cy="150876"/>
          </a:xfrm>
          <a:prstGeom prst="rect">
            <a:avLst/>
          </a:prstGeom>
          <a:solidFill>
            <a:srgbClr val="EDF5F7"/>
          </a:solidFill>
          <a:ln/>
        </p:spPr>
      </p:sp>
      <p:sp>
        <p:nvSpPr>
          <p:cNvPr id="116" name="Text 114"/>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7,046</a:t>
            </a:r>
            <a:endParaRPr lang="en-US" sz="680" dirty="0"/>
          </a:p>
        </p:txBody>
      </p:sp>
      <p:sp>
        <p:nvSpPr>
          <p:cNvPr id="117" name="Shape 115"/>
          <p:cNvSpPr/>
          <p:nvPr/>
        </p:nvSpPr>
        <p:spPr>
          <a:xfrm>
            <a:off x="3163824" y="4039819"/>
            <a:ext cx="996696" cy="150876"/>
          </a:xfrm>
          <a:prstGeom prst="rect">
            <a:avLst/>
          </a:prstGeom>
          <a:solidFill>
            <a:srgbClr val="EDF5F7"/>
          </a:solidFill>
          <a:ln/>
        </p:spPr>
      </p:sp>
      <p:sp>
        <p:nvSpPr>
          <p:cNvPr id="118" name="Text 116"/>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9" name="Shape 117"/>
          <p:cNvSpPr/>
          <p:nvPr/>
        </p:nvSpPr>
        <p:spPr>
          <a:xfrm>
            <a:off x="4242816" y="4039819"/>
            <a:ext cx="996696" cy="150876"/>
          </a:xfrm>
          <a:prstGeom prst="rect">
            <a:avLst/>
          </a:prstGeom>
          <a:solidFill>
            <a:srgbClr val="D4E9ED"/>
          </a:solidFill>
          <a:ln/>
        </p:spPr>
      </p:sp>
      <p:sp>
        <p:nvSpPr>
          <p:cNvPr id="120" name="Text 118"/>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1" name="Shape 119"/>
          <p:cNvSpPr/>
          <p:nvPr/>
        </p:nvSpPr>
        <p:spPr>
          <a:xfrm>
            <a:off x="5321808" y="4039819"/>
            <a:ext cx="996696" cy="150876"/>
          </a:xfrm>
          <a:prstGeom prst="rect">
            <a:avLst/>
          </a:prstGeom>
          <a:solidFill>
            <a:srgbClr val="EDF5F7"/>
          </a:solidFill>
          <a:ln/>
        </p:spPr>
      </p:sp>
      <p:sp>
        <p:nvSpPr>
          <p:cNvPr id="122" name="Text 120"/>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3" name="Text 121"/>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41,216</a:t>
            </a:r>
            <a:endParaRPr lang="en-US" sz="700" dirty="0"/>
          </a:p>
        </p:txBody>
      </p:sp>
      <p:sp>
        <p:nvSpPr>
          <p:cNvPr id="124" name="Text 122"/>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5" name="Shape 123"/>
          <p:cNvSpPr/>
          <p:nvPr/>
        </p:nvSpPr>
        <p:spPr>
          <a:xfrm>
            <a:off x="2084832" y="4213555"/>
            <a:ext cx="996696" cy="150876"/>
          </a:xfrm>
          <a:prstGeom prst="rect">
            <a:avLst/>
          </a:prstGeom>
          <a:solidFill>
            <a:srgbClr val="EDF5F7"/>
          </a:solidFill>
          <a:ln/>
        </p:spPr>
      </p:sp>
      <p:sp>
        <p:nvSpPr>
          <p:cNvPr id="126" name="Text 124"/>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885</a:t>
            </a:r>
            <a:endParaRPr lang="en-US" sz="680" dirty="0"/>
          </a:p>
        </p:txBody>
      </p:sp>
      <p:sp>
        <p:nvSpPr>
          <p:cNvPr id="127" name="Shape 125"/>
          <p:cNvSpPr/>
          <p:nvPr/>
        </p:nvSpPr>
        <p:spPr>
          <a:xfrm>
            <a:off x="3163824" y="4213555"/>
            <a:ext cx="996696" cy="150876"/>
          </a:xfrm>
          <a:prstGeom prst="rect">
            <a:avLst/>
          </a:prstGeom>
          <a:solidFill>
            <a:srgbClr val="EDF5F7"/>
          </a:solidFill>
          <a:ln/>
        </p:spPr>
      </p:sp>
      <p:sp>
        <p:nvSpPr>
          <p:cNvPr id="128" name="Text 126"/>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9" name="Shape 127"/>
          <p:cNvSpPr/>
          <p:nvPr/>
        </p:nvSpPr>
        <p:spPr>
          <a:xfrm>
            <a:off x="4242816" y="4213555"/>
            <a:ext cx="996696" cy="150876"/>
          </a:xfrm>
          <a:prstGeom prst="rect">
            <a:avLst/>
          </a:prstGeom>
          <a:solidFill>
            <a:srgbClr val="EDF5F7"/>
          </a:solidFill>
          <a:ln/>
        </p:spPr>
      </p:sp>
      <p:sp>
        <p:nvSpPr>
          <p:cNvPr id="130" name="Text 128"/>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1" name="Shape 129"/>
          <p:cNvSpPr/>
          <p:nvPr/>
        </p:nvSpPr>
        <p:spPr>
          <a:xfrm>
            <a:off x="5321808" y="4213555"/>
            <a:ext cx="996696" cy="150876"/>
          </a:xfrm>
          <a:prstGeom prst="rect">
            <a:avLst/>
          </a:prstGeom>
          <a:solidFill>
            <a:srgbClr val="EDF5F7"/>
          </a:solidFill>
          <a:ln/>
        </p:spPr>
      </p:sp>
      <p:sp>
        <p:nvSpPr>
          <p:cNvPr id="132" name="Text 130"/>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3" name="Text 131"/>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29,353</a:t>
            </a:r>
            <a:endParaRPr lang="en-US" sz="700" dirty="0"/>
          </a:p>
        </p:txBody>
      </p:sp>
      <p:sp>
        <p:nvSpPr>
          <p:cNvPr id="134" name="Text 132"/>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5" name="Shape 133"/>
          <p:cNvSpPr/>
          <p:nvPr/>
        </p:nvSpPr>
        <p:spPr>
          <a:xfrm>
            <a:off x="2084832" y="4387291"/>
            <a:ext cx="996696" cy="150876"/>
          </a:xfrm>
          <a:prstGeom prst="rect">
            <a:avLst/>
          </a:prstGeom>
          <a:solidFill>
            <a:srgbClr val="EDF5F7"/>
          </a:solidFill>
          <a:ln/>
        </p:spPr>
      </p:sp>
      <p:sp>
        <p:nvSpPr>
          <p:cNvPr id="136" name="Text 134"/>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1,666</a:t>
            </a:r>
            <a:endParaRPr lang="en-US" sz="680" dirty="0"/>
          </a:p>
        </p:txBody>
      </p:sp>
      <p:sp>
        <p:nvSpPr>
          <p:cNvPr id="137" name="Shape 135"/>
          <p:cNvSpPr/>
          <p:nvPr/>
        </p:nvSpPr>
        <p:spPr>
          <a:xfrm>
            <a:off x="3163824" y="4387291"/>
            <a:ext cx="996696" cy="150876"/>
          </a:xfrm>
          <a:prstGeom prst="rect">
            <a:avLst/>
          </a:prstGeom>
          <a:solidFill>
            <a:srgbClr val="EDF5F7"/>
          </a:solidFill>
          <a:ln/>
        </p:spPr>
      </p:sp>
      <p:sp>
        <p:nvSpPr>
          <p:cNvPr id="138" name="Text 136"/>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9" name="Shape 137"/>
          <p:cNvSpPr/>
          <p:nvPr/>
        </p:nvSpPr>
        <p:spPr>
          <a:xfrm>
            <a:off x="4242816" y="4387291"/>
            <a:ext cx="996696" cy="150876"/>
          </a:xfrm>
          <a:prstGeom prst="rect">
            <a:avLst/>
          </a:prstGeom>
          <a:solidFill>
            <a:srgbClr val="EDF5F7"/>
          </a:solidFill>
          <a:ln/>
        </p:spPr>
      </p:sp>
      <p:sp>
        <p:nvSpPr>
          <p:cNvPr id="140" name="Text 138"/>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1" name="Shape 139"/>
          <p:cNvSpPr/>
          <p:nvPr/>
        </p:nvSpPr>
        <p:spPr>
          <a:xfrm>
            <a:off x="5321808" y="4387291"/>
            <a:ext cx="996696" cy="150876"/>
          </a:xfrm>
          <a:prstGeom prst="rect">
            <a:avLst/>
          </a:prstGeom>
          <a:solidFill>
            <a:srgbClr val="EDF5F7"/>
          </a:solidFill>
          <a:ln/>
        </p:spPr>
      </p:sp>
      <p:sp>
        <p:nvSpPr>
          <p:cNvPr id="142" name="Text 140"/>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3" name="Text 141"/>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31,162</a:t>
            </a:r>
            <a:endParaRPr lang="en-US" sz="700" dirty="0"/>
          </a:p>
        </p:txBody>
      </p:sp>
      <p:sp>
        <p:nvSpPr>
          <p:cNvPr id="144" name="Shape 142"/>
          <p:cNvSpPr/>
          <p:nvPr/>
        </p:nvSpPr>
        <p:spPr>
          <a:xfrm>
            <a:off x="594360" y="4553712"/>
            <a:ext cx="7132320" cy="10973"/>
          </a:xfrm>
          <a:prstGeom prst="rect">
            <a:avLst/>
          </a:prstGeom>
          <a:solidFill>
            <a:srgbClr val="12293A"/>
          </a:solidFill>
          <a:ln/>
        </p:spPr>
      </p:sp>
      <p:sp>
        <p:nvSpPr>
          <p:cNvPr id="145" name="Text 143"/>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6" name="Text 144"/>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120,224</a:t>
            </a:r>
            <a:endParaRPr lang="en-US" sz="750" dirty="0"/>
          </a:p>
        </p:txBody>
      </p:sp>
      <p:sp>
        <p:nvSpPr>
          <p:cNvPr id="147" name="Text 145"/>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8" name="Text 146"/>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9" name="Text 147"/>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0" name="Text 148"/>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919,036</a:t>
            </a:r>
            <a:endParaRPr lang="en-US" sz="750" dirty="0"/>
          </a:p>
        </p:txBody>
      </p:sp>
      <p:sp>
        <p:nvSpPr>
          <p:cNvPr id="151" name="Text 149"/>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2" name="Shape 150"/>
          <p:cNvSpPr/>
          <p:nvPr/>
        </p:nvSpPr>
        <p:spPr>
          <a:xfrm>
            <a:off x="2075688" y="4892040"/>
            <a:ext cx="365107" cy="219456"/>
          </a:xfrm>
          <a:prstGeom prst="rect">
            <a:avLst/>
          </a:prstGeom>
          <a:solidFill>
            <a:srgbClr val="D4E9ED"/>
          </a:solidFill>
          <a:ln/>
        </p:spPr>
      </p:sp>
      <p:sp>
        <p:nvSpPr>
          <p:cNvPr id="153" name="Text 151"/>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4" name="Text 152"/>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5" name="Shape 153"/>
          <p:cNvSpPr/>
          <p:nvPr/>
        </p:nvSpPr>
        <p:spPr>
          <a:xfrm>
            <a:off x="2477371" y="4892040"/>
            <a:ext cx="365107" cy="219456"/>
          </a:xfrm>
          <a:prstGeom prst="rect">
            <a:avLst/>
          </a:prstGeom>
          <a:solidFill>
            <a:srgbClr val="D4E9ED"/>
          </a:solidFill>
          <a:ln/>
        </p:spPr>
      </p:sp>
      <p:sp>
        <p:nvSpPr>
          <p:cNvPr id="156" name="Text 154"/>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7" name="Text 155"/>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8" name="Shape 156"/>
          <p:cNvSpPr/>
          <p:nvPr/>
        </p:nvSpPr>
        <p:spPr>
          <a:xfrm>
            <a:off x="2879054" y="4892040"/>
            <a:ext cx="365107" cy="219456"/>
          </a:xfrm>
          <a:prstGeom prst="rect">
            <a:avLst/>
          </a:prstGeom>
          <a:solidFill>
            <a:srgbClr val="D4E9ED"/>
          </a:solidFill>
          <a:ln/>
        </p:spPr>
      </p:sp>
      <p:sp>
        <p:nvSpPr>
          <p:cNvPr id="159" name="Text 157"/>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1" name="Shape 159"/>
          <p:cNvSpPr/>
          <p:nvPr/>
        </p:nvSpPr>
        <p:spPr>
          <a:xfrm>
            <a:off x="3280737" y="4892040"/>
            <a:ext cx="365107" cy="219456"/>
          </a:xfrm>
          <a:prstGeom prst="rect">
            <a:avLst/>
          </a:prstGeom>
          <a:solidFill>
            <a:srgbClr val="B5D9E0"/>
          </a:solidFill>
          <a:ln/>
        </p:spPr>
      </p:sp>
      <p:sp>
        <p:nvSpPr>
          <p:cNvPr id="162" name="Text 160"/>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3" name="Text 161"/>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4" name="Shape 162"/>
          <p:cNvSpPr/>
          <p:nvPr/>
        </p:nvSpPr>
        <p:spPr>
          <a:xfrm>
            <a:off x="3682419" y="4892040"/>
            <a:ext cx="365107" cy="219456"/>
          </a:xfrm>
          <a:prstGeom prst="rect">
            <a:avLst/>
          </a:prstGeom>
          <a:solidFill>
            <a:srgbClr val="B5D9E0"/>
          </a:solidFill>
          <a:ln/>
        </p:spPr>
      </p:sp>
      <p:sp>
        <p:nvSpPr>
          <p:cNvPr id="165" name="Text 163"/>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6" name="Text 164"/>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7" name="Shape 165"/>
          <p:cNvSpPr/>
          <p:nvPr/>
        </p:nvSpPr>
        <p:spPr>
          <a:xfrm>
            <a:off x="4084102" y="4892040"/>
            <a:ext cx="365107" cy="219456"/>
          </a:xfrm>
          <a:prstGeom prst="rect">
            <a:avLst/>
          </a:prstGeom>
          <a:solidFill>
            <a:srgbClr val="B5D9E0"/>
          </a:solidFill>
          <a:ln/>
        </p:spPr>
      </p:sp>
      <p:sp>
        <p:nvSpPr>
          <p:cNvPr id="168" name="Text 166"/>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9" name="Text 167"/>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0" name="Shape 168"/>
          <p:cNvSpPr/>
          <p:nvPr/>
        </p:nvSpPr>
        <p:spPr>
          <a:xfrm>
            <a:off x="4485785" y="4892040"/>
            <a:ext cx="365107" cy="219456"/>
          </a:xfrm>
          <a:prstGeom prst="rect">
            <a:avLst/>
          </a:prstGeom>
          <a:solidFill>
            <a:srgbClr val="B5D9E0"/>
          </a:solidFill>
          <a:ln/>
        </p:spPr>
      </p:sp>
      <p:sp>
        <p:nvSpPr>
          <p:cNvPr id="171" name="Text 169"/>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3" name="Shape 171"/>
          <p:cNvSpPr/>
          <p:nvPr/>
        </p:nvSpPr>
        <p:spPr>
          <a:xfrm>
            <a:off x="4887468" y="4892040"/>
            <a:ext cx="365107" cy="219456"/>
          </a:xfrm>
          <a:prstGeom prst="rect">
            <a:avLst/>
          </a:prstGeom>
          <a:solidFill>
            <a:srgbClr val="B5D9E0"/>
          </a:solidFill>
          <a:ln/>
        </p:spPr>
      </p:sp>
      <p:sp>
        <p:nvSpPr>
          <p:cNvPr id="174" name="Text 172"/>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5" name="Text 173"/>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6" name="Shape 174"/>
          <p:cNvSpPr/>
          <p:nvPr/>
        </p:nvSpPr>
        <p:spPr>
          <a:xfrm>
            <a:off x="5289151" y="4892040"/>
            <a:ext cx="365107" cy="219456"/>
          </a:xfrm>
          <a:prstGeom prst="rect">
            <a:avLst/>
          </a:prstGeom>
          <a:solidFill>
            <a:srgbClr val="D4E9ED"/>
          </a:solidFill>
          <a:ln/>
        </p:spPr>
      </p:sp>
      <p:sp>
        <p:nvSpPr>
          <p:cNvPr id="177" name="Text 175"/>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8" name="Text 176"/>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9" name="Shape 177"/>
          <p:cNvSpPr/>
          <p:nvPr/>
        </p:nvSpPr>
        <p:spPr>
          <a:xfrm>
            <a:off x="5690834" y="4892040"/>
            <a:ext cx="365107" cy="219456"/>
          </a:xfrm>
          <a:prstGeom prst="rect">
            <a:avLst/>
          </a:prstGeom>
          <a:solidFill>
            <a:srgbClr val="2C8394"/>
          </a:solidFill>
          <a:ln/>
        </p:spPr>
      </p:sp>
      <p:sp>
        <p:nvSpPr>
          <p:cNvPr id="180" name="Text 178"/>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1" name="Text 179"/>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2" name="Shape 180"/>
          <p:cNvSpPr/>
          <p:nvPr/>
        </p:nvSpPr>
        <p:spPr>
          <a:xfrm>
            <a:off x="6092517" y="4892040"/>
            <a:ext cx="365107" cy="219456"/>
          </a:xfrm>
          <a:prstGeom prst="rect">
            <a:avLst/>
          </a:prstGeom>
          <a:solidFill>
            <a:srgbClr val="2C8394"/>
          </a:solidFill>
          <a:ln/>
        </p:spPr>
      </p:sp>
      <p:sp>
        <p:nvSpPr>
          <p:cNvPr id="183" name="Text 181"/>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4" name="Text 182"/>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5" name="Shape 183"/>
          <p:cNvSpPr/>
          <p:nvPr/>
        </p:nvSpPr>
        <p:spPr>
          <a:xfrm>
            <a:off x="6494199" y="4892040"/>
            <a:ext cx="365107" cy="219456"/>
          </a:xfrm>
          <a:prstGeom prst="rect">
            <a:avLst/>
          </a:prstGeom>
          <a:solidFill>
            <a:srgbClr val="8FC3CC"/>
          </a:solidFill>
          <a:ln/>
        </p:spPr>
      </p:sp>
      <p:sp>
        <p:nvSpPr>
          <p:cNvPr id="186" name="Text 184"/>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7" name="Text 185"/>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8" name="Shape 186"/>
          <p:cNvSpPr/>
          <p:nvPr/>
        </p:nvSpPr>
        <p:spPr>
          <a:xfrm>
            <a:off x="6895882" y="4892040"/>
            <a:ext cx="365107" cy="219456"/>
          </a:xfrm>
          <a:prstGeom prst="rect">
            <a:avLst/>
          </a:prstGeom>
          <a:solidFill>
            <a:srgbClr val="8FC3CC"/>
          </a:solidFill>
          <a:ln/>
        </p:spPr>
      </p:sp>
      <p:sp>
        <p:nvSpPr>
          <p:cNvPr id="189" name="Text 187"/>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0" name="Text 188"/>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1" name="Shape 189"/>
          <p:cNvSpPr/>
          <p:nvPr/>
        </p:nvSpPr>
        <p:spPr>
          <a:xfrm>
            <a:off x="7297565" y="4892040"/>
            <a:ext cx="365107" cy="219456"/>
          </a:xfrm>
          <a:prstGeom prst="rect">
            <a:avLst/>
          </a:prstGeom>
          <a:solidFill>
            <a:srgbClr val="8FC3CC"/>
          </a:solidFill>
          <a:ln/>
        </p:spPr>
      </p:sp>
      <p:sp>
        <p:nvSpPr>
          <p:cNvPr id="192" name="Text 190"/>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3" name="Text 191"/>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4" name="Text 192"/>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5" name="Shape 193"/>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6" name="Text 194"/>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7" name="Text 195"/>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~476</a:t>
            </a:r>
            <a:endParaRPr lang="en-US" sz="3000" dirty="0"/>
          </a:p>
        </p:txBody>
      </p:sp>
      <p:sp>
        <p:nvSpPr>
          <p:cNvPr id="198" name="Text 196"/>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~137 baseline</a:t>
            </a:r>
            <a:endParaRPr lang="en-US" sz="750" dirty="0"/>
          </a:p>
        </p:txBody>
      </p:sp>
      <p:sp>
        <p:nvSpPr>
          <p:cNvPr id="199" name="Text 197"/>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0" name="Text 198"/>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1" name="Text 199"/>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~244/wk</a:t>
            </a:r>
            <a:endParaRPr lang="en-US" sz="750" dirty="0"/>
          </a:p>
        </p:txBody>
      </p:sp>
      <p:sp>
        <p:nvSpPr>
          <p:cNvPr id="202" name="Text 200"/>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3" name="Text 201"/>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4" name="Text 202"/>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~92/wk</a:t>
            </a:r>
            <a:endParaRPr lang="en-US" sz="750" dirty="0"/>
          </a:p>
        </p:txBody>
      </p:sp>
      <p:sp>
        <p:nvSpPr>
          <p:cNvPr id="205" name="Text 203"/>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6" name="Text 204"/>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07" name="Text 205"/>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~18/wk</a:t>
            </a:r>
            <a:endParaRPr lang="en-US" sz="750" dirty="0"/>
          </a:p>
        </p:txBody>
      </p:sp>
      <p:sp>
        <p:nvSpPr>
          <p:cNvPr id="208" name="Text 206"/>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9" name="Text 207"/>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0" name="Text 208"/>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11" name="Text 209"/>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2" name="Text 210"/>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3" name="Text 211"/>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~14/wk</a:t>
            </a:r>
            <a:endParaRPr lang="en-US" sz="750" dirty="0"/>
          </a:p>
        </p:txBody>
      </p:sp>
      <p:sp>
        <p:nvSpPr>
          <p:cNvPr id="214" name="Text 212"/>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5" name="Text 213"/>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16" name="Text 214"/>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7" name="Text 215"/>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9" name="Text 217"/>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20" name="Text 218"/>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1" name="Text 219"/>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22" name="Text 220"/>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3" name="Text 221"/>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Youssef Medhat</a:t>
            </a:r>
            <a:endParaRPr lang="en-US" sz="750" dirty="0"/>
          </a:p>
        </p:txBody>
      </p:sp>
      <p:sp>
        <p:nvSpPr>
          <p:cNvPr id="224" name="Text 222"/>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5" name="Text 223"/>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6" name="Text 224"/>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7" name="Text 225"/>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8" name="Text 226"/>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9" name="Text 227"/>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30" name="Shape 228"/>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1" name="Text 229"/>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2" name="Text 230"/>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37 of 47 active weekly (10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Cowork is the stickiest surface at 23% DAU/MAU against Claude Code's 12%. September code output stands at 277,261 lines, 176,102 of them since the 20 Sep capture, with Nicolas Ibrahim on 99,693 alone. Bjorn Magabo alone logged 1,050 Cowork sessions in 30 days against 1,126 messages — roughly one message per session, so read it as very short repeated sessions, not depth of use.</a:t>
            </a:r>
            <a:endParaRPr lang="en-US" sz="900" dirty="0"/>
          </a:p>
        </p:txBody>
      </p:sp>
      <p:sp>
        <p:nvSpPr>
          <p:cNvPr id="233" name="Shape 231"/>
          <p:cNvSpPr/>
          <p:nvPr/>
        </p:nvSpPr>
        <p:spPr>
          <a:xfrm>
            <a:off x="8332013" y="6510528"/>
            <a:ext cx="3445459" cy="256032"/>
          </a:xfrm>
          <a:prstGeom prst="roundRect">
            <a:avLst>
              <a:gd name="adj" fmla="val 46429"/>
            </a:avLst>
          </a:prstGeom>
          <a:solidFill>
            <a:srgbClr val="12293A"/>
          </a:solidFill>
          <a:ln/>
        </p:spPr>
      </p:sp>
      <p:sp>
        <p:nvSpPr>
          <p:cNvPr id="234" name="Text 232"/>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27 Sep)</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2026-09-28T12:09:18Z</dcterms:created>
  <dcterms:modified xsi:type="dcterms:W3CDTF">2026-09-28T12:09:18Z</dcterms:modified>
</cp:coreProperties>
</file>