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won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89148</c:v>
                </c:pt>
                <c:pt idx="1">
                  <c:v>53717</c:v>
                </c:pt>
                <c:pt idx="2">
                  <c:v>200064</c:v>
                </c:pt>
                <c:pt idx="3">
                  <c:v>34236</c:v>
                </c:pt>
                <c:pt idx="4">
                  <c:v>39372</c:v>
                </c:pt>
                <c:pt idx="5">
                  <c:v>77748</c:v>
                </c:pt>
                <c:pt idx="6">
                  <c:v>15377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(new + expansion)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30732</c:v>
                </c:pt>
                <c:pt idx="1">
                  <c:v>66948</c:v>
                </c:pt>
                <c:pt idx="2">
                  <c:v>44352</c:v>
                </c:pt>
                <c:pt idx="3">
                  <c:v>58572</c:v>
                </c:pt>
                <c:pt idx="4">
                  <c:v>70788</c:v>
                </c:pt>
                <c:pt idx="5">
                  <c:v>45408</c:v>
                </c:pt>
                <c:pt idx="6">
                  <c:v>90012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255</c:v>
                </c:pt>
                <c:pt idx="2">
                  <c:v>172</c:v>
                </c:pt>
                <c:pt idx="3">
                  <c:v>164</c:v>
                </c:pt>
                <c:pt idx="4">
                  <c:v>151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217</c:v>
                </c:pt>
                <c:pt idx="1">
                  <c:v>228</c:v>
                </c:pt>
                <c:pt idx="2">
                  <c:v>270</c:v>
                </c:pt>
                <c:pt idx="3">
                  <c:v>299</c:v>
                </c:pt>
                <c:pt idx="4">
                  <c:v>297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237</c:v>
                </c:pt>
                <c:pt idx="1">
                  <c:v>85</c:v>
                </c:pt>
                <c:pt idx="2">
                  <c:v>90</c:v>
                </c:pt>
                <c:pt idx="3">
                  <c:v>111</c:v>
                </c:pt>
                <c:pt idx="4">
                  <c:v>79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73</c:v>
                </c:pt>
                <c:pt idx="1">
                  <c:v>57</c:v>
                </c:pt>
                <c:pt idx="2">
                  <c:v>52</c:v>
                </c:pt>
                <c:pt idx="3">
                  <c:v>58</c:v>
                </c:pt>
                <c:pt idx="4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09-13</c:v>
                  </c:pt>
                  <c:pt idx="1">
                    <c:v>09-20</c:v>
                  </c:pt>
                  <c:pt idx="2">
                    <c:v>09-27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236</c:v>
                </c:pt>
                <c:pt idx="1">
                  <c:v>184</c:v>
                </c:pt>
                <c:pt idx="2">
                  <c:v>194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09-13</c:v>
                  </c:pt>
                  <c:pt idx="1">
                    <c:v>09-20</c:v>
                  </c:pt>
                  <c:pt idx="2">
                    <c:v>09-27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259</c:v>
                </c:pt>
                <c:pt idx="1">
                  <c:v>249</c:v>
                </c:pt>
                <c:pt idx="2">
                  <c:v>302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09-13</c:v>
                  </c:pt>
                  <c:pt idx="1">
                    <c:v>09-20</c:v>
                  </c:pt>
                  <c:pt idx="2">
                    <c:v>09-27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151</c:v>
                </c:pt>
                <c:pt idx="1">
                  <c:v>132</c:v>
                </c:pt>
                <c:pt idx="2">
                  <c:v>168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09-13</c:v>
                  </c:pt>
                  <c:pt idx="1">
                    <c:v>09-20</c:v>
                  </c:pt>
                  <c:pt idx="2">
                    <c:v>09-27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35</c:v>
                </c:pt>
                <c:pt idx="1">
                  <c:v>10</c:v>
                </c:pt>
                <c:pt idx="2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1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21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28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POST-CUTOVER — WEEK 3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3rd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Third full week reading from HubSpot — deltas are now week-on-week within the new basis, not cutover bridges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Third clean post-cutover week: inflow 498 vs resolved 420, so the backlog rose.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PS records · total_hours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5E7280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RAMPING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 is now computed: 20.75h billed of 342h available (9 PS staff × 38h). Time logging still reaches only 17% of PS items, so the percentage is a logging floor.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extract current to 27 Sep (received 28 Sep). MRR movement register not refreshed this week — new-MRR held at its 20 Sep value.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file drops received this week. GTM tracker, Claude Admin capture and ValPay export all carry their previous as-at dates on the slide.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$526k = 74% of $715k vs 97% pace; this week +$116k gross (HW discounts −$8k) — Solotel Corporate is $102k of 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34 deals · $131k (HubSpot); new MRR held at $12.1k QTD — movement register not refreshed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 6.1% — 20.75h billed of 342h available, time logging reaching 17% of PS items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498 vs resolved 420 — backlog 675 and rising for the first time since cutover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as at 19 Sep: 10 done · 12 on track · 3 not started · 2 at risk — tracker refresh pending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2.9% this week (2 of 68) — 1 sent as-is, 1 edited, 1 rejected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as at 20 Sep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refresh pending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80868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664354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97%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$526k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+$116k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31126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98226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97%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(97%)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as at 20 Sep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Sysnet Δ wk = 21–27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65105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65092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7066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74370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+405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65092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$87k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44622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74370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6576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65092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$53k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4140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74370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65092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74370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115%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+102k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$205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73152" cy="100584"/>
          </a:xfrm>
          <a:prstGeom prst="roundRect">
            <a:avLst>
              <a:gd name="adj" fmla="val 62500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65092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90195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74370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65092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65092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$526k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+116k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Q3 (movement register, as at 20 Sep) · H&amp;L Pay net new $1,770/mo is tracked separately and never sits inside core MRR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$526k (74%)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 97% pace mark. The 21–27 Sep 2026 extract added $116k gross — the biggest week of the quarter — but $102k of it is one Corporate account (Solotel) booked to Jasmine, who jumps to 115% of target.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Discounts eased in proportion: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ran -$8.4k on $115.6k gross (7%) against -$10.2k on $37.6k (27%) last week. Net hardware for the week is $107.2k.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was not refreshed this week.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is held at $12,129 (43% of the $28k OKR2) as at 20 Sep, against a 97% pace mark. The Sysnet extract's own subscription line moved +$592, which is a different measure and is not carried into MRR.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day 89 of 92 in Q3 (Jul–Sep) at week end 27 Sep.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7088429" y="6510528"/>
            <a:ext cx="468904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088429" y="6510528"/>
            <a:ext cx="46890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 21–27 Sep + MRR movement register (as at 20 Sep)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US$2,103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A$2,953 · 32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US$221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A$310 · 6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A$361 · 3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placed / 3 lost by count · 46%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247054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deals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809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81528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809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US$1,297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8094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32841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429000"/>
            <a:ext cx="2083486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3284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US$721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32841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6758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776472"/>
            <a:ext cx="638222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6758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US$221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67588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402336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4123944"/>
            <a:ext cx="743220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402336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40233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deals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67512" y="3653028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77640" y="3493008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5" name="Text 53"/>
          <p:cNvSpPr txBox="1"/>
          <p:nvPr/>
        </p:nvSpPr>
        <p:spPr>
          <a:xfrm>
            <a:off x="3977640" y="3703320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56" name="Text 54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828800" y="4800600"/>
            <a:ext cx="406736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828800" y="4782312"/>
            <a:ext cx="40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9%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2253824" y="4800600"/>
            <a:ext cx="3874492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2253824" y="4782312"/>
            <a:ext cx="38744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81%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6146605" y="4800600"/>
            <a:ext cx="473651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146605" y="4782312"/>
            <a:ext cx="4736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650" dirty="0"/>
          </a:p>
        </p:txBody>
      </p:sp>
      <p:sp>
        <p:nvSpPr>
          <p:cNvPr id="64" name="Text 62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1828800" y="5111496"/>
            <a:ext cx="695836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828800" y="5093208"/>
            <a:ext cx="6958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2542924" y="5111496"/>
            <a:ext cx="3711126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542924" y="5093208"/>
            <a:ext cx="37111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78%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6272338" y="5111496"/>
            <a:ext cx="347918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272338" y="5093208"/>
            <a:ext cx="3479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7%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3" name="Shape 71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5" name="Shape 73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77" name="Shape 75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8" name="Text 76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80" name="Text 78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2" name="Text 80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3" name="Text 81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most volume</a:t>
            </a:r>
            <a:endParaRPr lang="en-US" sz="530" dirty="0"/>
          </a:p>
        </p:txBody>
      </p:sp>
      <p:sp>
        <p:nvSpPr>
          <p:cNvPr id="85" name="Text 83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US$1,251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US$221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US$44</a:t>
            </a:r>
            <a:endParaRPr lang="en-US" sz="750" dirty="0"/>
          </a:p>
        </p:txBody>
      </p:sp>
      <p:sp>
        <p:nvSpPr>
          <p:cNvPr id="88" name="Text 86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no orders yet</a:t>
            </a:r>
            <a:endParaRPr lang="en-US" sz="530" dirty="0"/>
          </a:p>
        </p:txBody>
      </p:sp>
      <p:sp>
        <p:nvSpPr>
          <p:cNvPr id="90" name="Text 88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US$852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US$213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line priced $0 — value understated</a:t>
            </a:r>
            <a:endParaRPr lang="en-US" sz="530" dirty="0"/>
          </a:p>
        </p:txBody>
      </p:sp>
      <p:sp>
        <p:nvSpPr>
          <p:cNvPr id="95" name="Text 93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100" name="Text 98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4" name="Text 102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   </a:t>
            </a:r>
            <a:pPr indent="0" marL="0">
              <a:buNone/>
            </a:pPr>
            <a:r>
              <a:rPr lang="en-US" sz="6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lines are one month</a:t>
            </a:r>
            <a:endParaRPr lang="en-US" sz="900" dirty="0"/>
          </a:p>
        </p:txBody>
      </p:sp>
      <p:sp>
        <p:nvSpPr>
          <p:cNvPr id="105" name="Text 103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US$15,016</a:t>
            </a:r>
            <a:endParaRPr lang="en-US" sz="1800" dirty="0"/>
          </a:p>
        </p:txBody>
      </p:sp>
      <p:sp>
        <p:nvSpPr>
          <p:cNvPr id="106" name="Text 104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(A$21,084) — the contract value behind the US$2,103 of monthly lines</a:t>
            </a:r>
            <a:endParaRPr lang="en-US" sz="700" dirty="0"/>
          </a:p>
        </p:txBody>
      </p:sp>
      <p:sp>
        <p:nvSpPr>
          <p:cNvPr id="107" name="Text 105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rate not refreshed this week; HubSpot holds no USD field</a:t>
            </a:r>
            <a:endParaRPr lang="en-US" sz="580" dirty="0"/>
          </a:p>
        </p:txBody>
      </p:sp>
      <p:sp>
        <p:nvSpPr>
          <p:cNvPr id="108" name="Shape 106"/>
          <p:cNvSpPr/>
          <p:nvPr/>
        </p:nvSpPr>
        <p:spPr>
          <a:xfrm>
            <a:off x="411480" y="5504688"/>
            <a:ext cx="11365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9" name="Text 107"/>
          <p:cNvSpPr txBox="1"/>
          <p:nvPr/>
        </p:nvSpPr>
        <p:spPr>
          <a:xfrm>
            <a:off x="612648" y="56144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12648" y="5925312"/>
            <a:ext cx="10954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orders placed since 1 Jul (US$221) against 3 lost — 67% by count, 46% by value. All of it is ROAM; Sentinel has US$852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US$2,018 of the US$2,103 open sits in Quote Sent and Negotiation across 30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is priced $0 on every line, so its value reads nil · ROAM lines are one month, not contract value.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ValPay export as at 6 Sep · registers not refreshed this week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REFERRAL ENGINE — 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6466637" y="6510528"/>
            <a:ext cx="5310835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6466637" y="6510528"/>
            <a:ext cx="5310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H&amp;L identification register + ValPay export as at 6 Sep — refresh pending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6.1%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20.75h billed of 342h available · target 80%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233672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398264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AVAILABLE HOURS — THIS WEEK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379976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342h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398264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people assigned to PS-pipeline tickets × 38h standard week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55864" y="1024128"/>
            <a:ext cx="3721608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0456" y="1115568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TIME-LOGGING COVERAGE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02168" y="1298448"/>
            <a:ext cx="3429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0456" y="1691640"/>
            <a:ext cx="3392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of 63 PS items raised this week carry hours — utilisation reads low because logging is ramping, not because delivery stopped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505456"/>
            <a:ext cx="6181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EMPLOYEE  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 against 38h available each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TEAM MEMBER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0" y="28346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28346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 %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2468880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743200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944368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18688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3419856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694176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3895344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169664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4370832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443984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4846320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305409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468880" y="3143250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2468880" y="3143250"/>
            <a:ext cx="656173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29200" y="30540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10.50h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5943600" y="30540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27.6%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329184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Joshua Casey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468880" y="3380994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2468880" y="3380994"/>
            <a:ext cx="501640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29200" y="32918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8.00h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5943600" y="32918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21.1%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640080" y="3529584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Argenis Rafael Guevara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468880" y="3618738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2468880" y="3618738"/>
            <a:ext cx="109362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029200" y="352958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1.75h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5943600" y="352958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4.6%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640080" y="37673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Isayah Kuhlmann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2468880" y="3856482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2468880" y="3856482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029200" y="37673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0.50h</a:t>
            </a:r>
            <a:endParaRPr lang="en-US" sz="800" dirty="0"/>
          </a:p>
        </p:txBody>
      </p:sp>
      <p:sp>
        <p:nvSpPr>
          <p:cNvPr id="62" name="Text 60"/>
          <p:cNvSpPr txBox="1"/>
          <p:nvPr/>
        </p:nvSpPr>
        <p:spPr>
          <a:xfrm>
            <a:off x="5943600" y="37673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1.3%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640080" y="4005072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Gregory St Clare-Hobbs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468880" y="4094226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29200" y="400507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0" y="400507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67" name="Text 65"/>
          <p:cNvSpPr txBox="1"/>
          <p:nvPr/>
        </p:nvSpPr>
        <p:spPr>
          <a:xfrm>
            <a:off x="640080" y="424281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Isaac Mercado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2468880" y="4331970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029200" y="424281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5943600" y="424281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448056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Rodney Nolan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2468880" y="4569714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029200" y="44805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5943600" y="44805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5" name="Text 73"/>
          <p:cNvSpPr txBox="1"/>
          <p:nvPr/>
        </p:nvSpPr>
        <p:spPr>
          <a:xfrm>
            <a:off x="640080" y="4718304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Karim AlRifaii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2468880" y="4807458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029200" y="47183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5943600" y="47183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9" name="Text 77"/>
          <p:cNvSpPr txBox="1"/>
          <p:nvPr/>
        </p:nvSpPr>
        <p:spPr>
          <a:xfrm>
            <a:off x="640080" y="495604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Ryan Neil Orande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68880" y="5045202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029200" y="49560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943600" y="49560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640080" y="5230368"/>
            <a:ext cx="612648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40080" y="5266944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50" dirty="0"/>
          </a:p>
        </p:txBody>
      </p:sp>
      <p:sp>
        <p:nvSpPr>
          <p:cNvPr id="85" name="Text 83"/>
          <p:cNvSpPr txBox="1"/>
          <p:nvPr/>
        </p:nvSpPr>
        <p:spPr>
          <a:xfrm>
            <a:off x="2468880" y="526694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PS people × 38h = 342h available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029200" y="526694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20.75h</a:t>
            </a:r>
            <a:endParaRPr lang="en-US" sz="950" dirty="0"/>
          </a:p>
        </p:txBody>
      </p:sp>
      <p:sp>
        <p:nvSpPr>
          <p:cNvPr id="87" name="Text 85"/>
          <p:cNvSpPr txBox="1"/>
          <p:nvPr/>
        </p:nvSpPr>
        <p:spPr>
          <a:xfrm>
            <a:off x="5943600" y="526694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6.1%</a:t>
            </a:r>
            <a:endParaRPr lang="en-US" sz="950" dirty="0"/>
          </a:p>
        </p:txBody>
      </p:sp>
      <p:sp>
        <p:nvSpPr>
          <p:cNvPr id="88" name="Text 86"/>
          <p:cNvSpPr txBox="1"/>
          <p:nvPr/>
        </p:nvSpPr>
        <p:spPr>
          <a:xfrm>
            <a:off x="640080" y="561441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Available staff = the 9 Professional Services people assigned to PS-pipeline tickets open now or closed this week, at a 38h standard week. Anton Lopez, Jasmine Hikuroa, Bjorn Magabo, Phuong Ho, Katherine Fenwick and Yeran Hettiarachchy carry PS-pipeline tickets but are not Professional Services staff — they and their hours are excluded.</a:t>
            </a:r>
            <a:endParaRPr lang="en-US" sz="580" dirty="0"/>
          </a:p>
        </p:txBody>
      </p:sp>
      <p:sp>
        <p:nvSpPr>
          <p:cNvPr id="89" name="Shape 87"/>
          <p:cNvSpPr/>
          <p:nvPr/>
        </p:nvSpPr>
        <p:spPr>
          <a:xfrm>
            <a:off x="7178040" y="2395728"/>
            <a:ext cx="4599432" cy="1700784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8"/>
          <p:cNvSpPr txBox="1"/>
          <p:nvPr/>
        </p:nvSpPr>
        <p:spPr>
          <a:xfrm>
            <a:off x="7379208" y="2487168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PS WORK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hours logged</a:t>
            </a:r>
            <a:endParaRPr lang="en-US" sz="1100" dirty="0"/>
          </a:p>
        </p:txBody>
      </p:sp>
      <p:sp>
        <p:nvSpPr>
          <p:cNvPr id="91" name="Text 89"/>
          <p:cNvSpPr txBox="1"/>
          <p:nvPr/>
        </p:nvSpPr>
        <p:spPr>
          <a:xfrm>
            <a:off x="7379208" y="274320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SERVICE TYPE</a:t>
            </a:r>
            <a:endParaRPr lang="en-US" sz="680" dirty="0"/>
          </a:p>
        </p:txBody>
      </p:sp>
      <p:sp>
        <p:nvSpPr>
          <p:cNvPr id="92" name="Text 90"/>
          <p:cNvSpPr txBox="1"/>
          <p:nvPr/>
        </p:nvSpPr>
        <p:spPr>
          <a:xfrm>
            <a:off x="10287000" y="27432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680" dirty="0"/>
          </a:p>
        </p:txBody>
      </p:sp>
      <p:sp>
        <p:nvSpPr>
          <p:cNvPr id="93" name="Text 91"/>
          <p:cNvSpPr txBox="1"/>
          <p:nvPr/>
        </p:nvSpPr>
        <p:spPr>
          <a:xfrm>
            <a:off x="10972800" y="2743200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</a:t>
            </a:r>
            <a:endParaRPr lang="en-US" sz="680" dirty="0"/>
          </a:p>
        </p:txBody>
      </p:sp>
      <p:sp>
        <p:nvSpPr>
          <p:cNvPr id="94" name="Text 92"/>
          <p:cNvSpPr txBox="1"/>
          <p:nvPr/>
        </p:nvSpPr>
        <p:spPr>
          <a:xfrm>
            <a:off x="7379208" y="2907792"/>
            <a:ext cx="137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8823960" y="2954274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96" name="Shape 94"/>
          <p:cNvSpPr/>
          <p:nvPr/>
        </p:nvSpPr>
        <p:spPr>
          <a:xfrm>
            <a:off x="8823960" y="2954274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287000" y="2907792"/>
            <a:ext cx="6400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16.50h</a:t>
            </a:r>
            <a:endParaRPr lang="en-US" sz="800" dirty="0"/>
          </a:p>
        </p:txBody>
      </p:sp>
      <p:sp>
        <p:nvSpPr>
          <p:cNvPr id="98" name="Text 96"/>
          <p:cNvSpPr txBox="1"/>
          <p:nvPr/>
        </p:nvSpPr>
        <p:spPr>
          <a:xfrm>
            <a:off x="10972800" y="2907792"/>
            <a:ext cx="6035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79.5%</a:t>
            </a:r>
            <a:endParaRPr lang="en-US" sz="800" dirty="0"/>
          </a:p>
        </p:txBody>
      </p:sp>
      <p:sp>
        <p:nvSpPr>
          <p:cNvPr id="99" name="Text 97"/>
          <p:cNvSpPr txBox="1"/>
          <p:nvPr/>
        </p:nvSpPr>
        <p:spPr>
          <a:xfrm>
            <a:off x="7379208" y="3060192"/>
            <a:ext cx="137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8823960" y="3106674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8823960" y="3106674"/>
            <a:ext cx="166255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287000" y="3060192"/>
            <a:ext cx="6400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2.00h</a:t>
            </a:r>
            <a:endParaRPr lang="en-US" sz="800" dirty="0"/>
          </a:p>
        </p:txBody>
      </p:sp>
      <p:sp>
        <p:nvSpPr>
          <p:cNvPr id="103" name="Text 101"/>
          <p:cNvSpPr txBox="1"/>
          <p:nvPr/>
        </p:nvSpPr>
        <p:spPr>
          <a:xfrm>
            <a:off x="10972800" y="3060192"/>
            <a:ext cx="6035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9.6%</a:t>
            </a:r>
            <a:endParaRPr lang="en-US" sz="800" dirty="0"/>
          </a:p>
        </p:txBody>
      </p:sp>
      <p:sp>
        <p:nvSpPr>
          <p:cNvPr id="104" name="Text 102"/>
          <p:cNvSpPr txBox="1"/>
          <p:nvPr/>
        </p:nvSpPr>
        <p:spPr>
          <a:xfrm>
            <a:off x="7379208" y="3212592"/>
            <a:ext cx="137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required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8823960" y="3259074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823960" y="3259074"/>
            <a:ext cx="166255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287000" y="3212592"/>
            <a:ext cx="6400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2.00h</a:t>
            </a:r>
            <a:endParaRPr lang="en-US" sz="800" dirty="0"/>
          </a:p>
        </p:txBody>
      </p:sp>
      <p:sp>
        <p:nvSpPr>
          <p:cNvPr id="108" name="Text 106"/>
          <p:cNvSpPr txBox="1"/>
          <p:nvPr/>
        </p:nvSpPr>
        <p:spPr>
          <a:xfrm>
            <a:off x="10972800" y="3212592"/>
            <a:ext cx="6035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9.6%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7379208" y="3364992"/>
            <a:ext cx="137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8823960" y="3411474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823960" y="3411474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10287000" y="3364992"/>
            <a:ext cx="6400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0.25h</a:t>
            </a:r>
            <a:endParaRPr lang="en-US" sz="800" dirty="0"/>
          </a:p>
        </p:txBody>
      </p:sp>
      <p:sp>
        <p:nvSpPr>
          <p:cNvPr id="113" name="Text 111"/>
          <p:cNvSpPr txBox="1"/>
          <p:nvPr/>
        </p:nvSpPr>
        <p:spPr>
          <a:xfrm>
            <a:off x="10972800" y="3364992"/>
            <a:ext cx="6035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1.2%</a:t>
            </a:r>
            <a:endParaRPr lang="en-US" sz="800" dirty="0"/>
          </a:p>
        </p:txBody>
      </p:sp>
      <p:sp>
        <p:nvSpPr>
          <p:cNvPr id="114" name="Text 112"/>
          <p:cNvSpPr txBox="1"/>
          <p:nvPr/>
        </p:nvSpPr>
        <p:spPr>
          <a:xfrm>
            <a:off x="7379208" y="3517392"/>
            <a:ext cx="137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8823960" y="3563874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10287000" y="3517392"/>
            <a:ext cx="6400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17" name="Text 115"/>
          <p:cNvSpPr txBox="1"/>
          <p:nvPr/>
        </p:nvSpPr>
        <p:spPr>
          <a:xfrm>
            <a:off x="10972800" y="3517392"/>
            <a:ext cx="6035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18" name="Text 116"/>
          <p:cNvSpPr txBox="1"/>
          <p:nvPr/>
        </p:nvSpPr>
        <p:spPr>
          <a:xfrm>
            <a:off x="7379208" y="3669792"/>
            <a:ext cx="137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8823960" y="3716274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10287000" y="3669792"/>
            <a:ext cx="6400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1" name="Text 119"/>
          <p:cNvSpPr txBox="1"/>
          <p:nvPr/>
        </p:nvSpPr>
        <p:spPr>
          <a:xfrm>
            <a:off x="10972800" y="3669792"/>
            <a:ext cx="6035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379208" y="3849624"/>
            <a:ext cx="4197096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7379208" y="38770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50" dirty="0"/>
          </a:p>
        </p:txBody>
      </p:sp>
      <p:sp>
        <p:nvSpPr>
          <p:cNvPr id="124" name="Text 122"/>
          <p:cNvSpPr txBox="1"/>
          <p:nvPr/>
        </p:nvSpPr>
        <p:spPr>
          <a:xfrm>
            <a:off x="8823960" y="38770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PS items carry time</a:t>
            </a:r>
            <a:endParaRPr lang="en-US" sz="650" dirty="0"/>
          </a:p>
        </p:txBody>
      </p:sp>
      <p:sp>
        <p:nvSpPr>
          <p:cNvPr id="125" name="Text 123"/>
          <p:cNvSpPr txBox="1"/>
          <p:nvPr/>
        </p:nvSpPr>
        <p:spPr>
          <a:xfrm>
            <a:off x="10287000" y="387705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20.75h</a:t>
            </a:r>
            <a:endParaRPr lang="en-US" sz="900" dirty="0"/>
          </a:p>
        </p:txBody>
      </p:sp>
      <p:sp>
        <p:nvSpPr>
          <p:cNvPr id="126" name="Text 124"/>
          <p:cNvSpPr txBox="1"/>
          <p:nvPr/>
        </p:nvSpPr>
        <p:spPr>
          <a:xfrm>
            <a:off x="10972800" y="3877056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7178040" y="4224528"/>
            <a:ext cx="459943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8" name="Text 126"/>
          <p:cNvSpPr txBox="1"/>
          <p:nvPr/>
        </p:nvSpPr>
        <p:spPr>
          <a:xfrm>
            <a:off x="7379208" y="43342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7379208" y="4645152"/>
            <a:ext cx="4187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6.1% billable utilisation is a logging number, not a delivery number.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20.75h landed against 342h of capacity, but only 17% of the week's 63 PS items carry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people carry 89% of the logged total.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 10.50h (27.6% of a 38h week) and Joshua Casey 8.00h (21.1%); 5 PS members logged nothing at all.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landing even where hours aren't.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 PS cases opened this week; Tech carries 79.5% of logged time. Median time to close since 8 Sep: Tech 1.0 d.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logged hours are treated as billable — creatio_non_billable is still populated on only a handful of records, so billable/non-billable is not yet separable.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6155741" y="6510528"/>
            <a:ext cx="562173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6155741" y="6510528"/>
            <a:ext cx="56217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PS records (total_hours) + PS pipeline ticket owners — live, read-only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ARR VS INVOICED ARR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 — Creatio ARR basis, as last published. Aug–Sep are not plotted: HubSpot closed-won is deal amount, not the Creatio ARR measure, so a new series starts once the post-cutover months are confirmed.</a:t>
            </a: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deals won since Mar · 277 invoiced · 220 outstanding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$1.17M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262 logos lost · register as at 20 Sep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-$6.3k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(Jul–Sep) · movement register, live — the base is still shrinking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9" name="Text 4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5" name="Text 5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7" name="Text 6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9" name="Text 7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5" name="Text 8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— wins bill ~a quarter later; March wins still uninvoiced are past normal lag and worth chasing.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Uninvoiced is top-loaded: Oscars Group is 62% of the $250k awaiting go-live; the top 3 clients are ~78%.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 reads from the movement register (as at 20 Sep): $1.17M of ARR across 262 logos since 2025, plus $235k lost to contraction on accounts that stayed. Q3 net MRR is -$6.3k — new business is not covering it.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excluded — Creatio MRR field misstated (annual values in the monthly field); correction pending.</a:t>
            </a:r>
            <a:endParaRPr lang="en-US" sz="85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GO-LIVE CONTEXT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— </a:t>
            </a:r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Signed — ~1.5x rollout timeline expected. Keen to start but held by old provider's contract terms; asking H&amp;L for a discount to bridge.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</a:t>
            </a:r>
            <a:endParaRPr lang="en-US" sz="750" dirty="0"/>
          </a:p>
        </p:txBody>
      </p:sp>
      <p:sp>
        <p:nvSpPr>
          <p:cNvPr id="100" name="Shape 97"/>
          <p:cNvSpPr/>
          <p:nvPr/>
        </p:nvSpPr>
        <p:spPr>
          <a:xfrm>
            <a:off x="6280099" y="6510528"/>
            <a:ext cx="549737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6280099" y="6510528"/>
            <a:ext cx="54973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Creatio · register as at 20 Sep — refresh pending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179 aged 31d+ · as at 27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626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first response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179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13,627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27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WEEKLY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" y="2807208"/>
            <a:ext cx="109728" cy="109728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8096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0–7 days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1472184" y="2807208"/>
            <a:ext cx="109728" cy="10972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609344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8–30 days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313432" y="2807208"/>
            <a:ext cx="109728" cy="109728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450592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154680" y="2807208"/>
            <a:ext cx="109728" cy="109728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9184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days</a:t>
            </a:r>
            <a:endParaRPr lang="en-US" sz="68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539496" y="3054096"/>
          <a:ext cx="393192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Chart 1" descr=""/>
          <p:cNvGraphicFramePr/>
          <p:nvPr/>
        </p:nvGraphicFramePr>
        <p:xfrm>
          <a:off x="4727448" y="3054096"/>
          <a:ext cx="212140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Shape 39"/>
          <p:cNvSpPr/>
          <p:nvPr/>
        </p:nvSpPr>
        <p:spPr>
          <a:xfrm>
            <a:off x="4599432" y="3099816"/>
            <a:ext cx="20117" cy="2331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44" name="Shape 40"/>
          <p:cNvSpPr/>
          <p:nvPr/>
        </p:nvSpPr>
        <p:spPr>
          <a:xfrm>
            <a:off x="4142232" y="2761488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142232" y="27614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6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56418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</a:t>
            </a:r>
            <a:endParaRPr lang="en-US" sz="650" dirty="0"/>
          </a:p>
        </p:txBody>
      </p:sp>
      <p:sp>
        <p:nvSpPr>
          <p:cNvPr id="47" name="Text 43"/>
          <p:cNvSpPr txBox="1"/>
          <p:nvPr/>
        </p:nvSpPr>
        <p:spPr>
          <a:xfrm>
            <a:off x="4727448" y="5641848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50" dirty="0"/>
          </a:p>
        </p:txBody>
      </p:sp>
      <p:sp>
        <p:nvSpPr>
          <p:cNvPr id="48" name="Text 44"/>
          <p:cNvSpPr txBox="1"/>
          <p:nvPr/>
        </p:nvSpPr>
        <p:spPr>
          <a:xfrm>
            <a:off x="612648" y="5925312"/>
            <a:ext cx="6181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frozen Creatio series (extracts ended 4 Sep); 13, 20 &amp; 27 Sep read live from HubSpot. The 7 Sep week falls inside the migration and is not reported.</a:t>
            </a:r>
            <a:endParaRPr lang="en-US" sz="650" dirty="0"/>
          </a:p>
        </p:txBody>
      </p:sp>
      <p:sp>
        <p:nvSpPr>
          <p:cNvPr id="49" name="Shape 45"/>
          <p:cNvSpPr/>
          <p:nvPr/>
        </p:nvSpPr>
        <p:spPr>
          <a:xfrm>
            <a:off x="7178040" y="239572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7379208" y="281635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backlog turned this week.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 498 beat resolved 420 — the first week since cutover where it did. Open rose 575 → 675, and the 8–30 day band carried it (249 → 302). The 90+ tail is still the win: 10 → 11.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 is where it is building.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band went 132 → 168 in the week, so 179 cases are now past 30 days against 142 a fortnight ago. Work aged 8–30 days is ageing through rather than closing.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still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626 open cases show no first response. Migrated tickets answered only in Creatio count as unanswered here — treat as a ceiling until the transition washes through.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SLA fields are populating on new HubSpot tickets — attainment reporting returns once coverage is credible.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(21 Sep–27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1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2/3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2.9%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of 68 drafts in scope · since cutover (8 Sep): 3.8% (6/160)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2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+124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68 in-scope drafts on closed tickets, 2 approved &amp; sent (1 as-is, 1 edited) = 2.9%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2 of 3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37 closed tickets this week ended needs-human (drafts weak on complex technical fixes — knowledge-base gaps, not tone) and 23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7399325" y="6510528"/>
            <a:ext cx="4378147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7399325" y="6510528"/>
            <a:ext cx="43781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 — as at 19 Sep, refresh pending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7399325" y="6510528"/>
            <a:ext cx="4378147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7399325" y="6510528"/>
            <a:ext cx="43781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 — as at 19 Sep, refresh pending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LAST WEEK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w/c 06 Sep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10,351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321808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94376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6400800" y="28163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101,282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94360" y="29900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084832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057400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18,954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3163824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136392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242816" y="299740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215384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5321808" y="2997403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294376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6400800" y="29900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100,713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" y="316382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2084832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057400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22,385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3163824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36392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4242816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215384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5321808" y="3171139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294376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6400800" y="316382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90,864</a:t>
            </a:r>
            <a:endParaRPr lang="en-US" sz="700" dirty="0"/>
          </a:p>
        </p:txBody>
      </p:sp>
      <p:sp>
        <p:nvSpPr>
          <p:cNvPr id="76" name="Text 74"/>
          <p:cNvSpPr txBox="1"/>
          <p:nvPr/>
        </p:nvSpPr>
        <p:spPr>
          <a:xfrm>
            <a:off x="594360" y="33375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084832" y="334487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057400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6,280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3163824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136392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4242816" y="3344875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4215384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83" name="Shape 81"/>
          <p:cNvSpPr/>
          <p:nvPr/>
        </p:nvSpPr>
        <p:spPr>
          <a:xfrm>
            <a:off x="5321808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294376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68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33375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61,854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94360" y="351129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87" name="Shape 85"/>
          <p:cNvSpPr/>
          <p:nvPr/>
        </p:nvSpPr>
        <p:spPr>
          <a:xfrm>
            <a:off x="2084832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2057400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10,549</a:t>
            </a:r>
            <a:endParaRPr lang="en-US" sz="680" dirty="0"/>
          </a:p>
        </p:txBody>
      </p:sp>
      <p:sp>
        <p:nvSpPr>
          <p:cNvPr id="89" name="Shape 87"/>
          <p:cNvSpPr/>
          <p:nvPr/>
        </p:nvSpPr>
        <p:spPr>
          <a:xfrm>
            <a:off x="3163824" y="3518611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3136392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91" name="Shape 89"/>
          <p:cNvSpPr/>
          <p:nvPr/>
        </p:nvSpPr>
        <p:spPr>
          <a:xfrm>
            <a:off x="4242816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215384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5321808" y="351861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94376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680" dirty="0"/>
          </a:p>
        </p:txBody>
      </p:sp>
      <p:sp>
        <p:nvSpPr>
          <p:cNvPr id="95" name="Text 93"/>
          <p:cNvSpPr txBox="1"/>
          <p:nvPr/>
        </p:nvSpPr>
        <p:spPr>
          <a:xfrm>
            <a:off x="6400800" y="351129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53,795</a:t>
            </a:r>
            <a:endParaRPr lang="en-US" sz="700" dirty="0"/>
          </a:p>
        </p:txBody>
      </p:sp>
      <p:sp>
        <p:nvSpPr>
          <p:cNvPr id="96" name="Text 94"/>
          <p:cNvSpPr txBox="1"/>
          <p:nvPr/>
        </p:nvSpPr>
        <p:spPr>
          <a:xfrm>
            <a:off x="594360" y="368503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97" name="Shape 95"/>
          <p:cNvSpPr/>
          <p:nvPr/>
        </p:nvSpPr>
        <p:spPr>
          <a:xfrm>
            <a:off x="2084832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057400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12,955</a:t>
            </a:r>
            <a:endParaRPr lang="en-US" sz="680" dirty="0"/>
          </a:p>
        </p:txBody>
      </p:sp>
      <p:sp>
        <p:nvSpPr>
          <p:cNvPr id="99" name="Shape 97"/>
          <p:cNvSpPr/>
          <p:nvPr/>
        </p:nvSpPr>
        <p:spPr>
          <a:xfrm>
            <a:off x="3163824" y="3692347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136392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4242816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215384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03" name="Shape 101"/>
          <p:cNvSpPr/>
          <p:nvPr/>
        </p:nvSpPr>
        <p:spPr>
          <a:xfrm>
            <a:off x="5321808" y="3692347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294376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680" dirty="0"/>
          </a:p>
        </p:txBody>
      </p:sp>
      <p:sp>
        <p:nvSpPr>
          <p:cNvPr id="105" name="Text 103"/>
          <p:cNvSpPr txBox="1"/>
          <p:nvPr/>
        </p:nvSpPr>
        <p:spPr>
          <a:xfrm>
            <a:off x="6400800" y="36850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49,887</a:t>
            </a:r>
            <a:endParaRPr lang="en-US" sz="700" dirty="0"/>
          </a:p>
        </p:txBody>
      </p:sp>
      <p:sp>
        <p:nvSpPr>
          <p:cNvPr id="106" name="Text 104"/>
          <p:cNvSpPr txBox="1"/>
          <p:nvPr/>
        </p:nvSpPr>
        <p:spPr>
          <a:xfrm>
            <a:off x="594360" y="385876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2057400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6"/>
          <p:cNvSpPr txBox="1"/>
          <p:nvPr/>
        </p:nvSpPr>
        <p:spPr>
          <a:xfrm>
            <a:off x="3136392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9" name="Shape 107"/>
          <p:cNvSpPr/>
          <p:nvPr/>
        </p:nvSpPr>
        <p:spPr>
          <a:xfrm>
            <a:off x="4242816" y="386608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4215384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5321808" y="3866083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294376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680" dirty="0"/>
          </a:p>
        </p:txBody>
      </p:sp>
      <p:sp>
        <p:nvSpPr>
          <p:cNvPr id="113" name="Text 111"/>
          <p:cNvSpPr txBox="1"/>
          <p:nvPr/>
        </p:nvSpPr>
        <p:spPr>
          <a:xfrm>
            <a:off x="6400800" y="3858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49,942</a:t>
            </a:r>
            <a:endParaRPr lang="en-US" sz="700" dirty="0"/>
          </a:p>
        </p:txBody>
      </p:sp>
      <p:sp>
        <p:nvSpPr>
          <p:cNvPr id="114" name="Text 112"/>
          <p:cNvSpPr txBox="1"/>
          <p:nvPr/>
        </p:nvSpPr>
        <p:spPr>
          <a:xfrm>
            <a:off x="594360" y="403250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15" name="Shape 113"/>
          <p:cNvSpPr/>
          <p:nvPr/>
        </p:nvSpPr>
        <p:spPr>
          <a:xfrm>
            <a:off x="2084832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057400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7,046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3163824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136392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19" name="Shape 117"/>
          <p:cNvSpPr/>
          <p:nvPr/>
        </p:nvSpPr>
        <p:spPr>
          <a:xfrm>
            <a:off x="4242816" y="403981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4215384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21" name="Shape 119"/>
          <p:cNvSpPr/>
          <p:nvPr/>
        </p:nvSpPr>
        <p:spPr>
          <a:xfrm>
            <a:off x="5321808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5294376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680" dirty="0"/>
          </a:p>
        </p:txBody>
      </p:sp>
      <p:sp>
        <p:nvSpPr>
          <p:cNvPr id="123" name="Text 121"/>
          <p:cNvSpPr txBox="1"/>
          <p:nvPr/>
        </p:nvSpPr>
        <p:spPr>
          <a:xfrm>
            <a:off x="6400800" y="403250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40,911</a:t>
            </a:r>
            <a:endParaRPr lang="en-US" sz="700" dirty="0"/>
          </a:p>
        </p:txBody>
      </p:sp>
      <p:sp>
        <p:nvSpPr>
          <p:cNvPr id="124" name="Text 122"/>
          <p:cNvSpPr txBox="1"/>
          <p:nvPr/>
        </p:nvSpPr>
        <p:spPr>
          <a:xfrm>
            <a:off x="594360" y="420624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25" name="Shape 123"/>
          <p:cNvSpPr/>
          <p:nvPr/>
        </p:nvSpPr>
        <p:spPr>
          <a:xfrm>
            <a:off x="2084832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2057400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885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3163824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136392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29" name="Shape 127"/>
          <p:cNvSpPr/>
          <p:nvPr/>
        </p:nvSpPr>
        <p:spPr>
          <a:xfrm>
            <a:off x="4242816" y="421355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4215384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31" name="Shape 129"/>
          <p:cNvSpPr/>
          <p:nvPr/>
        </p:nvSpPr>
        <p:spPr>
          <a:xfrm>
            <a:off x="5321808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94376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1,816</a:t>
            </a:r>
            <a:endParaRPr lang="en-US" sz="680" dirty="0"/>
          </a:p>
        </p:txBody>
      </p:sp>
      <p:sp>
        <p:nvSpPr>
          <p:cNvPr id="133" name="Text 131"/>
          <p:cNvSpPr txBox="1"/>
          <p:nvPr/>
        </p:nvSpPr>
        <p:spPr>
          <a:xfrm>
            <a:off x="6400800" y="42062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19,278</a:t>
            </a:r>
            <a:endParaRPr lang="en-US" sz="700" dirty="0"/>
          </a:p>
        </p:txBody>
      </p:sp>
      <p:sp>
        <p:nvSpPr>
          <p:cNvPr id="134" name="Text 132"/>
          <p:cNvSpPr txBox="1"/>
          <p:nvPr/>
        </p:nvSpPr>
        <p:spPr>
          <a:xfrm>
            <a:off x="594360" y="437997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2084832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2057400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1,666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3163824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3136392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39" name="Shape 137"/>
          <p:cNvSpPr/>
          <p:nvPr/>
        </p:nvSpPr>
        <p:spPr>
          <a:xfrm>
            <a:off x="4242816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4215384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5321808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294376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680" dirty="0"/>
          </a:p>
        </p:txBody>
      </p:sp>
      <p:sp>
        <p:nvSpPr>
          <p:cNvPr id="143" name="Text 141"/>
          <p:cNvSpPr txBox="1"/>
          <p:nvPr/>
        </p:nvSpPr>
        <p:spPr>
          <a:xfrm>
            <a:off x="6400800" y="43799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17,757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594360" y="4553712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94360" y="45811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46" name="Text 144"/>
          <p:cNvSpPr txBox="1"/>
          <p:nvPr/>
        </p:nvSpPr>
        <p:spPr>
          <a:xfrm>
            <a:off x="2057400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120,224</a:t>
            </a:r>
            <a:endParaRPr lang="en-US" sz="750" dirty="0"/>
          </a:p>
        </p:txBody>
      </p:sp>
      <p:sp>
        <p:nvSpPr>
          <p:cNvPr id="147" name="Text 145"/>
          <p:cNvSpPr txBox="1"/>
          <p:nvPr/>
        </p:nvSpPr>
        <p:spPr>
          <a:xfrm>
            <a:off x="3136392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48" name="Text 146"/>
          <p:cNvSpPr txBox="1"/>
          <p:nvPr/>
        </p:nvSpPr>
        <p:spPr>
          <a:xfrm>
            <a:off x="4215384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49" name="Text 147"/>
          <p:cNvSpPr txBox="1"/>
          <p:nvPr/>
        </p:nvSpPr>
        <p:spPr>
          <a:xfrm>
            <a:off x="5294376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</a:t>
            </a:r>
            <a:endParaRPr lang="en-US" sz="750" dirty="0"/>
          </a:p>
        </p:txBody>
      </p:sp>
      <p:sp>
        <p:nvSpPr>
          <p:cNvPr id="150" name="Text 148"/>
          <p:cNvSpPr txBox="1"/>
          <p:nvPr/>
        </p:nvSpPr>
        <p:spPr>
          <a:xfrm>
            <a:off x="6400800" y="45811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742,934</a:t>
            </a:r>
            <a:endParaRPr lang="en-US" sz="750" dirty="0"/>
          </a:p>
        </p:txBody>
      </p:sp>
      <p:sp>
        <p:nvSpPr>
          <p:cNvPr id="151" name="Text 149"/>
          <p:cNvSpPr txBox="1"/>
          <p:nvPr/>
        </p:nvSpPr>
        <p:spPr>
          <a:xfrm>
            <a:off x="594360" y="48920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2075688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05740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4" name="Text 152"/>
          <p:cNvSpPr txBox="1"/>
          <p:nvPr/>
        </p:nvSpPr>
        <p:spPr>
          <a:xfrm>
            <a:off x="205740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55" name="Shape 153"/>
          <p:cNvSpPr/>
          <p:nvPr/>
        </p:nvSpPr>
        <p:spPr>
          <a:xfrm>
            <a:off x="247737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245908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7" name="Text 155"/>
          <p:cNvSpPr txBox="1"/>
          <p:nvPr/>
        </p:nvSpPr>
        <p:spPr>
          <a:xfrm>
            <a:off x="245908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2879054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86076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0" name="Text 158"/>
          <p:cNvSpPr txBox="1"/>
          <p:nvPr/>
        </p:nvSpPr>
        <p:spPr>
          <a:xfrm>
            <a:off x="286076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3280737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26244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63" name="Text 161"/>
          <p:cNvSpPr txBox="1"/>
          <p:nvPr/>
        </p:nvSpPr>
        <p:spPr>
          <a:xfrm>
            <a:off x="326244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3682419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366413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6" name="Text 164"/>
          <p:cNvSpPr txBox="1"/>
          <p:nvPr/>
        </p:nvSpPr>
        <p:spPr>
          <a:xfrm>
            <a:off x="366413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4084102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406581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9" name="Text 167"/>
          <p:cNvSpPr txBox="1"/>
          <p:nvPr/>
        </p:nvSpPr>
        <p:spPr>
          <a:xfrm>
            <a:off x="406581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4485785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446749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2" name="Text 170"/>
          <p:cNvSpPr txBox="1"/>
          <p:nvPr/>
        </p:nvSpPr>
        <p:spPr>
          <a:xfrm>
            <a:off x="446749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4887468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486918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75" name="Text 173"/>
          <p:cNvSpPr txBox="1"/>
          <p:nvPr/>
        </p:nvSpPr>
        <p:spPr>
          <a:xfrm>
            <a:off x="486918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528915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527086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8" name="Text 176"/>
          <p:cNvSpPr txBox="1"/>
          <p:nvPr/>
        </p:nvSpPr>
        <p:spPr>
          <a:xfrm>
            <a:off x="527086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5690834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567254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567254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6092517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607422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607422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6494199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47591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647591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6895882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687759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687759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7297565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727927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727927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194" name="Text 192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early weeks estimated from the admin's rolling windows</a:t>
            </a:r>
            <a:endParaRPr lang="en-US" sz="600" dirty="0"/>
          </a:p>
        </p:txBody>
      </p:sp>
      <p:sp>
        <p:nvSpPr>
          <p:cNvPr id="195" name="Shape 193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6" name="Text 194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197" name="Text 195"/>
          <p:cNvSpPr txBox="1"/>
          <p:nvPr/>
        </p:nvSpPr>
        <p:spPr>
          <a:xfrm>
            <a:off x="8275320" y="25968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~137</a:t>
            </a:r>
            <a:endParaRPr lang="en-US" sz="3000" dirty="0"/>
          </a:p>
        </p:txBody>
      </p:sp>
      <p:sp>
        <p:nvSpPr>
          <p:cNvPr id="198" name="Text 196"/>
          <p:cNvSpPr txBox="1"/>
          <p:nvPr/>
        </p:nvSpPr>
        <p:spPr>
          <a:xfrm>
            <a:off x="9555480" y="2624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~130 baseline</a:t>
            </a:r>
            <a:endParaRPr lang="en-US" sz="750" dirty="0"/>
          </a:p>
        </p:txBody>
      </p:sp>
      <p:sp>
        <p:nvSpPr>
          <p:cNvPr id="199" name="Text 197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00" name="Text 198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-3</a:t>
            </a:r>
            <a:endParaRPr lang="en-US" sz="680" dirty="0"/>
          </a:p>
        </p:txBody>
      </p:sp>
      <p:sp>
        <p:nvSpPr>
          <p:cNvPr id="201" name="Text 199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750" dirty="0"/>
          </a:p>
        </p:txBody>
      </p:sp>
      <p:sp>
        <p:nvSpPr>
          <p:cNvPr id="202" name="Text 200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03" name="Text 201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04" name="Text 202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06" name="Text 204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-4</a:t>
            </a:r>
            <a:endParaRPr lang="en-US" sz="680" dirty="0"/>
          </a:p>
        </p:txBody>
      </p:sp>
      <p:sp>
        <p:nvSpPr>
          <p:cNvPr id="207" name="Text 205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75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09" name="Text 207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0" name="Text 208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750" dirty="0"/>
          </a:p>
        </p:txBody>
      </p:sp>
      <p:sp>
        <p:nvSpPr>
          <p:cNvPr id="211" name="Text 209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3" name="Text 211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14" name="Text 212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16" name="Text 214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17" name="Text 215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19" name="Text 217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0" name="Text 218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2" name="Text 220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25" name="Text 223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last capture · — = first capture</a:t>
            </a:r>
            <a:endParaRPr lang="en-US" sz="600" dirty="0"/>
          </a:p>
        </p:txBody>
      </p:sp>
      <p:sp>
        <p:nvSpPr>
          <p:cNvPr id="230" name="Shape 228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1" name="Text 229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2" name="Text 230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edges Claude Code on stickiness (64% vs 63% DAU/MAU); code output 66,273 lines (+10% WoW), Nicolas leading September. Engineers show zero Cowork sessions because they live in Claude Code — Cowork is the ops and leadership surface, not a sign of inactivity.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7399325" y="6510528"/>
            <a:ext cx="4378147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4" name="Text 232"/>
          <p:cNvSpPr txBox="1"/>
          <p:nvPr/>
        </p:nvSpPr>
        <p:spPr>
          <a:xfrm>
            <a:off x="7399325" y="6510528"/>
            <a:ext cx="43781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weekly capture (w/c 06 Sep) — refresh pending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28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third weekly deck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72 drafts pending review on open tickets · 124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2026-09-28T06:15:17Z</dcterms:created>
  <dcterms:modified xsi:type="dcterms:W3CDTF">2026-09-28T06:15:17Z</dcterms:modified>
</cp:coreProperties>
</file>