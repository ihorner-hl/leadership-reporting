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Won — Not Yet Live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" y="107899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WON, NOT YET BILLING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126187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1609344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the 95 deals won with recurring revenue in 2026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383280" y="987552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47872" y="107899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AT STAKE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529584" y="126187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$240k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547872" y="1609344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$20,038/mo signed and not invoiced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355080" y="987552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19672" y="107899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OLDEST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126187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209 Days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1609344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Berrigan — closed 23 March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326880" y="987552"/>
            <a:ext cx="245059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491472" y="10789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AGE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473184" y="126187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Days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160934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since close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11480" y="2212848"/>
            <a:ext cx="6675120" cy="409651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2648" y="2322576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 WITH RECURRING REVENUE, NO INVOICE RAISED 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matched on debtor ID and venue name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VENUE</a:t>
            </a:r>
            <a:endParaRPr lang="en-US" sz="680" dirty="0"/>
          </a:p>
        </p:txBody>
      </p:sp>
      <p:sp>
        <p:nvSpPr>
          <p:cNvPr id="32" name="Text 30"/>
          <p:cNvSpPr txBox="1"/>
          <p:nvPr/>
        </p:nvSpPr>
        <p:spPr>
          <a:xfrm>
            <a:off x="3374136" y="2615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MANAGER</a:t>
            </a:r>
            <a:endParaRPr lang="en-US" sz="680" dirty="0"/>
          </a:p>
        </p:txBody>
      </p:sp>
      <p:sp>
        <p:nvSpPr>
          <p:cNvPr id="33" name="Text 31"/>
          <p:cNvSpPr txBox="1"/>
          <p:nvPr/>
        </p:nvSpPr>
        <p:spPr>
          <a:xfrm>
            <a:off x="4782312" y="2615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</a:t>
            </a:r>
            <a:endParaRPr lang="en-US" sz="680" dirty="0"/>
          </a:p>
        </p:txBody>
      </p:sp>
      <p:sp>
        <p:nvSpPr>
          <p:cNvPr id="35" name="Text 33"/>
          <p:cNvSpPr txBox="1"/>
          <p:nvPr/>
        </p:nvSpPr>
        <p:spPr>
          <a:xfrm>
            <a:off x="6025896" y="2615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MRR/MO</a:t>
            </a:r>
            <a:endParaRPr lang="en-US" sz="68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2834640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Oscars Hotels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3374136" y="2834640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4782312" y="2834640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Mar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5532120" y="2834640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6025896" y="2834640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$12,880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39496" y="2989174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2648" y="2989174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 Henry Tavern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3374136" y="2989174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782312" y="2989174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Oct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2989174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720" dirty="0"/>
          </a:p>
        </p:txBody>
      </p:sp>
      <p:sp>
        <p:nvSpPr>
          <p:cNvPr id="46" name="Text 44"/>
          <p:cNvSpPr txBox="1"/>
          <p:nvPr/>
        </p:nvSpPr>
        <p:spPr>
          <a:xfrm>
            <a:off x="6025896" y="2989174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$905</a:t>
            </a:r>
            <a:endParaRPr lang="en-US" sz="72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3143707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Caves House Hotel</a:t>
            </a:r>
            <a:endParaRPr lang="en-US" sz="720" dirty="0"/>
          </a:p>
        </p:txBody>
      </p:sp>
      <p:sp>
        <p:nvSpPr>
          <p:cNvPr id="48" name="Text 46"/>
          <p:cNvSpPr txBox="1"/>
          <p:nvPr/>
        </p:nvSpPr>
        <p:spPr>
          <a:xfrm>
            <a:off x="3374136" y="3143707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4782312" y="3143707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Aug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5532120" y="3143707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</a:t>
            </a:r>
            <a:endParaRPr lang="en-US" sz="720" dirty="0"/>
          </a:p>
        </p:txBody>
      </p:sp>
      <p:sp>
        <p:nvSpPr>
          <p:cNvPr id="51" name="Text 49"/>
          <p:cNvSpPr txBox="1"/>
          <p:nvPr/>
        </p:nvSpPr>
        <p:spPr>
          <a:xfrm>
            <a:off x="6025896" y="3143707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$669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539496" y="3298241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12648" y="3298241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Pier Hotel - Pt Lincoln</a:t>
            </a:r>
            <a:endParaRPr lang="en-US" sz="720" dirty="0"/>
          </a:p>
        </p:txBody>
      </p:sp>
      <p:sp>
        <p:nvSpPr>
          <p:cNvPr id="54" name="Text 52"/>
          <p:cNvSpPr txBox="1"/>
          <p:nvPr/>
        </p:nvSpPr>
        <p:spPr>
          <a:xfrm>
            <a:off x="3374136" y="3298241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4782312" y="3298241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Sep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5532120" y="3298241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720" dirty="0"/>
          </a:p>
        </p:txBody>
      </p:sp>
      <p:sp>
        <p:nvSpPr>
          <p:cNvPr id="57" name="Text 55"/>
          <p:cNvSpPr txBox="1"/>
          <p:nvPr/>
        </p:nvSpPr>
        <p:spPr>
          <a:xfrm>
            <a:off x="6025896" y="3298241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$648</a:t>
            </a:r>
            <a:endParaRPr lang="en-US" sz="720" dirty="0"/>
          </a:p>
        </p:txBody>
      </p:sp>
      <p:sp>
        <p:nvSpPr>
          <p:cNvPr id="58" name="Text 56"/>
          <p:cNvSpPr txBox="1"/>
          <p:nvPr/>
        </p:nvSpPr>
        <p:spPr>
          <a:xfrm>
            <a:off x="612648" y="3452774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Iris Pavilion</a:t>
            </a:r>
            <a:endParaRPr lang="en-US" sz="720" dirty="0"/>
          </a:p>
        </p:txBody>
      </p:sp>
      <p:sp>
        <p:nvSpPr>
          <p:cNvPr id="59" name="Text 57"/>
          <p:cNvSpPr txBox="1"/>
          <p:nvPr/>
        </p:nvSpPr>
        <p:spPr>
          <a:xfrm>
            <a:off x="3374136" y="3452774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4782312" y="3452774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Sep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5532120" y="3452774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720" dirty="0"/>
          </a:p>
        </p:txBody>
      </p:sp>
      <p:sp>
        <p:nvSpPr>
          <p:cNvPr id="62" name="Text 60"/>
          <p:cNvSpPr txBox="1"/>
          <p:nvPr/>
        </p:nvSpPr>
        <p:spPr>
          <a:xfrm>
            <a:off x="6025896" y="3452774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$623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39496" y="3607308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12648" y="3607308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Berrigan</a:t>
            </a:r>
            <a:endParaRPr lang="en-US" sz="720" dirty="0"/>
          </a:p>
        </p:txBody>
      </p:sp>
      <p:sp>
        <p:nvSpPr>
          <p:cNvPr id="65" name="Text 63"/>
          <p:cNvSpPr txBox="1"/>
          <p:nvPr/>
        </p:nvSpPr>
        <p:spPr>
          <a:xfrm>
            <a:off x="3374136" y="3607308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4782312" y="3607308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Mar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5532120" y="3607308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209</a:t>
            </a:r>
            <a:endParaRPr lang="en-US" sz="720" dirty="0"/>
          </a:p>
        </p:txBody>
      </p:sp>
      <p:sp>
        <p:nvSpPr>
          <p:cNvPr id="68" name="Text 66"/>
          <p:cNvSpPr txBox="1"/>
          <p:nvPr/>
        </p:nvSpPr>
        <p:spPr>
          <a:xfrm>
            <a:off x="6025896" y="3607308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$475</a:t>
            </a:r>
            <a:endParaRPr lang="en-US" sz="720" dirty="0"/>
          </a:p>
        </p:txBody>
      </p:sp>
      <p:sp>
        <p:nvSpPr>
          <p:cNvPr id="69" name="Text 67"/>
          <p:cNvSpPr txBox="1"/>
          <p:nvPr/>
        </p:nvSpPr>
        <p:spPr>
          <a:xfrm>
            <a:off x="612648" y="3761842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Carolina</a:t>
            </a:r>
            <a:endParaRPr lang="en-US" sz="720" dirty="0"/>
          </a:p>
        </p:txBody>
      </p:sp>
      <p:sp>
        <p:nvSpPr>
          <p:cNvPr id="70" name="Text 68"/>
          <p:cNvSpPr txBox="1"/>
          <p:nvPr/>
        </p:nvSpPr>
        <p:spPr>
          <a:xfrm>
            <a:off x="3374136" y="3761842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4782312" y="3761842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Oct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5532120" y="3761842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720" dirty="0"/>
          </a:p>
        </p:txBody>
      </p:sp>
      <p:sp>
        <p:nvSpPr>
          <p:cNvPr id="73" name="Text 71"/>
          <p:cNvSpPr txBox="1"/>
          <p:nvPr/>
        </p:nvSpPr>
        <p:spPr>
          <a:xfrm>
            <a:off x="6025896" y="3761842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$474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539496" y="3916375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12648" y="3916375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Hotel Augusta</a:t>
            </a:r>
            <a:endParaRPr lang="en-US" sz="720" dirty="0"/>
          </a:p>
        </p:txBody>
      </p:sp>
      <p:sp>
        <p:nvSpPr>
          <p:cNvPr id="76" name="Text 74"/>
          <p:cNvSpPr txBox="1"/>
          <p:nvPr/>
        </p:nvSpPr>
        <p:spPr>
          <a:xfrm>
            <a:off x="3374136" y="3916375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4782312" y="3916375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Jun</a:t>
            </a:r>
            <a:endParaRPr lang="en-US" sz="700" dirty="0"/>
          </a:p>
        </p:txBody>
      </p:sp>
      <p:sp>
        <p:nvSpPr>
          <p:cNvPr id="78" name="Text 76"/>
          <p:cNvSpPr txBox="1"/>
          <p:nvPr/>
        </p:nvSpPr>
        <p:spPr>
          <a:xfrm>
            <a:off x="5532120" y="3916375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122</a:t>
            </a:r>
            <a:endParaRPr lang="en-US" sz="720" dirty="0"/>
          </a:p>
        </p:txBody>
      </p:sp>
      <p:sp>
        <p:nvSpPr>
          <p:cNvPr id="79" name="Text 77"/>
          <p:cNvSpPr txBox="1"/>
          <p:nvPr/>
        </p:nvSpPr>
        <p:spPr>
          <a:xfrm>
            <a:off x="6025896" y="3916375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</a:t>
            </a:r>
            <a:endParaRPr lang="en-US" sz="720" dirty="0"/>
          </a:p>
        </p:txBody>
      </p:sp>
      <p:sp>
        <p:nvSpPr>
          <p:cNvPr id="80" name="Text 78"/>
          <p:cNvSpPr txBox="1"/>
          <p:nvPr/>
        </p:nvSpPr>
        <p:spPr>
          <a:xfrm>
            <a:off x="612648" y="4070909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Star Hotel (Milton)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3374136" y="4070909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4782312" y="4070909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Oct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5532120" y="4070909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720" dirty="0"/>
          </a:p>
        </p:txBody>
      </p:sp>
      <p:sp>
        <p:nvSpPr>
          <p:cNvPr id="84" name="Text 82"/>
          <p:cNvSpPr txBox="1"/>
          <p:nvPr/>
        </p:nvSpPr>
        <p:spPr>
          <a:xfrm>
            <a:off x="6025896" y="4070909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$392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539496" y="4225442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12648" y="4225442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Orient</a:t>
            </a:r>
            <a:endParaRPr lang="en-US" sz="720" dirty="0"/>
          </a:p>
        </p:txBody>
      </p:sp>
      <p:sp>
        <p:nvSpPr>
          <p:cNvPr id="87" name="Text 85"/>
          <p:cNvSpPr txBox="1"/>
          <p:nvPr/>
        </p:nvSpPr>
        <p:spPr>
          <a:xfrm>
            <a:off x="3374136" y="4225442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4782312" y="4225442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Sep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5532120" y="4225442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</a:t>
            </a:r>
            <a:endParaRPr lang="en-US" sz="720" dirty="0"/>
          </a:p>
        </p:txBody>
      </p:sp>
      <p:sp>
        <p:nvSpPr>
          <p:cNvPr id="90" name="Text 88"/>
          <p:cNvSpPr txBox="1"/>
          <p:nvPr/>
        </p:nvSpPr>
        <p:spPr>
          <a:xfrm>
            <a:off x="6025896" y="4225442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$377</a:t>
            </a:r>
            <a:endParaRPr lang="en-US" sz="720" dirty="0"/>
          </a:p>
        </p:txBody>
      </p:sp>
      <p:sp>
        <p:nvSpPr>
          <p:cNvPr id="91" name="Text 89"/>
          <p:cNvSpPr txBox="1"/>
          <p:nvPr/>
        </p:nvSpPr>
        <p:spPr>
          <a:xfrm>
            <a:off x="612648" y="4379976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Rusty Gurnard</a:t>
            </a:r>
            <a:endParaRPr lang="en-US" sz="720" dirty="0"/>
          </a:p>
        </p:txBody>
      </p:sp>
      <p:sp>
        <p:nvSpPr>
          <p:cNvPr id="92" name="Text 90"/>
          <p:cNvSpPr txBox="1"/>
          <p:nvPr/>
        </p:nvSpPr>
        <p:spPr>
          <a:xfrm>
            <a:off x="3374136" y="4379976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700" dirty="0"/>
          </a:p>
        </p:txBody>
      </p:sp>
      <p:sp>
        <p:nvSpPr>
          <p:cNvPr id="93" name="Text 91"/>
          <p:cNvSpPr txBox="1"/>
          <p:nvPr/>
        </p:nvSpPr>
        <p:spPr>
          <a:xfrm>
            <a:off x="4782312" y="4379976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Jun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5532120" y="4379976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114</a:t>
            </a:r>
            <a:endParaRPr lang="en-US" sz="720" dirty="0"/>
          </a:p>
        </p:txBody>
      </p:sp>
      <p:sp>
        <p:nvSpPr>
          <p:cNvPr id="95" name="Text 93"/>
          <p:cNvSpPr txBox="1"/>
          <p:nvPr/>
        </p:nvSpPr>
        <p:spPr>
          <a:xfrm>
            <a:off x="6025896" y="4379976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$377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539496" y="4534510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612648" y="4534510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Riverton Hotel</a:t>
            </a:r>
            <a:endParaRPr lang="en-US" sz="720" dirty="0"/>
          </a:p>
        </p:txBody>
      </p:sp>
      <p:sp>
        <p:nvSpPr>
          <p:cNvPr id="98" name="Text 96"/>
          <p:cNvSpPr txBox="1"/>
          <p:nvPr/>
        </p:nvSpPr>
        <p:spPr>
          <a:xfrm>
            <a:off x="3374136" y="4534510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700" dirty="0"/>
          </a:p>
        </p:txBody>
      </p:sp>
      <p:sp>
        <p:nvSpPr>
          <p:cNvPr id="99" name="Text 97"/>
          <p:cNvSpPr txBox="1"/>
          <p:nvPr/>
        </p:nvSpPr>
        <p:spPr>
          <a:xfrm>
            <a:off x="4782312" y="4534510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Apr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5532120" y="4534510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184</a:t>
            </a:r>
            <a:endParaRPr lang="en-US" sz="720" dirty="0"/>
          </a:p>
        </p:txBody>
      </p:sp>
      <p:sp>
        <p:nvSpPr>
          <p:cNvPr id="101" name="Text 99"/>
          <p:cNvSpPr txBox="1"/>
          <p:nvPr/>
        </p:nvSpPr>
        <p:spPr>
          <a:xfrm>
            <a:off x="6025896" y="4534510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$315</a:t>
            </a:r>
            <a:endParaRPr lang="en-US" sz="720" dirty="0"/>
          </a:p>
        </p:txBody>
      </p:sp>
      <p:sp>
        <p:nvSpPr>
          <p:cNvPr id="102" name="Text 100"/>
          <p:cNvSpPr txBox="1"/>
          <p:nvPr/>
        </p:nvSpPr>
        <p:spPr>
          <a:xfrm>
            <a:off x="612648" y="4689043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AVC - Bellevue Bar &amp; Terrace</a:t>
            </a:r>
            <a:endParaRPr lang="en-US" sz="720" dirty="0"/>
          </a:p>
        </p:txBody>
      </p:sp>
      <p:sp>
        <p:nvSpPr>
          <p:cNvPr id="103" name="Text 101"/>
          <p:cNvSpPr txBox="1"/>
          <p:nvPr/>
        </p:nvSpPr>
        <p:spPr>
          <a:xfrm>
            <a:off x="3374136" y="4689043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 Hikuroa</a:t>
            </a:r>
            <a:endParaRPr lang="en-US" sz="700" dirty="0"/>
          </a:p>
        </p:txBody>
      </p:sp>
      <p:sp>
        <p:nvSpPr>
          <p:cNvPr id="104" name="Text 102"/>
          <p:cNvSpPr txBox="1"/>
          <p:nvPr/>
        </p:nvSpPr>
        <p:spPr>
          <a:xfrm>
            <a:off x="4782312" y="4689043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Oct</a:t>
            </a:r>
            <a:endParaRPr lang="en-US" sz="700" dirty="0"/>
          </a:p>
        </p:txBody>
      </p:sp>
      <p:sp>
        <p:nvSpPr>
          <p:cNvPr id="105" name="Text 103"/>
          <p:cNvSpPr txBox="1"/>
          <p:nvPr/>
        </p:nvSpPr>
        <p:spPr>
          <a:xfrm>
            <a:off x="5532120" y="4689043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20" dirty="0"/>
          </a:p>
        </p:txBody>
      </p:sp>
      <p:sp>
        <p:nvSpPr>
          <p:cNvPr id="106" name="Text 104"/>
          <p:cNvSpPr txBox="1"/>
          <p:nvPr/>
        </p:nvSpPr>
        <p:spPr>
          <a:xfrm>
            <a:off x="6025896" y="4689043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$294</a:t>
            </a:r>
            <a:endParaRPr lang="en-US" sz="720" dirty="0"/>
          </a:p>
        </p:txBody>
      </p:sp>
      <p:sp>
        <p:nvSpPr>
          <p:cNvPr id="107" name="Shape 105"/>
          <p:cNvSpPr/>
          <p:nvPr/>
        </p:nvSpPr>
        <p:spPr>
          <a:xfrm>
            <a:off x="539496" y="4843577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612648" y="4843577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AVC - Carson</a:t>
            </a:r>
            <a:endParaRPr lang="en-US" sz="720" dirty="0"/>
          </a:p>
        </p:txBody>
      </p:sp>
      <p:sp>
        <p:nvSpPr>
          <p:cNvPr id="109" name="Text 107"/>
          <p:cNvSpPr txBox="1"/>
          <p:nvPr/>
        </p:nvSpPr>
        <p:spPr>
          <a:xfrm>
            <a:off x="3374136" y="4843577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 Hikuroa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4782312" y="4843577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Oct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5532120" y="4843577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20" dirty="0"/>
          </a:p>
        </p:txBody>
      </p:sp>
      <p:sp>
        <p:nvSpPr>
          <p:cNvPr id="112" name="Text 110"/>
          <p:cNvSpPr txBox="1"/>
          <p:nvPr/>
        </p:nvSpPr>
        <p:spPr>
          <a:xfrm>
            <a:off x="6025896" y="4843577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$294</a:t>
            </a:r>
            <a:endParaRPr lang="en-US" sz="720" dirty="0"/>
          </a:p>
        </p:txBody>
      </p:sp>
      <p:sp>
        <p:nvSpPr>
          <p:cNvPr id="113" name="Text 111"/>
          <p:cNvSpPr txBox="1"/>
          <p:nvPr/>
        </p:nvSpPr>
        <p:spPr>
          <a:xfrm>
            <a:off x="612648" y="4998110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Wayi Restaurant</a:t>
            </a:r>
            <a:endParaRPr lang="en-US" sz="720" dirty="0"/>
          </a:p>
        </p:txBody>
      </p:sp>
      <p:sp>
        <p:nvSpPr>
          <p:cNvPr id="114" name="Text 112"/>
          <p:cNvSpPr txBox="1"/>
          <p:nvPr/>
        </p:nvSpPr>
        <p:spPr>
          <a:xfrm>
            <a:off x="3374136" y="4998110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 Hikuroa</a:t>
            </a:r>
            <a:endParaRPr lang="en-US" sz="700" dirty="0"/>
          </a:p>
        </p:txBody>
      </p:sp>
      <p:sp>
        <p:nvSpPr>
          <p:cNvPr id="115" name="Text 113"/>
          <p:cNvSpPr txBox="1"/>
          <p:nvPr/>
        </p:nvSpPr>
        <p:spPr>
          <a:xfrm>
            <a:off x="4782312" y="4998110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Sep</a:t>
            </a:r>
            <a:endParaRPr lang="en-US" sz="700" dirty="0"/>
          </a:p>
        </p:txBody>
      </p:sp>
      <p:sp>
        <p:nvSpPr>
          <p:cNvPr id="116" name="Text 114"/>
          <p:cNvSpPr txBox="1"/>
          <p:nvPr/>
        </p:nvSpPr>
        <p:spPr>
          <a:xfrm>
            <a:off x="5532120" y="4998110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</a:t>
            </a:r>
            <a:endParaRPr lang="en-US" sz="720" dirty="0"/>
          </a:p>
        </p:txBody>
      </p:sp>
      <p:sp>
        <p:nvSpPr>
          <p:cNvPr id="117" name="Text 115"/>
          <p:cNvSpPr txBox="1"/>
          <p:nvPr/>
        </p:nvSpPr>
        <p:spPr>
          <a:xfrm>
            <a:off x="6025896" y="4998110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$250</a:t>
            </a:r>
            <a:endParaRPr lang="en-US" sz="720" dirty="0"/>
          </a:p>
        </p:txBody>
      </p:sp>
      <p:sp>
        <p:nvSpPr>
          <p:cNvPr id="118" name="Shape 116"/>
          <p:cNvSpPr/>
          <p:nvPr/>
        </p:nvSpPr>
        <p:spPr>
          <a:xfrm>
            <a:off x="539496" y="5152644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612648" y="5152644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Kirra Beach House</a:t>
            </a:r>
            <a:endParaRPr lang="en-US" sz="720" dirty="0"/>
          </a:p>
        </p:txBody>
      </p:sp>
      <p:sp>
        <p:nvSpPr>
          <p:cNvPr id="120" name="Text 118"/>
          <p:cNvSpPr txBox="1"/>
          <p:nvPr/>
        </p:nvSpPr>
        <p:spPr>
          <a:xfrm>
            <a:off x="3374136" y="5152644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700" dirty="0"/>
          </a:p>
        </p:txBody>
      </p:sp>
      <p:sp>
        <p:nvSpPr>
          <p:cNvPr id="121" name="Text 119"/>
          <p:cNvSpPr txBox="1"/>
          <p:nvPr/>
        </p:nvSpPr>
        <p:spPr>
          <a:xfrm>
            <a:off x="4782312" y="5152644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Jun</a:t>
            </a:r>
            <a:endParaRPr lang="en-US" sz="700" dirty="0"/>
          </a:p>
        </p:txBody>
      </p:sp>
      <p:sp>
        <p:nvSpPr>
          <p:cNvPr id="122" name="Text 120"/>
          <p:cNvSpPr txBox="1"/>
          <p:nvPr/>
        </p:nvSpPr>
        <p:spPr>
          <a:xfrm>
            <a:off x="5532120" y="5152644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132</a:t>
            </a:r>
            <a:endParaRPr lang="en-US" sz="720" dirty="0"/>
          </a:p>
        </p:txBody>
      </p:sp>
      <p:sp>
        <p:nvSpPr>
          <p:cNvPr id="123" name="Text 121"/>
          <p:cNvSpPr txBox="1"/>
          <p:nvPr/>
        </p:nvSpPr>
        <p:spPr>
          <a:xfrm>
            <a:off x="6025896" y="5152644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$180</a:t>
            </a:r>
            <a:endParaRPr lang="en-US" sz="720" dirty="0"/>
          </a:p>
        </p:txBody>
      </p:sp>
      <p:sp>
        <p:nvSpPr>
          <p:cNvPr id="124" name="Text 122"/>
          <p:cNvSpPr txBox="1"/>
          <p:nvPr/>
        </p:nvSpPr>
        <p:spPr>
          <a:xfrm>
            <a:off x="612648" y="5307178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Irymple Hotel</a:t>
            </a:r>
            <a:endParaRPr lang="en-US" sz="720" dirty="0"/>
          </a:p>
        </p:txBody>
      </p:sp>
      <p:sp>
        <p:nvSpPr>
          <p:cNvPr id="125" name="Text 123"/>
          <p:cNvSpPr txBox="1"/>
          <p:nvPr/>
        </p:nvSpPr>
        <p:spPr>
          <a:xfrm>
            <a:off x="3374136" y="5307178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700" dirty="0"/>
          </a:p>
        </p:txBody>
      </p:sp>
      <p:sp>
        <p:nvSpPr>
          <p:cNvPr id="126" name="Text 124"/>
          <p:cNvSpPr txBox="1"/>
          <p:nvPr/>
        </p:nvSpPr>
        <p:spPr>
          <a:xfrm>
            <a:off x="4782312" y="5307178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Oct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5532120" y="5307178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720" dirty="0"/>
          </a:p>
        </p:txBody>
      </p:sp>
      <p:sp>
        <p:nvSpPr>
          <p:cNvPr id="128" name="Text 126"/>
          <p:cNvSpPr txBox="1"/>
          <p:nvPr/>
        </p:nvSpPr>
        <p:spPr>
          <a:xfrm>
            <a:off x="6025896" y="5307178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$147</a:t>
            </a:r>
            <a:endParaRPr lang="en-US" sz="720" dirty="0"/>
          </a:p>
        </p:txBody>
      </p:sp>
      <p:sp>
        <p:nvSpPr>
          <p:cNvPr id="129" name="Shape 127"/>
          <p:cNvSpPr/>
          <p:nvPr/>
        </p:nvSpPr>
        <p:spPr>
          <a:xfrm>
            <a:off x="539496" y="5461711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612648" y="5461711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Little Ship Club</a:t>
            </a:r>
            <a:endParaRPr lang="en-US" sz="720" dirty="0"/>
          </a:p>
        </p:txBody>
      </p:sp>
      <p:sp>
        <p:nvSpPr>
          <p:cNvPr id="131" name="Text 129"/>
          <p:cNvSpPr txBox="1"/>
          <p:nvPr/>
        </p:nvSpPr>
        <p:spPr>
          <a:xfrm>
            <a:off x="3374136" y="5461711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700" dirty="0"/>
          </a:p>
        </p:txBody>
      </p:sp>
      <p:sp>
        <p:nvSpPr>
          <p:cNvPr id="132" name="Text 130"/>
          <p:cNvSpPr txBox="1"/>
          <p:nvPr/>
        </p:nvSpPr>
        <p:spPr>
          <a:xfrm>
            <a:off x="4782312" y="5461711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May</a:t>
            </a:r>
            <a:endParaRPr lang="en-US" sz="700" dirty="0"/>
          </a:p>
        </p:txBody>
      </p:sp>
      <p:sp>
        <p:nvSpPr>
          <p:cNvPr id="133" name="Text 131"/>
          <p:cNvSpPr txBox="1"/>
          <p:nvPr/>
        </p:nvSpPr>
        <p:spPr>
          <a:xfrm>
            <a:off x="5532120" y="5461711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145</a:t>
            </a:r>
            <a:endParaRPr lang="en-US" sz="720" dirty="0"/>
          </a:p>
        </p:txBody>
      </p:sp>
      <p:sp>
        <p:nvSpPr>
          <p:cNvPr id="134" name="Text 132"/>
          <p:cNvSpPr txBox="1"/>
          <p:nvPr/>
        </p:nvSpPr>
        <p:spPr>
          <a:xfrm>
            <a:off x="6025896" y="5461711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$116</a:t>
            </a:r>
            <a:endParaRPr lang="en-US" sz="720" dirty="0"/>
          </a:p>
        </p:txBody>
      </p:sp>
      <p:sp>
        <p:nvSpPr>
          <p:cNvPr id="135" name="Text 133"/>
          <p:cNvSpPr txBox="1"/>
          <p:nvPr/>
        </p:nvSpPr>
        <p:spPr>
          <a:xfrm>
            <a:off x="612648" y="5616245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Crossing Inn - Leedal</a:t>
            </a:r>
            <a:endParaRPr lang="en-US" sz="720" dirty="0"/>
          </a:p>
        </p:txBody>
      </p:sp>
      <p:sp>
        <p:nvSpPr>
          <p:cNvPr id="136" name="Text 134"/>
          <p:cNvSpPr txBox="1"/>
          <p:nvPr/>
        </p:nvSpPr>
        <p:spPr>
          <a:xfrm>
            <a:off x="3374136" y="5616245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4782312" y="5616245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Oct</a:t>
            </a:r>
            <a:endParaRPr lang="en-US" sz="700" dirty="0"/>
          </a:p>
        </p:txBody>
      </p:sp>
      <p:sp>
        <p:nvSpPr>
          <p:cNvPr id="138" name="Text 136"/>
          <p:cNvSpPr txBox="1"/>
          <p:nvPr/>
        </p:nvSpPr>
        <p:spPr>
          <a:xfrm>
            <a:off x="5532120" y="5616245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720" dirty="0"/>
          </a:p>
        </p:txBody>
      </p:sp>
      <p:sp>
        <p:nvSpPr>
          <p:cNvPr id="139" name="Text 137"/>
          <p:cNvSpPr txBox="1"/>
          <p:nvPr/>
        </p:nvSpPr>
        <p:spPr>
          <a:xfrm>
            <a:off x="6025896" y="5616245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$106</a:t>
            </a:r>
            <a:endParaRPr lang="en-US" sz="720" dirty="0"/>
          </a:p>
        </p:txBody>
      </p:sp>
      <p:sp>
        <p:nvSpPr>
          <p:cNvPr id="140" name="Shape 138"/>
          <p:cNvSpPr/>
          <p:nvPr/>
        </p:nvSpPr>
        <p:spPr>
          <a:xfrm>
            <a:off x="539496" y="5770778"/>
            <a:ext cx="6419088" cy="154534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612648" y="5770778"/>
            <a:ext cx="2743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Jabiru Golf Club</a:t>
            </a:r>
            <a:endParaRPr lang="en-US" sz="720" dirty="0"/>
          </a:p>
        </p:txBody>
      </p:sp>
      <p:sp>
        <p:nvSpPr>
          <p:cNvPr id="142" name="Text 140"/>
          <p:cNvSpPr txBox="1"/>
          <p:nvPr/>
        </p:nvSpPr>
        <p:spPr>
          <a:xfrm>
            <a:off x="3374136" y="5770778"/>
            <a:ext cx="13716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00" dirty="0"/>
          </a:p>
        </p:txBody>
      </p:sp>
      <p:sp>
        <p:nvSpPr>
          <p:cNvPr id="143" name="Text 141"/>
          <p:cNvSpPr txBox="1"/>
          <p:nvPr/>
        </p:nvSpPr>
        <p:spPr>
          <a:xfrm>
            <a:off x="4782312" y="5770778"/>
            <a:ext cx="73152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Sep</a:t>
            </a:r>
            <a:endParaRPr lang="en-US" sz="700" dirty="0"/>
          </a:p>
        </p:txBody>
      </p:sp>
      <p:sp>
        <p:nvSpPr>
          <p:cNvPr id="144" name="Text 142"/>
          <p:cNvSpPr txBox="1"/>
          <p:nvPr/>
        </p:nvSpPr>
        <p:spPr>
          <a:xfrm>
            <a:off x="5532120" y="5770778"/>
            <a:ext cx="4572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720" dirty="0"/>
          </a:p>
        </p:txBody>
      </p:sp>
      <p:sp>
        <p:nvSpPr>
          <p:cNvPr id="145" name="Text 143"/>
          <p:cNvSpPr txBox="1"/>
          <p:nvPr/>
        </p:nvSpPr>
        <p:spPr>
          <a:xfrm>
            <a:off x="6025896" y="5770778"/>
            <a:ext cx="76809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$106</a:t>
            </a:r>
            <a:endParaRPr lang="en-US" sz="720" dirty="0"/>
          </a:p>
        </p:txBody>
      </p:sp>
      <p:sp>
        <p:nvSpPr>
          <p:cNvPr id="146" name="Shape 144"/>
          <p:cNvSpPr/>
          <p:nvPr/>
        </p:nvSpPr>
        <p:spPr>
          <a:xfrm>
            <a:off x="612648" y="5961888"/>
            <a:ext cx="6272784" cy="10973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12648" y="5998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800" dirty="0"/>
          </a:p>
        </p:txBody>
      </p:sp>
      <p:sp>
        <p:nvSpPr>
          <p:cNvPr id="148" name="Text 146"/>
          <p:cNvSpPr txBox="1"/>
          <p:nvPr/>
        </p:nvSpPr>
        <p:spPr>
          <a:xfrm>
            <a:off x="5257800" y="5998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$20,038/mo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7269480" y="2212848"/>
            <a:ext cx="450799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50" name="Text 148"/>
          <p:cNvSpPr txBox="1"/>
          <p:nvPr/>
        </p:nvSpPr>
        <p:spPr>
          <a:xfrm>
            <a:off x="7470648" y="2322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AGEING — DAYS SINCE CLOSE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7470648" y="2633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0–30 days</a:t>
            </a:r>
            <a:endParaRPr lang="en-US" sz="680" dirty="0"/>
          </a:p>
        </p:txBody>
      </p:sp>
      <p:sp>
        <p:nvSpPr>
          <p:cNvPr id="152" name="Shape 150"/>
          <p:cNvSpPr/>
          <p:nvPr/>
        </p:nvSpPr>
        <p:spPr>
          <a:xfrm>
            <a:off x="8458200" y="2674620"/>
            <a:ext cx="1600200" cy="100584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10122408" y="263347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deals</a:t>
            </a:r>
            <a:endParaRPr lang="en-US" sz="680" dirty="0"/>
          </a:p>
        </p:txBody>
      </p:sp>
      <p:sp>
        <p:nvSpPr>
          <p:cNvPr id="154" name="Text 152"/>
          <p:cNvSpPr txBox="1"/>
          <p:nvPr/>
        </p:nvSpPr>
        <p:spPr>
          <a:xfrm>
            <a:off x="10835640" y="2633472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$3,989/mo</a:t>
            </a:r>
            <a:endParaRPr lang="en-US" sz="700" dirty="0"/>
          </a:p>
        </p:txBody>
      </p:sp>
      <p:sp>
        <p:nvSpPr>
          <p:cNvPr id="155" name="Text 153"/>
          <p:cNvSpPr txBox="1"/>
          <p:nvPr/>
        </p:nvSpPr>
        <p:spPr>
          <a:xfrm>
            <a:off x="7470648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31–90 days</a:t>
            </a:r>
            <a:endParaRPr lang="en-US" sz="680" dirty="0"/>
          </a:p>
        </p:txBody>
      </p:sp>
      <p:sp>
        <p:nvSpPr>
          <p:cNvPr id="156" name="Shape 154"/>
          <p:cNvSpPr/>
          <p:nvPr/>
        </p:nvSpPr>
        <p:spPr>
          <a:xfrm>
            <a:off x="8458200" y="2875788"/>
            <a:ext cx="480060" cy="100584"/>
          </a:xfrm>
          <a:prstGeom prst="rect">
            <a:avLst/>
          </a:prstGeom>
          <a:solidFill>
            <a:srgbClr val="C88A2E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10122408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deals</a:t>
            </a:r>
            <a:endParaRPr lang="en-US" sz="680" dirty="0"/>
          </a:p>
        </p:txBody>
      </p:sp>
      <p:sp>
        <p:nvSpPr>
          <p:cNvPr id="158" name="Text 156"/>
          <p:cNvSpPr txBox="1"/>
          <p:nvPr/>
        </p:nvSpPr>
        <p:spPr>
          <a:xfrm>
            <a:off x="10835640" y="2834640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$1,296/mo</a:t>
            </a:r>
            <a:endParaRPr lang="en-US" sz="700" dirty="0"/>
          </a:p>
        </p:txBody>
      </p:sp>
      <p:sp>
        <p:nvSpPr>
          <p:cNvPr id="159" name="Text 157"/>
          <p:cNvSpPr txBox="1"/>
          <p:nvPr/>
        </p:nvSpPr>
        <p:spPr>
          <a:xfrm>
            <a:off x="7470648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91–180 days</a:t>
            </a:r>
            <a:endParaRPr lang="en-US" sz="680" dirty="0"/>
          </a:p>
        </p:txBody>
      </p:sp>
      <p:sp>
        <p:nvSpPr>
          <p:cNvPr id="160" name="Shape 158"/>
          <p:cNvSpPr/>
          <p:nvPr/>
        </p:nvSpPr>
        <p:spPr>
          <a:xfrm>
            <a:off x="8458200" y="3076956"/>
            <a:ext cx="640080" cy="100584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10122408" y="303580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deals</a:t>
            </a:r>
            <a:endParaRPr lang="en-US" sz="680" dirty="0"/>
          </a:p>
        </p:txBody>
      </p:sp>
      <p:sp>
        <p:nvSpPr>
          <p:cNvPr id="162" name="Text 160"/>
          <p:cNvSpPr txBox="1"/>
          <p:nvPr/>
        </p:nvSpPr>
        <p:spPr>
          <a:xfrm>
            <a:off x="10835640" y="3035808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$1,083/mo</a:t>
            </a:r>
            <a:endParaRPr lang="en-US" sz="700" dirty="0"/>
          </a:p>
        </p:txBody>
      </p:sp>
      <p:sp>
        <p:nvSpPr>
          <p:cNvPr id="163" name="Text 161"/>
          <p:cNvSpPr txBox="1"/>
          <p:nvPr/>
        </p:nvSpPr>
        <p:spPr>
          <a:xfrm>
            <a:off x="7470648" y="32369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180+ days</a:t>
            </a:r>
            <a:endParaRPr lang="en-US" sz="680" dirty="0"/>
          </a:p>
        </p:txBody>
      </p:sp>
      <p:sp>
        <p:nvSpPr>
          <p:cNvPr id="164" name="Shape 162"/>
          <p:cNvSpPr/>
          <p:nvPr/>
        </p:nvSpPr>
        <p:spPr>
          <a:xfrm>
            <a:off x="8458200" y="3278124"/>
            <a:ext cx="480060" cy="100584"/>
          </a:xfrm>
          <a:prstGeom prst="rect">
            <a:avLst/>
          </a:prstGeom>
          <a:solidFill>
            <a:srgbClr val="7A3B21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10122408" y="32369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deals</a:t>
            </a:r>
            <a:endParaRPr lang="en-US" sz="680" dirty="0"/>
          </a:p>
        </p:txBody>
      </p:sp>
      <p:sp>
        <p:nvSpPr>
          <p:cNvPr id="166" name="Text 164"/>
          <p:cNvSpPr txBox="1"/>
          <p:nvPr/>
        </p:nvSpPr>
        <p:spPr>
          <a:xfrm>
            <a:off x="10835640" y="3236976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$13,670/mo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7269480" y="3657600"/>
            <a:ext cx="45079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68" name="Text 166"/>
          <p:cNvSpPr txBox="1"/>
          <p:nvPr/>
        </p:nvSpPr>
        <p:spPr>
          <a:xfrm>
            <a:off x="7470648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PIPELINE — OPEN</a:t>
            </a:r>
            <a:endParaRPr lang="en-US" sz="1200" dirty="0"/>
          </a:p>
        </p:txBody>
      </p:sp>
      <p:sp>
        <p:nvSpPr>
          <p:cNvPr id="169" name="Shape 167"/>
          <p:cNvSpPr/>
          <p:nvPr/>
        </p:nvSpPr>
        <p:spPr>
          <a:xfrm>
            <a:off x="7470648" y="4078224"/>
            <a:ext cx="1774743" cy="310896"/>
          </a:xfrm>
          <a:prstGeom prst="rect">
            <a:avLst/>
          </a:prstGeom>
          <a:solidFill>
            <a:srgbClr val="1C5765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7470648" y="4078224"/>
            <a:ext cx="1774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1100" dirty="0"/>
          </a:p>
        </p:txBody>
      </p:sp>
      <p:sp>
        <p:nvSpPr>
          <p:cNvPr id="171" name="Text 169"/>
          <p:cNvSpPr txBox="1"/>
          <p:nvPr/>
        </p:nvSpPr>
        <p:spPr>
          <a:xfrm>
            <a:off x="7342632" y="4425696"/>
            <a:ext cx="2030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</a:t>
            </a:r>
            <a:endParaRPr lang="en-US" sz="550" dirty="0"/>
          </a:p>
        </p:txBody>
      </p:sp>
      <p:sp>
        <p:nvSpPr>
          <p:cNvPr id="172" name="Shape 170"/>
          <p:cNvSpPr/>
          <p:nvPr/>
        </p:nvSpPr>
        <p:spPr>
          <a:xfrm>
            <a:off x="9281967" y="4078224"/>
            <a:ext cx="1835120" cy="31089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281967" y="4078224"/>
            <a:ext cx="183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</a:t>
            </a:r>
            <a:endParaRPr lang="en-US" sz="1100" dirty="0"/>
          </a:p>
        </p:txBody>
      </p:sp>
      <p:sp>
        <p:nvSpPr>
          <p:cNvPr id="174" name="Text 172"/>
          <p:cNvSpPr txBox="1"/>
          <p:nvPr/>
        </p:nvSpPr>
        <p:spPr>
          <a:xfrm>
            <a:off x="9153951" y="4425696"/>
            <a:ext cx="2091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DB BUILD</a:t>
            </a:r>
            <a:endParaRPr lang="en-US" sz="550" dirty="0"/>
          </a:p>
        </p:txBody>
      </p:sp>
      <p:sp>
        <p:nvSpPr>
          <p:cNvPr id="175" name="Shape 173"/>
          <p:cNvSpPr/>
          <p:nvPr/>
        </p:nvSpPr>
        <p:spPr>
          <a:xfrm>
            <a:off x="11153663" y="4078224"/>
            <a:ext cx="386065" cy="310896"/>
          </a:xfrm>
          <a:prstGeom prst="rect">
            <a:avLst/>
          </a:prstGeom>
          <a:solidFill>
            <a:srgbClr val="6FAEBB"/>
          </a:solidFill>
          <a:ln/>
        </p:spPr>
      </p:sp>
      <p:sp>
        <p:nvSpPr>
          <p:cNvPr id="176" name="Text 174"/>
          <p:cNvSpPr txBox="1"/>
          <p:nvPr/>
        </p:nvSpPr>
        <p:spPr>
          <a:xfrm>
            <a:off x="11153663" y="4078224"/>
            <a:ext cx="3860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  <p:sp>
        <p:nvSpPr>
          <p:cNvPr id="177" name="Text 175"/>
          <p:cNvSpPr txBox="1"/>
          <p:nvPr/>
        </p:nvSpPr>
        <p:spPr>
          <a:xfrm>
            <a:off x="11025647" y="4425696"/>
            <a:ext cx="6420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READY FOR GO LIVE</a:t>
            </a:r>
            <a:endParaRPr lang="en-US" sz="550" dirty="0"/>
          </a:p>
        </p:txBody>
      </p:sp>
      <p:sp>
        <p:nvSpPr>
          <p:cNvPr id="178" name="Text 176"/>
          <p:cNvSpPr txBox="1"/>
          <p:nvPr/>
        </p:nvSpPr>
        <p:spPr>
          <a:xfrm>
            <a:off x="7470648" y="4645152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 open, up from 62 a fortnight ago. One carries a go-live date, so none of this can be forecast.</a:t>
            </a:r>
            <a:endParaRPr lang="en-US" sz="620" dirty="0"/>
          </a:p>
        </p:txBody>
      </p:sp>
      <p:sp>
        <p:nvSpPr>
          <p:cNvPr id="179" name="Shape 177"/>
          <p:cNvSpPr/>
          <p:nvPr/>
        </p:nvSpPr>
        <p:spPr>
          <a:xfrm>
            <a:off x="7269480" y="5074920"/>
            <a:ext cx="450799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0" name="Text 178"/>
          <p:cNvSpPr txBox="1"/>
          <p:nvPr/>
        </p:nvSpPr>
        <p:spPr>
          <a:xfrm>
            <a:off x="7470648" y="518464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81" name="Text 179"/>
          <p:cNvSpPr txBox="1"/>
          <p:nvPr/>
        </p:nvSpPr>
        <p:spPr>
          <a:xfrm>
            <a:off x="7470648" y="5495544"/>
            <a:ext cx="409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deals over six months old carry 68% of the value.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Oscars Group ($12,880/mo, 201 days), The Berrigan ($475, 209) and Riverton ($315, 184). Oscars alone is $155k of the $240k.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Strip those three and the rest is $6,368/mo across 17 venues, median 31 days.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normal delivery queue — but ten of the seventeen closed inside the last month, so it fills faster than it clears.</a:t>
            </a:r>
            <a:endParaRPr lang="en-US" sz="900" dirty="0"/>
          </a:p>
        </p:txBody>
      </p:sp>
      <p:sp>
        <p:nvSpPr>
          <p:cNvPr id="182" name="Text 180"/>
          <p:cNvSpPr txBox="1"/>
          <p:nvPr/>
        </p:nvSpPr>
        <p:spPr>
          <a:xfrm>
            <a:off x="411480" y="65105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yet billing = won with recurring revenue in 2026, no row on the register. A live venue is billing.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5925312" y="6510528"/>
            <a:ext cx="585216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5925312" y="6510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closed-won deals (total_software_cost) vs MRR movement register (live, 19 Oct) · as at 18 Oct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2026-10-19T04:35:16Z</dcterms:created>
  <dcterms:modified xsi:type="dcterms:W3CDTF">2026-10-19T04:35:16Z</dcterms:modified>
</cp:coreProperties>
</file>