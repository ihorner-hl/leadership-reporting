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Not Yet Live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WON, NOT YET BILLING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95 deals won with recurring revenue in 2026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3832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478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AT STAKE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5295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$240k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 signed and not invoiced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3550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196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OLDEST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 Days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 — closed 23 March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326880" y="987552"/>
            <a:ext cx="2450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491472" y="107899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AGE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473184" y="12618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491472" y="160934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since close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212848"/>
            <a:ext cx="667512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322576"/>
            <a:ext cx="6272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WITH RECURRING REVENUE, NO INVOICE RAISED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matched on debtor ID and venue name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6151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3374136" y="26151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MANAGER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4782312" y="261518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</a:t>
            </a:r>
            <a:endParaRPr lang="en-US" sz="680" dirty="0"/>
          </a:p>
        </p:txBody>
      </p:sp>
      <p:sp>
        <p:nvSpPr>
          <p:cNvPr id="35" name="Text 33"/>
          <p:cNvSpPr txBox="1"/>
          <p:nvPr/>
        </p:nvSpPr>
        <p:spPr>
          <a:xfrm>
            <a:off x="6025896" y="2615184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612648" y="283464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20" dirty="0"/>
          </a:p>
        </p:txBody>
      </p:sp>
      <p:sp>
        <p:nvSpPr>
          <p:cNvPr id="37" name="Text 35"/>
          <p:cNvSpPr txBox="1"/>
          <p:nvPr/>
        </p:nvSpPr>
        <p:spPr>
          <a:xfrm>
            <a:off x="3374136" y="283464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4782312" y="283464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Mar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83464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</a:t>
            </a:r>
            <a:endParaRPr lang="en-US" sz="720" dirty="0"/>
          </a:p>
        </p:txBody>
      </p:sp>
      <p:sp>
        <p:nvSpPr>
          <p:cNvPr id="40" name="Text 38"/>
          <p:cNvSpPr txBox="1"/>
          <p:nvPr/>
        </p:nvSpPr>
        <p:spPr>
          <a:xfrm>
            <a:off x="6025896" y="283464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539496" y="298917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29891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2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29891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4782312" y="29891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5532120" y="29891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46" name="Text 44"/>
          <p:cNvSpPr txBox="1"/>
          <p:nvPr/>
        </p:nvSpPr>
        <p:spPr>
          <a:xfrm>
            <a:off x="6025896" y="29891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612648" y="314370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20" dirty="0"/>
          </a:p>
        </p:txBody>
      </p:sp>
      <p:sp>
        <p:nvSpPr>
          <p:cNvPr id="48" name="Text 46"/>
          <p:cNvSpPr txBox="1"/>
          <p:nvPr/>
        </p:nvSpPr>
        <p:spPr>
          <a:xfrm>
            <a:off x="3374136" y="314370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4782312" y="314370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Aug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5532120" y="314370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025896" y="314370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539496" y="329824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329824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20" dirty="0"/>
          </a:p>
        </p:txBody>
      </p:sp>
      <p:sp>
        <p:nvSpPr>
          <p:cNvPr id="54" name="Text 52"/>
          <p:cNvSpPr txBox="1"/>
          <p:nvPr/>
        </p:nvSpPr>
        <p:spPr>
          <a:xfrm>
            <a:off x="3374136" y="329824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782312" y="329824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532120" y="329824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329824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20" dirty="0"/>
          </a:p>
        </p:txBody>
      </p:sp>
      <p:sp>
        <p:nvSpPr>
          <p:cNvPr id="58" name="Text 56"/>
          <p:cNvSpPr txBox="1"/>
          <p:nvPr/>
        </p:nvSpPr>
        <p:spPr>
          <a:xfrm>
            <a:off x="612648" y="34527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374136" y="34527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782312" y="34527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5532120" y="34527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62" name="Text 60"/>
          <p:cNvSpPr txBox="1"/>
          <p:nvPr/>
        </p:nvSpPr>
        <p:spPr>
          <a:xfrm>
            <a:off x="6025896" y="34527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539496" y="360730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360730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374136" y="360730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4782312" y="360730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Mar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5532120" y="360730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6025896" y="360730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37618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3374136" y="37618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4782312" y="37618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Oct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532120" y="37618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6025896" y="37618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539496" y="3916375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91637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3374136" y="391637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4782312" y="391637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Jun</a:t>
            </a:r>
            <a:endParaRPr lang="en-US" sz="7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91637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025896" y="391637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612648" y="4070909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374136" y="4070909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4070909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Oct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5532120" y="4070909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20" dirty="0"/>
          </a:p>
        </p:txBody>
      </p:sp>
      <p:sp>
        <p:nvSpPr>
          <p:cNvPr id="84" name="Text 82"/>
          <p:cNvSpPr txBox="1"/>
          <p:nvPr/>
        </p:nvSpPr>
        <p:spPr>
          <a:xfrm>
            <a:off x="6025896" y="4070909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20" dirty="0"/>
          </a:p>
        </p:txBody>
      </p:sp>
      <p:sp>
        <p:nvSpPr>
          <p:cNvPr id="85" name="Shape 83"/>
          <p:cNvSpPr/>
          <p:nvPr/>
        </p:nvSpPr>
        <p:spPr>
          <a:xfrm>
            <a:off x="539496" y="4225442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12648" y="42254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20" dirty="0"/>
          </a:p>
        </p:txBody>
      </p:sp>
      <p:sp>
        <p:nvSpPr>
          <p:cNvPr id="87" name="Text 85"/>
          <p:cNvSpPr txBox="1"/>
          <p:nvPr/>
        </p:nvSpPr>
        <p:spPr>
          <a:xfrm>
            <a:off x="3374136" y="42254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4782312" y="42254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5532120" y="42254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90" name="Text 88"/>
          <p:cNvSpPr txBox="1"/>
          <p:nvPr/>
        </p:nvSpPr>
        <p:spPr>
          <a:xfrm>
            <a:off x="6025896" y="42254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612648" y="4379976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Rusty Gurnard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3374136" y="4379976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4782312" y="4379976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Jun</a:t>
            </a:r>
            <a:endParaRPr lang="en-US" sz="700" dirty="0"/>
          </a:p>
        </p:txBody>
      </p:sp>
      <p:sp>
        <p:nvSpPr>
          <p:cNvPr id="94" name="Text 92"/>
          <p:cNvSpPr txBox="1"/>
          <p:nvPr/>
        </p:nvSpPr>
        <p:spPr>
          <a:xfrm>
            <a:off x="5532120" y="4379976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025896" y="4379976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539496" y="4534510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45345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Riverton Hotel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3374136" y="45345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782312" y="45345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Apr</a:t>
            </a:r>
            <a:endParaRPr lang="en-US" sz="700" dirty="0"/>
          </a:p>
        </p:txBody>
      </p:sp>
      <p:sp>
        <p:nvSpPr>
          <p:cNvPr id="100" name="Text 98"/>
          <p:cNvSpPr txBox="1"/>
          <p:nvPr/>
        </p:nvSpPr>
        <p:spPr>
          <a:xfrm>
            <a:off x="5532120" y="45345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184</a:t>
            </a:r>
            <a:endParaRPr lang="en-US" sz="720" dirty="0"/>
          </a:p>
        </p:txBody>
      </p:sp>
      <p:sp>
        <p:nvSpPr>
          <p:cNvPr id="101" name="Text 99"/>
          <p:cNvSpPr txBox="1"/>
          <p:nvPr/>
        </p:nvSpPr>
        <p:spPr>
          <a:xfrm>
            <a:off x="6025896" y="45345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$315</a:t>
            </a:r>
            <a:endParaRPr lang="en-US" sz="720" dirty="0"/>
          </a:p>
        </p:txBody>
      </p:sp>
      <p:sp>
        <p:nvSpPr>
          <p:cNvPr id="102" name="Text 100"/>
          <p:cNvSpPr txBox="1"/>
          <p:nvPr/>
        </p:nvSpPr>
        <p:spPr>
          <a:xfrm>
            <a:off x="612648" y="4689043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Bellevue Bar &amp; Terrace</a:t>
            </a:r>
            <a:endParaRPr lang="en-US" sz="720" dirty="0"/>
          </a:p>
        </p:txBody>
      </p:sp>
      <p:sp>
        <p:nvSpPr>
          <p:cNvPr id="103" name="Text 101"/>
          <p:cNvSpPr txBox="1"/>
          <p:nvPr/>
        </p:nvSpPr>
        <p:spPr>
          <a:xfrm>
            <a:off x="3374136" y="4689043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04" name="Text 102"/>
          <p:cNvSpPr txBox="1"/>
          <p:nvPr/>
        </p:nvSpPr>
        <p:spPr>
          <a:xfrm>
            <a:off x="4782312" y="4689043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5532120" y="4689043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06" name="Text 104"/>
          <p:cNvSpPr txBox="1"/>
          <p:nvPr/>
        </p:nvSpPr>
        <p:spPr>
          <a:xfrm>
            <a:off x="6025896" y="4689043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539496" y="4843577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2648" y="484357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Carson</a:t>
            </a:r>
            <a:endParaRPr lang="en-US" sz="720" dirty="0"/>
          </a:p>
        </p:txBody>
      </p:sp>
      <p:sp>
        <p:nvSpPr>
          <p:cNvPr id="109" name="Text 107"/>
          <p:cNvSpPr txBox="1"/>
          <p:nvPr/>
        </p:nvSpPr>
        <p:spPr>
          <a:xfrm>
            <a:off x="3374136" y="484357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4782312" y="484357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532120" y="484357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6025896" y="484357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13" name="Text 111"/>
          <p:cNvSpPr txBox="1"/>
          <p:nvPr/>
        </p:nvSpPr>
        <p:spPr>
          <a:xfrm>
            <a:off x="612648" y="49981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20" dirty="0"/>
          </a:p>
        </p:txBody>
      </p:sp>
      <p:sp>
        <p:nvSpPr>
          <p:cNvPr id="114" name="Text 112"/>
          <p:cNvSpPr txBox="1"/>
          <p:nvPr/>
        </p:nvSpPr>
        <p:spPr>
          <a:xfrm>
            <a:off x="3374136" y="49981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5" name="Text 113"/>
          <p:cNvSpPr txBox="1"/>
          <p:nvPr/>
        </p:nvSpPr>
        <p:spPr>
          <a:xfrm>
            <a:off x="4782312" y="49981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116" name="Text 114"/>
          <p:cNvSpPr txBox="1"/>
          <p:nvPr/>
        </p:nvSpPr>
        <p:spPr>
          <a:xfrm>
            <a:off x="5532120" y="49981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117" name="Text 115"/>
          <p:cNvSpPr txBox="1"/>
          <p:nvPr/>
        </p:nvSpPr>
        <p:spPr>
          <a:xfrm>
            <a:off x="6025896" y="49981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</a:t>
            </a:r>
            <a:endParaRPr lang="en-US" sz="720" dirty="0"/>
          </a:p>
        </p:txBody>
      </p:sp>
      <p:sp>
        <p:nvSpPr>
          <p:cNvPr id="118" name="Shape 116"/>
          <p:cNvSpPr/>
          <p:nvPr/>
        </p:nvSpPr>
        <p:spPr>
          <a:xfrm>
            <a:off x="539496" y="515264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12648" y="515264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Kirra Beach House</a:t>
            </a:r>
            <a:endParaRPr lang="en-US" sz="720" dirty="0"/>
          </a:p>
        </p:txBody>
      </p:sp>
      <p:sp>
        <p:nvSpPr>
          <p:cNvPr id="120" name="Text 118"/>
          <p:cNvSpPr txBox="1"/>
          <p:nvPr/>
        </p:nvSpPr>
        <p:spPr>
          <a:xfrm>
            <a:off x="3374136" y="515264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21" name="Text 119"/>
          <p:cNvSpPr txBox="1"/>
          <p:nvPr/>
        </p:nvSpPr>
        <p:spPr>
          <a:xfrm>
            <a:off x="4782312" y="515264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Jun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5532120" y="515264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132</a:t>
            </a:r>
            <a:endParaRPr lang="en-US" sz="720" dirty="0"/>
          </a:p>
        </p:txBody>
      </p:sp>
      <p:sp>
        <p:nvSpPr>
          <p:cNvPr id="123" name="Text 121"/>
          <p:cNvSpPr txBox="1"/>
          <p:nvPr/>
        </p:nvSpPr>
        <p:spPr>
          <a:xfrm>
            <a:off x="6025896" y="515264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</a:t>
            </a:r>
            <a:endParaRPr lang="en-US" sz="72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53071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Irymple Hotel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74136" y="53071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126" name="Text 124"/>
          <p:cNvSpPr txBox="1"/>
          <p:nvPr/>
        </p:nvSpPr>
        <p:spPr>
          <a:xfrm>
            <a:off x="4782312" y="53071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Oct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532120" y="53071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025896" y="53071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539496" y="546171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12648" y="546171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Little Ship Club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74136" y="546171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4782312" y="546171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May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5532120" y="546171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145</a:t>
            </a:r>
            <a:endParaRPr lang="en-US" sz="720" dirty="0"/>
          </a:p>
        </p:txBody>
      </p:sp>
      <p:sp>
        <p:nvSpPr>
          <p:cNvPr id="134" name="Text 132"/>
          <p:cNvSpPr txBox="1"/>
          <p:nvPr/>
        </p:nvSpPr>
        <p:spPr>
          <a:xfrm>
            <a:off x="6025896" y="546171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</a:t>
            </a:r>
            <a:endParaRPr lang="en-US" sz="720" dirty="0"/>
          </a:p>
        </p:txBody>
      </p:sp>
      <p:sp>
        <p:nvSpPr>
          <p:cNvPr id="135" name="Text 133"/>
          <p:cNvSpPr txBox="1"/>
          <p:nvPr/>
        </p:nvSpPr>
        <p:spPr>
          <a:xfrm>
            <a:off x="612648" y="561624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Crossing Inn - Leedal</a:t>
            </a:r>
            <a:endParaRPr lang="en-US" sz="720" dirty="0"/>
          </a:p>
        </p:txBody>
      </p:sp>
      <p:sp>
        <p:nvSpPr>
          <p:cNvPr id="136" name="Text 134"/>
          <p:cNvSpPr txBox="1"/>
          <p:nvPr/>
        </p:nvSpPr>
        <p:spPr>
          <a:xfrm>
            <a:off x="3374136" y="561624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37" name="Text 135"/>
          <p:cNvSpPr txBox="1"/>
          <p:nvPr/>
        </p:nvSpPr>
        <p:spPr>
          <a:xfrm>
            <a:off x="4782312" y="561624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138" name="Text 136"/>
          <p:cNvSpPr txBox="1"/>
          <p:nvPr/>
        </p:nvSpPr>
        <p:spPr>
          <a:xfrm>
            <a:off x="5532120" y="561624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139" name="Text 137"/>
          <p:cNvSpPr txBox="1"/>
          <p:nvPr/>
        </p:nvSpPr>
        <p:spPr>
          <a:xfrm>
            <a:off x="6025896" y="561624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0" name="Shape 138"/>
          <p:cNvSpPr/>
          <p:nvPr/>
        </p:nvSpPr>
        <p:spPr>
          <a:xfrm>
            <a:off x="539496" y="577077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7707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Jabiru Golf Club</a:t>
            </a:r>
            <a:endParaRPr lang="en-US" sz="720" dirty="0"/>
          </a:p>
        </p:txBody>
      </p:sp>
      <p:sp>
        <p:nvSpPr>
          <p:cNvPr id="142" name="Text 140"/>
          <p:cNvSpPr txBox="1"/>
          <p:nvPr/>
        </p:nvSpPr>
        <p:spPr>
          <a:xfrm>
            <a:off x="3374136" y="57707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43" name="Text 141"/>
          <p:cNvSpPr txBox="1"/>
          <p:nvPr/>
        </p:nvSpPr>
        <p:spPr>
          <a:xfrm>
            <a:off x="4782312" y="57707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Sep</a:t>
            </a:r>
            <a:endParaRPr lang="en-US" sz="700" dirty="0"/>
          </a:p>
        </p:txBody>
      </p:sp>
      <p:sp>
        <p:nvSpPr>
          <p:cNvPr id="144" name="Text 142"/>
          <p:cNvSpPr txBox="1"/>
          <p:nvPr/>
        </p:nvSpPr>
        <p:spPr>
          <a:xfrm>
            <a:off x="5532120" y="57707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720" dirty="0"/>
          </a:p>
        </p:txBody>
      </p:sp>
      <p:sp>
        <p:nvSpPr>
          <p:cNvPr id="145" name="Text 143"/>
          <p:cNvSpPr txBox="1"/>
          <p:nvPr/>
        </p:nvSpPr>
        <p:spPr>
          <a:xfrm>
            <a:off x="6025896" y="57707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6" name="Shape 144"/>
          <p:cNvSpPr/>
          <p:nvPr/>
        </p:nvSpPr>
        <p:spPr>
          <a:xfrm>
            <a:off x="612648" y="5961888"/>
            <a:ext cx="6272784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12648" y="5998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148" name="Text 146"/>
          <p:cNvSpPr txBox="1"/>
          <p:nvPr/>
        </p:nvSpPr>
        <p:spPr>
          <a:xfrm>
            <a:off x="5257800" y="59984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7269480" y="2212848"/>
            <a:ext cx="450799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7470648" y="23225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AGEING — DAYS SINCE CLOSE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7470648" y="26334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0–30 days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8458200" y="2674620"/>
            <a:ext cx="1600200" cy="10058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10122408" y="2633472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deals</a:t>
            </a:r>
            <a:endParaRPr lang="en-US" sz="680" dirty="0"/>
          </a:p>
        </p:txBody>
      </p:sp>
      <p:sp>
        <p:nvSpPr>
          <p:cNvPr id="154" name="Text 152"/>
          <p:cNvSpPr txBox="1"/>
          <p:nvPr/>
        </p:nvSpPr>
        <p:spPr>
          <a:xfrm>
            <a:off x="10835640" y="2633472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$3,989/mo</a:t>
            </a:r>
            <a:endParaRPr lang="en-US" sz="700" dirty="0"/>
          </a:p>
        </p:txBody>
      </p:sp>
      <p:sp>
        <p:nvSpPr>
          <p:cNvPr id="155" name="Text 153"/>
          <p:cNvSpPr txBox="1"/>
          <p:nvPr/>
        </p:nvSpPr>
        <p:spPr>
          <a:xfrm>
            <a:off x="7470648" y="2834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156" name="Shape 154"/>
          <p:cNvSpPr/>
          <p:nvPr/>
        </p:nvSpPr>
        <p:spPr>
          <a:xfrm>
            <a:off x="8458200" y="2875788"/>
            <a:ext cx="480060" cy="10058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10122408" y="2834640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58" name="Text 156"/>
          <p:cNvSpPr txBox="1"/>
          <p:nvPr/>
        </p:nvSpPr>
        <p:spPr>
          <a:xfrm>
            <a:off x="10835640" y="2834640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$1,296/mo</a:t>
            </a:r>
            <a:endParaRPr lang="en-US" sz="700" dirty="0"/>
          </a:p>
        </p:txBody>
      </p:sp>
      <p:sp>
        <p:nvSpPr>
          <p:cNvPr id="159" name="Text 157"/>
          <p:cNvSpPr txBox="1"/>
          <p:nvPr/>
        </p:nvSpPr>
        <p:spPr>
          <a:xfrm>
            <a:off x="7470648" y="3035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91–180 days</a:t>
            </a:r>
            <a:endParaRPr lang="en-US" sz="680" dirty="0"/>
          </a:p>
        </p:txBody>
      </p:sp>
      <p:sp>
        <p:nvSpPr>
          <p:cNvPr id="160" name="Shape 158"/>
          <p:cNvSpPr/>
          <p:nvPr/>
        </p:nvSpPr>
        <p:spPr>
          <a:xfrm>
            <a:off x="8458200" y="3076956"/>
            <a:ext cx="640080" cy="10058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10122408" y="3035808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deals</a:t>
            </a:r>
            <a:endParaRPr lang="en-US" sz="680" dirty="0"/>
          </a:p>
        </p:txBody>
      </p:sp>
      <p:sp>
        <p:nvSpPr>
          <p:cNvPr id="162" name="Text 160"/>
          <p:cNvSpPr txBox="1"/>
          <p:nvPr/>
        </p:nvSpPr>
        <p:spPr>
          <a:xfrm>
            <a:off x="10835640" y="3035808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$1,083/mo</a:t>
            </a:r>
            <a:endParaRPr lang="en-US" sz="700" dirty="0"/>
          </a:p>
        </p:txBody>
      </p:sp>
      <p:sp>
        <p:nvSpPr>
          <p:cNvPr id="163" name="Text 161"/>
          <p:cNvSpPr txBox="1"/>
          <p:nvPr/>
        </p:nvSpPr>
        <p:spPr>
          <a:xfrm>
            <a:off x="7470648" y="32369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180+ days</a:t>
            </a:r>
            <a:endParaRPr lang="en-US" sz="680" dirty="0"/>
          </a:p>
        </p:txBody>
      </p:sp>
      <p:sp>
        <p:nvSpPr>
          <p:cNvPr id="164" name="Shape 162"/>
          <p:cNvSpPr/>
          <p:nvPr/>
        </p:nvSpPr>
        <p:spPr>
          <a:xfrm>
            <a:off x="8458200" y="3278124"/>
            <a:ext cx="480060" cy="100584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0122408" y="32369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66" name="Text 164"/>
          <p:cNvSpPr txBox="1"/>
          <p:nvPr/>
        </p:nvSpPr>
        <p:spPr>
          <a:xfrm>
            <a:off x="10835640" y="3236976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$13,670/mo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7269480" y="3657600"/>
            <a:ext cx="450799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8" name="Text 166"/>
          <p:cNvSpPr txBox="1"/>
          <p:nvPr/>
        </p:nvSpPr>
        <p:spPr>
          <a:xfrm>
            <a:off x="7470648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PIPELINE — OPEN</a:t>
            </a:r>
            <a:endParaRPr lang="en-US" sz="1200" dirty="0"/>
          </a:p>
        </p:txBody>
      </p:sp>
      <p:sp>
        <p:nvSpPr>
          <p:cNvPr id="169" name="Shape 167"/>
          <p:cNvSpPr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solidFill>
            <a:srgbClr val="1C5765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1100" dirty="0"/>
          </a:p>
        </p:txBody>
      </p:sp>
      <p:sp>
        <p:nvSpPr>
          <p:cNvPr id="171" name="Text 169"/>
          <p:cNvSpPr txBox="1"/>
          <p:nvPr/>
        </p:nvSpPr>
        <p:spPr>
          <a:xfrm>
            <a:off x="7342632" y="4425696"/>
            <a:ext cx="2030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550" dirty="0"/>
          </a:p>
        </p:txBody>
      </p:sp>
      <p:sp>
        <p:nvSpPr>
          <p:cNvPr id="172" name="Shape 170"/>
          <p:cNvSpPr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1100" dirty="0"/>
          </a:p>
        </p:txBody>
      </p:sp>
      <p:sp>
        <p:nvSpPr>
          <p:cNvPr id="174" name="Text 172"/>
          <p:cNvSpPr txBox="1"/>
          <p:nvPr/>
        </p:nvSpPr>
        <p:spPr>
          <a:xfrm>
            <a:off x="9153951" y="4425696"/>
            <a:ext cx="2091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 BUILD</a:t>
            </a:r>
            <a:endParaRPr lang="en-US" sz="550" dirty="0"/>
          </a:p>
        </p:txBody>
      </p:sp>
      <p:sp>
        <p:nvSpPr>
          <p:cNvPr id="175" name="Shape 173"/>
          <p:cNvSpPr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177" name="Text 175"/>
          <p:cNvSpPr txBox="1"/>
          <p:nvPr/>
        </p:nvSpPr>
        <p:spPr>
          <a:xfrm>
            <a:off x="11025647" y="4425696"/>
            <a:ext cx="6420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 FOR GO LIVE</a:t>
            </a:r>
            <a:endParaRPr lang="en-US" sz="550" dirty="0"/>
          </a:p>
        </p:txBody>
      </p:sp>
      <p:sp>
        <p:nvSpPr>
          <p:cNvPr id="178" name="Text 176"/>
          <p:cNvSpPr txBox="1"/>
          <p:nvPr/>
        </p:nvSpPr>
        <p:spPr>
          <a:xfrm>
            <a:off x="7470648" y="4645152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open, up from 62 a fortnight ago. One carries a go-live date, so none of this can be forecast.</a:t>
            </a:r>
            <a:endParaRPr lang="en-US" sz="620" dirty="0"/>
          </a:p>
        </p:txBody>
      </p:sp>
      <p:sp>
        <p:nvSpPr>
          <p:cNvPr id="179" name="Shape 177"/>
          <p:cNvSpPr/>
          <p:nvPr/>
        </p:nvSpPr>
        <p:spPr>
          <a:xfrm>
            <a:off x="7269480" y="5074920"/>
            <a:ext cx="4507992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0" name="Text 178"/>
          <p:cNvSpPr txBox="1"/>
          <p:nvPr/>
        </p:nvSpPr>
        <p:spPr>
          <a:xfrm>
            <a:off x="7470648" y="518464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7470648" y="5495544"/>
            <a:ext cx="4096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deals over six months old carry 68% of the value.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($12,880/mo, 201 days), The Berrigan ($475, 209) and Riverton ($315, 184). Oscars alone is $155k of the $240k.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Strip those three and the rest is $6,368/mo across 17 venues, median 31 days.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normal delivery queue — but ten of the seventeen closed inside the last month, so it fills faster than it clears.</a:t>
            </a:r>
            <a:endParaRPr lang="en-US" sz="900" dirty="0"/>
          </a:p>
        </p:txBody>
      </p:sp>
      <p:sp>
        <p:nvSpPr>
          <p:cNvPr id="182" name="Text 180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billing = won with recurring revenue in 2026, no row on the register. A live venue is billing.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(total_software_cost) vs MRR movement register (live, 19 Oct) · as at 18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2026-10-19T02:18:54Z</dcterms:created>
  <dcterms:modified xsi:type="dcterms:W3CDTF">2026-10-19T02:18:54Z</dcterms:modified>
</cp:coreProperties>
</file>