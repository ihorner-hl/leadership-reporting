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188</c:v>
                </c:pt>
                <c:pt idx="1">
                  <c:v>472</c:v>
                </c:pt>
                <c:pt idx="2">
                  <c:v>16627</c:v>
                </c:pt>
                <c:pt idx="3">
                  <c:v>3799</c:v>
                </c:pt>
                <c:pt idx="4">
                  <c:v>6312</c:v>
                </c:pt>
                <c:pt idx="5">
                  <c:v>17288</c:v>
                </c:pt>
                <c:pt idx="6">
                  <c:v>969</c:v>
                </c:pt>
                <c:pt idx="7">
                  <c:v>2685</c:v>
                </c:pt>
                <c:pt idx="8">
                  <c:v>8407</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2829</c:v>
                </c:pt>
                <c:pt idx="1">
                  <c:v>5205</c:v>
                </c:pt>
                <c:pt idx="2">
                  <c:v>5883</c:v>
                </c:pt>
                <c:pt idx="3">
                  <c:v>3463</c:v>
                </c:pt>
                <c:pt idx="4">
                  <c:v>5482</c:v>
                </c:pt>
                <c:pt idx="5">
                  <c:v>7087</c:v>
                </c:pt>
                <c:pt idx="6">
                  <c:v>4860</c:v>
                </c:pt>
                <c:pt idx="7">
                  <c:v>3700</c:v>
                </c:pt>
                <c:pt idx="8">
                  <c:v>6602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28 September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6 Oct 2026</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QUARTER END — Q3 FINAL ON HUBSPOT SOURCES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hardware closed at $526k = 74% of the $715k OKR2; the 28 Sep–4 Oct extract adds $102k gross but straddles the quarter end</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new MRR final $15.2k = 54% of OKR2; the week itself nets −$535 as the 1 Oct billing run booked churn and contraction</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33.4% — 88.9h of 266h with Rhys and Rodney on leave, but one 50.5h record carries most of it; 14.4% without it</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weekly inflow 460 vs resolved 432 — backlog 698 and still rising, 204 past 30 days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39 of 46 active weekly, 19 daily — daily use nearly doubled; Cowork stickiest at 33% DAU/MAU and Office Agents live at 11%</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Q3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$15k</a:t>
            </a:r>
            <a:pPr indent="0" marL="0">
              <a:buNone/>
            </a:pPr>
            <a:r>
              <a:rPr lang="en-US" sz="950" dirty="0">
                <a:solidFill>
                  <a:srgbClr val="5E7280"/>
                </a:solidFill>
                <a:latin typeface="Poppins" pitchFamily="34" charset="0"/>
                <a:ea typeface="Poppins" pitchFamily="34" charset="-122"/>
                <a:cs typeface="Poppins" pitchFamily="34" charset="-120"/>
              </a:rPr>
              <a:t>  of $28k target · register live</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B4552D"/>
                </a:solidFill>
                <a:latin typeface="Poppins" pitchFamily="34" charset="0"/>
                <a:ea typeface="Poppins" pitchFamily="34" charset="-122"/>
                <a:cs typeface="Poppins" pitchFamily="34" charset="-120"/>
              </a:rPr>
              <a:t>▼ −$535 net this wk</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2271370" cy="100584"/>
          </a:xfrm>
          <a:prstGeom prst="roundRect">
            <a:avLst>
              <a:gd name="adj" fmla="val 45455"/>
            </a:avLst>
          </a:prstGeom>
          <a:solidFill>
            <a:srgbClr val="B4552D"/>
          </a:solidFill>
          <a:ln/>
        </p:spPr>
      </p:sp>
      <p:sp>
        <p:nvSpPr>
          <p:cNvPr id="19" name="Shape 17"/>
          <p:cNvSpPr/>
          <p:nvPr/>
        </p:nvSpPr>
        <p:spPr>
          <a:xfrm>
            <a:off x="4790542"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54%</a:t>
            </a:r>
            <a:pPr algn="r" indent="0" marL="0">
              <a:buNone/>
            </a:pPr>
            <a:r>
              <a:rPr lang="en-US" sz="800" dirty="0">
                <a:solidFill>
                  <a:srgbClr val="8FA1AC"/>
                </a:solidFill>
                <a:latin typeface="Poppins" pitchFamily="34" charset="0"/>
                <a:ea typeface="Poppins" pitchFamily="34" charset="-122"/>
                <a:cs typeface="Poppins" pitchFamily="34" charset="-120"/>
              </a:rPr>
              <a:t> · pace 100%</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Q3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$526k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3D8F5F"/>
                </a:solidFill>
                <a:latin typeface="Poppins" pitchFamily="34" charset="0"/>
                <a:ea typeface="Poppins" pitchFamily="34" charset="-122"/>
                <a:cs typeface="Poppins" pitchFamily="34" charset="-120"/>
              </a:rPr>
              <a:t>▲ +$102k this wk</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3112618" cy="100584"/>
          </a:xfrm>
          <a:prstGeom prst="roundRect">
            <a:avLst>
              <a:gd name="adj" fmla="val 45455"/>
            </a:avLst>
          </a:prstGeom>
          <a:solidFill>
            <a:srgbClr val="B4552D"/>
          </a:solidFill>
          <a:ln/>
        </p:spPr>
      </p:sp>
      <p:sp>
        <p:nvSpPr>
          <p:cNvPr id="27" name="Shape 25"/>
          <p:cNvSpPr/>
          <p:nvPr/>
        </p:nvSpPr>
        <p:spPr>
          <a:xfrm>
            <a:off x="10624414"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74%</a:t>
            </a:r>
            <a:pPr algn="r" indent="0" marL="0">
              <a:buNone/>
            </a:pPr>
            <a:r>
              <a:rPr lang="en-US" sz="800" dirty="0">
                <a:solidFill>
                  <a:srgbClr val="8FA1AC"/>
                </a:solidFill>
                <a:latin typeface="Poppins" pitchFamily="34" charset="0"/>
                <a:ea typeface="Poppins" pitchFamily="34" charset="-122"/>
                <a:cs typeface="Poppins" pitchFamily="34" charset="-120"/>
              </a:rPr>
              <a:t> · pace 100%</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Q3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(100%)</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live</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4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488290" cy="100584"/>
          </a:xfrm>
          <a:prstGeom prst="roundRect">
            <a:avLst>
              <a:gd name="adj" fmla="val 45455"/>
            </a:avLst>
          </a:prstGeom>
          <a:solidFill>
            <a:srgbClr val="B4552D"/>
          </a:solidFill>
          <a:ln/>
        </p:spPr>
      </p:sp>
      <p:sp>
        <p:nvSpPr>
          <p:cNvPr id="48" name="Shape 46"/>
          <p:cNvSpPr/>
          <p:nvPr/>
        </p:nvSpPr>
        <p:spPr>
          <a:xfrm>
            <a:off x="3620110"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89%</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+62</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209763" cy="100584"/>
          </a:xfrm>
          <a:prstGeom prst="roundRect">
            <a:avLst>
              <a:gd name="adj" fmla="val 45455"/>
            </a:avLst>
          </a:prstGeom>
          <a:solidFill>
            <a:srgbClr val="B4552D"/>
          </a:solidFill>
          <a:ln/>
        </p:spPr>
      </p:sp>
      <p:sp>
        <p:nvSpPr>
          <p:cNvPr id="55" name="Shape 53"/>
          <p:cNvSpPr/>
          <p:nvPr/>
        </p:nvSpPr>
        <p:spPr>
          <a:xfrm>
            <a:off x="6436462"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37%</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+3k</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444398" cy="100584"/>
          </a:xfrm>
          <a:prstGeom prst="roundRect">
            <a:avLst>
              <a:gd name="adj" fmla="val 45455"/>
            </a:avLst>
          </a:prstGeom>
          <a:solidFill>
            <a:srgbClr val="B4552D"/>
          </a:solidFill>
          <a:ln/>
        </p:spPr>
      </p:sp>
      <p:sp>
        <p:nvSpPr>
          <p:cNvPr id="64" name="Shape 62"/>
          <p:cNvSpPr/>
          <p:nvPr/>
        </p:nvSpPr>
        <p:spPr>
          <a:xfrm>
            <a:off x="3620110"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81%</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−100</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$87k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345826" cy="100584"/>
          </a:xfrm>
          <a:prstGeom prst="roundRect">
            <a:avLst>
              <a:gd name="adj" fmla="val 45455"/>
            </a:avLst>
          </a:prstGeom>
          <a:solidFill>
            <a:srgbClr val="B4552D"/>
          </a:solidFill>
          <a:ln/>
        </p:spPr>
      </p:sp>
      <p:sp>
        <p:nvSpPr>
          <p:cNvPr id="71" name="Shape 69"/>
          <p:cNvSpPr/>
          <p:nvPr/>
        </p:nvSpPr>
        <p:spPr>
          <a:xfrm>
            <a:off x="6436462"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−330</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268834" cy="100584"/>
          </a:xfrm>
          <a:prstGeom prst="roundRect">
            <a:avLst>
              <a:gd name="adj" fmla="val 45455"/>
            </a:avLst>
          </a:prstGeom>
          <a:solidFill>
            <a:srgbClr val="B4552D"/>
          </a:solidFill>
          <a:ln/>
        </p:spPr>
      </p:sp>
      <p:sp>
        <p:nvSpPr>
          <p:cNvPr id="80" name="Shape 78"/>
          <p:cNvSpPr/>
          <p:nvPr/>
        </p:nvSpPr>
        <p:spPr>
          <a:xfrm>
            <a:off x="3620110"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49%</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−249</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187086" cy="100584"/>
          </a:xfrm>
          <a:prstGeom prst="roundRect">
            <a:avLst>
              <a:gd name="adj" fmla="val 45455"/>
            </a:avLst>
          </a:prstGeom>
          <a:solidFill>
            <a:srgbClr val="B4552D"/>
          </a:solidFill>
          <a:ln/>
        </p:spPr>
      </p:sp>
      <p:sp>
        <p:nvSpPr>
          <p:cNvPr id="87" name="Shape 85"/>
          <p:cNvSpPr/>
          <p:nvPr/>
        </p:nvSpPr>
        <p:spPr>
          <a:xfrm>
            <a:off x="6436462"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33%</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+2k</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356616" cy="100584"/>
          </a:xfrm>
          <a:prstGeom prst="roundRect">
            <a:avLst>
              <a:gd name="adj" fmla="val 45455"/>
            </a:avLst>
          </a:prstGeom>
          <a:solidFill>
            <a:srgbClr val="B4552D"/>
          </a:solidFill>
          <a:ln/>
        </p:spPr>
      </p:sp>
      <p:sp>
        <p:nvSpPr>
          <p:cNvPr id="96" name="Shape 94"/>
          <p:cNvSpPr/>
          <p:nvPr/>
        </p:nvSpPr>
        <p:spPr>
          <a:xfrm>
            <a:off x="3620110"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65%</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−212</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$245k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566928" cy="100584"/>
          </a:xfrm>
          <a:prstGeom prst="roundRect">
            <a:avLst>
              <a:gd name="adj" fmla="val 45455"/>
            </a:avLst>
          </a:prstGeom>
          <a:solidFill>
            <a:srgbClr val="B4552D"/>
          </a:solidFill>
          <a:ln/>
        </p:spPr>
      </p:sp>
      <p:sp>
        <p:nvSpPr>
          <p:cNvPr id="103" name="Shape 101"/>
          <p:cNvSpPr/>
          <p:nvPr/>
        </p:nvSpPr>
        <p:spPr>
          <a:xfrm>
            <a:off x="6436462"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+95k</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$304</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82296" cy="100584"/>
          </a:xfrm>
          <a:prstGeom prst="roundRect">
            <a:avLst>
              <a:gd name="adj" fmla="val 55556"/>
            </a:avLst>
          </a:prstGeom>
          <a:solidFill>
            <a:srgbClr val="B4552D"/>
          </a:solidFill>
          <a:ln/>
        </p:spPr>
      </p:sp>
      <p:sp>
        <p:nvSpPr>
          <p:cNvPr id="112" name="Shape 110"/>
          <p:cNvSpPr/>
          <p:nvPr/>
        </p:nvSpPr>
        <p:spPr>
          <a:xfrm>
            <a:off x="3620110"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$14k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147401" cy="100584"/>
          </a:xfrm>
          <a:prstGeom prst="roundRect">
            <a:avLst>
              <a:gd name="adj" fmla="val 45455"/>
            </a:avLst>
          </a:prstGeom>
          <a:solidFill>
            <a:srgbClr val="B4552D"/>
          </a:solidFill>
          <a:ln/>
        </p:spPr>
      </p:sp>
      <p:sp>
        <p:nvSpPr>
          <p:cNvPr id="119" name="Shape 117"/>
          <p:cNvSpPr/>
          <p:nvPr/>
        </p:nvSpPr>
        <p:spPr>
          <a:xfrm>
            <a:off x="6436462"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26%</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+4k</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620110"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620110"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$15k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−535</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$526k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69%</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+102k</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Q3 (movement register, live Q3 final) · H&amp;L Pay net new $1,770/mo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Q3 hardware closed at $526k (74%)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against the $715k OKR2, with the quarter now over. Q3 confirmed to 27 Sep; the 28 Sep–4 Oct extract adds $102k gross but carries no dates, so the 28–30 Sep share cannot be split out.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week is the 1 October billing run, not trading.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SEP $196k, software subscriptions $324k and SMA $95k dominate the 28 Sep–4 Oct extract, so most of its $102k hardware almost certainly sits in Q4. Jasmine carries $94.6k of 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Net new MRR moved −$535 in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Q3 stands at $15,162 — 54% of the $28k OKR2 against a 100% pace mark. Q3 closed at $15,162. The week itself straddles the quarter end: $3,261 new against $1,681 churn and $2,115 contraction, so net −$535 — the 1 Oct billing run carried eight AVC and RD Jones movements.</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Q3 (Jul–Sep) closed 30 Sep — this is the quarter-end deck.</a:t>
            </a:r>
            <a:endParaRPr lang="en-US" sz="900" dirty="0"/>
          </a:p>
        </p:txBody>
      </p:sp>
      <p:sp>
        <p:nvSpPr>
          <p:cNvPr id="161" name="Shape 159"/>
          <p:cNvSpPr/>
          <p:nvPr/>
        </p:nvSpPr>
        <p:spPr>
          <a:xfrm>
            <a:off x="6964070" y="6510528"/>
            <a:ext cx="4813402" cy="256032"/>
          </a:xfrm>
          <a:prstGeom prst="roundRect">
            <a:avLst>
              <a:gd name="adj" fmla="val 46429"/>
            </a:avLst>
          </a:prstGeom>
          <a:solidFill>
            <a:srgbClr val="12293A"/>
          </a:solidFill>
          <a:ln/>
        </p:spPr>
      </p:sp>
      <p:sp>
        <p:nvSpPr>
          <p:cNvPr id="162" name="Text 160"/>
          <p:cNvSpPr txBox="1"/>
          <p:nvPr/>
        </p:nvSpPr>
        <p:spPr>
          <a:xfrm>
            <a:off x="6964070" y="6510528"/>
            <a:ext cx="4813402"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28 Sep–4 Oct + MRR movement register (live, 6 Oct)</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US$1,974</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A$2,771 · 25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US$464</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A$651 · 9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US$257</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A$361 · 3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75%</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placed / 3 lost by count · 64%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139656" cy="182880"/>
          </a:xfrm>
          <a:prstGeom prst="roundRect">
            <a:avLst>
              <a:gd name="adj" fmla="val 52380"/>
            </a:avLst>
          </a:prstGeom>
          <a:solidFill>
            <a:srgbClr val="2C8394"/>
          </a:solidFill>
          <a:ln/>
        </p:spPr>
      </p:sp>
      <p:sp>
        <p:nvSpPr>
          <p:cNvPr id="35" name="Text 33"/>
          <p:cNvSpPr txBox="1"/>
          <p:nvPr/>
        </p:nvSpPr>
        <p:spPr>
          <a:xfrm>
            <a:off x="5669280" y="2633472"/>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US$41</a:t>
            </a:r>
            <a:endParaRPr lang="en-US" sz="900" dirty="0"/>
          </a:p>
        </p:txBody>
      </p:sp>
      <p:sp>
        <p:nvSpPr>
          <p:cNvPr id="36" name="Text 34"/>
          <p:cNvSpPr txBox="1"/>
          <p:nvPr/>
        </p:nvSpPr>
        <p:spPr>
          <a:xfrm>
            <a:off x="6583680" y="2633472"/>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 deal</a:t>
            </a:r>
            <a:endParaRPr lang="en-US" sz="750" dirty="0"/>
          </a:p>
        </p:txBody>
      </p:sp>
      <p:sp>
        <p:nvSpPr>
          <p:cNvPr id="37" name="Text 35"/>
          <p:cNvSpPr txBox="1"/>
          <p:nvPr/>
        </p:nvSpPr>
        <p:spPr>
          <a:xfrm>
            <a:off x="667512" y="2980944"/>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81528"/>
            <a:ext cx="3749040" cy="182880"/>
          </a:xfrm>
          <a:prstGeom prst="roundRect">
            <a:avLst>
              <a:gd name="adj" fmla="val 40000"/>
            </a:avLst>
          </a:prstGeom>
          <a:solidFill>
            <a:srgbClr val="2C8394"/>
          </a:solidFill>
          <a:ln/>
        </p:spPr>
      </p:sp>
      <p:sp>
        <p:nvSpPr>
          <p:cNvPr id="39" name="Text 37"/>
          <p:cNvSpPr txBox="1"/>
          <p:nvPr/>
        </p:nvSpPr>
        <p:spPr>
          <a:xfrm>
            <a:off x="5669280" y="2980944"/>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US$1,109</a:t>
            </a:r>
            <a:endParaRPr lang="en-US" sz="900" dirty="0"/>
          </a:p>
        </p:txBody>
      </p:sp>
      <p:sp>
        <p:nvSpPr>
          <p:cNvPr id="40" name="Text 38"/>
          <p:cNvSpPr txBox="1"/>
          <p:nvPr/>
        </p:nvSpPr>
        <p:spPr>
          <a:xfrm>
            <a:off x="6583680" y="2980944"/>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328416"/>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429000"/>
            <a:ext cx="2783488" cy="182880"/>
          </a:xfrm>
          <a:prstGeom prst="roundRect">
            <a:avLst>
              <a:gd name="adj" fmla="val 40000"/>
            </a:avLst>
          </a:prstGeom>
          <a:solidFill>
            <a:srgbClr val="2C8394"/>
          </a:solidFill>
          <a:ln/>
        </p:spPr>
      </p:sp>
      <p:sp>
        <p:nvSpPr>
          <p:cNvPr id="43" name="Text 41"/>
          <p:cNvSpPr txBox="1"/>
          <p:nvPr/>
        </p:nvSpPr>
        <p:spPr>
          <a:xfrm>
            <a:off x="5669280" y="3328416"/>
            <a:ext cx="868680" cy="347472"/>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US$823</a:t>
            </a:r>
            <a:endParaRPr lang="en-US" sz="900" dirty="0"/>
          </a:p>
        </p:txBody>
      </p:sp>
      <p:sp>
        <p:nvSpPr>
          <p:cNvPr id="44" name="Text 42"/>
          <p:cNvSpPr txBox="1"/>
          <p:nvPr/>
        </p:nvSpPr>
        <p:spPr>
          <a:xfrm>
            <a:off x="6583680" y="3328416"/>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45" name="Text 43"/>
          <p:cNvSpPr txBox="1"/>
          <p:nvPr/>
        </p:nvSpPr>
        <p:spPr>
          <a:xfrm>
            <a:off x="667512" y="3675888"/>
            <a:ext cx="1097280" cy="347472"/>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46" name="Shape 44"/>
          <p:cNvSpPr/>
          <p:nvPr/>
        </p:nvSpPr>
        <p:spPr>
          <a:xfrm>
            <a:off x="1828800" y="3776472"/>
            <a:ext cx="1567518" cy="182880"/>
          </a:xfrm>
          <a:prstGeom prst="roundRect">
            <a:avLst>
              <a:gd name="adj" fmla="val 40000"/>
            </a:avLst>
          </a:prstGeom>
          <a:solidFill>
            <a:srgbClr val="3D8F5F"/>
          </a:solidFill>
          <a:ln/>
        </p:spPr>
      </p:sp>
      <p:sp>
        <p:nvSpPr>
          <p:cNvPr id="47" name="Text 45"/>
          <p:cNvSpPr txBox="1"/>
          <p:nvPr/>
        </p:nvSpPr>
        <p:spPr>
          <a:xfrm>
            <a:off x="5669280" y="3675888"/>
            <a:ext cx="868680" cy="347472"/>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US$464</a:t>
            </a:r>
            <a:endParaRPr lang="en-US" sz="900" dirty="0"/>
          </a:p>
        </p:txBody>
      </p:sp>
      <p:sp>
        <p:nvSpPr>
          <p:cNvPr id="48" name="Text 46"/>
          <p:cNvSpPr txBox="1"/>
          <p:nvPr/>
        </p:nvSpPr>
        <p:spPr>
          <a:xfrm>
            <a:off x="6583680" y="3675888"/>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 deals</a:t>
            </a:r>
            <a:endParaRPr lang="en-US" sz="750" dirty="0"/>
          </a:p>
        </p:txBody>
      </p:sp>
      <p:sp>
        <p:nvSpPr>
          <p:cNvPr id="49" name="Text 47"/>
          <p:cNvSpPr txBox="1"/>
          <p:nvPr/>
        </p:nvSpPr>
        <p:spPr>
          <a:xfrm>
            <a:off x="667512" y="4023360"/>
            <a:ext cx="1097280" cy="347472"/>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0" name="Shape 48"/>
          <p:cNvSpPr/>
          <p:nvPr/>
        </p:nvSpPr>
        <p:spPr>
          <a:xfrm>
            <a:off x="1828800" y="4123944"/>
            <a:ext cx="869238" cy="182880"/>
          </a:xfrm>
          <a:prstGeom prst="roundRect">
            <a:avLst>
              <a:gd name="adj" fmla="val 40000"/>
            </a:avLst>
          </a:prstGeom>
          <a:solidFill>
            <a:srgbClr val="B4552D"/>
          </a:solidFill>
          <a:ln/>
        </p:spPr>
      </p:sp>
      <p:sp>
        <p:nvSpPr>
          <p:cNvPr id="51" name="Text 49"/>
          <p:cNvSpPr txBox="1"/>
          <p:nvPr/>
        </p:nvSpPr>
        <p:spPr>
          <a:xfrm>
            <a:off x="5669280" y="4023360"/>
            <a:ext cx="868680" cy="347472"/>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US$257</a:t>
            </a:r>
            <a:endParaRPr lang="en-US" sz="900" dirty="0"/>
          </a:p>
        </p:txBody>
      </p:sp>
      <p:sp>
        <p:nvSpPr>
          <p:cNvPr id="52" name="Text 50"/>
          <p:cNvSpPr txBox="1"/>
          <p:nvPr/>
        </p:nvSpPr>
        <p:spPr>
          <a:xfrm>
            <a:off x="6583680" y="4023360"/>
            <a:ext cx="658368" cy="34747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 deals</a:t>
            </a:r>
            <a:endParaRPr lang="en-US" sz="750" dirty="0"/>
          </a:p>
        </p:txBody>
      </p:sp>
      <p:sp>
        <p:nvSpPr>
          <p:cNvPr id="53" name="Shape 51"/>
          <p:cNvSpPr/>
          <p:nvPr/>
        </p:nvSpPr>
        <p:spPr>
          <a:xfrm>
            <a:off x="667512" y="3653028"/>
            <a:ext cx="6345936" cy="12802"/>
          </a:xfrm>
          <a:prstGeom prst="rect">
            <a:avLst/>
          </a:prstGeom>
          <a:solidFill>
            <a:srgbClr val="3D8F5F"/>
          </a:solidFill>
          <a:ln/>
        </p:spPr>
      </p:sp>
      <p:sp>
        <p:nvSpPr>
          <p:cNvPr id="54" name="Text 52"/>
          <p:cNvSpPr txBox="1"/>
          <p:nvPr/>
        </p:nvSpPr>
        <p:spPr>
          <a:xfrm>
            <a:off x="3977640" y="3493008"/>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5" name="Text 53"/>
          <p:cNvSpPr txBox="1"/>
          <p:nvPr/>
        </p:nvSpPr>
        <p:spPr>
          <a:xfrm>
            <a:off x="3977640" y="3703320"/>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56" name="Text 54"/>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57" name="Text 55"/>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58" name="Shape 56"/>
          <p:cNvSpPr/>
          <p:nvPr/>
        </p:nvSpPr>
        <p:spPr>
          <a:xfrm>
            <a:off x="1828800" y="4800600"/>
            <a:ext cx="818247" cy="164592"/>
          </a:xfrm>
          <a:prstGeom prst="rect">
            <a:avLst/>
          </a:prstGeom>
          <a:solidFill>
            <a:srgbClr val="3D8F5F"/>
          </a:solidFill>
          <a:ln/>
        </p:spPr>
      </p:sp>
      <p:sp>
        <p:nvSpPr>
          <p:cNvPr id="59" name="Text 57"/>
          <p:cNvSpPr txBox="1"/>
          <p:nvPr/>
        </p:nvSpPr>
        <p:spPr>
          <a:xfrm>
            <a:off x="1828800" y="4782312"/>
            <a:ext cx="81824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17%</a:t>
            </a:r>
            <a:endParaRPr lang="en-US" sz="650" dirty="0"/>
          </a:p>
        </p:txBody>
      </p:sp>
      <p:sp>
        <p:nvSpPr>
          <p:cNvPr id="60" name="Shape 58"/>
          <p:cNvSpPr/>
          <p:nvPr/>
        </p:nvSpPr>
        <p:spPr>
          <a:xfrm>
            <a:off x="2665335" y="4800600"/>
            <a:ext cx="3482890" cy="164592"/>
          </a:xfrm>
          <a:prstGeom prst="rect">
            <a:avLst/>
          </a:prstGeom>
          <a:solidFill>
            <a:srgbClr val="2C8394"/>
          </a:solidFill>
          <a:ln/>
        </p:spPr>
      </p:sp>
      <p:sp>
        <p:nvSpPr>
          <p:cNvPr id="61" name="Text 59"/>
          <p:cNvSpPr txBox="1"/>
          <p:nvPr/>
        </p:nvSpPr>
        <p:spPr>
          <a:xfrm>
            <a:off x="2665335" y="4782312"/>
            <a:ext cx="3482890"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73%</a:t>
            </a:r>
            <a:endParaRPr lang="en-US" sz="650" dirty="0"/>
          </a:p>
        </p:txBody>
      </p:sp>
      <p:sp>
        <p:nvSpPr>
          <p:cNvPr id="62" name="Shape 60"/>
          <p:cNvSpPr/>
          <p:nvPr/>
        </p:nvSpPr>
        <p:spPr>
          <a:xfrm>
            <a:off x="6166512" y="4800600"/>
            <a:ext cx="453744" cy="164592"/>
          </a:xfrm>
          <a:prstGeom prst="rect">
            <a:avLst/>
          </a:prstGeom>
          <a:solidFill>
            <a:srgbClr val="B4552D"/>
          </a:solidFill>
          <a:ln/>
        </p:spPr>
      </p:sp>
      <p:sp>
        <p:nvSpPr>
          <p:cNvPr id="63" name="Text 61"/>
          <p:cNvSpPr txBox="1"/>
          <p:nvPr/>
        </p:nvSpPr>
        <p:spPr>
          <a:xfrm>
            <a:off x="6166512" y="4782312"/>
            <a:ext cx="45374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10%</a:t>
            </a:r>
            <a:endParaRPr lang="en-US" sz="650" dirty="0"/>
          </a:p>
        </p:txBody>
      </p:sp>
      <p:sp>
        <p:nvSpPr>
          <p:cNvPr id="64" name="Text 62"/>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5" name="Shape 63"/>
          <p:cNvSpPr/>
          <p:nvPr/>
        </p:nvSpPr>
        <p:spPr>
          <a:xfrm>
            <a:off x="1828800" y="5111496"/>
            <a:ext cx="1156592" cy="164592"/>
          </a:xfrm>
          <a:prstGeom prst="rect">
            <a:avLst/>
          </a:prstGeom>
          <a:solidFill>
            <a:srgbClr val="3D8F5F"/>
          </a:solidFill>
          <a:ln/>
        </p:spPr>
      </p:sp>
      <p:sp>
        <p:nvSpPr>
          <p:cNvPr id="66" name="Text 64"/>
          <p:cNvSpPr txBox="1"/>
          <p:nvPr/>
        </p:nvSpPr>
        <p:spPr>
          <a:xfrm>
            <a:off x="1828800" y="5093208"/>
            <a:ext cx="115659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24%</a:t>
            </a:r>
            <a:endParaRPr lang="en-US" sz="650" dirty="0"/>
          </a:p>
        </p:txBody>
      </p:sp>
      <p:sp>
        <p:nvSpPr>
          <p:cNvPr id="67" name="Shape 65"/>
          <p:cNvSpPr/>
          <p:nvPr/>
        </p:nvSpPr>
        <p:spPr>
          <a:xfrm>
            <a:off x="3003680" y="5111496"/>
            <a:ext cx="3212757" cy="164592"/>
          </a:xfrm>
          <a:prstGeom prst="rect">
            <a:avLst/>
          </a:prstGeom>
          <a:solidFill>
            <a:srgbClr val="2C8394"/>
          </a:solidFill>
          <a:ln/>
        </p:spPr>
      </p:sp>
      <p:sp>
        <p:nvSpPr>
          <p:cNvPr id="68" name="Text 66"/>
          <p:cNvSpPr txBox="1"/>
          <p:nvPr/>
        </p:nvSpPr>
        <p:spPr>
          <a:xfrm>
            <a:off x="3003680" y="5093208"/>
            <a:ext cx="321275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68%</a:t>
            </a:r>
            <a:endParaRPr lang="en-US" sz="650" dirty="0"/>
          </a:p>
        </p:txBody>
      </p:sp>
      <p:sp>
        <p:nvSpPr>
          <p:cNvPr id="69" name="Shape 67"/>
          <p:cNvSpPr/>
          <p:nvPr/>
        </p:nvSpPr>
        <p:spPr>
          <a:xfrm>
            <a:off x="6234725" y="5111496"/>
            <a:ext cx="385531" cy="164592"/>
          </a:xfrm>
          <a:prstGeom prst="rect">
            <a:avLst/>
          </a:prstGeom>
          <a:solidFill>
            <a:srgbClr val="B4552D"/>
          </a:solidFill>
          <a:ln/>
        </p:spPr>
      </p:sp>
      <p:sp>
        <p:nvSpPr>
          <p:cNvPr id="70" name="Text 68"/>
          <p:cNvSpPr txBox="1"/>
          <p:nvPr/>
        </p:nvSpPr>
        <p:spPr>
          <a:xfrm>
            <a:off x="6234725" y="5093208"/>
            <a:ext cx="38553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8%</a:t>
            </a:r>
            <a:endParaRPr lang="en-US" sz="650" dirty="0"/>
          </a:p>
        </p:txBody>
      </p:sp>
      <p:sp>
        <p:nvSpPr>
          <p:cNvPr id="71" name="Shape 69"/>
          <p:cNvSpPr/>
          <p:nvPr/>
        </p:nvSpPr>
        <p:spPr>
          <a:xfrm>
            <a:off x="3657600" y="4562856"/>
            <a:ext cx="91440" cy="91440"/>
          </a:xfrm>
          <a:prstGeom prst="rect">
            <a:avLst/>
          </a:prstGeom>
          <a:solidFill>
            <a:srgbClr val="3D8F5F"/>
          </a:solidFill>
          <a:ln/>
        </p:spPr>
      </p:sp>
      <p:sp>
        <p:nvSpPr>
          <p:cNvPr id="72" name="Text 70"/>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3" name="Shape 71"/>
          <p:cNvSpPr/>
          <p:nvPr/>
        </p:nvSpPr>
        <p:spPr>
          <a:xfrm>
            <a:off x="4754880" y="4562856"/>
            <a:ext cx="91440" cy="91440"/>
          </a:xfrm>
          <a:prstGeom prst="rect">
            <a:avLst/>
          </a:prstGeom>
          <a:solidFill>
            <a:srgbClr val="2C8394"/>
          </a:solidFill>
          <a:ln/>
        </p:spPr>
      </p:sp>
      <p:sp>
        <p:nvSpPr>
          <p:cNvPr id="74" name="Text 72"/>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5" name="Shape 73"/>
          <p:cNvSpPr/>
          <p:nvPr/>
        </p:nvSpPr>
        <p:spPr>
          <a:xfrm>
            <a:off x="5852160" y="4562856"/>
            <a:ext cx="91440" cy="91440"/>
          </a:xfrm>
          <a:prstGeom prst="rect">
            <a:avLst/>
          </a:prstGeom>
          <a:solidFill>
            <a:srgbClr val="B4552D"/>
          </a:solidFill>
          <a:ln/>
        </p:spPr>
      </p:sp>
      <p:sp>
        <p:nvSpPr>
          <p:cNvPr id="76" name="Text 74"/>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77" name="Shape 75"/>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78" name="Text 76"/>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79" name="Text 77"/>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0" name="Text 78"/>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1" name="Text 79"/>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2" name="Text 80"/>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3" name="Text 81"/>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4" name="Text 82"/>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most volume</a:t>
            </a:r>
            <a:endParaRPr lang="en-US" sz="530" dirty="0"/>
          </a:p>
        </p:txBody>
      </p:sp>
      <p:sp>
        <p:nvSpPr>
          <p:cNvPr id="85" name="Text 83"/>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US$1,122</a:t>
            </a:r>
            <a:endParaRPr lang="en-US" sz="750" dirty="0"/>
          </a:p>
        </p:txBody>
      </p:sp>
      <p:sp>
        <p:nvSpPr>
          <p:cNvPr id="86" name="Text 84"/>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US$464</a:t>
            </a:r>
            <a:endParaRPr lang="en-US" sz="750" dirty="0"/>
          </a:p>
        </p:txBody>
      </p:sp>
      <p:sp>
        <p:nvSpPr>
          <p:cNvPr id="87" name="Text 85"/>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US$44</a:t>
            </a:r>
            <a:endParaRPr lang="en-US" sz="750" dirty="0"/>
          </a:p>
        </p:txBody>
      </p:sp>
      <p:sp>
        <p:nvSpPr>
          <p:cNvPr id="88" name="Text 86"/>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89" name="Text 87"/>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no orders yet</a:t>
            </a:r>
            <a:endParaRPr lang="en-US" sz="530" dirty="0"/>
          </a:p>
        </p:txBody>
      </p:sp>
      <p:sp>
        <p:nvSpPr>
          <p:cNvPr id="90" name="Text 88"/>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1" name="Text 89"/>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2" name="Text 90"/>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3" name="Text 91"/>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4" name="Text 92"/>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every line priced $0 — value understated</a:t>
            </a:r>
            <a:endParaRPr lang="en-US" sz="530" dirty="0"/>
          </a:p>
        </p:txBody>
      </p:sp>
      <p:sp>
        <p:nvSpPr>
          <p:cNvPr id="95" name="Text 93"/>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7" name="Text 95"/>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8" name="Text 96"/>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99" name="Text 97"/>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0" name="Text 98"/>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3" name="Shape 101"/>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4" name="Text 102"/>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5" name="Text 103"/>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US$13,461</a:t>
            </a:r>
            <a:endParaRPr lang="en-US" sz="1800" dirty="0"/>
          </a:p>
        </p:txBody>
      </p:sp>
      <p:sp>
        <p:nvSpPr>
          <p:cNvPr id="106" name="Text 104"/>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(A$18,900) — the contract value behind the US$1,974 of monthly lines</a:t>
            </a:r>
            <a:endParaRPr lang="en-US" sz="700" dirty="0"/>
          </a:p>
        </p:txBody>
      </p:sp>
      <p:sp>
        <p:nvSpPr>
          <p:cNvPr id="107" name="Text 105"/>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not refreshed this week; HubSpot holds no USD field</a:t>
            </a:r>
            <a:endParaRPr lang="en-US" sz="580" dirty="0"/>
          </a:p>
        </p:txBody>
      </p:sp>
      <p:sp>
        <p:nvSpPr>
          <p:cNvPr id="108" name="Shape 106"/>
          <p:cNvSpPr/>
          <p:nvPr/>
        </p:nvSpPr>
        <p:spPr>
          <a:xfrm>
            <a:off x="411480" y="5504688"/>
            <a:ext cx="11365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09" name="Text 107"/>
          <p:cNvSpPr txBox="1"/>
          <p:nvPr/>
        </p:nvSpPr>
        <p:spPr>
          <a:xfrm>
            <a:off x="612648" y="561441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0" name="Text 108"/>
          <p:cNvSpPr txBox="1"/>
          <p:nvPr/>
        </p:nvSpPr>
        <p:spPr>
          <a:xfrm>
            <a:off x="612648" y="5925312"/>
            <a:ext cx="10954512" cy="347472"/>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9 orders placed since 1 Jul (US$464) against 3 lost — 75% by count, 64%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US$1,932 of the US$1,974 open sits in Quote Sent and Negotiation across 24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QR Ordering is priced $0 on every line, so its value reads nil · ROAM lines are one month, not contract value.</a:t>
            </a:r>
            <a:endParaRPr lang="en-US" sz="900" dirty="0"/>
          </a:p>
        </p:txBody>
      </p:sp>
      <p:sp>
        <p:nvSpPr>
          <p:cNvPr id="111" name="Shape 109"/>
          <p:cNvSpPr/>
          <p:nvPr/>
        </p:nvSpPr>
        <p:spPr>
          <a:xfrm>
            <a:off x="7585862" y="6510528"/>
            <a:ext cx="4191610" cy="256032"/>
          </a:xfrm>
          <a:prstGeom prst="roundRect">
            <a:avLst>
              <a:gd name="adj" fmla="val 46429"/>
            </a:avLst>
          </a:prstGeom>
          <a:solidFill>
            <a:srgbClr val="12293A"/>
          </a:solidFill>
          <a:ln/>
        </p:spPr>
      </p:sp>
      <p:sp>
        <p:nvSpPr>
          <p:cNvPr id="112" name="Text 110"/>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6 Oct workbook adds no identifications or referrals, so these figures are unchanged for a third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6715354" y="6510528"/>
            <a:ext cx="5062118" cy="256032"/>
          </a:xfrm>
          <a:prstGeom prst="roundRect">
            <a:avLst>
              <a:gd name="adj" fmla="val 46429"/>
            </a:avLst>
          </a:prstGeom>
          <a:solidFill>
            <a:srgbClr val="12293A"/>
          </a:solidFill>
          <a:ln/>
        </p:spPr>
      </p:sp>
      <p:sp>
        <p:nvSpPr>
          <p:cNvPr id="93" name="Text 90"/>
          <p:cNvSpPr txBox="1"/>
          <p:nvPr/>
        </p:nvSpPr>
        <p:spPr>
          <a:xfrm>
            <a:off x="6715354" y="6510528"/>
            <a:ext cx="506211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 workbook received 6 Oct</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33.4%</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88.87h billed of 266h available · target 80% · one 50.5h record carries most of it</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266h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7 available × 38h · Rhys Woolcock and Rodney Nolan on leave</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17%</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23 of 139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664208"/>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664208"/>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664208"/>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664208"/>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664208"/>
          </a:xfrm>
          <a:prstGeom prst="rect">
            <a:avLst/>
          </a:prstGeom>
          <a:solidFill>
            <a:srgbClr val="E2EAEE"/>
          </a:solidFill>
          <a:ln/>
        </p:spPr>
      </p:sp>
      <p:sp>
        <p:nvSpPr>
          <p:cNvPr id="43" name="Text 41"/>
          <p:cNvSpPr txBox="1"/>
          <p:nvPr/>
        </p:nvSpPr>
        <p:spPr>
          <a:xfrm>
            <a:off x="640080" y="3054096"/>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Gregory St Clare-Hobbs</a:t>
            </a:r>
            <a:endParaRPr lang="en-US" sz="800" dirty="0"/>
          </a:p>
        </p:txBody>
      </p:sp>
      <p:sp>
        <p:nvSpPr>
          <p:cNvPr id="44" name="Shape 42"/>
          <p:cNvSpPr/>
          <p:nvPr/>
        </p:nvSpPr>
        <p:spPr>
          <a:xfrm>
            <a:off x="2468880" y="3143250"/>
            <a:ext cx="2377440" cy="59436"/>
          </a:xfrm>
          <a:prstGeom prst="roundRect">
            <a:avLst>
              <a:gd name="adj" fmla="val 49231"/>
            </a:avLst>
          </a:prstGeom>
          <a:solidFill>
            <a:srgbClr val="E2EAEE"/>
          </a:solidFill>
          <a:ln/>
        </p:spPr>
      </p:sp>
      <p:sp>
        <p:nvSpPr>
          <p:cNvPr id="45" name="Shape 43"/>
          <p:cNvSpPr/>
          <p:nvPr/>
        </p:nvSpPr>
        <p:spPr>
          <a:xfrm>
            <a:off x="2468880" y="3143250"/>
            <a:ext cx="2377440" cy="59436"/>
          </a:xfrm>
          <a:prstGeom prst="roundRect">
            <a:avLst>
              <a:gd name="adj" fmla="val 49231"/>
            </a:avLst>
          </a:prstGeom>
          <a:solidFill>
            <a:srgbClr val="2C8394"/>
          </a:solidFill>
          <a:ln/>
        </p:spPr>
      </p:sp>
      <p:sp>
        <p:nvSpPr>
          <p:cNvPr id="46" name="Text 44"/>
          <p:cNvSpPr txBox="1"/>
          <p:nvPr/>
        </p:nvSpPr>
        <p:spPr>
          <a:xfrm>
            <a:off x="5029200" y="3054096"/>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51.00h</a:t>
            </a:r>
            <a:endParaRPr lang="en-US" sz="800" dirty="0"/>
          </a:p>
        </p:txBody>
      </p:sp>
      <p:sp>
        <p:nvSpPr>
          <p:cNvPr id="47" name="Text 45"/>
          <p:cNvSpPr txBox="1"/>
          <p:nvPr/>
        </p:nvSpPr>
        <p:spPr>
          <a:xfrm>
            <a:off x="5943600" y="3054096"/>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134.2%</a:t>
            </a:r>
            <a:endParaRPr lang="en-US" sz="800" dirty="0"/>
          </a:p>
        </p:txBody>
      </p:sp>
      <p:sp>
        <p:nvSpPr>
          <p:cNvPr id="48" name="Text 46"/>
          <p:cNvSpPr txBox="1"/>
          <p:nvPr/>
        </p:nvSpPr>
        <p:spPr>
          <a:xfrm>
            <a:off x="640080" y="3291840"/>
            <a:ext cx="1783080" cy="237744"/>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80994"/>
            <a:ext cx="2377440" cy="59436"/>
          </a:xfrm>
          <a:prstGeom prst="roundRect">
            <a:avLst>
              <a:gd name="adj" fmla="val 49231"/>
            </a:avLst>
          </a:prstGeom>
          <a:solidFill>
            <a:srgbClr val="E2EAEE"/>
          </a:solidFill>
          <a:ln/>
        </p:spPr>
      </p:sp>
      <p:sp>
        <p:nvSpPr>
          <p:cNvPr id="50" name="Shape 48"/>
          <p:cNvSpPr/>
          <p:nvPr/>
        </p:nvSpPr>
        <p:spPr>
          <a:xfrm>
            <a:off x="2468880" y="3380994"/>
            <a:ext cx="2370308" cy="59436"/>
          </a:xfrm>
          <a:prstGeom prst="roundRect">
            <a:avLst>
              <a:gd name="adj" fmla="val 49231"/>
            </a:avLst>
          </a:prstGeom>
          <a:solidFill>
            <a:srgbClr val="2C8394"/>
          </a:solidFill>
          <a:ln/>
        </p:spPr>
      </p:sp>
      <p:sp>
        <p:nvSpPr>
          <p:cNvPr id="51" name="Text 49"/>
          <p:cNvSpPr txBox="1"/>
          <p:nvPr/>
        </p:nvSpPr>
        <p:spPr>
          <a:xfrm>
            <a:off x="5029200" y="3291840"/>
            <a:ext cx="822960" cy="237744"/>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37.87h</a:t>
            </a:r>
            <a:endParaRPr lang="en-US" sz="800" dirty="0"/>
          </a:p>
        </p:txBody>
      </p:sp>
      <p:sp>
        <p:nvSpPr>
          <p:cNvPr id="52" name="Text 50"/>
          <p:cNvSpPr txBox="1"/>
          <p:nvPr/>
        </p:nvSpPr>
        <p:spPr>
          <a:xfrm>
            <a:off x="5943600" y="3291840"/>
            <a:ext cx="822960" cy="237744"/>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99.7%</a:t>
            </a:r>
            <a:endParaRPr lang="en-US" sz="800" dirty="0"/>
          </a:p>
        </p:txBody>
      </p:sp>
      <p:sp>
        <p:nvSpPr>
          <p:cNvPr id="53" name="Text 51"/>
          <p:cNvSpPr txBox="1"/>
          <p:nvPr/>
        </p:nvSpPr>
        <p:spPr>
          <a:xfrm>
            <a:off x="640080" y="3529584"/>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54" name="Shape 52"/>
          <p:cNvSpPr/>
          <p:nvPr/>
        </p:nvSpPr>
        <p:spPr>
          <a:xfrm>
            <a:off x="2468880" y="3618738"/>
            <a:ext cx="2377440" cy="59436"/>
          </a:xfrm>
          <a:prstGeom prst="roundRect">
            <a:avLst>
              <a:gd name="adj" fmla="val 49231"/>
            </a:avLst>
          </a:prstGeom>
          <a:solidFill>
            <a:srgbClr val="E2EAEE"/>
          </a:solidFill>
          <a:ln/>
        </p:spPr>
      </p:sp>
      <p:sp>
        <p:nvSpPr>
          <p:cNvPr id="55" name="Text 53"/>
          <p:cNvSpPr txBox="1"/>
          <p:nvPr/>
        </p:nvSpPr>
        <p:spPr>
          <a:xfrm>
            <a:off x="5029200" y="3529584"/>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56" name="Text 54"/>
          <p:cNvSpPr txBox="1"/>
          <p:nvPr/>
        </p:nvSpPr>
        <p:spPr>
          <a:xfrm>
            <a:off x="5943600" y="3529584"/>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57" name="Text 55"/>
          <p:cNvSpPr txBox="1"/>
          <p:nvPr/>
        </p:nvSpPr>
        <p:spPr>
          <a:xfrm>
            <a:off x="640080" y="3767328"/>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58" name="Shape 56"/>
          <p:cNvSpPr/>
          <p:nvPr/>
        </p:nvSpPr>
        <p:spPr>
          <a:xfrm>
            <a:off x="2468880" y="3856482"/>
            <a:ext cx="2377440" cy="59436"/>
          </a:xfrm>
          <a:prstGeom prst="roundRect">
            <a:avLst>
              <a:gd name="adj" fmla="val 49231"/>
            </a:avLst>
          </a:prstGeom>
          <a:solidFill>
            <a:srgbClr val="E2EAEE"/>
          </a:solidFill>
          <a:ln/>
        </p:spPr>
      </p:sp>
      <p:sp>
        <p:nvSpPr>
          <p:cNvPr id="59" name="Text 57"/>
          <p:cNvSpPr txBox="1"/>
          <p:nvPr/>
        </p:nvSpPr>
        <p:spPr>
          <a:xfrm>
            <a:off x="5029200" y="3767328"/>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0" name="Text 58"/>
          <p:cNvSpPr txBox="1"/>
          <p:nvPr/>
        </p:nvSpPr>
        <p:spPr>
          <a:xfrm>
            <a:off x="5943600" y="3767328"/>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1" name="Text 59"/>
          <p:cNvSpPr txBox="1"/>
          <p:nvPr/>
        </p:nvSpPr>
        <p:spPr>
          <a:xfrm>
            <a:off x="640080" y="4005072"/>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62" name="Shape 60"/>
          <p:cNvSpPr/>
          <p:nvPr/>
        </p:nvSpPr>
        <p:spPr>
          <a:xfrm>
            <a:off x="2468880" y="4094226"/>
            <a:ext cx="2377440" cy="59436"/>
          </a:xfrm>
          <a:prstGeom prst="roundRect">
            <a:avLst>
              <a:gd name="adj" fmla="val 49231"/>
            </a:avLst>
          </a:prstGeom>
          <a:solidFill>
            <a:srgbClr val="E2EAEE"/>
          </a:solidFill>
          <a:ln/>
        </p:spPr>
      </p:sp>
      <p:sp>
        <p:nvSpPr>
          <p:cNvPr id="63" name="Text 61"/>
          <p:cNvSpPr txBox="1"/>
          <p:nvPr/>
        </p:nvSpPr>
        <p:spPr>
          <a:xfrm>
            <a:off x="5029200" y="4005072"/>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4" name="Text 62"/>
          <p:cNvSpPr txBox="1"/>
          <p:nvPr/>
        </p:nvSpPr>
        <p:spPr>
          <a:xfrm>
            <a:off x="5943600" y="4005072"/>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5" name="Text 63"/>
          <p:cNvSpPr txBox="1"/>
          <p:nvPr/>
        </p:nvSpPr>
        <p:spPr>
          <a:xfrm>
            <a:off x="640080" y="4242816"/>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Isayah Kuhlmann</a:t>
            </a:r>
            <a:endParaRPr lang="en-US" sz="800" dirty="0"/>
          </a:p>
        </p:txBody>
      </p:sp>
      <p:sp>
        <p:nvSpPr>
          <p:cNvPr id="66" name="Shape 64"/>
          <p:cNvSpPr/>
          <p:nvPr/>
        </p:nvSpPr>
        <p:spPr>
          <a:xfrm>
            <a:off x="2468880" y="4331970"/>
            <a:ext cx="2377440" cy="59436"/>
          </a:xfrm>
          <a:prstGeom prst="roundRect">
            <a:avLst>
              <a:gd name="adj" fmla="val 49231"/>
            </a:avLst>
          </a:prstGeom>
          <a:solidFill>
            <a:srgbClr val="E2EAEE"/>
          </a:solidFill>
          <a:ln/>
        </p:spPr>
      </p:sp>
      <p:sp>
        <p:nvSpPr>
          <p:cNvPr id="67" name="Text 65"/>
          <p:cNvSpPr txBox="1"/>
          <p:nvPr/>
        </p:nvSpPr>
        <p:spPr>
          <a:xfrm>
            <a:off x="5029200" y="4242816"/>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8" name="Text 66"/>
          <p:cNvSpPr txBox="1"/>
          <p:nvPr/>
        </p:nvSpPr>
        <p:spPr>
          <a:xfrm>
            <a:off x="5943600" y="4242816"/>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9" name="Text 67"/>
          <p:cNvSpPr txBox="1"/>
          <p:nvPr/>
        </p:nvSpPr>
        <p:spPr>
          <a:xfrm>
            <a:off x="640080" y="4480560"/>
            <a:ext cx="1783080" cy="237744"/>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Argenis Rafael Guevara</a:t>
            </a:r>
            <a:endParaRPr lang="en-US" sz="800" dirty="0"/>
          </a:p>
        </p:txBody>
      </p:sp>
      <p:sp>
        <p:nvSpPr>
          <p:cNvPr id="70" name="Shape 68"/>
          <p:cNvSpPr/>
          <p:nvPr/>
        </p:nvSpPr>
        <p:spPr>
          <a:xfrm>
            <a:off x="2468880" y="4569714"/>
            <a:ext cx="2377440" cy="59436"/>
          </a:xfrm>
          <a:prstGeom prst="roundRect">
            <a:avLst>
              <a:gd name="adj" fmla="val 49231"/>
            </a:avLst>
          </a:prstGeom>
          <a:solidFill>
            <a:srgbClr val="E2EAEE"/>
          </a:solidFill>
          <a:ln/>
        </p:spPr>
      </p:sp>
      <p:sp>
        <p:nvSpPr>
          <p:cNvPr id="71" name="Text 69"/>
          <p:cNvSpPr txBox="1"/>
          <p:nvPr/>
        </p:nvSpPr>
        <p:spPr>
          <a:xfrm>
            <a:off x="5029200" y="4480560"/>
            <a:ext cx="822960" cy="237744"/>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2" name="Text 70"/>
          <p:cNvSpPr txBox="1"/>
          <p:nvPr/>
        </p:nvSpPr>
        <p:spPr>
          <a:xfrm>
            <a:off x="5943600" y="4480560"/>
            <a:ext cx="822960" cy="237744"/>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3" name="Shape 71"/>
          <p:cNvSpPr/>
          <p:nvPr/>
        </p:nvSpPr>
        <p:spPr>
          <a:xfrm>
            <a:off x="640080" y="4736592"/>
            <a:ext cx="6126480" cy="10973"/>
          </a:xfrm>
          <a:prstGeom prst="rect">
            <a:avLst/>
          </a:prstGeom>
          <a:solidFill>
            <a:srgbClr val="12293A"/>
          </a:solidFill>
          <a:ln/>
        </p:spPr>
      </p:sp>
      <p:sp>
        <p:nvSpPr>
          <p:cNvPr id="74" name="Text 72"/>
          <p:cNvSpPr txBox="1"/>
          <p:nvPr/>
        </p:nvSpPr>
        <p:spPr>
          <a:xfrm>
            <a:off x="640080" y="4764024"/>
            <a:ext cx="1783080" cy="237744"/>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75" name="Text 73"/>
          <p:cNvSpPr txBox="1"/>
          <p:nvPr/>
        </p:nvSpPr>
        <p:spPr>
          <a:xfrm>
            <a:off x="2468880" y="4764024"/>
            <a:ext cx="2377440" cy="237744"/>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7 PS people × 38h = 266h available</a:t>
            </a:r>
            <a:endParaRPr lang="en-US" sz="700" dirty="0"/>
          </a:p>
        </p:txBody>
      </p:sp>
      <p:sp>
        <p:nvSpPr>
          <p:cNvPr id="76" name="Text 74"/>
          <p:cNvSpPr txBox="1"/>
          <p:nvPr/>
        </p:nvSpPr>
        <p:spPr>
          <a:xfrm>
            <a:off x="5029200" y="4764024"/>
            <a:ext cx="822960" cy="237744"/>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88.87h</a:t>
            </a:r>
            <a:endParaRPr lang="en-US" sz="950" dirty="0"/>
          </a:p>
        </p:txBody>
      </p:sp>
      <p:sp>
        <p:nvSpPr>
          <p:cNvPr id="77" name="Text 75"/>
          <p:cNvSpPr txBox="1"/>
          <p:nvPr/>
        </p:nvSpPr>
        <p:spPr>
          <a:xfrm>
            <a:off x="5943600" y="4764024"/>
            <a:ext cx="822960" cy="237744"/>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33.4%</a:t>
            </a:r>
            <a:endParaRPr lang="en-US" sz="950" dirty="0"/>
          </a:p>
        </p:txBody>
      </p:sp>
      <p:sp>
        <p:nvSpPr>
          <p:cNvPr id="78" name="Text 7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7 Professional Services people on PS-pipeline tickets open now or closed this week and not on leave, at 38h each. Rhys Woolcock and Rodney Nolan were on leave and are out of the base. Lopez, Hikuroa, Magabo, Ho, Fenwick and Hettiarachchy hold PS tickets but are not PS staff — they and their hours are excluded.</a:t>
            </a:r>
            <a:endParaRPr lang="en-US" sz="580" dirty="0"/>
          </a:p>
        </p:txBody>
      </p:sp>
      <p:sp>
        <p:nvSpPr>
          <p:cNvPr id="79" name="Shape 7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80" name="Text 7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81" name="Text 7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82" name="Text 8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83" name="Text 8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84" name="Text 82"/>
          <p:cNvSpPr txBox="1"/>
          <p:nvPr/>
        </p:nvSpPr>
        <p:spPr>
          <a:xfrm>
            <a:off x="7379208" y="2880360"/>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85" name="Shape 83"/>
          <p:cNvSpPr/>
          <p:nvPr/>
        </p:nvSpPr>
        <p:spPr>
          <a:xfrm>
            <a:off x="8823960" y="2916174"/>
            <a:ext cx="1371600" cy="54864"/>
          </a:xfrm>
          <a:prstGeom prst="roundRect">
            <a:avLst>
              <a:gd name="adj" fmla="val 50000"/>
            </a:avLst>
          </a:prstGeom>
          <a:solidFill>
            <a:srgbClr val="E2EAEE"/>
          </a:solidFill>
          <a:ln/>
        </p:spPr>
      </p:sp>
      <p:sp>
        <p:nvSpPr>
          <p:cNvPr id="86" name="Shape 84"/>
          <p:cNvSpPr/>
          <p:nvPr/>
        </p:nvSpPr>
        <p:spPr>
          <a:xfrm>
            <a:off x="8823960" y="2916174"/>
            <a:ext cx="1371600" cy="54864"/>
          </a:xfrm>
          <a:prstGeom prst="roundRect">
            <a:avLst>
              <a:gd name="adj" fmla="val 50000"/>
            </a:avLst>
          </a:prstGeom>
          <a:solidFill>
            <a:srgbClr val="2C8394"/>
          </a:solidFill>
          <a:ln/>
        </p:spPr>
      </p:sp>
      <p:sp>
        <p:nvSpPr>
          <p:cNvPr id="87" name="Text 85"/>
          <p:cNvSpPr txBox="1"/>
          <p:nvPr/>
        </p:nvSpPr>
        <p:spPr>
          <a:xfrm>
            <a:off x="10287000" y="2880360"/>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72.37h</a:t>
            </a:r>
            <a:endParaRPr lang="en-US" sz="750" dirty="0"/>
          </a:p>
        </p:txBody>
      </p:sp>
      <p:sp>
        <p:nvSpPr>
          <p:cNvPr id="88" name="Text 86"/>
          <p:cNvSpPr txBox="1"/>
          <p:nvPr/>
        </p:nvSpPr>
        <p:spPr>
          <a:xfrm>
            <a:off x="10972800" y="2880360"/>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81.4%</a:t>
            </a:r>
            <a:endParaRPr lang="en-US" sz="750" dirty="0"/>
          </a:p>
        </p:txBody>
      </p:sp>
      <p:sp>
        <p:nvSpPr>
          <p:cNvPr id="89" name="Text 87"/>
          <p:cNvSpPr txBox="1"/>
          <p:nvPr/>
        </p:nvSpPr>
        <p:spPr>
          <a:xfrm>
            <a:off x="7379208" y="3006852"/>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Onboarding</a:t>
            </a:r>
            <a:endParaRPr lang="en-US" sz="700" dirty="0"/>
          </a:p>
        </p:txBody>
      </p:sp>
      <p:sp>
        <p:nvSpPr>
          <p:cNvPr id="90" name="Shape 88"/>
          <p:cNvSpPr/>
          <p:nvPr/>
        </p:nvSpPr>
        <p:spPr>
          <a:xfrm>
            <a:off x="8823960" y="3042666"/>
            <a:ext cx="1371600" cy="54864"/>
          </a:xfrm>
          <a:prstGeom prst="roundRect">
            <a:avLst>
              <a:gd name="adj" fmla="val 50000"/>
            </a:avLst>
          </a:prstGeom>
          <a:solidFill>
            <a:srgbClr val="E2EAEE"/>
          </a:solidFill>
          <a:ln/>
        </p:spPr>
      </p:sp>
      <p:sp>
        <p:nvSpPr>
          <p:cNvPr id="91" name="Shape 89"/>
          <p:cNvSpPr/>
          <p:nvPr/>
        </p:nvSpPr>
        <p:spPr>
          <a:xfrm>
            <a:off x="8823960" y="3042666"/>
            <a:ext cx="132668" cy="54864"/>
          </a:xfrm>
          <a:prstGeom prst="roundRect">
            <a:avLst>
              <a:gd name="adj" fmla="val 50000"/>
            </a:avLst>
          </a:prstGeom>
          <a:solidFill>
            <a:srgbClr val="2C8394"/>
          </a:solidFill>
          <a:ln/>
        </p:spPr>
      </p:sp>
      <p:sp>
        <p:nvSpPr>
          <p:cNvPr id="92" name="Text 90"/>
          <p:cNvSpPr txBox="1"/>
          <p:nvPr/>
        </p:nvSpPr>
        <p:spPr>
          <a:xfrm>
            <a:off x="10287000" y="3006852"/>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7.00h</a:t>
            </a:r>
            <a:endParaRPr lang="en-US" sz="750" dirty="0"/>
          </a:p>
        </p:txBody>
      </p:sp>
      <p:sp>
        <p:nvSpPr>
          <p:cNvPr id="93" name="Text 91"/>
          <p:cNvSpPr txBox="1"/>
          <p:nvPr/>
        </p:nvSpPr>
        <p:spPr>
          <a:xfrm>
            <a:off x="10972800" y="3006852"/>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7.9%</a:t>
            </a:r>
            <a:endParaRPr lang="en-US" sz="750" dirty="0"/>
          </a:p>
        </p:txBody>
      </p:sp>
      <p:sp>
        <p:nvSpPr>
          <p:cNvPr id="94" name="Text 92"/>
          <p:cNvSpPr txBox="1"/>
          <p:nvPr/>
        </p:nvSpPr>
        <p:spPr>
          <a:xfrm>
            <a:off x="7379208" y="3133344"/>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Training</a:t>
            </a:r>
            <a:endParaRPr lang="en-US" sz="700" dirty="0"/>
          </a:p>
        </p:txBody>
      </p:sp>
      <p:sp>
        <p:nvSpPr>
          <p:cNvPr id="95" name="Shape 93"/>
          <p:cNvSpPr/>
          <p:nvPr/>
        </p:nvSpPr>
        <p:spPr>
          <a:xfrm>
            <a:off x="8823960" y="3169158"/>
            <a:ext cx="1371600" cy="54864"/>
          </a:xfrm>
          <a:prstGeom prst="roundRect">
            <a:avLst>
              <a:gd name="adj" fmla="val 50000"/>
            </a:avLst>
          </a:prstGeom>
          <a:solidFill>
            <a:srgbClr val="E2EAEE"/>
          </a:solidFill>
          <a:ln/>
        </p:spPr>
      </p:sp>
      <p:sp>
        <p:nvSpPr>
          <p:cNvPr id="96" name="Shape 94"/>
          <p:cNvSpPr/>
          <p:nvPr/>
        </p:nvSpPr>
        <p:spPr>
          <a:xfrm>
            <a:off x="8823960" y="3169158"/>
            <a:ext cx="94763" cy="54864"/>
          </a:xfrm>
          <a:prstGeom prst="roundRect">
            <a:avLst>
              <a:gd name="adj" fmla="val 50000"/>
            </a:avLst>
          </a:prstGeom>
          <a:solidFill>
            <a:srgbClr val="2C8394"/>
          </a:solidFill>
          <a:ln/>
        </p:spPr>
      </p:sp>
      <p:sp>
        <p:nvSpPr>
          <p:cNvPr id="97" name="Text 95"/>
          <p:cNvSpPr txBox="1"/>
          <p:nvPr/>
        </p:nvSpPr>
        <p:spPr>
          <a:xfrm>
            <a:off x="10287000" y="3133344"/>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5.00h</a:t>
            </a:r>
            <a:endParaRPr lang="en-US" sz="750" dirty="0"/>
          </a:p>
        </p:txBody>
      </p:sp>
      <p:sp>
        <p:nvSpPr>
          <p:cNvPr id="98" name="Text 96"/>
          <p:cNvSpPr txBox="1"/>
          <p:nvPr/>
        </p:nvSpPr>
        <p:spPr>
          <a:xfrm>
            <a:off x="10972800" y="3133344"/>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5.6%</a:t>
            </a:r>
            <a:endParaRPr lang="en-US" sz="750" dirty="0"/>
          </a:p>
        </p:txBody>
      </p:sp>
      <p:sp>
        <p:nvSpPr>
          <p:cNvPr id="99" name="Text 97"/>
          <p:cNvSpPr txBox="1"/>
          <p:nvPr/>
        </p:nvSpPr>
        <p:spPr>
          <a:xfrm>
            <a:off x="7379208" y="3259836"/>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295650"/>
            <a:ext cx="1371600" cy="54864"/>
          </a:xfrm>
          <a:prstGeom prst="roundRect">
            <a:avLst>
              <a:gd name="adj" fmla="val 50000"/>
            </a:avLst>
          </a:prstGeom>
          <a:solidFill>
            <a:srgbClr val="E2EAEE"/>
          </a:solidFill>
          <a:ln/>
        </p:spPr>
      </p:sp>
      <p:sp>
        <p:nvSpPr>
          <p:cNvPr id="101" name="Shape 99"/>
          <p:cNvSpPr/>
          <p:nvPr/>
        </p:nvSpPr>
        <p:spPr>
          <a:xfrm>
            <a:off x="8823960" y="3295650"/>
            <a:ext cx="75810" cy="54864"/>
          </a:xfrm>
          <a:prstGeom prst="roundRect">
            <a:avLst>
              <a:gd name="adj" fmla="val 50000"/>
            </a:avLst>
          </a:prstGeom>
          <a:solidFill>
            <a:srgbClr val="2C8394"/>
          </a:solidFill>
          <a:ln/>
        </p:spPr>
      </p:sp>
      <p:sp>
        <p:nvSpPr>
          <p:cNvPr id="102" name="Text 100"/>
          <p:cNvSpPr txBox="1"/>
          <p:nvPr/>
        </p:nvSpPr>
        <p:spPr>
          <a:xfrm>
            <a:off x="10287000" y="3259836"/>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4.00h</a:t>
            </a:r>
            <a:endParaRPr lang="en-US" sz="750" dirty="0"/>
          </a:p>
        </p:txBody>
      </p:sp>
      <p:sp>
        <p:nvSpPr>
          <p:cNvPr id="103" name="Text 101"/>
          <p:cNvSpPr txBox="1"/>
          <p:nvPr/>
        </p:nvSpPr>
        <p:spPr>
          <a:xfrm>
            <a:off x="10972800" y="3259836"/>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4.5%</a:t>
            </a:r>
            <a:endParaRPr lang="en-US" sz="750" dirty="0"/>
          </a:p>
        </p:txBody>
      </p:sp>
      <p:sp>
        <p:nvSpPr>
          <p:cNvPr id="104" name="Text 102"/>
          <p:cNvSpPr txBox="1"/>
          <p:nvPr/>
        </p:nvSpPr>
        <p:spPr>
          <a:xfrm>
            <a:off x="7379208" y="3386328"/>
            <a:ext cx="1371600" cy="126492"/>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Not required</a:t>
            </a:r>
            <a:endParaRPr lang="en-US" sz="700" dirty="0"/>
          </a:p>
        </p:txBody>
      </p:sp>
      <p:sp>
        <p:nvSpPr>
          <p:cNvPr id="105" name="Shape 103"/>
          <p:cNvSpPr/>
          <p:nvPr/>
        </p:nvSpPr>
        <p:spPr>
          <a:xfrm>
            <a:off x="8823960" y="3422142"/>
            <a:ext cx="1371600" cy="54864"/>
          </a:xfrm>
          <a:prstGeom prst="roundRect">
            <a:avLst>
              <a:gd name="adj" fmla="val 50000"/>
            </a:avLst>
          </a:prstGeom>
          <a:solidFill>
            <a:srgbClr val="E2EAEE"/>
          </a:solidFill>
          <a:ln/>
        </p:spPr>
      </p:sp>
      <p:sp>
        <p:nvSpPr>
          <p:cNvPr id="106" name="Shape 104"/>
          <p:cNvSpPr/>
          <p:nvPr/>
        </p:nvSpPr>
        <p:spPr>
          <a:xfrm>
            <a:off x="8823960" y="3422142"/>
            <a:ext cx="45720" cy="54864"/>
          </a:xfrm>
          <a:prstGeom prst="roundRect">
            <a:avLst>
              <a:gd name="adj" fmla="val 60000"/>
            </a:avLst>
          </a:prstGeom>
          <a:solidFill>
            <a:srgbClr val="2C8394"/>
          </a:solidFill>
          <a:ln/>
        </p:spPr>
      </p:sp>
      <p:sp>
        <p:nvSpPr>
          <p:cNvPr id="107" name="Text 105"/>
          <p:cNvSpPr txBox="1"/>
          <p:nvPr/>
        </p:nvSpPr>
        <p:spPr>
          <a:xfrm>
            <a:off x="10287000" y="3386328"/>
            <a:ext cx="640080" cy="126492"/>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0.50h</a:t>
            </a:r>
            <a:endParaRPr lang="en-US" sz="750" dirty="0"/>
          </a:p>
        </p:txBody>
      </p:sp>
      <p:sp>
        <p:nvSpPr>
          <p:cNvPr id="108" name="Text 106"/>
          <p:cNvSpPr txBox="1"/>
          <p:nvPr/>
        </p:nvSpPr>
        <p:spPr>
          <a:xfrm>
            <a:off x="10972800" y="3386328"/>
            <a:ext cx="603504" cy="126492"/>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0.6%</a:t>
            </a:r>
            <a:endParaRPr lang="en-US" sz="750" dirty="0"/>
          </a:p>
        </p:txBody>
      </p:sp>
      <p:sp>
        <p:nvSpPr>
          <p:cNvPr id="109" name="Text 107"/>
          <p:cNvSpPr txBox="1"/>
          <p:nvPr/>
        </p:nvSpPr>
        <p:spPr>
          <a:xfrm>
            <a:off x="7379208" y="3512820"/>
            <a:ext cx="1371600" cy="126492"/>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0" name="Shape 108"/>
          <p:cNvSpPr/>
          <p:nvPr/>
        </p:nvSpPr>
        <p:spPr>
          <a:xfrm>
            <a:off x="8823960" y="3548634"/>
            <a:ext cx="1371600" cy="54864"/>
          </a:xfrm>
          <a:prstGeom prst="roundRect">
            <a:avLst>
              <a:gd name="adj" fmla="val 50000"/>
            </a:avLst>
          </a:prstGeom>
          <a:solidFill>
            <a:srgbClr val="E2EAEE"/>
          </a:solidFill>
          <a:ln/>
        </p:spPr>
      </p:sp>
      <p:sp>
        <p:nvSpPr>
          <p:cNvPr id="111" name="Text 109"/>
          <p:cNvSpPr txBox="1"/>
          <p:nvPr/>
        </p:nvSpPr>
        <p:spPr>
          <a:xfrm>
            <a:off x="10287000" y="3512820"/>
            <a:ext cx="640080" cy="126492"/>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2" name="Text 110"/>
          <p:cNvSpPr txBox="1"/>
          <p:nvPr/>
        </p:nvSpPr>
        <p:spPr>
          <a:xfrm>
            <a:off x="10972800" y="3512820"/>
            <a:ext cx="603504" cy="126492"/>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3" name="Shape 111"/>
          <p:cNvSpPr/>
          <p:nvPr/>
        </p:nvSpPr>
        <p:spPr>
          <a:xfrm>
            <a:off x="7379208" y="3657600"/>
            <a:ext cx="4197096" cy="10973"/>
          </a:xfrm>
          <a:prstGeom prst="rect">
            <a:avLst/>
          </a:prstGeom>
          <a:solidFill>
            <a:srgbClr val="12293A"/>
          </a:solidFill>
          <a:ln/>
        </p:spPr>
      </p:sp>
      <p:sp>
        <p:nvSpPr>
          <p:cNvPr id="114" name="Text 112"/>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5" name="Text 113"/>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23 PS items carry time</a:t>
            </a:r>
            <a:endParaRPr lang="en-US" sz="630" dirty="0"/>
          </a:p>
        </p:txBody>
      </p:sp>
      <p:sp>
        <p:nvSpPr>
          <p:cNvPr id="116" name="Text 114"/>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88.87h</a:t>
            </a:r>
            <a:endParaRPr lang="en-US" sz="850" dirty="0"/>
          </a:p>
        </p:txBody>
      </p:sp>
      <p:sp>
        <p:nvSpPr>
          <p:cNvPr id="117" name="Text 115"/>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18" name="Shape 116"/>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19" name="Text 117"/>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0" name="Text 118"/>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1" name="Text 119"/>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2" name="Text 120"/>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3" name="Text 121"/>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4" name="Text 122"/>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5" name="Shape 123"/>
          <p:cNvSpPr/>
          <p:nvPr/>
        </p:nvSpPr>
        <p:spPr>
          <a:xfrm>
            <a:off x="7379208" y="4585716"/>
            <a:ext cx="4197096" cy="5486"/>
          </a:xfrm>
          <a:prstGeom prst="rect">
            <a:avLst/>
          </a:prstGeom>
          <a:solidFill>
            <a:srgbClr val="E2EAEE"/>
          </a:solidFill>
          <a:ln/>
        </p:spPr>
      </p:sp>
      <p:sp>
        <p:nvSpPr>
          <p:cNvPr id="126" name="Text 124"/>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8–13 Sep</a:t>
            </a:r>
            <a:endParaRPr lang="en-US" sz="700" dirty="0"/>
          </a:p>
        </p:txBody>
      </p:sp>
      <p:sp>
        <p:nvSpPr>
          <p:cNvPr id="127" name="Text 125"/>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26</a:t>
            </a:r>
            <a:endParaRPr lang="en-US" sz="700" dirty="0"/>
          </a:p>
        </p:txBody>
      </p:sp>
      <p:sp>
        <p:nvSpPr>
          <p:cNvPr id="128" name="Text 126"/>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66.32h</a:t>
            </a:r>
            <a:endParaRPr lang="en-US" sz="750" dirty="0"/>
          </a:p>
        </p:txBody>
      </p:sp>
      <p:sp>
        <p:nvSpPr>
          <p:cNvPr id="129" name="Text 127"/>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19.4%</a:t>
            </a:r>
            <a:endParaRPr lang="en-US" sz="750" dirty="0"/>
          </a:p>
        </p:txBody>
      </p:sp>
      <p:sp>
        <p:nvSpPr>
          <p:cNvPr id="130" name="Text 128"/>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57.50h · 16.8%   ▲ +8.82h</a:t>
            </a:r>
            <a:endParaRPr lang="en-US" sz="610" dirty="0"/>
          </a:p>
        </p:txBody>
      </p:sp>
      <p:sp>
        <p:nvSpPr>
          <p:cNvPr id="131" name="Shape 129"/>
          <p:cNvSpPr/>
          <p:nvPr/>
        </p:nvSpPr>
        <p:spPr>
          <a:xfrm>
            <a:off x="7379208" y="4736592"/>
            <a:ext cx="4197096" cy="5486"/>
          </a:xfrm>
          <a:prstGeom prst="rect">
            <a:avLst/>
          </a:prstGeom>
          <a:solidFill>
            <a:srgbClr val="E2EAEE"/>
          </a:solidFill>
          <a:ln/>
        </p:spPr>
      </p:sp>
      <p:sp>
        <p:nvSpPr>
          <p:cNvPr id="132" name="Text 130"/>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14–20 Sep</a:t>
            </a:r>
            <a:endParaRPr lang="en-US" sz="700" dirty="0"/>
          </a:p>
        </p:txBody>
      </p:sp>
      <p:sp>
        <p:nvSpPr>
          <p:cNvPr id="133" name="Text 131"/>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20</a:t>
            </a:r>
            <a:endParaRPr lang="en-US" sz="700" dirty="0"/>
          </a:p>
        </p:txBody>
      </p:sp>
      <p:sp>
        <p:nvSpPr>
          <p:cNvPr id="134" name="Text 132"/>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29.82h</a:t>
            </a:r>
            <a:endParaRPr lang="en-US" sz="750" dirty="0"/>
          </a:p>
        </p:txBody>
      </p:sp>
      <p:sp>
        <p:nvSpPr>
          <p:cNvPr id="135" name="Text 133"/>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8.7%</a:t>
            </a:r>
            <a:endParaRPr lang="en-US" sz="750" dirty="0"/>
          </a:p>
        </p:txBody>
      </p:sp>
      <p:sp>
        <p:nvSpPr>
          <p:cNvPr id="136" name="Text 134"/>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16.07h · 4.7%   ▲ +13.75h</a:t>
            </a:r>
            <a:endParaRPr lang="en-US" sz="610" dirty="0"/>
          </a:p>
        </p:txBody>
      </p:sp>
      <p:sp>
        <p:nvSpPr>
          <p:cNvPr id="137" name="Shape 135"/>
          <p:cNvSpPr/>
          <p:nvPr/>
        </p:nvSpPr>
        <p:spPr>
          <a:xfrm>
            <a:off x="7379208" y="4887468"/>
            <a:ext cx="4197096" cy="5486"/>
          </a:xfrm>
          <a:prstGeom prst="rect">
            <a:avLst/>
          </a:prstGeom>
          <a:solidFill>
            <a:srgbClr val="E2EAEE"/>
          </a:solidFill>
          <a:ln/>
        </p:spPr>
      </p:sp>
      <p:sp>
        <p:nvSpPr>
          <p:cNvPr id="138" name="Text 136"/>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21–27 Sep</a:t>
            </a:r>
            <a:endParaRPr lang="en-US" sz="700" dirty="0"/>
          </a:p>
        </p:txBody>
      </p:sp>
      <p:sp>
        <p:nvSpPr>
          <p:cNvPr id="139" name="Text 137"/>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22</a:t>
            </a:r>
            <a:endParaRPr lang="en-US" sz="700" dirty="0"/>
          </a:p>
        </p:txBody>
      </p:sp>
      <p:sp>
        <p:nvSpPr>
          <p:cNvPr id="140" name="Text 138"/>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37.25h</a:t>
            </a:r>
            <a:endParaRPr lang="en-US" sz="750" dirty="0"/>
          </a:p>
        </p:txBody>
      </p:sp>
      <p:sp>
        <p:nvSpPr>
          <p:cNvPr id="141" name="Text 139"/>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10.9%</a:t>
            </a:r>
            <a:endParaRPr lang="en-US" sz="750" dirty="0"/>
          </a:p>
        </p:txBody>
      </p:sp>
      <p:sp>
        <p:nvSpPr>
          <p:cNvPr id="142" name="Text 140"/>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20.75h · 6.1%   ▲ +16.50h</a:t>
            </a:r>
            <a:endParaRPr lang="en-US" sz="610" dirty="0"/>
          </a:p>
        </p:txBody>
      </p:sp>
      <p:sp>
        <p:nvSpPr>
          <p:cNvPr id="143" name="Shape 141"/>
          <p:cNvSpPr/>
          <p:nvPr/>
        </p:nvSpPr>
        <p:spPr>
          <a:xfrm>
            <a:off x="7379208" y="5038344"/>
            <a:ext cx="4197096" cy="5486"/>
          </a:xfrm>
          <a:prstGeom prst="rect">
            <a:avLst/>
          </a:prstGeom>
          <a:solidFill>
            <a:srgbClr val="E2EAEE"/>
          </a:solidFill>
          <a:ln/>
        </p:spPr>
      </p:sp>
      <p:sp>
        <p:nvSpPr>
          <p:cNvPr id="144" name="Text 142"/>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28 Sep–4 Oct  ●</a:t>
            </a:r>
            <a:endParaRPr lang="en-US" sz="700" dirty="0"/>
          </a:p>
        </p:txBody>
      </p:sp>
      <p:sp>
        <p:nvSpPr>
          <p:cNvPr id="145" name="Text 143"/>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23</a:t>
            </a:r>
            <a:endParaRPr lang="en-US" sz="700" dirty="0"/>
          </a:p>
        </p:txBody>
      </p:sp>
      <p:sp>
        <p:nvSpPr>
          <p:cNvPr id="146" name="Text 144"/>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88.87h</a:t>
            </a:r>
            <a:endParaRPr lang="en-US" sz="750" dirty="0"/>
          </a:p>
        </p:txBody>
      </p:sp>
      <p:sp>
        <p:nvSpPr>
          <p:cNvPr id="147" name="Text 145"/>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33.4%</a:t>
            </a:r>
            <a:endParaRPr lang="en-US" sz="750" dirty="0"/>
          </a:p>
        </p:txBody>
      </p:sp>
      <p:sp>
        <p:nvSpPr>
          <p:cNvPr id="148" name="Text 146"/>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49" name="Text 147"/>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9 for the first three weeks, 7 for 28 Sep–4 Oct with Rhys Woolcock and Rodney Nolan on leave. Every closed week has restated upward since first reporting. A 722h record on 21–27 Sep is excluded as a keying error.</a:t>
            </a:r>
            <a:endParaRPr lang="en-US" sz="580" dirty="0"/>
          </a:p>
        </p:txBody>
      </p:sp>
      <p:sp>
        <p:nvSpPr>
          <p:cNvPr id="150" name="Shape 148"/>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1" name="Text 149"/>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2" name="Text 150"/>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Every closed week keeps restating upward.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21–27 Sep went out at 20.75h (6.1%) and now stands at 37.25h (10.9%); the two weeks before it have grown too. This week's 33.4% is a floor, not a result.</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Two people carry 100% of the logged total — and one record carries the week.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Gregory St Clare-Hobbs 51.00h, of which 50.5h sits on one hardware record; Joshua Casey 37.87h across 21 items; 5 logged nothing. Strip that record and utilisation is 14.4%.</a:t>
            </a:r>
            <a:endParaRPr lang="en-US" sz="900" dirty="0"/>
          </a:p>
        </p:txBody>
      </p:sp>
      <p:sp>
        <p:nvSpPr>
          <p:cNvPr id="153" name="Shape 151"/>
          <p:cNvSpPr/>
          <p:nvPr/>
        </p:nvSpPr>
        <p:spPr>
          <a:xfrm>
            <a:off x="6155741" y="6510528"/>
            <a:ext cx="5621731" cy="256032"/>
          </a:xfrm>
          <a:prstGeom prst="roundRect">
            <a:avLst>
              <a:gd name="adj" fmla="val 46429"/>
            </a:avLst>
          </a:prstGeom>
          <a:solidFill>
            <a:srgbClr val="12293A"/>
          </a:solidFill>
          <a:ln/>
        </p:spPr>
      </p:sp>
      <p:sp>
        <p:nvSpPr>
          <p:cNvPr id="154" name="Text 152"/>
          <p:cNvSpPr txBox="1"/>
          <p:nvPr/>
        </p:nvSpPr>
        <p:spPr>
          <a:xfrm>
            <a:off x="6155741" y="6510528"/>
            <a:ext cx="5621731"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 records (total_hours) + PS pipeline ticket owners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3D8F5F"/>
                </a:solidFill>
                <a:latin typeface="Poppins" pitchFamily="34" charset="0"/>
                <a:ea typeface="Poppins" pitchFamily="34" charset="-122"/>
                <a:cs typeface="Poppins" pitchFamily="34" charset="-120"/>
              </a:rPr>
              <a:t>both series live</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Won = HubSpot closed-won Total Software (outright excluded, annual ÷ 12) by close date. Invoiced = movement register new + expansion by date of invoice. Both live and refreshed weekly — nothing on this slide is frozen.</a:t>
            </a: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$236k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21 of the 66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$1.19M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258 logos · MRR movement register, live · HubSpot churn object still ramping</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Q3</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-$4.2k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Q3 final · new $15.2k − churn $12.7k − contraction $3.7k − credits $2.9k</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New Whyalla Hotel</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$606</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Apr</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Royal Family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$597</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Gastevski - Australind Liquor Store</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$524</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Champion Lakes Tavern WA</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Commercial Hotel - Morgan</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$432</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Feb</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Argyle Hotel Maclean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$402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Litchfield Outback Resort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$387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Q3 closed with invoicing ahead of wins.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$15,162 invoiced against $12,061 won; September billed $6,602. Nine months of both series read live.</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decided the quarter: $1.19M of ARR across 258 logos since Jan 2025.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Q3 took $12.7k of MRR out against $15.2k in, plus $3.7k of contraction and $2.9k of credits — net Q3 −$4.2k.</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Q4 has opened negative.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The 1 Oct billing run carried $1.7k of churn and $2.1k of contraction against $1.4k of new, so Q4 starts at −$2.4k. Eleven RD Jones sites contracted $73 each on the same date.</a:t>
            </a:r>
            <a:endParaRPr lang="en-US" sz="850" dirty="0"/>
          </a:p>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$236k of ARR is won with no row on the register.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21 of the 66 deals that carried software MRR in 2026. Oscars Group is $155k of it — 66%.</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excluded (parked licences, not counted in MRR); Grand Chancellor Adelaide is on the register awaiting an invoice date.</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6715354" y="6510528"/>
            <a:ext cx="5062118" cy="256032"/>
          </a:xfrm>
          <a:prstGeom prst="roundRect">
            <a:avLst>
              <a:gd name="adj" fmla="val 46429"/>
            </a:avLst>
          </a:prstGeom>
          <a:solidFill>
            <a:srgbClr val="12293A"/>
          </a:solidFill>
          <a:ln/>
        </p:spPr>
      </p:sp>
      <p:sp>
        <p:nvSpPr>
          <p:cNvPr id="101" name="Text 98"/>
          <p:cNvSpPr txBox="1"/>
          <p:nvPr/>
        </p:nvSpPr>
        <p:spPr>
          <a:xfrm>
            <a:off x="6715354" y="6510528"/>
            <a:ext cx="506211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deals + MRR movement register (live, 6 Oct) — all series live</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698</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4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204</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20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14,068</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4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50310" y="5037452"/>
            <a:ext cx="226040" cy="439804"/>
          </a:xfrm>
          <a:prstGeom prst="rect">
            <a:avLst/>
          </a:prstGeom>
          <a:solidFill>
            <a:srgbClr val="3D8F5F"/>
          </a:solidFill>
          <a:ln/>
        </p:spPr>
      </p:sp>
      <p:sp>
        <p:nvSpPr>
          <p:cNvPr id="54" name="Text 52"/>
          <p:cNvSpPr txBox="1"/>
          <p:nvPr/>
        </p:nvSpPr>
        <p:spPr>
          <a:xfrm>
            <a:off x="1050310" y="519334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50310" y="4437217"/>
            <a:ext cx="226040" cy="600235"/>
          </a:xfrm>
          <a:prstGeom prst="rect">
            <a:avLst/>
          </a:prstGeom>
          <a:solidFill>
            <a:srgbClr val="6FAEBB"/>
          </a:solidFill>
          <a:ln/>
        </p:spPr>
      </p:sp>
      <p:sp>
        <p:nvSpPr>
          <p:cNvPr id="56" name="Text 54"/>
          <p:cNvSpPr txBox="1"/>
          <p:nvPr/>
        </p:nvSpPr>
        <p:spPr>
          <a:xfrm>
            <a:off x="1050310" y="467332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50310" y="3781661"/>
            <a:ext cx="226040" cy="655556"/>
          </a:xfrm>
          <a:prstGeom prst="rect">
            <a:avLst/>
          </a:prstGeom>
          <a:solidFill>
            <a:srgbClr val="C88A2E"/>
          </a:solidFill>
          <a:ln/>
        </p:spPr>
      </p:sp>
      <p:sp>
        <p:nvSpPr>
          <p:cNvPr id="58" name="Text 56"/>
          <p:cNvSpPr txBox="1"/>
          <p:nvPr/>
        </p:nvSpPr>
        <p:spPr>
          <a:xfrm>
            <a:off x="1050310" y="404543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50310" y="3579739"/>
            <a:ext cx="226040" cy="201922"/>
          </a:xfrm>
          <a:prstGeom prst="rect">
            <a:avLst/>
          </a:prstGeom>
          <a:solidFill>
            <a:srgbClr val="7A3B21"/>
          </a:solidFill>
          <a:ln/>
        </p:spPr>
      </p:sp>
      <p:sp>
        <p:nvSpPr>
          <p:cNvPr id="60" name="Text 58"/>
          <p:cNvSpPr txBox="1"/>
          <p:nvPr/>
        </p:nvSpPr>
        <p:spPr>
          <a:xfrm>
            <a:off x="1050310" y="361669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1004590" y="342429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308354"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678198" y="4771911"/>
            <a:ext cx="226040" cy="705345"/>
          </a:xfrm>
          <a:prstGeom prst="rect">
            <a:avLst/>
          </a:prstGeom>
          <a:solidFill>
            <a:srgbClr val="3D8F5F"/>
          </a:solidFill>
          <a:ln/>
        </p:spPr>
      </p:sp>
      <p:sp>
        <p:nvSpPr>
          <p:cNvPr id="65" name="Text 63"/>
          <p:cNvSpPr txBox="1"/>
          <p:nvPr/>
        </p:nvSpPr>
        <p:spPr>
          <a:xfrm>
            <a:off x="1678198" y="5060575"/>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678198" y="4141249"/>
            <a:ext cx="226040" cy="630662"/>
          </a:xfrm>
          <a:prstGeom prst="rect">
            <a:avLst/>
          </a:prstGeom>
          <a:solidFill>
            <a:srgbClr val="6FAEBB"/>
          </a:solidFill>
          <a:ln/>
        </p:spPr>
      </p:sp>
      <p:sp>
        <p:nvSpPr>
          <p:cNvPr id="67" name="Text 65"/>
          <p:cNvSpPr txBox="1"/>
          <p:nvPr/>
        </p:nvSpPr>
        <p:spPr>
          <a:xfrm>
            <a:off x="1678198" y="439257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678198" y="3906134"/>
            <a:ext cx="226040" cy="235115"/>
          </a:xfrm>
          <a:prstGeom prst="rect">
            <a:avLst/>
          </a:prstGeom>
          <a:solidFill>
            <a:srgbClr val="C88A2E"/>
          </a:solidFill>
          <a:ln/>
        </p:spPr>
      </p:sp>
      <p:sp>
        <p:nvSpPr>
          <p:cNvPr id="69" name="Text 67"/>
          <p:cNvSpPr txBox="1"/>
          <p:nvPr/>
        </p:nvSpPr>
        <p:spPr>
          <a:xfrm>
            <a:off x="1678198" y="395968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678198" y="3748469"/>
            <a:ext cx="226040" cy="157665"/>
          </a:xfrm>
          <a:prstGeom prst="rect">
            <a:avLst/>
          </a:prstGeom>
          <a:solidFill>
            <a:srgbClr val="7A3B21"/>
          </a:solidFill>
          <a:ln/>
        </p:spPr>
      </p:sp>
      <p:sp>
        <p:nvSpPr>
          <p:cNvPr id="71" name="Text 69"/>
          <p:cNvSpPr txBox="1"/>
          <p:nvPr/>
        </p:nvSpPr>
        <p:spPr>
          <a:xfrm>
            <a:off x="1678198" y="376329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632478" y="359302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936242"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606296"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2306086" y="5001494"/>
            <a:ext cx="226040" cy="475762"/>
          </a:xfrm>
          <a:prstGeom prst="rect">
            <a:avLst/>
          </a:prstGeom>
          <a:solidFill>
            <a:srgbClr val="3D8F5F"/>
          </a:solidFill>
          <a:ln/>
        </p:spPr>
      </p:sp>
      <p:sp>
        <p:nvSpPr>
          <p:cNvPr id="76" name="Text 74"/>
          <p:cNvSpPr txBox="1"/>
          <p:nvPr/>
        </p:nvSpPr>
        <p:spPr>
          <a:xfrm>
            <a:off x="2306086" y="517536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2306086" y="4254657"/>
            <a:ext cx="226040" cy="746836"/>
          </a:xfrm>
          <a:prstGeom prst="rect">
            <a:avLst/>
          </a:prstGeom>
          <a:solidFill>
            <a:srgbClr val="6FAEBB"/>
          </a:solidFill>
          <a:ln/>
        </p:spPr>
      </p:sp>
      <p:sp>
        <p:nvSpPr>
          <p:cNvPr id="78" name="Text 76"/>
          <p:cNvSpPr txBox="1"/>
          <p:nvPr/>
        </p:nvSpPr>
        <p:spPr>
          <a:xfrm>
            <a:off x="2306086" y="456406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2306086" y="4005712"/>
            <a:ext cx="226040" cy="248945"/>
          </a:xfrm>
          <a:prstGeom prst="rect">
            <a:avLst/>
          </a:prstGeom>
          <a:solidFill>
            <a:srgbClr val="C88A2E"/>
          </a:solidFill>
          <a:ln/>
        </p:spPr>
      </p:sp>
      <p:sp>
        <p:nvSpPr>
          <p:cNvPr id="80" name="Text 78"/>
          <p:cNvSpPr txBox="1"/>
          <p:nvPr/>
        </p:nvSpPr>
        <p:spPr>
          <a:xfrm>
            <a:off x="2306086" y="406617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2306086" y="3861877"/>
            <a:ext cx="226040" cy="143835"/>
          </a:xfrm>
          <a:prstGeom prst="rect">
            <a:avLst/>
          </a:prstGeom>
          <a:solidFill>
            <a:srgbClr val="7A3B21"/>
          </a:solidFill>
          <a:ln/>
        </p:spPr>
      </p:sp>
      <p:sp>
        <p:nvSpPr>
          <p:cNvPr id="82" name="Text 80"/>
          <p:cNvSpPr txBox="1"/>
          <p:nvPr/>
        </p:nvSpPr>
        <p:spPr>
          <a:xfrm>
            <a:off x="2306086" y="386978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2260366" y="3706429"/>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564130" y="4191038"/>
            <a:ext cx="226040" cy="1286218"/>
          </a:xfrm>
          <a:prstGeom prst="rect">
            <a:avLst/>
          </a:prstGeom>
          <a:solidFill>
            <a:srgbClr val="1C5765"/>
          </a:solidFill>
          <a:ln/>
        </p:spPr>
      </p:sp>
      <p:sp>
        <p:nvSpPr>
          <p:cNvPr id="85" name="Text 83"/>
          <p:cNvSpPr txBox="1"/>
          <p:nvPr/>
        </p:nvSpPr>
        <p:spPr>
          <a:xfrm>
            <a:off x="2518410" y="403559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2234184"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933974" y="5023622"/>
            <a:ext cx="226040" cy="453634"/>
          </a:xfrm>
          <a:prstGeom prst="rect">
            <a:avLst/>
          </a:prstGeom>
          <a:solidFill>
            <a:srgbClr val="3D8F5F"/>
          </a:solidFill>
          <a:ln/>
        </p:spPr>
      </p:sp>
      <p:sp>
        <p:nvSpPr>
          <p:cNvPr id="88" name="Text 86"/>
          <p:cNvSpPr txBox="1"/>
          <p:nvPr/>
        </p:nvSpPr>
        <p:spPr>
          <a:xfrm>
            <a:off x="2933974" y="518643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933974" y="4196570"/>
            <a:ext cx="226040" cy="827052"/>
          </a:xfrm>
          <a:prstGeom prst="rect">
            <a:avLst/>
          </a:prstGeom>
          <a:solidFill>
            <a:srgbClr val="6FAEBB"/>
          </a:solidFill>
          <a:ln/>
        </p:spPr>
      </p:sp>
      <p:sp>
        <p:nvSpPr>
          <p:cNvPr id="90" name="Text 88"/>
          <p:cNvSpPr txBox="1"/>
          <p:nvPr/>
        </p:nvSpPr>
        <p:spPr>
          <a:xfrm>
            <a:off x="2933974" y="454608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933974" y="3889538"/>
            <a:ext cx="226040" cy="307033"/>
          </a:xfrm>
          <a:prstGeom prst="rect">
            <a:avLst/>
          </a:prstGeom>
          <a:solidFill>
            <a:srgbClr val="C88A2E"/>
          </a:solidFill>
          <a:ln/>
        </p:spPr>
      </p:sp>
      <p:sp>
        <p:nvSpPr>
          <p:cNvPr id="92" name="Text 90"/>
          <p:cNvSpPr txBox="1"/>
          <p:nvPr/>
        </p:nvSpPr>
        <p:spPr>
          <a:xfrm>
            <a:off x="2933974" y="397904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933974" y="3729106"/>
            <a:ext cx="226040" cy="160431"/>
          </a:xfrm>
          <a:prstGeom prst="rect">
            <a:avLst/>
          </a:prstGeom>
          <a:solidFill>
            <a:srgbClr val="7A3B21"/>
          </a:solidFill>
          <a:ln/>
        </p:spPr>
      </p:sp>
      <p:sp>
        <p:nvSpPr>
          <p:cNvPr id="94" name="Text 92"/>
          <p:cNvSpPr txBox="1"/>
          <p:nvPr/>
        </p:nvSpPr>
        <p:spPr>
          <a:xfrm>
            <a:off x="2933974" y="374531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888254" y="357365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3192018" y="4215933"/>
            <a:ext cx="226040" cy="1261323"/>
          </a:xfrm>
          <a:prstGeom prst="rect">
            <a:avLst/>
          </a:prstGeom>
          <a:solidFill>
            <a:srgbClr val="1C5765"/>
          </a:solidFill>
          <a:ln/>
        </p:spPr>
      </p:sp>
      <p:sp>
        <p:nvSpPr>
          <p:cNvPr id="97" name="Text 95"/>
          <p:cNvSpPr txBox="1"/>
          <p:nvPr/>
        </p:nvSpPr>
        <p:spPr>
          <a:xfrm>
            <a:off x="3146298" y="4060485"/>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862072"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3561862" y="5059581"/>
            <a:ext cx="226040" cy="417675"/>
          </a:xfrm>
          <a:prstGeom prst="rect">
            <a:avLst/>
          </a:prstGeom>
          <a:solidFill>
            <a:srgbClr val="3D8F5F"/>
          </a:solidFill>
          <a:ln/>
        </p:spPr>
      </p:sp>
      <p:sp>
        <p:nvSpPr>
          <p:cNvPr id="100" name="Text 98"/>
          <p:cNvSpPr txBox="1"/>
          <p:nvPr/>
        </p:nvSpPr>
        <p:spPr>
          <a:xfrm>
            <a:off x="3561862" y="520441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3561862" y="4238061"/>
            <a:ext cx="226040" cy="821520"/>
          </a:xfrm>
          <a:prstGeom prst="rect">
            <a:avLst/>
          </a:prstGeom>
          <a:solidFill>
            <a:srgbClr val="6FAEBB"/>
          </a:solidFill>
          <a:ln/>
        </p:spPr>
      </p:sp>
      <p:sp>
        <p:nvSpPr>
          <p:cNvPr id="102" name="Text 100"/>
          <p:cNvSpPr txBox="1"/>
          <p:nvPr/>
        </p:nvSpPr>
        <p:spPr>
          <a:xfrm>
            <a:off x="3561862" y="458481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3561862" y="4019542"/>
            <a:ext cx="226040" cy="218519"/>
          </a:xfrm>
          <a:prstGeom prst="rect">
            <a:avLst/>
          </a:prstGeom>
          <a:solidFill>
            <a:srgbClr val="C88A2E"/>
          </a:solidFill>
          <a:ln/>
        </p:spPr>
      </p:sp>
      <p:sp>
        <p:nvSpPr>
          <p:cNvPr id="104" name="Text 102"/>
          <p:cNvSpPr txBox="1"/>
          <p:nvPr/>
        </p:nvSpPr>
        <p:spPr>
          <a:xfrm>
            <a:off x="3561862" y="406479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3561862" y="3856345"/>
            <a:ext cx="226040" cy="163198"/>
          </a:xfrm>
          <a:prstGeom prst="rect">
            <a:avLst/>
          </a:prstGeom>
          <a:solidFill>
            <a:srgbClr val="7A3B21"/>
          </a:solidFill>
          <a:ln/>
        </p:spPr>
      </p:sp>
      <p:sp>
        <p:nvSpPr>
          <p:cNvPr id="106" name="Text 104"/>
          <p:cNvSpPr txBox="1"/>
          <p:nvPr/>
        </p:nvSpPr>
        <p:spPr>
          <a:xfrm>
            <a:off x="3561862" y="3873936"/>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3516142" y="3700897"/>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819906" y="4528497"/>
            <a:ext cx="226040" cy="948759"/>
          </a:xfrm>
          <a:prstGeom prst="rect">
            <a:avLst/>
          </a:prstGeom>
          <a:solidFill>
            <a:srgbClr val="1C5765"/>
          </a:solidFill>
          <a:ln/>
        </p:spPr>
      </p:sp>
      <p:sp>
        <p:nvSpPr>
          <p:cNvPr id="109" name="Text 107"/>
          <p:cNvSpPr txBox="1"/>
          <p:nvPr/>
        </p:nvSpPr>
        <p:spPr>
          <a:xfrm>
            <a:off x="3774186" y="4373049"/>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3489960"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4336054" y="4824466"/>
            <a:ext cx="226040" cy="652790"/>
          </a:xfrm>
          <a:prstGeom prst="rect">
            <a:avLst/>
          </a:prstGeom>
          <a:solidFill>
            <a:srgbClr val="3D8F5F"/>
          </a:solidFill>
          <a:ln/>
        </p:spPr>
      </p:sp>
      <p:sp>
        <p:nvSpPr>
          <p:cNvPr id="112" name="Text 110"/>
          <p:cNvSpPr txBox="1"/>
          <p:nvPr/>
        </p:nvSpPr>
        <p:spPr>
          <a:xfrm>
            <a:off x="4336054" y="508685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4336054" y="4108056"/>
            <a:ext cx="226040" cy="716410"/>
          </a:xfrm>
          <a:prstGeom prst="rect">
            <a:avLst/>
          </a:prstGeom>
          <a:solidFill>
            <a:srgbClr val="6FAEBB"/>
          </a:solidFill>
          <a:ln/>
        </p:spPr>
      </p:sp>
      <p:sp>
        <p:nvSpPr>
          <p:cNvPr id="114" name="Text 112"/>
          <p:cNvSpPr txBox="1"/>
          <p:nvPr/>
        </p:nvSpPr>
        <p:spPr>
          <a:xfrm>
            <a:off x="4336054" y="440225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4336054" y="3690381"/>
            <a:ext cx="226040" cy="417675"/>
          </a:xfrm>
          <a:prstGeom prst="rect">
            <a:avLst/>
          </a:prstGeom>
          <a:solidFill>
            <a:srgbClr val="C88A2E"/>
          </a:solidFill>
          <a:ln/>
        </p:spPr>
      </p:sp>
      <p:sp>
        <p:nvSpPr>
          <p:cNvPr id="116" name="Text 114"/>
          <p:cNvSpPr txBox="1"/>
          <p:nvPr/>
        </p:nvSpPr>
        <p:spPr>
          <a:xfrm>
            <a:off x="4336054" y="3835211"/>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4336054" y="3593569"/>
            <a:ext cx="226040" cy="96812"/>
          </a:xfrm>
          <a:prstGeom prst="rect">
            <a:avLst/>
          </a:prstGeom>
          <a:solidFill>
            <a:srgbClr val="7A3B21"/>
          </a:solidFill>
          <a:ln/>
        </p:spPr>
      </p:sp>
      <p:sp>
        <p:nvSpPr>
          <p:cNvPr id="118" name="Text 116"/>
          <p:cNvSpPr txBox="1"/>
          <p:nvPr/>
        </p:nvSpPr>
        <p:spPr>
          <a:xfrm>
            <a:off x="4290334" y="3438121"/>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4594098" y="5312664"/>
            <a:ext cx="22604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4264152"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963942" y="4968301"/>
            <a:ext cx="226040" cy="508955"/>
          </a:xfrm>
          <a:prstGeom prst="rect">
            <a:avLst/>
          </a:prstGeom>
          <a:solidFill>
            <a:srgbClr val="3D8F5F"/>
          </a:solidFill>
          <a:ln/>
        </p:spPr>
      </p:sp>
      <p:sp>
        <p:nvSpPr>
          <p:cNvPr id="122" name="Text 120"/>
          <p:cNvSpPr txBox="1"/>
          <p:nvPr/>
        </p:nvSpPr>
        <p:spPr>
          <a:xfrm>
            <a:off x="4963942" y="515877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963942" y="4279552"/>
            <a:ext cx="226040" cy="688749"/>
          </a:xfrm>
          <a:prstGeom prst="rect">
            <a:avLst/>
          </a:prstGeom>
          <a:solidFill>
            <a:srgbClr val="6FAEBB"/>
          </a:solidFill>
          <a:ln/>
        </p:spPr>
      </p:sp>
      <p:sp>
        <p:nvSpPr>
          <p:cNvPr id="124" name="Text 122"/>
          <p:cNvSpPr txBox="1"/>
          <p:nvPr/>
        </p:nvSpPr>
        <p:spPr>
          <a:xfrm>
            <a:off x="4963942" y="4559918"/>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963942" y="3914432"/>
            <a:ext cx="226040" cy="365120"/>
          </a:xfrm>
          <a:prstGeom prst="rect">
            <a:avLst/>
          </a:prstGeom>
          <a:solidFill>
            <a:srgbClr val="C88A2E"/>
          </a:solidFill>
          <a:ln/>
        </p:spPr>
      </p:sp>
      <p:sp>
        <p:nvSpPr>
          <p:cNvPr id="126" name="Text 124"/>
          <p:cNvSpPr txBox="1"/>
          <p:nvPr/>
        </p:nvSpPr>
        <p:spPr>
          <a:xfrm>
            <a:off x="4963942" y="4032984"/>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963942" y="3886772"/>
            <a:ext cx="226040" cy="27661"/>
          </a:xfrm>
          <a:prstGeom prst="rect">
            <a:avLst/>
          </a:prstGeom>
          <a:solidFill>
            <a:srgbClr val="7A3B21"/>
          </a:solidFill>
          <a:ln/>
        </p:spPr>
      </p:sp>
      <p:sp>
        <p:nvSpPr>
          <p:cNvPr id="128" name="Text 126"/>
          <p:cNvSpPr txBox="1"/>
          <p:nvPr/>
        </p:nvSpPr>
        <p:spPr>
          <a:xfrm>
            <a:off x="4918222" y="3731324"/>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5221986" y="3798258"/>
            <a:ext cx="226040" cy="1678998"/>
          </a:xfrm>
          <a:prstGeom prst="rect">
            <a:avLst/>
          </a:prstGeom>
          <a:solidFill>
            <a:srgbClr val="1C5765"/>
          </a:solidFill>
          <a:ln/>
        </p:spPr>
      </p:sp>
      <p:sp>
        <p:nvSpPr>
          <p:cNvPr id="130" name="Text 128"/>
          <p:cNvSpPr txBox="1"/>
          <p:nvPr/>
        </p:nvSpPr>
        <p:spPr>
          <a:xfrm>
            <a:off x="5176266" y="364281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4892040"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5591830" y="4940640"/>
            <a:ext cx="226040" cy="536616"/>
          </a:xfrm>
          <a:prstGeom prst="rect">
            <a:avLst/>
          </a:prstGeom>
          <a:solidFill>
            <a:srgbClr val="3D8F5F"/>
          </a:solidFill>
          <a:ln/>
        </p:spPr>
      </p:sp>
      <p:sp>
        <p:nvSpPr>
          <p:cNvPr id="133" name="Text 131"/>
          <p:cNvSpPr txBox="1"/>
          <p:nvPr/>
        </p:nvSpPr>
        <p:spPr>
          <a:xfrm>
            <a:off x="5591830" y="5144940"/>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5591830" y="4105290"/>
            <a:ext cx="226040" cy="835350"/>
          </a:xfrm>
          <a:prstGeom prst="rect">
            <a:avLst/>
          </a:prstGeom>
          <a:solidFill>
            <a:srgbClr val="6FAEBB"/>
          </a:solidFill>
          <a:ln/>
        </p:spPr>
      </p:sp>
      <p:sp>
        <p:nvSpPr>
          <p:cNvPr id="135" name="Text 133"/>
          <p:cNvSpPr txBox="1"/>
          <p:nvPr/>
        </p:nvSpPr>
        <p:spPr>
          <a:xfrm>
            <a:off x="5591830" y="4458957"/>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5591830" y="3640592"/>
            <a:ext cx="226040" cy="464698"/>
          </a:xfrm>
          <a:prstGeom prst="rect">
            <a:avLst/>
          </a:prstGeom>
          <a:solidFill>
            <a:srgbClr val="C88A2E"/>
          </a:solidFill>
          <a:ln/>
        </p:spPr>
      </p:sp>
      <p:sp>
        <p:nvSpPr>
          <p:cNvPr id="137" name="Text 135"/>
          <p:cNvSpPr txBox="1"/>
          <p:nvPr/>
        </p:nvSpPr>
        <p:spPr>
          <a:xfrm>
            <a:off x="5591830" y="380893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5591830" y="3610166"/>
            <a:ext cx="226040" cy="30427"/>
          </a:xfrm>
          <a:prstGeom prst="rect">
            <a:avLst/>
          </a:prstGeom>
          <a:solidFill>
            <a:srgbClr val="7A3B21"/>
          </a:solidFill>
          <a:ln/>
        </p:spPr>
      </p:sp>
      <p:sp>
        <p:nvSpPr>
          <p:cNvPr id="139" name="Text 137"/>
          <p:cNvSpPr txBox="1"/>
          <p:nvPr/>
        </p:nvSpPr>
        <p:spPr>
          <a:xfrm>
            <a:off x="5546110" y="345471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5849874" y="4318277"/>
            <a:ext cx="226040" cy="1158979"/>
          </a:xfrm>
          <a:prstGeom prst="rect">
            <a:avLst/>
          </a:prstGeom>
          <a:solidFill>
            <a:srgbClr val="1C5765"/>
          </a:solidFill>
          <a:ln/>
        </p:spPr>
      </p:sp>
      <p:sp>
        <p:nvSpPr>
          <p:cNvPr id="141" name="Text 139"/>
          <p:cNvSpPr txBox="1"/>
          <p:nvPr/>
        </p:nvSpPr>
        <p:spPr>
          <a:xfrm>
            <a:off x="5804154" y="4162829"/>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5519928"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6219718" y="5015324"/>
            <a:ext cx="226040" cy="461932"/>
          </a:xfrm>
          <a:prstGeom prst="rect">
            <a:avLst/>
          </a:prstGeom>
          <a:solidFill>
            <a:srgbClr val="3D8F5F"/>
          </a:solidFill>
          <a:ln/>
        </p:spPr>
      </p:sp>
      <p:sp>
        <p:nvSpPr>
          <p:cNvPr id="144" name="Text 142"/>
          <p:cNvSpPr txBox="1"/>
          <p:nvPr/>
        </p:nvSpPr>
        <p:spPr>
          <a:xfrm>
            <a:off x="6219718" y="5182282"/>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6219718" y="4110822"/>
            <a:ext cx="226040" cy="904502"/>
          </a:xfrm>
          <a:prstGeom prst="rect">
            <a:avLst/>
          </a:prstGeom>
          <a:solidFill>
            <a:srgbClr val="6FAEBB"/>
          </a:solidFill>
          <a:ln/>
        </p:spPr>
      </p:sp>
      <p:sp>
        <p:nvSpPr>
          <p:cNvPr id="146" name="Text 144"/>
          <p:cNvSpPr txBox="1"/>
          <p:nvPr/>
        </p:nvSpPr>
        <p:spPr>
          <a:xfrm>
            <a:off x="6219718" y="4499065"/>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6219718" y="3579739"/>
            <a:ext cx="226040" cy="531084"/>
          </a:xfrm>
          <a:prstGeom prst="rect">
            <a:avLst/>
          </a:prstGeom>
          <a:solidFill>
            <a:srgbClr val="C88A2E"/>
          </a:solidFill>
          <a:ln/>
        </p:spPr>
      </p:sp>
      <p:sp>
        <p:nvSpPr>
          <p:cNvPr id="148" name="Text 146"/>
          <p:cNvSpPr txBox="1"/>
          <p:nvPr/>
        </p:nvSpPr>
        <p:spPr>
          <a:xfrm>
            <a:off x="6219718" y="3781273"/>
            <a:ext cx="22604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6219718" y="3546546"/>
            <a:ext cx="226040" cy="33193"/>
          </a:xfrm>
          <a:prstGeom prst="rect">
            <a:avLst/>
          </a:prstGeom>
          <a:solidFill>
            <a:srgbClr val="7A3B21"/>
          </a:solidFill>
          <a:ln/>
        </p:spPr>
      </p:sp>
      <p:sp>
        <p:nvSpPr>
          <p:cNvPr id="150" name="Text 148"/>
          <p:cNvSpPr txBox="1"/>
          <p:nvPr/>
        </p:nvSpPr>
        <p:spPr>
          <a:xfrm>
            <a:off x="6173998" y="3391098"/>
            <a:ext cx="31748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6477762" y="4282318"/>
            <a:ext cx="226040" cy="1194938"/>
          </a:xfrm>
          <a:prstGeom prst="rect">
            <a:avLst/>
          </a:prstGeom>
          <a:solidFill>
            <a:srgbClr val="1C5765"/>
          </a:solidFill>
          <a:ln/>
        </p:spPr>
      </p:sp>
      <p:sp>
        <p:nvSpPr>
          <p:cNvPr id="152" name="Text 150"/>
          <p:cNvSpPr txBox="1"/>
          <p:nvPr/>
        </p:nvSpPr>
        <p:spPr>
          <a:xfrm>
            <a:off x="6432042" y="4126870"/>
            <a:ext cx="31748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6147816" y="5513832"/>
            <a:ext cx="627888"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923544" y="5477256"/>
            <a:ext cx="5852160" cy="10973"/>
          </a:xfrm>
          <a:prstGeom prst="rect">
            <a:avLst/>
          </a:prstGeom>
          <a:solidFill>
            <a:srgbClr val="12293A"/>
          </a:solidFill>
          <a:ln/>
        </p:spPr>
      </p:sp>
      <p:sp>
        <p:nvSpPr>
          <p:cNvPr id="155" name="Shape 153"/>
          <p:cNvSpPr/>
          <p:nvPr/>
        </p:nvSpPr>
        <p:spPr>
          <a:xfrm>
            <a:off x="4180942" y="3209544"/>
            <a:ext cx="20117" cy="2267712"/>
          </a:xfrm>
          <a:prstGeom prst="rect">
            <a:avLst/>
          </a:prstGeom>
          <a:solidFill>
            <a:srgbClr val="B4552D"/>
          </a:solidFill>
          <a:ln/>
        </p:spPr>
      </p:sp>
      <p:sp>
        <p:nvSpPr>
          <p:cNvPr id="156" name="Shape 154"/>
          <p:cNvSpPr/>
          <p:nvPr/>
        </p:nvSpPr>
        <p:spPr>
          <a:xfrm>
            <a:off x="3723742" y="3017520"/>
            <a:ext cx="960120" cy="201168"/>
          </a:xfrm>
          <a:prstGeom prst="roundRect">
            <a:avLst>
              <a:gd name="adj" fmla="val 50000"/>
            </a:avLst>
          </a:prstGeom>
          <a:solidFill>
            <a:srgbClr val="B4552D"/>
          </a:solidFill>
          <a:ln/>
        </p:spPr>
      </p:sp>
      <p:sp>
        <p:nvSpPr>
          <p:cNvPr id="157" name="Text 155"/>
          <p:cNvSpPr txBox="1"/>
          <p:nvPr/>
        </p:nvSpPr>
        <p:spPr>
          <a:xfrm>
            <a:off x="3723742"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58" name="Text 156"/>
          <p:cNvSpPr txBox="1"/>
          <p:nvPr/>
        </p:nvSpPr>
        <p:spPr>
          <a:xfrm>
            <a:off x="978408" y="5687568"/>
            <a:ext cx="313944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59" name="Text 157"/>
          <p:cNvSpPr txBox="1"/>
          <p:nvPr/>
        </p:nvSpPr>
        <p:spPr>
          <a:xfrm>
            <a:off x="4264152" y="5687568"/>
            <a:ext cx="2511552"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60" name="Text 158"/>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the 7 Sep migration week is omitted because its 1,249 closes are cleanup, not throughput.</a:t>
            </a:r>
            <a:endParaRPr lang="en-US" sz="620" dirty="0"/>
          </a:p>
        </p:txBody>
      </p:sp>
      <p:sp>
        <p:nvSpPr>
          <p:cNvPr id="161" name="Shape 159"/>
          <p:cNvSpPr/>
          <p:nvPr/>
        </p:nvSpPr>
        <p:spPr>
          <a:xfrm>
            <a:off x="7178040" y="2395728"/>
            <a:ext cx="4599432"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162" name="Text 160"/>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3" name="Text 161"/>
          <p:cNvSpPr txBox="1"/>
          <p:nvPr/>
        </p:nvSpPr>
        <p:spPr>
          <a:xfrm>
            <a:off x="7379208" y="2816352"/>
            <a:ext cx="4187952" cy="3364992"/>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Closed has run behind inflow for three straight weeks.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460 in against 432 resolved, so open rose 675 → 698. The closed bar has sat below the open stack every week since the migration cleanup, and the gap is what the backlog is made of.</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31–90 days is where it is building.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That band went 168 → 192 in the week, so 204 cases are now past 30 days against 142 three weeks ago. The 327 sitting at 8–30 days is what feeds it next.</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90+ tail is the one clear win.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12 against the 73 carried at the start of August — the oldest work is being cleared even as the middle ages.</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64" name="Shape 162"/>
          <p:cNvSpPr/>
          <p:nvPr/>
        </p:nvSpPr>
        <p:spPr>
          <a:xfrm>
            <a:off x="8642909" y="6510528"/>
            <a:ext cx="3134563" cy="256032"/>
          </a:xfrm>
          <a:prstGeom prst="roundRect">
            <a:avLst>
              <a:gd name="adj" fmla="val 46429"/>
            </a:avLst>
          </a:prstGeom>
          <a:solidFill>
            <a:srgbClr val="12293A"/>
          </a:solidFill>
          <a:ln/>
        </p:spPr>
      </p:sp>
      <p:sp>
        <p:nvSpPr>
          <p:cNvPr id="165" name="Text 163"/>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7399325" y="6510528"/>
            <a:ext cx="4378147" cy="256032"/>
          </a:xfrm>
          <a:prstGeom prst="roundRect">
            <a:avLst>
              <a:gd name="adj" fmla="val 46429"/>
            </a:avLst>
          </a:prstGeom>
          <a:solidFill>
            <a:srgbClr val="12293A"/>
          </a:solidFill>
          <a:ln/>
        </p:spPr>
      </p:sp>
      <p:sp>
        <p:nvSpPr>
          <p:cNvPr id="286" name="Text 284"/>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7399325" y="6510528"/>
            <a:ext cx="4378147" cy="256032"/>
          </a:xfrm>
          <a:prstGeom prst="roundRect">
            <a:avLst>
              <a:gd name="adj" fmla="val 46429"/>
            </a:avLst>
          </a:prstGeom>
          <a:solidFill>
            <a:srgbClr val="12293A"/>
          </a:solidFill>
          <a:ln/>
        </p:spPr>
      </p:sp>
      <p:sp>
        <p:nvSpPr>
          <p:cNvPr id="91" name="Text 89"/>
          <p:cNvSpPr txBox="1"/>
          <p:nvPr/>
        </p:nvSpPr>
        <p:spPr>
          <a:xfrm>
            <a:off x="7399325" y="6510528"/>
            <a:ext cx="4378147"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39 of 46</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19 daily · 42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50,453 ▲</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1–6 Oct · October month-to-date;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592531"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18%</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1086307"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954634"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29%</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362102" cy="91440"/>
          </a:xfrm>
          <a:prstGeom prst="roundRect">
            <a:avLst>
              <a:gd name="adj" fmla="val 4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11%</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50876"/>
          </a:xfrm>
          <a:prstGeom prst="rect">
            <a:avLst/>
          </a:prstGeom>
          <a:solidFill>
            <a:srgbClr val="D4E9ED"/>
          </a:solidFill>
          <a:ln/>
        </p:spPr>
      </p:sp>
      <p:sp>
        <p:nvSpPr>
          <p:cNvPr id="48" name="Text 46"/>
          <p:cNvSpPr txBox="1"/>
          <p:nvPr/>
        </p:nvSpPr>
        <p:spPr>
          <a:xfrm>
            <a:off x="2057400"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50876"/>
          </a:xfrm>
          <a:prstGeom prst="rect">
            <a:avLst/>
          </a:prstGeom>
          <a:solidFill>
            <a:srgbClr val="D4E9ED"/>
          </a:solidFill>
          <a:ln/>
        </p:spPr>
      </p:sp>
      <p:sp>
        <p:nvSpPr>
          <p:cNvPr id="50" name="Text 48"/>
          <p:cNvSpPr txBox="1"/>
          <p:nvPr/>
        </p:nvSpPr>
        <p:spPr>
          <a:xfrm>
            <a:off x="3136392"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50876"/>
          </a:xfrm>
          <a:prstGeom prst="rect">
            <a:avLst/>
          </a:prstGeom>
          <a:solidFill>
            <a:srgbClr val="EDF5F7"/>
          </a:solidFill>
          <a:ln/>
        </p:spPr>
      </p:sp>
      <p:sp>
        <p:nvSpPr>
          <p:cNvPr id="52" name="Text 50"/>
          <p:cNvSpPr txBox="1"/>
          <p:nvPr/>
        </p:nvSpPr>
        <p:spPr>
          <a:xfrm>
            <a:off x="4215384" y="281635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9008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97403"/>
            <a:ext cx="996696" cy="150876"/>
          </a:xfrm>
          <a:prstGeom prst="rect">
            <a:avLst/>
          </a:prstGeom>
          <a:solidFill>
            <a:srgbClr val="EDF5F7"/>
          </a:solidFill>
          <a:ln/>
        </p:spPr>
      </p:sp>
      <p:sp>
        <p:nvSpPr>
          <p:cNvPr id="57" name="Text 55"/>
          <p:cNvSpPr txBox="1"/>
          <p:nvPr/>
        </p:nvSpPr>
        <p:spPr>
          <a:xfrm>
            <a:off x="2057400"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97403"/>
            <a:ext cx="996696" cy="150876"/>
          </a:xfrm>
          <a:prstGeom prst="rect">
            <a:avLst/>
          </a:prstGeom>
          <a:solidFill>
            <a:srgbClr val="D4E9ED"/>
          </a:solidFill>
          <a:ln/>
        </p:spPr>
      </p:sp>
      <p:sp>
        <p:nvSpPr>
          <p:cNvPr id="59" name="Text 57"/>
          <p:cNvSpPr txBox="1"/>
          <p:nvPr/>
        </p:nvSpPr>
        <p:spPr>
          <a:xfrm>
            <a:off x="3136392"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97403"/>
            <a:ext cx="996696" cy="150876"/>
          </a:xfrm>
          <a:prstGeom prst="rect">
            <a:avLst/>
          </a:prstGeom>
          <a:solidFill>
            <a:srgbClr val="8FC3CC"/>
          </a:solidFill>
          <a:ln/>
        </p:spPr>
      </p:sp>
      <p:sp>
        <p:nvSpPr>
          <p:cNvPr id="61" name="Text 59"/>
          <p:cNvSpPr txBox="1"/>
          <p:nvPr/>
        </p:nvSpPr>
        <p:spPr>
          <a:xfrm>
            <a:off x="4215384"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97403"/>
            <a:ext cx="996696" cy="150876"/>
          </a:xfrm>
          <a:prstGeom prst="rect">
            <a:avLst/>
          </a:prstGeom>
          <a:solidFill>
            <a:srgbClr val="D4E9ED"/>
          </a:solidFill>
          <a:ln/>
        </p:spPr>
      </p:sp>
      <p:sp>
        <p:nvSpPr>
          <p:cNvPr id="63" name="Text 61"/>
          <p:cNvSpPr txBox="1"/>
          <p:nvPr/>
        </p:nvSpPr>
        <p:spPr>
          <a:xfrm>
            <a:off x="5294376" y="299008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39,709</a:t>
            </a:r>
            <a:endParaRPr lang="en-US" sz="680" dirty="0"/>
          </a:p>
        </p:txBody>
      </p:sp>
      <p:sp>
        <p:nvSpPr>
          <p:cNvPr id="64" name="Text 62"/>
          <p:cNvSpPr txBox="1"/>
          <p:nvPr/>
        </p:nvSpPr>
        <p:spPr>
          <a:xfrm>
            <a:off x="6400800" y="299008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193,378</a:t>
            </a:r>
            <a:endParaRPr lang="en-US" sz="700" dirty="0"/>
          </a:p>
        </p:txBody>
      </p:sp>
      <p:sp>
        <p:nvSpPr>
          <p:cNvPr id="65" name="Text 63"/>
          <p:cNvSpPr txBox="1"/>
          <p:nvPr/>
        </p:nvSpPr>
        <p:spPr>
          <a:xfrm>
            <a:off x="594360" y="316382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66" name="Shape 64"/>
          <p:cNvSpPr/>
          <p:nvPr/>
        </p:nvSpPr>
        <p:spPr>
          <a:xfrm>
            <a:off x="2084832" y="3171139"/>
            <a:ext cx="996696" cy="150876"/>
          </a:xfrm>
          <a:prstGeom prst="rect">
            <a:avLst/>
          </a:prstGeom>
          <a:solidFill>
            <a:srgbClr val="D4E9ED"/>
          </a:solidFill>
          <a:ln/>
        </p:spPr>
      </p:sp>
      <p:sp>
        <p:nvSpPr>
          <p:cNvPr id="67" name="Text 65"/>
          <p:cNvSpPr txBox="1"/>
          <p:nvPr/>
        </p:nvSpPr>
        <p:spPr>
          <a:xfrm>
            <a:off x="2057400"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68" name="Shape 66"/>
          <p:cNvSpPr/>
          <p:nvPr/>
        </p:nvSpPr>
        <p:spPr>
          <a:xfrm>
            <a:off x="3163824" y="3171139"/>
            <a:ext cx="996696" cy="150876"/>
          </a:xfrm>
          <a:prstGeom prst="rect">
            <a:avLst/>
          </a:prstGeom>
          <a:solidFill>
            <a:srgbClr val="D4E9ED"/>
          </a:solidFill>
          <a:ln/>
        </p:spPr>
      </p:sp>
      <p:sp>
        <p:nvSpPr>
          <p:cNvPr id="69" name="Text 67"/>
          <p:cNvSpPr txBox="1"/>
          <p:nvPr/>
        </p:nvSpPr>
        <p:spPr>
          <a:xfrm>
            <a:off x="3136392"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0" name="Shape 68"/>
          <p:cNvSpPr/>
          <p:nvPr/>
        </p:nvSpPr>
        <p:spPr>
          <a:xfrm>
            <a:off x="4242816" y="3171139"/>
            <a:ext cx="996696" cy="150876"/>
          </a:xfrm>
          <a:prstGeom prst="rect">
            <a:avLst/>
          </a:prstGeom>
          <a:solidFill>
            <a:srgbClr val="EDF5F7"/>
          </a:solidFill>
          <a:ln/>
        </p:spPr>
      </p:sp>
      <p:sp>
        <p:nvSpPr>
          <p:cNvPr id="71" name="Text 69"/>
          <p:cNvSpPr txBox="1"/>
          <p:nvPr/>
        </p:nvSpPr>
        <p:spPr>
          <a:xfrm>
            <a:off x="4215384" y="316382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2" name="Text 70"/>
          <p:cNvSpPr txBox="1"/>
          <p:nvPr/>
        </p:nvSpPr>
        <p:spPr>
          <a:xfrm>
            <a:off x="5294376" y="3163824"/>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73" name="Text 71"/>
          <p:cNvSpPr txBox="1"/>
          <p:nvPr/>
        </p:nvSpPr>
        <p:spPr>
          <a:xfrm>
            <a:off x="6400800" y="316382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74" name="Text 72"/>
          <p:cNvSpPr txBox="1"/>
          <p:nvPr/>
        </p:nvSpPr>
        <p:spPr>
          <a:xfrm>
            <a:off x="594360" y="333756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75" name="Shape 73"/>
          <p:cNvSpPr/>
          <p:nvPr/>
        </p:nvSpPr>
        <p:spPr>
          <a:xfrm>
            <a:off x="2084832" y="3344875"/>
            <a:ext cx="996696" cy="150876"/>
          </a:xfrm>
          <a:prstGeom prst="rect">
            <a:avLst/>
          </a:prstGeom>
          <a:solidFill>
            <a:srgbClr val="EDF5F7"/>
          </a:solidFill>
          <a:ln/>
        </p:spPr>
      </p:sp>
      <p:sp>
        <p:nvSpPr>
          <p:cNvPr id="76" name="Text 74"/>
          <p:cNvSpPr txBox="1"/>
          <p:nvPr/>
        </p:nvSpPr>
        <p:spPr>
          <a:xfrm>
            <a:off x="2057400"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77" name="Shape 75"/>
          <p:cNvSpPr/>
          <p:nvPr/>
        </p:nvSpPr>
        <p:spPr>
          <a:xfrm>
            <a:off x="3163824" y="3344875"/>
            <a:ext cx="996696" cy="150876"/>
          </a:xfrm>
          <a:prstGeom prst="rect">
            <a:avLst/>
          </a:prstGeom>
          <a:solidFill>
            <a:srgbClr val="D4E9ED"/>
          </a:solidFill>
          <a:ln/>
        </p:spPr>
      </p:sp>
      <p:sp>
        <p:nvSpPr>
          <p:cNvPr id="78" name="Text 76"/>
          <p:cNvSpPr txBox="1"/>
          <p:nvPr/>
        </p:nvSpPr>
        <p:spPr>
          <a:xfrm>
            <a:off x="3136392"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79" name="Shape 77"/>
          <p:cNvSpPr/>
          <p:nvPr/>
        </p:nvSpPr>
        <p:spPr>
          <a:xfrm>
            <a:off x="4242816" y="3344875"/>
            <a:ext cx="996696" cy="150876"/>
          </a:xfrm>
          <a:prstGeom prst="rect">
            <a:avLst/>
          </a:prstGeom>
          <a:solidFill>
            <a:srgbClr val="D4E9ED"/>
          </a:solidFill>
          <a:ln/>
        </p:spPr>
      </p:sp>
      <p:sp>
        <p:nvSpPr>
          <p:cNvPr id="80" name="Text 78"/>
          <p:cNvSpPr txBox="1"/>
          <p:nvPr/>
        </p:nvSpPr>
        <p:spPr>
          <a:xfrm>
            <a:off x="4215384"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1" name="Shape 79"/>
          <p:cNvSpPr/>
          <p:nvPr/>
        </p:nvSpPr>
        <p:spPr>
          <a:xfrm>
            <a:off x="5321808" y="3344875"/>
            <a:ext cx="996696" cy="150876"/>
          </a:xfrm>
          <a:prstGeom prst="rect">
            <a:avLst/>
          </a:prstGeom>
          <a:solidFill>
            <a:srgbClr val="EDF5F7"/>
          </a:solidFill>
          <a:ln/>
        </p:spPr>
      </p:sp>
      <p:sp>
        <p:nvSpPr>
          <p:cNvPr id="82" name="Text 80"/>
          <p:cNvSpPr txBox="1"/>
          <p:nvPr/>
        </p:nvSpPr>
        <p:spPr>
          <a:xfrm>
            <a:off x="5294376" y="333756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210</a:t>
            </a:r>
            <a:endParaRPr lang="en-US" sz="680" dirty="0"/>
          </a:p>
        </p:txBody>
      </p:sp>
      <p:sp>
        <p:nvSpPr>
          <p:cNvPr id="83" name="Text 81"/>
          <p:cNvSpPr txBox="1"/>
          <p:nvPr/>
        </p:nvSpPr>
        <p:spPr>
          <a:xfrm>
            <a:off x="6400800" y="333756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67,221</a:t>
            </a:r>
            <a:endParaRPr lang="en-US" sz="700" dirty="0"/>
          </a:p>
        </p:txBody>
      </p:sp>
      <p:sp>
        <p:nvSpPr>
          <p:cNvPr id="84" name="Text 82"/>
          <p:cNvSpPr txBox="1"/>
          <p:nvPr/>
        </p:nvSpPr>
        <p:spPr>
          <a:xfrm>
            <a:off x="594360" y="351129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85" name="Shape 83"/>
          <p:cNvSpPr/>
          <p:nvPr/>
        </p:nvSpPr>
        <p:spPr>
          <a:xfrm>
            <a:off x="2084832" y="3518611"/>
            <a:ext cx="996696" cy="150876"/>
          </a:xfrm>
          <a:prstGeom prst="rect">
            <a:avLst/>
          </a:prstGeom>
          <a:solidFill>
            <a:srgbClr val="D4E9ED"/>
          </a:solidFill>
          <a:ln/>
        </p:spPr>
      </p:sp>
      <p:sp>
        <p:nvSpPr>
          <p:cNvPr id="86" name="Text 84"/>
          <p:cNvSpPr txBox="1"/>
          <p:nvPr/>
        </p:nvSpPr>
        <p:spPr>
          <a:xfrm>
            <a:off x="2057400"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87" name="Shape 85"/>
          <p:cNvSpPr/>
          <p:nvPr/>
        </p:nvSpPr>
        <p:spPr>
          <a:xfrm>
            <a:off x="3163824" y="3518611"/>
            <a:ext cx="996696" cy="150876"/>
          </a:xfrm>
          <a:prstGeom prst="rect">
            <a:avLst/>
          </a:prstGeom>
          <a:solidFill>
            <a:srgbClr val="EDF5F7"/>
          </a:solidFill>
          <a:ln/>
        </p:spPr>
      </p:sp>
      <p:sp>
        <p:nvSpPr>
          <p:cNvPr id="88" name="Text 86"/>
          <p:cNvSpPr txBox="1"/>
          <p:nvPr/>
        </p:nvSpPr>
        <p:spPr>
          <a:xfrm>
            <a:off x="3136392"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89" name="Shape 87"/>
          <p:cNvSpPr/>
          <p:nvPr/>
        </p:nvSpPr>
        <p:spPr>
          <a:xfrm>
            <a:off x="4242816" y="3518611"/>
            <a:ext cx="996696" cy="150876"/>
          </a:xfrm>
          <a:prstGeom prst="rect">
            <a:avLst/>
          </a:prstGeom>
          <a:solidFill>
            <a:srgbClr val="D4E9ED"/>
          </a:solidFill>
          <a:ln/>
        </p:spPr>
      </p:sp>
      <p:sp>
        <p:nvSpPr>
          <p:cNvPr id="90" name="Text 88"/>
          <p:cNvSpPr txBox="1"/>
          <p:nvPr/>
        </p:nvSpPr>
        <p:spPr>
          <a:xfrm>
            <a:off x="4215384"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1" name="Shape 89"/>
          <p:cNvSpPr/>
          <p:nvPr/>
        </p:nvSpPr>
        <p:spPr>
          <a:xfrm>
            <a:off x="5321808" y="3518611"/>
            <a:ext cx="996696" cy="150876"/>
          </a:xfrm>
          <a:prstGeom prst="rect">
            <a:avLst/>
          </a:prstGeom>
          <a:solidFill>
            <a:srgbClr val="EDF5F7"/>
          </a:solidFill>
          <a:ln/>
        </p:spPr>
      </p:sp>
      <p:sp>
        <p:nvSpPr>
          <p:cNvPr id="92" name="Text 90"/>
          <p:cNvSpPr txBox="1"/>
          <p:nvPr/>
        </p:nvSpPr>
        <p:spPr>
          <a:xfrm>
            <a:off x="5294376" y="351129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3,067</a:t>
            </a:r>
            <a:endParaRPr lang="en-US" sz="680" dirty="0"/>
          </a:p>
        </p:txBody>
      </p:sp>
      <p:sp>
        <p:nvSpPr>
          <p:cNvPr id="93" name="Text 91"/>
          <p:cNvSpPr txBox="1"/>
          <p:nvPr/>
        </p:nvSpPr>
        <p:spPr>
          <a:xfrm>
            <a:off x="6400800" y="351129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71,071</a:t>
            </a:r>
            <a:endParaRPr lang="en-US" sz="700" dirty="0"/>
          </a:p>
        </p:txBody>
      </p:sp>
      <p:sp>
        <p:nvSpPr>
          <p:cNvPr id="94" name="Text 92"/>
          <p:cNvSpPr txBox="1"/>
          <p:nvPr/>
        </p:nvSpPr>
        <p:spPr>
          <a:xfrm>
            <a:off x="594360" y="3685032"/>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95" name="Shape 93"/>
          <p:cNvSpPr/>
          <p:nvPr/>
        </p:nvSpPr>
        <p:spPr>
          <a:xfrm>
            <a:off x="2084832" y="3692347"/>
            <a:ext cx="996696" cy="150876"/>
          </a:xfrm>
          <a:prstGeom prst="rect">
            <a:avLst/>
          </a:prstGeom>
          <a:solidFill>
            <a:srgbClr val="EDF5F7"/>
          </a:solidFill>
          <a:ln/>
        </p:spPr>
      </p:sp>
      <p:sp>
        <p:nvSpPr>
          <p:cNvPr id="96" name="Text 94"/>
          <p:cNvSpPr txBox="1"/>
          <p:nvPr/>
        </p:nvSpPr>
        <p:spPr>
          <a:xfrm>
            <a:off x="2057400"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97" name="Shape 95"/>
          <p:cNvSpPr/>
          <p:nvPr/>
        </p:nvSpPr>
        <p:spPr>
          <a:xfrm>
            <a:off x="3163824" y="3692347"/>
            <a:ext cx="996696" cy="150876"/>
          </a:xfrm>
          <a:prstGeom prst="rect">
            <a:avLst/>
          </a:prstGeom>
          <a:solidFill>
            <a:srgbClr val="EDF5F7"/>
          </a:solidFill>
          <a:ln/>
        </p:spPr>
      </p:sp>
      <p:sp>
        <p:nvSpPr>
          <p:cNvPr id="98" name="Text 96"/>
          <p:cNvSpPr txBox="1"/>
          <p:nvPr/>
        </p:nvSpPr>
        <p:spPr>
          <a:xfrm>
            <a:off x="3136392"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99" name="Shape 97"/>
          <p:cNvSpPr/>
          <p:nvPr/>
        </p:nvSpPr>
        <p:spPr>
          <a:xfrm>
            <a:off x="4242816" y="3692347"/>
            <a:ext cx="996696" cy="150876"/>
          </a:xfrm>
          <a:prstGeom prst="rect">
            <a:avLst/>
          </a:prstGeom>
          <a:solidFill>
            <a:srgbClr val="EDF5F7"/>
          </a:solidFill>
          <a:ln/>
        </p:spPr>
      </p:sp>
      <p:sp>
        <p:nvSpPr>
          <p:cNvPr id="100" name="Text 98"/>
          <p:cNvSpPr txBox="1"/>
          <p:nvPr/>
        </p:nvSpPr>
        <p:spPr>
          <a:xfrm>
            <a:off x="4215384"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1" name="Shape 99"/>
          <p:cNvSpPr/>
          <p:nvPr/>
        </p:nvSpPr>
        <p:spPr>
          <a:xfrm>
            <a:off x="5321808" y="3692347"/>
            <a:ext cx="996696" cy="150876"/>
          </a:xfrm>
          <a:prstGeom prst="rect">
            <a:avLst/>
          </a:prstGeom>
          <a:solidFill>
            <a:srgbClr val="EDF5F7"/>
          </a:solidFill>
          <a:ln/>
        </p:spPr>
      </p:sp>
      <p:sp>
        <p:nvSpPr>
          <p:cNvPr id="102" name="Text 100"/>
          <p:cNvSpPr txBox="1"/>
          <p:nvPr/>
        </p:nvSpPr>
        <p:spPr>
          <a:xfrm>
            <a:off x="5294376" y="3685032"/>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568</a:t>
            </a:r>
            <a:endParaRPr lang="en-US" sz="680" dirty="0"/>
          </a:p>
        </p:txBody>
      </p:sp>
      <p:sp>
        <p:nvSpPr>
          <p:cNvPr id="103" name="Text 101"/>
          <p:cNvSpPr txBox="1"/>
          <p:nvPr/>
        </p:nvSpPr>
        <p:spPr>
          <a:xfrm>
            <a:off x="6400800" y="3685032"/>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50,475</a:t>
            </a:r>
            <a:endParaRPr lang="en-US" sz="700" dirty="0"/>
          </a:p>
        </p:txBody>
      </p:sp>
      <p:sp>
        <p:nvSpPr>
          <p:cNvPr id="104" name="Text 102"/>
          <p:cNvSpPr txBox="1"/>
          <p:nvPr/>
        </p:nvSpPr>
        <p:spPr>
          <a:xfrm>
            <a:off x="594360" y="3858768"/>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05" name="Text 103"/>
          <p:cNvSpPr txBox="1"/>
          <p:nvPr/>
        </p:nvSpPr>
        <p:spPr>
          <a:xfrm>
            <a:off x="2057400" y="3858768"/>
            <a:ext cx="1051560" cy="164592"/>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06" name="Shape 104"/>
          <p:cNvSpPr/>
          <p:nvPr/>
        </p:nvSpPr>
        <p:spPr>
          <a:xfrm>
            <a:off x="3163824" y="3866083"/>
            <a:ext cx="996696" cy="150876"/>
          </a:xfrm>
          <a:prstGeom prst="rect">
            <a:avLst/>
          </a:prstGeom>
          <a:solidFill>
            <a:srgbClr val="D4E9ED"/>
          </a:solidFill>
          <a:ln/>
        </p:spPr>
      </p:sp>
      <p:sp>
        <p:nvSpPr>
          <p:cNvPr id="107" name="Text 105"/>
          <p:cNvSpPr txBox="1"/>
          <p:nvPr/>
        </p:nvSpPr>
        <p:spPr>
          <a:xfrm>
            <a:off x="3136392"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08" name="Shape 106"/>
          <p:cNvSpPr/>
          <p:nvPr/>
        </p:nvSpPr>
        <p:spPr>
          <a:xfrm>
            <a:off x="4242816" y="3866083"/>
            <a:ext cx="996696" cy="150876"/>
          </a:xfrm>
          <a:prstGeom prst="rect">
            <a:avLst/>
          </a:prstGeom>
          <a:solidFill>
            <a:srgbClr val="D4E9ED"/>
          </a:solidFill>
          <a:ln/>
        </p:spPr>
      </p:sp>
      <p:sp>
        <p:nvSpPr>
          <p:cNvPr id="109" name="Text 107"/>
          <p:cNvSpPr txBox="1"/>
          <p:nvPr/>
        </p:nvSpPr>
        <p:spPr>
          <a:xfrm>
            <a:off x="4215384"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0" name="Shape 108"/>
          <p:cNvSpPr/>
          <p:nvPr/>
        </p:nvSpPr>
        <p:spPr>
          <a:xfrm>
            <a:off x="5321808" y="3866083"/>
            <a:ext cx="996696" cy="150876"/>
          </a:xfrm>
          <a:prstGeom prst="rect">
            <a:avLst/>
          </a:prstGeom>
          <a:solidFill>
            <a:srgbClr val="EDF5F7"/>
          </a:solidFill>
          <a:ln/>
        </p:spPr>
      </p:sp>
      <p:sp>
        <p:nvSpPr>
          <p:cNvPr id="111" name="Text 109"/>
          <p:cNvSpPr txBox="1"/>
          <p:nvPr/>
        </p:nvSpPr>
        <p:spPr>
          <a:xfrm>
            <a:off x="5294376" y="3858768"/>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1,642</a:t>
            </a:r>
            <a:endParaRPr lang="en-US" sz="680" dirty="0"/>
          </a:p>
        </p:txBody>
      </p:sp>
      <p:sp>
        <p:nvSpPr>
          <p:cNvPr id="112" name="Text 110"/>
          <p:cNvSpPr txBox="1"/>
          <p:nvPr/>
        </p:nvSpPr>
        <p:spPr>
          <a:xfrm>
            <a:off x="6400800" y="3858768"/>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67,787</a:t>
            </a:r>
            <a:endParaRPr lang="en-US" sz="700" dirty="0"/>
          </a:p>
        </p:txBody>
      </p:sp>
      <p:sp>
        <p:nvSpPr>
          <p:cNvPr id="113" name="Text 111"/>
          <p:cNvSpPr txBox="1"/>
          <p:nvPr/>
        </p:nvSpPr>
        <p:spPr>
          <a:xfrm>
            <a:off x="594360" y="4032504"/>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14" name="Shape 112"/>
          <p:cNvSpPr/>
          <p:nvPr/>
        </p:nvSpPr>
        <p:spPr>
          <a:xfrm>
            <a:off x="2084832" y="4039819"/>
            <a:ext cx="996696" cy="150876"/>
          </a:xfrm>
          <a:prstGeom prst="rect">
            <a:avLst/>
          </a:prstGeom>
          <a:solidFill>
            <a:srgbClr val="EDF5F7"/>
          </a:solidFill>
          <a:ln/>
        </p:spPr>
      </p:sp>
      <p:sp>
        <p:nvSpPr>
          <p:cNvPr id="115" name="Text 113"/>
          <p:cNvSpPr txBox="1"/>
          <p:nvPr/>
        </p:nvSpPr>
        <p:spPr>
          <a:xfrm>
            <a:off x="2057400"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16" name="Shape 114"/>
          <p:cNvSpPr/>
          <p:nvPr/>
        </p:nvSpPr>
        <p:spPr>
          <a:xfrm>
            <a:off x="3163824" y="4039819"/>
            <a:ext cx="996696" cy="150876"/>
          </a:xfrm>
          <a:prstGeom prst="rect">
            <a:avLst/>
          </a:prstGeom>
          <a:solidFill>
            <a:srgbClr val="D4E9ED"/>
          </a:solidFill>
          <a:ln/>
        </p:spPr>
      </p:sp>
      <p:sp>
        <p:nvSpPr>
          <p:cNvPr id="117" name="Text 115"/>
          <p:cNvSpPr txBox="1"/>
          <p:nvPr/>
        </p:nvSpPr>
        <p:spPr>
          <a:xfrm>
            <a:off x="3136392"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18" name="Shape 116"/>
          <p:cNvSpPr/>
          <p:nvPr/>
        </p:nvSpPr>
        <p:spPr>
          <a:xfrm>
            <a:off x="4242816" y="4039819"/>
            <a:ext cx="996696" cy="150876"/>
          </a:xfrm>
          <a:prstGeom prst="rect">
            <a:avLst/>
          </a:prstGeom>
          <a:solidFill>
            <a:srgbClr val="EDF5F7"/>
          </a:solidFill>
          <a:ln/>
        </p:spPr>
      </p:sp>
      <p:sp>
        <p:nvSpPr>
          <p:cNvPr id="119" name="Text 117"/>
          <p:cNvSpPr txBox="1"/>
          <p:nvPr/>
        </p:nvSpPr>
        <p:spPr>
          <a:xfrm>
            <a:off x="4215384"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0" name="Shape 118"/>
          <p:cNvSpPr/>
          <p:nvPr/>
        </p:nvSpPr>
        <p:spPr>
          <a:xfrm>
            <a:off x="5321808" y="4039819"/>
            <a:ext cx="996696" cy="150876"/>
          </a:xfrm>
          <a:prstGeom prst="rect">
            <a:avLst/>
          </a:prstGeom>
          <a:solidFill>
            <a:srgbClr val="EDF5F7"/>
          </a:solidFill>
          <a:ln/>
        </p:spPr>
      </p:sp>
      <p:sp>
        <p:nvSpPr>
          <p:cNvPr id="121" name="Text 119"/>
          <p:cNvSpPr txBox="1"/>
          <p:nvPr/>
        </p:nvSpPr>
        <p:spPr>
          <a:xfrm>
            <a:off x="5294376" y="4032504"/>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1,015</a:t>
            </a:r>
            <a:endParaRPr lang="en-US" sz="680" dirty="0"/>
          </a:p>
        </p:txBody>
      </p:sp>
      <p:sp>
        <p:nvSpPr>
          <p:cNvPr id="122" name="Text 120"/>
          <p:cNvSpPr txBox="1"/>
          <p:nvPr/>
        </p:nvSpPr>
        <p:spPr>
          <a:xfrm>
            <a:off x="6400800" y="4032504"/>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35,185</a:t>
            </a:r>
            <a:endParaRPr lang="en-US" sz="700" dirty="0"/>
          </a:p>
        </p:txBody>
      </p:sp>
      <p:sp>
        <p:nvSpPr>
          <p:cNvPr id="123" name="Text 121"/>
          <p:cNvSpPr txBox="1"/>
          <p:nvPr/>
        </p:nvSpPr>
        <p:spPr>
          <a:xfrm>
            <a:off x="594360" y="4206240"/>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24" name="Shape 122"/>
          <p:cNvSpPr/>
          <p:nvPr/>
        </p:nvSpPr>
        <p:spPr>
          <a:xfrm>
            <a:off x="2084832" y="4213555"/>
            <a:ext cx="996696" cy="150876"/>
          </a:xfrm>
          <a:prstGeom prst="rect">
            <a:avLst/>
          </a:prstGeom>
          <a:solidFill>
            <a:srgbClr val="EDF5F7"/>
          </a:solidFill>
          <a:ln/>
        </p:spPr>
      </p:sp>
      <p:sp>
        <p:nvSpPr>
          <p:cNvPr id="125" name="Text 123"/>
          <p:cNvSpPr txBox="1"/>
          <p:nvPr/>
        </p:nvSpPr>
        <p:spPr>
          <a:xfrm>
            <a:off x="2057400"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26" name="Shape 124"/>
          <p:cNvSpPr/>
          <p:nvPr/>
        </p:nvSpPr>
        <p:spPr>
          <a:xfrm>
            <a:off x="3163824" y="4213555"/>
            <a:ext cx="996696" cy="150876"/>
          </a:xfrm>
          <a:prstGeom prst="rect">
            <a:avLst/>
          </a:prstGeom>
          <a:solidFill>
            <a:srgbClr val="EDF5F7"/>
          </a:solidFill>
          <a:ln/>
        </p:spPr>
      </p:sp>
      <p:sp>
        <p:nvSpPr>
          <p:cNvPr id="127" name="Text 125"/>
          <p:cNvSpPr txBox="1"/>
          <p:nvPr/>
        </p:nvSpPr>
        <p:spPr>
          <a:xfrm>
            <a:off x="3136392"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28" name="Shape 126"/>
          <p:cNvSpPr/>
          <p:nvPr/>
        </p:nvSpPr>
        <p:spPr>
          <a:xfrm>
            <a:off x="4242816" y="4213555"/>
            <a:ext cx="996696" cy="150876"/>
          </a:xfrm>
          <a:prstGeom prst="rect">
            <a:avLst/>
          </a:prstGeom>
          <a:solidFill>
            <a:srgbClr val="EDF5F7"/>
          </a:solidFill>
          <a:ln/>
        </p:spPr>
      </p:sp>
      <p:sp>
        <p:nvSpPr>
          <p:cNvPr id="129" name="Text 127"/>
          <p:cNvSpPr txBox="1"/>
          <p:nvPr/>
        </p:nvSpPr>
        <p:spPr>
          <a:xfrm>
            <a:off x="4215384"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0" name="Shape 128"/>
          <p:cNvSpPr/>
          <p:nvPr/>
        </p:nvSpPr>
        <p:spPr>
          <a:xfrm>
            <a:off x="5321808" y="4213555"/>
            <a:ext cx="996696" cy="150876"/>
          </a:xfrm>
          <a:prstGeom prst="rect">
            <a:avLst/>
          </a:prstGeom>
          <a:solidFill>
            <a:srgbClr val="EDF5F7"/>
          </a:solidFill>
          <a:ln/>
        </p:spPr>
      </p:sp>
      <p:sp>
        <p:nvSpPr>
          <p:cNvPr id="131" name="Text 129"/>
          <p:cNvSpPr txBox="1"/>
          <p:nvPr/>
        </p:nvSpPr>
        <p:spPr>
          <a:xfrm>
            <a:off x="5294376" y="4206240"/>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328</a:t>
            </a:r>
            <a:endParaRPr lang="en-US" sz="680" dirty="0"/>
          </a:p>
        </p:txBody>
      </p:sp>
      <p:sp>
        <p:nvSpPr>
          <p:cNvPr id="132" name="Text 130"/>
          <p:cNvSpPr txBox="1"/>
          <p:nvPr/>
        </p:nvSpPr>
        <p:spPr>
          <a:xfrm>
            <a:off x="6400800" y="4206240"/>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28,796</a:t>
            </a:r>
            <a:endParaRPr lang="en-US" sz="700" dirty="0"/>
          </a:p>
        </p:txBody>
      </p:sp>
      <p:sp>
        <p:nvSpPr>
          <p:cNvPr id="133" name="Text 131"/>
          <p:cNvSpPr txBox="1"/>
          <p:nvPr/>
        </p:nvSpPr>
        <p:spPr>
          <a:xfrm>
            <a:off x="594360" y="4379976"/>
            <a:ext cx="1417320" cy="164592"/>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34" name="Shape 132"/>
          <p:cNvSpPr/>
          <p:nvPr/>
        </p:nvSpPr>
        <p:spPr>
          <a:xfrm>
            <a:off x="2084832" y="4387291"/>
            <a:ext cx="996696" cy="150876"/>
          </a:xfrm>
          <a:prstGeom prst="rect">
            <a:avLst/>
          </a:prstGeom>
          <a:solidFill>
            <a:srgbClr val="EDF5F7"/>
          </a:solidFill>
          <a:ln/>
        </p:spPr>
      </p:sp>
      <p:sp>
        <p:nvSpPr>
          <p:cNvPr id="135" name="Text 133"/>
          <p:cNvSpPr txBox="1"/>
          <p:nvPr/>
        </p:nvSpPr>
        <p:spPr>
          <a:xfrm>
            <a:off x="2057400"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36" name="Shape 134"/>
          <p:cNvSpPr/>
          <p:nvPr/>
        </p:nvSpPr>
        <p:spPr>
          <a:xfrm>
            <a:off x="3163824" y="4387291"/>
            <a:ext cx="996696" cy="150876"/>
          </a:xfrm>
          <a:prstGeom prst="rect">
            <a:avLst/>
          </a:prstGeom>
          <a:solidFill>
            <a:srgbClr val="EDF5F7"/>
          </a:solidFill>
          <a:ln/>
        </p:spPr>
      </p:sp>
      <p:sp>
        <p:nvSpPr>
          <p:cNvPr id="137" name="Text 135"/>
          <p:cNvSpPr txBox="1"/>
          <p:nvPr/>
        </p:nvSpPr>
        <p:spPr>
          <a:xfrm>
            <a:off x="3136392"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38" name="Shape 136"/>
          <p:cNvSpPr/>
          <p:nvPr/>
        </p:nvSpPr>
        <p:spPr>
          <a:xfrm>
            <a:off x="4242816" y="4387291"/>
            <a:ext cx="996696" cy="150876"/>
          </a:xfrm>
          <a:prstGeom prst="rect">
            <a:avLst/>
          </a:prstGeom>
          <a:solidFill>
            <a:srgbClr val="EDF5F7"/>
          </a:solidFill>
          <a:ln/>
        </p:spPr>
      </p:sp>
      <p:sp>
        <p:nvSpPr>
          <p:cNvPr id="139" name="Text 137"/>
          <p:cNvSpPr txBox="1"/>
          <p:nvPr/>
        </p:nvSpPr>
        <p:spPr>
          <a:xfrm>
            <a:off x="4215384"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0" name="Shape 138"/>
          <p:cNvSpPr/>
          <p:nvPr/>
        </p:nvSpPr>
        <p:spPr>
          <a:xfrm>
            <a:off x="5321808" y="4387291"/>
            <a:ext cx="996696" cy="150876"/>
          </a:xfrm>
          <a:prstGeom prst="rect">
            <a:avLst/>
          </a:prstGeom>
          <a:solidFill>
            <a:srgbClr val="EDF5F7"/>
          </a:solidFill>
          <a:ln/>
        </p:spPr>
      </p:sp>
      <p:sp>
        <p:nvSpPr>
          <p:cNvPr id="141" name="Text 139"/>
          <p:cNvSpPr txBox="1"/>
          <p:nvPr/>
        </p:nvSpPr>
        <p:spPr>
          <a:xfrm>
            <a:off x="5294376" y="4379976"/>
            <a:ext cx="1051560" cy="164592"/>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1,249</a:t>
            </a:r>
            <a:endParaRPr lang="en-US" sz="680" dirty="0"/>
          </a:p>
        </p:txBody>
      </p:sp>
      <p:sp>
        <p:nvSpPr>
          <p:cNvPr id="142" name="Text 140"/>
          <p:cNvSpPr txBox="1"/>
          <p:nvPr/>
        </p:nvSpPr>
        <p:spPr>
          <a:xfrm>
            <a:off x="6400800" y="4379976"/>
            <a:ext cx="1280160" cy="164592"/>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30,745</a:t>
            </a:r>
            <a:endParaRPr lang="en-US" sz="700" dirty="0"/>
          </a:p>
        </p:txBody>
      </p:sp>
      <p:sp>
        <p:nvSpPr>
          <p:cNvPr id="143" name="Shape 141"/>
          <p:cNvSpPr/>
          <p:nvPr/>
        </p:nvSpPr>
        <p:spPr>
          <a:xfrm>
            <a:off x="594360" y="4553712"/>
            <a:ext cx="7132320" cy="10973"/>
          </a:xfrm>
          <a:prstGeom prst="rect">
            <a:avLst/>
          </a:prstGeom>
          <a:solidFill>
            <a:srgbClr val="12293A"/>
          </a:solidFill>
          <a:ln/>
        </p:spPr>
      </p:sp>
      <p:sp>
        <p:nvSpPr>
          <p:cNvPr id="144" name="Text 142"/>
          <p:cNvSpPr txBox="1"/>
          <p:nvPr/>
        </p:nvSpPr>
        <p:spPr>
          <a:xfrm>
            <a:off x="594360" y="4581144"/>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45" name="Text 143"/>
          <p:cNvSpPr txBox="1"/>
          <p:nvPr/>
        </p:nvSpPr>
        <p:spPr>
          <a:xfrm>
            <a:off x="2057400"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46" name="Text 144"/>
          <p:cNvSpPr txBox="1"/>
          <p:nvPr/>
        </p:nvSpPr>
        <p:spPr>
          <a:xfrm>
            <a:off x="3136392"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47" name="Text 145"/>
          <p:cNvSpPr txBox="1"/>
          <p:nvPr/>
        </p:nvSpPr>
        <p:spPr>
          <a:xfrm>
            <a:off x="4215384"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48" name="Text 146"/>
          <p:cNvSpPr txBox="1"/>
          <p:nvPr/>
        </p:nvSpPr>
        <p:spPr>
          <a:xfrm>
            <a:off x="5294376" y="4581144"/>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50,453</a:t>
            </a:r>
            <a:endParaRPr lang="en-US" sz="750" dirty="0"/>
          </a:p>
        </p:txBody>
      </p:sp>
      <p:sp>
        <p:nvSpPr>
          <p:cNvPr id="149" name="Text 147"/>
          <p:cNvSpPr txBox="1"/>
          <p:nvPr/>
        </p:nvSpPr>
        <p:spPr>
          <a:xfrm>
            <a:off x="6400800" y="4581144"/>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849,265</a:t>
            </a:r>
            <a:endParaRPr lang="en-US" sz="750" dirty="0"/>
          </a:p>
        </p:txBody>
      </p:sp>
      <p:sp>
        <p:nvSpPr>
          <p:cNvPr id="150" name="Text 148"/>
          <p:cNvSpPr txBox="1"/>
          <p:nvPr/>
        </p:nvSpPr>
        <p:spPr>
          <a:xfrm>
            <a:off x="594360" y="4892040"/>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1" name="Shape 149"/>
          <p:cNvSpPr/>
          <p:nvPr/>
        </p:nvSpPr>
        <p:spPr>
          <a:xfrm>
            <a:off x="2075688" y="4892040"/>
            <a:ext cx="365107" cy="219456"/>
          </a:xfrm>
          <a:prstGeom prst="rect">
            <a:avLst/>
          </a:prstGeom>
          <a:solidFill>
            <a:srgbClr val="D4E9ED"/>
          </a:solidFill>
          <a:ln/>
        </p:spPr>
      </p:sp>
      <p:sp>
        <p:nvSpPr>
          <p:cNvPr id="152" name="Text 150"/>
          <p:cNvSpPr txBox="1"/>
          <p:nvPr/>
        </p:nvSpPr>
        <p:spPr>
          <a:xfrm>
            <a:off x="205740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3" name="Text 151"/>
          <p:cNvSpPr txBox="1"/>
          <p:nvPr/>
        </p:nvSpPr>
        <p:spPr>
          <a:xfrm>
            <a:off x="205740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54" name="Shape 152"/>
          <p:cNvSpPr/>
          <p:nvPr/>
        </p:nvSpPr>
        <p:spPr>
          <a:xfrm>
            <a:off x="2477371" y="4892040"/>
            <a:ext cx="365107" cy="219456"/>
          </a:xfrm>
          <a:prstGeom prst="rect">
            <a:avLst/>
          </a:prstGeom>
          <a:solidFill>
            <a:srgbClr val="D4E9ED"/>
          </a:solidFill>
          <a:ln/>
        </p:spPr>
      </p:sp>
      <p:sp>
        <p:nvSpPr>
          <p:cNvPr id="155" name="Text 153"/>
          <p:cNvSpPr txBox="1"/>
          <p:nvPr/>
        </p:nvSpPr>
        <p:spPr>
          <a:xfrm>
            <a:off x="245908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6" name="Text 154"/>
          <p:cNvSpPr txBox="1"/>
          <p:nvPr/>
        </p:nvSpPr>
        <p:spPr>
          <a:xfrm>
            <a:off x="245908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57" name="Shape 155"/>
          <p:cNvSpPr/>
          <p:nvPr/>
        </p:nvSpPr>
        <p:spPr>
          <a:xfrm>
            <a:off x="2879054" y="4892040"/>
            <a:ext cx="365107" cy="219456"/>
          </a:xfrm>
          <a:prstGeom prst="rect">
            <a:avLst/>
          </a:prstGeom>
          <a:solidFill>
            <a:srgbClr val="D4E9ED"/>
          </a:solidFill>
          <a:ln/>
        </p:spPr>
      </p:sp>
      <p:sp>
        <p:nvSpPr>
          <p:cNvPr id="158" name="Text 156"/>
          <p:cNvSpPr txBox="1"/>
          <p:nvPr/>
        </p:nvSpPr>
        <p:spPr>
          <a:xfrm>
            <a:off x="2860766"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59" name="Text 157"/>
          <p:cNvSpPr txBox="1"/>
          <p:nvPr/>
        </p:nvSpPr>
        <p:spPr>
          <a:xfrm>
            <a:off x="286076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0" name="Shape 158"/>
          <p:cNvSpPr/>
          <p:nvPr/>
        </p:nvSpPr>
        <p:spPr>
          <a:xfrm>
            <a:off x="3280737" y="4892040"/>
            <a:ext cx="365107" cy="219456"/>
          </a:xfrm>
          <a:prstGeom prst="rect">
            <a:avLst/>
          </a:prstGeom>
          <a:solidFill>
            <a:srgbClr val="B5D9E0"/>
          </a:solidFill>
          <a:ln/>
        </p:spPr>
      </p:sp>
      <p:sp>
        <p:nvSpPr>
          <p:cNvPr id="161" name="Text 159"/>
          <p:cNvSpPr txBox="1"/>
          <p:nvPr/>
        </p:nvSpPr>
        <p:spPr>
          <a:xfrm>
            <a:off x="3262449"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2" name="Text 160"/>
          <p:cNvSpPr txBox="1"/>
          <p:nvPr/>
        </p:nvSpPr>
        <p:spPr>
          <a:xfrm>
            <a:off x="326244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63" name="Shape 161"/>
          <p:cNvSpPr/>
          <p:nvPr/>
        </p:nvSpPr>
        <p:spPr>
          <a:xfrm>
            <a:off x="3682419" y="4892040"/>
            <a:ext cx="365107" cy="219456"/>
          </a:xfrm>
          <a:prstGeom prst="rect">
            <a:avLst/>
          </a:prstGeom>
          <a:solidFill>
            <a:srgbClr val="B5D9E0"/>
          </a:solidFill>
          <a:ln/>
        </p:spPr>
      </p:sp>
      <p:sp>
        <p:nvSpPr>
          <p:cNvPr id="164" name="Text 162"/>
          <p:cNvSpPr txBox="1"/>
          <p:nvPr/>
        </p:nvSpPr>
        <p:spPr>
          <a:xfrm>
            <a:off x="366413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5" name="Text 163"/>
          <p:cNvSpPr txBox="1"/>
          <p:nvPr/>
        </p:nvSpPr>
        <p:spPr>
          <a:xfrm>
            <a:off x="366413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66" name="Shape 164"/>
          <p:cNvSpPr/>
          <p:nvPr/>
        </p:nvSpPr>
        <p:spPr>
          <a:xfrm>
            <a:off x="4084102" y="4892040"/>
            <a:ext cx="365107" cy="219456"/>
          </a:xfrm>
          <a:prstGeom prst="rect">
            <a:avLst/>
          </a:prstGeom>
          <a:solidFill>
            <a:srgbClr val="B5D9E0"/>
          </a:solidFill>
          <a:ln/>
        </p:spPr>
      </p:sp>
      <p:sp>
        <p:nvSpPr>
          <p:cNvPr id="167" name="Text 165"/>
          <p:cNvSpPr txBox="1"/>
          <p:nvPr/>
        </p:nvSpPr>
        <p:spPr>
          <a:xfrm>
            <a:off x="406581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68" name="Text 166"/>
          <p:cNvSpPr txBox="1"/>
          <p:nvPr/>
        </p:nvSpPr>
        <p:spPr>
          <a:xfrm>
            <a:off x="406581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69" name="Shape 167"/>
          <p:cNvSpPr/>
          <p:nvPr/>
        </p:nvSpPr>
        <p:spPr>
          <a:xfrm>
            <a:off x="4485785" y="4892040"/>
            <a:ext cx="365107" cy="219456"/>
          </a:xfrm>
          <a:prstGeom prst="rect">
            <a:avLst/>
          </a:prstGeom>
          <a:solidFill>
            <a:srgbClr val="B5D9E0"/>
          </a:solidFill>
          <a:ln/>
        </p:spPr>
      </p:sp>
      <p:sp>
        <p:nvSpPr>
          <p:cNvPr id="170" name="Text 168"/>
          <p:cNvSpPr txBox="1"/>
          <p:nvPr/>
        </p:nvSpPr>
        <p:spPr>
          <a:xfrm>
            <a:off x="446749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1" name="Text 169"/>
          <p:cNvSpPr txBox="1"/>
          <p:nvPr/>
        </p:nvSpPr>
        <p:spPr>
          <a:xfrm>
            <a:off x="446749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2" name="Shape 170"/>
          <p:cNvSpPr/>
          <p:nvPr/>
        </p:nvSpPr>
        <p:spPr>
          <a:xfrm>
            <a:off x="4887468" y="4892040"/>
            <a:ext cx="365107" cy="219456"/>
          </a:xfrm>
          <a:prstGeom prst="rect">
            <a:avLst/>
          </a:prstGeom>
          <a:solidFill>
            <a:srgbClr val="B5D9E0"/>
          </a:solidFill>
          <a:ln/>
        </p:spPr>
      </p:sp>
      <p:sp>
        <p:nvSpPr>
          <p:cNvPr id="173" name="Text 171"/>
          <p:cNvSpPr txBox="1"/>
          <p:nvPr/>
        </p:nvSpPr>
        <p:spPr>
          <a:xfrm>
            <a:off x="4869180"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74" name="Text 172"/>
          <p:cNvSpPr txBox="1"/>
          <p:nvPr/>
        </p:nvSpPr>
        <p:spPr>
          <a:xfrm>
            <a:off x="4869180"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75" name="Shape 173"/>
          <p:cNvSpPr/>
          <p:nvPr/>
        </p:nvSpPr>
        <p:spPr>
          <a:xfrm>
            <a:off x="5289151" y="4892040"/>
            <a:ext cx="365107" cy="219456"/>
          </a:xfrm>
          <a:prstGeom prst="rect">
            <a:avLst/>
          </a:prstGeom>
          <a:solidFill>
            <a:srgbClr val="D4E9ED"/>
          </a:solidFill>
          <a:ln/>
        </p:spPr>
      </p:sp>
      <p:sp>
        <p:nvSpPr>
          <p:cNvPr id="176" name="Text 174"/>
          <p:cNvSpPr txBox="1"/>
          <p:nvPr/>
        </p:nvSpPr>
        <p:spPr>
          <a:xfrm>
            <a:off x="5270863"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77" name="Text 175"/>
          <p:cNvSpPr txBox="1"/>
          <p:nvPr/>
        </p:nvSpPr>
        <p:spPr>
          <a:xfrm>
            <a:off x="5270863"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78" name="Shape 176"/>
          <p:cNvSpPr/>
          <p:nvPr/>
        </p:nvSpPr>
        <p:spPr>
          <a:xfrm>
            <a:off x="5690834" y="4892040"/>
            <a:ext cx="365107" cy="219456"/>
          </a:xfrm>
          <a:prstGeom prst="rect">
            <a:avLst/>
          </a:prstGeom>
          <a:solidFill>
            <a:srgbClr val="2C8394"/>
          </a:solidFill>
          <a:ln/>
        </p:spPr>
      </p:sp>
      <p:sp>
        <p:nvSpPr>
          <p:cNvPr id="179" name="Text 177"/>
          <p:cNvSpPr txBox="1"/>
          <p:nvPr/>
        </p:nvSpPr>
        <p:spPr>
          <a:xfrm>
            <a:off x="5672546"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0" name="Text 178"/>
          <p:cNvSpPr txBox="1"/>
          <p:nvPr/>
        </p:nvSpPr>
        <p:spPr>
          <a:xfrm>
            <a:off x="5672546"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1" name="Shape 179"/>
          <p:cNvSpPr/>
          <p:nvPr/>
        </p:nvSpPr>
        <p:spPr>
          <a:xfrm>
            <a:off x="6092517" y="4892040"/>
            <a:ext cx="365107" cy="219456"/>
          </a:xfrm>
          <a:prstGeom prst="rect">
            <a:avLst/>
          </a:prstGeom>
          <a:solidFill>
            <a:srgbClr val="2C8394"/>
          </a:solidFill>
          <a:ln/>
        </p:spPr>
      </p:sp>
      <p:sp>
        <p:nvSpPr>
          <p:cNvPr id="182" name="Text 180"/>
          <p:cNvSpPr txBox="1"/>
          <p:nvPr/>
        </p:nvSpPr>
        <p:spPr>
          <a:xfrm>
            <a:off x="6074229" y="4892040"/>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83" name="Text 181"/>
          <p:cNvSpPr txBox="1"/>
          <p:nvPr/>
        </p:nvSpPr>
        <p:spPr>
          <a:xfrm>
            <a:off x="6074229"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84" name="Shape 182"/>
          <p:cNvSpPr/>
          <p:nvPr/>
        </p:nvSpPr>
        <p:spPr>
          <a:xfrm>
            <a:off x="6494199" y="4892040"/>
            <a:ext cx="365107" cy="219456"/>
          </a:xfrm>
          <a:prstGeom prst="rect">
            <a:avLst/>
          </a:prstGeom>
          <a:solidFill>
            <a:srgbClr val="8FC3CC"/>
          </a:solidFill>
          <a:ln/>
        </p:spPr>
      </p:sp>
      <p:sp>
        <p:nvSpPr>
          <p:cNvPr id="185" name="Text 183"/>
          <p:cNvSpPr txBox="1"/>
          <p:nvPr/>
        </p:nvSpPr>
        <p:spPr>
          <a:xfrm>
            <a:off x="6475911"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86" name="Text 184"/>
          <p:cNvSpPr txBox="1"/>
          <p:nvPr/>
        </p:nvSpPr>
        <p:spPr>
          <a:xfrm>
            <a:off x="6475911"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87" name="Shape 185"/>
          <p:cNvSpPr/>
          <p:nvPr/>
        </p:nvSpPr>
        <p:spPr>
          <a:xfrm>
            <a:off x="6895882" y="4892040"/>
            <a:ext cx="365107" cy="219456"/>
          </a:xfrm>
          <a:prstGeom prst="rect">
            <a:avLst/>
          </a:prstGeom>
          <a:solidFill>
            <a:srgbClr val="8FC3CC"/>
          </a:solidFill>
          <a:ln/>
        </p:spPr>
      </p:sp>
      <p:sp>
        <p:nvSpPr>
          <p:cNvPr id="188" name="Text 186"/>
          <p:cNvSpPr txBox="1"/>
          <p:nvPr/>
        </p:nvSpPr>
        <p:spPr>
          <a:xfrm>
            <a:off x="6877594"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89" name="Text 187"/>
          <p:cNvSpPr txBox="1"/>
          <p:nvPr/>
        </p:nvSpPr>
        <p:spPr>
          <a:xfrm>
            <a:off x="6877594"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0" name="Shape 188"/>
          <p:cNvSpPr/>
          <p:nvPr/>
        </p:nvSpPr>
        <p:spPr>
          <a:xfrm>
            <a:off x="7297565" y="4892040"/>
            <a:ext cx="365107" cy="219456"/>
          </a:xfrm>
          <a:prstGeom prst="rect">
            <a:avLst/>
          </a:prstGeom>
          <a:solidFill>
            <a:srgbClr val="8FC3CC"/>
          </a:solidFill>
          <a:ln/>
        </p:spPr>
      </p:sp>
      <p:sp>
        <p:nvSpPr>
          <p:cNvPr id="191" name="Text 189"/>
          <p:cNvSpPr txBox="1"/>
          <p:nvPr/>
        </p:nvSpPr>
        <p:spPr>
          <a:xfrm>
            <a:off x="7279277" y="4892040"/>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2" name="Text 190"/>
          <p:cNvSpPr txBox="1"/>
          <p:nvPr/>
        </p:nvSpPr>
        <p:spPr>
          <a:xfrm>
            <a:off x="7279277" y="5120640"/>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193" name="Text 191"/>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a:t>
            </a:r>
            <a:endParaRPr lang="en-US" sz="600" dirty="0"/>
          </a:p>
        </p:txBody>
      </p:sp>
      <p:sp>
        <p:nvSpPr>
          <p:cNvPr id="194" name="Shape 192"/>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196" name="Text 194"/>
          <p:cNvSpPr txBox="1"/>
          <p:nvPr/>
        </p:nvSpPr>
        <p:spPr>
          <a:xfrm>
            <a:off x="8275320" y="2596896"/>
            <a:ext cx="1371600" cy="548640"/>
          </a:xfrm>
          <a:prstGeom prst="rect">
            <a:avLst/>
          </a:prstGeom>
          <a:noFill/>
          <a:ln/>
        </p:spPr>
        <p:txBody>
          <a:bodyPr wrap="square" lIns="0" tIns="0" rIns="0" bIns="0" rtlCol="0" anchor="ctr"/>
          <a:lstStyle/>
          <a:p>
            <a:pPr indent="0" marL="0">
              <a:buNone/>
            </a:pPr>
            <a:r>
              <a:rPr lang="en-US" sz="3000" b="1" dirty="0">
                <a:solidFill>
                  <a:srgbClr val="2C8394"/>
                </a:solidFill>
                <a:latin typeface="Poppins" pitchFamily="34" charset="0"/>
                <a:ea typeface="Poppins" pitchFamily="34" charset="-122"/>
                <a:cs typeface="Poppins" pitchFamily="34" charset="-120"/>
              </a:rPr>
              <a:t>~770</a:t>
            </a:r>
            <a:endParaRPr lang="en-US" sz="3000" dirty="0"/>
          </a:p>
        </p:txBody>
      </p:sp>
      <p:sp>
        <p:nvSpPr>
          <p:cNvPr id="197" name="Text 195"/>
          <p:cNvSpPr txBox="1"/>
          <p:nvPr/>
        </p:nvSpPr>
        <p:spPr>
          <a:xfrm>
            <a:off x="9555480" y="2624328"/>
            <a:ext cx="20116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~476 baseline</a:t>
            </a:r>
            <a:endParaRPr lang="en-US" sz="750" dirty="0"/>
          </a:p>
        </p:txBody>
      </p:sp>
      <p:sp>
        <p:nvSpPr>
          <p:cNvPr id="198" name="Text 196"/>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199" name="Text 197"/>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+241</a:t>
            </a:r>
            <a:endParaRPr lang="en-US" sz="680" dirty="0"/>
          </a:p>
        </p:txBody>
      </p:sp>
      <p:sp>
        <p:nvSpPr>
          <p:cNvPr id="200" name="Text 198"/>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~485/wk</a:t>
            </a:r>
            <a:endParaRPr lang="en-US" sz="750" dirty="0"/>
          </a:p>
        </p:txBody>
      </p:sp>
      <p:sp>
        <p:nvSpPr>
          <p:cNvPr id="201" name="Text 199"/>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2" name="Text 200"/>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+44</a:t>
            </a:r>
            <a:endParaRPr lang="en-US" sz="680" dirty="0"/>
          </a:p>
        </p:txBody>
      </p:sp>
      <p:sp>
        <p:nvSpPr>
          <p:cNvPr id="203" name="Text 201"/>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~136/wk</a:t>
            </a:r>
            <a:endParaRPr lang="en-US" sz="750" dirty="0"/>
          </a:p>
        </p:txBody>
      </p:sp>
      <p:sp>
        <p:nvSpPr>
          <p:cNvPr id="204" name="Text 202"/>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05" name="Text 203"/>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+3</a:t>
            </a:r>
            <a:endParaRPr lang="en-US" sz="680" dirty="0"/>
          </a:p>
        </p:txBody>
      </p:sp>
      <p:sp>
        <p:nvSpPr>
          <p:cNvPr id="206" name="Text 204"/>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~21/wk</a:t>
            </a:r>
            <a:endParaRPr lang="en-US" sz="750" dirty="0"/>
          </a:p>
        </p:txBody>
      </p:sp>
      <p:sp>
        <p:nvSpPr>
          <p:cNvPr id="207" name="Text 205"/>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08" name="Text 206"/>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+4</a:t>
            </a:r>
            <a:endParaRPr lang="en-US" sz="680" dirty="0"/>
          </a:p>
        </p:txBody>
      </p:sp>
      <p:sp>
        <p:nvSpPr>
          <p:cNvPr id="209" name="Text 207"/>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~20/wk</a:t>
            </a:r>
            <a:endParaRPr lang="en-US" sz="750" dirty="0"/>
          </a:p>
        </p:txBody>
      </p:sp>
      <p:sp>
        <p:nvSpPr>
          <p:cNvPr id="210" name="Text 208"/>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Harjeet Sammi</a:t>
            </a:r>
            <a:endParaRPr lang="en-US" sz="750" dirty="0"/>
          </a:p>
        </p:txBody>
      </p:sp>
      <p:sp>
        <p:nvSpPr>
          <p:cNvPr id="211" name="Text 209"/>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12" name="Text 210"/>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13" name="Text 211"/>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Matt Freeman</a:t>
            </a:r>
            <a:endParaRPr lang="en-US" sz="750" dirty="0"/>
          </a:p>
        </p:txBody>
      </p:sp>
      <p:sp>
        <p:nvSpPr>
          <p:cNvPr id="214" name="Text 212"/>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5" name="Text 213"/>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16" name="Text 214"/>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17" name="Text 215"/>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18" name="Text 216"/>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~12/wk</a:t>
            </a:r>
            <a:endParaRPr lang="en-US" sz="750" dirty="0"/>
          </a:p>
        </p:txBody>
      </p:sp>
      <p:sp>
        <p:nvSpPr>
          <p:cNvPr id="219" name="Text 217"/>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0" name="Text 218"/>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1" name="Text 219"/>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2" name="Text 220"/>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Mostafa Essa</a:t>
            </a:r>
            <a:endParaRPr lang="en-US" sz="750" dirty="0"/>
          </a:p>
        </p:txBody>
      </p:sp>
      <p:sp>
        <p:nvSpPr>
          <p:cNvPr id="223" name="Text 221"/>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4" name="Text 222"/>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~8/wk</a:t>
            </a:r>
            <a:endParaRPr lang="en-US" sz="750" dirty="0"/>
          </a:p>
        </p:txBody>
      </p:sp>
      <p:sp>
        <p:nvSpPr>
          <p:cNvPr id="225" name="Text 223"/>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26" name="Text 224"/>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a:t>
            </a:r>
            <a:endParaRPr lang="en-US" sz="680" dirty="0"/>
          </a:p>
        </p:txBody>
      </p:sp>
      <p:sp>
        <p:nvSpPr>
          <p:cNvPr id="227" name="Text 225"/>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28" name="Text 226"/>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last capture · — = first capture</a:t>
            </a:r>
            <a:endParaRPr lang="en-US" sz="600" dirty="0"/>
          </a:p>
        </p:txBody>
      </p:sp>
      <p:sp>
        <p:nvSpPr>
          <p:cNvPr id="229" name="Shape 227"/>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0" name="Text 228"/>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1" name="Text 229"/>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39 of 46 active weekly (19 daily)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 daily actives nearly doubled, 19 against 10 a week ago. Cowork is the stickiest surface at 33% DAU/MAU, Claude.ai has jumped to 29% and Office Agents are live at 11%. October code output is 50,453 lines in six days, 39,709 of them Nicolas Ibrahim. Bjorn Magabo logged 2,085 Cowork sessions in 30 days against 2,187 messages — about one message each, so read it as very short repeated sessions.</a:t>
            </a:r>
            <a:endParaRPr lang="en-US" sz="900" dirty="0"/>
          </a:p>
        </p:txBody>
      </p:sp>
      <p:sp>
        <p:nvSpPr>
          <p:cNvPr id="232" name="Shape 230"/>
          <p:cNvSpPr/>
          <p:nvPr/>
        </p:nvSpPr>
        <p:spPr>
          <a:xfrm>
            <a:off x="8394192" y="6510528"/>
            <a:ext cx="3383280" cy="256032"/>
          </a:xfrm>
          <a:prstGeom prst="roundRect">
            <a:avLst>
              <a:gd name="adj" fmla="val 46429"/>
            </a:avLst>
          </a:prstGeom>
          <a:solidFill>
            <a:srgbClr val="12293A"/>
          </a:solidFill>
          <a:ln/>
        </p:spPr>
      </p:sp>
      <p:sp>
        <p:nvSpPr>
          <p:cNvPr id="233" name="Text 231"/>
          <p:cNvSpPr txBox="1"/>
          <p:nvPr/>
        </p:nvSpPr>
        <p:spPr>
          <a:xfrm>
            <a:off x="8394192" y="6510528"/>
            <a:ext cx="338328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weekly capture (30d to 5 Oct)</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is still ongoing but on track for 30 September — target date now passed</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2026-10-06T05:58:38Z</dcterms:created>
  <dcterms:modified xsi:type="dcterms:W3CDTF">2026-10-06T05:58:38Z</dcterms:modified>
</cp:coreProperties>
</file>