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6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Referred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5E7280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3</c:v>
                </c:pt>
                <c:pt idx="4">
                  <c:v>2</c:v>
                </c:pt>
                <c:pt idx="5">
                  <c:v>6</c:v>
                </c:pt>
                <c:pt idx="6">
                  <c:v>2</c:v>
                </c:pt>
                <c:pt idx="7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50" u="none">
                  <a:solidFill>
                    <a:srgbClr val="5E7280"/>
                  </a:solidFill>
                  <a:latin typeface="Poppi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Unweighted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$#,##0\k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5E7280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Phuong</c:v>
                  </c:pt>
                  <c:pt idx="1">
                    <c:v>Katherine</c:v>
                  </c:pt>
                  <c:pt idx="2">
                    <c:v>Mick</c:v>
                  </c:pt>
                  <c:pt idx="3">
                    <c:v>Kent</c:v>
                  </c:pt>
                  <c:pt idx="4">
                    <c:v>Bradford</c:v>
                  </c:pt>
                  <c:pt idx="5">
                    <c:v>Jasmine</c:v>
                  </c:pt>
                  <c:pt idx="6">
                    <c:v>Brett</c:v>
                  </c:pt>
                  <c:pt idx="7">
                    <c:v>Bjorn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</c:v>
                </c:pt>
                <c:pt idx="1">
                  <c:v>11</c:v>
                </c:pt>
                <c:pt idx="2">
                  <c:v>12</c:v>
                </c:pt>
                <c:pt idx="3">
                  <c:v>26</c:v>
                </c:pt>
                <c:pt idx="4">
                  <c:v>27</c:v>
                </c:pt>
                <c:pt idx="5">
                  <c:v>59</c:v>
                </c:pt>
                <c:pt idx="6">
                  <c:v>81</c:v>
                </c:pt>
                <c:pt idx="7">
                  <c:v>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Weighted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$#,##0\k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5E7280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Phuong</c:v>
                  </c:pt>
                  <c:pt idx="1">
                    <c:v>Katherine</c:v>
                  </c:pt>
                  <c:pt idx="2">
                    <c:v>Mick</c:v>
                  </c:pt>
                  <c:pt idx="3">
                    <c:v>Kent</c:v>
                  </c:pt>
                  <c:pt idx="4">
                    <c:v>Bradford</c:v>
                  </c:pt>
                  <c:pt idx="5">
                    <c:v>Jasmine</c:v>
                  </c:pt>
                  <c:pt idx="6">
                    <c:v>Brett</c:v>
                  </c:pt>
                  <c:pt idx="7">
                    <c:v>Bjorn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3</c:v>
                </c:pt>
                <c:pt idx="2">
                  <c:v>4</c:v>
                </c:pt>
                <c:pt idx="3">
                  <c:v>8</c:v>
                </c:pt>
                <c:pt idx="4">
                  <c:v>8</c:v>
                </c:pt>
                <c:pt idx="5">
                  <c:v>23</c:v>
                </c:pt>
                <c:pt idx="6">
                  <c:v>24</c:v>
                </c:pt>
                <c:pt idx="7">
                  <c:v>52</c:v>
                </c:pt>
              </c:numCache>
            </c:numRef>
          </c:val>
        </c:ser>
        <c:dLbls>
          <c:numFmt formatCode="$#,##0\k" sourceLinked="0"/>
          <c:txPr>
            <a:bodyPr/>
            <a:lstStyle/>
            <a:p>
              <a:pPr>
                <a:defRPr b="0" i="0" strike="noStrike" sz="700" u="none">
                  <a:solidFill>
                    <a:srgbClr val="5E7280"/>
                  </a:solidFill>
                  <a:latin typeface="Poppi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-1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Closed won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89148</c:v>
                </c:pt>
                <c:pt idx="1">
                  <c:v>53717</c:v>
                </c:pt>
                <c:pt idx="2">
                  <c:v>200064</c:v>
                </c:pt>
                <c:pt idx="3">
                  <c:v>34236</c:v>
                </c:pt>
                <c:pt idx="4">
                  <c:v>39372</c:v>
                </c:pt>
                <c:pt idx="5">
                  <c:v>77748</c:v>
                </c:pt>
                <c:pt idx="6">
                  <c:v>15377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Invoiced (new + expansion)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30732</c:v>
                </c:pt>
                <c:pt idx="1">
                  <c:v>66948</c:v>
                </c:pt>
                <c:pt idx="2">
                  <c:v>44352</c:v>
                </c:pt>
                <c:pt idx="3">
                  <c:v>58572</c:v>
                </c:pt>
                <c:pt idx="4">
                  <c:v>70788</c:v>
                </c:pt>
                <c:pt idx="5">
                  <c:v>45408</c:v>
                </c:pt>
                <c:pt idx="6">
                  <c:v>90012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-12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Created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5E7280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08-10</c:v>
                  </c:pt>
                  <c:pt idx="1">
                    <c:v>08-17</c:v>
                  </c:pt>
                  <c:pt idx="2">
                    <c:v>08-24</c:v>
                  </c:pt>
                  <c:pt idx="3">
                    <c:v>08-31</c:v>
                  </c:pt>
                  <c:pt idx="4">
                    <c:v>09-07</c:v>
                  </c:pt>
                  <c:pt idx="5">
                    <c:v>09-14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649</c:v>
                </c:pt>
                <c:pt idx="1">
                  <c:v>469</c:v>
                </c:pt>
                <c:pt idx="2">
                  <c:v>418</c:v>
                </c:pt>
                <c:pt idx="3">
                  <c:v>451</c:v>
                </c:pt>
                <c:pt idx="4">
                  <c:v>615</c:v>
                </c:pt>
                <c:pt idx="5">
                  <c:v>490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B455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5E7280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08-10</c:v>
                  </c:pt>
                  <c:pt idx="1">
                    <c:v>08-17</c:v>
                  </c:pt>
                  <c:pt idx="2">
                    <c:v>08-24</c:v>
                  </c:pt>
                  <c:pt idx="3">
                    <c:v>08-31</c:v>
                  </c:pt>
                  <c:pt idx="4">
                    <c:v>09-07</c:v>
                  </c:pt>
                  <c:pt idx="5">
                    <c:v>09-14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465</c:v>
                </c:pt>
                <c:pt idx="1">
                  <c:v>456</c:v>
                </c:pt>
                <c:pt idx="2">
                  <c:v>343</c:v>
                </c:pt>
                <c:pt idx="3">
                  <c:v>347</c:v>
                </c:pt>
                <c:pt idx="4">
                  <c:v>1250</c:v>
                </c:pt>
                <c:pt idx="5">
                  <c:v>591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5E7280"/>
                  </a:solidFill>
                  <a:latin typeface="Poppi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-15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0–7 days</c:v>
                </c:pt>
              </c:strCache>
            </c:strRef>
          </c:tx>
          <c:spPr>
            <a:solidFill>
              <a:srgbClr val="A9CBD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W/E 13 Sep</c:v>
                  </c:pt>
                  <c:pt idx="1">
                    <c:v>Fri 19 Sep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236</c:v>
                </c:pt>
                <c:pt idx="1">
                  <c:v>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8–30 days</c:v>
                </c:pt>
              </c:strCache>
            </c:strRef>
          </c:tx>
          <c:spPr>
            <a:solidFill>
              <a:srgbClr val="6FAEB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W/E 13 Sep</c:v>
                  </c:pt>
                  <c:pt idx="1">
                    <c:v>Fri 19 Sep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259</c:v>
                </c:pt>
                <c:pt idx="1">
                  <c:v>242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31–90 days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W/E 13 Sep</c:v>
                  </c:pt>
                  <c:pt idx="1">
                    <c:v>Fri 19 Sep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151</c:v>
                </c:pt>
                <c:pt idx="1">
                  <c:v>118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90+ days</c:v>
                </c:pt>
              </c:strCache>
            </c:strRef>
          </c:tx>
          <c:spPr>
            <a:solidFill>
              <a:srgbClr val="1C576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W/E 13 Sep</c:v>
                  </c:pt>
                  <c:pt idx="1">
                    <c:v>Fri 19 Sep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35</c:v>
                </c:pt>
                <c:pt idx="1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FFFFFF"/>
                  </a:solidFill>
                  <a:latin typeface="Poppins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Lines of code (k)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0\k" sourceLinked="0"/>
            <c:txPr>
              <a:bodyPr/>
              <a:lstStyle/>
              <a:p>
                <a:pPr>
                  <a:defRPr b="0" i="0" strike="noStrike" sz="600" u="none">
                    <a:solidFill>
                      <a:srgbClr val="5E7280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Sheet1!$A$2:$A$15</c:f>
              <c:multiLvlStrCache>
                <c:ptCount val="14"/>
                <c:lvl>
                  <c:pt idx="0">
                    <c:v>07 Jun</c:v>
                  </c:pt>
                  <c:pt idx="1">
                    <c:v>14</c:v>
                  </c:pt>
                  <c:pt idx="2">
                    <c:v>21</c:v>
                  </c:pt>
                  <c:pt idx="3">
                    <c:v>28</c:v>
                  </c:pt>
                  <c:pt idx="4">
                    <c:v>05 Jul</c:v>
                  </c:pt>
                  <c:pt idx="5">
                    <c:v>12</c:v>
                  </c:pt>
                  <c:pt idx="6">
                    <c:v>19</c:v>
                  </c:pt>
                  <c:pt idx="7">
                    <c:v>26</c:v>
                  </c:pt>
                  <c:pt idx="8">
                    <c:v>02 Aug</c:v>
                  </c:pt>
                  <c:pt idx="9">
                    <c:v>09</c:v>
                  </c:pt>
                  <c:pt idx="10">
                    <c:v>16</c:v>
                  </c:pt>
                  <c:pt idx="11">
                    <c:v>23</c:v>
                  </c:pt>
                  <c:pt idx="12">
                    <c:v>30</c:v>
                  </c:pt>
                  <c:pt idx="13">
                    <c:v>06 Sep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28</c:v>
                </c:pt>
                <c:pt idx="1">
                  <c:v>28</c:v>
                </c:pt>
                <c:pt idx="2">
                  <c:v>28</c:v>
                </c:pt>
                <c:pt idx="3">
                  <c:v>41</c:v>
                </c:pt>
                <c:pt idx="4">
                  <c:v>52</c:v>
                </c:pt>
                <c:pt idx="5">
                  <c:v>52</c:v>
                </c:pt>
                <c:pt idx="6">
                  <c:v>52</c:v>
                </c:pt>
                <c:pt idx="7">
                  <c:v>48</c:v>
                </c:pt>
                <c:pt idx="8">
                  <c:v>28</c:v>
                </c:pt>
                <c:pt idx="9">
                  <c:v>78</c:v>
                </c:pt>
                <c:pt idx="10">
                  <c:v>87</c:v>
                </c:pt>
                <c:pt idx="11">
                  <c:v>68</c:v>
                </c:pt>
                <c:pt idx="12">
                  <c:v>60</c:v>
                </c:pt>
                <c:pt idx="13">
                  <c:v>66</c:v>
                </c:pt>
              </c:numCache>
            </c:numRef>
          </c:val>
        </c:ser>
        <c:dLbls>
          <c:numFmt formatCode="#0\k" sourceLinked="0"/>
          <c:txPr>
            <a:bodyPr/>
            <a:lstStyle/>
            <a:p>
              <a:pPr>
                <a:defRPr b="0" i="0" strike="noStrike" sz="600" u="none">
                  <a:solidFill>
                    <a:srgbClr val="5E7280"/>
                  </a:solidFill>
                  <a:latin typeface="Poppi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5E7280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weekly deck produced after the Creatio → HubSpot migration (live 8 Sep 2026). Slide 3 carries the cutover register; per-slide source pills carry the provenance.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9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09099" y="-1263701"/>
            <a:ext cx="3533242" cy="3533242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3" name="Shape 1"/>
          <p:cNvSpPr/>
          <p:nvPr/>
        </p:nvSpPr>
        <p:spPr>
          <a:xfrm>
            <a:off x="10112350" y="-860450"/>
            <a:ext cx="2726741" cy="2726741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457200"/>
            <a:ext cx="1920240" cy="192024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5" name="Shape 3"/>
          <p:cNvSpPr/>
          <p:nvPr/>
        </p:nvSpPr>
        <p:spPr>
          <a:xfrm>
            <a:off x="10918850" y="-53950"/>
            <a:ext cx="1113739" cy="1113739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777240"/>
            <a:ext cx="105156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7772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74320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Weekly Update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 commencing 14 September 2026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Generated: 21 Sep 2026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" y="5029200"/>
            <a:ext cx="4572000" cy="40233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5029200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EDITION — FIRST DECK ON HUBSPOT SOURCES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Agenda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71600"/>
            <a:ext cx="2670048" cy="8229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435608" y="1874520"/>
            <a:ext cx="621792" cy="621792"/>
          </a:xfrm>
          <a:prstGeom prst="ellipse">
            <a:avLst/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435608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SELL?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partner motion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426464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2648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Products — target vs traction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— partner motion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Pipeline — Q3 FY26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10128" y="1371600"/>
            <a:ext cx="2670048" cy="82296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34256" y="1874520"/>
            <a:ext cx="621792" cy="621792"/>
          </a:xfrm>
          <a:prstGeom prst="ellipse">
            <a:avLst/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334256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3401568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DELIVER?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3401568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signed to billed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25112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511296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08776" y="1371600"/>
            <a:ext cx="2670048" cy="82296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27" name="Shape 25"/>
          <p:cNvSpPr/>
          <p:nvPr/>
        </p:nvSpPr>
        <p:spPr>
          <a:xfrm>
            <a:off x="6208776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232904" y="1874520"/>
            <a:ext cx="621792" cy="621792"/>
          </a:xfrm>
          <a:prstGeom prst="ellipse">
            <a:avLst/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232904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300216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KEEP THEM?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6300216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health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223760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09944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Backlog, ageing &amp; first response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9107424" y="1371600"/>
            <a:ext cx="2670048" cy="82296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5" name="Shape 33"/>
          <p:cNvSpPr/>
          <p:nvPr/>
        </p:nvSpPr>
        <p:spPr>
          <a:xfrm>
            <a:off x="9107424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0131552" y="1874520"/>
            <a:ext cx="621792" cy="621792"/>
          </a:xfrm>
          <a:prstGeom prst="ellipse">
            <a:avLst/>
          </a:prstGeom>
          <a:solidFill>
            <a:srgbClr val="12293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10131552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9198864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BUILDING THE FUTURE?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9198864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Product, AI &amp; projects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0122408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308592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 · GTM Readiness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Projects — portfolio status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 Cutover — Creatio → HubSpot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teams · this week's deck reads from the new sources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8" name="Shape 6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9" name="Shape 7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0" name="Shape 8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" y="987552"/>
            <a:ext cx="356616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76072" y="107899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EXTRACTS ENDED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57784" y="1261872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Sep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76072" y="1591056"/>
            <a:ext cx="3236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last case / task / work-order export — history frozen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4160520" y="987552"/>
            <a:ext cx="356616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325112" y="107899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LIVE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1261872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Sep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4325112" y="1591056"/>
            <a:ext cx="3236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support, sales &amp; PS now read live from the portal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7909560" y="987552"/>
            <a:ext cx="3867912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074152" y="1078992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DECK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055864" y="1261872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1st on new sources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074152" y="1591056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WC 7 Sep deck skipped in the cutover — deltas flagged where they bridge two weeks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411480" y="2157984"/>
            <a:ext cx="11365992" cy="4288536"/>
          </a:xfrm>
          <a:prstGeom prst="roundRect">
            <a:avLst>
              <a:gd name="adj" fmla="val 14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12648" y="223113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AREA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2971800" y="22311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OLD → NEW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2231136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7498080" y="2231136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IT MEANS FOR THE NUMBERS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612648" y="250545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volumes &amp; backlog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2971800" y="25054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case export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172200" y="2610612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6172200" y="261061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7498080" y="2505456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Inflow/outflow, backlog and age bands read live. 7 Sep week shows a resolved spike (1,250) from migration cleanup — not real throughput.</a:t>
            </a:r>
            <a:endParaRPr lang="en-US" sz="730" dirty="0"/>
          </a:p>
        </p:txBody>
      </p:sp>
      <p:sp>
        <p:nvSpPr>
          <p:cNvPr id="33" name="Shape 31"/>
          <p:cNvSpPr/>
          <p:nvPr/>
        </p:nvSpPr>
        <p:spPr>
          <a:xfrm>
            <a:off x="612648" y="3035808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12648" y="3063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Unanswered / first response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2971800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172200" y="3168396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6172200" y="3168396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7498080" y="3063240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measured from HubSpot conversations. Migrated tickets with no HubSpot reply count as unanswered — overstates during transition.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612648" y="3593592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2648" y="362102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pipeline &amp; closed-won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2971800" y="362102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ARR measure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172200" y="3726180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6172200" y="3726180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7498080" y="3621024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deal amount (AUD, home currency) replaces the Creatio ARR measure — levels shift, trends restart. Weighted = HubSpot stage probabilities.</a:t>
            </a:r>
            <a:endParaRPr lang="en-US" sz="730" dirty="0"/>
          </a:p>
        </p:txBody>
      </p:sp>
      <p:sp>
        <p:nvSpPr>
          <p:cNvPr id="45" name="Shape 43"/>
          <p:cNvSpPr/>
          <p:nvPr/>
        </p:nvSpPr>
        <p:spPr>
          <a:xfrm>
            <a:off x="612648" y="4151376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2648" y="417880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2971800" y="417880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export (rejects not separable)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draft state machine (live)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172200" y="4283964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6172200" y="4283964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UPGRADE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7498080" y="4178808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ai_draft_status now tracks sent as-is / edited / rejected / pending — the decision rate is measurable for the first time.</a:t>
            </a:r>
            <a:endParaRPr lang="en-US" sz="730" dirty="0"/>
          </a:p>
        </p:txBody>
      </p:sp>
      <p:sp>
        <p:nvSpPr>
          <p:cNvPr id="51" name="Shape 49"/>
          <p:cNvSpPr/>
          <p:nvPr/>
        </p:nvSpPr>
        <p:spPr>
          <a:xfrm>
            <a:off x="612648" y="4709160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12648" y="473659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utilisation &amp; hours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2971800" y="47365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work orders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actual_hours (ramping)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6172200" y="4841748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6172200" y="4841748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7498080" y="4736592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Work-order feed ended 4 Sep. HubSpot time logging covers too few cases to compute utilisation honestly — shown as not set up, not faked.</a:t>
            </a:r>
            <a:endParaRPr lang="en-US" sz="730" dirty="0"/>
          </a:p>
        </p:txBody>
      </p:sp>
      <p:sp>
        <p:nvSpPr>
          <p:cNvPr id="57" name="Shape 55"/>
          <p:cNvSpPr/>
          <p:nvPr/>
        </p:nvSpPr>
        <p:spPr>
          <a:xfrm>
            <a:off x="612648" y="5266944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12648" y="529437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 invoiced (Sysnet)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2971800" y="529437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file drop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Weekly file drop (unchanged)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172200" y="5399532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8CA0AC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6172200" y="539953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BEFORE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7498080" y="5294376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extracts current to 20 Sep (received 21 Sep). Movement register (new-MRR line of record) refresh still pending.</a:t>
            </a:r>
            <a:endParaRPr lang="en-US" sz="730" dirty="0"/>
          </a:p>
        </p:txBody>
      </p:sp>
      <p:sp>
        <p:nvSpPr>
          <p:cNvPr id="63" name="Shape 61"/>
          <p:cNvSpPr/>
          <p:nvPr/>
        </p:nvSpPr>
        <p:spPr>
          <a:xfrm>
            <a:off x="612648" y="5824728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2648" y="58521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 / GTM / AI usage / ValPay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2971800" y="58521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File drops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File drops (unchanged)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172200" y="5957316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8CA0AC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6172200" y="5957316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BEFORE</a:t>
            </a:r>
            <a:endParaRPr lang="en-US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7498080" y="5852160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tracker current; Claude admin weekly capture received; ValPay export as at 6 Sep — weekly drop pending.</a:t>
            </a:r>
            <a:endParaRPr lang="en-US" sz="730" dirty="0"/>
          </a:p>
        </p:txBody>
      </p:sp>
      <p:sp>
        <p:nvSpPr>
          <p:cNvPr id="69" name="Text 67"/>
          <p:cNvSpPr txBox="1"/>
          <p:nvPr/>
        </p:nvSpPr>
        <p:spPr>
          <a:xfrm>
            <a:off x="411480" y="652881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Week-on-week comparisons that cross the cutover are basis changes, not performance moves — treat levels as a new baseline where flagged.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9202522" y="6510528"/>
            <a:ext cx="257495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9202522" y="6510528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cutover register · HANDOFF.md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Executive Summary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94360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OVERALL PERFORMANCE &amp; FINANCE SUMMARY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$410k = 57% of $715k vs 89% pace; this week +$38k gross (HW discounts -$10k); new-MRR register refresh pending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79392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462272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ACCOUNT MANAGEMENT SUMMARY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462272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closed-won this week 46 deals · $161k (HubSpot); Q3 pipe $335k unweighted / $123k weighted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47304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30184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 SUMMARY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330184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not measurable during cutover — HubSpot time logging ramping (99h on 48 cases)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1480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94360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SUMMARY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inflow 490 vs resolved 591 — backlog 570 and falling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79392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462272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462272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roadmap: 10 done · 12 on track · 3 not started · 2 at risk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47304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330184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SUMMARY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330184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AI-draft adoption 6.2% this week (4/65) — first HubSpot-measured week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" y="651052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Commentary is leadership-editable — pre-filled lines are computed from this week's sources; 'xx' needs an owner's input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94360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— Q3 · OKR2 $28k · team $30k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$28k target · as at 6 Sep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794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Δ wk: register refresh pending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94360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1901952"/>
            <a:ext cx="1640434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9" name="Shape 17"/>
          <p:cNvSpPr/>
          <p:nvPr/>
        </p:nvSpPr>
        <p:spPr>
          <a:xfrm>
            <a:off x="4327855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92040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89%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45352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— Q3 · OKR2 $715k · team $761k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428232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$715k target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+$38k this wk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428232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26" name="Shape 24"/>
          <p:cNvSpPr/>
          <p:nvPr/>
        </p:nvSpPr>
        <p:spPr>
          <a:xfrm>
            <a:off x="6428232" y="1901952"/>
            <a:ext cx="2397557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27" name="Shape 25"/>
          <p:cNvSpPr/>
          <p:nvPr/>
        </p:nvSpPr>
        <p:spPr>
          <a:xfrm>
            <a:off x="10161727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725912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89%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11480" y="2340864"/>
            <a:ext cx="7635240" cy="4041648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2648" y="2450592"/>
            <a:ext cx="723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BY MEMBER   </a:t>
            </a:r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▮ pace mark = share of quarter elapsed (89%)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221992" y="272491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($/qtr) · as at 6 Sep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617720" y="272491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($/qtr) · extracts to 20 Sep · Δ wk = 14–20 Sep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" y="29443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2221992" y="29443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2807208" y="29443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3429000" y="2944368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617720" y="29443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294376" y="29443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6007608" y="2944368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7013448" y="294436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Δ WK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12648" y="346100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12648" y="3182112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2221992" y="318211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2807208" y="318211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3465576" y="329412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46" name="Shape 44"/>
          <p:cNvSpPr/>
          <p:nvPr/>
        </p:nvSpPr>
        <p:spPr>
          <a:xfrm>
            <a:off x="3465576" y="3294126"/>
            <a:ext cx="56327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47" name="Shape 45"/>
          <p:cNvSpPr/>
          <p:nvPr/>
        </p:nvSpPr>
        <p:spPr>
          <a:xfrm>
            <a:off x="4106570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33672" y="318211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77%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4617720" y="318211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$140k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5294376" y="3182112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$52k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044184" y="329412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52" name="Shape 50"/>
          <p:cNvSpPr/>
          <p:nvPr/>
        </p:nvSpPr>
        <p:spPr>
          <a:xfrm>
            <a:off x="6044184" y="3294126"/>
            <a:ext cx="270662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53" name="Shape 51"/>
          <p:cNvSpPr/>
          <p:nvPr/>
        </p:nvSpPr>
        <p:spPr>
          <a:xfrm>
            <a:off x="6685178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812280" y="318211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37%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7013448" y="3182112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+4k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12648" y="377647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12648" y="3497580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2221992" y="349758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2807208" y="349758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3465576" y="360959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65576" y="3609594"/>
            <a:ext cx="431597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62" name="Shape 60"/>
          <p:cNvSpPr/>
          <p:nvPr/>
        </p:nvSpPr>
        <p:spPr>
          <a:xfrm>
            <a:off x="4106570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33672" y="349758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59%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4617720" y="349758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$143k</a:t>
            </a:r>
            <a:endParaRPr lang="en-US" sz="850" dirty="0"/>
          </a:p>
        </p:txBody>
      </p:sp>
      <p:sp>
        <p:nvSpPr>
          <p:cNvPr id="65" name="Text 63"/>
          <p:cNvSpPr txBox="1"/>
          <p:nvPr/>
        </p:nvSpPr>
        <p:spPr>
          <a:xfrm>
            <a:off x="5294376" y="3497580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$78k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044184" y="360959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67" name="Shape 65"/>
          <p:cNvSpPr/>
          <p:nvPr/>
        </p:nvSpPr>
        <p:spPr>
          <a:xfrm>
            <a:off x="6044184" y="3609594"/>
            <a:ext cx="395021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68" name="Shape 66"/>
          <p:cNvSpPr/>
          <p:nvPr/>
        </p:nvSpPr>
        <p:spPr>
          <a:xfrm>
            <a:off x="6685178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812280" y="349758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54%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7013448" y="3497580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+2k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612648" y="4091940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12648" y="3813048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2221992" y="3813048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74" name="Text 72"/>
          <p:cNvSpPr txBox="1"/>
          <p:nvPr/>
        </p:nvSpPr>
        <p:spPr>
          <a:xfrm>
            <a:off x="2807208" y="3813048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3465576" y="3925062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76" name="Shape 74"/>
          <p:cNvSpPr/>
          <p:nvPr/>
        </p:nvSpPr>
        <p:spPr>
          <a:xfrm>
            <a:off x="3465576" y="3925062"/>
            <a:ext cx="343814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77" name="Shape 75"/>
          <p:cNvSpPr/>
          <p:nvPr/>
        </p:nvSpPr>
        <p:spPr>
          <a:xfrm>
            <a:off x="4106570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33672" y="3813048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47%</a:t>
            </a:r>
            <a:endParaRPr lang="en-US" sz="800" dirty="0"/>
          </a:p>
        </p:txBody>
      </p:sp>
      <p:sp>
        <p:nvSpPr>
          <p:cNvPr id="79" name="Text 77"/>
          <p:cNvSpPr txBox="1"/>
          <p:nvPr/>
        </p:nvSpPr>
        <p:spPr>
          <a:xfrm>
            <a:off x="4617720" y="3813048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$163k</a:t>
            </a:r>
            <a:endParaRPr lang="en-US" sz="850" dirty="0"/>
          </a:p>
        </p:txBody>
      </p:sp>
      <p:sp>
        <p:nvSpPr>
          <p:cNvPr id="80" name="Text 78"/>
          <p:cNvSpPr txBox="1"/>
          <p:nvPr/>
        </p:nvSpPr>
        <p:spPr>
          <a:xfrm>
            <a:off x="5294376" y="3813048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$51k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044184" y="3925062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82" name="Shape 80"/>
          <p:cNvSpPr/>
          <p:nvPr/>
        </p:nvSpPr>
        <p:spPr>
          <a:xfrm>
            <a:off x="6044184" y="3925062"/>
            <a:ext cx="226771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83" name="Shape 81"/>
          <p:cNvSpPr/>
          <p:nvPr/>
        </p:nvSpPr>
        <p:spPr>
          <a:xfrm>
            <a:off x="6685178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6812280" y="3813048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31%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7013448" y="3813048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+5k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612648" y="4407408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12648" y="4128516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 Hikuroa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2221992" y="4128516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850" dirty="0"/>
          </a:p>
        </p:txBody>
      </p:sp>
      <p:sp>
        <p:nvSpPr>
          <p:cNvPr id="89" name="Text 87"/>
          <p:cNvSpPr txBox="1"/>
          <p:nvPr/>
        </p:nvSpPr>
        <p:spPr>
          <a:xfrm>
            <a:off x="2807208" y="4128516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3465576" y="4240530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91" name="Shape 89"/>
          <p:cNvSpPr/>
          <p:nvPr/>
        </p:nvSpPr>
        <p:spPr>
          <a:xfrm>
            <a:off x="3465576" y="4240530"/>
            <a:ext cx="204826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92" name="Shape 90"/>
          <p:cNvSpPr/>
          <p:nvPr/>
        </p:nvSpPr>
        <p:spPr>
          <a:xfrm>
            <a:off x="4106570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4233672" y="4128516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28%</a:t>
            </a:r>
            <a:endParaRPr lang="en-US" sz="800" dirty="0"/>
          </a:p>
        </p:txBody>
      </p:sp>
      <p:sp>
        <p:nvSpPr>
          <p:cNvPr id="94" name="Text 92"/>
          <p:cNvSpPr txBox="1"/>
          <p:nvPr/>
        </p:nvSpPr>
        <p:spPr>
          <a:xfrm>
            <a:off x="4617720" y="4128516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$214k</a:t>
            </a:r>
            <a:endParaRPr lang="en-US" sz="850" dirty="0"/>
          </a:p>
        </p:txBody>
      </p:sp>
      <p:sp>
        <p:nvSpPr>
          <p:cNvPr id="95" name="Text 93"/>
          <p:cNvSpPr txBox="1"/>
          <p:nvPr/>
        </p:nvSpPr>
        <p:spPr>
          <a:xfrm>
            <a:off x="5294376" y="4128516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$143k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6044184" y="4240530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97" name="Shape 95"/>
          <p:cNvSpPr/>
          <p:nvPr/>
        </p:nvSpPr>
        <p:spPr>
          <a:xfrm>
            <a:off x="6044184" y="4240530"/>
            <a:ext cx="490118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98" name="Shape 96"/>
          <p:cNvSpPr/>
          <p:nvPr/>
        </p:nvSpPr>
        <p:spPr>
          <a:xfrm>
            <a:off x="6685178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6812280" y="4128516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800" dirty="0"/>
          </a:p>
        </p:txBody>
      </p:sp>
      <p:sp>
        <p:nvSpPr>
          <p:cNvPr id="100" name="Text 98"/>
          <p:cNvSpPr txBox="1"/>
          <p:nvPr/>
        </p:nvSpPr>
        <p:spPr>
          <a:xfrm>
            <a:off x="7013448" y="4128516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+27k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12648" y="4722876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612648" y="4443984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900" dirty="0"/>
          </a:p>
        </p:txBody>
      </p:sp>
      <p:sp>
        <p:nvSpPr>
          <p:cNvPr id="103" name="Text 101"/>
          <p:cNvSpPr txBox="1"/>
          <p:nvPr/>
        </p:nvSpPr>
        <p:spPr>
          <a:xfrm>
            <a:off x="2221992" y="4443984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104" name="Text 102"/>
          <p:cNvSpPr txBox="1"/>
          <p:nvPr/>
        </p:nvSpPr>
        <p:spPr>
          <a:xfrm>
            <a:off x="2807208" y="4443984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$154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3465576" y="4555998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465576" y="4555998"/>
            <a:ext cx="58522" cy="100584"/>
          </a:xfrm>
          <a:prstGeom prst="roundRect">
            <a:avLst>
              <a:gd name="adj" fmla="val 78124"/>
            </a:avLst>
          </a:prstGeom>
          <a:solidFill>
            <a:srgbClr val="B4552D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106570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4233672" y="4443984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8%</a:t>
            </a:r>
            <a:endParaRPr lang="en-US" sz="800" dirty="0"/>
          </a:p>
        </p:txBody>
      </p:sp>
      <p:sp>
        <p:nvSpPr>
          <p:cNvPr id="109" name="Text 107"/>
          <p:cNvSpPr txBox="1"/>
          <p:nvPr/>
        </p:nvSpPr>
        <p:spPr>
          <a:xfrm>
            <a:off x="4617720" y="4443984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$55k</a:t>
            </a:r>
            <a:endParaRPr lang="en-US" sz="850" dirty="0"/>
          </a:p>
        </p:txBody>
      </p:sp>
      <p:sp>
        <p:nvSpPr>
          <p:cNvPr id="110" name="Text 108"/>
          <p:cNvSpPr txBox="1"/>
          <p:nvPr/>
        </p:nvSpPr>
        <p:spPr>
          <a:xfrm>
            <a:off x="5294376" y="4443984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$13k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6044184" y="4555998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044184" y="4555998"/>
            <a:ext cx="16825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685178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6812280" y="4443984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23%</a:t>
            </a:r>
            <a:endParaRPr lang="en-US" sz="800" dirty="0"/>
          </a:p>
        </p:txBody>
      </p:sp>
      <p:sp>
        <p:nvSpPr>
          <p:cNvPr id="115" name="Text 113"/>
          <p:cNvSpPr txBox="1"/>
          <p:nvPr/>
        </p:nvSpPr>
        <p:spPr>
          <a:xfrm>
            <a:off x="7013448" y="4443984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+0k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612648" y="503834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612648" y="4759452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900" dirty="0"/>
          </a:p>
        </p:txBody>
      </p:sp>
      <p:sp>
        <p:nvSpPr>
          <p:cNvPr id="118" name="Text 116"/>
          <p:cNvSpPr txBox="1"/>
          <p:nvPr/>
        </p:nvSpPr>
        <p:spPr>
          <a:xfrm>
            <a:off x="2221992" y="475945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119" name="Text 117"/>
          <p:cNvSpPr txBox="1"/>
          <p:nvPr/>
        </p:nvSpPr>
        <p:spPr>
          <a:xfrm>
            <a:off x="2807208" y="475945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3465576" y="487146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465576" y="4871466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06570" y="482574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4233672" y="475945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00" dirty="0"/>
          </a:p>
        </p:txBody>
      </p:sp>
      <p:sp>
        <p:nvSpPr>
          <p:cNvPr id="124" name="Text 122"/>
          <p:cNvSpPr txBox="1"/>
          <p:nvPr/>
        </p:nvSpPr>
        <p:spPr>
          <a:xfrm>
            <a:off x="4617720" y="475945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$46k</a:t>
            </a:r>
            <a:endParaRPr lang="en-US" sz="850" dirty="0"/>
          </a:p>
        </p:txBody>
      </p:sp>
      <p:sp>
        <p:nvSpPr>
          <p:cNvPr id="125" name="Text 123"/>
          <p:cNvSpPr txBox="1"/>
          <p:nvPr/>
        </p:nvSpPr>
        <p:spPr>
          <a:xfrm>
            <a:off x="5294376" y="4759452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26" name="Text 124"/>
          <p:cNvSpPr txBox="1"/>
          <p:nvPr/>
        </p:nvSpPr>
        <p:spPr>
          <a:xfrm>
            <a:off x="6007608" y="4759452"/>
            <a:ext cx="96926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27" name="Text 125"/>
          <p:cNvSpPr txBox="1"/>
          <p:nvPr/>
        </p:nvSpPr>
        <p:spPr>
          <a:xfrm>
            <a:off x="7013448" y="4759452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28" name="Shape 126"/>
          <p:cNvSpPr/>
          <p:nvPr/>
        </p:nvSpPr>
        <p:spPr>
          <a:xfrm>
            <a:off x="612648" y="535381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612648" y="5074920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Unassigned</a:t>
            </a:r>
            <a:endParaRPr lang="en-US" sz="900" dirty="0"/>
          </a:p>
        </p:txBody>
      </p:sp>
      <p:sp>
        <p:nvSpPr>
          <p:cNvPr id="130" name="Text 128"/>
          <p:cNvSpPr txBox="1"/>
          <p:nvPr/>
        </p:nvSpPr>
        <p:spPr>
          <a:xfrm>
            <a:off x="2221992" y="507492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131" name="Text 129"/>
          <p:cNvSpPr txBox="1"/>
          <p:nvPr/>
        </p:nvSpPr>
        <p:spPr>
          <a:xfrm>
            <a:off x="2807208" y="507492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$40</a:t>
            </a:r>
            <a:endParaRPr lang="en-US" sz="850" dirty="0"/>
          </a:p>
        </p:txBody>
      </p:sp>
      <p:sp>
        <p:nvSpPr>
          <p:cNvPr id="132" name="Shape 130"/>
          <p:cNvSpPr/>
          <p:nvPr/>
        </p:nvSpPr>
        <p:spPr>
          <a:xfrm>
            <a:off x="3465576" y="518693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465576" y="5186934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106570" y="514121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4233672" y="507492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1%</a:t>
            </a:r>
            <a:endParaRPr lang="en-US" sz="800" dirty="0"/>
          </a:p>
        </p:txBody>
      </p:sp>
      <p:sp>
        <p:nvSpPr>
          <p:cNvPr id="136" name="Text 134"/>
          <p:cNvSpPr txBox="1"/>
          <p:nvPr/>
        </p:nvSpPr>
        <p:spPr>
          <a:xfrm>
            <a:off x="4617720" y="507492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7" name="Text 135"/>
          <p:cNvSpPr txBox="1"/>
          <p:nvPr/>
        </p:nvSpPr>
        <p:spPr>
          <a:xfrm>
            <a:off x="5294376" y="5074920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6007608" y="5074920"/>
            <a:ext cx="96926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7013448" y="5074920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40" name="Shape 138"/>
          <p:cNvSpPr/>
          <p:nvPr/>
        </p:nvSpPr>
        <p:spPr>
          <a:xfrm>
            <a:off x="612648" y="5381244"/>
            <a:ext cx="7232904" cy="14630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12648" y="542696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TEAM TOTAL</a:t>
            </a:r>
            <a:endParaRPr lang="en-US" sz="900" dirty="0"/>
          </a:p>
        </p:txBody>
      </p:sp>
      <p:sp>
        <p:nvSpPr>
          <p:cNvPr id="142" name="Text 140"/>
          <p:cNvSpPr txBox="1"/>
          <p:nvPr/>
        </p:nvSpPr>
        <p:spPr>
          <a:xfrm>
            <a:off x="2221992" y="54269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$30k</a:t>
            </a:r>
            <a:endParaRPr lang="en-US" sz="850" dirty="0"/>
          </a:p>
        </p:txBody>
      </p:sp>
      <p:sp>
        <p:nvSpPr>
          <p:cNvPr id="143" name="Text 141"/>
          <p:cNvSpPr txBox="1"/>
          <p:nvPr/>
        </p:nvSpPr>
        <p:spPr>
          <a:xfrm>
            <a:off x="2807208" y="54269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$11k*</a:t>
            </a:r>
            <a:endParaRPr lang="en-US" sz="850" dirty="0"/>
          </a:p>
        </p:txBody>
      </p:sp>
      <p:sp>
        <p:nvSpPr>
          <p:cNvPr id="144" name="Text 142"/>
          <p:cNvSpPr txBox="1"/>
          <p:nvPr/>
        </p:nvSpPr>
        <p:spPr>
          <a:xfrm>
            <a:off x="4617720" y="54269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$761k</a:t>
            </a:r>
            <a:endParaRPr lang="en-US" sz="850" dirty="0"/>
          </a:p>
        </p:txBody>
      </p:sp>
      <p:sp>
        <p:nvSpPr>
          <p:cNvPr id="145" name="Text 143"/>
          <p:cNvSpPr txBox="1"/>
          <p:nvPr/>
        </p:nvSpPr>
        <p:spPr>
          <a:xfrm>
            <a:off x="5294376" y="54269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$410k</a:t>
            </a:r>
            <a:endParaRPr lang="en-US" sz="850" dirty="0"/>
          </a:p>
        </p:txBody>
      </p:sp>
      <p:sp>
        <p:nvSpPr>
          <p:cNvPr id="146" name="Text 144"/>
          <p:cNvSpPr txBox="1"/>
          <p:nvPr/>
        </p:nvSpPr>
        <p:spPr>
          <a:xfrm>
            <a:off x="6007608" y="5426964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54%</a:t>
            </a:r>
            <a:endParaRPr lang="en-US" sz="850" dirty="0"/>
          </a:p>
        </p:txBody>
      </p:sp>
      <p:sp>
        <p:nvSpPr>
          <p:cNvPr id="147" name="Text 145"/>
          <p:cNvSpPr txBox="1"/>
          <p:nvPr/>
        </p:nvSpPr>
        <p:spPr>
          <a:xfrm>
            <a:off x="7013448" y="54269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+38k</a:t>
            </a:r>
            <a:endParaRPr lang="en-US" sz="850" dirty="0"/>
          </a:p>
        </p:txBody>
      </p:sp>
      <p:sp>
        <p:nvSpPr>
          <p:cNvPr id="148" name="Text 146"/>
          <p:cNvSpPr txBox="1"/>
          <p:nvPr/>
        </p:nvSpPr>
        <p:spPr>
          <a:xfrm>
            <a:off x="612648" y="5719572"/>
            <a:ext cx="7232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* MRR QTD held at last register run (6 Sep) — movement register refresh pending post-cutover</a:t>
            </a:r>
            <a:endParaRPr lang="en-US" sz="720" dirty="0"/>
          </a:p>
        </p:txBody>
      </p:sp>
      <p:sp>
        <p:nvSpPr>
          <p:cNvPr id="149" name="Shape 147"/>
          <p:cNvSpPr/>
          <p:nvPr/>
        </p:nvSpPr>
        <p:spPr>
          <a:xfrm>
            <a:off x="8229600" y="2340864"/>
            <a:ext cx="3547872" cy="4041648"/>
          </a:xfrm>
          <a:prstGeom prst="roundRect">
            <a:avLst>
              <a:gd name="adj" fmla="val 1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50" name="Text 148"/>
          <p:cNvSpPr txBox="1"/>
          <p:nvPr/>
        </p:nvSpPr>
        <p:spPr>
          <a:xfrm>
            <a:off x="8430768" y="2450592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8430768" y="2761488"/>
            <a:ext cx="3136392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is $410k (57%)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against an 89% pace mark. This week's extract (14–20 Sep) added $38k gross — Jasmine +$27k, Bradford +$5k, Bjorn +$4k; the prior (7–13 Sep) week's $38k closed the skipped WC 7 Sep deck.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Watch the discounts: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discounts ran -$10.2k this week (-$10.0k on Jasmine's deals) vs -$2.2k last week — gross $37.6k nets to $27.4k.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is the remaining gap: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movement register (the line of record) hasn't rerun since 6 Sep; this week's extract shows a net -$148 S/W subscription movement (credits), a different measure shown for direction only.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HW = commissionable only, gross of discounts · attainment = invoiced, never closed-won · pace = day 82 of 92 in Q3.</a:t>
            </a:r>
            <a:endParaRPr lang="en-US" sz="900" dirty="0"/>
          </a:p>
        </p:txBody>
      </p:sp>
      <p:sp>
        <p:nvSpPr>
          <p:cNvPr id="152" name="Shape 150"/>
          <p:cNvSpPr/>
          <p:nvPr/>
        </p:nvSpPr>
        <p:spPr>
          <a:xfrm>
            <a:off x="7026250" y="6510528"/>
            <a:ext cx="4751222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7026250" y="6510528"/>
            <a:ext cx="475122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Sysnet extracts to 20 Sep + sales targets · MRR register pending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Products — Target vs Traction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94360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NEW-PRODUCT MRR — SEPTEMBER · committed $30k/mo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133502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recorded of $30k committed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3931920" y="137160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+10 Roam deals this wk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94360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20" name="Shape 18"/>
          <p:cNvSpPr/>
          <p:nvPr/>
        </p:nvSpPr>
        <p:spPr>
          <a:xfrm>
            <a:off x="594360" y="1901952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21" name="Shape 19"/>
          <p:cNvSpPr/>
          <p:nvPr/>
        </p:nvSpPr>
        <p:spPr>
          <a:xfrm>
            <a:off x="3402482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92040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67%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45352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428232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PATH TO DECEMBER · exit $136.8k MRR · 77% AI-built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428232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$137k committed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plan-to-date $30k/mo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428232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28" name="Shape 26"/>
          <p:cNvSpPr/>
          <p:nvPr/>
        </p:nvSpPr>
        <p:spPr>
          <a:xfrm>
            <a:off x="6428232" y="1901952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29" name="Shape 27"/>
          <p:cNvSpPr/>
          <p:nvPr/>
        </p:nvSpPr>
        <p:spPr>
          <a:xfrm>
            <a:off x="7343546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725912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22%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11480" y="2340864"/>
            <a:ext cx="7635240" cy="4041648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450592"/>
            <a:ext cx="723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PRODUCT   </a:t>
            </a:r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▮ open pipe &amp; Δ now HubSpot keyword-matched (deal name) · MRR from the deal mrr field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" y="2798064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2560320" y="2798064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 TGT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3383280" y="279806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 MRR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4251960" y="279806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STATE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5486400" y="2798064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Δ WK PIPE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6400800" y="279806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 TGT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6995160" y="27980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PIPE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12648" y="3584448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12648" y="307238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2560320" y="3072384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$25k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3383280" y="3072384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4251960" y="3072384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5486400" y="3072384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6400800" y="3072384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$83k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6995160" y="3072384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· $598/mo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12648" y="4151376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12648" y="3639312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Product BI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2560320" y="3639312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1" name="Text 49"/>
          <p:cNvSpPr txBox="1"/>
          <p:nvPr/>
        </p:nvSpPr>
        <p:spPr>
          <a:xfrm>
            <a:off x="3383280" y="3639312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4251960" y="3639312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starts Oct</a:t>
            </a:r>
            <a:endParaRPr lang="en-US" sz="850" dirty="0"/>
          </a:p>
        </p:txBody>
      </p:sp>
      <p:sp>
        <p:nvSpPr>
          <p:cNvPr id="53" name="Text 51"/>
          <p:cNvSpPr txBox="1"/>
          <p:nvPr/>
        </p:nvSpPr>
        <p:spPr>
          <a:xfrm>
            <a:off x="5486400" y="3639312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4" name="Text 52"/>
          <p:cNvSpPr txBox="1"/>
          <p:nvPr/>
        </p:nvSpPr>
        <p:spPr>
          <a:xfrm>
            <a:off x="6400800" y="3639312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$13k</a:t>
            </a:r>
            <a:endParaRPr lang="en-US" sz="850" dirty="0"/>
          </a:p>
        </p:txBody>
      </p:sp>
      <p:sp>
        <p:nvSpPr>
          <p:cNvPr id="55" name="Text 53"/>
          <p:cNvSpPr txBox="1"/>
          <p:nvPr/>
        </p:nvSpPr>
        <p:spPr>
          <a:xfrm>
            <a:off x="6995160" y="3639312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 · $0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12648" y="471830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12648" y="420624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2560320" y="4206240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$1k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3383280" y="4206240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60" name="Text 58"/>
          <p:cNvSpPr txBox="1"/>
          <p:nvPr/>
        </p:nvSpPr>
        <p:spPr>
          <a:xfrm>
            <a:off x="4251960" y="4206240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50" dirty="0"/>
          </a:p>
        </p:txBody>
      </p:sp>
      <p:sp>
        <p:nvSpPr>
          <p:cNvPr id="61" name="Text 59"/>
          <p:cNvSpPr txBox="1"/>
          <p:nvPr/>
        </p:nvSpPr>
        <p:spPr>
          <a:xfrm>
            <a:off x="5486400" y="420624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6400800" y="4206240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$9k</a:t>
            </a:r>
            <a:endParaRPr lang="en-US" sz="850" dirty="0"/>
          </a:p>
        </p:txBody>
      </p:sp>
      <p:sp>
        <p:nvSpPr>
          <p:cNvPr id="63" name="Text 61"/>
          <p:cNvSpPr txBox="1"/>
          <p:nvPr/>
        </p:nvSpPr>
        <p:spPr>
          <a:xfrm>
            <a:off x="6995160" y="4206240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$598/mo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612648" y="528523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12648" y="477316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 (MobilePOS)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2560320" y="4773168"/>
            <a:ext cx="777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67" name="Text 65"/>
          <p:cNvSpPr txBox="1"/>
          <p:nvPr/>
        </p:nvSpPr>
        <p:spPr>
          <a:xfrm>
            <a:off x="3383280" y="4773168"/>
            <a:ext cx="822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4251960" y="477316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wins · MRR untagged</a:t>
            </a:r>
            <a:endParaRPr lang="en-US" sz="850" dirty="0"/>
          </a:p>
        </p:txBody>
      </p:sp>
      <p:sp>
        <p:nvSpPr>
          <p:cNvPr id="69" name="Text 67"/>
          <p:cNvSpPr txBox="1"/>
          <p:nvPr/>
        </p:nvSpPr>
        <p:spPr>
          <a:xfrm>
            <a:off x="5486400" y="4773168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+10 deals</a:t>
            </a:r>
            <a:endParaRPr lang="en-US" sz="850" dirty="0"/>
          </a:p>
        </p:txBody>
      </p:sp>
      <p:sp>
        <p:nvSpPr>
          <p:cNvPr id="70" name="Text 68"/>
          <p:cNvSpPr txBox="1"/>
          <p:nvPr/>
        </p:nvSpPr>
        <p:spPr>
          <a:xfrm>
            <a:off x="6400800" y="4773168"/>
            <a:ext cx="548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$32k</a:t>
            </a:r>
            <a:endParaRPr lang="en-US" sz="850" dirty="0"/>
          </a:p>
        </p:txBody>
      </p:sp>
      <p:sp>
        <p:nvSpPr>
          <p:cNvPr id="71" name="Text 69"/>
          <p:cNvSpPr txBox="1"/>
          <p:nvPr/>
        </p:nvSpPr>
        <p:spPr>
          <a:xfrm>
            <a:off x="6995160" y="4773168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· $372/mo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612648" y="5358384"/>
            <a:ext cx="7232904" cy="14630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12648" y="5413248"/>
            <a:ext cx="723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  </a:t>
            </a:r>
            <a:pPr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$30k committed · $0 recorded · open pipe 24 deals · ~$1.6k/mo keyword-matched</a:t>
            </a:r>
            <a:endParaRPr lang="en-US" sz="950" dirty="0"/>
          </a:p>
        </p:txBody>
      </p:sp>
      <p:sp>
        <p:nvSpPr>
          <p:cNvPr id="74" name="Text 72"/>
          <p:cNvSpPr txBox="1"/>
          <p:nvPr/>
        </p:nvSpPr>
        <p:spPr>
          <a:xfrm>
            <a:off x="612648" y="5779008"/>
            <a:ext cx="7232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COMMITTED TRAJECTORY   </a:t>
            </a:r>
            <a:pPr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$10k → Sep $30k → Oct $60k → Nov $97k → Dec $137k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8229600" y="2340864"/>
            <a:ext cx="3547872" cy="4041648"/>
          </a:xfrm>
          <a:prstGeom prst="roundRect">
            <a:avLst>
              <a:gd name="adj" fmla="val 1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6" name="Text 74"/>
          <p:cNvSpPr txBox="1"/>
          <p:nvPr/>
        </p:nvSpPr>
        <p:spPr>
          <a:xfrm>
            <a:off x="8430768" y="2450592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8430768" y="2761488"/>
            <a:ext cx="3136392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September recorded MRR is $0 on the new basis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2 Roam wins closed this month carry no MRR value on the deal. That's a tagging gap to fix in HubSpot, not zero traction.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 is moving: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+10 Roam-matched deals created this week; open pipe 18 · $372/mo (Roam), 2 · $598/mo (Sentinel).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keyword matching moved from Creatio opportunity names to HubSpot deal names, and $ now read the deal mrr field — levels reset against last week's $217 QTD.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Demos &amp; pilots still come from the product-team feed — the CRM carries no demo/pilot signal. Product tagging in HubSpot is the unlock.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7834579" y="6510528"/>
            <a:ext cx="394289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7834579" y="6510528"/>
            <a:ext cx="394289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(keyword-matched deal names) + product plan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— Our Referrals to ValPay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· figures as at 6 Sep — weekly export pending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REFERRALS GIVEN — ALL-TIME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tagged referred deals in the partner pipeline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GMV — SIGNED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$38M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deals won · 39% of all wins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17220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3679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— OPEN PIPELINE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31850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$245M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633679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referred deals in negotiation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9052560" y="1024128"/>
            <a:ext cx="27249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217152" y="11155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IDENTIFIED BY H&amp;L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9198864" y="1298448"/>
            <a:ext cx="24323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9217152" y="169164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identification register — tracked ahead of referral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411480" y="2395728"/>
            <a:ext cx="4343400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2648" y="25054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IS GIVING THE REFERRALS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12648" y="28529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REFERRER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2651760" y="2852928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GIVEN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3337560" y="285292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3840480" y="285292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GMV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12648" y="3502152"/>
            <a:ext cx="394106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12648" y="31089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2651760" y="310896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3337560" y="310896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3840480" y="3108960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$65M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612648" y="3941064"/>
            <a:ext cx="394106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12648" y="3547872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2651760" y="3547872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3337560" y="354787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3840480" y="3547872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$31M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12648" y="4379976"/>
            <a:ext cx="394106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2648" y="3986784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2651760" y="3986784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3337560" y="398678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3840480" y="3986784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$146M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12648" y="4818888"/>
            <a:ext cx="394106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12648" y="4425696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2651760" y="4425696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850" dirty="0"/>
          </a:p>
        </p:txBody>
      </p:sp>
      <p:sp>
        <p:nvSpPr>
          <p:cNvPr id="53" name="Text 51"/>
          <p:cNvSpPr txBox="1"/>
          <p:nvPr/>
        </p:nvSpPr>
        <p:spPr>
          <a:xfrm>
            <a:off x="3337560" y="442569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850" dirty="0"/>
          </a:p>
        </p:txBody>
      </p:sp>
      <p:sp>
        <p:nvSpPr>
          <p:cNvPr id="54" name="Text 52"/>
          <p:cNvSpPr txBox="1"/>
          <p:nvPr/>
        </p:nvSpPr>
        <p:spPr>
          <a:xfrm>
            <a:off x="3840480" y="4425696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$5M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612648" y="5257800"/>
            <a:ext cx="394106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12648" y="486460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850" dirty="0"/>
          </a:p>
        </p:txBody>
      </p:sp>
      <p:sp>
        <p:nvSpPr>
          <p:cNvPr id="57" name="Text 55"/>
          <p:cNvSpPr txBox="1"/>
          <p:nvPr/>
        </p:nvSpPr>
        <p:spPr>
          <a:xfrm>
            <a:off x="2651760" y="4864608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850" dirty="0"/>
          </a:p>
        </p:txBody>
      </p:sp>
      <p:sp>
        <p:nvSpPr>
          <p:cNvPr id="58" name="Text 56"/>
          <p:cNvSpPr txBox="1"/>
          <p:nvPr/>
        </p:nvSpPr>
        <p:spPr>
          <a:xfrm>
            <a:off x="3337560" y="486460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3840480" y="4864608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$23M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612648" y="5696712"/>
            <a:ext cx="394106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612648" y="530352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Unattributed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2651760" y="5303520"/>
            <a:ext cx="640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63" name="Text 61"/>
          <p:cNvSpPr txBox="1"/>
          <p:nvPr/>
        </p:nvSpPr>
        <p:spPr>
          <a:xfrm>
            <a:off x="3337560" y="530352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64" name="Text 62"/>
          <p:cNvSpPr txBox="1"/>
          <p:nvPr/>
        </p:nvSpPr>
        <p:spPr>
          <a:xfrm>
            <a:off x="3840480" y="5303520"/>
            <a:ext cx="7132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$15M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4892040" y="2395728"/>
            <a:ext cx="3017520" cy="3566160"/>
          </a:xfrm>
          <a:prstGeom prst="roundRect">
            <a:avLst>
              <a:gd name="adj" fmla="val 2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6" name="Text 64"/>
          <p:cNvSpPr txBox="1"/>
          <p:nvPr/>
        </p:nvSpPr>
        <p:spPr>
          <a:xfrm>
            <a:off x="5093208" y="250545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 FLOW — WHEN GIVEN</a:t>
            </a:r>
            <a:endParaRPr lang="en-US" sz="1200" dirty="0"/>
          </a:p>
        </p:txBody>
      </p:sp>
      <p:graphicFrame>
        <p:nvGraphicFramePr>
          <p:cNvPr id="67" name="Chart 0" descr=""/>
          <p:cNvGraphicFramePr/>
          <p:nvPr/>
        </p:nvGraphicFramePr>
        <p:xfrm>
          <a:off x="5056632" y="2834640"/>
          <a:ext cx="2670048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8" name="Text 65"/>
          <p:cNvSpPr txBox="1"/>
          <p:nvPr/>
        </p:nvSpPr>
        <p:spPr>
          <a:xfrm>
            <a:off x="5074920" y="54132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bars = referrals given / month · 27 YTD · as at 6 Sep export</a:t>
            </a:r>
            <a:endParaRPr lang="en-US" sz="700" dirty="0"/>
          </a:p>
        </p:txBody>
      </p:sp>
      <p:sp>
        <p:nvSpPr>
          <p:cNvPr id="69" name="Shape 66"/>
          <p:cNvSpPr/>
          <p:nvPr/>
        </p:nvSpPr>
        <p:spPr>
          <a:xfrm>
            <a:off x="8046720" y="2395728"/>
            <a:ext cx="3730752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0" name="Text 67"/>
          <p:cNvSpPr txBox="1"/>
          <p:nvPr/>
        </p:nvSpPr>
        <p:spPr>
          <a:xfrm>
            <a:off x="8247888" y="2505456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71" name="Text 68"/>
          <p:cNvSpPr txBox="1"/>
          <p:nvPr/>
        </p:nvSpPr>
        <p:spPr>
          <a:xfrm>
            <a:off x="8247888" y="2816352"/>
            <a:ext cx="331927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Our referrals convert: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referred deals → 14 wins worth $38M GMV — 39% of everything H&amp;L Pay has signed — with $245M more in negotiation.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leads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with 11 referrals (6 won). Referring is concentrated in a handful of AMs — widening the referrer base is the lever.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export pending: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ValPay drop and identification register haven't updated since 6 Sep (cutover fortnight). Figures shown are the last verified state, not this week's movement.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GMV = estimated annual (AUD) · referrer = Account Manager on the deal · 6 deals untagged — referral figures are a floor.</a:t>
            </a:r>
            <a:endParaRPr lang="en-US" sz="900" dirty="0"/>
          </a:p>
        </p:txBody>
      </p:sp>
      <p:sp>
        <p:nvSpPr>
          <p:cNvPr id="72" name="Text 69"/>
          <p:cNvSpPr txBox="1"/>
          <p:nvPr/>
        </p:nvSpPr>
        <p:spPr>
          <a:xfrm>
            <a:off x="411480" y="614476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Temp basis note: identification register tracks accounts H&amp;L flags before referral — CRM-to-CRM connection with ValPay still to come.</a:t>
            </a:r>
            <a:endParaRPr lang="en-US" sz="750" dirty="0"/>
          </a:p>
        </p:txBody>
      </p:sp>
      <p:sp>
        <p:nvSpPr>
          <p:cNvPr id="73" name="Shape 70"/>
          <p:cNvSpPr/>
          <p:nvPr/>
        </p:nvSpPr>
        <p:spPr>
          <a:xfrm>
            <a:off x="7710221" y="6510528"/>
            <a:ext cx="4067251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74" name="Text 71"/>
          <p:cNvSpPr txBox="1"/>
          <p:nvPr/>
        </p:nvSpPr>
        <p:spPr>
          <a:xfrm>
            <a:off x="7710221" y="6510528"/>
            <a:ext cx="40672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ValPay export + identification register · as at 6 Sep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Pipeline — Q3 FY26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PIPELINE (UNWEIGHTED)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$335k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116 open deals with a Q3 close date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PIPELINE (WEIGHTED)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$123k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× HubSpot stage probability · point-in-time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WON — Q3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$809k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246 deals · deal amount, by close date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1024128"/>
            <a:ext cx="27249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1155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WIN RATE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98448"/>
            <a:ext cx="24323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90.1%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9164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246 won / 27 lost, closed in Q3 · by count</a:t>
            </a:r>
            <a:endParaRPr lang="en-US" sz="780" dirty="0"/>
          </a:p>
        </p:txBody>
      </p:sp>
      <p:sp>
        <p:nvSpPr>
          <p:cNvPr id="31" name="Text 29"/>
          <p:cNvSpPr txBox="1"/>
          <p:nvPr/>
        </p:nvSpPr>
        <p:spPr>
          <a:xfrm>
            <a:off x="411480" y="21945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won this wk: 46 · $161k (prior wk 20 · $44k) · new this wk: 67 · $200k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" y="2487168"/>
            <a:ext cx="6583680" cy="3913632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612648" y="259689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PIPELINE BY OWNER — UNWEIGHTED VS WEIGHTED</a:t>
            </a:r>
            <a:endParaRPr lang="en-US" sz="1200" dirty="0"/>
          </a:p>
        </p:txBody>
      </p:sp>
      <p:graphicFrame>
        <p:nvGraphicFramePr>
          <p:cNvPr id="34" name="Chart 0" descr=""/>
          <p:cNvGraphicFramePr/>
          <p:nvPr/>
        </p:nvGraphicFramePr>
        <p:xfrm>
          <a:off x="640080" y="2944368"/>
          <a:ext cx="6080760" cy="32278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5" name="Shape 32"/>
          <p:cNvSpPr/>
          <p:nvPr/>
        </p:nvSpPr>
        <p:spPr>
          <a:xfrm>
            <a:off x="7178040" y="2487168"/>
            <a:ext cx="4599432" cy="3913632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7379208" y="2596896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7379208" y="2907792"/>
            <a:ext cx="4187952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 — read levels as a new baseline.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Values are HubSpot deal amounts (AUD), not the old Creatio ARR measure; weighted uses HubSpot stage probabilities (10/30/50/80%). Closed-won Q3 reads $809k across 246 deals on this basis.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 hygiene transformed: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only 172 open deals ($360k) carry no close date — down from 1,678 in Creatio. The migrated dating debt now shows as 1,545 open deals ($2.9M) with a lapsed close date — the clean-up queue for AMs.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Movement restarts: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 movement now reads live (won / new above). Deal-level NET Δ returns as weekly HubSpot snapshots accumulate — first snapshot taken this week.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attribution now live on the open Q3 book — Bjorn holds the most ($117k unweighted).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8642909" y="6510528"/>
            <a:ext cx="313456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8642909" y="6510528"/>
            <a:ext cx="313456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(live) — cut over from Creatio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36393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BILLED VS NON-BILLED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33467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33101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work-order feed ended 4 Sep — HubSpot time logging not yet at coverage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4233672" y="1024128"/>
            <a:ext cx="36393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398264" y="1115568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UTILISATION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379976" y="1298448"/>
            <a:ext cx="33467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398264" y="1691640"/>
            <a:ext cx="33101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capacity model to be rebuilt on HubSpot hours · 80% target unchanged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8055864" y="1024128"/>
            <a:ext cx="3721608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0456" y="1115568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CASES OPENED — THIS WEEK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202168" y="1298448"/>
            <a:ext cx="3429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220456" y="1691640"/>
            <a:ext cx="3392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 40 · Integrations 14 · Training 7 · Onboarding 3 · Warranty 0 (HubSpot, live)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411480" y="2395728"/>
            <a:ext cx="6583680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12648" y="250545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HOURS LOGGED ON HUBSPOT CASES — RAMPING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280720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98.6h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2697480" y="285292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across 48 cases, all-time — the new ground truth (actual_hours on the ticket case)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349300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617720" y="34930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HOURS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5623560" y="34930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CASES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40080" y="4087368"/>
            <a:ext cx="61264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0080" y="37490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148840" y="3854196"/>
            <a:ext cx="2377440" cy="13716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617720" y="374904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45.0h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5623560" y="374904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40080" y="4471416"/>
            <a:ext cx="61264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40080" y="413308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Training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148840" y="4238244"/>
            <a:ext cx="977392" cy="13716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413308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18.5h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5623560" y="413308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40080" y="4855464"/>
            <a:ext cx="61264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40080" y="451713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Onboarding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2148840" y="4622292"/>
            <a:ext cx="998525" cy="13716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617720" y="45171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18.9h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5623560" y="45171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40080" y="5239512"/>
            <a:ext cx="61264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40080" y="490118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2148840" y="5006340"/>
            <a:ext cx="697382" cy="13716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617720" y="4901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13.2h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5623560" y="4901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640080" y="5623560"/>
            <a:ext cx="61264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40080" y="528523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Warranty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2148840" y="5390388"/>
            <a:ext cx="158496" cy="13716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4617720" y="52852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3.0h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5623560" y="52852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178040" y="2395728"/>
            <a:ext cx="4599432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0" name="Text 58"/>
          <p:cNvSpPr txBox="1"/>
          <p:nvPr/>
        </p:nvSpPr>
        <p:spPr>
          <a:xfrm>
            <a:off x="7379208" y="2505456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7379208" y="2816352"/>
            <a:ext cx="418795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is deliberately blank this week.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Creatio work-order feed (the old basis) ended 4 Sep. HubSpot's actual_hours covers ~99 hours on 48 cases all-time — far below the ~1,000h/month the old view measured, so computing a % would fabricate a collapse that isn't real.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it takes to switch this back on: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members logging actual_hours on every case (Training adds training_actual_hours), plus the 38h/week capacity roster re-based in the new reporting. The number returns automatically as coverage lands.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Demand signal is live meanwhile: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 PS cases opened this week, concentrated in Tech (40).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Last Creatio-based reading (week of 30 Aug): 69.4% total utilisation, 31.8% billed — kept as the pre-cutover baseline.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411480" y="614476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 the design ethos: where a source isn't ready the state is shown honestly — never an estimated utilisation presented as measured.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896758" y="6510528"/>
            <a:ext cx="3880714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7896758" y="6510528"/>
            <a:ext cx="38807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(hours ramping) — Creatio feed ended 4 Sep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Sales, Professional Services &amp; Finance · as at 6 Sep — refresh pending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6720840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12648" y="1097280"/>
            <a:ext cx="6318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WON ARR VS INVOICED ARR BY MONTH · 2026   </a:t>
            </a:r>
            <a:pPr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register series as last published (10 Aug deck, Creatio ARR basis) — post-cutover refresh pending</a:t>
            </a:r>
            <a:endParaRPr lang="en-US" sz="11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12648" y="1481328"/>
          <a:ext cx="6263640" cy="22219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Shape 13"/>
          <p:cNvSpPr/>
          <p:nvPr/>
        </p:nvSpPr>
        <p:spPr>
          <a:xfrm>
            <a:off x="7269480" y="1005840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434072" y="1097280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GO-LIVE — ARR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7415784" y="1280160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$250k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7434072" y="1609344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497 won since Mar · 277 invoiced · 220 outstanding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7269480" y="1993392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434072" y="2084832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CHURNED ARR · 2025→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415784" y="226771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$1.15M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7434072" y="2596896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259 logos lost</a:t>
            </a:r>
            <a:endParaRPr lang="en-US" sz="780" dirty="0"/>
          </a:p>
        </p:txBody>
      </p:sp>
      <p:sp>
        <p:nvSpPr>
          <p:cNvPr id="24" name="Shape 21"/>
          <p:cNvSpPr/>
          <p:nvPr/>
        </p:nvSpPr>
        <p:spPr>
          <a:xfrm>
            <a:off x="7269480" y="2980944"/>
            <a:ext cx="4507992" cy="905256"/>
          </a:xfrm>
          <a:prstGeom prst="roundRect">
            <a:avLst>
              <a:gd name="adj" fmla="val 70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434072" y="3072384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 MRR MOVEMENT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7415784" y="3255264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-$22k</a:t>
            </a:r>
            <a:endParaRPr lang="en-US" sz="2000" dirty="0"/>
          </a:p>
        </p:txBody>
      </p:sp>
      <p:sp>
        <p:nvSpPr>
          <p:cNvPr id="27" name="Text 24"/>
          <p:cNvSpPr txBox="1"/>
          <p:nvPr/>
        </p:nvSpPr>
        <p:spPr>
          <a:xfrm>
            <a:off x="7434072" y="3584448"/>
            <a:ext cx="4178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cumulative — the base is shrinking</a:t>
            </a:r>
            <a:endParaRPr lang="en-US" sz="780" dirty="0"/>
          </a:p>
        </p:txBody>
      </p:sp>
      <p:sp>
        <p:nvSpPr>
          <p:cNvPr id="28" name="Shape 25"/>
          <p:cNvSpPr/>
          <p:nvPr/>
        </p:nvSpPr>
        <p:spPr>
          <a:xfrm>
            <a:off x="6309360" y="4023360"/>
            <a:ext cx="5468112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6510528" y="4105656"/>
            <a:ext cx="5065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TOP 10 NOT INVOICED   </a:t>
            </a:r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 — sums to the awaiting figure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748272" y="435254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</a:t>
            </a:r>
            <a:endParaRPr lang="en-US" sz="700" dirty="0"/>
          </a:p>
        </p:txBody>
      </p:sp>
      <p:sp>
        <p:nvSpPr>
          <p:cNvPr id="31" name="Text 28"/>
          <p:cNvSpPr txBox="1"/>
          <p:nvPr/>
        </p:nvSpPr>
        <p:spPr>
          <a:xfrm>
            <a:off x="9052560" y="435254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9921240" y="435254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MRR/mo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10652760" y="435254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700" dirty="0"/>
          </a:p>
        </p:txBody>
      </p:sp>
      <p:sp>
        <p:nvSpPr>
          <p:cNvPr id="34" name="Text 31"/>
          <p:cNvSpPr txBox="1"/>
          <p:nvPr/>
        </p:nvSpPr>
        <p:spPr>
          <a:xfrm>
            <a:off x="11155680" y="435254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DEALS</a:t>
            </a:r>
            <a:endParaRPr lang="en-US" sz="700" dirty="0"/>
          </a:p>
        </p:txBody>
      </p:sp>
      <p:sp>
        <p:nvSpPr>
          <p:cNvPr id="35" name="Text 32"/>
          <p:cNvSpPr txBox="1"/>
          <p:nvPr/>
        </p:nvSpPr>
        <p:spPr>
          <a:xfrm>
            <a:off x="6510528" y="453542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00" dirty="0"/>
          </a:p>
        </p:txBody>
      </p:sp>
      <p:sp>
        <p:nvSpPr>
          <p:cNvPr id="36" name="Text 33"/>
          <p:cNvSpPr txBox="1"/>
          <p:nvPr/>
        </p:nvSpPr>
        <p:spPr>
          <a:xfrm>
            <a:off x="6748272" y="4535424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Group ◆</a:t>
            </a:r>
            <a:endParaRPr lang="en-US" sz="750" dirty="0"/>
          </a:p>
        </p:txBody>
      </p:sp>
      <p:sp>
        <p:nvSpPr>
          <p:cNvPr id="37" name="Text 34"/>
          <p:cNvSpPr txBox="1"/>
          <p:nvPr/>
        </p:nvSpPr>
        <p:spPr>
          <a:xfrm>
            <a:off x="9052560" y="4535424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$155k</a:t>
            </a:r>
            <a:endParaRPr lang="en-US" sz="750" dirty="0"/>
          </a:p>
        </p:txBody>
      </p:sp>
      <p:sp>
        <p:nvSpPr>
          <p:cNvPr id="38" name="Text 35"/>
          <p:cNvSpPr txBox="1"/>
          <p:nvPr/>
        </p:nvSpPr>
        <p:spPr>
          <a:xfrm>
            <a:off x="9921240" y="453542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$12,880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0652760" y="4535424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40" name="Text 37"/>
          <p:cNvSpPr txBox="1"/>
          <p:nvPr/>
        </p:nvSpPr>
        <p:spPr>
          <a:xfrm>
            <a:off x="11155680" y="4535424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6510528" y="4710989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00" dirty="0"/>
          </a:p>
        </p:txBody>
      </p:sp>
      <p:sp>
        <p:nvSpPr>
          <p:cNvPr id="42" name="Text 39"/>
          <p:cNvSpPr txBox="1"/>
          <p:nvPr/>
        </p:nvSpPr>
        <p:spPr>
          <a:xfrm>
            <a:off x="6748272" y="4710989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Wayi Restaurant</a:t>
            </a:r>
            <a:endParaRPr lang="en-US" sz="750" dirty="0"/>
          </a:p>
        </p:txBody>
      </p:sp>
      <p:sp>
        <p:nvSpPr>
          <p:cNvPr id="43" name="Text 40"/>
          <p:cNvSpPr txBox="1"/>
          <p:nvPr/>
        </p:nvSpPr>
        <p:spPr>
          <a:xfrm>
            <a:off x="9052560" y="4710989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$21k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9921240" y="4710989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$1,790</a:t>
            </a:r>
            <a:endParaRPr lang="en-US" sz="750" dirty="0"/>
          </a:p>
        </p:txBody>
      </p:sp>
      <p:sp>
        <p:nvSpPr>
          <p:cNvPr id="45" name="Text 42"/>
          <p:cNvSpPr txBox="1"/>
          <p:nvPr/>
        </p:nvSpPr>
        <p:spPr>
          <a:xfrm>
            <a:off x="10652760" y="4710989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</a:t>
            </a:r>
            <a:endParaRPr lang="en-US" sz="750" dirty="0"/>
          </a:p>
        </p:txBody>
      </p:sp>
      <p:sp>
        <p:nvSpPr>
          <p:cNvPr id="46" name="Text 43"/>
          <p:cNvSpPr txBox="1"/>
          <p:nvPr/>
        </p:nvSpPr>
        <p:spPr>
          <a:xfrm>
            <a:off x="11155680" y="4710989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6510528" y="488655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00" dirty="0"/>
          </a:p>
        </p:txBody>
      </p:sp>
      <p:sp>
        <p:nvSpPr>
          <p:cNvPr id="48" name="Text 45"/>
          <p:cNvSpPr txBox="1"/>
          <p:nvPr/>
        </p:nvSpPr>
        <p:spPr>
          <a:xfrm>
            <a:off x="6748272" y="4886554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Hallmark Hospitality · 2 venues</a:t>
            </a:r>
            <a:endParaRPr lang="en-US" sz="750" dirty="0"/>
          </a:p>
        </p:txBody>
      </p:sp>
      <p:sp>
        <p:nvSpPr>
          <p:cNvPr id="49" name="Text 46"/>
          <p:cNvSpPr txBox="1"/>
          <p:nvPr/>
        </p:nvSpPr>
        <p:spPr>
          <a:xfrm>
            <a:off x="9052560" y="4886554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$19k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9921240" y="488655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$1,557</a:t>
            </a:r>
            <a:endParaRPr lang="en-US" sz="750" dirty="0"/>
          </a:p>
        </p:txBody>
      </p:sp>
      <p:sp>
        <p:nvSpPr>
          <p:cNvPr id="51" name="Text 48"/>
          <p:cNvSpPr txBox="1"/>
          <p:nvPr/>
        </p:nvSpPr>
        <p:spPr>
          <a:xfrm>
            <a:off x="10652760" y="4886554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</a:t>
            </a:r>
            <a:endParaRPr lang="en-US" sz="750" dirty="0"/>
          </a:p>
        </p:txBody>
      </p:sp>
      <p:sp>
        <p:nvSpPr>
          <p:cNvPr id="52" name="Text 49"/>
          <p:cNvSpPr txBox="1"/>
          <p:nvPr/>
        </p:nvSpPr>
        <p:spPr>
          <a:xfrm>
            <a:off x="11155680" y="4886554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50" dirty="0"/>
          </a:p>
        </p:txBody>
      </p:sp>
      <p:sp>
        <p:nvSpPr>
          <p:cNvPr id="53" name="Text 50"/>
          <p:cNvSpPr txBox="1"/>
          <p:nvPr/>
        </p:nvSpPr>
        <p:spPr>
          <a:xfrm>
            <a:off x="6510528" y="506211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700" dirty="0"/>
          </a:p>
        </p:txBody>
      </p:sp>
      <p:sp>
        <p:nvSpPr>
          <p:cNvPr id="54" name="Text 51"/>
          <p:cNvSpPr txBox="1"/>
          <p:nvPr/>
        </p:nvSpPr>
        <p:spPr>
          <a:xfrm>
            <a:off x="6748272" y="506211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BRG · 2 venues</a:t>
            </a:r>
            <a:endParaRPr lang="en-US" sz="750" dirty="0"/>
          </a:p>
        </p:txBody>
      </p:sp>
      <p:sp>
        <p:nvSpPr>
          <p:cNvPr id="55" name="Text 52"/>
          <p:cNvSpPr txBox="1"/>
          <p:nvPr/>
        </p:nvSpPr>
        <p:spPr>
          <a:xfrm>
            <a:off x="9052560" y="506211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9921240" y="506211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$492</a:t>
            </a:r>
            <a:endParaRPr lang="en-US" sz="750" dirty="0"/>
          </a:p>
        </p:txBody>
      </p:sp>
      <p:sp>
        <p:nvSpPr>
          <p:cNvPr id="57" name="Text 54"/>
          <p:cNvSpPr txBox="1"/>
          <p:nvPr/>
        </p:nvSpPr>
        <p:spPr>
          <a:xfrm>
            <a:off x="10652760" y="506211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</a:t>
            </a:r>
            <a:endParaRPr lang="en-US" sz="750" dirty="0"/>
          </a:p>
        </p:txBody>
      </p:sp>
      <p:sp>
        <p:nvSpPr>
          <p:cNvPr id="58" name="Text 55"/>
          <p:cNvSpPr txBox="1"/>
          <p:nvPr/>
        </p:nvSpPr>
        <p:spPr>
          <a:xfrm>
            <a:off x="11155680" y="506211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6510528" y="523768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700" dirty="0"/>
          </a:p>
        </p:txBody>
      </p:sp>
      <p:sp>
        <p:nvSpPr>
          <p:cNvPr id="60" name="Text 57"/>
          <p:cNvSpPr txBox="1"/>
          <p:nvPr/>
        </p:nvSpPr>
        <p:spPr>
          <a:xfrm>
            <a:off x="6748272" y="5237683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Grand Cru - Claremont</a:t>
            </a:r>
            <a:endParaRPr lang="en-US" sz="750" dirty="0"/>
          </a:p>
        </p:txBody>
      </p:sp>
      <p:sp>
        <p:nvSpPr>
          <p:cNvPr id="61" name="Text 58"/>
          <p:cNvSpPr txBox="1"/>
          <p:nvPr/>
        </p:nvSpPr>
        <p:spPr>
          <a:xfrm>
            <a:off x="9052560" y="5237683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9921240" y="5237683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$480</a:t>
            </a:r>
            <a:endParaRPr lang="en-US" sz="750" dirty="0"/>
          </a:p>
        </p:txBody>
      </p:sp>
      <p:sp>
        <p:nvSpPr>
          <p:cNvPr id="63" name="Text 60"/>
          <p:cNvSpPr txBox="1"/>
          <p:nvPr/>
        </p:nvSpPr>
        <p:spPr>
          <a:xfrm>
            <a:off x="10652760" y="5237683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750" dirty="0"/>
          </a:p>
        </p:txBody>
      </p:sp>
      <p:sp>
        <p:nvSpPr>
          <p:cNvPr id="64" name="Text 61"/>
          <p:cNvSpPr txBox="1"/>
          <p:nvPr/>
        </p:nvSpPr>
        <p:spPr>
          <a:xfrm>
            <a:off x="11155680" y="5237683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6510528" y="541324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700" dirty="0"/>
          </a:p>
        </p:txBody>
      </p:sp>
      <p:sp>
        <p:nvSpPr>
          <p:cNvPr id="66" name="Text 63"/>
          <p:cNvSpPr txBox="1"/>
          <p:nvPr/>
        </p:nvSpPr>
        <p:spPr>
          <a:xfrm>
            <a:off x="6748272" y="541324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Downs Club Toowoomba</a:t>
            </a:r>
            <a:endParaRPr lang="en-US" sz="750" dirty="0"/>
          </a:p>
        </p:txBody>
      </p:sp>
      <p:sp>
        <p:nvSpPr>
          <p:cNvPr id="67" name="Text 64"/>
          <p:cNvSpPr txBox="1"/>
          <p:nvPr/>
        </p:nvSpPr>
        <p:spPr>
          <a:xfrm>
            <a:off x="9052560" y="541324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9921240" y="541324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$455</a:t>
            </a:r>
            <a:endParaRPr lang="en-US" sz="750" dirty="0"/>
          </a:p>
        </p:txBody>
      </p:sp>
      <p:sp>
        <p:nvSpPr>
          <p:cNvPr id="69" name="Text 66"/>
          <p:cNvSpPr txBox="1"/>
          <p:nvPr/>
        </p:nvSpPr>
        <p:spPr>
          <a:xfrm>
            <a:off x="10652760" y="541324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</a:t>
            </a:r>
            <a:endParaRPr lang="en-US" sz="750" dirty="0"/>
          </a:p>
        </p:txBody>
      </p:sp>
      <p:sp>
        <p:nvSpPr>
          <p:cNvPr id="70" name="Text 67"/>
          <p:cNvSpPr txBox="1"/>
          <p:nvPr/>
        </p:nvSpPr>
        <p:spPr>
          <a:xfrm>
            <a:off x="11155680" y="541324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6510528" y="558881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700" dirty="0"/>
          </a:p>
        </p:txBody>
      </p:sp>
      <p:sp>
        <p:nvSpPr>
          <p:cNvPr id="72" name="Text 69"/>
          <p:cNvSpPr txBox="1"/>
          <p:nvPr/>
        </p:nvSpPr>
        <p:spPr>
          <a:xfrm>
            <a:off x="6748272" y="5588813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Crazy Horse Revue</a:t>
            </a:r>
            <a:endParaRPr lang="en-US" sz="750" dirty="0"/>
          </a:p>
        </p:txBody>
      </p:sp>
      <p:sp>
        <p:nvSpPr>
          <p:cNvPr id="73" name="Text 70"/>
          <p:cNvSpPr txBox="1"/>
          <p:nvPr/>
        </p:nvSpPr>
        <p:spPr>
          <a:xfrm>
            <a:off x="9052560" y="5588813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9921240" y="5588813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$437</a:t>
            </a:r>
            <a:endParaRPr lang="en-US" sz="750" dirty="0"/>
          </a:p>
        </p:txBody>
      </p:sp>
      <p:sp>
        <p:nvSpPr>
          <p:cNvPr id="75" name="Text 72"/>
          <p:cNvSpPr txBox="1"/>
          <p:nvPr/>
        </p:nvSpPr>
        <p:spPr>
          <a:xfrm>
            <a:off x="10652760" y="5588813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Apr</a:t>
            </a:r>
            <a:endParaRPr lang="en-US" sz="750" dirty="0"/>
          </a:p>
        </p:txBody>
      </p:sp>
      <p:sp>
        <p:nvSpPr>
          <p:cNvPr id="76" name="Text 73"/>
          <p:cNvSpPr txBox="1"/>
          <p:nvPr/>
        </p:nvSpPr>
        <p:spPr>
          <a:xfrm>
            <a:off x="11155680" y="5588813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6510528" y="576437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700" dirty="0"/>
          </a:p>
        </p:txBody>
      </p:sp>
      <p:sp>
        <p:nvSpPr>
          <p:cNvPr id="78" name="Text 75"/>
          <p:cNvSpPr txBox="1"/>
          <p:nvPr/>
        </p:nvSpPr>
        <p:spPr>
          <a:xfrm>
            <a:off x="6748272" y="576437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Citi Group - Harp</a:t>
            </a:r>
            <a:endParaRPr lang="en-US" sz="750" dirty="0"/>
          </a:p>
        </p:txBody>
      </p:sp>
      <p:sp>
        <p:nvSpPr>
          <p:cNvPr id="79" name="Text 76"/>
          <p:cNvSpPr txBox="1"/>
          <p:nvPr/>
        </p:nvSpPr>
        <p:spPr>
          <a:xfrm>
            <a:off x="9052560" y="576437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9921240" y="576437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</a:t>
            </a:r>
            <a:endParaRPr lang="en-US" sz="750" dirty="0"/>
          </a:p>
        </p:txBody>
      </p:sp>
      <p:sp>
        <p:nvSpPr>
          <p:cNvPr id="81" name="Text 78"/>
          <p:cNvSpPr txBox="1"/>
          <p:nvPr/>
        </p:nvSpPr>
        <p:spPr>
          <a:xfrm>
            <a:off x="10652760" y="576437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82" name="Text 79"/>
          <p:cNvSpPr txBox="1"/>
          <p:nvPr/>
        </p:nvSpPr>
        <p:spPr>
          <a:xfrm>
            <a:off x="11155680" y="576437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6510528" y="5939942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700" dirty="0"/>
          </a:p>
        </p:txBody>
      </p:sp>
      <p:sp>
        <p:nvSpPr>
          <p:cNvPr id="84" name="Text 81"/>
          <p:cNvSpPr txBox="1"/>
          <p:nvPr/>
        </p:nvSpPr>
        <p:spPr>
          <a:xfrm>
            <a:off x="6748272" y="5939942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Woodside Beach Hotel</a:t>
            </a:r>
            <a:endParaRPr lang="en-US" sz="750" dirty="0"/>
          </a:p>
        </p:txBody>
      </p:sp>
      <p:sp>
        <p:nvSpPr>
          <p:cNvPr id="85" name="Text 82"/>
          <p:cNvSpPr txBox="1"/>
          <p:nvPr/>
        </p:nvSpPr>
        <p:spPr>
          <a:xfrm>
            <a:off x="9052560" y="5939942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9921240" y="5939942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$394</a:t>
            </a:r>
            <a:endParaRPr lang="en-US" sz="750" dirty="0"/>
          </a:p>
        </p:txBody>
      </p:sp>
      <p:sp>
        <p:nvSpPr>
          <p:cNvPr id="87" name="Text 84"/>
          <p:cNvSpPr txBox="1"/>
          <p:nvPr/>
        </p:nvSpPr>
        <p:spPr>
          <a:xfrm>
            <a:off x="10652760" y="5939942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750" dirty="0"/>
          </a:p>
        </p:txBody>
      </p:sp>
      <p:sp>
        <p:nvSpPr>
          <p:cNvPr id="88" name="Text 85"/>
          <p:cNvSpPr txBox="1"/>
          <p:nvPr/>
        </p:nvSpPr>
        <p:spPr>
          <a:xfrm>
            <a:off x="11155680" y="5939942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6510528" y="6115507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700" dirty="0"/>
          </a:p>
        </p:txBody>
      </p:sp>
      <p:sp>
        <p:nvSpPr>
          <p:cNvPr id="90" name="Text 87"/>
          <p:cNvSpPr txBox="1"/>
          <p:nvPr/>
        </p:nvSpPr>
        <p:spPr>
          <a:xfrm>
            <a:off x="6748272" y="6115507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Bistro Margaux</a:t>
            </a:r>
            <a:endParaRPr lang="en-US" sz="750" dirty="0"/>
          </a:p>
        </p:txBody>
      </p:sp>
      <p:sp>
        <p:nvSpPr>
          <p:cNvPr id="91" name="Text 88"/>
          <p:cNvSpPr txBox="1"/>
          <p:nvPr/>
        </p:nvSpPr>
        <p:spPr>
          <a:xfrm>
            <a:off x="9052560" y="6115507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9921240" y="6115507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$333</a:t>
            </a:r>
            <a:endParaRPr lang="en-US" sz="750" dirty="0"/>
          </a:p>
        </p:txBody>
      </p:sp>
      <p:sp>
        <p:nvSpPr>
          <p:cNvPr id="93" name="Text 90"/>
          <p:cNvSpPr txBox="1"/>
          <p:nvPr/>
        </p:nvSpPr>
        <p:spPr>
          <a:xfrm>
            <a:off x="10652760" y="6115507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750" dirty="0"/>
          </a:p>
        </p:txBody>
      </p:sp>
      <p:sp>
        <p:nvSpPr>
          <p:cNvPr id="94" name="Text 91"/>
          <p:cNvSpPr txBox="1"/>
          <p:nvPr/>
        </p:nvSpPr>
        <p:spPr>
          <a:xfrm>
            <a:off x="11155680" y="6115507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95" name="Shape 92"/>
          <p:cNvSpPr/>
          <p:nvPr/>
        </p:nvSpPr>
        <p:spPr>
          <a:xfrm>
            <a:off x="411480" y="4023360"/>
            <a:ext cx="5760720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6" name="Text 93"/>
          <p:cNvSpPr txBox="1"/>
          <p:nvPr/>
        </p:nvSpPr>
        <p:spPr>
          <a:xfrm>
            <a:off x="612648" y="413308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97" name="Text 94"/>
          <p:cNvSpPr txBox="1"/>
          <p:nvPr/>
        </p:nvSpPr>
        <p:spPr>
          <a:xfrm>
            <a:off x="612648" y="4443984"/>
            <a:ext cx="534924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Held at the 6 Sep register run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figures and chart are the last verified state (customer-spine matched), shown rather than re-derived on a new basis mid-migration.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Install-to-invoice lag runs 60–90 days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March wins still uninvoiced (Oscars Group $155k) are past normal lag and worth chasing. Oscars: held by old provider's contract terms; asking H&amp;L for a bridging discount.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Invoiced = new + expansion MRR movements annualised · AVC excluded pending Creatio MRR-field correction.</a:t>
            </a:r>
            <a:endParaRPr lang="en-US" sz="900" dirty="0"/>
          </a:p>
        </p:txBody>
      </p:sp>
      <p:sp>
        <p:nvSpPr>
          <p:cNvPr id="98" name="Shape 95"/>
          <p:cNvSpPr/>
          <p:nvPr/>
        </p:nvSpPr>
        <p:spPr>
          <a:xfrm>
            <a:off x="8269834" y="6510528"/>
            <a:ext cx="3507638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9" name="Text 96"/>
          <p:cNvSpPr txBox="1"/>
          <p:nvPr/>
        </p:nvSpPr>
        <p:spPr>
          <a:xfrm>
            <a:off x="8269834" y="6510528"/>
            <a:ext cx="35076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Finance Weekly Invoicing &amp; CRM · as at 6 Sep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570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128 aged 31d+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UNANSWERED OPEN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535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441 older than 2 days · HubSpot-conversation basis — overstates during transition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PAST 30 DAYS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128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facto resolution overdue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1024128"/>
            <a:ext cx="27249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1155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CASES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98448"/>
            <a:ext cx="24323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13,115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9164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Feb 26 → 20 Sep 26 · HubSpot basis (all Support-pipeline tickets)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11480" y="2395728"/>
            <a:ext cx="6583680" cy="3913632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50545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INFLOW VS RESOLVED — LAST 6 WEEKS (HUBSPOT)</a:t>
            </a:r>
            <a:endParaRPr lang="en-US" sz="1200" dirty="0"/>
          </a:p>
        </p:txBody>
      </p:sp>
      <p:graphicFrame>
        <p:nvGraphicFramePr>
          <p:cNvPr id="33" name="Chart 0" descr=""/>
          <p:cNvGraphicFramePr/>
          <p:nvPr/>
        </p:nvGraphicFramePr>
        <p:xfrm>
          <a:off x="640080" y="2834640"/>
          <a:ext cx="6080760" cy="29535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4" name="Text 31"/>
          <p:cNvSpPr txBox="1"/>
          <p:nvPr/>
        </p:nvSpPr>
        <p:spPr>
          <a:xfrm>
            <a:off x="640080" y="5925312"/>
            <a:ext cx="6126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09-07 resolved spike (1,250) is migration cleanup — not real throughput</a:t>
            </a:r>
            <a:endParaRPr lang="en-US" sz="750" dirty="0"/>
          </a:p>
        </p:txBody>
      </p:sp>
      <p:sp>
        <p:nvSpPr>
          <p:cNvPr id="35" name="Shape 32"/>
          <p:cNvSpPr/>
          <p:nvPr/>
        </p:nvSpPr>
        <p:spPr>
          <a:xfrm>
            <a:off x="7178040" y="2395728"/>
            <a:ext cx="4599432" cy="2212848"/>
          </a:xfrm>
          <a:prstGeom prst="roundRect">
            <a:avLst>
              <a:gd name="adj" fmla="val 28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7379208" y="2487168"/>
            <a:ext cx="4197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 BY AGE BAND — WoW   </a:t>
            </a:r>
            <a:pPr indent="0" marL="0">
              <a:buNone/>
            </a:pPr>
            <a:r>
              <a:rPr lang="en-US" sz="70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history restarts at cutover</a:t>
            </a:r>
            <a:endParaRPr lang="en-US" sz="1100" dirty="0"/>
          </a:p>
        </p:txBody>
      </p:sp>
      <p:graphicFrame>
        <p:nvGraphicFramePr>
          <p:cNvPr id="37" name="Chart 1" descr=""/>
          <p:cNvGraphicFramePr/>
          <p:nvPr/>
        </p:nvGraphicFramePr>
        <p:xfrm>
          <a:off x="7360920" y="2761488"/>
          <a:ext cx="4187952" cy="17556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8" name="Shape 34"/>
          <p:cNvSpPr/>
          <p:nvPr/>
        </p:nvSpPr>
        <p:spPr>
          <a:xfrm>
            <a:off x="7178040" y="4736592"/>
            <a:ext cx="4599432" cy="1572768"/>
          </a:xfrm>
          <a:prstGeom prst="roundRect">
            <a:avLst>
              <a:gd name="adj" fmla="val 40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9" name="Text 35"/>
          <p:cNvSpPr txBox="1"/>
          <p:nvPr/>
        </p:nvSpPr>
        <p:spPr>
          <a:xfrm>
            <a:off x="7379208" y="4846320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40" name="Text 36"/>
          <p:cNvSpPr txBox="1"/>
          <p:nvPr/>
        </p:nvSpPr>
        <p:spPr>
          <a:xfrm>
            <a:off x="7379208" y="5157216"/>
            <a:ext cx="41879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Outflow beat inflow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(591 out vs 490 in) — backlog 681 → 570 WoW, with the 90+ tail cut from 35 to 10. Pre-cutover age bands can't be restated (migration re-dated old closes).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queue is the live risk: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535 open with no first response (441 past 2 days) — a ceiling while migrated tickets answered only in Creatio wash through.</a:t>
            </a:r>
            <a:endParaRPr lang="en-US" sz="900" dirty="0"/>
          </a:p>
        </p:txBody>
      </p:sp>
      <p:sp>
        <p:nvSpPr>
          <p:cNvPr id="41" name="Shape 37"/>
          <p:cNvSpPr/>
          <p:nvPr/>
        </p:nvSpPr>
        <p:spPr>
          <a:xfrm>
            <a:off x="8642909" y="6510528"/>
            <a:ext cx="313456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8642909" y="6510528"/>
            <a:ext cx="313456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(live) — cut over from Creatio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1480" y="877824"/>
            <a:ext cx="11338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basis: </a:t>
            </a:r>
            <a:pPr indent="0" marL="0">
              <a:buNone/>
            </a:pPr>
            <a:r>
              <a:rPr lang="en-US" sz="7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tickets closed this week (14–20 Sep) with an AI draft in scope · voicemail/junk excluded · </a:t>
            </a:r>
            <a:pPr indent="0" marL="0">
              <a:buNone/>
            </a:pPr>
            <a:r>
              <a:rPr lang="en-US" sz="75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read live from the HubSpot draft state machine (ai_draft_status) — Creatio all-time history frozen at cutover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1148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7607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&amp; SENT — THIS WEEK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5778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57607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as-is · 3 edited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329184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345643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REJECTED — THIS WEEK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43814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345643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measurable — separable from auto-clear for the first time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617220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33679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DRAFTED (IN SCOPE)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631850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633679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tickets closed this week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9052560" y="1152144"/>
            <a:ext cx="272491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217152" y="124358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DECISION RATE — NEW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9198864" y="142646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9217152" y="1773936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/ (approved + rejected) = 4/6 — the metric Creatio couldn't measure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411480" y="2395728"/>
            <a:ext cx="37033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576072" y="248716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— APPROVED OF ALL DRAFTS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57784" y="2670048"/>
            <a:ext cx="3410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6.2%</a:t>
            </a:r>
            <a:endParaRPr lang="en-US" sz="2600" dirty="0"/>
          </a:p>
        </p:txBody>
      </p:sp>
      <p:sp>
        <p:nvSpPr>
          <p:cNvPr id="35" name="Text 33"/>
          <p:cNvSpPr txBox="1"/>
          <p:nvPr/>
        </p:nvSpPr>
        <p:spPr>
          <a:xfrm>
            <a:off x="576072" y="3017520"/>
            <a:ext cx="3374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of 65 drafts in scope · since cutover (8 Sep): 4.3% (4/92) · human-approved throughout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4297680" y="2395728"/>
            <a:ext cx="37033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4462272" y="248716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CONFIDENCE — RIGHT FIRST TIME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4443984" y="2670048"/>
            <a:ext cx="3410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25%</a:t>
            </a:r>
            <a:endParaRPr lang="en-US" sz="2600" dirty="0"/>
          </a:p>
        </p:txBody>
      </p:sp>
      <p:sp>
        <p:nvSpPr>
          <p:cNvPr id="39" name="Text 37"/>
          <p:cNvSpPr txBox="1"/>
          <p:nvPr/>
        </p:nvSpPr>
        <p:spPr>
          <a:xfrm>
            <a:off x="4462272" y="3017520"/>
            <a:ext cx="3374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as-is of 4 approved · target 95% · small base this week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8183880" y="2395728"/>
            <a:ext cx="35935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8348472" y="2487168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QUEUE — NOT YET DECIDED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8330184" y="2670048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62</a:t>
            </a:r>
            <a:endParaRPr lang="en-US" sz="2600" dirty="0"/>
          </a:p>
        </p:txBody>
      </p:sp>
      <p:sp>
        <p:nvSpPr>
          <p:cNvPr id="43" name="Text 41"/>
          <p:cNvSpPr txBox="1"/>
          <p:nvPr/>
        </p:nvSpPr>
        <p:spPr>
          <a:xfrm>
            <a:off x="8348472" y="3017520"/>
            <a:ext cx="3264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 review on open tickets · +85 flagged needs-human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411480" y="3657600"/>
            <a:ext cx="11365992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612648" y="37673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READ ADOPTION — POST-CUTOVER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12648" y="4041648"/>
            <a:ext cx="10972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week: 65 in-scope drafts on closed tickets, 4 approved &amp; sent (1 as-is, 3 edited) = 6.2% adoption. Every approved reply is human-reviewed — assisted resolution, not autonomous deflection.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cutover upgrade: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ai_draft_status now distinguishes sent as-is / sent edited / rejected / pending review / needs human. Rejects are separable from auto-clears for the first time, so the true decision rate (67% this week, 4 of 6 decided drafts approved) is finally measurable — the number the old CRM export could never produce.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Comparisons: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all-time (7.3% adoption, 64/874) is frozen as the pre-cutover baseline — don't chain it with HubSpot weeks. 34 closed tickets this week ended needs-human (drafts weak on complex technical fixes — knowledge-base gaps, not tone) and 25 closed with a draft still pending review: the review-queue habit is the adoption lever.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411480" y="616305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= approved &amp; sent / drafts in scope on closed tickets · confidence = sent as-is / approved · decision rate = approved / (approved + rejected)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8891626" y="6510528"/>
            <a:ext cx="2885846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891626" y="6510528"/>
            <a:ext cx="28858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draft state machine (live)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164592" cy="164592"/>
          </a:xfrm>
          <a:prstGeom prst="ellipse">
            <a:avLst/>
          </a:prstGeom>
          <a:solidFill>
            <a:srgbClr val="3D8F5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0936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Done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595628" y="987552"/>
            <a:ext cx="164592" cy="164592"/>
          </a:xfrm>
          <a:prstGeom prst="ellipse">
            <a:avLst/>
          </a:prstGeom>
          <a:solidFill>
            <a:srgbClr val="C88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815084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On Track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090672" y="987552"/>
            <a:ext cx="164592" cy="164592"/>
          </a:xfrm>
          <a:prstGeom prst="ellipse">
            <a:avLst/>
          </a:prstGeom>
          <a:solidFill>
            <a:srgbClr val="C7D3D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10128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Not Started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41164" y="987552"/>
            <a:ext cx="164592" cy="164592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60620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At risk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9144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· 27 items across 6 sprints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79476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wk1-2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125212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wk3-4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455664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wk1-2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786116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wk3-4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9116568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wk1-2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44702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wk3-4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11480" y="157276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200" y="157276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Phase 1B</a:t>
            </a:r>
            <a:endParaRPr lang="en-US" sz="730" dirty="0"/>
          </a:p>
        </p:txBody>
      </p:sp>
      <p:sp>
        <p:nvSpPr>
          <p:cNvPr id="30" name="Shape 28"/>
          <p:cNvSpPr/>
          <p:nvPr/>
        </p:nvSpPr>
        <p:spPr>
          <a:xfrm>
            <a:off x="379476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25212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2" name="Shape 30"/>
          <p:cNvSpPr/>
          <p:nvPr/>
        </p:nvSpPr>
        <p:spPr>
          <a:xfrm>
            <a:off x="6455664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786116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4" name="Shape 32"/>
          <p:cNvSpPr/>
          <p:nvPr/>
        </p:nvSpPr>
        <p:spPr>
          <a:xfrm>
            <a:off x="9116568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5" name="Shape 33"/>
          <p:cNvSpPr/>
          <p:nvPr/>
        </p:nvSpPr>
        <p:spPr>
          <a:xfrm>
            <a:off x="1044702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6" name="Shape 34"/>
          <p:cNvSpPr/>
          <p:nvPr/>
        </p:nvSpPr>
        <p:spPr>
          <a:xfrm>
            <a:off x="3822192" y="1592885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895344" y="158008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174833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Order at Bar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379476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Shape 38"/>
          <p:cNvSpPr/>
          <p:nvPr/>
        </p:nvSpPr>
        <p:spPr>
          <a:xfrm>
            <a:off x="5125212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1" name="Shape 39"/>
          <p:cNvSpPr/>
          <p:nvPr/>
        </p:nvSpPr>
        <p:spPr>
          <a:xfrm>
            <a:off x="6455664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6116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3" name="Shape 41"/>
          <p:cNvSpPr/>
          <p:nvPr/>
        </p:nvSpPr>
        <p:spPr>
          <a:xfrm>
            <a:off x="9116568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4" name="Shape 42"/>
          <p:cNvSpPr/>
          <p:nvPr/>
        </p:nvSpPr>
        <p:spPr>
          <a:xfrm>
            <a:off x="1044702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5" name="Shape 43"/>
          <p:cNvSpPr/>
          <p:nvPr/>
        </p:nvSpPr>
        <p:spPr>
          <a:xfrm>
            <a:off x="3822192" y="176845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895344" y="1755648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411480" y="192389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57200" y="192389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WebOrders Reference/BatchID Capture</a:t>
            </a:r>
            <a:endParaRPr lang="en-US" sz="730" dirty="0"/>
          </a:p>
        </p:txBody>
      </p:sp>
      <p:sp>
        <p:nvSpPr>
          <p:cNvPr id="49" name="Shape 47"/>
          <p:cNvSpPr/>
          <p:nvPr/>
        </p:nvSpPr>
        <p:spPr>
          <a:xfrm>
            <a:off x="379476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0" name="Shape 48"/>
          <p:cNvSpPr/>
          <p:nvPr/>
        </p:nvSpPr>
        <p:spPr>
          <a:xfrm>
            <a:off x="5125212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1" name="Shape 49"/>
          <p:cNvSpPr/>
          <p:nvPr/>
        </p:nvSpPr>
        <p:spPr>
          <a:xfrm>
            <a:off x="6455664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Shape 50"/>
          <p:cNvSpPr/>
          <p:nvPr/>
        </p:nvSpPr>
        <p:spPr>
          <a:xfrm>
            <a:off x="7786116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3" name="Shape 51"/>
          <p:cNvSpPr/>
          <p:nvPr/>
        </p:nvSpPr>
        <p:spPr>
          <a:xfrm>
            <a:off x="9116568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4" name="Shape 52"/>
          <p:cNvSpPr/>
          <p:nvPr/>
        </p:nvSpPr>
        <p:spPr>
          <a:xfrm>
            <a:off x="1044702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5" name="Shape 53"/>
          <p:cNvSpPr/>
          <p:nvPr/>
        </p:nvSpPr>
        <p:spPr>
          <a:xfrm>
            <a:off x="5152644" y="194401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25796" y="193121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57" name="Text 55"/>
          <p:cNvSpPr txBox="1"/>
          <p:nvPr/>
        </p:nvSpPr>
        <p:spPr>
          <a:xfrm>
            <a:off x="457200" y="209946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API Uplift</a:t>
            </a:r>
            <a:endParaRPr lang="en-US" sz="730" dirty="0"/>
          </a:p>
        </p:txBody>
      </p:sp>
      <p:sp>
        <p:nvSpPr>
          <p:cNvPr id="58" name="Shape 56"/>
          <p:cNvSpPr/>
          <p:nvPr/>
        </p:nvSpPr>
        <p:spPr>
          <a:xfrm>
            <a:off x="379476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9" name="Shape 57"/>
          <p:cNvSpPr/>
          <p:nvPr/>
        </p:nvSpPr>
        <p:spPr>
          <a:xfrm>
            <a:off x="5125212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0" name="Shape 58"/>
          <p:cNvSpPr/>
          <p:nvPr/>
        </p:nvSpPr>
        <p:spPr>
          <a:xfrm>
            <a:off x="6455664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1" name="Shape 59"/>
          <p:cNvSpPr/>
          <p:nvPr/>
        </p:nvSpPr>
        <p:spPr>
          <a:xfrm>
            <a:off x="7786116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2" name="Shape 60"/>
          <p:cNvSpPr/>
          <p:nvPr/>
        </p:nvSpPr>
        <p:spPr>
          <a:xfrm>
            <a:off x="9116568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3" name="Shape 61"/>
          <p:cNvSpPr/>
          <p:nvPr/>
        </p:nvSpPr>
        <p:spPr>
          <a:xfrm>
            <a:off x="1044702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4" name="Shape 62"/>
          <p:cNvSpPr/>
          <p:nvPr/>
        </p:nvSpPr>
        <p:spPr>
          <a:xfrm>
            <a:off x="6483096" y="211957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556248" y="210677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411480" y="227502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457200" y="227502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Onxy Gaming</a:t>
            </a:r>
            <a:endParaRPr lang="en-US" sz="730" dirty="0"/>
          </a:p>
        </p:txBody>
      </p:sp>
      <p:sp>
        <p:nvSpPr>
          <p:cNvPr id="68" name="Shape 66"/>
          <p:cNvSpPr/>
          <p:nvPr/>
        </p:nvSpPr>
        <p:spPr>
          <a:xfrm>
            <a:off x="379476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9" name="Shape 67"/>
          <p:cNvSpPr/>
          <p:nvPr/>
        </p:nvSpPr>
        <p:spPr>
          <a:xfrm>
            <a:off x="5125212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0" name="Shape 68"/>
          <p:cNvSpPr/>
          <p:nvPr/>
        </p:nvSpPr>
        <p:spPr>
          <a:xfrm>
            <a:off x="6455664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1" name="Shape 69"/>
          <p:cNvSpPr/>
          <p:nvPr/>
        </p:nvSpPr>
        <p:spPr>
          <a:xfrm>
            <a:off x="7786116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2" name="Shape 70"/>
          <p:cNvSpPr/>
          <p:nvPr/>
        </p:nvSpPr>
        <p:spPr>
          <a:xfrm>
            <a:off x="9116568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3" name="Shape 71"/>
          <p:cNvSpPr/>
          <p:nvPr/>
        </p:nvSpPr>
        <p:spPr>
          <a:xfrm>
            <a:off x="1044702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4" name="Shape 72"/>
          <p:cNvSpPr/>
          <p:nvPr/>
        </p:nvSpPr>
        <p:spPr>
          <a:xfrm>
            <a:off x="3822192" y="229514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895344" y="228234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76" name="Text 74"/>
          <p:cNvSpPr txBox="1"/>
          <p:nvPr/>
        </p:nvSpPr>
        <p:spPr>
          <a:xfrm>
            <a:off x="457200" y="245059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SCIS Stock Movement</a:t>
            </a:r>
            <a:endParaRPr lang="en-US" sz="730" dirty="0"/>
          </a:p>
        </p:txBody>
      </p:sp>
      <p:sp>
        <p:nvSpPr>
          <p:cNvPr id="77" name="Shape 75"/>
          <p:cNvSpPr/>
          <p:nvPr/>
        </p:nvSpPr>
        <p:spPr>
          <a:xfrm>
            <a:off x="379476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8" name="Shape 76"/>
          <p:cNvSpPr/>
          <p:nvPr/>
        </p:nvSpPr>
        <p:spPr>
          <a:xfrm>
            <a:off x="5125212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9" name="Shape 77"/>
          <p:cNvSpPr/>
          <p:nvPr/>
        </p:nvSpPr>
        <p:spPr>
          <a:xfrm>
            <a:off x="6455664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0" name="Shape 78"/>
          <p:cNvSpPr/>
          <p:nvPr/>
        </p:nvSpPr>
        <p:spPr>
          <a:xfrm>
            <a:off x="7786116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1" name="Shape 79"/>
          <p:cNvSpPr/>
          <p:nvPr/>
        </p:nvSpPr>
        <p:spPr>
          <a:xfrm>
            <a:off x="9116568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2" name="Shape 80"/>
          <p:cNvSpPr/>
          <p:nvPr/>
        </p:nvSpPr>
        <p:spPr>
          <a:xfrm>
            <a:off x="1044702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3" name="Shape 81"/>
          <p:cNvSpPr/>
          <p:nvPr/>
        </p:nvSpPr>
        <p:spPr>
          <a:xfrm>
            <a:off x="3822192" y="247070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95344" y="2457907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411480" y="262615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457200" y="262615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EDR Auth</a:t>
            </a:r>
            <a:endParaRPr lang="en-US" sz="730" dirty="0"/>
          </a:p>
        </p:txBody>
      </p:sp>
      <p:sp>
        <p:nvSpPr>
          <p:cNvPr id="87" name="Shape 85"/>
          <p:cNvSpPr/>
          <p:nvPr/>
        </p:nvSpPr>
        <p:spPr>
          <a:xfrm>
            <a:off x="379476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8" name="Shape 86"/>
          <p:cNvSpPr/>
          <p:nvPr/>
        </p:nvSpPr>
        <p:spPr>
          <a:xfrm>
            <a:off x="5125212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9" name="Shape 87"/>
          <p:cNvSpPr/>
          <p:nvPr/>
        </p:nvSpPr>
        <p:spPr>
          <a:xfrm>
            <a:off x="6455664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0" name="Shape 88"/>
          <p:cNvSpPr/>
          <p:nvPr/>
        </p:nvSpPr>
        <p:spPr>
          <a:xfrm>
            <a:off x="7786116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1" name="Shape 89"/>
          <p:cNvSpPr/>
          <p:nvPr/>
        </p:nvSpPr>
        <p:spPr>
          <a:xfrm>
            <a:off x="9116568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2" name="Shape 90"/>
          <p:cNvSpPr/>
          <p:nvPr/>
        </p:nvSpPr>
        <p:spPr>
          <a:xfrm>
            <a:off x="1044702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3" name="Shape 91"/>
          <p:cNvSpPr/>
          <p:nvPr/>
        </p:nvSpPr>
        <p:spPr>
          <a:xfrm>
            <a:off x="5152644" y="264627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5225796" y="263347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95" name="Text 93"/>
          <p:cNvSpPr txBox="1"/>
          <p:nvPr/>
        </p:nvSpPr>
        <p:spPr>
          <a:xfrm>
            <a:off x="457200" y="280172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Accounts Flow Auto Promo File Delivery</a:t>
            </a:r>
            <a:endParaRPr lang="en-US" sz="730" dirty="0"/>
          </a:p>
        </p:txBody>
      </p:sp>
      <p:sp>
        <p:nvSpPr>
          <p:cNvPr id="96" name="Shape 94"/>
          <p:cNvSpPr/>
          <p:nvPr/>
        </p:nvSpPr>
        <p:spPr>
          <a:xfrm>
            <a:off x="379476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7" name="Shape 95"/>
          <p:cNvSpPr/>
          <p:nvPr/>
        </p:nvSpPr>
        <p:spPr>
          <a:xfrm>
            <a:off x="5125212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8" name="Shape 96"/>
          <p:cNvSpPr/>
          <p:nvPr/>
        </p:nvSpPr>
        <p:spPr>
          <a:xfrm>
            <a:off x="6455664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9" name="Shape 97"/>
          <p:cNvSpPr/>
          <p:nvPr/>
        </p:nvSpPr>
        <p:spPr>
          <a:xfrm>
            <a:off x="7786116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0" name="Shape 98"/>
          <p:cNvSpPr/>
          <p:nvPr/>
        </p:nvSpPr>
        <p:spPr>
          <a:xfrm>
            <a:off x="9116568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1" name="Shape 99"/>
          <p:cNvSpPr/>
          <p:nvPr/>
        </p:nvSpPr>
        <p:spPr>
          <a:xfrm>
            <a:off x="1044702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152644" y="282183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5225796" y="2809037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411480" y="297728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457200" y="297728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Stripe Terminal Simulator</a:t>
            </a:r>
            <a:endParaRPr lang="en-US" sz="730" dirty="0"/>
          </a:p>
        </p:txBody>
      </p:sp>
      <p:sp>
        <p:nvSpPr>
          <p:cNvPr id="106" name="Shape 104"/>
          <p:cNvSpPr/>
          <p:nvPr/>
        </p:nvSpPr>
        <p:spPr>
          <a:xfrm>
            <a:off x="379476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125212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455664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786116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116568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044702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52644" y="299740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5225796" y="298460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14" name="Text 112"/>
          <p:cNvSpPr txBox="1"/>
          <p:nvPr/>
        </p:nvSpPr>
        <p:spPr>
          <a:xfrm>
            <a:off x="457200" y="315285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Bug Fixes</a:t>
            </a:r>
            <a:endParaRPr lang="en-US" sz="730" dirty="0"/>
          </a:p>
        </p:txBody>
      </p:sp>
      <p:sp>
        <p:nvSpPr>
          <p:cNvPr id="115" name="Shape 113"/>
          <p:cNvSpPr/>
          <p:nvPr/>
        </p:nvSpPr>
        <p:spPr>
          <a:xfrm>
            <a:off x="379476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125212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455664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786116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116568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1044702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22192" y="317296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3895344" y="316016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23" name="Shape 121"/>
          <p:cNvSpPr/>
          <p:nvPr/>
        </p:nvSpPr>
        <p:spPr>
          <a:xfrm>
            <a:off x="411480" y="332841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457200" y="332841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</a:t>
            </a:r>
            <a:endParaRPr lang="en-US" sz="730" dirty="0"/>
          </a:p>
        </p:txBody>
      </p:sp>
      <p:sp>
        <p:nvSpPr>
          <p:cNvPr id="125" name="Shape 123"/>
          <p:cNvSpPr/>
          <p:nvPr/>
        </p:nvSpPr>
        <p:spPr>
          <a:xfrm>
            <a:off x="379476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125212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455664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786116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116568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1044702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152644" y="334853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5225796" y="3335731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33" name="Text 131"/>
          <p:cNvSpPr txBox="1"/>
          <p:nvPr/>
        </p:nvSpPr>
        <p:spPr>
          <a:xfrm>
            <a:off x="457200" y="350398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RMS</a:t>
            </a:r>
            <a:endParaRPr lang="en-US" sz="730" dirty="0"/>
          </a:p>
        </p:txBody>
      </p:sp>
      <p:sp>
        <p:nvSpPr>
          <p:cNvPr id="134" name="Shape 132"/>
          <p:cNvSpPr/>
          <p:nvPr/>
        </p:nvSpPr>
        <p:spPr>
          <a:xfrm>
            <a:off x="379476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125212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455664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86116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16568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044702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483096" y="352409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556248" y="351129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411480" y="367954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457200" y="367954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LMG - various enhancemens</a:t>
            </a:r>
            <a:endParaRPr lang="en-US" sz="730" dirty="0"/>
          </a:p>
        </p:txBody>
      </p:sp>
      <p:sp>
        <p:nvSpPr>
          <p:cNvPr id="144" name="Shape 142"/>
          <p:cNvSpPr/>
          <p:nvPr/>
        </p:nvSpPr>
        <p:spPr>
          <a:xfrm>
            <a:off x="379476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125212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55664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786116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116568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1044702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7813548" y="369966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51" name="Text 149"/>
          <p:cNvSpPr txBox="1"/>
          <p:nvPr/>
        </p:nvSpPr>
        <p:spPr>
          <a:xfrm>
            <a:off x="7886700" y="3686861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52" name="Text 150"/>
          <p:cNvSpPr txBox="1"/>
          <p:nvPr/>
        </p:nvSpPr>
        <p:spPr>
          <a:xfrm>
            <a:off x="457200" y="385511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Bug Run 9.3</a:t>
            </a:r>
            <a:endParaRPr lang="en-US" sz="730" dirty="0"/>
          </a:p>
        </p:txBody>
      </p:sp>
      <p:sp>
        <p:nvSpPr>
          <p:cNvPr id="153" name="Shape 151"/>
          <p:cNvSpPr/>
          <p:nvPr/>
        </p:nvSpPr>
        <p:spPr>
          <a:xfrm>
            <a:off x="379476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125212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455664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786116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9116568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44702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474452" y="387522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10547604" y="386242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61" name="Shape 159"/>
          <p:cNvSpPr/>
          <p:nvPr/>
        </p:nvSpPr>
        <p:spPr>
          <a:xfrm>
            <a:off x="411480" y="403067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457200" y="403067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OpenTable</a:t>
            </a:r>
            <a:endParaRPr lang="en-US" sz="730" dirty="0"/>
          </a:p>
        </p:txBody>
      </p:sp>
      <p:sp>
        <p:nvSpPr>
          <p:cNvPr id="163" name="Shape 161"/>
          <p:cNvSpPr/>
          <p:nvPr/>
        </p:nvSpPr>
        <p:spPr>
          <a:xfrm>
            <a:off x="379476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125212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455664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786116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116568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044702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3822192" y="405079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3895344" y="4037990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171" name="Text 169"/>
          <p:cNvSpPr txBox="1"/>
          <p:nvPr/>
        </p:nvSpPr>
        <p:spPr>
          <a:xfrm>
            <a:off x="457200" y="420624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Scan Work (SM-6423,SM-6478)</a:t>
            </a:r>
            <a:endParaRPr lang="en-US" sz="730" dirty="0"/>
          </a:p>
        </p:txBody>
      </p:sp>
      <p:sp>
        <p:nvSpPr>
          <p:cNvPr id="172" name="Shape 170"/>
          <p:cNvSpPr/>
          <p:nvPr/>
        </p:nvSpPr>
        <p:spPr>
          <a:xfrm>
            <a:off x="379476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125212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55664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7786116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9116568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1044702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9144000" y="422635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9217152" y="4213555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80" name="Shape 178"/>
          <p:cNvSpPr/>
          <p:nvPr/>
        </p:nvSpPr>
        <p:spPr>
          <a:xfrm>
            <a:off x="411480" y="438180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1" name="Text 179"/>
          <p:cNvSpPr txBox="1"/>
          <p:nvPr/>
        </p:nvSpPr>
        <p:spPr>
          <a:xfrm>
            <a:off x="457200" y="438180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Unattended Upgrades (released deployment)</a:t>
            </a:r>
            <a:endParaRPr lang="en-US" sz="730" dirty="0"/>
          </a:p>
        </p:txBody>
      </p:sp>
      <p:sp>
        <p:nvSpPr>
          <p:cNvPr id="182" name="Shape 180"/>
          <p:cNvSpPr/>
          <p:nvPr/>
        </p:nvSpPr>
        <p:spPr>
          <a:xfrm>
            <a:off x="379476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125212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55664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786116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9116568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1044702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3822192" y="4401922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3895344" y="4389120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90" name="Text 188"/>
          <p:cNvSpPr txBox="1"/>
          <p:nvPr/>
        </p:nvSpPr>
        <p:spPr>
          <a:xfrm>
            <a:off x="457200" y="455737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</a:t>
            </a:r>
            <a:endParaRPr lang="en-US" sz="730" dirty="0"/>
          </a:p>
        </p:txBody>
      </p:sp>
      <p:sp>
        <p:nvSpPr>
          <p:cNvPr id="191" name="Shape 189"/>
          <p:cNvSpPr/>
          <p:nvPr/>
        </p:nvSpPr>
        <p:spPr>
          <a:xfrm>
            <a:off x="379476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125212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455664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786116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9116568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1044702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152644" y="4577486"/>
            <a:ext cx="6597396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198" name="Text 196"/>
          <p:cNvSpPr txBox="1"/>
          <p:nvPr/>
        </p:nvSpPr>
        <p:spPr>
          <a:xfrm>
            <a:off x="5225796" y="4564685"/>
            <a:ext cx="6487668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Valpay</a:t>
            </a:r>
            <a:endParaRPr lang="en-US" sz="650" dirty="0"/>
          </a:p>
        </p:txBody>
      </p:sp>
      <p:sp>
        <p:nvSpPr>
          <p:cNvPr id="199" name="Shape 197"/>
          <p:cNvSpPr/>
          <p:nvPr/>
        </p:nvSpPr>
        <p:spPr>
          <a:xfrm>
            <a:off x="411480" y="473293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0" name="Text 198"/>
          <p:cNvSpPr txBox="1"/>
          <p:nvPr/>
        </p:nvSpPr>
        <p:spPr>
          <a:xfrm>
            <a:off x="457200" y="473293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Code Ordering</a:t>
            </a:r>
            <a:endParaRPr lang="en-US" sz="730" dirty="0"/>
          </a:p>
        </p:txBody>
      </p:sp>
      <p:sp>
        <p:nvSpPr>
          <p:cNvPr id="201" name="Shape 199"/>
          <p:cNvSpPr/>
          <p:nvPr/>
        </p:nvSpPr>
        <p:spPr>
          <a:xfrm>
            <a:off x="379476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5125212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55664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786116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9116568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1044702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822192" y="4753051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3895344" y="4740250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Tony</a:t>
            </a:r>
            <a:endParaRPr lang="en-US" sz="650" dirty="0"/>
          </a:p>
        </p:txBody>
      </p:sp>
      <p:sp>
        <p:nvSpPr>
          <p:cNvPr id="209" name="Text 207"/>
          <p:cNvSpPr txBox="1"/>
          <p:nvPr/>
        </p:nvSpPr>
        <p:spPr>
          <a:xfrm>
            <a:off x="457200" y="490849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Native Apps</a:t>
            </a:r>
            <a:endParaRPr lang="en-US" sz="730" dirty="0"/>
          </a:p>
        </p:txBody>
      </p:sp>
      <p:sp>
        <p:nvSpPr>
          <p:cNvPr id="210" name="Shape 208"/>
          <p:cNvSpPr/>
          <p:nvPr/>
        </p:nvSpPr>
        <p:spPr>
          <a:xfrm>
            <a:off x="379476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5125212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455664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7786116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9116568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1044702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822192" y="492861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17" name="Text 215"/>
          <p:cNvSpPr txBox="1"/>
          <p:nvPr/>
        </p:nvSpPr>
        <p:spPr>
          <a:xfrm>
            <a:off x="3895344" y="491581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18" name="Shape 216"/>
          <p:cNvSpPr/>
          <p:nvPr/>
        </p:nvSpPr>
        <p:spPr>
          <a:xfrm>
            <a:off x="411480" y="508406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9" name="Text 217"/>
          <p:cNvSpPr txBox="1"/>
          <p:nvPr/>
        </p:nvSpPr>
        <p:spPr>
          <a:xfrm>
            <a:off x="457200" y="508406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Adyen Native SDK</a:t>
            </a:r>
            <a:endParaRPr lang="en-US" sz="730" dirty="0"/>
          </a:p>
        </p:txBody>
      </p:sp>
      <p:sp>
        <p:nvSpPr>
          <p:cNvPr id="220" name="Shape 218"/>
          <p:cNvSpPr/>
          <p:nvPr/>
        </p:nvSpPr>
        <p:spPr>
          <a:xfrm>
            <a:off x="379476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1" name="Shape 219"/>
          <p:cNvSpPr/>
          <p:nvPr/>
        </p:nvSpPr>
        <p:spPr>
          <a:xfrm>
            <a:off x="5125212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455664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3" name="Shape 221"/>
          <p:cNvSpPr/>
          <p:nvPr/>
        </p:nvSpPr>
        <p:spPr>
          <a:xfrm>
            <a:off x="7786116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4" name="Shape 222"/>
          <p:cNvSpPr/>
          <p:nvPr/>
        </p:nvSpPr>
        <p:spPr>
          <a:xfrm>
            <a:off x="9116568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5" name="Shape 223"/>
          <p:cNvSpPr/>
          <p:nvPr/>
        </p:nvSpPr>
        <p:spPr>
          <a:xfrm>
            <a:off x="1044702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6" name="Shape 224"/>
          <p:cNvSpPr/>
          <p:nvPr/>
        </p:nvSpPr>
        <p:spPr>
          <a:xfrm>
            <a:off x="3822192" y="5104181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27" name="Text 225"/>
          <p:cNvSpPr txBox="1"/>
          <p:nvPr/>
        </p:nvSpPr>
        <p:spPr>
          <a:xfrm>
            <a:off x="3895344" y="5091379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28" name="Text 226"/>
          <p:cNvSpPr txBox="1"/>
          <p:nvPr/>
        </p:nvSpPr>
        <p:spPr>
          <a:xfrm>
            <a:off x="457200" y="525962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</a:t>
            </a:r>
            <a:endParaRPr lang="en-US" sz="730" dirty="0"/>
          </a:p>
        </p:txBody>
      </p:sp>
      <p:sp>
        <p:nvSpPr>
          <p:cNvPr id="229" name="Shape 227"/>
          <p:cNvSpPr/>
          <p:nvPr/>
        </p:nvSpPr>
        <p:spPr>
          <a:xfrm>
            <a:off x="379476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0" name="Shape 228"/>
          <p:cNvSpPr/>
          <p:nvPr/>
        </p:nvSpPr>
        <p:spPr>
          <a:xfrm>
            <a:off x="5125212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1" name="Shape 229"/>
          <p:cNvSpPr/>
          <p:nvPr/>
        </p:nvSpPr>
        <p:spPr>
          <a:xfrm>
            <a:off x="6455664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786116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3" name="Shape 231"/>
          <p:cNvSpPr/>
          <p:nvPr/>
        </p:nvSpPr>
        <p:spPr>
          <a:xfrm>
            <a:off x="9116568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4" name="Shape 232"/>
          <p:cNvSpPr/>
          <p:nvPr/>
        </p:nvSpPr>
        <p:spPr>
          <a:xfrm>
            <a:off x="1044702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5" name="Shape 233"/>
          <p:cNvSpPr/>
          <p:nvPr/>
        </p:nvSpPr>
        <p:spPr>
          <a:xfrm>
            <a:off x="3822192" y="527974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36" name="Text 234"/>
          <p:cNvSpPr txBox="1"/>
          <p:nvPr/>
        </p:nvSpPr>
        <p:spPr>
          <a:xfrm>
            <a:off x="3895344" y="526694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37" name="Shape 235"/>
          <p:cNvSpPr/>
          <p:nvPr/>
        </p:nvSpPr>
        <p:spPr>
          <a:xfrm>
            <a:off x="411480" y="543519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457200" y="543519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Floorplan</a:t>
            </a:r>
            <a:endParaRPr lang="en-US" sz="730" dirty="0"/>
          </a:p>
        </p:txBody>
      </p:sp>
      <p:sp>
        <p:nvSpPr>
          <p:cNvPr id="239" name="Shape 237"/>
          <p:cNvSpPr/>
          <p:nvPr/>
        </p:nvSpPr>
        <p:spPr>
          <a:xfrm>
            <a:off x="379476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0" name="Shape 238"/>
          <p:cNvSpPr/>
          <p:nvPr/>
        </p:nvSpPr>
        <p:spPr>
          <a:xfrm>
            <a:off x="5125212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1" name="Shape 239"/>
          <p:cNvSpPr/>
          <p:nvPr/>
        </p:nvSpPr>
        <p:spPr>
          <a:xfrm>
            <a:off x="6455664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786116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3" name="Shape 241"/>
          <p:cNvSpPr/>
          <p:nvPr/>
        </p:nvSpPr>
        <p:spPr>
          <a:xfrm>
            <a:off x="9116568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4" name="Shape 242"/>
          <p:cNvSpPr/>
          <p:nvPr/>
        </p:nvSpPr>
        <p:spPr>
          <a:xfrm>
            <a:off x="1044702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5" name="Shape 243"/>
          <p:cNvSpPr/>
          <p:nvPr/>
        </p:nvSpPr>
        <p:spPr>
          <a:xfrm>
            <a:off x="3822192" y="545531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3895344" y="5442509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47" name="Text 245"/>
          <p:cNvSpPr txBox="1"/>
          <p:nvPr/>
        </p:nvSpPr>
        <p:spPr>
          <a:xfrm>
            <a:off x="457200" y="561075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</a:t>
            </a:r>
            <a:endParaRPr lang="en-US" sz="730" dirty="0"/>
          </a:p>
        </p:txBody>
      </p:sp>
      <p:sp>
        <p:nvSpPr>
          <p:cNvPr id="248" name="Shape 246"/>
          <p:cNvSpPr/>
          <p:nvPr/>
        </p:nvSpPr>
        <p:spPr>
          <a:xfrm>
            <a:off x="379476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125212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0" name="Shape 248"/>
          <p:cNvSpPr/>
          <p:nvPr/>
        </p:nvSpPr>
        <p:spPr>
          <a:xfrm>
            <a:off x="6455664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1" name="Shape 249"/>
          <p:cNvSpPr/>
          <p:nvPr/>
        </p:nvSpPr>
        <p:spPr>
          <a:xfrm>
            <a:off x="7786116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2" name="Shape 250"/>
          <p:cNvSpPr/>
          <p:nvPr/>
        </p:nvSpPr>
        <p:spPr>
          <a:xfrm>
            <a:off x="9116568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3" name="Shape 251"/>
          <p:cNvSpPr/>
          <p:nvPr/>
        </p:nvSpPr>
        <p:spPr>
          <a:xfrm>
            <a:off x="1044702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4" name="Shape 252"/>
          <p:cNvSpPr/>
          <p:nvPr/>
        </p:nvSpPr>
        <p:spPr>
          <a:xfrm>
            <a:off x="6483096" y="5630875"/>
            <a:ext cx="5266944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255" name="Text 253"/>
          <p:cNvSpPr txBox="1"/>
          <p:nvPr/>
        </p:nvSpPr>
        <p:spPr>
          <a:xfrm>
            <a:off x="6556248" y="5618074"/>
            <a:ext cx="5157216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56" name="Shape 254"/>
          <p:cNvSpPr/>
          <p:nvPr/>
        </p:nvSpPr>
        <p:spPr>
          <a:xfrm>
            <a:off x="411480" y="578632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457200" y="578632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Quick Sale for Events</a:t>
            </a:r>
            <a:endParaRPr lang="en-US" sz="730" dirty="0"/>
          </a:p>
        </p:txBody>
      </p:sp>
      <p:sp>
        <p:nvSpPr>
          <p:cNvPr id="258" name="Shape 256"/>
          <p:cNvSpPr/>
          <p:nvPr/>
        </p:nvSpPr>
        <p:spPr>
          <a:xfrm>
            <a:off x="379476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125212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0" name="Shape 258"/>
          <p:cNvSpPr/>
          <p:nvPr/>
        </p:nvSpPr>
        <p:spPr>
          <a:xfrm>
            <a:off x="6455664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1" name="Shape 259"/>
          <p:cNvSpPr/>
          <p:nvPr/>
        </p:nvSpPr>
        <p:spPr>
          <a:xfrm>
            <a:off x="7786116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2" name="Shape 260"/>
          <p:cNvSpPr/>
          <p:nvPr/>
        </p:nvSpPr>
        <p:spPr>
          <a:xfrm>
            <a:off x="9116568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3" name="Shape 261"/>
          <p:cNvSpPr/>
          <p:nvPr/>
        </p:nvSpPr>
        <p:spPr>
          <a:xfrm>
            <a:off x="1044702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4" name="Shape 262"/>
          <p:cNvSpPr/>
          <p:nvPr/>
        </p:nvSpPr>
        <p:spPr>
          <a:xfrm>
            <a:off x="6483096" y="5806440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6556248" y="579363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66" name="Text 264"/>
          <p:cNvSpPr txBox="1"/>
          <p:nvPr/>
        </p:nvSpPr>
        <p:spPr>
          <a:xfrm>
            <a:off x="457200" y="596188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Happy Hour</a:t>
            </a:r>
            <a:endParaRPr lang="en-US" sz="730" dirty="0"/>
          </a:p>
        </p:txBody>
      </p:sp>
      <p:sp>
        <p:nvSpPr>
          <p:cNvPr id="267" name="Shape 265"/>
          <p:cNvSpPr/>
          <p:nvPr/>
        </p:nvSpPr>
        <p:spPr>
          <a:xfrm>
            <a:off x="379476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8" name="Shape 266"/>
          <p:cNvSpPr/>
          <p:nvPr/>
        </p:nvSpPr>
        <p:spPr>
          <a:xfrm>
            <a:off x="5125212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455664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0" name="Shape 268"/>
          <p:cNvSpPr/>
          <p:nvPr/>
        </p:nvSpPr>
        <p:spPr>
          <a:xfrm>
            <a:off x="7786116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1" name="Shape 269"/>
          <p:cNvSpPr/>
          <p:nvPr/>
        </p:nvSpPr>
        <p:spPr>
          <a:xfrm>
            <a:off x="9116568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2" name="Shape 270"/>
          <p:cNvSpPr/>
          <p:nvPr/>
        </p:nvSpPr>
        <p:spPr>
          <a:xfrm>
            <a:off x="1044702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3" name="Shape 271"/>
          <p:cNvSpPr/>
          <p:nvPr/>
        </p:nvSpPr>
        <p:spPr>
          <a:xfrm>
            <a:off x="9144000" y="5982005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74" name="Text 272"/>
          <p:cNvSpPr txBox="1"/>
          <p:nvPr/>
        </p:nvSpPr>
        <p:spPr>
          <a:xfrm>
            <a:off x="9217152" y="5969203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75" name="Shape 273"/>
          <p:cNvSpPr/>
          <p:nvPr/>
        </p:nvSpPr>
        <p:spPr>
          <a:xfrm>
            <a:off x="411480" y="613745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6" name="Text 274"/>
          <p:cNvSpPr txBox="1"/>
          <p:nvPr/>
        </p:nvSpPr>
        <p:spPr>
          <a:xfrm>
            <a:off x="457200" y="613745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Product #1 - Margin Capture (Lucas)</a:t>
            </a:r>
            <a:endParaRPr lang="en-US" sz="730" dirty="0"/>
          </a:p>
        </p:txBody>
      </p:sp>
      <p:sp>
        <p:nvSpPr>
          <p:cNvPr id="277" name="Shape 275"/>
          <p:cNvSpPr/>
          <p:nvPr/>
        </p:nvSpPr>
        <p:spPr>
          <a:xfrm>
            <a:off x="379476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8" name="Shape 276"/>
          <p:cNvSpPr/>
          <p:nvPr/>
        </p:nvSpPr>
        <p:spPr>
          <a:xfrm>
            <a:off x="5125212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455664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0" name="Shape 278"/>
          <p:cNvSpPr/>
          <p:nvPr/>
        </p:nvSpPr>
        <p:spPr>
          <a:xfrm>
            <a:off x="7786116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1" name="Shape 279"/>
          <p:cNvSpPr/>
          <p:nvPr/>
        </p:nvSpPr>
        <p:spPr>
          <a:xfrm>
            <a:off x="9116568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2" name="Shape 280"/>
          <p:cNvSpPr/>
          <p:nvPr/>
        </p:nvSpPr>
        <p:spPr>
          <a:xfrm>
            <a:off x="1044702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3" name="Shape 281"/>
          <p:cNvSpPr/>
          <p:nvPr/>
        </p:nvSpPr>
        <p:spPr>
          <a:xfrm>
            <a:off x="3822192" y="6157570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84" name="Text 282"/>
          <p:cNvSpPr txBox="1"/>
          <p:nvPr/>
        </p:nvSpPr>
        <p:spPr>
          <a:xfrm>
            <a:off x="3895344" y="6144768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650" dirty="0"/>
          </a:p>
        </p:txBody>
      </p:sp>
      <p:sp>
        <p:nvSpPr>
          <p:cNvPr id="285" name="Shape 283"/>
          <p:cNvSpPr/>
          <p:nvPr/>
        </p:nvSpPr>
        <p:spPr>
          <a:xfrm>
            <a:off x="9389059" y="6510528"/>
            <a:ext cx="238841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86" name="Text 284"/>
          <p:cNvSpPr txBox="1"/>
          <p:nvPr/>
        </p:nvSpPr>
        <p:spPr>
          <a:xfrm>
            <a:off x="9389059" y="6510528"/>
            <a:ext cx="23884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11365992" cy="457200"/>
          </a:xfrm>
          <a:prstGeom prst="roundRect">
            <a:avLst>
              <a:gd name="adj" fmla="val 12000"/>
            </a:avLst>
          </a:prstGeom>
          <a:solidFill>
            <a:srgbClr val="12293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10058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MESSAGING &amp; COLLATERAL</a:t>
            </a:r>
            <a:endParaRPr lang="en-US" sz="580" dirty="0"/>
          </a:p>
        </p:txBody>
      </p:sp>
      <p:sp>
        <p:nvSpPr>
          <p:cNvPr id="16" name="Text 14"/>
          <p:cNvSpPr txBox="1"/>
          <p:nvPr/>
        </p:nvSpPr>
        <p:spPr>
          <a:xfrm>
            <a:off x="354787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VALUE CASE $ PROVEN</a:t>
            </a:r>
            <a:endParaRPr lang="en-US" sz="58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PRICING &amp; PACKAGING</a:t>
            </a:r>
            <a:endParaRPr lang="en-US" sz="580" dirty="0"/>
          </a:p>
        </p:txBody>
      </p:sp>
      <p:sp>
        <p:nvSpPr>
          <p:cNvPr id="18" name="Text 16"/>
          <p:cNvSpPr txBox="1"/>
          <p:nvPr/>
        </p:nvSpPr>
        <p:spPr>
          <a:xfrm>
            <a:off x="561441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CONTRACT &amp; DATA TERMS</a:t>
            </a:r>
            <a:endParaRPr lang="en-US" sz="580" dirty="0"/>
          </a:p>
        </p:txBody>
      </p:sp>
      <p:sp>
        <p:nvSpPr>
          <p:cNvPr id="19" name="Text 17"/>
          <p:cNvSpPr txBox="1"/>
          <p:nvPr/>
        </p:nvSpPr>
        <p:spPr>
          <a:xfrm>
            <a:off x="6647688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BILLING &amp; METERING</a:t>
            </a:r>
            <a:endParaRPr lang="en-US" sz="58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 PILOT</a:t>
            </a:r>
            <a:endParaRPr lang="en-US" sz="580" dirty="0"/>
          </a:p>
        </p:txBody>
      </p:sp>
      <p:sp>
        <p:nvSpPr>
          <p:cNvPr id="21" name="Text 19"/>
          <p:cNvSpPr txBox="1"/>
          <p:nvPr/>
        </p:nvSpPr>
        <p:spPr>
          <a:xfrm>
            <a:off x="871423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ENABLED</a:t>
            </a:r>
            <a:endParaRPr lang="en-US" sz="580" dirty="0"/>
          </a:p>
        </p:txBody>
      </p:sp>
      <p:sp>
        <p:nvSpPr>
          <p:cNvPr id="22" name="Text 20"/>
          <p:cNvSpPr txBox="1"/>
          <p:nvPr/>
        </p:nvSpPr>
        <p:spPr>
          <a:xfrm>
            <a:off x="974750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&amp; REMI</a:t>
            </a:r>
            <a:endParaRPr lang="en-US" sz="580" dirty="0"/>
          </a:p>
        </p:txBody>
      </p:sp>
      <p:sp>
        <p:nvSpPr>
          <p:cNvPr id="23" name="Text 21"/>
          <p:cNvSpPr txBox="1"/>
          <p:nvPr/>
        </p:nvSpPr>
        <p:spPr>
          <a:xfrm>
            <a:off x="1078077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ACCURACY &amp; FALLBACK</a:t>
            </a:r>
            <a:endParaRPr lang="en-US" sz="580" dirty="0"/>
          </a:p>
        </p:txBody>
      </p:sp>
      <p:sp>
        <p:nvSpPr>
          <p:cNvPr id="24" name="Shape 22"/>
          <p:cNvSpPr/>
          <p:nvPr/>
        </p:nvSpPr>
        <p:spPr>
          <a:xfrm>
            <a:off x="411480" y="1627632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594360" y="162763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51460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251460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54787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354787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8114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458114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61441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561441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647688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647688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68096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768096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71423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871423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974750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974750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078077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1078077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11480" y="2340864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594360" y="2340864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51460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251460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54787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354787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58114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458114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561441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3" name="Text 51"/>
          <p:cNvSpPr txBox="1"/>
          <p:nvPr/>
        </p:nvSpPr>
        <p:spPr>
          <a:xfrm>
            <a:off x="561441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647688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6647688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768096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768096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71423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9" name="Text 57"/>
          <p:cNvSpPr txBox="1"/>
          <p:nvPr/>
        </p:nvSpPr>
        <p:spPr>
          <a:xfrm>
            <a:off x="871423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974750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974750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1078077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7D3D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3" name="Text 61"/>
          <p:cNvSpPr txBox="1"/>
          <p:nvPr/>
        </p:nvSpPr>
        <p:spPr>
          <a:xfrm>
            <a:off x="1078077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N/A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11480" y="3054096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5" name="Text 63"/>
          <p:cNvSpPr txBox="1"/>
          <p:nvPr/>
        </p:nvSpPr>
        <p:spPr>
          <a:xfrm>
            <a:off x="594360" y="3054096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 AI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251460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251460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*1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354787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354787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458114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1" name="Text 69"/>
          <p:cNvSpPr txBox="1"/>
          <p:nvPr/>
        </p:nvSpPr>
        <p:spPr>
          <a:xfrm>
            <a:off x="458114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561441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3" name="Text 71"/>
          <p:cNvSpPr txBox="1"/>
          <p:nvPr/>
        </p:nvSpPr>
        <p:spPr>
          <a:xfrm>
            <a:off x="561441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6647688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5" name="Text 73"/>
          <p:cNvSpPr txBox="1"/>
          <p:nvPr/>
        </p:nvSpPr>
        <p:spPr>
          <a:xfrm>
            <a:off x="6647688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768096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7" name="Text 75"/>
          <p:cNvSpPr txBox="1"/>
          <p:nvPr/>
        </p:nvSpPr>
        <p:spPr>
          <a:xfrm>
            <a:off x="768096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871423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9" name="Text 77"/>
          <p:cNvSpPr txBox="1"/>
          <p:nvPr/>
        </p:nvSpPr>
        <p:spPr>
          <a:xfrm>
            <a:off x="871423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974750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1" name="Text 79"/>
          <p:cNvSpPr txBox="1"/>
          <p:nvPr/>
        </p:nvSpPr>
        <p:spPr>
          <a:xfrm>
            <a:off x="974750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1078077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3" name="Text 81"/>
          <p:cNvSpPr txBox="1"/>
          <p:nvPr/>
        </p:nvSpPr>
        <p:spPr>
          <a:xfrm>
            <a:off x="1078077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411480" y="3931920"/>
            <a:ext cx="6035040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5" name="Text 83"/>
          <p:cNvSpPr txBox="1"/>
          <p:nvPr/>
        </p:nvSpPr>
        <p:spPr>
          <a:xfrm>
            <a:off x="612648" y="40416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 — AI SUMMARY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12648" y="4352544"/>
            <a:ext cx="562356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Launch scoreboard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 78% · QR Ordering (OrderNow) 33% · Sentinel AI 11% (green = done, amber = half-credit)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 gates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 is blocked on Messaging &amp; collateral, Sales enabled, Support &amp; Remi; Sentinel AI is blocked on Messaging &amp; collateral, Pricing &amp; packaging, Contract &amp; data terms, Billing &amp; metering, Sales enabled, Support &amp; Remi, AI accuracy &amp; fallback. Nothing else stops a launch.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owns it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of 27 dimensions have a named owner on the pill; 1 carries a note. An unowned red is a stalled red.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*1 Sentinel AI · Messaging &amp; collateral: MF to give BY prototype to produce a 1pgr pitch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6629400" y="3931920"/>
            <a:ext cx="5148072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8" name="Text 86"/>
          <p:cNvSpPr txBox="1"/>
          <p:nvPr/>
        </p:nvSpPr>
        <p:spPr>
          <a:xfrm>
            <a:off x="6830568" y="404164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ROADMAP — AI SUMMARY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830568" y="4352544"/>
            <a:ext cx="47365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Requirements gathered - behind schedule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Tarek interviewing next week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 validation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certification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9389059" y="6510528"/>
            <a:ext cx="238841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9389059" y="6510528"/>
            <a:ext cx="23884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 · weekly capture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ACTIVE MEMBERS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48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active · 34 daily · 45 monthly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LINES OF CODE — WK TO 11 SEP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66,273 ▲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+10% WoW · derived from Friday-capture deltas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172200" y="1024128"/>
            <a:ext cx="560527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36792" y="1097280"/>
            <a:ext cx="5276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PLATFORM STICKINESS — SHARE OF MONTHLY USERS ACTIVE DAILY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6336792" y="1353312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 Code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7498080" y="1394460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5" name="Shape 23"/>
          <p:cNvSpPr/>
          <p:nvPr/>
        </p:nvSpPr>
        <p:spPr>
          <a:xfrm>
            <a:off x="7498080" y="1394460"/>
            <a:ext cx="2073859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881360" y="1353312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63%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6336792" y="1545336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498080" y="158648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9" name="Shape 27"/>
          <p:cNvSpPr/>
          <p:nvPr/>
        </p:nvSpPr>
        <p:spPr>
          <a:xfrm>
            <a:off x="7498080" y="1586484"/>
            <a:ext cx="2106778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881360" y="1545336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64%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336792" y="1737360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Claude.ai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7498080" y="1778508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498080" y="1778508"/>
            <a:ext cx="1744675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881360" y="1737360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53%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6336792" y="1929384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Office Agents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498080" y="1970532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7" name="Shape 35"/>
          <p:cNvSpPr/>
          <p:nvPr/>
        </p:nvSpPr>
        <p:spPr>
          <a:xfrm>
            <a:off x="7498080" y="1970532"/>
            <a:ext cx="1086307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881360" y="192938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33%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11480" y="2395728"/>
            <a:ext cx="6583680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612648" y="250545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CODE PICTURE — SEPTEMBER TO 11 SEP, BY MEMBER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3063240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40080" y="28163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Nicolas Ibrahim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2560320" y="281635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27,783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40080" y="3346704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40080" y="309981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 Khalil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2560320" y="309981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16,658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640080" y="3630168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40080" y="33832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 Dempsey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2560320" y="338328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13,006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40080" y="3913632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40080" y="366674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 Smith</a:t>
            </a:r>
            <a:endParaRPr lang="en-US" sz="800" dirty="0"/>
          </a:p>
        </p:txBody>
      </p:sp>
      <p:sp>
        <p:nvSpPr>
          <p:cNvPr id="52" name="Text 50"/>
          <p:cNvSpPr txBox="1"/>
          <p:nvPr/>
        </p:nvSpPr>
        <p:spPr>
          <a:xfrm>
            <a:off x="2560320" y="36667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10,108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40080" y="4197096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40080" y="395020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Rahul Kumar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2560320" y="39502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7,083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3840480" y="3063240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840480" y="28163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David Corbett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5760720" y="281635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6,070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3840480" y="3346704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3840480" y="309981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 Cruz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5760720" y="309981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5,884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3840480" y="3630168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840480" y="33832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Chris Huang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5760720" y="338328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4,541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3840480" y="3913632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840480" y="366674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Mohamed Ammar</a:t>
            </a:r>
            <a:endParaRPr lang="en-US" sz="800" dirty="0"/>
          </a:p>
        </p:txBody>
      </p:sp>
      <p:sp>
        <p:nvSpPr>
          <p:cNvPr id="67" name="Text 65"/>
          <p:cNvSpPr txBox="1"/>
          <p:nvPr/>
        </p:nvSpPr>
        <p:spPr>
          <a:xfrm>
            <a:off x="5760720" y="36667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4,017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840480" y="4197096"/>
            <a:ext cx="29260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840480" y="395020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Kumari Nidhi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5760720" y="39502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2,757</a:t>
            </a:r>
            <a:endParaRPr lang="en-US" sz="800" dirty="0"/>
          </a:p>
        </p:txBody>
      </p:sp>
      <p:sp>
        <p:nvSpPr>
          <p:cNvPr id="71" name="Text 69"/>
          <p:cNvSpPr txBox="1"/>
          <p:nvPr/>
        </p:nvSpPr>
        <p:spPr>
          <a:xfrm>
            <a:off x="640080" y="4279392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MEMBERS  </a:t>
            </a:r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101,159 lines Sep-to-date (capture 11 Sep)</a:t>
            </a:r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   BY WEEK — THE RHYTHM BENEATH IT</a:t>
            </a:r>
            <a:endParaRPr lang="en-US" sz="850" dirty="0"/>
          </a:p>
        </p:txBody>
      </p:sp>
      <p:graphicFrame>
        <p:nvGraphicFramePr>
          <p:cNvPr id="72" name="Chart 0" descr=""/>
          <p:cNvGraphicFramePr/>
          <p:nvPr/>
        </p:nvGraphicFramePr>
        <p:xfrm>
          <a:off x="594360" y="4498848"/>
          <a:ext cx="6172200" cy="11704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3" name="Text 70"/>
          <p:cNvSpPr txBox="1"/>
          <p:nvPr/>
        </p:nvSpPr>
        <p:spPr>
          <a:xfrm>
            <a:off x="640080" y="5678424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 = one week (thousands of lines) · early weeks estimated from rolling windows · wk to 11 Sep = latest capture</a:t>
            </a:r>
            <a:endParaRPr lang="en-US" sz="650" dirty="0"/>
          </a:p>
        </p:txBody>
      </p:sp>
      <p:sp>
        <p:nvSpPr>
          <p:cNvPr id="74" name="Shape 71"/>
          <p:cNvSpPr/>
          <p:nvPr/>
        </p:nvSpPr>
        <p:spPr>
          <a:xfrm>
            <a:off x="7178040" y="2395728"/>
            <a:ext cx="4599432" cy="210312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5" name="Text 72"/>
          <p:cNvSpPr txBox="1"/>
          <p:nvPr/>
        </p:nvSpPr>
        <p:spPr>
          <a:xfrm>
            <a:off x="7379208" y="250545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 — SESSIONS PER WEEK (30-DAY RATE)</a:t>
            </a:r>
            <a:endParaRPr lang="en-US" sz="1200" dirty="0"/>
          </a:p>
        </p:txBody>
      </p:sp>
      <p:sp>
        <p:nvSpPr>
          <p:cNvPr id="76" name="Text 73"/>
          <p:cNvSpPr txBox="1"/>
          <p:nvPr/>
        </p:nvSpPr>
        <p:spPr>
          <a:xfrm>
            <a:off x="7379208" y="28529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 Freeman</a:t>
            </a:r>
            <a:endParaRPr lang="en-US" sz="800" dirty="0"/>
          </a:p>
        </p:txBody>
      </p:sp>
      <p:sp>
        <p:nvSpPr>
          <p:cNvPr id="77" name="Text 74"/>
          <p:cNvSpPr txBox="1"/>
          <p:nvPr/>
        </p:nvSpPr>
        <p:spPr>
          <a:xfrm>
            <a:off x="8988552" y="285292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~17/wk</a:t>
            </a:r>
            <a:endParaRPr lang="en-US" sz="800" dirty="0"/>
          </a:p>
        </p:txBody>
      </p:sp>
      <p:sp>
        <p:nvSpPr>
          <p:cNvPr id="78" name="Text 75"/>
          <p:cNvSpPr txBox="1"/>
          <p:nvPr/>
        </p:nvSpPr>
        <p:spPr>
          <a:xfrm>
            <a:off x="9784080" y="285292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Ron Makins</a:t>
            </a:r>
            <a:endParaRPr lang="en-US" sz="750" dirty="0"/>
          </a:p>
        </p:txBody>
      </p:sp>
      <p:sp>
        <p:nvSpPr>
          <p:cNvPr id="79" name="Text 76"/>
          <p:cNvSpPr txBox="1"/>
          <p:nvPr/>
        </p:nvSpPr>
        <p:spPr>
          <a:xfrm>
            <a:off x="11109960" y="28529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~8/wk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7379208" y="31546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800" dirty="0"/>
          </a:p>
        </p:txBody>
      </p:sp>
      <p:sp>
        <p:nvSpPr>
          <p:cNvPr id="81" name="Text 78"/>
          <p:cNvSpPr txBox="1"/>
          <p:nvPr/>
        </p:nvSpPr>
        <p:spPr>
          <a:xfrm>
            <a:off x="8988552" y="31546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~16/wk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9784080" y="315468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Youssef Medhat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11109960" y="3154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84" name="Text 81"/>
          <p:cNvSpPr txBox="1"/>
          <p:nvPr/>
        </p:nvSpPr>
        <p:spPr>
          <a:xfrm>
            <a:off x="7379208" y="345643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 Corbett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8988552" y="34564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~15/wk</a:t>
            </a:r>
            <a:endParaRPr lang="en-US" sz="800" dirty="0"/>
          </a:p>
        </p:txBody>
      </p:sp>
      <p:sp>
        <p:nvSpPr>
          <p:cNvPr id="86" name="Text 83"/>
          <p:cNvSpPr txBox="1"/>
          <p:nvPr/>
        </p:nvSpPr>
        <p:spPr>
          <a:xfrm>
            <a:off x="9784080" y="345643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Lee Atkins</a:t>
            </a:r>
            <a:endParaRPr lang="en-US" sz="750" dirty="0"/>
          </a:p>
        </p:txBody>
      </p:sp>
      <p:sp>
        <p:nvSpPr>
          <p:cNvPr id="87" name="Text 84"/>
          <p:cNvSpPr txBox="1"/>
          <p:nvPr/>
        </p:nvSpPr>
        <p:spPr>
          <a:xfrm>
            <a:off x="11109960" y="34564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88" name="Text 85"/>
          <p:cNvSpPr txBox="1"/>
          <p:nvPr/>
        </p:nvSpPr>
        <p:spPr>
          <a:xfrm>
            <a:off x="7379208" y="37581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Katherine Fenwick</a:t>
            </a:r>
            <a:endParaRPr lang="en-US" sz="800" dirty="0"/>
          </a:p>
        </p:txBody>
      </p:sp>
      <p:sp>
        <p:nvSpPr>
          <p:cNvPr id="89" name="Text 86"/>
          <p:cNvSpPr txBox="1"/>
          <p:nvPr/>
        </p:nvSpPr>
        <p:spPr>
          <a:xfrm>
            <a:off x="8988552" y="37581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~14/wk</a:t>
            </a:r>
            <a:endParaRPr lang="en-US" sz="800" dirty="0"/>
          </a:p>
        </p:txBody>
      </p:sp>
      <p:sp>
        <p:nvSpPr>
          <p:cNvPr id="90" name="Text 87"/>
          <p:cNvSpPr txBox="1"/>
          <p:nvPr/>
        </p:nvSpPr>
        <p:spPr>
          <a:xfrm>
            <a:off x="9784080" y="375818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Glynn Johnson</a:t>
            </a:r>
            <a:endParaRPr lang="en-US" sz="750" dirty="0"/>
          </a:p>
        </p:txBody>
      </p:sp>
      <p:sp>
        <p:nvSpPr>
          <p:cNvPr id="91" name="Text 88"/>
          <p:cNvSpPr txBox="1"/>
          <p:nvPr/>
        </p:nvSpPr>
        <p:spPr>
          <a:xfrm>
            <a:off x="11109960" y="37581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~6/wk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7379208" y="405993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Harjeet Sammi</a:t>
            </a:r>
            <a:endParaRPr lang="en-US" sz="800" dirty="0"/>
          </a:p>
        </p:txBody>
      </p:sp>
      <p:sp>
        <p:nvSpPr>
          <p:cNvPr id="93" name="Text 90"/>
          <p:cNvSpPr txBox="1"/>
          <p:nvPr/>
        </p:nvSpPr>
        <p:spPr>
          <a:xfrm>
            <a:off x="8988552" y="4059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~13/wk</a:t>
            </a:r>
            <a:endParaRPr lang="en-US" sz="800" dirty="0"/>
          </a:p>
        </p:txBody>
      </p:sp>
      <p:sp>
        <p:nvSpPr>
          <p:cNvPr id="94" name="Text 91"/>
          <p:cNvSpPr txBox="1"/>
          <p:nvPr/>
        </p:nvSpPr>
        <p:spPr>
          <a:xfrm>
            <a:off x="9784080" y="405993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Izaak Horner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11109960" y="4059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~5/wk</a:t>
            </a:r>
            <a:endParaRPr lang="en-US" sz="750" dirty="0"/>
          </a:p>
        </p:txBody>
      </p:sp>
      <p:sp>
        <p:nvSpPr>
          <p:cNvPr id="96" name="Shape 93"/>
          <p:cNvSpPr/>
          <p:nvPr/>
        </p:nvSpPr>
        <p:spPr>
          <a:xfrm>
            <a:off x="7178040" y="4645152"/>
            <a:ext cx="4599432" cy="1316736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7" name="Text 94"/>
          <p:cNvSpPr txBox="1"/>
          <p:nvPr/>
        </p:nvSpPr>
        <p:spPr>
          <a:xfrm>
            <a:off x="7379208" y="4754880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7379208" y="5065776"/>
            <a:ext cx="418795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48 active weekly (34 daily)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Cowork now edges Claude Code on stickiness (64% vs 63% DAU/MAU). Code &amp; scripts are 50% of Cowork file output.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30-day Cowork sessions: engineering shows zeros (Hawraa, Chris, Eric, Tony, Brad, Nidhi, Rahul) — engineers live in Claude Code; Cowork is the ops/leadership surface.</a:t>
            </a:r>
            <a:endParaRPr lang="en-US" sz="900" dirty="0"/>
          </a:p>
        </p:txBody>
      </p:sp>
      <p:sp>
        <p:nvSpPr>
          <p:cNvPr id="99" name="Shape 96"/>
          <p:cNvSpPr/>
          <p:nvPr/>
        </p:nvSpPr>
        <p:spPr>
          <a:xfrm>
            <a:off x="9326880" y="6510528"/>
            <a:ext cx="2450592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9326880" y="6510528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Claude Admin weekly capture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Projects — Portfolio Status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Portfolio · 19 Sep 2026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580644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CURRENT STATE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ROADBLOCK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1298448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77240" y="140817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Migration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175564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· live 2026-09-08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204825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526280" y="1591056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526280" y="159105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DONE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5806440" y="1408176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complete — this deck is the first produced fully on HubSpot sources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8915400" y="1408176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Post-migration data quality: owner attribution on tickets/deals, SLA fields ramping, PS time logging habit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48640" y="2542032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77240" y="265176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Agents — Email + Voice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299923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Rollout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329184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 / Nicolas Ibrahim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526280" y="283464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4526280" y="283464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WATCH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806440" y="265176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 in HubSpot with draft state machine — rejects now separable, decision rate measurable for the first time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8915400" y="26517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Review-queue habit: 62 drafts pending review on open tickets · 85 flagged needs-human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48640" y="3785616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777240" y="389534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Leadership Reporting &amp; Hosting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424281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777240" y="453542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526280" y="4078224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4526280" y="4078224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5806440" y="389534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 safety net live — weekly deck generated from HubSpot (live) + file drops while the tiered dashboard is built out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8915400" y="3895344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 movement register &amp; ValPay export drops pending post-cutover · AWS hosting still gated on budget approval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48640" y="5029200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777240" y="513892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RFP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777240" y="54864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Response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777240" y="577900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Luke Plunkett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526280" y="5321808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4526280" y="5321808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806440" y="5138928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In-person demo done 24 Aug; three win themes locked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8915400" y="513892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Security and compliance criteria need early IT input (Glynn flagged third-party dependencies)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411480" y="6400800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Current state = next action from the weekly meeting record · roadblock = flagged risks · Operating Model Update not yet a tracked project — add it to the record to appear here.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2026-09-21T00:24:22Z</dcterms:created>
  <dcterms:modified xsi:type="dcterms:W3CDTF">2026-09-21T00:24:22Z</dcterms:modified>
</cp:coreProperties>
</file>