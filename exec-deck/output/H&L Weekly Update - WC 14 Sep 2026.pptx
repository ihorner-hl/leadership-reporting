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31.8% / 38%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 reading · week of 2026-08-30 — frozen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69.4%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hours vs capacity · 80% target — frozen at cutover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— SINCE CUTOVER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78.93h logged vs 608h capacity, 8–20 Sep — logging still ramping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ENGAGEMENTS — THIS WEEK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PS records · 29 of 8,969 carry time so far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749808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GO — AVAILABLE VS UTILISED, MONTHLY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688336"/>
            <a:ext cx="4279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 AT 4 SEP EXTRACT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6108192" y="26883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164592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1,216h avail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2359152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2359152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988h avail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072384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3072384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1,102h avail</a:t>
            </a:r>
            <a:endParaRPr lang="en-US" sz="550" dirty="0"/>
          </a:p>
        </p:txBody>
      </p:sp>
      <p:sp>
        <p:nvSpPr>
          <p:cNvPr id="41" name="Text 39"/>
          <p:cNvSpPr txBox="1"/>
          <p:nvPr/>
        </p:nvSpPr>
        <p:spPr>
          <a:xfrm>
            <a:off x="3785616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785616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1,482h avail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498848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4498848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1,064h avail</a:t>
            </a:r>
            <a:endParaRPr lang="en-US" sz="55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Sep*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21208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228h avail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6108192" y="28529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8–20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108192" y="30083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608h avail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1638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664208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64592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377440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9152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229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090672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072384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354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3803904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785616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254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517136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498848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225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5230368" y="31775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21208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126480" y="31775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108192" y="31638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35.9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612648" y="33467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664208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64592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2377440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359152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3090672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072384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174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3803904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785616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4517136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498848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5230368" y="33604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21208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6126480" y="33604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108192" y="33467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36.9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612648" y="35295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1664208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64592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134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2377440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359152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090672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072384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3803904" y="354330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785616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4517136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8848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5230368" y="35433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21208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6126480" y="354330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108192" y="35295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650" dirty="0"/>
          </a:p>
        </p:txBody>
      </p:sp>
      <p:sp>
        <p:nvSpPr>
          <p:cNvPr id="94" name="Text 92"/>
          <p:cNvSpPr txBox="1"/>
          <p:nvPr/>
        </p:nvSpPr>
        <p:spPr>
          <a:xfrm>
            <a:off x="612648" y="37124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664208" y="372618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64592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2377440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359152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3090672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072384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3803904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785616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4517136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498848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5230368" y="372618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21208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6126480" y="372618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08192" y="37124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09" name="Text 107"/>
          <p:cNvSpPr txBox="1"/>
          <p:nvPr/>
        </p:nvSpPr>
        <p:spPr>
          <a:xfrm>
            <a:off x="612648" y="3895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1664208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64592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2377440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2359152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3090672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3072384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3803904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3785616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4517136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4498848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5230368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521208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6126480" y="390906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08192" y="38953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40782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166420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64592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2377440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2359152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3090672" y="409194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3072384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3803904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3785616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4517136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4498848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523036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521208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650" dirty="0"/>
          </a:p>
        </p:txBody>
      </p:sp>
      <p:sp>
        <p:nvSpPr>
          <p:cNvPr id="137" name="Shape 135"/>
          <p:cNvSpPr/>
          <p:nvPr/>
        </p:nvSpPr>
        <p:spPr>
          <a:xfrm>
            <a:off x="6126480" y="40919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108192" y="40782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2.6</a:t>
            </a:r>
            <a:endParaRPr lang="en-US" sz="650" dirty="0"/>
          </a:p>
        </p:txBody>
      </p:sp>
      <p:sp>
        <p:nvSpPr>
          <p:cNvPr id="139" name="Text 137"/>
          <p:cNvSpPr txBox="1"/>
          <p:nvPr/>
        </p:nvSpPr>
        <p:spPr>
          <a:xfrm>
            <a:off x="612648" y="42611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166420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64592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2377440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2359152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44" name="Shape 142"/>
          <p:cNvSpPr/>
          <p:nvPr/>
        </p:nvSpPr>
        <p:spPr>
          <a:xfrm>
            <a:off x="3090672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3072384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3803904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3785616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4517136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4498848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523036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21208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6126480" y="42748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108192" y="42611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</a:t>
            </a:r>
            <a:endParaRPr lang="en-US" sz="650" dirty="0"/>
          </a:p>
        </p:txBody>
      </p:sp>
      <p:sp>
        <p:nvSpPr>
          <p:cNvPr id="154" name="Text 152"/>
          <p:cNvSpPr txBox="1"/>
          <p:nvPr/>
        </p:nvSpPr>
        <p:spPr>
          <a:xfrm>
            <a:off x="612648" y="44439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664208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164592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>
            <a:off x="2377440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2359152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650" dirty="0"/>
          </a:p>
        </p:txBody>
      </p:sp>
      <p:sp>
        <p:nvSpPr>
          <p:cNvPr id="159" name="Shape 157"/>
          <p:cNvSpPr/>
          <p:nvPr/>
        </p:nvSpPr>
        <p:spPr>
          <a:xfrm>
            <a:off x="3090672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3072384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3803904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785616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4517136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4498848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65" name="Shape 163"/>
          <p:cNvSpPr/>
          <p:nvPr/>
        </p:nvSpPr>
        <p:spPr>
          <a:xfrm>
            <a:off x="5230368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21208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6126480" y="445770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6108192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69" name="Text 167"/>
          <p:cNvSpPr txBox="1"/>
          <p:nvPr/>
        </p:nvSpPr>
        <p:spPr>
          <a:xfrm>
            <a:off x="612648" y="46542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VS AVAILABLE
</a:t>
            </a:r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billed / % used</a:t>
            </a:r>
            <a:endParaRPr lang="en-US" sz="620" dirty="0"/>
          </a:p>
        </p:txBody>
      </p:sp>
      <p:sp>
        <p:nvSpPr>
          <p:cNvPr id="170" name="Shape 168"/>
          <p:cNvSpPr/>
          <p:nvPr/>
        </p:nvSpPr>
        <p:spPr>
          <a:xfrm>
            <a:off x="169164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691640" y="4700016"/>
            <a:ext cx="46012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691640" y="4700016"/>
            <a:ext cx="105705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164592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74%</a:t>
            </a:r>
            <a:endParaRPr lang="en-US" sz="630" dirty="0"/>
          </a:p>
        </p:txBody>
      </p:sp>
      <p:sp>
        <p:nvSpPr>
          <p:cNvPr id="174" name="Shape 172"/>
          <p:cNvSpPr/>
          <p:nvPr/>
        </p:nvSpPr>
        <p:spPr>
          <a:xfrm>
            <a:off x="2404872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404872" y="4700016"/>
            <a:ext cx="404165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404872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2359152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65%</a:t>
            </a:r>
            <a:endParaRPr lang="en-US" sz="630" dirty="0"/>
          </a:p>
        </p:txBody>
      </p:sp>
      <p:sp>
        <p:nvSpPr>
          <p:cNvPr id="178" name="Shape 176"/>
          <p:cNvSpPr/>
          <p:nvPr/>
        </p:nvSpPr>
        <p:spPr>
          <a:xfrm>
            <a:off x="3118104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118104" y="4700016"/>
            <a:ext cx="516087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18104" y="4700016"/>
            <a:ext cx="267371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3072384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83%</a:t>
            </a:r>
            <a:endParaRPr lang="en-US" sz="630" dirty="0"/>
          </a:p>
        </p:txBody>
      </p:sp>
      <p:sp>
        <p:nvSpPr>
          <p:cNvPr id="182" name="Shape 180"/>
          <p:cNvSpPr/>
          <p:nvPr/>
        </p:nvSpPr>
        <p:spPr>
          <a:xfrm>
            <a:off x="3831336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831336" y="4700016"/>
            <a:ext cx="379293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31336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3785616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61%</a:t>
            </a:r>
            <a:endParaRPr lang="en-US" sz="630" dirty="0"/>
          </a:p>
        </p:txBody>
      </p:sp>
      <p:sp>
        <p:nvSpPr>
          <p:cNvPr id="186" name="Shape 184"/>
          <p:cNvSpPr/>
          <p:nvPr/>
        </p:nvSpPr>
        <p:spPr>
          <a:xfrm>
            <a:off x="4544568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544568" y="4700016"/>
            <a:ext cx="391729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544568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4498848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63%</a:t>
            </a:r>
            <a:endParaRPr lang="en-US" sz="630" dirty="0"/>
          </a:p>
        </p:txBody>
      </p:sp>
      <p:sp>
        <p:nvSpPr>
          <p:cNvPr id="190" name="Shape 188"/>
          <p:cNvSpPr/>
          <p:nvPr/>
        </p:nvSpPr>
        <p:spPr>
          <a:xfrm>
            <a:off x="525780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257800" y="4700016"/>
            <a:ext cx="42903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257800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21208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69%</a:t>
            </a:r>
            <a:endParaRPr lang="en-US" sz="630" dirty="0"/>
          </a:p>
        </p:txBody>
      </p:sp>
      <p:sp>
        <p:nvSpPr>
          <p:cNvPr id="194" name="Shape 192"/>
          <p:cNvSpPr/>
          <p:nvPr/>
        </p:nvSpPr>
        <p:spPr>
          <a:xfrm>
            <a:off x="6153912" y="4700016"/>
            <a:ext cx="1005840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53912" y="4700016"/>
            <a:ext cx="130759" cy="7772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108192" y="47914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</a:t>
            </a:r>
            <a:pPr algn="ctr" indent="0" marL="0">
              <a:buNone/>
            </a:pPr>
            <a:r>
              <a:rPr lang="en-US" sz="6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13%</a:t>
            </a:r>
            <a:endParaRPr lang="en-US" sz="630" dirty="0"/>
          </a:p>
        </p:txBody>
      </p:sp>
      <p:sp>
        <p:nvSpPr>
          <p:cNvPr id="197" name="Shape 195"/>
          <p:cNvSpPr/>
          <p:nvPr/>
        </p:nvSpPr>
        <p:spPr>
          <a:xfrm>
            <a:off x="6016752" y="2670048"/>
            <a:ext cx="20117" cy="230428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596128" y="2450592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596128" y="245059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580" dirty="0"/>
          </a:p>
        </p:txBody>
      </p:sp>
      <p:sp>
        <p:nvSpPr>
          <p:cNvPr id="200" name="Text 198"/>
          <p:cNvSpPr txBox="1"/>
          <p:nvPr/>
        </p:nvSpPr>
        <p:spPr>
          <a:xfrm>
            <a:off x="612648" y="5010912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months frozen at the final 4 Sep extract (Sep* is a part month) · HubSpot column = hours on the PS record vs 38h/week × 8-person roster; % billed not yet separable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8092440" y="2395728"/>
            <a:ext cx="36850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2" name="Text 200"/>
          <p:cNvSpPr txBox="1"/>
          <p:nvPr/>
        </p:nvSpPr>
        <p:spPr>
          <a:xfrm>
            <a:off x="8275320" y="24780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MEMBER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 2026-08-30 · frozen</a:t>
            </a:r>
            <a:endParaRPr lang="en-US" sz="95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2706624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 S.  </a:t>
            </a:r>
            <a:pPr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(11%)  ·  39.8h</a:t>
            </a:r>
            <a:endParaRPr lang="en-US" sz="700" dirty="0"/>
          </a:p>
        </p:txBody>
      </p:sp>
      <p:sp>
        <p:nvSpPr>
          <p:cNvPr id="204" name="Text 202"/>
          <p:cNvSpPr txBox="1"/>
          <p:nvPr/>
        </p:nvSpPr>
        <p:spPr>
          <a:xfrm>
            <a:off x="8275320" y="2841955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(14%)  ·  12h</a:t>
            </a:r>
            <a:endParaRPr lang="en-US" sz="70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2977286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G.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(16%)  ·  11.2h</a:t>
            </a:r>
            <a:endParaRPr lang="en-US" sz="700" dirty="0"/>
          </a:p>
        </p:txBody>
      </p:sp>
      <p:sp>
        <p:nvSpPr>
          <p:cNvPr id="206" name="Text 204"/>
          <p:cNvSpPr txBox="1"/>
          <p:nvPr/>
        </p:nvSpPr>
        <p:spPr>
          <a:xfrm>
            <a:off x="8275320" y="3112618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(20%)  ·  6.5h</a:t>
            </a:r>
            <a:endParaRPr lang="en-US" sz="700" dirty="0"/>
          </a:p>
        </p:txBody>
      </p:sp>
      <p:sp>
        <p:nvSpPr>
          <p:cNvPr id="207" name="Text 205"/>
          <p:cNvSpPr txBox="1"/>
          <p:nvPr/>
        </p:nvSpPr>
        <p:spPr>
          <a:xfrm>
            <a:off x="8275320" y="3247949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(74%)  ·  2h</a:t>
            </a:r>
            <a:endParaRPr lang="en-US" sz="70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383280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 C.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(92%)  ·  1h</a:t>
            </a:r>
            <a:endParaRPr lang="en-US" sz="700" dirty="0"/>
          </a:p>
        </p:txBody>
      </p:sp>
      <p:sp>
        <p:nvSpPr>
          <p:cNvPr id="209" name="Text 207"/>
          <p:cNvSpPr txBox="1"/>
          <p:nvPr/>
        </p:nvSpPr>
        <p:spPr>
          <a:xfrm>
            <a:off x="8275320" y="3518611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R.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(0%)  ·  0h</a:t>
            </a:r>
            <a:endParaRPr lang="en-US" sz="700" dirty="0"/>
          </a:p>
        </p:txBody>
      </p:sp>
      <p:sp>
        <p:nvSpPr>
          <p:cNvPr id="210" name="Text 208"/>
          <p:cNvSpPr txBox="1"/>
          <p:nvPr/>
        </p:nvSpPr>
        <p:spPr>
          <a:xfrm>
            <a:off x="8275320" y="3653942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(4%)  ·  0h</a:t>
            </a:r>
            <a:endParaRPr lang="en-US" sz="700" dirty="0"/>
          </a:p>
        </p:txBody>
      </p:sp>
      <p:sp>
        <p:nvSpPr>
          <p:cNvPr id="211" name="Shape 209"/>
          <p:cNvSpPr/>
          <p:nvPr/>
        </p:nvSpPr>
        <p:spPr>
          <a:xfrm>
            <a:off x="8092440" y="3931920"/>
            <a:ext cx="368503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2" name="Text 210"/>
          <p:cNvSpPr txBox="1"/>
          <p:nvPr/>
        </p:nvSpPr>
        <p:spPr>
          <a:xfrm>
            <a:off x="8275320" y="4014216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PS WORK  </a:t>
            </a:r>
            <a:pPr indent="0" marL="0">
              <a:buNone/>
            </a:pPr>
            <a:r>
              <a:rPr lang="en-US" sz="6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· live</a:t>
            </a:r>
            <a:endParaRPr lang="en-US" sz="950" dirty="0"/>
          </a:p>
        </p:txBody>
      </p:sp>
      <p:sp>
        <p:nvSpPr>
          <p:cNvPr id="213" name="Text 211"/>
          <p:cNvSpPr txBox="1"/>
          <p:nvPr/>
        </p:nvSpPr>
        <p:spPr>
          <a:xfrm>
            <a:off x="8275320" y="424281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9326880" y="4293108"/>
            <a:ext cx="1783080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11201400" y="424281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348</a:t>
            </a:r>
            <a:endParaRPr lang="en-US" sz="700" dirty="0"/>
          </a:p>
        </p:txBody>
      </p:sp>
      <p:sp>
        <p:nvSpPr>
          <p:cNvPr id="216" name="Text 214"/>
          <p:cNvSpPr txBox="1"/>
          <p:nvPr/>
        </p:nvSpPr>
        <p:spPr>
          <a:xfrm>
            <a:off x="8275320" y="442569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9326880" y="4475988"/>
            <a:ext cx="824931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8" name="Text 216"/>
          <p:cNvSpPr txBox="1"/>
          <p:nvPr/>
        </p:nvSpPr>
        <p:spPr>
          <a:xfrm>
            <a:off x="11201400" y="442569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161</a:t>
            </a:r>
            <a:endParaRPr lang="en-US" sz="700" dirty="0"/>
          </a:p>
        </p:txBody>
      </p:sp>
      <p:sp>
        <p:nvSpPr>
          <p:cNvPr id="219" name="Text 217"/>
          <p:cNvSpPr txBox="1"/>
          <p:nvPr/>
        </p:nvSpPr>
        <p:spPr>
          <a:xfrm>
            <a:off x="8275320" y="460857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9326880" y="4658868"/>
            <a:ext cx="625103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11201400" y="460857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00" dirty="0"/>
          </a:p>
        </p:txBody>
      </p:sp>
      <p:sp>
        <p:nvSpPr>
          <p:cNvPr id="222" name="Text 220"/>
          <p:cNvSpPr txBox="1"/>
          <p:nvPr/>
        </p:nvSpPr>
        <p:spPr>
          <a:xfrm>
            <a:off x="8275320" y="479145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223" name="Shape 221"/>
          <p:cNvSpPr/>
          <p:nvPr/>
        </p:nvSpPr>
        <p:spPr>
          <a:xfrm>
            <a:off x="9326880" y="4841748"/>
            <a:ext cx="302304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11201400" y="479145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</a:t>
            </a:r>
            <a:endParaRPr lang="en-US" sz="700" dirty="0"/>
          </a:p>
        </p:txBody>
      </p:sp>
      <p:sp>
        <p:nvSpPr>
          <p:cNvPr id="225" name="Text 223"/>
          <p:cNvSpPr txBox="1"/>
          <p:nvPr/>
        </p:nvSpPr>
        <p:spPr>
          <a:xfrm>
            <a:off x="8275320" y="497433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226" name="Shape 224"/>
          <p:cNvSpPr/>
          <p:nvPr/>
        </p:nvSpPr>
        <p:spPr>
          <a:xfrm>
            <a:off x="9326880" y="5024628"/>
            <a:ext cx="45720" cy="77724"/>
          </a:xfrm>
          <a:prstGeom prst="roundRect">
            <a:avLst>
              <a:gd name="adj" fmla="val 70000"/>
            </a:avLst>
          </a:prstGeom>
          <a:solidFill>
            <a:srgbClr val="2C8394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11201400" y="497433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228" name="Shape 226"/>
          <p:cNvSpPr/>
          <p:nvPr/>
        </p:nvSpPr>
        <p:spPr>
          <a:xfrm>
            <a:off x="411480" y="5349240"/>
            <a:ext cx="11365992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9" name="Text 227"/>
          <p:cNvSpPr txBox="1"/>
          <p:nvPr/>
        </p:nvSpPr>
        <p:spPr>
          <a:xfrm>
            <a:off x="612648" y="545896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0" name="Text 228"/>
          <p:cNvSpPr txBox="1"/>
          <p:nvPr/>
        </p:nvSpPr>
        <p:spPr>
          <a:xfrm>
            <a:off x="612648" y="5769864"/>
            <a:ext cx="1095451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continues across the cutover, on a thinner meter.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 of the 608h capacity is logged for 8–20 Sep (78.93h on 29 records) against 69.4% in the last full Creatio week — that gap is logging coverage, not idle teams: 131 PS engagements were opened this week and only 29 carry time.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are going is consistent: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(36.9h) and Onboarding (35.9h) dominate, the same two categories that led every Creatio month. 21.4h of the 78.9h sits on two records named 'test' / 'Warranty Test' — worth clearing out.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Creatio (frozen to 4 Sep) + HubSpot PS records (live)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2026-09-21T04:44:02Z</dcterms:created>
  <dcterms:modified xsi:type="dcterms:W3CDTF">2026-09-21T04:44:02Z</dcterms:modified>
</cp:coreProperties>
</file>