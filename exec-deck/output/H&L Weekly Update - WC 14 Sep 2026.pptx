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Unweighted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11</c:v>
                </c:pt>
                <c:pt idx="2">
                  <c:v>12</c:v>
                </c:pt>
                <c:pt idx="3">
                  <c:v>26</c:v>
                </c:pt>
                <c:pt idx="4">
                  <c:v>27</c:v>
                </c:pt>
                <c:pt idx="5">
                  <c:v>59</c:v>
                </c:pt>
                <c:pt idx="6">
                  <c:v>81</c:v>
                </c:pt>
                <c:pt idx="7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8</c:v>
                </c:pt>
                <c:pt idx="4">
                  <c:v>8</c:v>
                </c:pt>
                <c:pt idx="5">
                  <c:v>23</c:v>
                </c:pt>
                <c:pt idx="6">
                  <c:v>24</c:v>
                </c:pt>
                <c:pt idx="7">
                  <c:v>52</c:v>
                </c:pt>
              </c:numCache>
            </c:numRef>
          </c:val>
        </c:ser>
        <c:dLbls>
          <c:numFmt formatCode="$#,##0\k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649</c:v>
                </c:pt>
                <c:pt idx="1">
                  <c:v>469</c:v>
                </c:pt>
                <c:pt idx="2">
                  <c:v>418</c:v>
                </c:pt>
                <c:pt idx="3">
                  <c:v>451</c:v>
                </c:pt>
                <c:pt idx="4">
                  <c:v>615</c:v>
                </c:pt>
                <c:pt idx="5">
                  <c:v>490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B455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465</c:v>
                </c:pt>
                <c:pt idx="1">
                  <c:v>456</c:v>
                </c:pt>
                <c:pt idx="2">
                  <c:v>343</c:v>
                </c:pt>
                <c:pt idx="3">
                  <c:v>347</c:v>
                </c:pt>
                <c:pt idx="4">
                  <c:v>1250</c:v>
                </c:pt>
                <c:pt idx="5">
                  <c:v>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19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LAGGED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Latest extract covers 7–13 Sep. Movement register (new-MRR line of record) refresh pending post-cutover.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capture 11 Sep;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$373k = 52% of $715k vs 89% pace; extract week +$38k; new-MRR register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46 deals · $161k (HubSpot); Q3 pipe $335k unweighted / $123k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as at 6 Sep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wk: register refresh pending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64043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$373k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extract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187245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as at 6 Sep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incl. extract wk 7–13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56327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4871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3159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8770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+21k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4381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$154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58522" cy="100584"/>
          </a:xfrm>
          <a:prstGeom prst="roundRect">
            <a:avLst>
              <a:gd name="adj" fmla="val 78124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$11k*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$373k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 MRR QTD held at last register run (6 Sep) — movement register refresh pending post-cutover</a:t>
            </a:r>
            <a:endParaRPr lang="en-US" sz="72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$373k (52%)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The 7–13 Sep extract added $38k — Brett +$21k, Jasmine +$12k.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the gap in this week's picture: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(the line of record) hasn't run since 6 Sep. Extract shows $871 of new S/W subscription billing in 7–13 Sep — a different measure, shown for direction only.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extract yet for 14–20 Sep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Sysnet drop lands next week; this slide bridges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6901891" y="6510528"/>
            <a:ext cx="487558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901891" y="6510528"/>
            <a:ext cx="48755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7–13 Sep + sales targets · register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figures as at 6 Sep — weekly export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39% of all wins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register — tracked ahead of referral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28529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709160" y="28529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23560" y="28529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" y="350215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" y="310896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1089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709160" y="31089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623560" y="31089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39410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0080" y="354787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35478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709160" y="35478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356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40080" y="437997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867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39867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709160" y="39867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623560" y="39867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0080" y="481888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442569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3703320" y="4425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4709160" y="442569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623560" y="442569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0080" y="525780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48646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3703320" y="48646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709160" y="486460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5623560" y="486460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40080" y="56967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0080" y="53035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703320" y="530352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4709160" y="53035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5623560" y="530352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178040" y="2395728"/>
            <a:ext cx="459943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7379208" y="2816352"/>
            <a:ext cx="4187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→ 14 wins worth $38M GMV — 39% of everything H&amp;L Pay has signed — with $245M more in negotiation.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leads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11 referrals (6 won). Referring is concentrated in a handful of AMs — widening the referrer base is the lever.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export pending: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ValPay drop and identification register haven't updated since 6 Sep (cutover fortnight). Figures shown are the last verified state, not this week's movement.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 = estimated annual (AUD) · referrer = Account Manager on the deal · 6 deals untagged — referral figures are a floor.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 basis note: identification register tracks accounts H&amp;L flags before referral — CRM-to-CRM connection with ValPay still to come.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ValPay export + identification register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$335k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open deals with a Q3 close date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$123k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$809k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90.1%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won / 27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21945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won this wk: 46 · $161k (prior wk 20 · $44k) · new this wk: 67 · $200k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248716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12648" y="2596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BY OWNER — UNWEIGHTED VS WEIGHTED</a:t>
            </a:r>
            <a:endParaRPr lang="en-US" sz="12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0080" y="2944368"/>
          <a:ext cx="6080760" cy="3227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7178040" y="248716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59689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290779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 — read levels as a new baseline.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measure; weighted uses HubSpot stage probabilities (10/30/50/80%). Closed-won Q3 reads $809k across 246 deals on this basis.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hygiene transformed: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172 open deals ($360k) carry no close date — down from 1,678 in Creatio. The migrated dating debt now shows as 1,545 open deals ($2.9M) with a lapsed close date — the clean-up queue for AMs.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restarts: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movement now reads live (won / new above). Deal-level NET Δ returns as weekly HubSpot snapshots accumulate — first snapshot taken this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attribution now live on the open Q3 book — Bjorn holds the most ($117k unweighted).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work-order feed ended 4 Sep — HubSpot time logging not yet at coverage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capacity model to be rebuilt on HubSpot hours · 80% target unchanged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CASES OPENED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40 · Integrations 14 · Training 7 · Onboarding 3 · Warranty 0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HUBSPOT CASES — RAMPING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072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98.6h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697480" y="2852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 48 cases, all-time — the new ground truth (actual_hours on the ticket case)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93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08736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749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352044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45.0h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16636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447141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1330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18.5h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48554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45171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52044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18.9h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0080" y="52395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490118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52044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13.2h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16636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0080" y="562356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52852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352044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178040" y="2395728"/>
            <a:ext cx="459943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379208" y="2816352"/>
            <a:ext cx="4187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is deliberately blank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Creatio work-order feed (the old basis) ended 4 Sep. HubSpot's actual_hours covers ~99 hours on 48 cases all-time — far below the ~1,000h/month the old view measured, so computing a % would fabricate a collapse that isn't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takes to switch this back 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members logging actual_hours on every case (Training adds training_actual_hours), plus the 38h/week capacity roster re-based in the new reporting. The number returns automatically as coverage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signal is live meanwhile: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week, concentrated in Tech (40).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Creatio-based reading (week of 30 Aug): 69.4% total utilisation, 31.8% billed — kept as the pre-cutover baseline.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the design ethos: where a source isn't ready the state is shown honestly — never an estimated utilisation presented as measured.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96758" y="6510528"/>
            <a:ext cx="388071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896758" y="6510528"/>
            <a:ext cx="3880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(hours ramping) — Creatio feed ended 4 Sep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 · as at 6 Sep — refresh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$1.15M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259 logos lost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-$22k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cumulative — the base is shrinking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WEEK'S REFRESH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invoicing register last ran 6 Sep — first post-cutover run due with next Finance drop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603504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28163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3429000" y="28163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389120" y="28163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8163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852160" y="28163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612648" y="305409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30540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429000" y="30540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389120" y="30540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257800" y="30540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852160" y="305409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612648" y="332841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86868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3429000" y="33284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4389120" y="33284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257800" y="332841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852160" y="332841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12648" y="36027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68680" y="36027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429000" y="360273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389120" y="3602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257800" y="36027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5852160" y="36027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87705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868680" y="38770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3429000" y="38770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4389120" y="3877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5257800" y="38770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5852160" y="387705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612648" y="415137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868680" y="4151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3429000" y="4151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4389120" y="4151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257800" y="41513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5852160" y="415137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612648" y="442569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868680" y="44256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3429000" y="44256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4389120" y="44256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257800" y="44256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5852160" y="442569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612648" y="470001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868680" y="47000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3429000" y="47000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4389120" y="4700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5257800" y="470001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5852160" y="470001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612648" y="4974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868680" y="49743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3429000" y="497433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81" name="Text 79"/>
          <p:cNvSpPr txBox="1"/>
          <p:nvPr/>
        </p:nvSpPr>
        <p:spPr>
          <a:xfrm>
            <a:off x="4389120" y="4974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57800" y="4974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852160" y="4974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612648" y="524865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868680" y="5248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850" dirty="0"/>
          </a:p>
        </p:txBody>
      </p:sp>
      <p:sp>
        <p:nvSpPr>
          <p:cNvPr id="86" name="Text 84"/>
          <p:cNvSpPr txBox="1"/>
          <p:nvPr/>
        </p:nvSpPr>
        <p:spPr>
          <a:xfrm>
            <a:off x="3429000" y="5248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87" name="Text 85"/>
          <p:cNvSpPr txBox="1"/>
          <p:nvPr/>
        </p:nvSpPr>
        <p:spPr>
          <a:xfrm>
            <a:off x="4389120" y="52486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5257800" y="5248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5852160" y="524865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90" name="Text 88"/>
          <p:cNvSpPr txBox="1"/>
          <p:nvPr/>
        </p:nvSpPr>
        <p:spPr>
          <a:xfrm>
            <a:off x="612648" y="552297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5229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850" dirty="0"/>
          </a:p>
        </p:txBody>
      </p:sp>
      <p:sp>
        <p:nvSpPr>
          <p:cNvPr id="92" name="Text 90"/>
          <p:cNvSpPr txBox="1"/>
          <p:nvPr/>
        </p:nvSpPr>
        <p:spPr>
          <a:xfrm>
            <a:off x="3429000" y="55229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4389120" y="55229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5257800" y="55229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95" name="Text 93"/>
          <p:cNvSpPr txBox="1"/>
          <p:nvPr/>
        </p:nvSpPr>
        <p:spPr>
          <a:xfrm>
            <a:off x="5852160" y="552297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629400" y="2395728"/>
            <a:ext cx="514807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5"/>
          <p:cNvSpPr txBox="1"/>
          <p:nvPr/>
        </p:nvSpPr>
        <p:spPr>
          <a:xfrm>
            <a:off x="6830568" y="250545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830568" y="2816352"/>
            <a:ext cx="47365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6 Sep register run.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Finance Weekly Invoicing register (customer-spine matched, debtor-ID join over 10,591 venues) hasn't run since cutover — figures are the last verified state, shown rather than re-derived on a new basis mid-migration.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wins bill ~a quarter later. March wins still uninvoiced (Oscars Group $155k) are past normal lag and worth chasing.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Signed — ~1.5x rollout timeline expected. Keen to start but held by old provider's contract terms; asking H&amp;L for a discount to bridge.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 · AVC excluded pending Creatio MRR-field correction.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8269834" y="6510528"/>
            <a:ext cx="350763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269834" y="6510528"/>
            <a:ext cx="35076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CRM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 aged 31d+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441 older than 2 days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VS RESOLVED — LAST 6 WEEKS (HUBSPOT)</a:t>
            </a:r>
            <a:endParaRPr lang="en-US" sz="12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834640"/>
          <a:ext cx="6080760" cy="2953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" y="59253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09-07 resolved spike (1,250) is migration cleanup — not real throughput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7178040" y="2395728"/>
            <a:ext cx="459943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505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— TODAY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28529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412480" y="2894076"/>
            <a:ext cx="2040397" cy="118872"/>
          </a:xfrm>
          <a:prstGeom prst="roundRect">
            <a:avLst>
              <a:gd name="adj" fmla="val 38462"/>
            </a:avLst>
          </a:prstGeom>
          <a:solidFill>
            <a:srgbClr val="A9CBD4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498597" y="28529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309067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8412480" y="3131820"/>
            <a:ext cx="2468880" cy="118872"/>
          </a:xfrm>
          <a:prstGeom prst="roundRect">
            <a:avLst>
              <a:gd name="adj" fmla="val 38462"/>
            </a:avLst>
          </a:prstGeom>
          <a:solidFill>
            <a:srgbClr val="6FAEBB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927080" y="309067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242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7379208" y="33284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8412480" y="3369564"/>
            <a:ext cx="1203834" cy="118872"/>
          </a:xfrm>
          <a:prstGeom prst="roundRect">
            <a:avLst>
              <a:gd name="adj" fmla="val 38462"/>
            </a:avLst>
          </a:prstGeom>
          <a:solidFill>
            <a:srgbClr val="2C8394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662034" y="332841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7379208" y="35661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8412480" y="3607308"/>
            <a:ext cx="102020" cy="118872"/>
          </a:xfrm>
          <a:prstGeom prst="roundRect">
            <a:avLst>
              <a:gd name="adj" fmla="val 44815"/>
            </a:avLst>
          </a:prstGeom>
          <a:solidFill>
            <a:srgbClr val="1C5765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560220" y="3566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7178040" y="4023360"/>
            <a:ext cx="459943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7379208" y="4133088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7379208" y="4443984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Outflow beat inflow this week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(591 resolved vs 490 in) and the backlog sits at 570 — the age-band history restarts on the HubSpot basis from this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 open cases show no first response (441 past 2 days). Caution: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in HubSpot (first-response SLA active on new tickets) — attainment reporting returns once coverage is credible.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· capture 11 Sep — this week's capture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WK TO 11 SEP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derived from Friday-capture deltas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560527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97280"/>
            <a:ext cx="5276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353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94460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94460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35331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54533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864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8648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545336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73736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78508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78508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7373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9293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970532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970532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929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SEPTEMBER TO 11 SEP, BY MEMBER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323697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28986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560320" y="28986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0080" y="362102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3282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2560320" y="328269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40080" y="400507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3666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36667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40080" y="438912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40507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560320" y="40507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40080" y="4773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2560320" y="44348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840480" y="323697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40480" y="28986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5760720" y="28986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840480" y="362102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840480" y="3282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760720" y="328269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840480" y="400507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40480" y="36667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5760720" y="36667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840480" y="438912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40507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760720" y="40507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840480" y="4773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4048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Kumari Nidhi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5760720" y="44348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2,757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5522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MEMBERS  </a:t>
            </a:r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 lines Sep-to-date (capture 11 Sep) · monthly member history in the dashboard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78040" y="2395728"/>
            <a:ext cx="459943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7379208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 (30-DAY RATE)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379208" y="2852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8988552" y="28529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9784080" y="28529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1110996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7379208" y="3154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8988552" y="31546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9784080" y="3154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11109960" y="3154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379208" y="3456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8988552" y="34564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9784080" y="3456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109960" y="3456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379208" y="3758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87" name="Text 85"/>
          <p:cNvSpPr txBox="1"/>
          <p:nvPr/>
        </p:nvSpPr>
        <p:spPr>
          <a:xfrm>
            <a:off x="8988552" y="37581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9784080" y="37581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1109960" y="37581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7379208" y="40599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800" dirty="0"/>
          </a:p>
        </p:txBody>
      </p:sp>
      <p:sp>
        <p:nvSpPr>
          <p:cNvPr id="91" name="Text 89"/>
          <p:cNvSpPr txBox="1"/>
          <p:nvPr/>
        </p:nvSpPr>
        <p:spPr>
          <a:xfrm>
            <a:off x="8988552" y="4059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978408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1110996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7178040" y="4645152"/>
            <a:ext cx="459943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5" name="Text 93"/>
          <p:cNvSpPr txBox="1"/>
          <p:nvPr/>
        </p:nvSpPr>
        <p:spPr>
          <a:xfrm>
            <a:off x="7379208" y="475488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7379208" y="5065776"/>
            <a:ext cx="41879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now edges Claude Code on stickiness (64% vs 63% DAU/MAU). Code &amp; scripts are 50% of Cowork file output.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lag: numbers are the 11 Sep Friday capture — the 18 Sep capture wasn't taken during cutover week; deltas resume next drop.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(capture 11 Sep)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2026-09-19T14:39:38Z</dcterms:created>
  <dcterms:modified xsi:type="dcterms:W3CDTF">2026-09-19T14:39:38Z</dcterms:modified>
</cp:coreProperties>
</file>