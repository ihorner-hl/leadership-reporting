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identified</c:v>
                </c:pt>
              </c:strCache>
            </c:strRef>
          </c:tx>
          <c:spPr>
            <a:solidFill>
              <a:srgbClr val="2443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23</c:v>
                </c:pt>
                <c:pt idx="8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referred</c:v>
                </c:pt>
              </c:strCache>
            </c:strRef>
          </c:tx>
          <c:spPr>
            <a:solidFill>
              <a:srgbClr val="2C839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</c:v>
                </c:pt>
                <c:pt idx="1">
                  <c:v>2</c:v>
                </c:pt>
                <c:pt idx="2">
                  <c:v>4</c:v>
                </c:pt>
                <c:pt idx="3">
                  <c:v>3</c:v>
                </c:pt>
                <c:pt idx="4">
                  <c:v>2</c:v>
                </c:pt>
                <c:pt idx="5">
                  <c:v>6</c:v>
                </c:pt>
                <c:pt idx="6">
                  <c:v>2</c:v>
                </c:pt>
                <c:pt idx="7">
                  <c:v>5</c:v>
                </c:pt>
                <c:pt idx="8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-10"/>
        <c:axId val="2094734554"/>
        <c:axId val="2094734552"/>
        <c:axId val="2094734556"/>
      </c:bar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cumulative referred</c:v>
                </c:pt>
              </c:strCache>
            </c:strRef>
          </c:tx>
          <c:spPr>
            <a:solidFill>
              <a:srgbClr val="C88A2E"/>
            </a:solidFill>
            <a:ln w="25400" cap="flat">
              <a:solidFill>
                <a:srgbClr val="C88A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C88A2E"/>
              </a:solidFill>
              <a:ln w="9525" cap="flat">
                <a:solidFill>
                  <a:srgbClr val="C88A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3</c:v>
                </c:pt>
                <c:pt idx="1">
                  <c:v>5</c:v>
                </c:pt>
                <c:pt idx="2">
                  <c:v>9</c:v>
                </c:pt>
                <c:pt idx="3">
                  <c:v>12</c:v>
                </c:pt>
                <c:pt idx="4">
                  <c:v>14</c:v>
                </c:pt>
                <c:pt idx="5">
                  <c:v>20</c:v>
                </c:pt>
                <c:pt idx="6">
                  <c:v>22</c:v>
                </c:pt>
                <c:pt idx="7">
                  <c:v>27</c:v>
                </c:pt>
                <c:pt idx="8">
                  <c:v>27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12293A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A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FA1AC"/>
                </a:solidFill>
                <a:latin typeface="Poppi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
              <a:solidFill>
                <a:srgbClr val="5E7280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Closed won</c:v>
                </c:pt>
              </c:strCache>
            </c:strRef>
          </c:tx>
          <c:spPr>
            <a:solidFill>
              <a:srgbClr val="2C839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89148</c:v>
                </c:pt>
                <c:pt idx="1">
                  <c:v>53717</c:v>
                </c:pt>
                <c:pt idx="2">
                  <c:v>200064</c:v>
                </c:pt>
                <c:pt idx="3">
                  <c:v>34236</c:v>
                </c:pt>
                <c:pt idx="4">
                  <c:v>39372</c:v>
                </c:pt>
                <c:pt idx="5">
                  <c:v>77748</c:v>
                </c:pt>
                <c:pt idx="6">
                  <c:v>15377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Invoiced (new + expansion)</c:v>
                </c:pt>
              </c:strCache>
            </c:strRef>
          </c:tx>
          <c:spPr>
            <a:solidFill>
              <a:srgbClr val="3D8F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30732</c:v>
                </c:pt>
                <c:pt idx="1">
                  <c:v>66948</c:v>
                </c:pt>
                <c:pt idx="2">
                  <c:v>44352</c:v>
                </c:pt>
                <c:pt idx="3">
                  <c:v>58572</c:v>
                </c:pt>
                <c:pt idx="4">
                  <c:v>70788</c:v>
                </c:pt>
                <c:pt idx="5">
                  <c:v>45408</c:v>
                </c:pt>
                <c:pt idx="6">
                  <c:v>90012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-1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2293A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A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8FA1AC"/>
                </a:solidFill>
                <a:latin typeface="Poppi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750">
              <a:solidFill>
                <a:srgbClr val="5E7280"/>
              </a:solidFill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0–7 days</c:v>
                </c:pt>
              </c:strCache>
            </c:strRef>
          </c:tx>
          <c:spPr>
            <a:solidFill>
              <a:srgbClr val="3D8F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08-02</c:v>
                  </c:pt>
                  <c:pt idx="1">
                    <c:v>08-09</c:v>
                  </c:pt>
                  <c:pt idx="2">
                    <c:v>08-16</c:v>
                  </c:pt>
                  <c:pt idx="3">
                    <c:v>08-23</c:v>
                  </c:pt>
                  <c:pt idx="4">
                    <c:v>08-30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159</c:v>
                </c:pt>
                <c:pt idx="1">
                  <c:v>255</c:v>
                </c:pt>
                <c:pt idx="2">
                  <c:v>172</c:v>
                </c:pt>
                <c:pt idx="3">
                  <c:v>164</c:v>
                </c:pt>
                <c:pt idx="4">
                  <c:v>151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8–30 days</c:v>
                </c:pt>
              </c:strCache>
            </c:strRef>
          </c:tx>
          <c:spPr>
            <a:solidFill>
              <a:srgbClr val="6FAEB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08-02</c:v>
                  </c:pt>
                  <c:pt idx="1">
                    <c:v>08-09</c:v>
                  </c:pt>
                  <c:pt idx="2">
                    <c:v>08-16</c:v>
                  </c:pt>
                  <c:pt idx="3">
                    <c:v>08-23</c:v>
                  </c:pt>
                  <c:pt idx="4">
                    <c:v>08-30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217</c:v>
                </c:pt>
                <c:pt idx="1">
                  <c:v>228</c:v>
                </c:pt>
                <c:pt idx="2">
                  <c:v>270</c:v>
                </c:pt>
                <c:pt idx="3">
                  <c:v>299</c:v>
                </c:pt>
                <c:pt idx="4">
                  <c:v>297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31–90 days</c:v>
                </c:pt>
              </c:strCache>
            </c:strRef>
          </c:tx>
          <c:spPr>
            <a:solidFill>
              <a:srgbClr val="C88A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08-02</c:v>
                  </c:pt>
                  <c:pt idx="1">
                    <c:v>08-09</c:v>
                  </c:pt>
                  <c:pt idx="2">
                    <c:v>08-16</c:v>
                  </c:pt>
                  <c:pt idx="3">
                    <c:v>08-23</c:v>
                  </c:pt>
                  <c:pt idx="4">
                    <c:v>08-30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237</c:v>
                </c:pt>
                <c:pt idx="1">
                  <c:v>85</c:v>
                </c:pt>
                <c:pt idx="2">
                  <c:v>90</c:v>
                </c:pt>
                <c:pt idx="3">
                  <c:v>111</c:v>
                </c:pt>
                <c:pt idx="4">
                  <c:v>79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90+ days</c:v>
                </c:pt>
              </c:strCache>
            </c:strRef>
          </c:tx>
          <c:spPr>
            <a:solidFill>
              <a:srgbClr val="7A3B2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08-02</c:v>
                  </c:pt>
                  <c:pt idx="1">
                    <c:v>08-09</c:v>
                  </c:pt>
                  <c:pt idx="2">
                    <c:v>08-16</c:v>
                  </c:pt>
                  <c:pt idx="3">
                    <c:v>08-23</c:v>
                  </c:pt>
                  <c:pt idx="4">
                    <c:v>08-30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73</c:v>
                </c:pt>
                <c:pt idx="1">
                  <c:v>57</c:v>
                </c:pt>
                <c:pt idx="2">
                  <c:v>52</c:v>
                </c:pt>
                <c:pt idx="3">
                  <c:v>58</c:v>
                </c:pt>
                <c:pt idx="4">
                  <c:v>59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50" u="none">
                  <a:solidFill>
                    <a:srgbClr val="FFFFFF"/>
                  </a:solidFill>
                  <a:latin typeface="Poppins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12293A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0"/>
          <c:min val="0"/>
        </c:scaling>
        <c:delete val="0"/>
        <c:axPos val="l"/>
        <c:majorGridlines>
          <c:spPr>
            <a:ln w="6350" cap="flat">
              <a:solidFill>
                <a:srgbClr val="E2EA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8FA1AC"/>
                </a:solidFill>
                <a:latin typeface="Poppi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0–7 days</c:v>
                </c:pt>
              </c:strCache>
            </c:strRef>
          </c:tx>
          <c:spPr>
            <a:solidFill>
              <a:srgbClr val="3D8F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09-13</c:v>
                  </c:pt>
                  <c:pt idx="1">
                    <c:v>09-20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236</c:v>
                </c:pt>
                <c:pt idx="1">
                  <c:v>184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8–30 days</c:v>
                </c:pt>
              </c:strCache>
            </c:strRef>
          </c:tx>
          <c:spPr>
            <a:solidFill>
              <a:srgbClr val="6FAEB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09-13</c:v>
                  </c:pt>
                  <c:pt idx="1">
                    <c:v>09-20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259</c:v>
                </c:pt>
                <c:pt idx="1">
                  <c:v>249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31–90 days</c:v>
                </c:pt>
              </c:strCache>
            </c:strRef>
          </c:tx>
          <c:spPr>
            <a:solidFill>
              <a:srgbClr val="C88A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09-13</c:v>
                  </c:pt>
                  <c:pt idx="1">
                    <c:v>09-20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151</c:v>
                </c:pt>
                <c:pt idx="1">
                  <c:v>132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90+ days</c:v>
                </c:pt>
              </c:strCache>
            </c:strRef>
          </c:tx>
          <c:spPr>
            <a:solidFill>
              <a:srgbClr val="7A3B2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Poppi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09-13</c:v>
                  </c:pt>
                  <c:pt idx="1">
                    <c:v>09-20</c:v>
                  </c:pt>
                </c:lvl>
              </c:multiLvlStrCache>
            </c:multiLvl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35</c:v>
                </c:pt>
                <c:pt idx="1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50" u="none">
                  <a:solidFill>
                    <a:srgbClr val="FFFFFF"/>
                  </a:solidFill>
                  <a:latin typeface="Poppins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12293A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0"/>
          <c:min val="0"/>
        </c:scaling>
        <c:delete val="1"/>
        <c:axPos val="l"/>
        <c:majorGridlines>
          <c:spPr>
            <a:ln w="6350" cap="flat">
              <a:solidFill>
                <a:srgbClr val="E2EA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weekly deck produced after the Creatio → HubSpot migration (live 8 Sep 2026). Slide 3 carries the cutover register; per-slide source pills carry the provenance.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09099" y="-1263701"/>
            <a:ext cx="3533242" cy="3533242"/>
          </a:xfrm>
          <a:prstGeom prst="ellipse">
            <a:avLst/>
          </a:prstGeom>
          <a:solidFill>
            <a:srgbClr val="1C5765"/>
          </a:solidFill>
          <a:ln/>
        </p:spPr>
      </p:sp>
      <p:sp>
        <p:nvSpPr>
          <p:cNvPr id="3" name="Shape 1"/>
          <p:cNvSpPr/>
          <p:nvPr/>
        </p:nvSpPr>
        <p:spPr>
          <a:xfrm>
            <a:off x="10112350" y="-860450"/>
            <a:ext cx="2726741" cy="2726741"/>
          </a:xfrm>
          <a:prstGeom prst="ellipse">
            <a:avLst/>
          </a:prstGeom>
          <a:solidFill>
            <a:srgbClr val="2C8394"/>
          </a:solidFill>
          <a:ln/>
        </p:spPr>
      </p:sp>
      <p:sp>
        <p:nvSpPr>
          <p:cNvPr id="4" name="Shape 2"/>
          <p:cNvSpPr/>
          <p:nvPr/>
        </p:nvSpPr>
        <p:spPr>
          <a:xfrm>
            <a:off x="10515600" y="-457200"/>
            <a:ext cx="1920240" cy="1920240"/>
          </a:xfrm>
          <a:prstGeom prst="ellipse">
            <a:avLst/>
          </a:prstGeom>
          <a:solidFill>
            <a:srgbClr val="6FAEBB"/>
          </a:solidFill>
          <a:ln/>
        </p:spPr>
      </p:sp>
      <p:sp>
        <p:nvSpPr>
          <p:cNvPr id="5" name="Shape 3"/>
          <p:cNvSpPr/>
          <p:nvPr/>
        </p:nvSpPr>
        <p:spPr>
          <a:xfrm>
            <a:off x="10918850" y="-53950"/>
            <a:ext cx="1113739" cy="1113739"/>
          </a:xfrm>
          <a:prstGeom prst="ellipse">
            <a:avLst/>
          </a:prstGeom>
          <a:solidFill>
            <a:srgbClr val="E4F1F4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777240"/>
            <a:ext cx="1051560" cy="1051560"/>
          </a:xfrm>
          <a:prstGeom prst="roundRect">
            <a:avLst>
              <a:gd name="adj" fmla="val 139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68680" y="7772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H&amp;L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74320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H&amp;L Weekly Update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3977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 commencing 14 September 2026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AE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Generated: 21 Sep 2026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" y="5029200"/>
            <a:ext cx="4572000" cy="402336"/>
          </a:xfrm>
          <a:prstGeom prst="roundRect">
            <a:avLst>
              <a:gd name="adj" fmla="val 50000"/>
            </a:avLst>
          </a:prstGeom>
          <a:solidFill>
            <a:srgbClr val="B4552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96112" y="5029200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CUTOVER EDITION — FIRST DECK ON HUBSPOT SOURCES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2293A"/>
          </a:solidFill>
          <a:ln/>
        </p:spPr>
      </p:sp>
      <p:sp>
        <p:nvSpPr>
          <p:cNvPr id="3" name="Shape 1"/>
          <p:cNvSpPr/>
          <p:nvPr/>
        </p:nvSpPr>
        <p:spPr>
          <a:xfrm>
            <a:off x="384048" y="155448"/>
            <a:ext cx="73152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84048" y="155448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H&amp;L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54864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Agenda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10872216" y="0"/>
            <a:ext cx="841248" cy="841248"/>
          </a:xfrm>
          <a:prstGeom prst="ellipse">
            <a:avLst/>
          </a:prstGeom>
          <a:solidFill>
            <a:srgbClr val="1C5765"/>
          </a:solidFill>
          <a:ln/>
        </p:spPr>
      </p:sp>
      <p:sp>
        <p:nvSpPr>
          <p:cNvPr id="7" name="Shape 5"/>
          <p:cNvSpPr/>
          <p:nvPr/>
        </p:nvSpPr>
        <p:spPr>
          <a:xfrm>
            <a:off x="10968228" y="96012"/>
            <a:ext cx="649224" cy="649224"/>
          </a:xfrm>
          <a:prstGeom prst="ellipse">
            <a:avLst/>
          </a:prstGeom>
          <a:solidFill>
            <a:srgbClr val="2C8394"/>
          </a:solidFill>
          <a:ln/>
        </p:spPr>
      </p:sp>
      <p:sp>
        <p:nvSpPr>
          <p:cNvPr id="8" name="Shape 6"/>
          <p:cNvSpPr/>
          <p:nvPr/>
        </p:nvSpPr>
        <p:spPr>
          <a:xfrm>
            <a:off x="11064240" y="192024"/>
            <a:ext cx="457200" cy="457200"/>
          </a:xfrm>
          <a:prstGeom prst="ellipse">
            <a:avLst/>
          </a:prstGeom>
          <a:solidFill>
            <a:srgbClr val="6FAEBB"/>
          </a:solidFill>
          <a:ln/>
        </p:spPr>
      </p:sp>
      <p:sp>
        <p:nvSpPr>
          <p:cNvPr id="9" name="Shape 7"/>
          <p:cNvSpPr/>
          <p:nvPr/>
        </p:nvSpPr>
        <p:spPr>
          <a:xfrm>
            <a:off x="11160252" y="288036"/>
            <a:ext cx="265176" cy="265176"/>
          </a:xfrm>
          <a:prstGeom prst="ellipse">
            <a:avLst/>
          </a:prstGeom>
          <a:solidFill>
            <a:srgbClr val="E4F1F4"/>
          </a:solidFill>
          <a:ln/>
        </p:spPr>
      </p:sp>
      <p:sp>
        <p:nvSpPr>
          <p:cNvPr id="10" name="Shape 8"/>
          <p:cNvSpPr/>
          <p:nvPr/>
        </p:nvSpPr>
        <p:spPr>
          <a:xfrm>
            <a:off x="411480" y="1371600"/>
            <a:ext cx="2670048" cy="82296"/>
          </a:xfrm>
          <a:prstGeom prst="rect">
            <a:avLst/>
          </a:prstGeom>
          <a:solidFill>
            <a:srgbClr val="2C8394"/>
          </a:solidFill>
          <a:ln/>
        </p:spPr>
      </p:sp>
      <p:sp>
        <p:nvSpPr>
          <p:cNvPr id="11" name="Shape 9"/>
          <p:cNvSpPr/>
          <p:nvPr/>
        </p:nvSpPr>
        <p:spPr>
          <a:xfrm>
            <a:off x="411480" y="1453896"/>
            <a:ext cx="2670048" cy="4398264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435608" y="1874520"/>
            <a:ext cx="621792" cy="621792"/>
          </a:xfrm>
          <a:prstGeom prst="ellipse">
            <a:avLst/>
          </a:prstGeom>
          <a:solidFill>
            <a:srgbClr val="2C8394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1435608" y="187452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265176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DID WE SELL?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297180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Sales &amp; partner motion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426464" y="3310128"/>
            <a:ext cx="640080" cy="50292"/>
          </a:xfrm>
          <a:prstGeom prst="roundRect">
            <a:avLst>
              <a:gd name="adj" fmla="val 36364"/>
            </a:avLst>
          </a:prstGeom>
          <a:solidFill>
            <a:srgbClr val="E2EAE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12648" y="3520440"/>
            <a:ext cx="226771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95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Target vs Invoiced — sales team roll-up</a:t>
            </a:r>
            <a:endParaRPr lang="en-US" sz="9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95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AI-Infused Products — pipeline &amp; conversion</a:t>
            </a:r>
            <a:endParaRPr lang="en-US" sz="9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95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H&amp;L Pay — partner motion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310128" y="1371600"/>
            <a:ext cx="2670048" cy="82296"/>
          </a:xfrm>
          <a:prstGeom prst="rect">
            <a:avLst/>
          </a:prstGeom>
          <a:solidFill>
            <a:srgbClr val="3D8F5F"/>
          </a:solidFill>
          <a:ln/>
        </p:spPr>
      </p:sp>
      <p:sp>
        <p:nvSpPr>
          <p:cNvPr id="19" name="Shape 17"/>
          <p:cNvSpPr/>
          <p:nvPr/>
        </p:nvSpPr>
        <p:spPr>
          <a:xfrm>
            <a:off x="3310128" y="1453896"/>
            <a:ext cx="2670048" cy="4398264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34256" y="1874520"/>
            <a:ext cx="621792" cy="621792"/>
          </a:xfrm>
          <a:prstGeom prst="ellipse">
            <a:avLst/>
          </a:prstGeom>
          <a:solidFill>
            <a:srgbClr val="3D8F5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334256" y="187452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3401568" y="265176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DID WE DELIVER?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3401568" y="297180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8F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From signed to billed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25112" y="3310128"/>
            <a:ext cx="640080" cy="50292"/>
          </a:xfrm>
          <a:prstGeom prst="roundRect">
            <a:avLst>
              <a:gd name="adj" fmla="val 36364"/>
            </a:avLst>
          </a:prstGeom>
          <a:solidFill>
            <a:srgbClr val="E2EAE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511296" y="3520440"/>
            <a:ext cx="226771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95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Utilisation &amp; Delivery Hours</a:t>
            </a:r>
            <a:endParaRPr lang="en-US" sz="9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95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Won vs Invoiced &amp; Retention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08776" y="1371600"/>
            <a:ext cx="2670048" cy="82296"/>
          </a:xfrm>
          <a:prstGeom prst="rect">
            <a:avLst/>
          </a:prstGeom>
          <a:solidFill>
            <a:srgbClr val="C88A2E"/>
          </a:solidFill>
          <a:ln/>
        </p:spPr>
      </p:sp>
      <p:sp>
        <p:nvSpPr>
          <p:cNvPr id="27" name="Shape 25"/>
          <p:cNvSpPr/>
          <p:nvPr/>
        </p:nvSpPr>
        <p:spPr>
          <a:xfrm>
            <a:off x="6208776" y="1453896"/>
            <a:ext cx="2670048" cy="4398264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232904" y="1874520"/>
            <a:ext cx="621792" cy="621792"/>
          </a:xfrm>
          <a:prstGeom prst="ellipse">
            <a:avLst/>
          </a:prstGeom>
          <a:solidFill>
            <a:srgbClr val="C88A2E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7232904" y="187452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6300216" y="265176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DID WE KEEP THEM?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6300216" y="297180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8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Support health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223760" y="3310128"/>
            <a:ext cx="640080" cy="50292"/>
          </a:xfrm>
          <a:prstGeom prst="roundRect">
            <a:avLst>
              <a:gd name="adj" fmla="val 36364"/>
            </a:avLst>
          </a:prstGeom>
          <a:solidFill>
            <a:srgbClr val="E2EAEE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09944" y="3520440"/>
            <a:ext cx="226771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95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Backlog, ageing &amp; first response</a:t>
            </a:r>
            <a:endParaRPr lang="en-US" sz="9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95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Support Agent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107424" y="1371600"/>
            <a:ext cx="2670048" cy="82296"/>
          </a:xfrm>
          <a:prstGeom prst="rect">
            <a:avLst/>
          </a:prstGeom>
          <a:solidFill>
            <a:srgbClr val="12293A"/>
          </a:solidFill>
          <a:ln/>
        </p:spPr>
      </p:sp>
      <p:sp>
        <p:nvSpPr>
          <p:cNvPr id="35" name="Shape 33"/>
          <p:cNvSpPr/>
          <p:nvPr/>
        </p:nvSpPr>
        <p:spPr>
          <a:xfrm>
            <a:off x="9107424" y="1453896"/>
            <a:ext cx="2670048" cy="4398264"/>
          </a:xfrm>
          <a:prstGeom prst="roundRect">
            <a:avLst>
              <a:gd name="adj" fmla="val 23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0131552" y="1874520"/>
            <a:ext cx="621792" cy="621792"/>
          </a:xfrm>
          <a:prstGeom prst="ellipse">
            <a:avLst/>
          </a:prstGeom>
          <a:solidFill>
            <a:srgbClr val="12293A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10131552" y="187452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2200" dirty="0"/>
          </a:p>
        </p:txBody>
      </p:sp>
      <p:sp>
        <p:nvSpPr>
          <p:cNvPr id="38" name="Text 36"/>
          <p:cNvSpPr txBox="1"/>
          <p:nvPr/>
        </p:nvSpPr>
        <p:spPr>
          <a:xfrm>
            <a:off x="9198864" y="265176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BUILDING THE FUTURE?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9198864" y="297180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Product, AI &amp; projects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0122408" y="3310128"/>
            <a:ext cx="640080" cy="50292"/>
          </a:xfrm>
          <a:prstGeom prst="roundRect">
            <a:avLst>
              <a:gd name="adj" fmla="val 36364"/>
            </a:avLst>
          </a:prstGeom>
          <a:solidFill>
            <a:srgbClr val="E2EAEE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308592" y="3520440"/>
            <a:ext cx="226771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95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Q3 Roadmap · GTM Readiness</a:t>
            </a:r>
            <a:endParaRPr lang="en-US" sz="9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95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Usage — adoption &amp; activity</a:t>
            </a:r>
            <a:endParaRPr lang="en-US" sz="9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95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Projects — portfolio status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2293A"/>
          </a:solidFill>
          <a:ln/>
        </p:spPr>
      </p:sp>
      <p:sp>
        <p:nvSpPr>
          <p:cNvPr id="3" name="Shape 1"/>
          <p:cNvSpPr/>
          <p:nvPr/>
        </p:nvSpPr>
        <p:spPr>
          <a:xfrm>
            <a:off x="384048" y="155448"/>
            <a:ext cx="73152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84048" y="155448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H&amp;L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54864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Reporting Cutover — Creatio → HubSpot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1316736" y="51206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AE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All teams · this week's deck reads from the new sources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872216" y="0"/>
            <a:ext cx="841248" cy="841248"/>
          </a:xfrm>
          <a:prstGeom prst="ellipse">
            <a:avLst/>
          </a:prstGeom>
          <a:solidFill>
            <a:srgbClr val="1C5765"/>
          </a:solidFill>
          <a:ln/>
        </p:spPr>
      </p:sp>
      <p:sp>
        <p:nvSpPr>
          <p:cNvPr id="8" name="Shape 6"/>
          <p:cNvSpPr/>
          <p:nvPr/>
        </p:nvSpPr>
        <p:spPr>
          <a:xfrm>
            <a:off x="10968228" y="96012"/>
            <a:ext cx="649224" cy="649224"/>
          </a:xfrm>
          <a:prstGeom prst="ellipse">
            <a:avLst/>
          </a:prstGeom>
          <a:solidFill>
            <a:srgbClr val="2C8394"/>
          </a:solidFill>
          <a:ln/>
        </p:spPr>
      </p:sp>
      <p:sp>
        <p:nvSpPr>
          <p:cNvPr id="9" name="Shape 7"/>
          <p:cNvSpPr/>
          <p:nvPr/>
        </p:nvSpPr>
        <p:spPr>
          <a:xfrm>
            <a:off x="11064240" y="192024"/>
            <a:ext cx="457200" cy="457200"/>
          </a:xfrm>
          <a:prstGeom prst="ellipse">
            <a:avLst/>
          </a:prstGeom>
          <a:solidFill>
            <a:srgbClr val="6FAEBB"/>
          </a:solidFill>
          <a:ln/>
        </p:spPr>
      </p:sp>
      <p:sp>
        <p:nvSpPr>
          <p:cNvPr id="10" name="Shape 8"/>
          <p:cNvSpPr/>
          <p:nvPr/>
        </p:nvSpPr>
        <p:spPr>
          <a:xfrm>
            <a:off x="11160252" y="288036"/>
            <a:ext cx="265176" cy="265176"/>
          </a:xfrm>
          <a:prstGeom prst="ellipse">
            <a:avLst/>
          </a:prstGeom>
          <a:solidFill>
            <a:srgbClr val="E4F1F4"/>
          </a:solidFill>
          <a:ln/>
        </p:spPr>
      </p:sp>
      <p:sp>
        <p:nvSpPr>
          <p:cNvPr id="11" name="Shape 9"/>
          <p:cNvSpPr/>
          <p:nvPr/>
        </p:nvSpPr>
        <p:spPr>
          <a:xfrm>
            <a:off x="411480" y="987552"/>
            <a:ext cx="356616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76072" y="1078992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CREATIO EXTRACTS ENDED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557784" y="1261872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Sep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576072" y="1591056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last case / task / work-order export — history frozen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4160520" y="987552"/>
            <a:ext cx="356616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325112" y="1078992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HUBSPOT LIVE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306824" y="1261872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Sep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4325112" y="1591056"/>
            <a:ext cx="3236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support, sales &amp; PS now read live from the portal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7909560" y="987552"/>
            <a:ext cx="3867912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074152" y="1078992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THIS DECK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8055864" y="1261872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1st on new sources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074152" y="1591056"/>
            <a:ext cx="3538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WC 7 Sep deck skipped in the cutover — deltas flagged where they bridge two weeks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411480" y="2157984"/>
            <a:ext cx="11365992" cy="4288536"/>
          </a:xfrm>
          <a:prstGeom prst="roundRect">
            <a:avLst>
              <a:gd name="adj" fmla="val 14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12648" y="223113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AREA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2971800" y="223113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OLD → NEW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6172200" y="223113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STATUS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7498080" y="223113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IT MEANS FOR THE NUMBERS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612648" y="250545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Support volumes &amp; backlog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2971800" y="250545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Creatio case export  </a:t>
            </a:r>
            <a:pPr indent="0" marL="0">
              <a:buNone/>
            </a:pPr>
            <a:r>
              <a:rPr lang="en-US" sz="8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 HubSpot (live)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172200" y="2610612"/>
            <a:ext cx="1207008" cy="292608"/>
          </a:xfrm>
          <a:prstGeom prst="roundRect">
            <a:avLst>
              <a:gd name="adj" fmla="val 50000"/>
            </a:avLst>
          </a:prstGeom>
          <a:solidFill>
            <a:srgbClr val="3D8F5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6172200" y="2610612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7498080" y="2505456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Inflow/outflow, backlog and age bands read live. 7 Sep week shows a resolved spike (1,250) from migration cleanup — not real throughput.</a:t>
            </a:r>
            <a:endParaRPr lang="en-US" sz="730" dirty="0"/>
          </a:p>
        </p:txBody>
      </p:sp>
      <p:sp>
        <p:nvSpPr>
          <p:cNvPr id="33" name="Shape 31"/>
          <p:cNvSpPr/>
          <p:nvPr/>
        </p:nvSpPr>
        <p:spPr>
          <a:xfrm>
            <a:off x="612648" y="3035808"/>
            <a:ext cx="10972800" cy="7315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12648" y="3063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Unanswered / first response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2971800" y="30632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Creatio  </a:t>
            </a:r>
            <a:pPr indent="0" marL="0">
              <a:buNone/>
            </a:pPr>
            <a:r>
              <a:rPr lang="en-US" sz="8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 HubSpot (live)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172200" y="3168396"/>
            <a:ext cx="1207008" cy="292608"/>
          </a:xfrm>
          <a:prstGeom prst="roundRect">
            <a:avLst>
              <a:gd name="adj" fmla="val 50000"/>
            </a:avLst>
          </a:prstGeom>
          <a:solidFill>
            <a:srgbClr val="C88A2E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6172200" y="3168396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BASIS CHANGE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7498080" y="3063240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Now measured from HubSpot conversations. Migrated tickets with no HubSpot reply count as unanswered — overstates during transition.</a:t>
            </a:r>
            <a:endParaRPr lang="en-US" sz="730" dirty="0"/>
          </a:p>
        </p:txBody>
      </p:sp>
      <p:sp>
        <p:nvSpPr>
          <p:cNvPr id="39" name="Shape 37"/>
          <p:cNvSpPr/>
          <p:nvPr/>
        </p:nvSpPr>
        <p:spPr>
          <a:xfrm>
            <a:off x="612648" y="3593592"/>
            <a:ext cx="10972800" cy="7315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12648" y="362102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Sales pipeline &amp; closed-won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2971800" y="362102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Creatio ARR measure  </a:t>
            </a:r>
            <a:pPr indent="0" marL="0">
              <a:buNone/>
            </a:pPr>
            <a:r>
              <a:rPr lang="en-US" sz="8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 HubSpot (live)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172200" y="3726180"/>
            <a:ext cx="1207008" cy="292608"/>
          </a:xfrm>
          <a:prstGeom prst="roundRect">
            <a:avLst>
              <a:gd name="adj" fmla="val 50000"/>
            </a:avLst>
          </a:prstGeom>
          <a:solidFill>
            <a:srgbClr val="C88A2E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6172200" y="3726180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BASIS CHANGE</a:t>
            </a:r>
            <a:endParaRPr lang="en-US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7498080" y="3621024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HubSpot deal amount (AUD, home currency) replaces the Creatio ARR measure — levels shift, trends restart. Weighted = HubSpot stage probabilities.</a:t>
            </a:r>
            <a:endParaRPr lang="en-US" sz="730" dirty="0"/>
          </a:p>
        </p:txBody>
      </p:sp>
      <p:sp>
        <p:nvSpPr>
          <p:cNvPr id="45" name="Shape 43"/>
          <p:cNvSpPr/>
          <p:nvPr/>
        </p:nvSpPr>
        <p:spPr>
          <a:xfrm>
            <a:off x="612648" y="4151376"/>
            <a:ext cx="10972800" cy="7315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12648" y="417880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Support Agent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2971800" y="41788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Creatio export (rejects not separable)  </a:t>
            </a:r>
            <a:pPr indent="0" marL="0">
              <a:buNone/>
            </a:pPr>
            <a:r>
              <a:rPr lang="en-US" sz="8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 HubSpot draft state machine (live)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172200" y="4283964"/>
            <a:ext cx="1207008" cy="292608"/>
          </a:xfrm>
          <a:prstGeom prst="roundRect">
            <a:avLst>
              <a:gd name="adj" fmla="val 50000"/>
            </a:avLst>
          </a:prstGeom>
          <a:solidFill>
            <a:srgbClr val="2C8394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49" name="Text 47"/>
          <p:cNvSpPr txBox="1"/>
          <p:nvPr/>
        </p:nvSpPr>
        <p:spPr>
          <a:xfrm>
            <a:off x="6172200" y="4283964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UPGRADE</a:t>
            </a:r>
            <a:endParaRPr lang="en-US" sz="850" dirty="0"/>
          </a:p>
        </p:txBody>
      </p:sp>
      <p:sp>
        <p:nvSpPr>
          <p:cNvPr id="50" name="Text 48"/>
          <p:cNvSpPr txBox="1"/>
          <p:nvPr/>
        </p:nvSpPr>
        <p:spPr>
          <a:xfrm>
            <a:off x="7498080" y="4178808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ai_draft_status now tracks sent as-is / edited / rejected / pending — the decision rate is measurable for the first time.</a:t>
            </a:r>
            <a:endParaRPr lang="en-US" sz="730" dirty="0"/>
          </a:p>
        </p:txBody>
      </p:sp>
      <p:sp>
        <p:nvSpPr>
          <p:cNvPr id="51" name="Shape 49"/>
          <p:cNvSpPr/>
          <p:nvPr/>
        </p:nvSpPr>
        <p:spPr>
          <a:xfrm>
            <a:off x="612648" y="4709160"/>
            <a:ext cx="10972800" cy="7315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612648" y="473659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PS utilisation &amp; hours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2971800" y="47365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Creatio work orders  </a:t>
            </a:r>
            <a:pPr indent="0" marL="0">
              <a:buNone/>
            </a:pPr>
            <a:r>
              <a:rPr lang="en-US" sz="8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 HubSpot actual_hours (ramping)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172200" y="4841748"/>
            <a:ext cx="1207008" cy="292608"/>
          </a:xfrm>
          <a:prstGeom prst="roundRect">
            <a:avLst>
              <a:gd name="adj" fmla="val 50000"/>
            </a:avLst>
          </a:prstGeom>
          <a:solidFill>
            <a:srgbClr val="B4552D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55" name="Text 53"/>
          <p:cNvSpPr txBox="1"/>
          <p:nvPr/>
        </p:nvSpPr>
        <p:spPr>
          <a:xfrm>
            <a:off x="6172200" y="4841748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SET UP</a:t>
            </a:r>
            <a:endParaRPr lang="en-US" sz="850" dirty="0"/>
          </a:p>
        </p:txBody>
      </p:sp>
      <p:sp>
        <p:nvSpPr>
          <p:cNvPr id="56" name="Text 54"/>
          <p:cNvSpPr txBox="1"/>
          <p:nvPr/>
        </p:nvSpPr>
        <p:spPr>
          <a:xfrm>
            <a:off x="7498080" y="4736592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Work-order feed ended 4 Sep. HubSpot time logging covers too few cases to compute utilisation honestly — shown as not set up, not faked.</a:t>
            </a:r>
            <a:endParaRPr lang="en-US" sz="730" dirty="0"/>
          </a:p>
        </p:txBody>
      </p:sp>
      <p:sp>
        <p:nvSpPr>
          <p:cNvPr id="57" name="Shape 55"/>
          <p:cNvSpPr/>
          <p:nvPr/>
        </p:nvSpPr>
        <p:spPr>
          <a:xfrm>
            <a:off x="612648" y="5266944"/>
            <a:ext cx="10972800" cy="7315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612648" y="529437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Finance invoiced (Sysnet)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2971800" y="529437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Weekly file drop  </a:t>
            </a:r>
            <a:pPr indent="0" marL="0">
              <a:buNone/>
            </a:pPr>
            <a:r>
              <a:rPr lang="en-US" sz="8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 Weekly file drop (unchanged)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172200" y="5399532"/>
            <a:ext cx="1207008" cy="292608"/>
          </a:xfrm>
          <a:prstGeom prst="roundRect">
            <a:avLst>
              <a:gd name="adj" fmla="val 50000"/>
            </a:avLst>
          </a:prstGeom>
          <a:solidFill>
            <a:srgbClr val="8CA0AC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61" name="Text 59"/>
          <p:cNvSpPr txBox="1"/>
          <p:nvPr/>
        </p:nvSpPr>
        <p:spPr>
          <a:xfrm>
            <a:off x="6172200" y="5399532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 BEFORE</a:t>
            </a:r>
            <a:endParaRPr lang="en-US" sz="850" dirty="0"/>
          </a:p>
        </p:txBody>
      </p:sp>
      <p:sp>
        <p:nvSpPr>
          <p:cNvPr id="62" name="Text 60"/>
          <p:cNvSpPr txBox="1"/>
          <p:nvPr/>
        </p:nvSpPr>
        <p:spPr>
          <a:xfrm>
            <a:off x="7498080" y="5294376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Weekly extracts current to 20 Sep (received 21 Sep). Movement register (new-MRR line of record) refresh still pending.</a:t>
            </a:r>
            <a:endParaRPr lang="en-US" sz="730" dirty="0"/>
          </a:p>
        </p:txBody>
      </p:sp>
      <p:sp>
        <p:nvSpPr>
          <p:cNvPr id="63" name="Shape 61"/>
          <p:cNvSpPr/>
          <p:nvPr/>
        </p:nvSpPr>
        <p:spPr>
          <a:xfrm>
            <a:off x="612648" y="5824728"/>
            <a:ext cx="10972800" cy="7315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612648" y="5852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 / GTM / AI usage / ValPay</a:t>
            </a:r>
            <a:endParaRPr lang="en-US" sz="900" dirty="0"/>
          </a:p>
        </p:txBody>
      </p:sp>
      <p:sp>
        <p:nvSpPr>
          <p:cNvPr id="65" name="Text 63"/>
          <p:cNvSpPr txBox="1"/>
          <p:nvPr/>
        </p:nvSpPr>
        <p:spPr>
          <a:xfrm>
            <a:off x="2971800" y="58521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File drops  </a:t>
            </a:r>
            <a:pPr indent="0" marL="0">
              <a:buNone/>
            </a:pPr>
            <a:r>
              <a:rPr lang="en-US" sz="8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  File drops (unchanged)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6172200" y="5957316"/>
            <a:ext cx="1207008" cy="292608"/>
          </a:xfrm>
          <a:prstGeom prst="roundRect">
            <a:avLst>
              <a:gd name="adj" fmla="val 50000"/>
            </a:avLst>
          </a:prstGeom>
          <a:solidFill>
            <a:srgbClr val="8CA0AC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67" name="Text 65"/>
          <p:cNvSpPr txBox="1"/>
          <p:nvPr/>
        </p:nvSpPr>
        <p:spPr>
          <a:xfrm>
            <a:off x="6172200" y="5957316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 BEFORE</a:t>
            </a:r>
            <a:endParaRPr lang="en-US" sz="850" dirty="0"/>
          </a:p>
        </p:txBody>
      </p:sp>
      <p:sp>
        <p:nvSpPr>
          <p:cNvPr id="68" name="Text 66"/>
          <p:cNvSpPr txBox="1"/>
          <p:nvPr/>
        </p:nvSpPr>
        <p:spPr>
          <a:xfrm>
            <a:off x="7498080" y="5852160"/>
            <a:ext cx="4069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GTM tracker current; Claude admin weekly capture received; ValPay export as at 6 Sep — weekly drop pending.</a:t>
            </a:r>
            <a:endParaRPr lang="en-US" sz="730" dirty="0"/>
          </a:p>
        </p:txBody>
      </p:sp>
      <p:sp>
        <p:nvSpPr>
          <p:cNvPr id="69" name="Text 67"/>
          <p:cNvSpPr txBox="1"/>
          <p:nvPr/>
        </p:nvSpPr>
        <p:spPr>
          <a:xfrm>
            <a:off x="411480" y="652881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Week-on-week comparisons that cross the cutover are basis changes, not performance moves — treat levels as a new baseline where flagged.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9202522" y="6510528"/>
            <a:ext cx="2574950" cy="256032"/>
          </a:xfrm>
          <a:prstGeom prst="roundRect">
            <a:avLst>
              <a:gd name="adj" fmla="val 46429"/>
            </a:avLst>
          </a:prstGeom>
          <a:solidFill>
            <a:srgbClr val="12293A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9202522" y="6510528"/>
            <a:ext cx="25749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Source: cutover register · HANDOFF.md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2293A"/>
          </a:solidFill>
          <a:ln/>
        </p:spPr>
      </p:sp>
      <p:sp>
        <p:nvSpPr>
          <p:cNvPr id="3" name="Shape 1"/>
          <p:cNvSpPr/>
          <p:nvPr/>
        </p:nvSpPr>
        <p:spPr>
          <a:xfrm>
            <a:off x="384048" y="155448"/>
            <a:ext cx="73152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84048" y="155448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H&amp;L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54864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Executive Summary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10872216" y="0"/>
            <a:ext cx="841248" cy="841248"/>
          </a:xfrm>
          <a:prstGeom prst="ellipse">
            <a:avLst/>
          </a:prstGeom>
          <a:solidFill>
            <a:srgbClr val="1C5765"/>
          </a:solidFill>
          <a:ln/>
        </p:spPr>
      </p:sp>
      <p:sp>
        <p:nvSpPr>
          <p:cNvPr id="7" name="Shape 5"/>
          <p:cNvSpPr/>
          <p:nvPr/>
        </p:nvSpPr>
        <p:spPr>
          <a:xfrm>
            <a:off x="10968228" y="96012"/>
            <a:ext cx="649224" cy="649224"/>
          </a:xfrm>
          <a:prstGeom prst="ellipse">
            <a:avLst/>
          </a:prstGeom>
          <a:solidFill>
            <a:srgbClr val="2C8394"/>
          </a:solidFill>
          <a:ln/>
        </p:spPr>
      </p:sp>
      <p:sp>
        <p:nvSpPr>
          <p:cNvPr id="8" name="Shape 6"/>
          <p:cNvSpPr/>
          <p:nvPr/>
        </p:nvSpPr>
        <p:spPr>
          <a:xfrm>
            <a:off x="11064240" y="192024"/>
            <a:ext cx="457200" cy="457200"/>
          </a:xfrm>
          <a:prstGeom prst="ellipse">
            <a:avLst/>
          </a:prstGeom>
          <a:solidFill>
            <a:srgbClr val="6FAEBB"/>
          </a:solidFill>
          <a:ln/>
        </p:spPr>
      </p:sp>
      <p:sp>
        <p:nvSpPr>
          <p:cNvPr id="9" name="Shape 7"/>
          <p:cNvSpPr/>
          <p:nvPr/>
        </p:nvSpPr>
        <p:spPr>
          <a:xfrm>
            <a:off x="11160252" y="288036"/>
            <a:ext cx="265176" cy="265176"/>
          </a:xfrm>
          <a:prstGeom prst="ellipse">
            <a:avLst/>
          </a:prstGeom>
          <a:solidFill>
            <a:srgbClr val="E4F1F4"/>
          </a:solidFill>
          <a:ln/>
        </p:spPr>
      </p:sp>
      <p:sp>
        <p:nvSpPr>
          <p:cNvPr id="10" name="Shape 8"/>
          <p:cNvSpPr/>
          <p:nvPr/>
        </p:nvSpPr>
        <p:spPr>
          <a:xfrm>
            <a:off x="411480" y="1143000"/>
            <a:ext cx="3639312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94360" y="1271016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OVERALL PERFORMANCE &amp; FINANCE SUMMARY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1691640"/>
            <a:ext cx="32735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on track to target and why? </a:t>
            </a:r>
            <a:pPr indent="0" marL="0">
              <a:spcAft>
                <a:spcPts val="10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hardware $410k = 57% of $715k vs 89% pace; this week +$38k gross (HW discounts -$10k); new MRR $12.1k = 43% of OKR2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What's working well? </a:t>
            </a:r>
            <a:pPr indent="0" marL="0">
              <a:spcAft>
                <a:spcPts val="10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What's not? </a:t>
            </a:r>
            <a:pPr indent="0" marL="0"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xx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79392" y="1143000"/>
            <a:ext cx="3639312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462272" y="1271016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SALES &amp; ACCOUNT MANAGEMENT SUMMARY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462272" y="1691640"/>
            <a:ext cx="32735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on track to target and why? </a:t>
            </a:r>
            <a:pPr indent="0" marL="0">
              <a:spcAft>
                <a:spcPts val="10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closed-won this week 48 deals · $162k (HubSpot); new MRR $12.1k QTD = 43% of OKR2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What's working well? </a:t>
            </a:r>
            <a:pPr indent="0" marL="0">
              <a:spcAft>
                <a:spcPts val="10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What's not? </a:t>
            </a:r>
            <a:pPr indent="0" marL="0"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xx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147304" y="1143000"/>
            <a:ext cx="3639312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330184" y="1271016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PROFESSIONAL SERVICES SUMMARY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330184" y="1691640"/>
            <a:ext cx="32735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on track to target and why? </a:t>
            </a:r>
            <a:pPr indent="0" marL="0">
              <a:spcAft>
                <a:spcPts val="10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utilisation not measurable during cutover — HubSpot time logging ramping (99h on 48 cases)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What's working well? </a:t>
            </a:r>
            <a:pPr indent="0" marL="0">
              <a:spcAft>
                <a:spcPts val="10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What's not? </a:t>
            </a:r>
            <a:pPr indent="0" marL="0"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xx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3657600"/>
            <a:ext cx="3639312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94360" y="3785616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SUPPORT SUMMARY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4206240"/>
            <a:ext cx="32735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on track to target and why? </a:t>
            </a:r>
            <a:pPr indent="0" marL="0">
              <a:spcAft>
                <a:spcPts val="10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weekly inflow 490 vs resolved 591 — backlog 570 and falling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What's working well? </a:t>
            </a:r>
            <a:pPr indent="0" marL="0">
              <a:spcAft>
                <a:spcPts val="10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What's not? </a:t>
            </a:r>
            <a:pPr indent="0" marL="0"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xx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279392" y="3657600"/>
            <a:ext cx="3639312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4462272" y="3785616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462272" y="4206240"/>
            <a:ext cx="32735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on track to target and why? </a:t>
            </a:r>
            <a:pPr indent="0" marL="0">
              <a:spcAft>
                <a:spcPts val="10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Q3 roadmap: 10 done · 12 on track · 3 not started · 2 at risk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What's working well? </a:t>
            </a:r>
            <a:pPr indent="0" marL="0">
              <a:spcAft>
                <a:spcPts val="10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What's not? </a:t>
            </a:r>
            <a:pPr indent="0" marL="0"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xx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147304" y="3657600"/>
            <a:ext cx="3639312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330184" y="3785616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USAGE SUMMARY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8330184" y="4206240"/>
            <a:ext cx="32735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on track to target and why? </a:t>
            </a:r>
            <a:pPr indent="0" marL="0">
              <a:spcAft>
                <a:spcPts val="10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AI-draft adoption 6.2% this week (4/65) — first HubSpot-measured week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What's working well? </a:t>
            </a:r>
            <a:pPr indent="0" marL="0">
              <a:spcAft>
                <a:spcPts val="10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What's not? </a:t>
            </a:r>
            <a:pPr indent="0" marL="0"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xx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411480" y="651052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Commentary is leadership-editable — pre-filled lines are computed from this week's sources; 'xx' needs an owner's input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2293A"/>
          </a:solidFill>
          <a:ln/>
        </p:spPr>
      </p:sp>
      <p:sp>
        <p:nvSpPr>
          <p:cNvPr id="3" name="Shape 1"/>
          <p:cNvSpPr/>
          <p:nvPr/>
        </p:nvSpPr>
        <p:spPr>
          <a:xfrm>
            <a:off x="384048" y="155448"/>
            <a:ext cx="73152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84048" y="155448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H&amp;L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54864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Target vs Invoiced — Sales Team Roll-up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1316736" y="51206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AE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Finance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686800" y="246888"/>
            <a:ext cx="1965960" cy="347472"/>
          </a:xfrm>
          <a:prstGeom prst="roundRect">
            <a:avLst>
              <a:gd name="adj" fmla="val 50000"/>
            </a:avLst>
          </a:prstGeom>
          <a:solidFill>
            <a:srgbClr val="2C8394"/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0" y="2468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 ·  DID WE SELL?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0872216" y="0"/>
            <a:ext cx="841248" cy="841248"/>
          </a:xfrm>
          <a:prstGeom prst="ellipse">
            <a:avLst/>
          </a:prstGeom>
          <a:solidFill>
            <a:srgbClr val="1C5765"/>
          </a:solidFill>
          <a:ln/>
        </p:spPr>
      </p:sp>
      <p:sp>
        <p:nvSpPr>
          <p:cNvPr id="10" name="Shape 8"/>
          <p:cNvSpPr/>
          <p:nvPr/>
        </p:nvSpPr>
        <p:spPr>
          <a:xfrm>
            <a:off x="10968228" y="96012"/>
            <a:ext cx="649224" cy="649224"/>
          </a:xfrm>
          <a:prstGeom prst="ellipse">
            <a:avLst/>
          </a:prstGeom>
          <a:solidFill>
            <a:srgbClr val="2C8394"/>
          </a:solidFill>
          <a:ln/>
        </p:spPr>
      </p:sp>
      <p:sp>
        <p:nvSpPr>
          <p:cNvPr id="11" name="Shape 9"/>
          <p:cNvSpPr/>
          <p:nvPr/>
        </p:nvSpPr>
        <p:spPr>
          <a:xfrm>
            <a:off x="11064240" y="192024"/>
            <a:ext cx="457200" cy="457200"/>
          </a:xfrm>
          <a:prstGeom prst="ellipse">
            <a:avLst/>
          </a:prstGeom>
          <a:solidFill>
            <a:srgbClr val="6FAEBB"/>
          </a:solidFill>
          <a:ln/>
        </p:spPr>
      </p:sp>
      <p:sp>
        <p:nvSpPr>
          <p:cNvPr id="12" name="Shape 10"/>
          <p:cNvSpPr/>
          <p:nvPr/>
        </p:nvSpPr>
        <p:spPr>
          <a:xfrm>
            <a:off x="11160252" y="288036"/>
            <a:ext cx="265176" cy="265176"/>
          </a:xfrm>
          <a:prstGeom prst="ellipse">
            <a:avLst/>
          </a:prstGeom>
          <a:solidFill>
            <a:srgbClr val="E4F1F4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" y="1005840"/>
            <a:ext cx="553212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94360" y="109728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NEW MRR — Q3 · OKR2 $28k · team $30k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133502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$12k</a:t>
            </a:r>
            <a:pPr indent="0" marL="0">
              <a:buNone/>
            </a:pPr>
            <a:r>
              <a:rPr lang="en-US" sz="9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of $28k target · register live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3794760" y="137160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3D8F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▲ +$139 this wk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4360" y="1901952"/>
            <a:ext cx="4206240" cy="100584"/>
          </a:xfrm>
          <a:prstGeom prst="roundRect">
            <a:avLst>
              <a:gd name="adj" fmla="val 45455"/>
            </a:avLst>
          </a:prstGeom>
          <a:solidFill>
            <a:srgbClr val="E2EAEE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1901952"/>
            <a:ext cx="1808683" cy="100584"/>
          </a:xfrm>
          <a:prstGeom prst="roundRect">
            <a:avLst>
              <a:gd name="adj" fmla="val 45455"/>
            </a:avLst>
          </a:prstGeom>
          <a:solidFill>
            <a:srgbClr val="B4552D"/>
          </a:solidFill>
          <a:ln/>
        </p:spPr>
      </p:sp>
      <p:sp>
        <p:nvSpPr>
          <p:cNvPr id="19" name="Shape 17"/>
          <p:cNvSpPr/>
          <p:nvPr/>
        </p:nvSpPr>
        <p:spPr>
          <a:xfrm>
            <a:off x="4327855" y="1856232"/>
            <a:ext cx="20117" cy="192024"/>
          </a:xfrm>
          <a:prstGeom prst="rect">
            <a:avLst/>
          </a:prstGeom>
          <a:solidFill>
            <a:srgbClr val="12293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92040" y="1801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43%</a:t>
            </a:r>
            <a:pPr algn="r" indent="0" marL="0">
              <a:buNone/>
            </a:pPr>
            <a:r>
              <a:rPr lang="en-US" sz="8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· pace 89%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45352" y="1005840"/>
            <a:ext cx="553212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428232" y="109728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HARDWARE — Q3 · OKR2 $715k · team $761k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428232" y="133502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$410k</a:t>
            </a:r>
            <a:pPr indent="0" marL="0">
              <a:buNone/>
            </a:pPr>
            <a:r>
              <a:rPr lang="en-US" sz="9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of $715k target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9509760" y="137160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3D8F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▲ +$38k this wk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28232" y="1901952"/>
            <a:ext cx="4206240" cy="100584"/>
          </a:xfrm>
          <a:prstGeom prst="roundRect">
            <a:avLst>
              <a:gd name="adj" fmla="val 45455"/>
            </a:avLst>
          </a:prstGeom>
          <a:solidFill>
            <a:srgbClr val="E2EAEE"/>
          </a:solidFill>
          <a:ln/>
        </p:spPr>
      </p:sp>
      <p:sp>
        <p:nvSpPr>
          <p:cNvPr id="26" name="Shape 24"/>
          <p:cNvSpPr/>
          <p:nvPr/>
        </p:nvSpPr>
        <p:spPr>
          <a:xfrm>
            <a:off x="6428232" y="1901952"/>
            <a:ext cx="2397557" cy="100584"/>
          </a:xfrm>
          <a:prstGeom prst="roundRect">
            <a:avLst>
              <a:gd name="adj" fmla="val 45455"/>
            </a:avLst>
          </a:prstGeom>
          <a:solidFill>
            <a:srgbClr val="B4552D"/>
          </a:solidFill>
          <a:ln/>
        </p:spPr>
      </p:sp>
      <p:sp>
        <p:nvSpPr>
          <p:cNvPr id="27" name="Shape 25"/>
          <p:cNvSpPr/>
          <p:nvPr/>
        </p:nvSpPr>
        <p:spPr>
          <a:xfrm>
            <a:off x="10161727" y="1856232"/>
            <a:ext cx="20117" cy="192024"/>
          </a:xfrm>
          <a:prstGeom prst="rect">
            <a:avLst/>
          </a:prstGeom>
          <a:solidFill>
            <a:srgbClr val="12293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0725912" y="18013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57%</a:t>
            </a:r>
            <a:pPr algn="r" indent="0" marL="0">
              <a:buNone/>
            </a:pPr>
            <a:r>
              <a:rPr lang="en-US" sz="8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· pace 89%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11480" y="2340864"/>
            <a:ext cx="7635240" cy="4041648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612648" y="2450592"/>
            <a:ext cx="7232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Q3 BY MEMBER   </a:t>
            </a:r>
            <a:pPr indent="0" marL="0">
              <a:buNone/>
            </a:pPr>
            <a:r>
              <a:rPr lang="en-US" sz="8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▮ pace mark = share of quarter elapsed (89%)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2221992" y="27249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NEW MRR ($/qtr) · register live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4617720" y="272491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HARDWARE ($/qtr) · Sysnet Δ wk = 14–20 Sep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612648" y="294436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MEMBER</a:t>
            </a:r>
            <a:endParaRPr lang="en-US" sz="750" dirty="0"/>
          </a:p>
        </p:txBody>
      </p:sp>
      <p:sp>
        <p:nvSpPr>
          <p:cNvPr id="34" name="Text 32"/>
          <p:cNvSpPr txBox="1"/>
          <p:nvPr/>
        </p:nvSpPr>
        <p:spPr>
          <a:xfrm>
            <a:off x="2221992" y="294436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TGT</a:t>
            </a:r>
            <a:endParaRPr lang="en-US" sz="750" dirty="0"/>
          </a:p>
        </p:txBody>
      </p:sp>
      <p:sp>
        <p:nvSpPr>
          <p:cNvPr id="35" name="Text 33"/>
          <p:cNvSpPr txBox="1"/>
          <p:nvPr/>
        </p:nvSpPr>
        <p:spPr>
          <a:xfrm>
            <a:off x="2807208" y="294436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QTD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3429000" y="2944368"/>
            <a:ext cx="969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ATTAIN</a:t>
            </a:r>
            <a:endParaRPr lang="en-US" sz="750" dirty="0"/>
          </a:p>
        </p:txBody>
      </p:sp>
      <p:sp>
        <p:nvSpPr>
          <p:cNvPr id="37" name="Text 35"/>
          <p:cNvSpPr txBox="1"/>
          <p:nvPr/>
        </p:nvSpPr>
        <p:spPr>
          <a:xfrm>
            <a:off x="4617720" y="29443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TGT</a:t>
            </a:r>
            <a:endParaRPr lang="en-US" sz="750" dirty="0"/>
          </a:p>
        </p:txBody>
      </p:sp>
      <p:sp>
        <p:nvSpPr>
          <p:cNvPr id="38" name="Text 36"/>
          <p:cNvSpPr txBox="1"/>
          <p:nvPr/>
        </p:nvSpPr>
        <p:spPr>
          <a:xfrm>
            <a:off x="5294376" y="29443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QTD</a:t>
            </a:r>
            <a:endParaRPr lang="en-US" sz="750" dirty="0"/>
          </a:p>
        </p:txBody>
      </p:sp>
      <p:sp>
        <p:nvSpPr>
          <p:cNvPr id="39" name="Text 37"/>
          <p:cNvSpPr txBox="1"/>
          <p:nvPr/>
        </p:nvSpPr>
        <p:spPr>
          <a:xfrm>
            <a:off x="6007608" y="2944368"/>
            <a:ext cx="969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ATTAIN</a:t>
            </a:r>
            <a:endParaRPr lang="en-US" sz="750" dirty="0"/>
          </a:p>
        </p:txBody>
      </p:sp>
      <p:sp>
        <p:nvSpPr>
          <p:cNvPr id="40" name="Text 38"/>
          <p:cNvSpPr txBox="1"/>
          <p:nvPr/>
        </p:nvSpPr>
        <p:spPr>
          <a:xfrm>
            <a:off x="7013448" y="294436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Δ WK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12648" y="3461004"/>
            <a:ext cx="7232904" cy="6401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12648" y="3182112"/>
            <a:ext cx="159105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Bjorn Magabo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2221992" y="3182112"/>
            <a:ext cx="56692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$5k</a:t>
            </a:r>
            <a:endParaRPr lang="en-US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2807208" y="3182112"/>
            <a:ext cx="56692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$4k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465576" y="3294126"/>
            <a:ext cx="731520" cy="100584"/>
          </a:xfrm>
          <a:prstGeom prst="roundRect">
            <a:avLst>
              <a:gd name="adj" fmla="val 45455"/>
            </a:avLst>
          </a:prstGeom>
          <a:solidFill>
            <a:srgbClr val="E2EAEE"/>
          </a:solidFill>
          <a:ln/>
        </p:spPr>
      </p:sp>
      <p:sp>
        <p:nvSpPr>
          <p:cNvPr id="46" name="Shape 44"/>
          <p:cNvSpPr/>
          <p:nvPr/>
        </p:nvSpPr>
        <p:spPr>
          <a:xfrm>
            <a:off x="3465576" y="3294126"/>
            <a:ext cx="651053" cy="100584"/>
          </a:xfrm>
          <a:prstGeom prst="roundRect">
            <a:avLst>
              <a:gd name="adj" fmla="val 45455"/>
            </a:avLst>
          </a:prstGeom>
          <a:solidFill>
            <a:srgbClr val="B4552D"/>
          </a:solidFill>
          <a:ln/>
        </p:spPr>
      </p:sp>
      <p:sp>
        <p:nvSpPr>
          <p:cNvPr id="47" name="Shape 45"/>
          <p:cNvSpPr/>
          <p:nvPr/>
        </p:nvSpPr>
        <p:spPr>
          <a:xfrm>
            <a:off x="4106570" y="3248406"/>
            <a:ext cx="20117" cy="192024"/>
          </a:xfrm>
          <a:prstGeom prst="rect">
            <a:avLst/>
          </a:prstGeom>
          <a:solidFill>
            <a:srgbClr val="12293A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4233672" y="3182112"/>
            <a:ext cx="38404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89%</a:t>
            </a:r>
            <a:endParaRPr lang="en-US" sz="800" dirty="0"/>
          </a:p>
        </p:txBody>
      </p:sp>
      <p:sp>
        <p:nvSpPr>
          <p:cNvPr id="49" name="Text 47"/>
          <p:cNvSpPr txBox="1"/>
          <p:nvPr/>
        </p:nvSpPr>
        <p:spPr>
          <a:xfrm>
            <a:off x="4617720" y="3182112"/>
            <a:ext cx="64008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$140k</a:t>
            </a:r>
            <a:endParaRPr lang="en-US" sz="850" dirty="0"/>
          </a:p>
        </p:txBody>
      </p:sp>
      <p:sp>
        <p:nvSpPr>
          <p:cNvPr id="50" name="Text 48"/>
          <p:cNvSpPr txBox="1"/>
          <p:nvPr/>
        </p:nvSpPr>
        <p:spPr>
          <a:xfrm>
            <a:off x="5294376" y="3182112"/>
            <a:ext cx="65836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$52k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044184" y="3294126"/>
            <a:ext cx="731520" cy="100584"/>
          </a:xfrm>
          <a:prstGeom prst="roundRect">
            <a:avLst>
              <a:gd name="adj" fmla="val 45455"/>
            </a:avLst>
          </a:prstGeom>
          <a:solidFill>
            <a:srgbClr val="E2EAEE"/>
          </a:solidFill>
          <a:ln/>
        </p:spPr>
      </p:sp>
      <p:sp>
        <p:nvSpPr>
          <p:cNvPr id="52" name="Shape 50"/>
          <p:cNvSpPr/>
          <p:nvPr/>
        </p:nvSpPr>
        <p:spPr>
          <a:xfrm>
            <a:off x="6044184" y="3294126"/>
            <a:ext cx="270662" cy="100584"/>
          </a:xfrm>
          <a:prstGeom prst="roundRect">
            <a:avLst>
              <a:gd name="adj" fmla="val 45455"/>
            </a:avLst>
          </a:prstGeom>
          <a:solidFill>
            <a:srgbClr val="B4552D"/>
          </a:solidFill>
          <a:ln/>
        </p:spPr>
      </p:sp>
      <p:sp>
        <p:nvSpPr>
          <p:cNvPr id="53" name="Shape 51"/>
          <p:cNvSpPr/>
          <p:nvPr/>
        </p:nvSpPr>
        <p:spPr>
          <a:xfrm>
            <a:off x="6685178" y="3248406"/>
            <a:ext cx="20117" cy="192024"/>
          </a:xfrm>
          <a:prstGeom prst="rect">
            <a:avLst/>
          </a:prstGeom>
          <a:solidFill>
            <a:srgbClr val="12293A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6812280" y="3182112"/>
            <a:ext cx="38404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37%</a:t>
            </a:r>
            <a:endParaRPr lang="en-US" sz="800" dirty="0"/>
          </a:p>
        </p:txBody>
      </p:sp>
      <p:sp>
        <p:nvSpPr>
          <p:cNvPr id="55" name="Text 53"/>
          <p:cNvSpPr txBox="1"/>
          <p:nvPr/>
        </p:nvSpPr>
        <p:spPr>
          <a:xfrm>
            <a:off x="7013448" y="3182112"/>
            <a:ext cx="8229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3D8F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+4k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12648" y="3776472"/>
            <a:ext cx="7232904" cy="6401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612648" y="3497580"/>
            <a:ext cx="159105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Brett Gorman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2221992" y="3497580"/>
            <a:ext cx="56692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$5k</a:t>
            </a:r>
            <a:endParaRPr lang="en-US" sz="850" dirty="0"/>
          </a:p>
        </p:txBody>
      </p:sp>
      <p:sp>
        <p:nvSpPr>
          <p:cNvPr id="59" name="Text 57"/>
          <p:cNvSpPr txBox="1"/>
          <p:nvPr/>
        </p:nvSpPr>
        <p:spPr>
          <a:xfrm>
            <a:off x="2807208" y="3497580"/>
            <a:ext cx="56692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$3k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3465576" y="3609594"/>
            <a:ext cx="731520" cy="100584"/>
          </a:xfrm>
          <a:prstGeom prst="roundRect">
            <a:avLst>
              <a:gd name="adj" fmla="val 45455"/>
            </a:avLst>
          </a:prstGeom>
          <a:solidFill>
            <a:srgbClr val="E2EAEE"/>
          </a:solidFill>
          <a:ln/>
        </p:spPr>
      </p:sp>
      <p:sp>
        <p:nvSpPr>
          <p:cNvPr id="61" name="Shape 59"/>
          <p:cNvSpPr/>
          <p:nvPr/>
        </p:nvSpPr>
        <p:spPr>
          <a:xfrm>
            <a:off x="3465576" y="3609594"/>
            <a:ext cx="490118" cy="100584"/>
          </a:xfrm>
          <a:prstGeom prst="roundRect">
            <a:avLst>
              <a:gd name="adj" fmla="val 45455"/>
            </a:avLst>
          </a:prstGeom>
          <a:solidFill>
            <a:srgbClr val="B4552D"/>
          </a:solidFill>
          <a:ln/>
        </p:spPr>
      </p:sp>
      <p:sp>
        <p:nvSpPr>
          <p:cNvPr id="62" name="Shape 60"/>
          <p:cNvSpPr/>
          <p:nvPr/>
        </p:nvSpPr>
        <p:spPr>
          <a:xfrm>
            <a:off x="4106570" y="3563874"/>
            <a:ext cx="20117" cy="192024"/>
          </a:xfrm>
          <a:prstGeom prst="rect">
            <a:avLst/>
          </a:prstGeom>
          <a:solidFill>
            <a:srgbClr val="12293A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4233672" y="3497580"/>
            <a:ext cx="38404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67%</a:t>
            </a:r>
            <a:endParaRPr lang="en-US" sz="800" dirty="0"/>
          </a:p>
        </p:txBody>
      </p:sp>
      <p:sp>
        <p:nvSpPr>
          <p:cNvPr id="64" name="Text 62"/>
          <p:cNvSpPr txBox="1"/>
          <p:nvPr/>
        </p:nvSpPr>
        <p:spPr>
          <a:xfrm>
            <a:off x="4617720" y="3497580"/>
            <a:ext cx="64008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$143k</a:t>
            </a:r>
            <a:endParaRPr lang="en-US" sz="850" dirty="0"/>
          </a:p>
        </p:txBody>
      </p:sp>
      <p:sp>
        <p:nvSpPr>
          <p:cNvPr id="65" name="Text 63"/>
          <p:cNvSpPr txBox="1"/>
          <p:nvPr/>
        </p:nvSpPr>
        <p:spPr>
          <a:xfrm>
            <a:off x="5294376" y="3497580"/>
            <a:ext cx="65836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$78k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044184" y="3609594"/>
            <a:ext cx="731520" cy="100584"/>
          </a:xfrm>
          <a:prstGeom prst="roundRect">
            <a:avLst>
              <a:gd name="adj" fmla="val 45455"/>
            </a:avLst>
          </a:prstGeom>
          <a:solidFill>
            <a:srgbClr val="E2EAEE"/>
          </a:solidFill>
          <a:ln/>
        </p:spPr>
      </p:sp>
      <p:sp>
        <p:nvSpPr>
          <p:cNvPr id="67" name="Shape 65"/>
          <p:cNvSpPr/>
          <p:nvPr/>
        </p:nvSpPr>
        <p:spPr>
          <a:xfrm>
            <a:off x="6044184" y="3609594"/>
            <a:ext cx="395021" cy="100584"/>
          </a:xfrm>
          <a:prstGeom prst="roundRect">
            <a:avLst>
              <a:gd name="adj" fmla="val 45455"/>
            </a:avLst>
          </a:prstGeom>
          <a:solidFill>
            <a:srgbClr val="B4552D"/>
          </a:solidFill>
          <a:ln/>
        </p:spPr>
      </p:sp>
      <p:sp>
        <p:nvSpPr>
          <p:cNvPr id="68" name="Shape 66"/>
          <p:cNvSpPr/>
          <p:nvPr/>
        </p:nvSpPr>
        <p:spPr>
          <a:xfrm>
            <a:off x="6685178" y="3563874"/>
            <a:ext cx="20117" cy="192024"/>
          </a:xfrm>
          <a:prstGeom prst="rect">
            <a:avLst/>
          </a:prstGeom>
          <a:solidFill>
            <a:srgbClr val="12293A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6812280" y="3497580"/>
            <a:ext cx="38404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54%</a:t>
            </a:r>
            <a:endParaRPr lang="en-US" sz="800" dirty="0"/>
          </a:p>
        </p:txBody>
      </p:sp>
      <p:sp>
        <p:nvSpPr>
          <p:cNvPr id="70" name="Text 68"/>
          <p:cNvSpPr txBox="1"/>
          <p:nvPr/>
        </p:nvSpPr>
        <p:spPr>
          <a:xfrm>
            <a:off x="7013448" y="3497580"/>
            <a:ext cx="8229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3D8F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+2k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612648" y="4091940"/>
            <a:ext cx="7232904" cy="6401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612648" y="3813048"/>
            <a:ext cx="159105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Bradford Young</a:t>
            </a:r>
            <a:endParaRPr lang="en-US" sz="900" dirty="0"/>
          </a:p>
        </p:txBody>
      </p:sp>
      <p:sp>
        <p:nvSpPr>
          <p:cNvPr id="73" name="Text 71"/>
          <p:cNvSpPr txBox="1"/>
          <p:nvPr/>
        </p:nvSpPr>
        <p:spPr>
          <a:xfrm>
            <a:off x="2221992" y="3813048"/>
            <a:ext cx="56692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$5k</a:t>
            </a:r>
            <a:endParaRPr lang="en-US" sz="850" dirty="0"/>
          </a:p>
        </p:txBody>
      </p:sp>
      <p:sp>
        <p:nvSpPr>
          <p:cNvPr id="74" name="Text 72"/>
          <p:cNvSpPr txBox="1"/>
          <p:nvPr/>
        </p:nvSpPr>
        <p:spPr>
          <a:xfrm>
            <a:off x="2807208" y="3813048"/>
            <a:ext cx="56692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$3k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3465576" y="3925062"/>
            <a:ext cx="731520" cy="100584"/>
          </a:xfrm>
          <a:prstGeom prst="roundRect">
            <a:avLst>
              <a:gd name="adj" fmla="val 45455"/>
            </a:avLst>
          </a:prstGeom>
          <a:solidFill>
            <a:srgbClr val="E2EA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465576" y="3925062"/>
            <a:ext cx="365760" cy="100584"/>
          </a:xfrm>
          <a:prstGeom prst="roundRect">
            <a:avLst>
              <a:gd name="adj" fmla="val 45455"/>
            </a:avLst>
          </a:prstGeom>
          <a:solidFill>
            <a:srgbClr val="B4552D"/>
          </a:solidFill>
          <a:ln/>
        </p:spPr>
      </p:sp>
      <p:sp>
        <p:nvSpPr>
          <p:cNvPr id="77" name="Shape 75"/>
          <p:cNvSpPr/>
          <p:nvPr/>
        </p:nvSpPr>
        <p:spPr>
          <a:xfrm>
            <a:off x="4106570" y="3879342"/>
            <a:ext cx="20117" cy="192024"/>
          </a:xfrm>
          <a:prstGeom prst="rect">
            <a:avLst/>
          </a:prstGeom>
          <a:solidFill>
            <a:srgbClr val="12293A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4233672" y="3813048"/>
            <a:ext cx="38404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50%</a:t>
            </a:r>
            <a:endParaRPr lang="en-US" sz="800" dirty="0"/>
          </a:p>
        </p:txBody>
      </p:sp>
      <p:sp>
        <p:nvSpPr>
          <p:cNvPr id="79" name="Text 77"/>
          <p:cNvSpPr txBox="1"/>
          <p:nvPr/>
        </p:nvSpPr>
        <p:spPr>
          <a:xfrm>
            <a:off x="4617720" y="3813048"/>
            <a:ext cx="64008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$163k</a:t>
            </a:r>
            <a:endParaRPr lang="en-US" sz="850" dirty="0"/>
          </a:p>
        </p:txBody>
      </p:sp>
      <p:sp>
        <p:nvSpPr>
          <p:cNvPr id="80" name="Text 78"/>
          <p:cNvSpPr txBox="1"/>
          <p:nvPr/>
        </p:nvSpPr>
        <p:spPr>
          <a:xfrm>
            <a:off x="5294376" y="3813048"/>
            <a:ext cx="65836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$51k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6044184" y="3925062"/>
            <a:ext cx="731520" cy="100584"/>
          </a:xfrm>
          <a:prstGeom prst="roundRect">
            <a:avLst>
              <a:gd name="adj" fmla="val 45455"/>
            </a:avLst>
          </a:prstGeom>
          <a:solidFill>
            <a:srgbClr val="E2EAEE"/>
          </a:solidFill>
          <a:ln/>
        </p:spPr>
      </p:sp>
      <p:sp>
        <p:nvSpPr>
          <p:cNvPr id="82" name="Shape 80"/>
          <p:cNvSpPr/>
          <p:nvPr/>
        </p:nvSpPr>
        <p:spPr>
          <a:xfrm>
            <a:off x="6044184" y="3925062"/>
            <a:ext cx="226771" cy="100584"/>
          </a:xfrm>
          <a:prstGeom prst="roundRect">
            <a:avLst>
              <a:gd name="adj" fmla="val 45455"/>
            </a:avLst>
          </a:prstGeom>
          <a:solidFill>
            <a:srgbClr val="B4552D"/>
          </a:solidFill>
          <a:ln/>
        </p:spPr>
      </p:sp>
      <p:sp>
        <p:nvSpPr>
          <p:cNvPr id="83" name="Shape 81"/>
          <p:cNvSpPr/>
          <p:nvPr/>
        </p:nvSpPr>
        <p:spPr>
          <a:xfrm>
            <a:off x="6685178" y="3879342"/>
            <a:ext cx="20117" cy="192024"/>
          </a:xfrm>
          <a:prstGeom prst="rect">
            <a:avLst/>
          </a:prstGeom>
          <a:solidFill>
            <a:srgbClr val="12293A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6812280" y="3813048"/>
            <a:ext cx="38404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31%</a:t>
            </a:r>
            <a:endParaRPr lang="en-US" sz="800" dirty="0"/>
          </a:p>
        </p:txBody>
      </p:sp>
      <p:sp>
        <p:nvSpPr>
          <p:cNvPr id="85" name="Text 83"/>
          <p:cNvSpPr txBox="1"/>
          <p:nvPr/>
        </p:nvSpPr>
        <p:spPr>
          <a:xfrm>
            <a:off x="7013448" y="3813048"/>
            <a:ext cx="8229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3D8F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+5k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612648" y="4407408"/>
            <a:ext cx="7232904" cy="6401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87" name="Text 85"/>
          <p:cNvSpPr txBox="1"/>
          <p:nvPr/>
        </p:nvSpPr>
        <p:spPr>
          <a:xfrm>
            <a:off x="612648" y="4128516"/>
            <a:ext cx="159105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Jasmine Hikuroa</a:t>
            </a:r>
            <a:endParaRPr lang="en-US" sz="900" dirty="0"/>
          </a:p>
        </p:txBody>
      </p:sp>
      <p:sp>
        <p:nvSpPr>
          <p:cNvPr id="88" name="Text 86"/>
          <p:cNvSpPr txBox="1"/>
          <p:nvPr/>
        </p:nvSpPr>
        <p:spPr>
          <a:xfrm>
            <a:off x="2221992" y="4128516"/>
            <a:ext cx="56692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$6k</a:t>
            </a:r>
            <a:endParaRPr lang="en-US" sz="850" dirty="0"/>
          </a:p>
        </p:txBody>
      </p:sp>
      <p:sp>
        <p:nvSpPr>
          <p:cNvPr id="89" name="Text 87"/>
          <p:cNvSpPr txBox="1"/>
          <p:nvPr/>
        </p:nvSpPr>
        <p:spPr>
          <a:xfrm>
            <a:off x="2807208" y="4128516"/>
            <a:ext cx="56692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$2k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3465576" y="4240530"/>
            <a:ext cx="731520" cy="100584"/>
          </a:xfrm>
          <a:prstGeom prst="roundRect">
            <a:avLst>
              <a:gd name="adj" fmla="val 45455"/>
            </a:avLst>
          </a:prstGeom>
          <a:solidFill>
            <a:srgbClr val="E2EAEE"/>
          </a:solidFill>
          <a:ln/>
        </p:spPr>
      </p:sp>
      <p:sp>
        <p:nvSpPr>
          <p:cNvPr id="91" name="Shape 89"/>
          <p:cNvSpPr/>
          <p:nvPr/>
        </p:nvSpPr>
        <p:spPr>
          <a:xfrm>
            <a:off x="3465576" y="4240530"/>
            <a:ext cx="197510" cy="100584"/>
          </a:xfrm>
          <a:prstGeom prst="roundRect">
            <a:avLst>
              <a:gd name="adj" fmla="val 45455"/>
            </a:avLst>
          </a:prstGeom>
          <a:solidFill>
            <a:srgbClr val="B4552D"/>
          </a:solidFill>
          <a:ln/>
        </p:spPr>
      </p:sp>
      <p:sp>
        <p:nvSpPr>
          <p:cNvPr id="92" name="Shape 90"/>
          <p:cNvSpPr/>
          <p:nvPr/>
        </p:nvSpPr>
        <p:spPr>
          <a:xfrm>
            <a:off x="4106570" y="4194810"/>
            <a:ext cx="20117" cy="192024"/>
          </a:xfrm>
          <a:prstGeom prst="rect">
            <a:avLst/>
          </a:prstGeom>
          <a:solidFill>
            <a:srgbClr val="12293A"/>
          </a:solidFill>
          <a:ln/>
        </p:spPr>
      </p:sp>
      <p:sp>
        <p:nvSpPr>
          <p:cNvPr id="93" name="Text 91"/>
          <p:cNvSpPr txBox="1"/>
          <p:nvPr/>
        </p:nvSpPr>
        <p:spPr>
          <a:xfrm>
            <a:off x="4233672" y="4128516"/>
            <a:ext cx="38404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27%</a:t>
            </a:r>
            <a:endParaRPr lang="en-US" sz="800" dirty="0"/>
          </a:p>
        </p:txBody>
      </p:sp>
      <p:sp>
        <p:nvSpPr>
          <p:cNvPr id="94" name="Text 92"/>
          <p:cNvSpPr txBox="1"/>
          <p:nvPr/>
        </p:nvSpPr>
        <p:spPr>
          <a:xfrm>
            <a:off x="4617720" y="4128516"/>
            <a:ext cx="64008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$214k</a:t>
            </a:r>
            <a:endParaRPr lang="en-US" sz="850" dirty="0"/>
          </a:p>
        </p:txBody>
      </p:sp>
      <p:sp>
        <p:nvSpPr>
          <p:cNvPr id="95" name="Text 93"/>
          <p:cNvSpPr txBox="1"/>
          <p:nvPr/>
        </p:nvSpPr>
        <p:spPr>
          <a:xfrm>
            <a:off x="5294376" y="4128516"/>
            <a:ext cx="65836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$143k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6044184" y="4240530"/>
            <a:ext cx="731520" cy="100584"/>
          </a:xfrm>
          <a:prstGeom prst="roundRect">
            <a:avLst>
              <a:gd name="adj" fmla="val 45455"/>
            </a:avLst>
          </a:prstGeom>
          <a:solidFill>
            <a:srgbClr val="E2EAEE"/>
          </a:solidFill>
          <a:ln/>
        </p:spPr>
      </p:sp>
      <p:sp>
        <p:nvSpPr>
          <p:cNvPr id="97" name="Shape 95"/>
          <p:cNvSpPr/>
          <p:nvPr/>
        </p:nvSpPr>
        <p:spPr>
          <a:xfrm>
            <a:off x="6044184" y="4240530"/>
            <a:ext cx="490118" cy="100584"/>
          </a:xfrm>
          <a:prstGeom prst="roundRect">
            <a:avLst>
              <a:gd name="adj" fmla="val 45455"/>
            </a:avLst>
          </a:prstGeom>
          <a:solidFill>
            <a:srgbClr val="B4552D"/>
          </a:solidFill>
          <a:ln/>
        </p:spPr>
      </p:sp>
      <p:sp>
        <p:nvSpPr>
          <p:cNvPr id="98" name="Shape 96"/>
          <p:cNvSpPr/>
          <p:nvPr/>
        </p:nvSpPr>
        <p:spPr>
          <a:xfrm>
            <a:off x="6685178" y="4194810"/>
            <a:ext cx="20117" cy="192024"/>
          </a:xfrm>
          <a:prstGeom prst="rect">
            <a:avLst/>
          </a:prstGeom>
          <a:solidFill>
            <a:srgbClr val="12293A"/>
          </a:solidFill>
          <a:ln/>
        </p:spPr>
      </p:sp>
      <p:sp>
        <p:nvSpPr>
          <p:cNvPr id="99" name="Text 97"/>
          <p:cNvSpPr txBox="1"/>
          <p:nvPr/>
        </p:nvSpPr>
        <p:spPr>
          <a:xfrm>
            <a:off x="6812280" y="4128516"/>
            <a:ext cx="38404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67%</a:t>
            </a:r>
            <a:endParaRPr lang="en-US" sz="800" dirty="0"/>
          </a:p>
        </p:txBody>
      </p:sp>
      <p:sp>
        <p:nvSpPr>
          <p:cNvPr id="100" name="Text 98"/>
          <p:cNvSpPr txBox="1"/>
          <p:nvPr/>
        </p:nvSpPr>
        <p:spPr>
          <a:xfrm>
            <a:off x="7013448" y="4128516"/>
            <a:ext cx="8229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3D8F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+27k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612648" y="4722876"/>
            <a:ext cx="7232904" cy="6401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02" name="Text 100"/>
          <p:cNvSpPr txBox="1"/>
          <p:nvPr/>
        </p:nvSpPr>
        <p:spPr>
          <a:xfrm>
            <a:off x="612648" y="4443984"/>
            <a:ext cx="159105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Phuong Ho</a:t>
            </a:r>
            <a:endParaRPr lang="en-US" sz="900" dirty="0"/>
          </a:p>
        </p:txBody>
      </p:sp>
      <p:sp>
        <p:nvSpPr>
          <p:cNvPr id="103" name="Text 101"/>
          <p:cNvSpPr txBox="1"/>
          <p:nvPr/>
        </p:nvSpPr>
        <p:spPr>
          <a:xfrm>
            <a:off x="2221992" y="4443984"/>
            <a:ext cx="56692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$2k</a:t>
            </a:r>
            <a:endParaRPr lang="en-US" sz="850" dirty="0"/>
          </a:p>
        </p:txBody>
      </p:sp>
      <p:sp>
        <p:nvSpPr>
          <p:cNvPr id="104" name="Text 102"/>
          <p:cNvSpPr txBox="1"/>
          <p:nvPr/>
        </p:nvSpPr>
        <p:spPr>
          <a:xfrm>
            <a:off x="2807208" y="4443984"/>
            <a:ext cx="56692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$205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3465576" y="4555998"/>
            <a:ext cx="731520" cy="100584"/>
          </a:xfrm>
          <a:prstGeom prst="roundRect">
            <a:avLst>
              <a:gd name="adj" fmla="val 45455"/>
            </a:avLst>
          </a:prstGeom>
          <a:solidFill>
            <a:srgbClr val="E2EA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3465576" y="4555998"/>
            <a:ext cx="73152" cy="100584"/>
          </a:xfrm>
          <a:prstGeom prst="roundRect">
            <a:avLst>
              <a:gd name="adj" fmla="val 62500"/>
            </a:avLst>
          </a:prstGeom>
          <a:solidFill>
            <a:srgbClr val="B4552D"/>
          </a:solidFill>
          <a:ln/>
        </p:spPr>
      </p:sp>
      <p:sp>
        <p:nvSpPr>
          <p:cNvPr id="107" name="Shape 105"/>
          <p:cNvSpPr/>
          <p:nvPr/>
        </p:nvSpPr>
        <p:spPr>
          <a:xfrm>
            <a:off x="4106570" y="4510278"/>
            <a:ext cx="20117" cy="192024"/>
          </a:xfrm>
          <a:prstGeom prst="rect">
            <a:avLst/>
          </a:prstGeom>
          <a:solidFill>
            <a:srgbClr val="12293A"/>
          </a:solidFill>
          <a:ln/>
        </p:spPr>
      </p:sp>
      <p:sp>
        <p:nvSpPr>
          <p:cNvPr id="108" name="Text 106"/>
          <p:cNvSpPr txBox="1"/>
          <p:nvPr/>
        </p:nvSpPr>
        <p:spPr>
          <a:xfrm>
            <a:off x="4233672" y="4443984"/>
            <a:ext cx="38404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10%</a:t>
            </a:r>
            <a:endParaRPr lang="en-US" sz="800" dirty="0"/>
          </a:p>
        </p:txBody>
      </p:sp>
      <p:sp>
        <p:nvSpPr>
          <p:cNvPr id="109" name="Text 107"/>
          <p:cNvSpPr txBox="1"/>
          <p:nvPr/>
        </p:nvSpPr>
        <p:spPr>
          <a:xfrm>
            <a:off x="4617720" y="4443984"/>
            <a:ext cx="64008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$55k</a:t>
            </a:r>
            <a:endParaRPr lang="en-US" sz="850" dirty="0"/>
          </a:p>
        </p:txBody>
      </p:sp>
      <p:sp>
        <p:nvSpPr>
          <p:cNvPr id="110" name="Text 108"/>
          <p:cNvSpPr txBox="1"/>
          <p:nvPr/>
        </p:nvSpPr>
        <p:spPr>
          <a:xfrm>
            <a:off x="5294376" y="4443984"/>
            <a:ext cx="65836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$13k</a:t>
            </a:r>
            <a:endParaRPr lang="en-US" sz="850" dirty="0"/>
          </a:p>
        </p:txBody>
      </p:sp>
      <p:sp>
        <p:nvSpPr>
          <p:cNvPr id="111" name="Shape 109"/>
          <p:cNvSpPr/>
          <p:nvPr/>
        </p:nvSpPr>
        <p:spPr>
          <a:xfrm>
            <a:off x="6044184" y="4555998"/>
            <a:ext cx="731520" cy="100584"/>
          </a:xfrm>
          <a:prstGeom prst="roundRect">
            <a:avLst>
              <a:gd name="adj" fmla="val 45455"/>
            </a:avLst>
          </a:prstGeom>
          <a:solidFill>
            <a:srgbClr val="E2EA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6044184" y="4555998"/>
            <a:ext cx="168250" cy="100584"/>
          </a:xfrm>
          <a:prstGeom prst="roundRect">
            <a:avLst>
              <a:gd name="adj" fmla="val 45455"/>
            </a:avLst>
          </a:prstGeom>
          <a:solidFill>
            <a:srgbClr val="B4552D"/>
          </a:solidFill>
          <a:ln/>
        </p:spPr>
      </p:sp>
      <p:sp>
        <p:nvSpPr>
          <p:cNvPr id="113" name="Shape 111"/>
          <p:cNvSpPr/>
          <p:nvPr/>
        </p:nvSpPr>
        <p:spPr>
          <a:xfrm>
            <a:off x="6685178" y="4510278"/>
            <a:ext cx="20117" cy="192024"/>
          </a:xfrm>
          <a:prstGeom prst="rect">
            <a:avLst/>
          </a:prstGeom>
          <a:solidFill>
            <a:srgbClr val="12293A"/>
          </a:solidFill>
          <a:ln/>
        </p:spPr>
      </p:sp>
      <p:sp>
        <p:nvSpPr>
          <p:cNvPr id="114" name="Text 112"/>
          <p:cNvSpPr txBox="1"/>
          <p:nvPr/>
        </p:nvSpPr>
        <p:spPr>
          <a:xfrm>
            <a:off x="6812280" y="4443984"/>
            <a:ext cx="38404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23%</a:t>
            </a:r>
            <a:endParaRPr lang="en-US" sz="800" dirty="0"/>
          </a:p>
        </p:txBody>
      </p:sp>
      <p:sp>
        <p:nvSpPr>
          <p:cNvPr id="115" name="Text 113"/>
          <p:cNvSpPr txBox="1"/>
          <p:nvPr/>
        </p:nvSpPr>
        <p:spPr>
          <a:xfrm>
            <a:off x="7013448" y="4443984"/>
            <a:ext cx="8229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+0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612648" y="5038344"/>
            <a:ext cx="7232904" cy="6401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17" name="Text 115"/>
          <p:cNvSpPr txBox="1"/>
          <p:nvPr/>
        </p:nvSpPr>
        <p:spPr>
          <a:xfrm>
            <a:off x="612648" y="4759452"/>
            <a:ext cx="159105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Mick Teasdale</a:t>
            </a:r>
            <a:endParaRPr lang="en-US" sz="900" dirty="0"/>
          </a:p>
        </p:txBody>
      </p:sp>
      <p:sp>
        <p:nvSpPr>
          <p:cNvPr id="118" name="Text 116"/>
          <p:cNvSpPr txBox="1"/>
          <p:nvPr/>
        </p:nvSpPr>
        <p:spPr>
          <a:xfrm>
            <a:off x="2221992" y="4759452"/>
            <a:ext cx="56692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$3k</a:t>
            </a:r>
            <a:endParaRPr lang="en-US" sz="850" dirty="0"/>
          </a:p>
        </p:txBody>
      </p:sp>
      <p:sp>
        <p:nvSpPr>
          <p:cNvPr id="119" name="Text 117"/>
          <p:cNvSpPr txBox="1"/>
          <p:nvPr/>
        </p:nvSpPr>
        <p:spPr>
          <a:xfrm>
            <a:off x="2807208" y="4759452"/>
            <a:ext cx="56692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$0</a:t>
            </a:r>
            <a:endParaRPr lang="en-US" sz="850" dirty="0"/>
          </a:p>
        </p:txBody>
      </p:sp>
      <p:sp>
        <p:nvSpPr>
          <p:cNvPr id="120" name="Shape 118"/>
          <p:cNvSpPr/>
          <p:nvPr/>
        </p:nvSpPr>
        <p:spPr>
          <a:xfrm>
            <a:off x="3465576" y="4871466"/>
            <a:ext cx="731520" cy="100584"/>
          </a:xfrm>
          <a:prstGeom prst="roundRect">
            <a:avLst>
              <a:gd name="adj" fmla="val 45455"/>
            </a:avLst>
          </a:prstGeom>
          <a:solidFill>
            <a:srgbClr val="E2EA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3465576" y="4871466"/>
            <a:ext cx="54864" cy="100584"/>
          </a:xfrm>
          <a:prstGeom prst="roundRect">
            <a:avLst>
              <a:gd name="adj" fmla="val 83333"/>
            </a:avLst>
          </a:prstGeom>
          <a:solidFill>
            <a:srgbClr val="B4552D"/>
          </a:solidFill>
          <a:ln/>
        </p:spPr>
      </p:sp>
      <p:sp>
        <p:nvSpPr>
          <p:cNvPr id="122" name="Shape 120"/>
          <p:cNvSpPr/>
          <p:nvPr/>
        </p:nvSpPr>
        <p:spPr>
          <a:xfrm>
            <a:off x="4106570" y="4825746"/>
            <a:ext cx="20117" cy="192024"/>
          </a:xfrm>
          <a:prstGeom prst="rect">
            <a:avLst/>
          </a:prstGeom>
          <a:solidFill>
            <a:srgbClr val="12293A"/>
          </a:solidFill>
          <a:ln/>
        </p:spPr>
      </p:sp>
      <p:sp>
        <p:nvSpPr>
          <p:cNvPr id="123" name="Text 121"/>
          <p:cNvSpPr txBox="1"/>
          <p:nvPr/>
        </p:nvSpPr>
        <p:spPr>
          <a:xfrm>
            <a:off x="4233672" y="4759452"/>
            <a:ext cx="38404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0%</a:t>
            </a:r>
            <a:endParaRPr lang="en-US" sz="800" dirty="0"/>
          </a:p>
        </p:txBody>
      </p:sp>
      <p:sp>
        <p:nvSpPr>
          <p:cNvPr id="124" name="Text 122"/>
          <p:cNvSpPr txBox="1"/>
          <p:nvPr/>
        </p:nvSpPr>
        <p:spPr>
          <a:xfrm>
            <a:off x="4617720" y="4759452"/>
            <a:ext cx="64008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$46k</a:t>
            </a:r>
            <a:endParaRPr lang="en-US" sz="850" dirty="0"/>
          </a:p>
        </p:txBody>
      </p:sp>
      <p:sp>
        <p:nvSpPr>
          <p:cNvPr id="125" name="Text 123"/>
          <p:cNvSpPr txBox="1"/>
          <p:nvPr/>
        </p:nvSpPr>
        <p:spPr>
          <a:xfrm>
            <a:off x="5294376" y="4759452"/>
            <a:ext cx="65836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850" dirty="0"/>
          </a:p>
        </p:txBody>
      </p:sp>
      <p:sp>
        <p:nvSpPr>
          <p:cNvPr id="126" name="Text 124"/>
          <p:cNvSpPr txBox="1"/>
          <p:nvPr/>
        </p:nvSpPr>
        <p:spPr>
          <a:xfrm>
            <a:off x="6007608" y="4759452"/>
            <a:ext cx="969264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800" dirty="0"/>
          </a:p>
        </p:txBody>
      </p:sp>
      <p:sp>
        <p:nvSpPr>
          <p:cNvPr id="127" name="Text 125"/>
          <p:cNvSpPr txBox="1"/>
          <p:nvPr/>
        </p:nvSpPr>
        <p:spPr>
          <a:xfrm>
            <a:off x="7013448" y="4759452"/>
            <a:ext cx="8229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850" dirty="0"/>
          </a:p>
        </p:txBody>
      </p:sp>
      <p:sp>
        <p:nvSpPr>
          <p:cNvPr id="128" name="Shape 126"/>
          <p:cNvSpPr/>
          <p:nvPr/>
        </p:nvSpPr>
        <p:spPr>
          <a:xfrm>
            <a:off x="612648" y="5353812"/>
            <a:ext cx="7232904" cy="6401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29" name="Text 127"/>
          <p:cNvSpPr txBox="1"/>
          <p:nvPr/>
        </p:nvSpPr>
        <p:spPr>
          <a:xfrm>
            <a:off x="612648" y="5074920"/>
            <a:ext cx="1591056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8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Unassigned</a:t>
            </a:r>
            <a:endParaRPr lang="en-US" sz="900" dirty="0"/>
          </a:p>
        </p:txBody>
      </p:sp>
      <p:sp>
        <p:nvSpPr>
          <p:cNvPr id="130" name="Text 128"/>
          <p:cNvSpPr txBox="1"/>
          <p:nvPr/>
        </p:nvSpPr>
        <p:spPr>
          <a:xfrm>
            <a:off x="2221992" y="5074920"/>
            <a:ext cx="56692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$4k</a:t>
            </a:r>
            <a:endParaRPr lang="en-US" sz="850" dirty="0"/>
          </a:p>
        </p:txBody>
      </p:sp>
      <p:sp>
        <p:nvSpPr>
          <p:cNvPr id="131" name="Text 129"/>
          <p:cNvSpPr txBox="1"/>
          <p:nvPr/>
        </p:nvSpPr>
        <p:spPr>
          <a:xfrm>
            <a:off x="2807208" y="5074920"/>
            <a:ext cx="56692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$40</a:t>
            </a:r>
            <a:endParaRPr lang="en-US" sz="850" dirty="0"/>
          </a:p>
        </p:txBody>
      </p:sp>
      <p:sp>
        <p:nvSpPr>
          <p:cNvPr id="132" name="Shape 130"/>
          <p:cNvSpPr/>
          <p:nvPr/>
        </p:nvSpPr>
        <p:spPr>
          <a:xfrm>
            <a:off x="3465576" y="5186934"/>
            <a:ext cx="731520" cy="100584"/>
          </a:xfrm>
          <a:prstGeom prst="roundRect">
            <a:avLst>
              <a:gd name="adj" fmla="val 45455"/>
            </a:avLst>
          </a:prstGeom>
          <a:solidFill>
            <a:srgbClr val="E2EA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3465576" y="5186934"/>
            <a:ext cx="54864" cy="100584"/>
          </a:xfrm>
          <a:prstGeom prst="roundRect">
            <a:avLst>
              <a:gd name="adj" fmla="val 83333"/>
            </a:avLst>
          </a:prstGeom>
          <a:solidFill>
            <a:srgbClr val="B4552D"/>
          </a:solidFill>
          <a:ln/>
        </p:spPr>
      </p:sp>
      <p:sp>
        <p:nvSpPr>
          <p:cNvPr id="134" name="Shape 132"/>
          <p:cNvSpPr/>
          <p:nvPr/>
        </p:nvSpPr>
        <p:spPr>
          <a:xfrm>
            <a:off x="4106570" y="5141214"/>
            <a:ext cx="20117" cy="192024"/>
          </a:xfrm>
          <a:prstGeom prst="rect">
            <a:avLst/>
          </a:prstGeom>
          <a:solidFill>
            <a:srgbClr val="12293A"/>
          </a:solidFill>
          <a:ln/>
        </p:spPr>
      </p:sp>
      <p:sp>
        <p:nvSpPr>
          <p:cNvPr id="135" name="Text 133"/>
          <p:cNvSpPr txBox="1"/>
          <p:nvPr/>
        </p:nvSpPr>
        <p:spPr>
          <a:xfrm>
            <a:off x="4233672" y="5074920"/>
            <a:ext cx="38404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1%</a:t>
            </a:r>
            <a:endParaRPr lang="en-US" sz="800" dirty="0"/>
          </a:p>
        </p:txBody>
      </p:sp>
      <p:sp>
        <p:nvSpPr>
          <p:cNvPr id="136" name="Text 134"/>
          <p:cNvSpPr txBox="1"/>
          <p:nvPr/>
        </p:nvSpPr>
        <p:spPr>
          <a:xfrm>
            <a:off x="4617720" y="5074920"/>
            <a:ext cx="64008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850" dirty="0"/>
          </a:p>
        </p:txBody>
      </p:sp>
      <p:sp>
        <p:nvSpPr>
          <p:cNvPr id="137" name="Text 135"/>
          <p:cNvSpPr txBox="1"/>
          <p:nvPr/>
        </p:nvSpPr>
        <p:spPr>
          <a:xfrm>
            <a:off x="5294376" y="5074920"/>
            <a:ext cx="65836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850" dirty="0"/>
          </a:p>
        </p:txBody>
      </p:sp>
      <p:sp>
        <p:nvSpPr>
          <p:cNvPr id="138" name="Text 136"/>
          <p:cNvSpPr txBox="1"/>
          <p:nvPr/>
        </p:nvSpPr>
        <p:spPr>
          <a:xfrm>
            <a:off x="6007608" y="5074920"/>
            <a:ext cx="969264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800" dirty="0"/>
          </a:p>
        </p:txBody>
      </p:sp>
      <p:sp>
        <p:nvSpPr>
          <p:cNvPr id="139" name="Text 137"/>
          <p:cNvSpPr txBox="1"/>
          <p:nvPr/>
        </p:nvSpPr>
        <p:spPr>
          <a:xfrm>
            <a:off x="7013448" y="5074920"/>
            <a:ext cx="8229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850" dirty="0"/>
          </a:p>
        </p:txBody>
      </p:sp>
      <p:sp>
        <p:nvSpPr>
          <p:cNvPr id="140" name="Shape 138"/>
          <p:cNvSpPr/>
          <p:nvPr/>
        </p:nvSpPr>
        <p:spPr>
          <a:xfrm>
            <a:off x="612648" y="5381244"/>
            <a:ext cx="7232904" cy="14630"/>
          </a:xfrm>
          <a:prstGeom prst="rect">
            <a:avLst/>
          </a:prstGeom>
          <a:solidFill>
            <a:srgbClr val="12293A"/>
          </a:solidFill>
          <a:ln/>
        </p:spPr>
      </p:sp>
      <p:sp>
        <p:nvSpPr>
          <p:cNvPr id="141" name="Text 139"/>
          <p:cNvSpPr txBox="1"/>
          <p:nvPr/>
        </p:nvSpPr>
        <p:spPr>
          <a:xfrm>
            <a:off x="612648" y="542696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SALES TEAM TOTAL</a:t>
            </a:r>
            <a:endParaRPr lang="en-US" sz="900" dirty="0"/>
          </a:p>
        </p:txBody>
      </p:sp>
      <p:sp>
        <p:nvSpPr>
          <p:cNvPr id="142" name="Text 140"/>
          <p:cNvSpPr txBox="1"/>
          <p:nvPr/>
        </p:nvSpPr>
        <p:spPr>
          <a:xfrm>
            <a:off x="2221992" y="542696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$30k</a:t>
            </a:r>
            <a:endParaRPr lang="en-US" sz="850" dirty="0"/>
          </a:p>
        </p:txBody>
      </p:sp>
      <p:sp>
        <p:nvSpPr>
          <p:cNvPr id="143" name="Text 141"/>
          <p:cNvSpPr txBox="1"/>
          <p:nvPr/>
        </p:nvSpPr>
        <p:spPr>
          <a:xfrm>
            <a:off x="2807208" y="542696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$12k</a:t>
            </a:r>
            <a:endParaRPr lang="en-US" sz="850" dirty="0"/>
          </a:p>
        </p:txBody>
      </p:sp>
      <p:sp>
        <p:nvSpPr>
          <p:cNvPr id="144" name="Text 142"/>
          <p:cNvSpPr txBox="1"/>
          <p:nvPr/>
        </p:nvSpPr>
        <p:spPr>
          <a:xfrm>
            <a:off x="4617720" y="54269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$761k</a:t>
            </a:r>
            <a:endParaRPr lang="en-US" sz="850" dirty="0"/>
          </a:p>
        </p:txBody>
      </p:sp>
      <p:sp>
        <p:nvSpPr>
          <p:cNvPr id="145" name="Text 143"/>
          <p:cNvSpPr txBox="1"/>
          <p:nvPr/>
        </p:nvSpPr>
        <p:spPr>
          <a:xfrm>
            <a:off x="5294376" y="542696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$410k</a:t>
            </a:r>
            <a:endParaRPr lang="en-US" sz="850" dirty="0"/>
          </a:p>
        </p:txBody>
      </p:sp>
      <p:sp>
        <p:nvSpPr>
          <p:cNvPr id="146" name="Text 144"/>
          <p:cNvSpPr txBox="1"/>
          <p:nvPr/>
        </p:nvSpPr>
        <p:spPr>
          <a:xfrm>
            <a:off x="6007608" y="5426964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54%</a:t>
            </a:r>
            <a:endParaRPr lang="en-US" sz="850" dirty="0"/>
          </a:p>
        </p:txBody>
      </p:sp>
      <p:sp>
        <p:nvSpPr>
          <p:cNvPr id="147" name="Text 145"/>
          <p:cNvSpPr txBox="1"/>
          <p:nvPr/>
        </p:nvSpPr>
        <p:spPr>
          <a:xfrm>
            <a:off x="7013448" y="54269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3D8F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+38k</a:t>
            </a:r>
            <a:endParaRPr lang="en-US" sz="850" dirty="0"/>
          </a:p>
        </p:txBody>
      </p:sp>
      <p:sp>
        <p:nvSpPr>
          <p:cNvPr id="148" name="Text 146"/>
          <p:cNvSpPr txBox="1"/>
          <p:nvPr/>
        </p:nvSpPr>
        <p:spPr>
          <a:xfrm>
            <a:off x="612648" y="5719572"/>
            <a:ext cx="7232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MRR = net new + expansion invoiced in Q3 (movement register, live 20 Sep) · H&amp;L Pay net new $1,770/mo is tracked separately and never sits inside core MRR</a:t>
            </a:r>
            <a:endParaRPr lang="en-US" sz="700" dirty="0"/>
          </a:p>
        </p:txBody>
      </p:sp>
      <p:sp>
        <p:nvSpPr>
          <p:cNvPr id="149" name="Shape 147"/>
          <p:cNvSpPr/>
          <p:nvPr/>
        </p:nvSpPr>
        <p:spPr>
          <a:xfrm>
            <a:off x="8229600" y="2340864"/>
            <a:ext cx="3547872" cy="4041648"/>
          </a:xfrm>
          <a:prstGeom prst="roundRect">
            <a:avLst>
              <a:gd name="adj" fmla="val 18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150" name="Text 148"/>
          <p:cNvSpPr txBox="1"/>
          <p:nvPr/>
        </p:nvSpPr>
        <p:spPr>
          <a:xfrm>
            <a:off x="8430768" y="2450592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SUMMARY</a:t>
            </a:r>
            <a:endParaRPr lang="en-US" sz="1200" dirty="0"/>
          </a:p>
        </p:txBody>
      </p:sp>
      <p:sp>
        <p:nvSpPr>
          <p:cNvPr id="151" name="Text 149"/>
          <p:cNvSpPr txBox="1"/>
          <p:nvPr/>
        </p:nvSpPr>
        <p:spPr>
          <a:xfrm>
            <a:off x="8430768" y="2761488"/>
            <a:ext cx="3136392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buNone/>
            </a:pPr>
            <a:r>
              <a:rPr lang="en-US" sz="9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Hardware is $410k (57%) 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against a 89% pace mark. The 14–20 Sep 2026 extract added $38k gross — the biggest week of the quarter — but $102k of it is one Corporate account (Solotel) booked to Jasmine, who jumps to 115% of target.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C88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buNone/>
            </a:pPr>
            <a:r>
              <a:rPr lang="en-US" sz="9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Discounts eased in proportion: 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hardware discounts ran -$8.4k on $115.6k gross (7%) against -$10.2k on $37.6k (27%) last week. Net hardware for the week is $107.2k.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buNone/>
            </a:pPr>
            <a:r>
              <a:rPr lang="en-US" sz="9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New MRR was not refreshed this week. 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 is held at $12,129 (43% of the $28k OKR2) as at 20 Sep, against a 89% pace mark. The Sysnet extract's own subscription line moved +$592, which is a different measure and is not carried into MRR.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HW = commissionable only, gross of discounts · attainment = invoiced, never closed-won · pace = day 82 of 92 in Q3 (Jul–Sep) at week end 20 Sep.</a:t>
            </a:r>
            <a:endParaRPr lang="en-US" sz="900" dirty="0"/>
          </a:p>
        </p:txBody>
      </p:sp>
      <p:sp>
        <p:nvSpPr>
          <p:cNvPr id="152" name="Shape 150"/>
          <p:cNvSpPr/>
          <p:nvPr/>
        </p:nvSpPr>
        <p:spPr>
          <a:xfrm>
            <a:off x="7523683" y="6510528"/>
            <a:ext cx="4253789" cy="256032"/>
          </a:xfrm>
          <a:prstGeom prst="roundRect">
            <a:avLst>
              <a:gd name="adj" fmla="val 46429"/>
            </a:avLst>
          </a:prstGeom>
          <a:solidFill>
            <a:srgbClr val="12293A"/>
          </a:solidFill>
          <a:ln/>
        </p:spPr>
      </p:sp>
      <p:sp>
        <p:nvSpPr>
          <p:cNvPr id="153" name="Text 151"/>
          <p:cNvSpPr txBox="1"/>
          <p:nvPr/>
        </p:nvSpPr>
        <p:spPr>
          <a:xfrm>
            <a:off x="7523683" y="6510528"/>
            <a:ext cx="425378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Source: Sysnet extracts to 20 Sep + MRR movement register (live)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2293A"/>
          </a:solidFill>
          <a:ln/>
        </p:spPr>
      </p:sp>
      <p:sp>
        <p:nvSpPr>
          <p:cNvPr id="3" name="Shape 1"/>
          <p:cNvSpPr/>
          <p:nvPr/>
        </p:nvSpPr>
        <p:spPr>
          <a:xfrm>
            <a:off x="384048" y="155448"/>
            <a:ext cx="73152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84048" y="155448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H&amp;L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54864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AI-Infused Products — Pipeline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1316736" y="51206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AE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Sales &amp; Product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686800" y="82296"/>
            <a:ext cx="1965960" cy="347472"/>
          </a:xfrm>
          <a:prstGeom prst="roundRect">
            <a:avLst>
              <a:gd name="adj" fmla="val 50000"/>
            </a:avLst>
          </a:prstGeom>
          <a:solidFill>
            <a:srgbClr val="2C8394"/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0" y="8229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 ·  DID WE SELL?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686800" y="484632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B4552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0" y="48463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CUTOVER · NOW HUBSPOT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0872216" y="0"/>
            <a:ext cx="841248" cy="841248"/>
          </a:xfrm>
          <a:prstGeom prst="ellipse">
            <a:avLst/>
          </a:prstGeom>
          <a:solidFill>
            <a:srgbClr val="1C5765"/>
          </a:solidFill>
          <a:ln/>
        </p:spPr>
      </p:sp>
      <p:sp>
        <p:nvSpPr>
          <p:cNvPr id="12" name="Shape 10"/>
          <p:cNvSpPr/>
          <p:nvPr/>
        </p:nvSpPr>
        <p:spPr>
          <a:xfrm>
            <a:off x="10968228" y="96012"/>
            <a:ext cx="649224" cy="649224"/>
          </a:xfrm>
          <a:prstGeom prst="ellipse">
            <a:avLst/>
          </a:prstGeom>
          <a:solidFill>
            <a:srgbClr val="2C8394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64240" y="192024"/>
            <a:ext cx="457200" cy="457200"/>
          </a:xfrm>
          <a:prstGeom prst="ellipse">
            <a:avLst/>
          </a:prstGeom>
          <a:solidFill>
            <a:srgbClr val="6FAEBB"/>
          </a:solidFill>
          <a:ln/>
        </p:spPr>
      </p:sp>
      <p:sp>
        <p:nvSpPr>
          <p:cNvPr id="14" name="Shape 12"/>
          <p:cNvSpPr/>
          <p:nvPr/>
        </p:nvSpPr>
        <p:spPr>
          <a:xfrm>
            <a:off x="11160252" y="288036"/>
            <a:ext cx="265176" cy="265176"/>
          </a:xfrm>
          <a:prstGeom prst="ellipse">
            <a:avLst/>
          </a:prstGeom>
          <a:solidFill>
            <a:srgbClr val="E4F1F4"/>
          </a:solidFill>
          <a:ln/>
        </p:spPr>
      </p:sp>
      <p:sp>
        <p:nvSpPr>
          <p:cNvPr id="15" name="Shape 13"/>
          <p:cNvSpPr/>
          <p:nvPr/>
        </p:nvSpPr>
        <p:spPr>
          <a:xfrm>
            <a:off x="411480" y="987552"/>
            <a:ext cx="269748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76072" y="1078992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OPEN PIPELINE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557784" y="1261872"/>
            <a:ext cx="2404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US$2,103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576072" y="1609344"/>
            <a:ext cx="2368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A$2,953 · 28 deals not yet ordered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3291840" y="987552"/>
            <a:ext cx="269748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3456432" y="1078992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ORDER PLACED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3438144" y="1261872"/>
            <a:ext cx="2404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8F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US$155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3456432" y="1609344"/>
            <a:ext cx="2368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A$217 · 5 deals since 1 Jul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6172200" y="987552"/>
            <a:ext cx="269748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336792" y="1078992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CLOSED LOST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6318504" y="1261872"/>
            <a:ext cx="2404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US$257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6336792" y="1609344"/>
            <a:ext cx="2368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A$361 · 2 deals since 1 Jul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9052560" y="987552"/>
            <a:ext cx="2724912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9217152" y="107899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CONVERSION — OF CLOSED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9198864" y="1261872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71%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9217152" y="1609344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placed / 2 lost by count · 38% by value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411480" y="2212848"/>
            <a:ext cx="6858000" cy="3200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612648" y="2304288"/>
            <a:ext cx="6455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PIPELINE BY STAGE   </a:t>
            </a:r>
            <a:pPr indent="0" marL="0">
              <a:buNone/>
            </a:pPr>
            <a:r>
              <a:rPr lang="en-US" sz="6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converted at 0.7122 AUD→USD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67512" y="263347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Discovery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828800" y="2734056"/>
            <a:ext cx="119409" cy="182880"/>
          </a:xfrm>
          <a:prstGeom prst="roundRect">
            <a:avLst>
              <a:gd name="adj" fmla="val 61262"/>
            </a:avLst>
          </a:prstGeom>
          <a:solidFill>
            <a:srgbClr val="2C8394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669280" y="263347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US$41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6583680" y="2633472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deal</a:t>
            </a:r>
            <a:endParaRPr lang="en-US" sz="750" dirty="0"/>
          </a:p>
        </p:txBody>
      </p:sp>
      <p:sp>
        <p:nvSpPr>
          <p:cNvPr id="37" name="Text 35"/>
          <p:cNvSpPr txBox="1"/>
          <p:nvPr/>
        </p:nvSpPr>
        <p:spPr>
          <a:xfrm>
            <a:off x="667512" y="298094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Quote Sent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828800" y="3081528"/>
            <a:ext cx="3749040" cy="182880"/>
          </a:xfrm>
          <a:prstGeom prst="roundRect">
            <a:avLst>
              <a:gd name="adj" fmla="val 40000"/>
            </a:avLst>
          </a:prstGeom>
          <a:solidFill>
            <a:srgbClr val="2C8394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5669280" y="298094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US$1,297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6583680" y="2980944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 deals</a:t>
            </a:r>
            <a:endParaRPr lang="en-US" sz="750" dirty="0"/>
          </a:p>
        </p:txBody>
      </p:sp>
      <p:sp>
        <p:nvSpPr>
          <p:cNvPr id="41" name="Text 39"/>
          <p:cNvSpPr txBox="1"/>
          <p:nvPr/>
        </p:nvSpPr>
        <p:spPr>
          <a:xfrm>
            <a:off x="667512" y="332841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Negotiation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828800" y="3429000"/>
            <a:ext cx="2211131" cy="182880"/>
          </a:xfrm>
          <a:prstGeom prst="roundRect">
            <a:avLst>
              <a:gd name="adj" fmla="val 40000"/>
            </a:avLst>
          </a:prstGeom>
          <a:solidFill>
            <a:srgbClr val="2C8394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5669280" y="332841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US$765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6583680" y="3328416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deals</a:t>
            </a:r>
            <a:endParaRPr lang="en-US" sz="750" dirty="0"/>
          </a:p>
        </p:txBody>
      </p:sp>
      <p:sp>
        <p:nvSpPr>
          <p:cNvPr id="45" name="Text 43"/>
          <p:cNvSpPr txBox="1"/>
          <p:nvPr/>
        </p:nvSpPr>
        <p:spPr>
          <a:xfrm>
            <a:off x="667512" y="367588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Order Placed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1828800" y="3776472"/>
            <a:ext cx="446755" cy="182880"/>
          </a:xfrm>
          <a:prstGeom prst="roundRect">
            <a:avLst>
              <a:gd name="adj" fmla="val 40000"/>
            </a:avLst>
          </a:prstGeom>
          <a:solidFill>
            <a:srgbClr val="3D8F5F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5669280" y="367588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D8F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US$155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6583680" y="3675888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deals</a:t>
            </a:r>
            <a:endParaRPr lang="en-US" sz="750" dirty="0"/>
          </a:p>
        </p:txBody>
      </p:sp>
      <p:sp>
        <p:nvSpPr>
          <p:cNvPr id="49" name="Text 47"/>
          <p:cNvSpPr txBox="1"/>
          <p:nvPr/>
        </p:nvSpPr>
        <p:spPr>
          <a:xfrm>
            <a:off x="667512" y="40233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Closed Lost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1828800" y="4123944"/>
            <a:ext cx="743220" cy="182880"/>
          </a:xfrm>
          <a:prstGeom prst="roundRect">
            <a:avLst>
              <a:gd name="adj" fmla="val 40000"/>
            </a:avLst>
          </a:prstGeom>
          <a:solidFill>
            <a:srgbClr val="B4552D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5669280" y="402336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US$257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6583680" y="402336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deals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67512" y="3653028"/>
            <a:ext cx="6345936" cy="12802"/>
          </a:xfrm>
          <a:prstGeom prst="rect">
            <a:avLst/>
          </a:prstGeom>
          <a:solidFill>
            <a:srgbClr val="3D8F5F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3977640" y="3493008"/>
            <a:ext cx="1600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▲  NOT ORDER PLACED</a:t>
            </a:r>
            <a:endParaRPr lang="en-US" sz="600" dirty="0"/>
          </a:p>
        </p:txBody>
      </p:sp>
      <p:sp>
        <p:nvSpPr>
          <p:cNvPr id="55" name="Text 53"/>
          <p:cNvSpPr txBox="1"/>
          <p:nvPr/>
        </p:nvSpPr>
        <p:spPr>
          <a:xfrm>
            <a:off x="3977640" y="3703320"/>
            <a:ext cx="1600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3D8F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▼  ORDER PLACED</a:t>
            </a:r>
            <a:endParaRPr lang="en-US" sz="600" dirty="0"/>
          </a:p>
        </p:txBody>
      </p:sp>
      <p:sp>
        <p:nvSpPr>
          <p:cNvPr id="56" name="Text 54"/>
          <p:cNvSpPr txBox="1"/>
          <p:nvPr/>
        </p:nvSpPr>
        <p:spPr>
          <a:xfrm>
            <a:off x="667512" y="451713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ORDER PLACED VS NOT — SHARE</a:t>
            </a:r>
            <a:endParaRPr lang="en-US" sz="800" dirty="0"/>
          </a:p>
        </p:txBody>
      </p:sp>
      <p:sp>
        <p:nvSpPr>
          <p:cNvPr id="57" name="Text 55"/>
          <p:cNvSpPr txBox="1"/>
          <p:nvPr/>
        </p:nvSpPr>
        <p:spPr>
          <a:xfrm>
            <a:off x="667512" y="47548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BY VALUE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1828800" y="4800600"/>
            <a:ext cx="292214" cy="164592"/>
          </a:xfrm>
          <a:prstGeom prst="rect">
            <a:avLst/>
          </a:prstGeom>
          <a:solidFill>
            <a:srgbClr val="3D8F5F"/>
          </a:solidFill>
          <a:ln/>
        </p:spPr>
      </p:sp>
      <p:sp>
        <p:nvSpPr>
          <p:cNvPr id="59" name="Shape 57"/>
          <p:cNvSpPr/>
          <p:nvPr/>
        </p:nvSpPr>
        <p:spPr>
          <a:xfrm>
            <a:off x="2139302" y="4800600"/>
            <a:ext cx="3976539" cy="164592"/>
          </a:xfrm>
          <a:prstGeom prst="rect">
            <a:avLst/>
          </a:prstGeom>
          <a:solidFill>
            <a:srgbClr val="2C8394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2139302" y="4782312"/>
            <a:ext cx="39765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84%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6134130" y="4800600"/>
            <a:ext cx="486126" cy="164592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6134130" y="4782312"/>
            <a:ext cx="4861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10%</a:t>
            </a:r>
            <a:endParaRPr lang="en-US" sz="650" dirty="0"/>
          </a:p>
        </p:txBody>
      </p:sp>
      <p:sp>
        <p:nvSpPr>
          <p:cNvPr id="63" name="Text 61"/>
          <p:cNvSpPr txBox="1"/>
          <p:nvPr/>
        </p:nvSpPr>
        <p:spPr>
          <a:xfrm>
            <a:off x="667512" y="506577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BY DEALS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1828800" y="5111496"/>
            <a:ext cx="679269" cy="164592"/>
          </a:xfrm>
          <a:prstGeom prst="rect">
            <a:avLst/>
          </a:prstGeom>
          <a:solidFill>
            <a:srgbClr val="3D8F5F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1828800" y="5093208"/>
            <a:ext cx="6792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14%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2526357" y="5111496"/>
            <a:ext cx="3803904" cy="164592"/>
          </a:xfrm>
          <a:prstGeom prst="rect">
            <a:avLst/>
          </a:prstGeom>
          <a:solidFill>
            <a:srgbClr val="2C8394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2526357" y="5093208"/>
            <a:ext cx="3803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80%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6348549" y="5111496"/>
            <a:ext cx="271707" cy="164592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69" name="Shape 67"/>
          <p:cNvSpPr/>
          <p:nvPr/>
        </p:nvSpPr>
        <p:spPr>
          <a:xfrm>
            <a:off x="3657600" y="4562856"/>
            <a:ext cx="91440" cy="91440"/>
          </a:xfrm>
          <a:prstGeom prst="rect">
            <a:avLst/>
          </a:prstGeom>
          <a:solidFill>
            <a:srgbClr val="3D8F5F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3785616" y="45171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Order placed</a:t>
            </a:r>
            <a:endParaRPr lang="en-US" sz="630" dirty="0"/>
          </a:p>
        </p:txBody>
      </p:sp>
      <p:sp>
        <p:nvSpPr>
          <p:cNvPr id="71" name="Shape 69"/>
          <p:cNvSpPr/>
          <p:nvPr/>
        </p:nvSpPr>
        <p:spPr>
          <a:xfrm>
            <a:off x="4754880" y="4562856"/>
            <a:ext cx="91440" cy="91440"/>
          </a:xfrm>
          <a:prstGeom prst="rect">
            <a:avLst/>
          </a:prstGeom>
          <a:solidFill>
            <a:srgbClr val="2C8394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4882896" y="45171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Still open</a:t>
            </a:r>
            <a:endParaRPr lang="en-US" sz="630" dirty="0"/>
          </a:p>
        </p:txBody>
      </p:sp>
      <p:sp>
        <p:nvSpPr>
          <p:cNvPr id="73" name="Shape 71"/>
          <p:cNvSpPr/>
          <p:nvPr/>
        </p:nvSpPr>
        <p:spPr>
          <a:xfrm>
            <a:off x="5852160" y="4562856"/>
            <a:ext cx="91440" cy="91440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5980176" y="45171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Closed lost</a:t>
            </a:r>
            <a:endParaRPr lang="en-US" sz="630" dirty="0"/>
          </a:p>
        </p:txBody>
      </p:sp>
      <p:sp>
        <p:nvSpPr>
          <p:cNvPr id="75" name="Shape 73"/>
          <p:cNvSpPr/>
          <p:nvPr/>
        </p:nvSpPr>
        <p:spPr>
          <a:xfrm>
            <a:off x="7452360" y="2212848"/>
            <a:ext cx="4325112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76" name="Text 74"/>
          <p:cNvSpPr txBox="1"/>
          <p:nvPr/>
        </p:nvSpPr>
        <p:spPr>
          <a:xfrm>
            <a:off x="7653528" y="23225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BY PRODUCT</a:t>
            </a:r>
            <a:endParaRPr lang="en-US" sz="1200" dirty="0"/>
          </a:p>
        </p:txBody>
      </p:sp>
      <p:sp>
        <p:nvSpPr>
          <p:cNvPr id="77" name="Text 75"/>
          <p:cNvSpPr txBox="1"/>
          <p:nvPr/>
        </p:nvSpPr>
        <p:spPr>
          <a:xfrm>
            <a:off x="7653528" y="2596896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</a:t>
            </a:r>
            <a:endParaRPr lang="en-US" sz="650" dirty="0"/>
          </a:p>
        </p:txBody>
      </p:sp>
      <p:sp>
        <p:nvSpPr>
          <p:cNvPr id="78" name="Text 76"/>
          <p:cNvSpPr txBox="1"/>
          <p:nvPr/>
        </p:nvSpPr>
        <p:spPr>
          <a:xfrm>
            <a:off x="9601200" y="259689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OPEN</a:t>
            </a:r>
            <a:endParaRPr lang="en-US" sz="650" dirty="0"/>
          </a:p>
        </p:txBody>
      </p:sp>
      <p:sp>
        <p:nvSpPr>
          <p:cNvPr id="79" name="Text 77"/>
          <p:cNvSpPr txBox="1"/>
          <p:nvPr/>
        </p:nvSpPr>
        <p:spPr>
          <a:xfrm>
            <a:off x="10332720" y="259689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PLACED</a:t>
            </a:r>
            <a:endParaRPr lang="en-US" sz="650" dirty="0"/>
          </a:p>
        </p:txBody>
      </p:sp>
      <p:sp>
        <p:nvSpPr>
          <p:cNvPr id="80" name="Text 78"/>
          <p:cNvSpPr txBox="1"/>
          <p:nvPr/>
        </p:nvSpPr>
        <p:spPr>
          <a:xfrm>
            <a:off x="11064240" y="259689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LOST</a:t>
            </a:r>
            <a:endParaRPr lang="en-US" sz="650" dirty="0"/>
          </a:p>
        </p:txBody>
      </p:sp>
      <p:sp>
        <p:nvSpPr>
          <p:cNvPr id="81" name="Text 79"/>
          <p:cNvSpPr txBox="1"/>
          <p:nvPr/>
        </p:nvSpPr>
        <p:spPr>
          <a:xfrm>
            <a:off x="7653528" y="279806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H&amp;L ROAM Monthly</a:t>
            </a:r>
            <a:endParaRPr lang="en-US" sz="750" dirty="0"/>
          </a:p>
        </p:txBody>
      </p:sp>
      <p:sp>
        <p:nvSpPr>
          <p:cNvPr id="82" name="Text 80"/>
          <p:cNvSpPr txBox="1"/>
          <p:nvPr/>
        </p:nvSpPr>
        <p:spPr>
          <a:xfrm>
            <a:off x="7653528" y="2935224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3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$29–31/unit/mo · most volume</a:t>
            </a:r>
            <a:endParaRPr lang="en-US" sz="530" dirty="0"/>
          </a:p>
        </p:txBody>
      </p:sp>
      <p:sp>
        <p:nvSpPr>
          <p:cNvPr id="83" name="Text 81"/>
          <p:cNvSpPr txBox="1"/>
          <p:nvPr/>
        </p:nvSpPr>
        <p:spPr>
          <a:xfrm>
            <a:off x="9601200" y="279806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US$1,251</a:t>
            </a:r>
            <a:endParaRPr lang="en-US" sz="750" dirty="0"/>
          </a:p>
        </p:txBody>
      </p:sp>
      <p:sp>
        <p:nvSpPr>
          <p:cNvPr id="84" name="Text 82"/>
          <p:cNvSpPr txBox="1"/>
          <p:nvPr/>
        </p:nvSpPr>
        <p:spPr>
          <a:xfrm>
            <a:off x="10332720" y="279806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3D8F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US$155</a:t>
            </a:r>
            <a:endParaRPr lang="en-US" sz="750" dirty="0"/>
          </a:p>
        </p:txBody>
      </p:sp>
      <p:sp>
        <p:nvSpPr>
          <p:cNvPr id="85" name="Text 83"/>
          <p:cNvSpPr txBox="1"/>
          <p:nvPr/>
        </p:nvSpPr>
        <p:spPr>
          <a:xfrm>
            <a:off x="11064240" y="279806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US$44</a:t>
            </a:r>
            <a:endParaRPr lang="en-US" sz="750" dirty="0"/>
          </a:p>
        </p:txBody>
      </p:sp>
      <p:sp>
        <p:nvSpPr>
          <p:cNvPr id="86" name="Text 84"/>
          <p:cNvSpPr txBox="1"/>
          <p:nvPr/>
        </p:nvSpPr>
        <p:spPr>
          <a:xfrm>
            <a:off x="7653528" y="309981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Sentinel Reporting</a:t>
            </a:r>
            <a:endParaRPr lang="en-US" sz="750" dirty="0"/>
          </a:p>
        </p:txBody>
      </p:sp>
      <p:sp>
        <p:nvSpPr>
          <p:cNvPr id="87" name="Text 85"/>
          <p:cNvSpPr txBox="1"/>
          <p:nvPr/>
        </p:nvSpPr>
        <p:spPr>
          <a:xfrm>
            <a:off x="7653528" y="3236976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3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$299/unit licence · no orders yet</a:t>
            </a:r>
            <a:endParaRPr lang="en-US" sz="530" dirty="0"/>
          </a:p>
        </p:txBody>
      </p:sp>
      <p:sp>
        <p:nvSpPr>
          <p:cNvPr id="88" name="Text 86"/>
          <p:cNvSpPr txBox="1"/>
          <p:nvPr/>
        </p:nvSpPr>
        <p:spPr>
          <a:xfrm>
            <a:off x="9601200" y="309981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US$852</a:t>
            </a:r>
            <a:endParaRPr lang="en-US" sz="750" dirty="0"/>
          </a:p>
        </p:txBody>
      </p:sp>
      <p:sp>
        <p:nvSpPr>
          <p:cNvPr id="89" name="Text 87"/>
          <p:cNvSpPr txBox="1"/>
          <p:nvPr/>
        </p:nvSpPr>
        <p:spPr>
          <a:xfrm>
            <a:off x="10332720" y="309981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750" dirty="0"/>
          </a:p>
        </p:txBody>
      </p:sp>
      <p:sp>
        <p:nvSpPr>
          <p:cNvPr id="90" name="Text 88"/>
          <p:cNvSpPr txBox="1"/>
          <p:nvPr/>
        </p:nvSpPr>
        <p:spPr>
          <a:xfrm>
            <a:off x="11064240" y="30998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US$213</a:t>
            </a:r>
            <a:endParaRPr lang="en-US" sz="750" dirty="0"/>
          </a:p>
        </p:txBody>
      </p:sp>
      <p:sp>
        <p:nvSpPr>
          <p:cNvPr id="91" name="Text 89"/>
          <p:cNvSpPr txBox="1"/>
          <p:nvPr/>
        </p:nvSpPr>
        <p:spPr>
          <a:xfrm>
            <a:off x="7653528" y="340156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QR Ordering (OrderNow)</a:t>
            </a:r>
            <a:endParaRPr lang="en-US" sz="750" dirty="0"/>
          </a:p>
        </p:txBody>
      </p:sp>
      <p:sp>
        <p:nvSpPr>
          <p:cNvPr id="92" name="Text 90"/>
          <p:cNvSpPr txBox="1"/>
          <p:nvPr/>
        </p:nvSpPr>
        <p:spPr>
          <a:xfrm>
            <a:off x="7653528" y="3538728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3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line priced $0 — value understated</a:t>
            </a:r>
            <a:endParaRPr lang="en-US" sz="530" dirty="0"/>
          </a:p>
        </p:txBody>
      </p:sp>
      <p:sp>
        <p:nvSpPr>
          <p:cNvPr id="93" name="Text 91"/>
          <p:cNvSpPr txBox="1"/>
          <p:nvPr/>
        </p:nvSpPr>
        <p:spPr>
          <a:xfrm>
            <a:off x="9601200" y="3401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750" dirty="0"/>
          </a:p>
        </p:txBody>
      </p:sp>
      <p:sp>
        <p:nvSpPr>
          <p:cNvPr id="94" name="Text 92"/>
          <p:cNvSpPr txBox="1"/>
          <p:nvPr/>
        </p:nvSpPr>
        <p:spPr>
          <a:xfrm>
            <a:off x="10332720" y="3401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750" dirty="0"/>
          </a:p>
        </p:txBody>
      </p:sp>
      <p:sp>
        <p:nvSpPr>
          <p:cNvPr id="95" name="Text 93"/>
          <p:cNvSpPr txBox="1"/>
          <p:nvPr/>
        </p:nvSpPr>
        <p:spPr>
          <a:xfrm>
            <a:off x="11064240" y="340156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750" dirty="0"/>
          </a:p>
        </p:txBody>
      </p:sp>
      <p:sp>
        <p:nvSpPr>
          <p:cNvPr id="96" name="Text 94"/>
          <p:cNvSpPr txBox="1"/>
          <p:nvPr/>
        </p:nvSpPr>
        <p:spPr>
          <a:xfrm>
            <a:off x="7653528" y="370332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H&amp;L ROAM Annual</a:t>
            </a:r>
            <a:endParaRPr lang="en-US" sz="750" dirty="0"/>
          </a:p>
        </p:txBody>
      </p:sp>
      <p:sp>
        <p:nvSpPr>
          <p:cNvPr id="97" name="Text 95"/>
          <p:cNvSpPr txBox="1"/>
          <p:nvPr/>
        </p:nvSpPr>
        <p:spPr>
          <a:xfrm>
            <a:off x="7653528" y="3840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3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flagged but no line items anywhere</a:t>
            </a:r>
            <a:endParaRPr lang="en-US" sz="530" dirty="0"/>
          </a:p>
        </p:txBody>
      </p:sp>
      <p:sp>
        <p:nvSpPr>
          <p:cNvPr id="98" name="Text 96"/>
          <p:cNvSpPr txBox="1"/>
          <p:nvPr/>
        </p:nvSpPr>
        <p:spPr>
          <a:xfrm>
            <a:off x="9601200" y="370332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750" dirty="0"/>
          </a:p>
        </p:txBody>
      </p:sp>
      <p:sp>
        <p:nvSpPr>
          <p:cNvPr id="99" name="Text 97"/>
          <p:cNvSpPr txBox="1"/>
          <p:nvPr/>
        </p:nvSpPr>
        <p:spPr>
          <a:xfrm>
            <a:off x="10332720" y="370332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750" dirty="0"/>
          </a:p>
        </p:txBody>
      </p:sp>
      <p:sp>
        <p:nvSpPr>
          <p:cNvPr id="100" name="Text 98"/>
          <p:cNvSpPr txBox="1"/>
          <p:nvPr/>
        </p:nvSpPr>
        <p:spPr>
          <a:xfrm>
            <a:off x="11064240" y="37033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7452360" y="4169664"/>
            <a:ext cx="4325112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102" name="Text 100"/>
          <p:cNvSpPr txBox="1"/>
          <p:nvPr/>
        </p:nvSpPr>
        <p:spPr>
          <a:xfrm>
            <a:off x="7653528" y="4242816"/>
            <a:ext cx="3922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ANNUALISED VIEW   </a:t>
            </a:r>
            <a:pPr indent="0" marL="0">
              <a:buNone/>
            </a:pPr>
            <a:r>
              <a:rPr lang="en-US" sz="600" dirty="0">
                <a:solidFill>
                  <a:srgbClr val="C88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ROAM lines are one month</a:t>
            </a:r>
            <a:endParaRPr lang="en-US" sz="900" dirty="0"/>
          </a:p>
        </p:txBody>
      </p:sp>
      <p:sp>
        <p:nvSpPr>
          <p:cNvPr id="103" name="Text 101"/>
          <p:cNvSpPr txBox="1"/>
          <p:nvPr/>
        </p:nvSpPr>
        <p:spPr>
          <a:xfrm>
            <a:off x="7653528" y="446227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US$15,016</a:t>
            </a:r>
            <a:endParaRPr lang="en-US" sz="1800" dirty="0"/>
          </a:p>
        </p:txBody>
      </p:sp>
      <p:sp>
        <p:nvSpPr>
          <p:cNvPr id="104" name="Text 102"/>
          <p:cNvSpPr txBox="1"/>
          <p:nvPr/>
        </p:nvSpPr>
        <p:spPr>
          <a:xfrm>
            <a:off x="9326880" y="4443984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open ROAM pipeline at ×12 (A$21,084) — the contract value behind the US$2,103 of monthly lines</a:t>
            </a:r>
            <a:endParaRPr lang="en-US" sz="700" dirty="0"/>
          </a:p>
        </p:txBody>
      </p:sp>
      <p:sp>
        <p:nvSpPr>
          <p:cNvPr id="105" name="Text 103"/>
          <p:cNvSpPr txBox="1"/>
          <p:nvPr/>
        </p:nvSpPr>
        <p:spPr>
          <a:xfrm>
            <a:off x="7653528" y="4901184"/>
            <a:ext cx="3922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AUD→USD 0.7122 (mid-market close 20 Sep 2026) — HubSpot holds no USD field</a:t>
            </a:r>
            <a:endParaRPr lang="en-US" sz="580" dirty="0"/>
          </a:p>
        </p:txBody>
      </p:sp>
      <p:sp>
        <p:nvSpPr>
          <p:cNvPr id="106" name="Shape 104"/>
          <p:cNvSpPr/>
          <p:nvPr/>
        </p:nvSpPr>
        <p:spPr>
          <a:xfrm>
            <a:off x="411480" y="5504688"/>
            <a:ext cx="11365992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107" name="Text 105"/>
          <p:cNvSpPr txBox="1"/>
          <p:nvPr/>
        </p:nvSpPr>
        <p:spPr>
          <a:xfrm>
            <a:off x="612648" y="5614416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SUMMARY</a:t>
            </a:r>
            <a:endParaRPr lang="en-US" sz="1200" dirty="0"/>
          </a:p>
        </p:txBody>
      </p:sp>
      <p:sp>
        <p:nvSpPr>
          <p:cNvPr id="108" name="Text 106"/>
          <p:cNvSpPr txBox="1"/>
          <p:nvPr/>
        </p:nvSpPr>
        <p:spPr>
          <a:xfrm>
            <a:off x="612648" y="5925312"/>
            <a:ext cx="10954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D8F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buNone/>
            </a:pPr>
            <a:r>
              <a:rPr lang="en-US" sz="9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Conversion is real but tiny. 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orders placed since 1 Jul (US$155) against 2 lost — 71% by count, 38% by value. All of it is ROAM; Sentinel has US$852 in play and no order yet.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buNone/>
            </a:pPr>
            <a:r>
              <a:rPr lang="en-US" sz="9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book is stuck mid-funnel: 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US$2,062 of the US$2,103 open sits in Quote Sent and Negotiation across 27 deals — the movement to chase is quote-to-order, not top-of-funnel.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QR Ordering is priced $0 on every line, so its value reads nil · ROAM lines are one month, not contract value.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7585862" y="6510528"/>
            <a:ext cx="4191610" cy="256032"/>
          </a:xfrm>
          <a:prstGeom prst="roundRect">
            <a:avLst>
              <a:gd name="adj" fmla="val 46429"/>
            </a:avLst>
          </a:prstGeom>
          <a:solidFill>
            <a:srgbClr val="12293A"/>
          </a:solidFill>
          <a:ln/>
        </p:spPr>
      </p:sp>
      <p:sp>
        <p:nvSpPr>
          <p:cNvPr id="110" name="Text 108"/>
          <p:cNvSpPr txBox="1"/>
          <p:nvPr/>
        </p:nvSpPr>
        <p:spPr>
          <a:xfrm>
            <a:off x="7585862" y="6510528"/>
            <a:ext cx="41916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Source: HubSpot line items · products flagged ai_infused (live)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2293A"/>
          </a:solidFill>
          <a:ln/>
        </p:spPr>
      </p:sp>
      <p:sp>
        <p:nvSpPr>
          <p:cNvPr id="3" name="Shape 1"/>
          <p:cNvSpPr/>
          <p:nvPr/>
        </p:nvSpPr>
        <p:spPr>
          <a:xfrm>
            <a:off x="384048" y="155448"/>
            <a:ext cx="73152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84048" y="155448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H&amp;L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54864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H&amp;L Pay — Our Referrals to ValPay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1316736" y="51206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AE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Sales · ValPay export as at 6 Sep · identification register live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686800" y="246888"/>
            <a:ext cx="1965960" cy="347472"/>
          </a:xfrm>
          <a:prstGeom prst="roundRect">
            <a:avLst>
              <a:gd name="adj" fmla="val 50000"/>
            </a:avLst>
          </a:prstGeom>
          <a:solidFill>
            <a:srgbClr val="2C8394"/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0" y="2468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 ·  DID WE SELL?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0872216" y="0"/>
            <a:ext cx="841248" cy="841248"/>
          </a:xfrm>
          <a:prstGeom prst="ellipse">
            <a:avLst/>
          </a:prstGeom>
          <a:solidFill>
            <a:srgbClr val="1C5765"/>
          </a:solidFill>
          <a:ln/>
        </p:spPr>
      </p:sp>
      <p:sp>
        <p:nvSpPr>
          <p:cNvPr id="10" name="Shape 8"/>
          <p:cNvSpPr/>
          <p:nvPr/>
        </p:nvSpPr>
        <p:spPr>
          <a:xfrm>
            <a:off x="10968228" y="96012"/>
            <a:ext cx="649224" cy="649224"/>
          </a:xfrm>
          <a:prstGeom prst="ellipse">
            <a:avLst/>
          </a:prstGeom>
          <a:solidFill>
            <a:srgbClr val="2C8394"/>
          </a:solidFill>
          <a:ln/>
        </p:spPr>
      </p:sp>
      <p:sp>
        <p:nvSpPr>
          <p:cNvPr id="11" name="Shape 9"/>
          <p:cNvSpPr/>
          <p:nvPr/>
        </p:nvSpPr>
        <p:spPr>
          <a:xfrm>
            <a:off x="11064240" y="192024"/>
            <a:ext cx="457200" cy="457200"/>
          </a:xfrm>
          <a:prstGeom prst="ellipse">
            <a:avLst/>
          </a:prstGeom>
          <a:solidFill>
            <a:srgbClr val="6FAEBB"/>
          </a:solidFill>
          <a:ln/>
        </p:spPr>
      </p:sp>
      <p:sp>
        <p:nvSpPr>
          <p:cNvPr id="12" name="Shape 10"/>
          <p:cNvSpPr/>
          <p:nvPr/>
        </p:nvSpPr>
        <p:spPr>
          <a:xfrm>
            <a:off x="11160252" y="288036"/>
            <a:ext cx="265176" cy="265176"/>
          </a:xfrm>
          <a:prstGeom prst="ellipse">
            <a:avLst/>
          </a:prstGeom>
          <a:solidFill>
            <a:srgbClr val="E4F1F4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" y="969264"/>
            <a:ext cx="374904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76072" y="1060704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REFERRALS GIVEN — ALL-TIME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557784" y="1243584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34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576072" y="1572768"/>
            <a:ext cx="3419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tagged referred deals in the partner pipeline</a:t>
            </a:r>
            <a:endParaRPr lang="en-US" sz="780" dirty="0"/>
          </a:p>
        </p:txBody>
      </p:sp>
      <p:sp>
        <p:nvSpPr>
          <p:cNvPr id="17" name="Text 15"/>
          <p:cNvSpPr txBox="1"/>
          <p:nvPr/>
        </p:nvSpPr>
        <p:spPr>
          <a:xfrm>
            <a:off x="2377440" y="104241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C88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this qtr · 11 last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297680" y="969264"/>
            <a:ext cx="374904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4462272" y="1060704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REFERRED GMV — SIGNED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4443984" y="1243584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$38M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4462272" y="1572768"/>
            <a:ext cx="3419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 deals won · 2 venues live &amp; billing</a:t>
            </a:r>
            <a:endParaRPr lang="en-US" sz="780" dirty="0"/>
          </a:p>
        </p:txBody>
      </p:sp>
      <p:sp>
        <p:nvSpPr>
          <p:cNvPr id="22" name="Text 20"/>
          <p:cNvSpPr txBox="1"/>
          <p:nvPr/>
        </p:nvSpPr>
        <p:spPr>
          <a:xfrm>
            <a:off x="6263640" y="104241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3D8F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39% of all wins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8183880" y="969264"/>
            <a:ext cx="3593592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348472" y="1060704"/>
            <a:ext cx="3264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REFERRED — OPEN PIPELINE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330184" y="1243584"/>
            <a:ext cx="3300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$245M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8348472" y="1572768"/>
            <a:ext cx="3264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 referred deals in negotiation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411480" y="2139696"/>
            <a:ext cx="6949440" cy="3054096"/>
          </a:xfrm>
          <a:prstGeom prst="roundRect">
            <a:avLst>
              <a:gd name="adj" fmla="val 20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12648" y="2249424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REFERRAL ENGINE — IDENTIFIED BY H&amp;L → REFERRED → SIGNED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2648" y="2542032"/>
            <a:ext cx="1371600" cy="566928"/>
          </a:xfrm>
          <a:prstGeom prst="homePlate">
            <a:avLst/>
          </a:prstGeom>
          <a:solidFill>
            <a:srgbClr val="24435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22376" y="2587752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IDENTIFIED</a:t>
            </a:r>
            <a:endParaRPr lang="en-US" sz="550" dirty="0"/>
          </a:p>
        </p:txBody>
      </p:sp>
      <p:sp>
        <p:nvSpPr>
          <p:cNvPr id="31" name="Text 29"/>
          <p:cNvSpPr txBox="1"/>
          <p:nvPr/>
        </p:nvSpPr>
        <p:spPr>
          <a:xfrm>
            <a:off x="722376" y="2724912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34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49224" y="312724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32 unique venues · register</a:t>
            </a:r>
            <a:endParaRPr lang="en-US" sz="550" dirty="0"/>
          </a:p>
        </p:txBody>
      </p:sp>
      <p:sp>
        <p:nvSpPr>
          <p:cNvPr id="33" name="Shape 31"/>
          <p:cNvSpPr/>
          <p:nvPr/>
        </p:nvSpPr>
        <p:spPr>
          <a:xfrm>
            <a:off x="1874520" y="2542032"/>
            <a:ext cx="1371600" cy="566928"/>
          </a:xfrm>
          <a:prstGeom prst="chevron">
            <a:avLst/>
          </a:prstGeom>
          <a:solidFill>
            <a:srgbClr val="3A647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2112264" y="2587752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REFERRED</a:t>
            </a:r>
            <a:endParaRPr lang="en-US" sz="550" dirty="0"/>
          </a:p>
        </p:txBody>
      </p:sp>
      <p:sp>
        <p:nvSpPr>
          <p:cNvPr id="35" name="Text 33"/>
          <p:cNvSpPr txBox="1"/>
          <p:nvPr/>
        </p:nvSpPr>
        <p:spPr>
          <a:xfrm>
            <a:off x="2112264" y="2724912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34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2039112" y="312724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$285M GMV tagged</a:t>
            </a:r>
            <a:endParaRPr lang="en-US" sz="550" dirty="0"/>
          </a:p>
        </p:txBody>
      </p:sp>
      <p:sp>
        <p:nvSpPr>
          <p:cNvPr id="37" name="Shape 35"/>
          <p:cNvSpPr/>
          <p:nvPr/>
        </p:nvSpPr>
        <p:spPr>
          <a:xfrm>
            <a:off x="3136392" y="2542032"/>
            <a:ext cx="1371600" cy="566928"/>
          </a:xfrm>
          <a:prstGeom prst="chevron">
            <a:avLst/>
          </a:prstGeom>
          <a:solidFill>
            <a:srgbClr val="2C8394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3374136" y="2587752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OPEN</a:t>
            </a:r>
            <a:endParaRPr lang="en-US" sz="550" dirty="0"/>
          </a:p>
        </p:txBody>
      </p:sp>
      <p:sp>
        <p:nvSpPr>
          <p:cNvPr id="39" name="Text 37"/>
          <p:cNvSpPr txBox="1"/>
          <p:nvPr/>
        </p:nvSpPr>
        <p:spPr>
          <a:xfrm>
            <a:off x="3374136" y="2724912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3300984" y="312724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$245M negotiating</a:t>
            </a:r>
            <a:endParaRPr lang="en-US" sz="550" dirty="0"/>
          </a:p>
        </p:txBody>
      </p:sp>
      <p:sp>
        <p:nvSpPr>
          <p:cNvPr id="41" name="Shape 39"/>
          <p:cNvSpPr/>
          <p:nvPr/>
        </p:nvSpPr>
        <p:spPr>
          <a:xfrm>
            <a:off x="4398264" y="2542032"/>
            <a:ext cx="1371600" cy="566928"/>
          </a:xfrm>
          <a:prstGeom prst="chevron">
            <a:avLst/>
          </a:prstGeom>
          <a:solidFill>
            <a:srgbClr val="3D8F5F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4636008" y="2587752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WON</a:t>
            </a:r>
            <a:endParaRPr lang="en-US" sz="550" dirty="0"/>
          </a:p>
        </p:txBody>
      </p:sp>
      <p:sp>
        <p:nvSpPr>
          <p:cNvPr id="43" name="Text 41"/>
          <p:cNvSpPr txBox="1"/>
          <p:nvPr/>
        </p:nvSpPr>
        <p:spPr>
          <a:xfrm>
            <a:off x="4636008" y="2724912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4562856" y="312724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$38M signed</a:t>
            </a:r>
            <a:endParaRPr lang="en-US" sz="550" dirty="0"/>
          </a:p>
        </p:txBody>
      </p:sp>
      <p:sp>
        <p:nvSpPr>
          <p:cNvPr id="45" name="Shape 43"/>
          <p:cNvSpPr/>
          <p:nvPr/>
        </p:nvSpPr>
        <p:spPr>
          <a:xfrm>
            <a:off x="5660136" y="2542032"/>
            <a:ext cx="1371600" cy="566928"/>
          </a:xfrm>
          <a:prstGeom prst="chevron">
            <a:avLst/>
          </a:prstGeom>
          <a:solidFill>
            <a:srgbClr val="5B7C8A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5897880" y="2587752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SHARE OF WINS</a:t>
            </a:r>
            <a:endParaRPr lang="en-US" sz="550" dirty="0"/>
          </a:p>
        </p:txBody>
      </p:sp>
      <p:sp>
        <p:nvSpPr>
          <p:cNvPr id="47" name="Text 45"/>
          <p:cNvSpPr txBox="1"/>
          <p:nvPr/>
        </p:nvSpPr>
        <p:spPr>
          <a:xfrm>
            <a:off x="5897880" y="2724912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39%</a:t>
            </a:r>
            <a:endParaRPr lang="en-US" sz="1600" dirty="0"/>
          </a:p>
        </p:txBody>
      </p:sp>
      <p:sp>
        <p:nvSpPr>
          <p:cNvPr id="48" name="Text 46"/>
          <p:cNvSpPr txBox="1"/>
          <p:nvPr/>
        </p:nvSpPr>
        <p:spPr>
          <a:xfrm>
            <a:off x="5824728" y="312724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of $98M signed</a:t>
            </a:r>
            <a:endParaRPr lang="en-US" sz="550" dirty="0"/>
          </a:p>
        </p:txBody>
      </p:sp>
      <p:sp>
        <p:nvSpPr>
          <p:cNvPr id="49" name="Text 47"/>
          <p:cNvSpPr txBox="1"/>
          <p:nvPr/>
        </p:nvSpPr>
        <p:spPr>
          <a:xfrm>
            <a:off x="612648" y="33832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REFERRAL FLOW — WHEN REFERRALS WERE GIVEN</a:t>
            </a:r>
            <a:endParaRPr lang="en-US" sz="850" dirty="0"/>
          </a:p>
        </p:txBody>
      </p:sp>
      <p:sp>
        <p:nvSpPr>
          <p:cNvPr id="50" name="Text 48"/>
          <p:cNvSpPr txBox="1"/>
          <p:nvPr/>
        </p:nvSpPr>
        <p:spPr>
          <a:xfrm>
            <a:off x="3886200" y="33832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bars = identified / referred per month · line = cumulative referred → 27 YTD</a:t>
            </a:r>
            <a:endParaRPr lang="en-US" sz="580" dirty="0"/>
          </a:p>
        </p:txBody>
      </p:sp>
      <p:graphicFrame>
        <p:nvGraphicFramePr>
          <p:cNvPr id="51" name="Chart 0" descr=""/>
          <p:cNvGraphicFramePr/>
          <p:nvPr/>
        </p:nvGraphicFramePr>
        <p:xfrm>
          <a:off x="576072" y="3584448"/>
          <a:ext cx="6565392" cy="138988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2" name="Shape 49"/>
          <p:cNvSpPr/>
          <p:nvPr/>
        </p:nvSpPr>
        <p:spPr>
          <a:xfrm>
            <a:off x="7498080" y="2139696"/>
            <a:ext cx="4279392" cy="3054096"/>
          </a:xfrm>
          <a:prstGeom prst="roundRect">
            <a:avLst>
              <a:gd name="adj" fmla="val 20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53" name="Text 50"/>
          <p:cNvSpPr txBox="1"/>
          <p:nvPr/>
        </p:nvSpPr>
        <p:spPr>
          <a:xfrm>
            <a:off x="7699248" y="22494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WHO IS GIVING THE REFERRALS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7699248" y="254203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REFERRER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9921240" y="254203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GIVEN</a:t>
            </a:r>
            <a:endParaRPr lang="en-US" sz="650" dirty="0"/>
          </a:p>
        </p:txBody>
      </p:sp>
      <p:sp>
        <p:nvSpPr>
          <p:cNvPr id="56" name="Text 53"/>
          <p:cNvSpPr txBox="1"/>
          <p:nvPr/>
        </p:nvSpPr>
        <p:spPr>
          <a:xfrm>
            <a:off x="10561320" y="254203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WON</a:t>
            </a:r>
            <a:endParaRPr lang="en-US" sz="650" dirty="0"/>
          </a:p>
        </p:txBody>
      </p:sp>
      <p:sp>
        <p:nvSpPr>
          <p:cNvPr id="57" name="Text 54"/>
          <p:cNvSpPr txBox="1"/>
          <p:nvPr/>
        </p:nvSpPr>
        <p:spPr>
          <a:xfrm>
            <a:off x="11155680" y="25420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GMV</a:t>
            </a:r>
            <a:endParaRPr lang="en-US" sz="650" dirty="0"/>
          </a:p>
        </p:txBody>
      </p:sp>
      <p:sp>
        <p:nvSpPr>
          <p:cNvPr id="58" name="Text 55"/>
          <p:cNvSpPr txBox="1"/>
          <p:nvPr/>
        </p:nvSpPr>
        <p:spPr>
          <a:xfrm>
            <a:off x="7699248" y="274320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Bjorn Magabo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7699248" y="2971800"/>
            <a:ext cx="2011680" cy="41148"/>
          </a:xfrm>
          <a:prstGeom prst="rect">
            <a:avLst/>
          </a:prstGeom>
          <a:solidFill>
            <a:srgbClr val="2C8394"/>
          </a:solidFill>
          <a:ln/>
        </p:spPr>
      </p:sp>
      <p:sp>
        <p:nvSpPr>
          <p:cNvPr id="60" name="Text 57"/>
          <p:cNvSpPr txBox="1"/>
          <p:nvPr/>
        </p:nvSpPr>
        <p:spPr>
          <a:xfrm>
            <a:off x="9921240" y="274320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850" dirty="0"/>
          </a:p>
        </p:txBody>
      </p:sp>
      <p:sp>
        <p:nvSpPr>
          <p:cNvPr id="61" name="Text 58"/>
          <p:cNvSpPr txBox="1"/>
          <p:nvPr/>
        </p:nvSpPr>
        <p:spPr>
          <a:xfrm>
            <a:off x="10561320" y="274320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3D8F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850" dirty="0"/>
          </a:p>
        </p:txBody>
      </p:sp>
      <p:sp>
        <p:nvSpPr>
          <p:cNvPr id="62" name="Text 59"/>
          <p:cNvSpPr txBox="1"/>
          <p:nvPr/>
        </p:nvSpPr>
        <p:spPr>
          <a:xfrm>
            <a:off x="11155680" y="27432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$65M</a:t>
            </a:r>
            <a:endParaRPr lang="en-US" sz="850" dirty="0"/>
          </a:p>
        </p:txBody>
      </p:sp>
      <p:sp>
        <p:nvSpPr>
          <p:cNvPr id="63" name="Text 60"/>
          <p:cNvSpPr txBox="1"/>
          <p:nvPr/>
        </p:nvSpPr>
        <p:spPr>
          <a:xfrm>
            <a:off x="7699248" y="310896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Bradford Young</a:t>
            </a:r>
            <a:endParaRPr lang="en-US" sz="850" dirty="0"/>
          </a:p>
        </p:txBody>
      </p:sp>
      <p:sp>
        <p:nvSpPr>
          <p:cNvPr id="64" name="Shape 61"/>
          <p:cNvSpPr/>
          <p:nvPr/>
        </p:nvSpPr>
        <p:spPr>
          <a:xfrm>
            <a:off x="7699248" y="3337560"/>
            <a:ext cx="1645920" cy="41148"/>
          </a:xfrm>
          <a:prstGeom prst="rect">
            <a:avLst/>
          </a:prstGeom>
          <a:solidFill>
            <a:srgbClr val="2C8394"/>
          </a:solidFill>
          <a:ln/>
        </p:spPr>
      </p:sp>
      <p:sp>
        <p:nvSpPr>
          <p:cNvPr id="65" name="Text 62"/>
          <p:cNvSpPr txBox="1"/>
          <p:nvPr/>
        </p:nvSpPr>
        <p:spPr>
          <a:xfrm>
            <a:off x="9921240" y="310896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endParaRPr lang="en-US" sz="850" dirty="0"/>
          </a:p>
        </p:txBody>
      </p:sp>
      <p:sp>
        <p:nvSpPr>
          <p:cNvPr id="66" name="Text 63"/>
          <p:cNvSpPr txBox="1"/>
          <p:nvPr/>
        </p:nvSpPr>
        <p:spPr>
          <a:xfrm>
            <a:off x="10561320" y="310896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3D8F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850" dirty="0"/>
          </a:p>
        </p:txBody>
      </p:sp>
      <p:sp>
        <p:nvSpPr>
          <p:cNvPr id="67" name="Text 64"/>
          <p:cNvSpPr txBox="1"/>
          <p:nvPr/>
        </p:nvSpPr>
        <p:spPr>
          <a:xfrm>
            <a:off x="11155680" y="310896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$31M</a:t>
            </a:r>
            <a:endParaRPr lang="en-US" sz="850" dirty="0"/>
          </a:p>
        </p:txBody>
      </p:sp>
      <p:sp>
        <p:nvSpPr>
          <p:cNvPr id="68" name="Text 65"/>
          <p:cNvSpPr txBox="1"/>
          <p:nvPr/>
        </p:nvSpPr>
        <p:spPr>
          <a:xfrm>
            <a:off x="7699248" y="347472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Brett Gorman</a:t>
            </a:r>
            <a:endParaRPr lang="en-US" sz="850" dirty="0"/>
          </a:p>
        </p:txBody>
      </p:sp>
      <p:sp>
        <p:nvSpPr>
          <p:cNvPr id="69" name="Shape 66"/>
          <p:cNvSpPr/>
          <p:nvPr/>
        </p:nvSpPr>
        <p:spPr>
          <a:xfrm>
            <a:off x="7699248" y="3703320"/>
            <a:ext cx="1097280" cy="41148"/>
          </a:xfrm>
          <a:prstGeom prst="rect">
            <a:avLst/>
          </a:prstGeom>
          <a:solidFill>
            <a:srgbClr val="2C8394"/>
          </a:solidFill>
          <a:ln/>
        </p:spPr>
      </p:sp>
      <p:sp>
        <p:nvSpPr>
          <p:cNvPr id="70" name="Text 67"/>
          <p:cNvSpPr txBox="1"/>
          <p:nvPr/>
        </p:nvSpPr>
        <p:spPr>
          <a:xfrm>
            <a:off x="9921240" y="34747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850" dirty="0"/>
          </a:p>
        </p:txBody>
      </p:sp>
      <p:sp>
        <p:nvSpPr>
          <p:cNvPr id="71" name="Text 68"/>
          <p:cNvSpPr txBox="1"/>
          <p:nvPr/>
        </p:nvSpPr>
        <p:spPr>
          <a:xfrm>
            <a:off x="10561320" y="347472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</a:t>
            </a:r>
            <a:endParaRPr lang="en-US" sz="850" dirty="0"/>
          </a:p>
        </p:txBody>
      </p:sp>
      <p:sp>
        <p:nvSpPr>
          <p:cNvPr id="72" name="Text 69"/>
          <p:cNvSpPr txBox="1"/>
          <p:nvPr/>
        </p:nvSpPr>
        <p:spPr>
          <a:xfrm>
            <a:off x="11155680" y="34747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$146M</a:t>
            </a:r>
            <a:endParaRPr lang="en-US" sz="850" dirty="0"/>
          </a:p>
        </p:txBody>
      </p:sp>
      <p:sp>
        <p:nvSpPr>
          <p:cNvPr id="73" name="Text 70"/>
          <p:cNvSpPr txBox="1"/>
          <p:nvPr/>
        </p:nvSpPr>
        <p:spPr>
          <a:xfrm>
            <a:off x="7699248" y="384048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Mick Teasdale</a:t>
            </a:r>
            <a:endParaRPr lang="en-US" sz="850" dirty="0"/>
          </a:p>
        </p:txBody>
      </p:sp>
      <p:sp>
        <p:nvSpPr>
          <p:cNvPr id="74" name="Shape 71"/>
          <p:cNvSpPr/>
          <p:nvPr/>
        </p:nvSpPr>
        <p:spPr>
          <a:xfrm>
            <a:off x="7699248" y="4069080"/>
            <a:ext cx="731520" cy="41148"/>
          </a:xfrm>
          <a:prstGeom prst="rect">
            <a:avLst/>
          </a:prstGeom>
          <a:solidFill>
            <a:srgbClr val="2C8394"/>
          </a:solidFill>
          <a:ln/>
        </p:spPr>
      </p:sp>
      <p:sp>
        <p:nvSpPr>
          <p:cNvPr id="75" name="Text 72"/>
          <p:cNvSpPr txBox="1"/>
          <p:nvPr/>
        </p:nvSpPr>
        <p:spPr>
          <a:xfrm>
            <a:off x="9921240" y="384048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850" dirty="0"/>
          </a:p>
        </p:txBody>
      </p:sp>
      <p:sp>
        <p:nvSpPr>
          <p:cNvPr id="76" name="Text 73"/>
          <p:cNvSpPr txBox="1"/>
          <p:nvPr/>
        </p:nvSpPr>
        <p:spPr>
          <a:xfrm>
            <a:off x="10561320" y="384048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3D8F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850" dirty="0"/>
          </a:p>
        </p:txBody>
      </p:sp>
      <p:sp>
        <p:nvSpPr>
          <p:cNvPr id="77" name="Text 74"/>
          <p:cNvSpPr txBox="1"/>
          <p:nvPr/>
        </p:nvSpPr>
        <p:spPr>
          <a:xfrm>
            <a:off x="11155680" y="38404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$5M</a:t>
            </a:r>
            <a:endParaRPr lang="en-US" sz="850" dirty="0"/>
          </a:p>
        </p:txBody>
      </p:sp>
      <p:sp>
        <p:nvSpPr>
          <p:cNvPr id="78" name="Text 75"/>
          <p:cNvSpPr txBox="1"/>
          <p:nvPr/>
        </p:nvSpPr>
        <p:spPr>
          <a:xfrm>
            <a:off x="7699248" y="420624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Phuong Ho</a:t>
            </a:r>
            <a:endParaRPr lang="en-US" sz="850" dirty="0"/>
          </a:p>
        </p:txBody>
      </p:sp>
      <p:sp>
        <p:nvSpPr>
          <p:cNvPr id="79" name="Shape 76"/>
          <p:cNvSpPr/>
          <p:nvPr/>
        </p:nvSpPr>
        <p:spPr>
          <a:xfrm>
            <a:off x="7699248" y="4434840"/>
            <a:ext cx="548640" cy="41148"/>
          </a:xfrm>
          <a:prstGeom prst="rect">
            <a:avLst/>
          </a:prstGeom>
          <a:solidFill>
            <a:srgbClr val="2C8394"/>
          </a:solidFill>
          <a:ln/>
        </p:spPr>
      </p:sp>
      <p:sp>
        <p:nvSpPr>
          <p:cNvPr id="80" name="Text 77"/>
          <p:cNvSpPr txBox="1"/>
          <p:nvPr/>
        </p:nvSpPr>
        <p:spPr>
          <a:xfrm>
            <a:off x="9921240" y="420624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850" dirty="0"/>
          </a:p>
        </p:txBody>
      </p:sp>
      <p:sp>
        <p:nvSpPr>
          <p:cNvPr id="81" name="Text 78"/>
          <p:cNvSpPr txBox="1"/>
          <p:nvPr/>
        </p:nvSpPr>
        <p:spPr>
          <a:xfrm>
            <a:off x="10561320" y="420624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3D8F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850" dirty="0"/>
          </a:p>
        </p:txBody>
      </p:sp>
      <p:sp>
        <p:nvSpPr>
          <p:cNvPr id="82" name="Text 79"/>
          <p:cNvSpPr txBox="1"/>
          <p:nvPr/>
        </p:nvSpPr>
        <p:spPr>
          <a:xfrm>
            <a:off x="11155680" y="42062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$23M</a:t>
            </a:r>
            <a:endParaRPr lang="en-US" sz="850" dirty="0"/>
          </a:p>
        </p:txBody>
      </p:sp>
      <p:sp>
        <p:nvSpPr>
          <p:cNvPr id="83" name="Text 80"/>
          <p:cNvSpPr txBox="1"/>
          <p:nvPr/>
        </p:nvSpPr>
        <p:spPr>
          <a:xfrm>
            <a:off x="7699248" y="457200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Unattributed</a:t>
            </a:r>
            <a:endParaRPr lang="en-US" sz="850" dirty="0"/>
          </a:p>
        </p:txBody>
      </p:sp>
      <p:sp>
        <p:nvSpPr>
          <p:cNvPr id="84" name="Shape 81"/>
          <p:cNvSpPr/>
          <p:nvPr/>
        </p:nvSpPr>
        <p:spPr>
          <a:xfrm>
            <a:off x="7699248" y="4800600"/>
            <a:ext cx="182880" cy="41148"/>
          </a:xfrm>
          <a:prstGeom prst="rect">
            <a:avLst/>
          </a:prstGeom>
          <a:solidFill>
            <a:srgbClr val="2C8394"/>
          </a:solidFill>
          <a:ln/>
        </p:spPr>
      </p:sp>
      <p:sp>
        <p:nvSpPr>
          <p:cNvPr id="85" name="Text 82"/>
          <p:cNvSpPr txBox="1"/>
          <p:nvPr/>
        </p:nvSpPr>
        <p:spPr>
          <a:xfrm>
            <a:off x="9921240" y="457200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850" dirty="0"/>
          </a:p>
        </p:txBody>
      </p:sp>
      <p:sp>
        <p:nvSpPr>
          <p:cNvPr id="86" name="Text 83"/>
          <p:cNvSpPr txBox="1"/>
          <p:nvPr/>
        </p:nvSpPr>
        <p:spPr>
          <a:xfrm>
            <a:off x="10561320" y="457200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</a:t>
            </a:r>
            <a:endParaRPr lang="en-US" sz="850" dirty="0"/>
          </a:p>
        </p:txBody>
      </p:sp>
      <p:sp>
        <p:nvSpPr>
          <p:cNvPr id="87" name="Text 84"/>
          <p:cNvSpPr txBox="1"/>
          <p:nvPr/>
        </p:nvSpPr>
        <p:spPr>
          <a:xfrm>
            <a:off x="11155680" y="45720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$15M</a:t>
            </a:r>
            <a:endParaRPr lang="en-US" sz="850" dirty="0"/>
          </a:p>
        </p:txBody>
      </p:sp>
      <p:sp>
        <p:nvSpPr>
          <p:cNvPr id="88" name="Text 85"/>
          <p:cNvSpPr txBox="1"/>
          <p:nvPr/>
        </p:nvSpPr>
        <p:spPr>
          <a:xfrm>
            <a:off x="7699248" y="4956048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deals untagged — referral figures are a floor. Referrer = Account Manager on the deal.</a:t>
            </a:r>
            <a:endParaRPr lang="en-US" sz="580" dirty="0"/>
          </a:p>
        </p:txBody>
      </p:sp>
      <p:sp>
        <p:nvSpPr>
          <p:cNvPr id="89" name="Shape 86"/>
          <p:cNvSpPr/>
          <p:nvPr/>
        </p:nvSpPr>
        <p:spPr>
          <a:xfrm>
            <a:off x="411480" y="5285232"/>
            <a:ext cx="11365992" cy="1133856"/>
          </a:xfrm>
          <a:prstGeom prst="roundRect">
            <a:avLst>
              <a:gd name="adj" fmla="val 56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90" name="Text 87"/>
          <p:cNvSpPr txBox="1"/>
          <p:nvPr/>
        </p:nvSpPr>
        <p:spPr>
          <a:xfrm>
            <a:off x="612648" y="5394960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SUMMARY</a:t>
            </a:r>
            <a:endParaRPr lang="en-US" sz="1200" dirty="0"/>
          </a:p>
        </p:txBody>
      </p:sp>
      <p:sp>
        <p:nvSpPr>
          <p:cNvPr id="91" name="Text 88"/>
          <p:cNvSpPr txBox="1"/>
          <p:nvPr/>
        </p:nvSpPr>
        <p:spPr>
          <a:xfrm>
            <a:off x="612648" y="5705856"/>
            <a:ext cx="109545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buNone/>
            </a:pPr>
            <a:r>
              <a:rPr lang="en-US" sz="9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referrals convert: 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34 referred deals have produced 14 wins worth $38M GMV — 39% of everything H&amp;L Pay has signed — with $245M more in negotiation. Flow: 6 (Jun) → 2 (Jul) → 5 (Aug), 27 YTD.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buNone/>
            </a:pPr>
            <a:r>
              <a:rPr lang="en-US" sz="9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Identification is now tracked ahead of referral: 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34 accounts flagged (32 unique venues) but only 10 carry a referral date — converting identified into referred is the gap. Ho (13) and Bradford (11) identify; Bjorn has flagged 4 and referred none.</a:t>
            </a:r>
            <a:endParaRPr lang="en-US" sz="900" dirty="0"/>
          </a:p>
        </p:txBody>
      </p:sp>
      <p:sp>
        <p:nvSpPr>
          <p:cNvPr id="92" name="Shape 89"/>
          <p:cNvSpPr/>
          <p:nvPr/>
        </p:nvSpPr>
        <p:spPr>
          <a:xfrm>
            <a:off x="7150608" y="6510528"/>
            <a:ext cx="4626864" cy="256032"/>
          </a:xfrm>
          <a:prstGeom prst="roundRect">
            <a:avLst>
              <a:gd name="adj" fmla="val 46429"/>
            </a:avLst>
          </a:prstGeom>
          <a:solidFill>
            <a:srgbClr val="12293A"/>
          </a:solidFill>
          <a:ln/>
        </p:spPr>
      </p:sp>
      <p:sp>
        <p:nvSpPr>
          <p:cNvPr id="93" name="Text 90"/>
          <p:cNvSpPr txBox="1"/>
          <p:nvPr/>
        </p:nvSpPr>
        <p:spPr>
          <a:xfrm>
            <a:off x="7150608" y="6510528"/>
            <a:ext cx="4626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Source: H&amp;L identification register (live) + ValPay export as at 6 Sep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2293A"/>
          </a:solidFill>
          <a:ln/>
        </p:spPr>
      </p:sp>
      <p:sp>
        <p:nvSpPr>
          <p:cNvPr id="3" name="Shape 1"/>
          <p:cNvSpPr/>
          <p:nvPr/>
        </p:nvSpPr>
        <p:spPr>
          <a:xfrm>
            <a:off x="384048" y="155448"/>
            <a:ext cx="73152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84048" y="155448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H&amp;L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54864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Utilisation &amp; Delivery Hours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1316736" y="51206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AE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Professional Services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686800" y="82296"/>
            <a:ext cx="1965960" cy="347472"/>
          </a:xfrm>
          <a:prstGeom prst="roundRect">
            <a:avLst>
              <a:gd name="adj" fmla="val 50000"/>
            </a:avLst>
          </a:prstGeom>
          <a:solidFill>
            <a:srgbClr val="3D8F5F"/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0" y="8229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 ·  DID WE DELIVER?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686800" y="484632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B4552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0" y="48463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CUTOVER · NOW HUBSPOT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0872216" y="0"/>
            <a:ext cx="841248" cy="841248"/>
          </a:xfrm>
          <a:prstGeom prst="ellipse">
            <a:avLst/>
          </a:prstGeom>
          <a:solidFill>
            <a:srgbClr val="1C5765"/>
          </a:solidFill>
          <a:ln/>
        </p:spPr>
      </p:sp>
      <p:sp>
        <p:nvSpPr>
          <p:cNvPr id="12" name="Shape 10"/>
          <p:cNvSpPr/>
          <p:nvPr/>
        </p:nvSpPr>
        <p:spPr>
          <a:xfrm>
            <a:off x="10968228" y="96012"/>
            <a:ext cx="649224" cy="649224"/>
          </a:xfrm>
          <a:prstGeom prst="ellipse">
            <a:avLst/>
          </a:prstGeom>
          <a:solidFill>
            <a:srgbClr val="2C8394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64240" y="192024"/>
            <a:ext cx="457200" cy="457200"/>
          </a:xfrm>
          <a:prstGeom prst="ellipse">
            <a:avLst/>
          </a:prstGeom>
          <a:solidFill>
            <a:srgbClr val="6FAEBB"/>
          </a:solidFill>
          <a:ln/>
        </p:spPr>
      </p:sp>
      <p:sp>
        <p:nvSpPr>
          <p:cNvPr id="14" name="Shape 12"/>
          <p:cNvSpPr/>
          <p:nvPr/>
        </p:nvSpPr>
        <p:spPr>
          <a:xfrm>
            <a:off x="11160252" y="288036"/>
            <a:ext cx="265176" cy="265176"/>
          </a:xfrm>
          <a:prstGeom prst="ellipse">
            <a:avLst/>
          </a:prstGeom>
          <a:solidFill>
            <a:srgbClr val="E4F1F4"/>
          </a:solidFill>
          <a:ln/>
        </p:spPr>
      </p:sp>
      <p:sp>
        <p:nvSpPr>
          <p:cNvPr id="15" name="Shape 13"/>
          <p:cNvSpPr/>
          <p:nvPr/>
        </p:nvSpPr>
        <p:spPr>
          <a:xfrm>
            <a:off x="411480" y="1024128"/>
            <a:ext cx="3639312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76072" y="1115568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BILLABLE UTILISATION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557784" y="1298448"/>
            <a:ext cx="33467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8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4.7%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576072" y="1691640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16.07h billed of 342h available · target 80%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4233672" y="1024128"/>
            <a:ext cx="3639312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398264" y="1115568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AVAILABLE HOURS — THIS WEEK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379976" y="1298448"/>
            <a:ext cx="33467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342h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4398264" y="1691640"/>
            <a:ext cx="3310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 people assigned to PS-pipeline tickets × 38h standard week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8055864" y="1024128"/>
            <a:ext cx="3721608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220456" y="1115568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TIME-LOGGING COVERAGE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202168" y="1298448"/>
            <a:ext cx="34290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8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10%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8220456" y="1691640"/>
            <a:ext cx="3392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 of 132 PS items raised this week carry hours — utilisation reads low because logging is ramping, not because delivery stopped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411480" y="2395728"/>
            <a:ext cx="6583680" cy="356616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12648" y="2505456"/>
            <a:ext cx="6181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BILLABLE BY EMPLOYEE  </a:t>
            </a:r>
            <a:pPr indent="0" marL="0">
              <a:buNone/>
            </a:pPr>
            <a:r>
              <a:rPr lang="en-US" sz="7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hours logged against 38h available each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28346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PS TEAM MEMBER</a:t>
            </a:r>
            <a:endParaRPr lang="en-US" sz="700" dirty="0"/>
          </a:p>
        </p:txBody>
      </p:sp>
      <p:sp>
        <p:nvSpPr>
          <p:cNvPr id="30" name="Text 28"/>
          <p:cNvSpPr txBox="1"/>
          <p:nvPr/>
        </p:nvSpPr>
        <p:spPr>
          <a:xfrm>
            <a:off x="5029200" y="28346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HOURS</a:t>
            </a:r>
            <a:endParaRPr lang="en-US" sz="700" dirty="0"/>
          </a:p>
        </p:txBody>
      </p:sp>
      <p:sp>
        <p:nvSpPr>
          <p:cNvPr id="31" name="Text 29"/>
          <p:cNvSpPr txBox="1"/>
          <p:nvPr/>
        </p:nvSpPr>
        <p:spPr>
          <a:xfrm>
            <a:off x="5943600" y="28346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UTIL %</a:t>
            </a:r>
            <a:endParaRPr lang="en-US" sz="700" dirty="0"/>
          </a:p>
        </p:txBody>
      </p:sp>
      <p:sp>
        <p:nvSpPr>
          <p:cNvPr id="32" name="Text 30"/>
          <p:cNvSpPr txBox="1"/>
          <p:nvPr/>
        </p:nvSpPr>
        <p:spPr>
          <a:xfrm>
            <a:off x="2468880" y="2816352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0%</a:t>
            </a:r>
            <a:endParaRPr lang="en-US" sz="650" dirty="0"/>
          </a:p>
        </p:txBody>
      </p:sp>
      <p:sp>
        <p:nvSpPr>
          <p:cNvPr id="33" name="Text 31"/>
          <p:cNvSpPr txBox="1"/>
          <p:nvPr/>
        </p:nvSpPr>
        <p:spPr>
          <a:xfrm>
            <a:off x="2743200" y="2816352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20%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2944368" y="3017520"/>
            <a:ext cx="5486" cy="2139696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3218688" y="2816352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40%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3419856" y="3017520"/>
            <a:ext cx="5486" cy="2139696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3694176" y="2816352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60%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3895344" y="3017520"/>
            <a:ext cx="5486" cy="2139696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4169664" y="2816352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80%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4370832" y="3017520"/>
            <a:ext cx="5486" cy="2139696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4443984" y="2816352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100%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4846320" y="3017520"/>
            <a:ext cx="5486" cy="2139696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40080" y="3054096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Rhys Woolcock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468880" y="3143250"/>
            <a:ext cx="2377440" cy="59436"/>
          </a:xfrm>
          <a:prstGeom prst="roundRect">
            <a:avLst>
              <a:gd name="adj" fmla="val 49231"/>
            </a:avLst>
          </a:prstGeom>
          <a:solidFill>
            <a:srgbClr val="E2EA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468880" y="3143250"/>
            <a:ext cx="865388" cy="59436"/>
          </a:xfrm>
          <a:prstGeom prst="roundRect">
            <a:avLst>
              <a:gd name="adj" fmla="val 49231"/>
            </a:avLst>
          </a:prstGeom>
          <a:solidFill>
            <a:srgbClr val="2C8394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5029200" y="305409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13.82h</a:t>
            </a:r>
            <a:endParaRPr lang="en-US" sz="800" dirty="0"/>
          </a:p>
        </p:txBody>
      </p:sp>
      <p:sp>
        <p:nvSpPr>
          <p:cNvPr id="47" name="Text 45"/>
          <p:cNvSpPr txBox="1"/>
          <p:nvPr/>
        </p:nvSpPr>
        <p:spPr>
          <a:xfrm>
            <a:off x="5943600" y="305409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36.4%</a:t>
            </a:r>
            <a:endParaRPr lang="en-US" sz="800" dirty="0"/>
          </a:p>
        </p:txBody>
      </p:sp>
      <p:sp>
        <p:nvSpPr>
          <p:cNvPr id="48" name="Text 46"/>
          <p:cNvSpPr txBox="1"/>
          <p:nvPr/>
        </p:nvSpPr>
        <p:spPr>
          <a:xfrm>
            <a:off x="640080" y="329184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Gregory St Clare-Hobbs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468880" y="3380994"/>
            <a:ext cx="2377440" cy="59436"/>
          </a:xfrm>
          <a:prstGeom prst="roundRect">
            <a:avLst>
              <a:gd name="adj" fmla="val 49231"/>
            </a:avLst>
          </a:prstGeom>
          <a:solidFill>
            <a:srgbClr val="E2EA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468880" y="3380994"/>
            <a:ext cx="92720" cy="59436"/>
          </a:xfrm>
          <a:prstGeom prst="roundRect">
            <a:avLst>
              <a:gd name="adj" fmla="val 49231"/>
            </a:avLst>
          </a:prstGeom>
          <a:solidFill>
            <a:srgbClr val="2C8394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5029200" y="329184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1.50h</a:t>
            </a:r>
            <a:endParaRPr lang="en-US" sz="800" dirty="0"/>
          </a:p>
        </p:txBody>
      </p:sp>
      <p:sp>
        <p:nvSpPr>
          <p:cNvPr id="52" name="Text 50"/>
          <p:cNvSpPr txBox="1"/>
          <p:nvPr/>
        </p:nvSpPr>
        <p:spPr>
          <a:xfrm>
            <a:off x="5943600" y="329184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3.9%</a:t>
            </a:r>
            <a:endParaRPr lang="en-US" sz="800" dirty="0"/>
          </a:p>
        </p:txBody>
      </p:sp>
      <p:sp>
        <p:nvSpPr>
          <p:cNvPr id="53" name="Text 51"/>
          <p:cNvSpPr txBox="1"/>
          <p:nvPr/>
        </p:nvSpPr>
        <p:spPr>
          <a:xfrm>
            <a:off x="640080" y="352958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Isayah Kuhlmann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468880" y="3618738"/>
            <a:ext cx="2377440" cy="59436"/>
          </a:xfrm>
          <a:prstGeom prst="roundRect">
            <a:avLst>
              <a:gd name="adj" fmla="val 49231"/>
            </a:avLst>
          </a:prstGeom>
          <a:solidFill>
            <a:srgbClr val="E2EA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468880" y="3618738"/>
            <a:ext cx="45720" cy="59436"/>
          </a:xfrm>
          <a:prstGeom prst="roundRect">
            <a:avLst>
              <a:gd name="adj" fmla="val 64000"/>
            </a:avLst>
          </a:prstGeom>
          <a:solidFill>
            <a:srgbClr val="2C8394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5029200" y="352958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0.50h</a:t>
            </a:r>
            <a:endParaRPr lang="en-US" sz="800" dirty="0"/>
          </a:p>
        </p:txBody>
      </p:sp>
      <p:sp>
        <p:nvSpPr>
          <p:cNvPr id="57" name="Text 55"/>
          <p:cNvSpPr txBox="1"/>
          <p:nvPr/>
        </p:nvSpPr>
        <p:spPr>
          <a:xfrm>
            <a:off x="5943600" y="352958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1.3%</a:t>
            </a:r>
            <a:endParaRPr lang="en-US" sz="800" dirty="0"/>
          </a:p>
        </p:txBody>
      </p:sp>
      <p:sp>
        <p:nvSpPr>
          <p:cNvPr id="58" name="Text 56"/>
          <p:cNvSpPr txBox="1"/>
          <p:nvPr/>
        </p:nvSpPr>
        <p:spPr>
          <a:xfrm>
            <a:off x="640080" y="376732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Joshua Casey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2468880" y="3856482"/>
            <a:ext cx="2377440" cy="59436"/>
          </a:xfrm>
          <a:prstGeom prst="roundRect">
            <a:avLst>
              <a:gd name="adj" fmla="val 49231"/>
            </a:avLst>
          </a:prstGeom>
          <a:solidFill>
            <a:srgbClr val="E2EA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468880" y="3856482"/>
            <a:ext cx="45720" cy="59436"/>
          </a:xfrm>
          <a:prstGeom prst="roundRect">
            <a:avLst>
              <a:gd name="adj" fmla="val 64000"/>
            </a:avLst>
          </a:prstGeom>
          <a:solidFill>
            <a:srgbClr val="2C8394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5029200" y="376732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0.25h</a:t>
            </a:r>
            <a:endParaRPr lang="en-US" sz="800" dirty="0"/>
          </a:p>
        </p:txBody>
      </p:sp>
      <p:sp>
        <p:nvSpPr>
          <p:cNvPr id="62" name="Text 60"/>
          <p:cNvSpPr txBox="1"/>
          <p:nvPr/>
        </p:nvSpPr>
        <p:spPr>
          <a:xfrm>
            <a:off x="5943600" y="376732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0.7%</a:t>
            </a:r>
            <a:endParaRPr lang="en-US" sz="800" dirty="0"/>
          </a:p>
        </p:txBody>
      </p:sp>
      <p:sp>
        <p:nvSpPr>
          <p:cNvPr id="63" name="Text 61"/>
          <p:cNvSpPr txBox="1"/>
          <p:nvPr/>
        </p:nvSpPr>
        <p:spPr>
          <a:xfrm>
            <a:off x="640080" y="400507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Rodney Nolan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2468880" y="4094226"/>
            <a:ext cx="2377440" cy="59436"/>
          </a:xfrm>
          <a:prstGeom prst="roundRect">
            <a:avLst>
              <a:gd name="adj" fmla="val 49231"/>
            </a:avLst>
          </a:prstGeom>
          <a:solidFill>
            <a:srgbClr val="E2EAEE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5029200" y="400507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800" dirty="0"/>
          </a:p>
        </p:txBody>
      </p:sp>
      <p:sp>
        <p:nvSpPr>
          <p:cNvPr id="66" name="Text 64"/>
          <p:cNvSpPr txBox="1"/>
          <p:nvPr/>
        </p:nvSpPr>
        <p:spPr>
          <a:xfrm>
            <a:off x="5943600" y="400507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time logged</a:t>
            </a:r>
            <a:endParaRPr lang="en-US" sz="600" dirty="0"/>
          </a:p>
        </p:txBody>
      </p:sp>
      <p:sp>
        <p:nvSpPr>
          <p:cNvPr id="67" name="Text 65"/>
          <p:cNvSpPr txBox="1"/>
          <p:nvPr/>
        </p:nvSpPr>
        <p:spPr>
          <a:xfrm>
            <a:off x="640080" y="4242816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Karim AlRifaii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2468880" y="4331970"/>
            <a:ext cx="2377440" cy="59436"/>
          </a:xfrm>
          <a:prstGeom prst="roundRect">
            <a:avLst>
              <a:gd name="adj" fmla="val 49231"/>
            </a:avLst>
          </a:prstGeom>
          <a:solidFill>
            <a:srgbClr val="E2EAEE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5029200" y="424281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800" dirty="0"/>
          </a:p>
        </p:txBody>
      </p:sp>
      <p:sp>
        <p:nvSpPr>
          <p:cNvPr id="70" name="Text 68"/>
          <p:cNvSpPr txBox="1"/>
          <p:nvPr/>
        </p:nvSpPr>
        <p:spPr>
          <a:xfrm>
            <a:off x="5943600" y="424281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time logged</a:t>
            </a:r>
            <a:endParaRPr lang="en-US" sz="600" dirty="0"/>
          </a:p>
        </p:txBody>
      </p:sp>
      <p:sp>
        <p:nvSpPr>
          <p:cNvPr id="71" name="Text 69"/>
          <p:cNvSpPr txBox="1"/>
          <p:nvPr/>
        </p:nvSpPr>
        <p:spPr>
          <a:xfrm>
            <a:off x="640080" y="448056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Ryan Neil Orande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2468880" y="4569714"/>
            <a:ext cx="2377440" cy="59436"/>
          </a:xfrm>
          <a:prstGeom prst="roundRect">
            <a:avLst>
              <a:gd name="adj" fmla="val 49231"/>
            </a:avLst>
          </a:prstGeom>
          <a:solidFill>
            <a:srgbClr val="E2EAEE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5029200" y="448056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800" dirty="0"/>
          </a:p>
        </p:txBody>
      </p:sp>
      <p:sp>
        <p:nvSpPr>
          <p:cNvPr id="74" name="Text 72"/>
          <p:cNvSpPr txBox="1"/>
          <p:nvPr/>
        </p:nvSpPr>
        <p:spPr>
          <a:xfrm>
            <a:off x="5943600" y="448056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time logged</a:t>
            </a:r>
            <a:endParaRPr lang="en-US" sz="600" dirty="0"/>
          </a:p>
        </p:txBody>
      </p:sp>
      <p:sp>
        <p:nvSpPr>
          <p:cNvPr id="75" name="Text 73"/>
          <p:cNvSpPr txBox="1"/>
          <p:nvPr/>
        </p:nvSpPr>
        <p:spPr>
          <a:xfrm>
            <a:off x="640080" y="471830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Argenis Rafael Guevara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2468880" y="4807458"/>
            <a:ext cx="2377440" cy="59436"/>
          </a:xfrm>
          <a:prstGeom prst="roundRect">
            <a:avLst>
              <a:gd name="adj" fmla="val 49231"/>
            </a:avLst>
          </a:prstGeom>
          <a:solidFill>
            <a:srgbClr val="E2EAEE"/>
          </a:solidFill>
          <a:ln/>
        </p:spPr>
      </p:sp>
      <p:sp>
        <p:nvSpPr>
          <p:cNvPr id="77" name="Text 75"/>
          <p:cNvSpPr txBox="1"/>
          <p:nvPr/>
        </p:nvSpPr>
        <p:spPr>
          <a:xfrm>
            <a:off x="5029200" y="471830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800" dirty="0"/>
          </a:p>
        </p:txBody>
      </p:sp>
      <p:sp>
        <p:nvSpPr>
          <p:cNvPr id="78" name="Text 76"/>
          <p:cNvSpPr txBox="1"/>
          <p:nvPr/>
        </p:nvSpPr>
        <p:spPr>
          <a:xfrm>
            <a:off x="5943600" y="471830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time logged</a:t>
            </a:r>
            <a:endParaRPr lang="en-US" sz="600" dirty="0"/>
          </a:p>
        </p:txBody>
      </p:sp>
      <p:sp>
        <p:nvSpPr>
          <p:cNvPr id="79" name="Text 77"/>
          <p:cNvSpPr txBox="1"/>
          <p:nvPr/>
        </p:nvSpPr>
        <p:spPr>
          <a:xfrm>
            <a:off x="640080" y="495604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Isaac Mercado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2468880" y="5045202"/>
            <a:ext cx="2377440" cy="59436"/>
          </a:xfrm>
          <a:prstGeom prst="roundRect">
            <a:avLst>
              <a:gd name="adj" fmla="val 49231"/>
            </a:avLst>
          </a:prstGeom>
          <a:solidFill>
            <a:srgbClr val="E2EAEE"/>
          </a:solidFill>
          <a:ln/>
        </p:spPr>
      </p:sp>
      <p:sp>
        <p:nvSpPr>
          <p:cNvPr id="81" name="Text 79"/>
          <p:cNvSpPr txBox="1"/>
          <p:nvPr/>
        </p:nvSpPr>
        <p:spPr>
          <a:xfrm>
            <a:off x="5029200" y="495604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800" dirty="0"/>
          </a:p>
        </p:txBody>
      </p:sp>
      <p:sp>
        <p:nvSpPr>
          <p:cNvPr id="82" name="Text 80"/>
          <p:cNvSpPr txBox="1"/>
          <p:nvPr/>
        </p:nvSpPr>
        <p:spPr>
          <a:xfrm>
            <a:off x="5943600" y="495604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time logged</a:t>
            </a:r>
            <a:endParaRPr lang="en-US" sz="600" dirty="0"/>
          </a:p>
        </p:txBody>
      </p:sp>
      <p:sp>
        <p:nvSpPr>
          <p:cNvPr id="83" name="Shape 81"/>
          <p:cNvSpPr/>
          <p:nvPr/>
        </p:nvSpPr>
        <p:spPr>
          <a:xfrm>
            <a:off x="640080" y="5230368"/>
            <a:ext cx="6126480" cy="10973"/>
          </a:xfrm>
          <a:prstGeom prst="rect">
            <a:avLst/>
          </a:prstGeom>
          <a:solidFill>
            <a:srgbClr val="12293A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640080" y="526694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TOTAL</a:t>
            </a:r>
            <a:endParaRPr lang="en-US" sz="850" dirty="0"/>
          </a:p>
        </p:txBody>
      </p:sp>
      <p:sp>
        <p:nvSpPr>
          <p:cNvPr id="85" name="Text 83"/>
          <p:cNvSpPr txBox="1"/>
          <p:nvPr/>
        </p:nvSpPr>
        <p:spPr>
          <a:xfrm>
            <a:off x="2468880" y="526694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 PS people × 38h = 342h available</a:t>
            </a:r>
            <a:endParaRPr lang="en-US" sz="700" dirty="0"/>
          </a:p>
        </p:txBody>
      </p:sp>
      <p:sp>
        <p:nvSpPr>
          <p:cNvPr id="86" name="Text 84"/>
          <p:cNvSpPr txBox="1"/>
          <p:nvPr/>
        </p:nvSpPr>
        <p:spPr>
          <a:xfrm>
            <a:off x="5029200" y="526694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16.07h</a:t>
            </a:r>
            <a:endParaRPr lang="en-US" sz="950" dirty="0"/>
          </a:p>
        </p:txBody>
      </p:sp>
      <p:sp>
        <p:nvSpPr>
          <p:cNvPr id="87" name="Text 85"/>
          <p:cNvSpPr txBox="1"/>
          <p:nvPr/>
        </p:nvSpPr>
        <p:spPr>
          <a:xfrm>
            <a:off x="5943600" y="526694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88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4.7%</a:t>
            </a:r>
            <a:endParaRPr lang="en-US" sz="950" dirty="0"/>
          </a:p>
        </p:txBody>
      </p:sp>
      <p:sp>
        <p:nvSpPr>
          <p:cNvPr id="88" name="Text 86"/>
          <p:cNvSpPr txBox="1"/>
          <p:nvPr/>
        </p:nvSpPr>
        <p:spPr>
          <a:xfrm>
            <a:off x="640080" y="5614416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Available staff = the 9 Professional Services people assigned to PS-pipeline tickets open now or closed this week, at a 38h standard week. Anton Lopez, Jasmine Hikuroa, Bjorn Magabo, Phuong Ho, Katherine Fenwick and Yeran Hettiarachchy carry PS-pipeline tickets but are not Professional Services staff — they and their hours are excluded.</a:t>
            </a:r>
            <a:endParaRPr lang="en-US" sz="580" dirty="0"/>
          </a:p>
        </p:txBody>
      </p:sp>
      <p:sp>
        <p:nvSpPr>
          <p:cNvPr id="89" name="Shape 87"/>
          <p:cNvSpPr/>
          <p:nvPr/>
        </p:nvSpPr>
        <p:spPr>
          <a:xfrm>
            <a:off x="7178040" y="2395728"/>
            <a:ext cx="4599432" cy="1700784"/>
          </a:xfrm>
          <a:prstGeom prst="roundRect">
            <a:avLst>
              <a:gd name="adj" fmla="val 37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90" name="Text 88"/>
          <p:cNvSpPr txBox="1"/>
          <p:nvPr/>
        </p:nvSpPr>
        <p:spPr>
          <a:xfrm>
            <a:off x="7379208" y="2487168"/>
            <a:ext cx="4197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BILLABLE BY PS WORK  </a:t>
            </a:r>
            <a:pPr indent="0" marL="0">
              <a:buNone/>
            </a:pPr>
            <a:r>
              <a:rPr lang="en-US" sz="6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share of hours logged</a:t>
            </a:r>
            <a:endParaRPr lang="en-US" sz="1100" dirty="0"/>
          </a:p>
        </p:txBody>
      </p:sp>
      <p:sp>
        <p:nvSpPr>
          <p:cNvPr id="91" name="Text 89"/>
          <p:cNvSpPr txBox="1"/>
          <p:nvPr/>
        </p:nvSpPr>
        <p:spPr>
          <a:xfrm>
            <a:off x="7379208" y="27432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SERVICE TYPE</a:t>
            </a:r>
            <a:endParaRPr lang="en-US" sz="680" dirty="0"/>
          </a:p>
        </p:txBody>
      </p:sp>
      <p:sp>
        <p:nvSpPr>
          <p:cNvPr id="92" name="Text 90"/>
          <p:cNvSpPr txBox="1"/>
          <p:nvPr/>
        </p:nvSpPr>
        <p:spPr>
          <a:xfrm>
            <a:off x="10287000" y="274320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HOURS</a:t>
            </a:r>
            <a:endParaRPr lang="en-US" sz="680" dirty="0"/>
          </a:p>
        </p:txBody>
      </p:sp>
      <p:sp>
        <p:nvSpPr>
          <p:cNvPr id="93" name="Text 91"/>
          <p:cNvSpPr txBox="1"/>
          <p:nvPr/>
        </p:nvSpPr>
        <p:spPr>
          <a:xfrm>
            <a:off x="10972800" y="2743200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SHARE</a:t>
            </a:r>
            <a:endParaRPr lang="en-US" sz="680" dirty="0"/>
          </a:p>
        </p:txBody>
      </p:sp>
      <p:sp>
        <p:nvSpPr>
          <p:cNvPr id="94" name="Text 92"/>
          <p:cNvSpPr txBox="1"/>
          <p:nvPr/>
        </p:nvSpPr>
        <p:spPr>
          <a:xfrm>
            <a:off x="7379208" y="2907792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8823960" y="2964942"/>
            <a:ext cx="1371600" cy="59436"/>
          </a:xfrm>
          <a:prstGeom prst="roundRect">
            <a:avLst>
              <a:gd name="adj" fmla="val 49231"/>
            </a:avLst>
          </a:prstGeom>
          <a:solidFill>
            <a:srgbClr val="E2EAEE"/>
          </a:solidFill>
          <a:ln/>
        </p:spPr>
      </p:sp>
      <p:sp>
        <p:nvSpPr>
          <p:cNvPr id="96" name="Shape 94"/>
          <p:cNvSpPr/>
          <p:nvPr/>
        </p:nvSpPr>
        <p:spPr>
          <a:xfrm>
            <a:off x="8823960" y="2964942"/>
            <a:ext cx="1371600" cy="59436"/>
          </a:xfrm>
          <a:prstGeom prst="roundRect">
            <a:avLst>
              <a:gd name="adj" fmla="val 49231"/>
            </a:avLst>
          </a:prstGeom>
          <a:solidFill>
            <a:srgbClr val="2C8394"/>
          </a:solidFill>
          <a:ln/>
        </p:spPr>
      </p:sp>
      <p:sp>
        <p:nvSpPr>
          <p:cNvPr id="97" name="Text 95"/>
          <p:cNvSpPr txBox="1"/>
          <p:nvPr/>
        </p:nvSpPr>
        <p:spPr>
          <a:xfrm>
            <a:off x="10287000" y="2907792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16.00h</a:t>
            </a:r>
            <a:endParaRPr lang="en-US" sz="800" dirty="0"/>
          </a:p>
        </p:txBody>
      </p:sp>
      <p:sp>
        <p:nvSpPr>
          <p:cNvPr id="98" name="Text 96"/>
          <p:cNvSpPr txBox="1"/>
          <p:nvPr/>
        </p:nvSpPr>
        <p:spPr>
          <a:xfrm>
            <a:off x="10972800" y="2907792"/>
            <a:ext cx="6035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99.6%</a:t>
            </a:r>
            <a:endParaRPr lang="en-US" sz="800" dirty="0"/>
          </a:p>
        </p:txBody>
      </p:sp>
      <p:sp>
        <p:nvSpPr>
          <p:cNvPr id="99" name="Text 97"/>
          <p:cNvSpPr txBox="1"/>
          <p:nvPr/>
        </p:nvSpPr>
        <p:spPr>
          <a:xfrm>
            <a:off x="7379208" y="3081528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Integration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8823960" y="3138678"/>
            <a:ext cx="1371600" cy="59436"/>
          </a:xfrm>
          <a:prstGeom prst="roundRect">
            <a:avLst>
              <a:gd name="adj" fmla="val 49231"/>
            </a:avLst>
          </a:prstGeom>
          <a:solidFill>
            <a:srgbClr val="E2EA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8823960" y="3138678"/>
            <a:ext cx="45720" cy="59436"/>
          </a:xfrm>
          <a:prstGeom prst="roundRect">
            <a:avLst>
              <a:gd name="adj" fmla="val 64000"/>
            </a:avLst>
          </a:prstGeom>
          <a:solidFill>
            <a:srgbClr val="2C8394"/>
          </a:solidFill>
          <a:ln/>
        </p:spPr>
      </p:sp>
      <p:sp>
        <p:nvSpPr>
          <p:cNvPr id="102" name="Text 100"/>
          <p:cNvSpPr txBox="1"/>
          <p:nvPr/>
        </p:nvSpPr>
        <p:spPr>
          <a:xfrm>
            <a:off x="10287000" y="3081528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0.07h</a:t>
            </a:r>
            <a:endParaRPr lang="en-US" sz="800" dirty="0"/>
          </a:p>
        </p:txBody>
      </p:sp>
      <p:sp>
        <p:nvSpPr>
          <p:cNvPr id="103" name="Text 101"/>
          <p:cNvSpPr txBox="1"/>
          <p:nvPr/>
        </p:nvSpPr>
        <p:spPr>
          <a:xfrm>
            <a:off x="10972800" y="3081528"/>
            <a:ext cx="6035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0.4%</a:t>
            </a:r>
            <a:endParaRPr lang="en-US" sz="800" dirty="0"/>
          </a:p>
        </p:txBody>
      </p:sp>
      <p:sp>
        <p:nvSpPr>
          <p:cNvPr id="104" name="Text 102"/>
          <p:cNvSpPr txBox="1"/>
          <p:nvPr/>
        </p:nvSpPr>
        <p:spPr>
          <a:xfrm>
            <a:off x="7379208" y="3255264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Onboarding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8823960" y="3312414"/>
            <a:ext cx="1371600" cy="59436"/>
          </a:xfrm>
          <a:prstGeom prst="roundRect">
            <a:avLst>
              <a:gd name="adj" fmla="val 49231"/>
            </a:avLst>
          </a:prstGeom>
          <a:solidFill>
            <a:srgbClr val="E2EAEE"/>
          </a:solidFill>
          <a:ln/>
        </p:spPr>
      </p:sp>
      <p:sp>
        <p:nvSpPr>
          <p:cNvPr id="106" name="Text 104"/>
          <p:cNvSpPr txBox="1"/>
          <p:nvPr/>
        </p:nvSpPr>
        <p:spPr>
          <a:xfrm>
            <a:off x="10287000" y="3255264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800" dirty="0"/>
          </a:p>
        </p:txBody>
      </p:sp>
      <p:sp>
        <p:nvSpPr>
          <p:cNvPr id="107" name="Text 105"/>
          <p:cNvSpPr txBox="1"/>
          <p:nvPr/>
        </p:nvSpPr>
        <p:spPr>
          <a:xfrm>
            <a:off x="10972800" y="3255264"/>
            <a:ext cx="6035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none</a:t>
            </a:r>
            <a:endParaRPr lang="en-US" sz="650" dirty="0"/>
          </a:p>
        </p:txBody>
      </p:sp>
      <p:sp>
        <p:nvSpPr>
          <p:cNvPr id="108" name="Text 106"/>
          <p:cNvSpPr txBox="1"/>
          <p:nvPr/>
        </p:nvSpPr>
        <p:spPr>
          <a:xfrm>
            <a:off x="7379208" y="3429000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Training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8823960" y="3486150"/>
            <a:ext cx="1371600" cy="59436"/>
          </a:xfrm>
          <a:prstGeom prst="roundRect">
            <a:avLst>
              <a:gd name="adj" fmla="val 49231"/>
            </a:avLst>
          </a:prstGeom>
          <a:solidFill>
            <a:srgbClr val="E2EAEE"/>
          </a:solidFill>
          <a:ln/>
        </p:spPr>
      </p:sp>
      <p:sp>
        <p:nvSpPr>
          <p:cNvPr id="110" name="Text 108"/>
          <p:cNvSpPr txBox="1"/>
          <p:nvPr/>
        </p:nvSpPr>
        <p:spPr>
          <a:xfrm>
            <a:off x="10287000" y="3429000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800" dirty="0"/>
          </a:p>
        </p:txBody>
      </p:sp>
      <p:sp>
        <p:nvSpPr>
          <p:cNvPr id="111" name="Text 109"/>
          <p:cNvSpPr txBox="1"/>
          <p:nvPr/>
        </p:nvSpPr>
        <p:spPr>
          <a:xfrm>
            <a:off x="10972800" y="3429000"/>
            <a:ext cx="6035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none</a:t>
            </a:r>
            <a:endParaRPr lang="en-US" sz="650" dirty="0"/>
          </a:p>
        </p:txBody>
      </p:sp>
      <p:sp>
        <p:nvSpPr>
          <p:cNvPr id="112" name="Text 110"/>
          <p:cNvSpPr txBox="1"/>
          <p:nvPr/>
        </p:nvSpPr>
        <p:spPr>
          <a:xfrm>
            <a:off x="7379208" y="3602736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Warranty</a:t>
            </a:r>
            <a:endParaRPr lang="en-US" sz="800" dirty="0"/>
          </a:p>
        </p:txBody>
      </p:sp>
      <p:sp>
        <p:nvSpPr>
          <p:cNvPr id="113" name="Shape 111"/>
          <p:cNvSpPr/>
          <p:nvPr/>
        </p:nvSpPr>
        <p:spPr>
          <a:xfrm>
            <a:off x="8823960" y="3659886"/>
            <a:ext cx="1371600" cy="59436"/>
          </a:xfrm>
          <a:prstGeom prst="roundRect">
            <a:avLst>
              <a:gd name="adj" fmla="val 49231"/>
            </a:avLst>
          </a:prstGeom>
          <a:solidFill>
            <a:srgbClr val="E2EAEE"/>
          </a:solidFill>
          <a:ln/>
        </p:spPr>
      </p:sp>
      <p:sp>
        <p:nvSpPr>
          <p:cNvPr id="114" name="Text 112"/>
          <p:cNvSpPr txBox="1"/>
          <p:nvPr/>
        </p:nvSpPr>
        <p:spPr>
          <a:xfrm>
            <a:off x="10287000" y="3602736"/>
            <a:ext cx="640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800" dirty="0"/>
          </a:p>
        </p:txBody>
      </p:sp>
      <p:sp>
        <p:nvSpPr>
          <p:cNvPr id="115" name="Text 113"/>
          <p:cNvSpPr txBox="1"/>
          <p:nvPr/>
        </p:nvSpPr>
        <p:spPr>
          <a:xfrm>
            <a:off x="10972800" y="3602736"/>
            <a:ext cx="6035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none</a:t>
            </a:r>
            <a:endParaRPr lang="en-US" sz="650" dirty="0"/>
          </a:p>
        </p:txBody>
      </p:sp>
      <p:sp>
        <p:nvSpPr>
          <p:cNvPr id="116" name="Shape 114"/>
          <p:cNvSpPr/>
          <p:nvPr/>
        </p:nvSpPr>
        <p:spPr>
          <a:xfrm>
            <a:off x="7379208" y="3803904"/>
            <a:ext cx="4197096" cy="10973"/>
          </a:xfrm>
          <a:prstGeom prst="rect">
            <a:avLst/>
          </a:prstGeom>
          <a:solidFill>
            <a:srgbClr val="12293A"/>
          </a:solidFill>
          <a:ln/>
        </p:spPr>
      </p:sp>
      <p:sp>
        <p:nvSpPr>
          <p:cNvPr id="117" name="Text 115"/>
          <p:cNvSpPr txBox="1"/>
          <p:nvPr/>
        </p:nvSpPr>
        <p:spPr>
          <a:xfrm>
            <a:off x="7379208" y="383133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TOTAL</a:t>
            </a:r>
            <a:endParaRPr lang="en-US" sz="850" dirty="0"/>
          </a:p>
        </p:txBody>
      </p:sp>
      <p:sp>
        <p:nvSpPr>
          <p:cNvPr id="118" name="Text 116"/>
          <p:cNvSpPr txBox="1"/>
          <p:nvPr/>
        </p:nvSpPr>
        <p:spPr>
          <a:xfrm>
            <a:off x="8823960" y="383133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 PS items carry time</a:t>
            </a:r>
            <a:endParaRPr lang="en-US" sz="650" dirty="0"/>
          </a:p>
        </p:txBody>
      </p:sp>
      <p:sp>
        <p:nvSpPr>
          <p:cNvPr id="119" name="Text 117"/>
          <p:cNvSpPr txBox="1"/>
          <p:nvPr/>
        </p:nvSpPr>
        <p:spPr>
          <a:xfrm>
            <a:off x="10287000" y="383133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16.07h</a:t>
            </a:r>
            <a:endParaRPr lang="en-US" sz="900" dirty="0"/>
          </a:p>
        </p:txBody>
      </p:sp>
      <p:sp>
        <p:nvSpPr>
          <p:cNvPr id="120" name="Text 118"/>
          <p:cNvSpPr txBox="1"/>
          <p:nvPr/>
        </p:nvSpPr>
        <p:spPr>
          <a:xfrm>
            <a:off x="10972800" y="3831336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100%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7178040" y="4224528"/>
            <a:ext cx="4599432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122" name="Text 120"/>
          <p:cNvSpPr txBox="1"/>
          <p:nvPr/>
        </p:nvSpPr>
        <p:spPr>
          <a:xfrm>
            <a:off x="7379208" y="4334256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SUMMARY</a:t>
            </a:r>
            <a:endParaRPr lang="en-US" sz="1200" dirty="0"/>
          </a:p>
        </p:txBody>
      </p:sp>
      <p:sp>
        <p:nvSpPr>
          <p:cNvPr id="123" name="Text 121"/>
          <p:cNvSpPr txBox="1"/>
          <p:nvPr/>
        </p:nvSpPr>
        <p:spPr>
          <a:xfrm>
            <a:off x="7379208" y="4645152"/>
            <a:ext cx="4187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buNone/>
            </a:pPr>
            <a:r>
              <a:rPr lang="en-US" sz="9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4.7% billable utilisation is a logging number, not a delivery number. 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16.07h landed against 342h of capacity, but only 10% of the week's 132 PS items carry hours.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C88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buNone/>
            </a:pPr>
            <a:r>
              <a:rPr lang="en-US" sz="9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Two people carry 95% of the logged total. 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Rhys Woolcock 13.82h (36.4% of a 38h week) and Gregory St Clare-Hobbs 1.50h (3.9%); 5 PS members logged nothing at all.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buNone/>
            </a:pPr>
            <a:r>
              <a:rPr lang="en-US" sz="9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 is landing even where hours aren't. 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64 PS cases opened this week; Tech carries 99.6% of logged time. Median time to close on PS tickets created and closed since 8 Sep: Tech 0.6 d · Integrations 1.0 d · Training 1.5 d · Onboarding no closes yet.</a:t>
            </a:r>
            <a:endParaRPr lang="en-US" sz="900" dirty="0"/>
          </a:p>
        </p:txBody>
      </p:sp>
      <p:sp>
        <p:nvSpPr>
          <p:cNvPr id="124" name="Text 122"/>
          <p:cNvSpPr txBox="1"/>
          <p:nvPr/>
        </p:nvSpPr>
        <p:spPr>
          <a:xfrm>
            <a:off x="411480" y="614476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All logged hours are treated as billable — creatio_non_billable is populated on only 3 of the 30 PS records carrying time, so billable/non-billable is not yet separable.</a:t>
            </a:r>
            <a:endParaRPr lang="en-US" sz="750" dirty="0"/>
          </a:p>
        </p:txBody>
      </p:sp>
      <p:sp>
        <p:nvSpPr>
          <p:cNvPr id="125" name="Shape 123"/>
          <p:cNvSpPr/>
          <p:nvPr/>
        </p:nvSpPr>
        <p:spPr>
          <a:xfrm>
            <a:off x="6155741" y="6510528"/>
            <a:ext cx="5621731" cy="256032"/>
          </a:xfrm>
          <a:prstGeom prst="roundRect">
            <a:avLst>
              <a:gd name="adj" fmla="val 46429"/>
            </a:avLst>
          </a:prstGeom>
          <a:solidFill>
            <a:srgbClr val="12293A"/>
          </a:solidFill>
          <a:ln/>
        </p:spPr>
      </p:sp>
      <p:sp>
        <p:nvSpPr>
          <p:cNvPr id="126" name="Text 124"/>
          <p:cNvSpPr txBox="1"/>
          <p:nvPr/>
        </p:nvSpPr>
        <p:spPr>
          <a:xfrm>
            <a:off x="6155741" y="6510528"/>
            <a:ext cx="56217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Source: HubSpot PS records (total_hours) + PS pipeline ticket owners — live, read-only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2293A"/>
          </a:solidFill>
          <a:ln/>
        </p:spPr>
      </p:sp>
      <p:sp>
        <p:nvSpPr>
          <p:cNvPr id="3" name="Shape 1"/>
          <p:cNvSpPr/>
          <p:nvPr/>
        </p:nvSpPr>
        <p:spPr>
          <a:xfrm>
            <a:off x="384048" y="155448"/>
            <a:ext cx="73152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84048" y="155448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H&amp;L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54864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Won vs Invoiced &amp; Retention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1316736" y="51206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AE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Sales, Professional Services &amp; Finance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686800" y="246888"/>
            <a:ext cx="1965960" cy="347472"/>
          </a:xfrm>
          <a:prstGeom prst="roundRect">
            <a:avLst>
              <a:gd name="adj" fmla="val 50000"/>
            </a:avLst>
          </a:prstGeom>
          <a:solidFill>
            <a:srgbClr val="3D8F5F"/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0" y="2468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 ·  DID WE DELIVER?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0872216" y="0"/>
            <a:ext cx="841248" cy="841248"/>
          </a:xfrm>
          <a:prstGeom prst="ellipse">
            <a:avLst/>
          </a:prstGeom>
          <a:solidFill>
            <a:srgbClr val="1C5765"/>
          </a:solidFill>
          <a:ln/>
        </p:spPr>
      </p:sp>
      <p:sp>
        <p:nvSpPr>
          <p:cNvPr id="10" name="Shape 8"/>
          <p:cNvSpPr/>
          <p:nvPr/>
        </p:nvSpPr>
        <p:spPr>
          <a:xfrm>
            <a:off x="10968228" y="96012"/>
            <a:ext cx="649224" cy="649224"/>
          </a:xfrm>
          <a:prstGeom prst="ellipse">
            <a:avLst/>
          </a:prstGeom>
          <a:solidFill>
            <a:srgbClr val="2C8394"/>
          </a:solidFill>
          <a:ln/>
        </p:spPr>
      </p:sp>
      <p:sp>
        <p:nvSpPr>
          <p:cNvPr id="11" name="Shape 9"/>
          <p:cNvSpPr/>
          <p:nvPr/>
        </p:nvSpPr>
        <p:spPr>
          <a:xfrm>
            <a:off x="11064240" y="192024"/>
            <a:ext cx="457200" cy="457200"/>
          </a:xfrm>
          <a:prstGeom prst="ellipse">
            <a:avLst/>
          </a:prstGeom>
          <a:solidFill>
            <a:srgbClr val="6FAEBB"/>
          </a:solidFill>
          <a:ln/>
        </p:spPr>
      </p:sp>
      <p:sp>
        <p:nvSpPr>
          <p:cNvPr id="12" name="Shape 10"/>
          <p:cNvSpPr/>
          <p:nvPr/>
        </p:nvSpPr>
        <p:spPr>
          <a:xfrm>
            <a:off x="11160252" y="288036"/>
            <a:ext cx="265176" cy="265176"/>
          </a:xfrm>
          <a:prstGeom prst="ellipse">
            <a:avLst/>
          </a:prstGeom>
          <a:solidFill>
            <a:srgbClr val="E4F1F4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" y="1005840"/>
            <a:ext cx="6720840" cy="28803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12648" y="1097280"/>
            <a:ext cx="6318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CLOSED WON ARR VS INVOICED ARR BY MONTH · 2026   </a:t>
            </a:r>
            <a:pPr indent="0" marL="0">
              <a:buNone/>
            </a:pPr>
            <a:r>
              <a:rPr lang="en-US" sz="680" dirty="0">
                <a:solidFill>
                  <a:srgbClr val="C88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frozen at cutover</a:t>
            </a:r>
            <a:endParaRPr lang="en-US" sz="115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94360" y="1335024"/>
          <a:ext cx="6318504" cy="21671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612648" y="3538728"/>
            <a:ext cx="6318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2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Frozen at cutover — Creatio ARR basis, as last published. Aug–Sep are not plotted: HubSpot closed-won is deal amount, not the Creatio ARR measure, so a new series starts once the post-cutover months are confirmed.</a:t>
            </a:r>
            <a:endParaRPr lang="en-US" sz="620" dirty="0"/>
          </a:p>
        </p:txBody>
      </p:sp>
      <p:sp>
        <p:nvSpPr>
          <p:cNvPr id="17" name="Shape 14"/>
          <p:cNvSpPr/>
          <p:nvPr/>
        </p:nvSpPr>
        <p:spPr>
          <a:xfrm>
            <a:off x="7269480" y="1005840"/>
            <a:ext cx="4507992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7434072" y="1097280"/>
            <a:ext cx="4178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AWAITING GO-LIVE — ARR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7415784" y="1280160"/>
            <a:ext cx="4215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8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$250k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7434072" y="1609344"/>
            <a:ext cx="4178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497 deals won since Mar · 277 invoiced · 220 outstanding</a:t>
            </a:r>
            <a:endParaRPr lang="en-US" sz="780" dirty="0"/>
          </a:p>
        </p:txBody>
      </p:sp>
      <p:sp>
        <p:nvSpPr>
          <p:cNvPr id="21" name="Shape 18"/>
          <p:cNvSpPr/>
          <p:nvPr/>
        </p:nvSpPr>
        <p:spPr>
          <a:xfrm>
            <a:off x="7269480" y="1993392"/>
            <a:ext cx="4507992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7434072" y="2084832"/>
            <a:ext cx="4178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CHURNED ARR · 2025→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7415784" y="2267712"/>
            <a:ext cx="4215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$1.17M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7434072" y="2596896"/>
            <a:ext cx="4178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262 logos lost · register live</a:t>
            </a:r>
            <a:endParaRPr lang="en-US" sz="780" dirty="0"/>
          </a:p>
        </p:txBody>
      </p:sp>
      <p:sp>
        <p:nvSpPr>
          <p:cNvPr id="25" name="Shape 22"/>
          <p:cNvSpPr/>
          <p:nvPr/>
        </p:nvSpPr>
        <p:spPr>
          <a:xfrm>
            <a:off x="7269480" y="2980944"/>
            <a:ext cx="4507992" cy="905256"/>
          </a:xfrm>
          <a:prstGeom prst="roundRect">
            <a:avLst>
              <a:gd name="adj" fmla="val 70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7434072" y="3072384"/>
            <a:ext cx="4178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NET MRR MOVEMENT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7415784" y="3255264"/>
            <a:ext cx="4215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-$6.3k</a:t>
            </a:r>
            <a:endParaRPr lang="en-US" sz="2000" dirty="0"/>
          </a:p>
        </p:txBody>
      </p:sp>
      <p:sp>
        <p:nvSpPr>
          <p:cNvPr id="28" name="Text 25"/>
          <p:cNvSpPr txBox="1"/>
          <p:nvPr/>
        </p:nvSpPr>
        <p:spPr>
          <a:xfrm>
            <a:off x="7434072" y="3584448"/>
            <a:ext cx="4178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Q3 (Jul–Sep) · movement register, live — the base is still shrinking</a:t>
            </a:r>
            <a:endParaRPr lang="en-US" sz="780" dirty="0"/>
          </a:p>
        </p:txBody>
      </p:sp>
      <p:sp>
        <p:nvSpPr>
          <p:cNvPr id="29" name="Shape 26"/>
          <p:cNvSpPr/>
          <p:nvPr/>
        </p:nvSpPr>
        <p:spPr>
          <a:xfrm>
            <a:off x="6309360" y="4023360"/>
            <a:ext cx="5468112" cy="2340864"/>
          </a:xfrm>
          <a:prstGeom prst="roundRect">
            <a:avLst>
              <a:gd name="adj" fmla="val 27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510528" y="4105656"/>
            <a:ext cx="5065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TOP 10 NOT INVOICED   </a:t>
            </a:r>
            <a:pPr indent="0" marL="0">
              <a:buNone/>
            </a:pPr>
            <a:r>
              <a:rPr lang="en-US" sz="6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ARR — sums to the awaiting figure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6748272" y="435254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CLIENT</a:t>
            </a:r>
            <a:endParaRPr lang="en-US" sz="700" dirty="0"/>
          </a:p>
        </p:txBody>
      </p:sp>
      <p:sp>
        <p:nvSpPr>
          <p:cNvPr id="32" name="Text 29"/>
          <p:cNvSpPr txBox="1"/>
          <p:nvPr/>
        </p:nvSpPr>
        <p:spPr>
          <a:xfrm>
            <a:off x="9052560" y="435254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ARR</a:t>
            </a:r>
            <a:endParaRPr lang="en-US" sz="700" dirty="0"/>
          </a:p>
        </p:txBody>
      </p:sp>
      <p:sp>
        <p:nvSpPr>
          <p:cNvPr id="33" name="Text 30"/>
          <p:cNvSpPr txBox="1"/>
          <p:nvPr/>
        </p:nvSpPr>
        <p:spPr>
          <a:xfrm>
            <a:off x="9921240" y="435254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MRR/mo</a:t>
            </a:r>
            <a:endParaRPr lang="en-US" sz="700" dirty="0"/>
          </a:p>
        </p:txBody>
      </p:sp>
      <p:sp>
        <p:nvSpPr>
          <p:cNvPr id="34" name="Text 31"/>
          <p:cNvSpPr txBox="1"/>
          <p:nvPr/>
        </p:nvSpPr>
        <p:spPr>
          <a:xfrm>
            <a:off x="10652760" y="435254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WON</a:t>
            </a:r>
            <a:endParaRPr lang="en-US" sz="700" dirty="0"/>
          </a:p>
        </p:txBody>
      </p:sp>
      <p:sp>
        <p:nvSpPr>
          <p:cNvPr id="35" name="Text 32"/>
          <p:cNvSpPr txBox="1"/>
          <p:nvPr/>
        </p:nvSpPr>
        <p:spPr>
          <a:xfrm>
            <a:off x="11155680" y="435254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DEALS</a:t>
            </a:r>
            <a:endParaRPr lang="en-US" sz="700" dirty="0"/>
          </a:p>
        </p:txBody>
      </p:sp>
      <p:sp>
        <p:nvSpPr>
          <p:cNvPr id="36" name="Text 33"/>
          <p:cNvSpPr txBox="1"/>
          <p:nvPr/>
        </p:nvSpPr>
        <p:spPr>
          <a:xfrm>
            <a:off x="6510528" y="4535424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700" dirty="0"/>
          </a:p>
        </p:txBody>
      </p:sp>
      <p:sp>
        <p:nvSpPr>
          <p:cNvPr id="37" name="Text 34"/>
          <p:cNvSpPr txBox="1"/>
          <p:nvPr/>
        </p:nvSpPr>
        <p:spPr>
          <a:xfrm>
            <a:off x="6748272" y="4535424"/>
            <a:ext cx="2286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Oscars Group ◆</a:t>
            </a:r>
            <a:endParaRPr lang="en-US" sz="750" dirty="0"/>
          </a:p>
        </p:txBody>
      </p:sp>
      <p:sp>
        <p:nvSpPr>
          <p:cNvPr id="38" name="Text 35"/>
          <p:cNvSpPr txBox="1"/>
          <p:nvPr/>
        </p:nvSpPr>
        <p:spPr>
          <a:xfrm>
            <a:off x="9052560" y="4535424"/>
            <a:ext cx="822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$155k</a:t>
            </a:r>
            <a:endParaRPr lang="en-US" sz="750" dirty="0"/>
          </a:p>
        </p:txBody>
      </p:sp>
      <p:sp>
        <p:nvSpPr>
          <p:cNvPr id="39" name="Text 36"/>
          <p:cNvSpPr txBox="1"/>
          <p:nvPr/>
        </p:nvSpPr>
        <p:spPr>
          <a:xfrm>
            <a:off x="9921240" y="4535424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$12,880</a:t>
            </a:r>
            <a:endParaRPr lang="en-US" sz="750" dirty="0"/>
          </a:p>
        </p:txBody>
      </p:sp>
      <p:sp>
        <p:nvSpPr>
          <p:cNvPr id="40" name="Text 37"/>
          <p:cNvSpPr txBox="1"/>
          <p:nvPr/>
        </p:nvSpPr>
        <p:spPr>
          <a:xfrm>
            <a:off x="10652760" y="4535424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</a:t>
            </a:r>
            <a:endParaRPr lang="en-US" sz="750" dirty="0"/>
          </a:p>
        </p:txBody>
      </p:sp>
      <p:sp>
        <p:nvSpPr>
          <p:cNvPr id="41" name="Text 38"/>
          <p:cNvSpPr txBox="1"/>
          <p:nvPr/>
        </p:nvSpPr>
        <p:spPr>
          <a:xfrm>
            <a:off x="11155680" y="4535424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750" dirty="0"/>
          </a:p>
        </p:txBody>
      </p:sp>
      <p:sp>
        <p:nvSpPr>
          <p:cNvPr id="42" name="Text 39"/>
          <p:cNvSpPr txBox="1"/>
          <p:nvPr/>
        </p:nvSpPr>
        <p:spPr>
          <a:xfrm>
            <a:off x="6510528" y="4710989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700" dirty="0"/>
          </a:p>
        </p:txBody>
      </p:sp>
      <p:sp>
        <p:nvSpPr>
          <p:cNvPr id="43" name="Text 40"/>
          <p:cNvSpPr txBox="1"/>
          <p:nvPr/>
        </p:nvSpPr>
        <p:spPr>
          <a:xfrm>
            <a:off x="6748272" y="4710989"/>
            <a:ext cx="2286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Wayi Restaurant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9052560" y="4710989"/>
            <a:ext cx="822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$21k</a:t>
            </a:r>
            <a:endParaRPr lang="en-US" sz="750" dirty="0"/>
          </a:p>
        </p:txBody>
      </p:sp>
      <p:sp>
        <p:nvSpPr>
          <p:cNvPr id="45" name="Text 42"/>
          <p:cNvSpPr txBox="1"/>
          <p:nvPr/>
        </p:nvSpPr>
        <p:spPr>
          <a:xfrm>
            <a:off x="9921240" y="4710989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$1,790</a:t>
            </a:r>
            <a:endParaRPr lang="en-US" sz="750" dirty="0"/>
          </a:p>
        </p:txBody>
      </p:sp>
      <p:sp>
        <p:nvSpPr>
          <p:cNvPr id="46" name="Text 43"/>
          <p:cNvSpPr txBox="1"/>
          <p:nvPr/>
        </p:nvSpPr>
        <p:spPr>
          <a:xfrm>
            <a:off x="10652760" y="4710989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May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11155680" y="4710989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750" dirty="0"/>
          </a:p>
        </p:txBody>
      </p:sp>
      <p:sp>
        <p:nvSpPr>
          <p:cNvPr id="48" name="Text 45"/>
          <p:cNvSpPr txBox="1"/>
          <p:nvPr/>
        </p:nvSpPr>
        <p:spPr>
          <a:xfrm>
            <a:off x="6510528" y="4886554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700" dirty="0"/>
          </a:p>
        </p:txBody>
      </p:sp>
      <p:sp>
        <p:nvSpPr>
          <p:cNvPr id="49" name="Text 46"/>
          <p:cNvSpPr txBox="1"/>
          <p:nvPr/>
        </p:nvSpPr>
        <p:spPr>
          <a:xfrm>
            <a:off x="6748272" y="4886554"/>
            <a:ext cx="2286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Hallmark Hospitality · 2 venues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9052560" y="4886554"/>
            <a:ext cx="822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$19k</a:t>
            </a:r>
            <a:endParaRPr lang="en-US" sz="750" dirty="0"/>
          </a:p>
        </p:txBody>
      </p:sp>
      <p:sp>
        <p:nvSpPr>
          <p:cNvPr id="51" name="Text 48"/>
          <p:cNvSpPr txBox="1"/>
          <p:nvPr/>
        </p:nvSpPr>
        <p:spPr>
          <a:xfrm>
            <a:off x="9921240" y="4886554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$1,557</a:t>
            </a:r>
            <a:endParaRPr lang="en-US" sz="750" dirty="0"/>
          </a:p>
        </p:txBody>
      </p:sp>
      <p:sp>
        <p:nvSpPr>
          <p:cNvPr id="52" name="Text 49"/>
          <p:cNvSpPr txBox="1"/>
          <p:nvPr/>
        </p:nvSpPr>
        <p:spPr>
          <a:xfrm>
            <a:off x="10652760" y="4886554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Jun</a:t>
            </a:r>
            <a:endParaRPr lang="en-US" sz="750" dirty="0"/>
          </a:p>
        </p:txBody>
      </p:sp>
      <p:sp>
        <p:nvSpPr>
          <p:cNvPr id="53" name="Text 50"/>
          <p:cNvSpPr txBox="1"/>
          <p:nvPr/>
        </p:nvSpPr>
        <p:spPr>
          <a:xfrm>
            <a:off x="11155680" y="4886554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750" dirty="0"/>
          </a:p>
        </p:txBody>
      </p:sp>
      <p:sp>
        <p:nvSpPr>
          <p:cNvPr id="54" name="Text 51"/>
          <p:cNvSpPr txBox="1"/>
          <p:nvPr/>
        </p:nvSpPr>
        <p:spPr>
          <a:xfrm>
            <a:off x="6510528" y="5062118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700" dirty="0"/>
          </a:p>
        </p:txBody>
      </p:sp>
      <p:sp>
        <p:nvSpPr>
          <p:cNvPr id="55" name="Text 52"/>
          <p:cNvSpPr txBox="1"/>
          <p:nvPr/>
        </p:nvSpPr>
        <p:spPr>
          <a:xfrm>
            <a:off x="6748272" y="5062118"/>
            <a:ext cx="2286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BRG · 2 venues</a:t>
            </a:r>
            <a:endParaRPr lang="en-US" sz="750" dirty="0"/>
          </a:p>
        </p:txBody>
      </p:sp>
      <p:sp>
        <p:nvSpPr>
          <p:cNvPr id="56" name="Text 53"/>
          <p:cNvSpPr txBox="1"/>
          <p:nvPr/>
        </p:nvSpPr>
        <p:spPr>
          <a:xfrm>
            <a:off x="9052560" y="5062118"/>
            <a:ext cx="822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$6k</a:t>
            </a:r>
            <a:endParaRPr lang="en-US" sz="750" dirty="0"/>
          </a:p>
        </p:txBody>
      </p:sp>
      <p:sp>
        <p:nvSpPr>
          <p:cNvPr id="57" name="Text 54"/>
          <p:cNvSpPr txBox="1"/>
          <p:nvPr/>
        </p:nvSpPr>
        <p:spPr>
          <a:xfrm>
            <a:off x="9921240" y="5062118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$492</a:t>
            </a:r>
            <a:endParaRPr lang="en-US" sz="750" dirty="0"/>
          </a:p>
        </p:txBody>
      </p:sp>
      <p:sp>
        <p:nvSpPr>
          <p:cNvPr id="58" name="Text 55"/>
          <p:cNvSpPr txBox="1"/>
          <p:nvPr/>
        </p:nvSpPr>
        <p:spPr>
          <a:xfrm>
            <a:off x="10652760" y="5062118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Jul</a:t>
            </a:r>
            <a:endParaRPr lang="en-US" sz="750" dirty="0"/>
          </a:p>
        </p:txBody>
      </p:sp>
      <p:sp>
        <p:nvSpPr>
          <p:cNvPr id="59" name="Text 56"/>
          <p:cNvSpPr txBox="1"/>
          <p:nvPr/>
        </p:nvSpPr>
        <p:spPr>
          <a:xfrm>
            <a:off x="11155680" y="5062118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750" dirty="0"/>
          </a:p>
        </p:txBody>
      </p:sp>
      <p:sp>
        <p:nvSpPr>
          <p:cNvPr id="60" name="Text 57"/>
          <p:cNvSpPr txBox="1"/>
          <p:nvPr/>
        </p:nvSpPr>
        <p:spPr>
          <a:xfrm>
            <a:off x="6510528" y="5237683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700" dirty="0"/>
          </a:p>
        </p:txBody>
      </p:sp>
      <p:sp>
        <p:nvSpPr>
          <p:cNvPr id="61" name="Text 58"/>
          <p:cNvSpPr txBox="1"/>
          <p:nvPr/>
        </p:nvSpPr>
        <p:spPr>
          <a:xfrm>
            <a:off x="6748272" y="5237683"/>
            <a:ext cx="2286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Grand Cru - Claremont</a:t>
            </a:r>
            <a:endParaRPr lang="en-US" sz="750" dirty="0"/>
          </a:p>
        </p:txBody>
      </p:sp>
      <p:sp>
        <p:nvSpPr>
          <p:cNvPr id="62" name="Text 59"/>
          <p:cNvSpPr txBox="1"/>
          <p:nvPr/>
        </p:nvSpPr>
        <p:spPr>
          <a:xfrm>
            <a:off x="9052560" y="5237683"/>
            <a:ext cx="822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$6k</a:t>
            </a:r>
            <a:endParaRPr lang="en-US" sz="750" dirty="0"/>
          </a:p>
        </p:txBody>
      </p:sp>
      <p:sp>
        <p:nvSpPr>
          <p:cNvPr id="63" name="Text 60"/>
          <p:cNvSpPr txBox="1"/>
          <p:nvPr/>
        </p:nvSpPr>
        <p:spPr>
          <a:xfrm>
            <a:off x="9921240" y="5237683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$480</a:t>
            </a:r>
            <a:endParaRPr lang="en-US" sz="750" dirty="0"/>
          </a:p>
        </p:txBody>
      </p:sp>
      <p:sp>
        <p:nvSpPr>
          <p:cNvPr id="64" name="Text 61"/>
          <p:cNvSpPr txBox="1"/>
          <p:nvPr/>
        </p:nvSpPr>
        <p:spPr>
          <a:xfrm>
            <a:off x="10652760" y="5237683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Aug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11155680" y="5237683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750" dirty="0"/>
          </a:p>
        </p:txBody>
      </p:sp>
      <p:sp>
        <p:nvSpPr>
          <p:cNvPr id="66" name="Text 63"/>
          <p:cNvSpPr txBox="1"/>
          <p:nvPr/>
        </p:nvSpPr>
        <p:spPr>
          <a:xfrm>
            <a:off x="6510528" y="5413248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700" dirty="0"/>
          </a:p>
        </p:txBody>
      </p:sp>
      <p:sp>
        <p:nvSpPr>
          <p:cNvPr id="67" name="Text 64"/>
          <p:cNvSpPr txBox="1"/>
          <p:nvPr/>
        </p:nvSpPr>
        <p:spPr>
          <a:xfrm>
            <a:off x="6748272" y="5413248"/>
            <a:ext cx="2286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Downs Club Toowoomba</a:t>
            </a:r>
            <a:endParaRPr lang="en-US" sz="750" dirty="0"/>
          </a:p>
        </p:txBody>
      </p:sp>
      <p:sp>
        <p:nvSpPr>
          <p:cNvPr id="68" name="Text 65"/>
          <p:cNvSpPr txBox="1"/>
          <p:nvPr/>
        </p:nvSpPr>
        <p:spPr>
          <a:xfrm>
            <a:off x="9052560" y="5413248"/>
            <a:ext cx="822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$5k</a:t>
            </a:r>
            <a:endParaRPr lang="en-US" sz="750" dirty="0"/>
          </a:p>
        </p:txBody>
      </p:sp>
      <p:sp>
        <p:nvSpPr>
          <p:cNvPr id="69" name="Text 66"/>
          <p:cNvSpPr txBox="1"/>
          <p:nvPr/>
        </p:nvSpPr>
        <p:spPr>
          <a:xfrm>
            <a:off x="9921240" y="5413248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$455</a:t>
            </a:r>
            <a:endParaRPr lang="en-US" sz="750" dirty="0"/>
          </a:p>
        </p:txBody>
      </p:sp>
      <p:sp>
        <p:nvSpPr>
          <p:cNvPr id="70" name="Text 67"/>
          <p:cNvSpPr txBox="1"/>
          <p:nvPr/>
        </p:nvSpPr>
        <p:spPr>
          <a:xfrm>
            <a:off x="10652760" y="5413248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May</a:t>
            </a:r>
            <a:endParaRPr lang="en-US" sz="750" dirty="0"/>
          </a:p>
        </p:txBody>
      </p:sp>
      <p:sp>
        <p:nvSpPr>
          <p:cNvPr id="71" name="Text 68"/>
          <p:cNvSpPr txBox="1"/>
          <p:nvPr/>
        </p:nvSpPr>
        <p:spPr>
          <a:xfrm>
            <a:off x="11155680" y="5413248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750" dirty="0"/>
          </a:p>
        </p:txBody>
      </p:sp>
      <p:sp>
        <p:nvSpPr>
          <p:cNvPr id="72" name="Text 69"/>
          <p:cNvSpPr txBox="1"/>
          <p:nvPr/>
        </p:nvSpPr>
        <p:spPr>
          <a:xfrm>
            <a:off x="6510528" y="5588813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700" dirty="0"/>
          </a:p>
        </p:txBody>
      </p:sp>
      <p:sp>
        <p:nvSpPr>
          <p:cNvPr id="73" name="Text 70"/>
          <p:cNvSpPr txBox="1"/>
          <p:nvPr/>
        </p:nvSpPr>
        <p:spPr>
          <a:xfrm>
            <a:off x="6748272" y="5588813"/>
            <a:ext cx="2286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Crazy Horse Revue</a:t>
            </a:r>
            <a:endParaRPr lang="en-US" sz="750" dirty="0"/>
          </a:p>
        </p:txBody>
      </p:sp>
      <p:sp>
        <p:nvSpPr>
          <p:cNvPr id="74" name="Text 71"/>
          <p:cNvSpPr txBox="1"/>
          <p:nvPr/>
        </p:nvSpPr>
        <p:spPr>
          <a:xfrm>
            <a:off x="9052560" y="5588813"/>
            <a:ext cx="822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$5k</a:t>
            </a:r>
            <a:endParaRPr lang="en-US" sz="750" dirty="0"/>
          </a:p>
        </p:txBody>
      </p:sp>
      <p:sp>
        <p:nvSpPr>
          <p:cNvPr id="75" name="Text 72"/>
          <p:cNvSpPr txBox="1"/>
          <p:nvPr/>
        </p:nvSpPr>
        <p:spPr>
          <a:xfrm>
            <a:off x="9921240" y="5588813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$437</a:t>
            </a:r>
            <a:endParaRPr lang="en-US" sz="750" dirty="0"/>
          </a:p>
        </p:txBody>
      </p:sp>
      <p:sp>
        <p:nvSpPr>
          <p:cNvPr id="76" name="Text 73"/>
          <p:cNvSpPr txBox="1"/>
          <p:nvPr/>
        </p:nvSpPr>
        <p:spPr>
          <a:xfrm>
            <a:off x="10652760" y="5588813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Apr</a:t>
            </a:r>
            <a:endParaRPr lang="en-US" sz="750" dirty="0"/>
          </a:p>
        </p:txBody>
      </p:sp>
      <p:sp>
        <p:nvSpPr>
          <p:cNvPr id="77" name="Text 74"/>
          <p:cNvSpPr txBox="1"/>
          <p:nvPr/>
        </p:nvSpPr>
        <p:spPr>
          <a:xfrm>
            <a:off x="11155680" y="5588813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750" dirty="0"/>
          </a:p>
        </p:txBody>
      </p:sp>
      <p:sp>
        <p:nvSpPr>
          <p:cNvPr id="78" name="Text 75"/>
          <p:cNvSpPr txBox="1"/>
          <p:nvPr/>
        </p:nvSpPr>
        <p:spPr>
          <a:xfrm>
            <a:off x="6510528" y="5764378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endParaRPr lang="en-US" sz="700" dirty="0"/>
          </a:p>
        </p:txBody>
      </p:sp>
      <p:sp>
        <p:nvSpPr>
          <p:cNvPr id="79" name="Text 76"/>
          <p:cNvSpPr txBox="1"/>
          <p:nvPr/>
        </p:nvSpPr>
        <p:spPr>
          <a:xfrm>
            <a:off x="6748272" y="5764378"/>
            <a:ext cx="2286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Citi Group - Harp</a:t>
            </a:r>
            <a:endParaRPr lang="en-US" sz="750" dirty="0"/>
          </a:p>
        </p:txBody>
      </p:sp>
      <p:sp>
        <p:nvSpPr>
          <p:cNvPr id="80" name="Text 77"/>
          <p:cNvSpPr txBox="1"/>
          <p:nvPr/>
        </p:nvSpPr>
        <p:spPr>
          <a:xfrm>
            <a:off x="9052560" y="5764378"/>
            <a:ext cx="822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$5k</a:t>
            </a:r>
            <a:endParaRPr lang="en-US" sz="750" dirty="0"/>
          </a:p>
        </p:txBody>
      </p:sp>
      <p:sp>
        <p:nvSpPr>
          <p:cNvPr id="81" name="Text 78"/>
          <p:cNvSpPr txBox="1"/>
          <p:nvPr/>
        </p:nvSpPr>
        <p:spPr>
          <a:xfrm>
            <a:off x="9921240" y="5764378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$410</a:t>
            </a:r>
            <a:endParaRPr lang="en-US" sz="750" dirty="0"/>
          </a:p>
        </p:txBody>
      </p:sp>
      <p:sp>
        <p:nvSpPr>
          <p:cNvPr id="82" name="Text 79"/>
          <p:cNvSpPr txBox="1"/>
          <p:nvPr/>
        </p:nvSpPr>
        <p:spPr>
          <a:xfrm>
            <a:off x="10652760" y="5764378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</a:t>
            </a:r>
            <a:endParaRPr lang="en-US" sz="750" dirty="0"/>
          </a:p>
        </p:txBody>
      </p:sp>
      <p:sp>
        <p:nvSpPr>
          <p:cNvPr id="83" name="Text 80"/>
          <p:cNvSpPr txBox="1"/>
          <p:nvPr/>
        </p:nvSpPr>
        <p:spPr>
          <a:xfrm>
            <a:off x="11155680" y="5764378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750" dirty="0"/>
          </a:p>
        </p:txBody>
      </p:sp>
      <p:sp>
        <p:nvSpPr>
          <p:cNvPr id="84" name="Text 81"/>
          <p:cNvSpPr txBox="1"/>
          <p:nvPr/>
        </p:nvSpPr>
        <p:spPr>
          <a:xfrm>
            <a:off x="6510528" y="5939942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endParaRPr lang="en-US" sz="700" dirty="0"/>
          </a:p>
        </p:txBody>
      </p:sp>
      <p:sp>
        <p:nvSpPr>
          <p:cNvPr id="85" name="Text 82"/>
          <p:cNvSpPr txBox="1"/>
          <p:nvPr/>
        </p:nvSpPr>
        <p:spPr>
          <a:xfrm>
            <a:off x="6748272" y="5939942"/>
            <a:ext cx="2286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Woodside Beach Hotel</a:t>
            </a:r>
            <a:endParaRPr lang="en-US" sz="750" dirty="0"/>
          </a:p>
        </p:txBody>
      </p:sp>
      <p:sp>
        <p:nvSpPr>
          <p:cNvPr id="86" name="Text 83"/>
          <p:cNvSpPr txBox="1"/>
          <p:nvPr/>
        </p:nvSpPr>
        <p:spPr>
          <a:xfrm>
            <a:off x="9052560" y="5939942"/>
            <a:ext cx="822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$5k</a:t>
            </a:r>
            <a:endParaRPr lang="en-US" sz="750" dirty="0"/>
          </a:p>
        </p:txBody>
      </p:sp>
      <p:sp>
        <p:nvSpPr>
          <p:cNvPr id="87" name="Text 84"/>
          <p:cNvSpPr txBox="1"/>
          <p:nvPr/>
        </p:nvSpPr>
        <p:spPr>
          <a:xfrm>
            <a:off x="9921240" y="5939942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$394</a:t>
            </a:r>
            <a:endParaRPr lang="en-US" sz="750" dirty="0"/>
          </a:p>
        </p:txBody>
      </p:sp>
      <p:sp>
        <p:nvSpPr>
          <p:cNvPr id="88" name="Text 85"/>
          <p:cNvSpPr txBox="1"/>
          <p:nvPr/>
        </p:nvSpPr>
        <p:spPr>
          <a:xfrm>
            <a:off x="10652760" y="5939942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Sep</a:t>
            </a:r>
            <a:endParaRPr lang="en-US" sz="750" dirty="0"/>
          </a:p>
        </p:txBody>
      </p:sp>
      <p:sp>
        <p:nvSpPr>
          <p:cNvPr id="89" name="Text 86"/>
          <p:cNvSpPr txBox="1"/>
          <p:nvPr/>
        </p:nvSpPr>
        <p:spPr>
          <a:xfrm>
            <a:off x="11155680" y="5939942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750" dirty="0"/>
          </a:p>
        </p:txBody>
      </p:sp>
      <p:sp>
        <p:nvSpPr>
          <p:cNvPr id="90" name="Text 87"/>
          <p:cNvSpPr txBox="1"/>
          <p:nvPr/>
        </p:nvSpPr>
        <p:spPr>
          <a:xfrm>
            <a:off x="6510528" y="6115507"/>
            <a:ext cx="201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700" dirty="0"/>
          </a:p>
        </p:txBody>
      </p:sp>
      <p:sp>
        <p:nvSpPr>
          <p:cNvPr id="91" name="Text 88"/>
          <p:cNvSpPr txBox="1"/>
          <p:nvPr/>
        </p:nvSpPr>
        <p:spPr>
          <a:xfrm>
            <a:off x="6748272" y="6115507"/>
            <a:ext cx="2286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Bistro Margaux</a:t>
            </a:r>
            <a:endParaRPr lang="en-US" sz="750" dirty="0"/>
          </a:p>
        </p:txBody>
      </p:sp>
      <p:sp>
        <p:nvSpPr>
          <p:cNvPr id="92" name="Text 89"/>
          <p:cNvSpPr txBox="1"/>
          <p:nvPr/>
        </p:nvSpPr>
        <p:spPr>
          <a:xfrm>
            <a:off x="9052560" y="6115507"/>
            <a:ext cx="822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$4k</a:t>
            </a:r>
            <a:endParaRPr lang="en-US" sz="750" dirty="0"/>
          </a:p>
        </p:txBody>
      </p:sp>
      <p:sp>
        <p:nvSpPr>
          <p:cNvPr id="93" name="Text 90"/>
          <p:cNvSpPr txBox="1"/>
          <p:nvPr/>
        </p:nvSpPr>
        <p:spPr>
          <a:xfrm>
            <a:off x="9921240" y="6115507"/>
            <a:ext cx="685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$333</a:t>
            </a:r>
            <a:endParaRPr lang="en-US" sz="750" dirty="0"/>
          </a:p>
        </p:txBody>
      </p:sp>
      <p:sp>
        <p:nvSpPr>
          <p:cNvPr id="94" name="Text 91"/>
          <p:cNvSpPr txBox="1"/>
          <p:nvPr/>
        </p:nvSpPr>
        <p:spPr>
          <a:xfrm>
            <a:off x="10652760" y="6115507"/>
            <a:ext cx="457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Aug</a:t>
            </a:r>
            <a:endParaRPr lang="en-US" sz="750" dirty="0"/>
          </a:p>
        </p:txBody>
      </p:sp>
      <p:sp>
        <p:nvSpPr>
          <p:cNvPr id="95" name="Text 92"/>
          <p:cNvSpPr txBox="1"/>
          <p:nvPr/>
        </p:nvSpPr>
        <p:spPr>
          <a:xfrm>
            <a:off x="11155680" y="6115507"/>
            <a:ext cx="3840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750" dirty="0"/>
          </a:p>
        </p:txBody>
      </p:sp>
      <p:sp>
        <p:nvSpPr>
          <p:cNvPr id="96" name="Shape 93"/>
          <p:cNvSpPr/>
          <p:nvPr/>
        </p:nvSpPr>
        <p:spPr>
          <a:xfrm>
            <a:off x="411480" y="4023360"/>
            <a:ext cx="5760720" cy="2340864"/>
          </a:xfrm>
          <a:prstGeom prst="roundRect">
            <a:avLst>
              <a:gd name="adj" fmla="val 27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97" name="Text 94"/>
          <p:cNvSpPr txBox="1"/>
          <p:nvPr/>
        </p:nvSpPr>
        <p:spPr>
          <a:xfrm>
            <a:off x="612648" y="413308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SUMMARY</a:t>
            </a:r>
            <a:endParaRPr lang="en-US" sz="1200" dirty="0"/>
          </a:p>
        </p:txBody>
      </p:sp>
      <p:sp>
        <p:nvSpPr>
          <p:cNvPr id="98" name="Text 95"/>
          <p:cNvSpPr txBox="1"/>
          <p:nvPr/>
        </p:nvSpPr>
        <p:spPr>
          <a:xfrm>
            <a:off x="612648" y="4425696"/>
            <a:ext cx="534924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Install-to-invoice lag runs 60–90 days — wins bill ~a quarter later; March wins still uninvoiced are past normal lag and worth chasing.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C88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Uninvoiced is top-loaded: Oscars Group is 62% of the $250k awaiting go-live; the top 3 clients are ~78%.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Churn reads from the movement register (live): $1.17M of ARR across 262 logos since 2025, plus $235k lost to contraction on accounts that stayed. Q3 net MRR is -$6.3k — new business is not covering it.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spcAft>
                <a:spcPts val="800"/>
              </a:spcAft>
              <a:buNone/>
            </a:pPr>
            <a:r>
              <a:rPr lang="en-US" sz="8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AVC excluded — Creatio MRR field misstated (annual values in the monthly field); correction pending.</a:t>
            </a:r>
            <a:endParaRPr lang="en-US" sz="850" dirty="0"/>
          </a:p>
          <a:p>
            <a:pPr indent="0" marL="0">
              <a:buNone/>
            </a:pPr>
            <a:r>
              <a:rPr lang="en-US" sz="9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GO-LIVE CONTEXT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C88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◆  </a:t>
            </a:r>
            <a:pPr indent="0" marL="0">
              <a:buNone/>
            </a:pPr>
            <a:r>
              <a:rPr lang="en-US" sz="8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Oscars Group — </a:t>
            </a:r>
            <a:pPr indent="0" marL="0">
              <a:buNone/>
            </a:pPr>
            <a:r>
              <a:rPr lang="en-US" sz="85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Signed — ~1.5x rollout timeline expected. Keen to start but held by old provider's contract terms; asking H&amp;L for a discount to bridge.</a:t>
            </a:r>
            <a:endParaRPr lang="en-US" sz="850" dirty="0"/>
          </a:p>
        </p:txBody>
      </p:sp>
      <p:sp>
        <p:nvSpPr>
          <p:cNvPr id="99" name="Text 96"/>
          <p:cNvSpPr txBox="1"/>
          <p:nvPr/>
        </p:nvSpPr>
        <p:spPr>
          <a:xfrm>
            <a:off x="411480" y="645566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Invoiced = new + expansion MRR movements annualised</a:t>
            </a:r>
            <a:endParaRPr lang="en-US" sz="750" dirty="0"/>
          </a:p>
        </p:txBody>
      </p:sp>
      <p:sp>
        <p:nvSpPr>
          <p:cNvPr id="100" name="Shape 97"/>
          <p:cNvSpPr/>
          <p:nvPr/>
        </p:nvSpPr>
        <p:spPr>
          <a:xfrm>
            <a:off x="7274966" y="6510528"/>
            <a:ext cx="4502506" cy="256032"/>
          </a:xfrm>
          <a:prstGeom prst="roundRect">
            <a:avLst>
              <a:gd name="adj" fmla="val 46429"/>
            </a:avLst>
          </a:prstGeom>
          <a:solidFill>
            <a:srgbClr val="12293A"/>
          </a:solidFill>
          <a:ln/>
        </p:spPr>
      </p:sp>
      <p:sp>
        <p:nvSpPr>
          <p:cNvPr id="101" name="Text 98"/>
          <p:cNvSpPr txBox="1"/>
          <p:nvPr/>
        </p:nvSpPr>
        <p:spPr>
          <a:xfrm>
            <a:off x="7274966" y="6510528"/>
            <a:ext cx="45025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Source: Finance Weekly Invoicing &amp; Creatio · register live for churn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2293A"/>
          </a:solidFill>
          <a:ln/>
        </p:spPr>
      </p:sp>
      <p:sp>
        <p:nvSpPr>
          <p:cNvPr id="3" name="Shape 1"/>
          <p:cNvSpPr/>
          <p:nvPr/>
        </p:nvSpPr>
        <p:spPr>
          <a:xfrm>
            <a:off x="384048" y="155448"/>
            <a:ext cx="73152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84048" y="155448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H&amp;L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54864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Backlog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1316736" y="51206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AE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Support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686800" y="82296"/>
            <a:ext cx="1965960" cy="347472"/>
          </a:xfrm>
          <a:prstGeom prst="roundRect">
            <a:avLst>
              <a:gd name="adj" fmla="val 50000"/>
            </a:avLst>
          </a:prstGeom>
          <a:solidFill>
            <a:srgbClr val="C88A2E"/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0" y="8229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 ·  DID WE KEEP THEM?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686800" y="484632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B4552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0" y="48463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CUTOVER · NOW HUBSPOT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0872216" y="0"/>
            <a:ext cx="841248" cy="841248"/>
          </a:xfrm>
          <a:prstGeom prst="ellipse">
            <a:avLst/>
          </a:prstGeom>
          <a:solidFill>
            <a:srgbClr val="1C5765"/>
          </a:solidFill>
          <a:ln/>
        </p:spPr>
      </p:sp>
      <p:sp>
        <p:nvSpPr>
          <p:cNvPr id="12" name="Shape 10"/>
          <p:cNvSpPr/>
          <p:nvPr/>
        </p:nvSpPr>
        <p:spPr>
          <a:xfrm>
            <a:off x="10968228" y="96012"/>
            <a:ext cx="649224" cy="649224"/>
          </a:xfrm>
          <a:prstGeom prst="ellipse">
            <a:avLst/>
          </a:prstGeom>
          <a:solidFill>
            <a:srgbClr val="2C8394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64240" y="192024"/>
            <a:ext cx="457200" cy="457200"/>
          </a:xfrm>
          <a:prstGeom prst="ellipse">
            <a:avLst/>
          </a:prstGeom>
          <a:solidFill>
            <a:srgbClr val="6FAEBB"/>
          </a:solidFill>
          <a:ln/>
        </p:spPr>
      </p:sp>
      <p:sp>
        <p:nvSpPr>
          <p:cNvPr id="14" name="Shape 12"/>
          <p:cNvSpPr/>
          <p:nvPr/>
        </p:nvSpPr>
        <p:spPr>
          <a:xfrm>
            <a:off x="11160252" y="288036"/>
            <a:ext cx="265176" cy="265176"/>
          </a:xfrm>
          <a:prstGeom prst="ellipse">
            <a:avLst/>
          </a:prstGeom>
          <a:solidFill>
            <a:srgbClr val="E4F1F4"/>
          </a:solidFill>
          <a:ln/>
        </p:spPr>
      </p:sp>
      <p:sp>
        <p:nvSpPr>
          <p:cNvPr id="15" name="Shape 13"/>
          <p:cNvSpPr/>
          <p:nvPr/>
        </p:nvSpPr>
        <p:spPr>
          <a:xfrm>
            <a:off x="411480" y="1024128"/>
            <a:ext cx="269748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76072" y="1115568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OPEN BACKLOG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557784" y="1298448"/>
            <a:ext cx="24048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575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576072" y="1691640"/>
            <a:ext cx="2368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142 aged 31d+ · as at 20 Sep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3291840" y="1024128"/>
            <a:ext cx="269748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3456432" y="1115568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UNANSWERED OPEN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3438144" y="1298448"/>
            <a:ext cx="24048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554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3456432" y="1691640"/>
            <a:ext cx="2368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first response · HubSpot-conversation basis — overstates during transition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6172200" y="1024128"/>
            <a:ext cx="269748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336792" y="1115568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OPEN PAST 30 DAYS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6318504" y="1298448"/>
            <a:ext cx="24048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142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6336792" y="1691640"/>
            <a:ext cx="2368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facto resolution overdue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9052560" y="1024128"/>
            <a:ext cx="2724912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9217152" y="1115568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TOTAL CASES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9198864" y="1298448"/>
            <a:ext cx="24323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13,115</a:t>
            </a:r>
            <a:endParaRPr lang="en-US" sz="2600" dirty="0"/>
          </a:p>
        </p:txBody>
      </p:sp>
      <p:sp>
        <p:nvSpPr>
          <p:cNvPr id="30" name="Text 28"/>
          <p:cNvSpPr txBox="1"/>
          <p:nvPr/>
        </p:nvSpPr>
        <p:spPr>
          <a:xfrm>
            <a:off x="9217152" y="1691640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Feb 26 → 20 Sep 26 · HubSpot basis (all Support-pipeline tickets)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411480" y="2395728"/>
            <a:ext cx="6583680" cy="3913632"/>
          </a:xfrm>
          <a:prstGeom prst="roundRect">
            <a:avLst>
              <a:gd name="adj" fmla="val 1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612648" y="250545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OPEN BACKLOG BY AGE BAND — WEEKLY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0936" y="2807208"/>
            <a:ext cx="109728" cy="109728"/>
          </a:xfrm>
          <a:prstGeom prst="rect">
            <a:avLst/>
          </a:prstGeom>
          <a:solidFill>
            <a:srgbClr val="3D8F5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68096" y="276148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0–7 days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1472184" y="2807208"/>
            <a:ext cx="109728" cy="109728"/>
          </a:xfrm>
          <a:prstGeom prst="rect">
            <a:avLst/>
          </a:prstGeom>
          <a:solidFill>
            <a:srgbClr val="6FAEBB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609344" y="276148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8–30 days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2313432" y="2807208"/>
            <a:ext cx="109728" cy="109728"/>
          </a:xfrm>
          <a:prstGeom prst="rect">
            <a:avLst/>
          </a:prstGeom>
          <a:solidFill>
            <a:srgbClr val="C88A2E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2450592" y="276148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31–90 days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3154680" y="2807208"/>
            <a:ext cx="109728" cy="109728"/>
          </a:xfrm>
          <a:prstGeom prst="rect">
            <a:avLst/>
          </a:prstGeom>
          <a:solidFill>
            <a:srgbClr val="7A3B21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3291840" y="276148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90+ days</a:t>
            </a:r>
            <a:endParaRPr lang="en-US" sz="680" dirty="0"/>
          </a:p>
        </p:txBody>
      </p:sp>
      <p:graphicFrame>
        <p:nvGraphicFramePr>
          <p:cNvPr id="41" name="Chart 0" descr=""/>
          <p:cNvGraphicFramePr/>
          <p:nvPr/>
        </p:nvGraphicFramePr>
        <p:xfrm>
          <a:off x="539496" y="3054096"/>
          <a:ext cx="393192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2" name="Chart 1" descr=""/>
          <p:cNvGraphicFramePr/>
          <p:nvPr/>
        </p:nvGraphicFramePr>
        <p:xfrm>
          <a:off x="4727448" y="3054096"/>
          <a:ext cx="2121408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3" name="Shape 39"/>
          <p:cNvSpPr/>
          <p:nvPr/>
        </p:nvSpPr>
        <p:spPr>
          <a:xfrm>
            <a:off x="4599432" y="3099816"/>
            <a:ext cx="20117" cy="2331720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44" name="Shape 40"/>
          <p:cNvSpPr/>
          <p:nvPr/>
        </p:nvSpPr>
        <p:spPr>
          <a:xfrm>
            <a:off x="4142232" y="2761488"/>
            <a:ext cx="960120" cy="201168"/>
          </a:xfrm>
          <a:prstGeom prst="roundRect">
            <a:avLst>
              <a:gd name="adj" fmla="val 50000"/>
            </a:avLst>
          </a:prstGeom>
          <a:solidFill>
            <a:srgbClr val="B4552D"/>
          </a:solidFill>
          <a:ln/>
        </p:spPr>
      </p:sp>
      <p:sp>
        <p:nvSpPr>
          <p:cNvPr id="45" name="Text 41"/>
          <p:cNvSpPr txBox="1"/>
          <p:nvPr/>
        </p:nvSpPr>
        <p:spPr>
          <a:xfrm>
            <a:off x="4142232" y="27614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CUTOVER 8 SEP</a:t>
            </a:r>
            <a:endParaRPr lang="en-US" sz="600" dirty="0"/>
          </a:p>
        </p:txBody>
      </p:sp>
      <p:sp>
        <p:nvSpPr>
          <p:cNvPr id="46" name="Text 42"/>
          <p:cNvSpPr txBox="1"/>
          <p:nvPr/>
        </p:nvSpPr>
        <p:spPr>
          <a:xfrm>
            <a:off x="960120" y="564184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88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CREATIO — FROZEN</a:t>
            </a:r>
            <a:endParaRPr lang="en-US" sz="650" dirty="0"/>
          </a:p>
        </p:txBody>
      </p:sp>
      <p:sp>
        <p:nvSpPr>
          <p:cNvPr id="47" name="Text 43"/>
          <p:cNvSpPr txBox="1"/>
          <p:nvPr/>
        </p:nvSpPr>
        <p:spPr>
          <a:xfrm>
            <a:off x="4727448" y="5641848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HUBSPOT — LIVE</a:t>
            </a:r>
            <a:endParaRPr lang="en-US" sz="650" dirty="0"/>
          </a:p>
        </p:txBody>
      </p:sp>
      <p:sp>
        <p:nvSpPr>
          <p:cNvPr id="48" name="Text 44"/>
          <p:cNvSpPr txBox="1"/>
          <p:nvPr/>
        </p:nvSpPr>
        <p:spPr>
          <a:xfrm>
            <a:off x="612648" y="5925312"/>
            <a:ext cx="6181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Weeks to 30 Aug are the frozen Creatio series (extracts ended 4 Sep); 13 &amp; 20 Sep read live from HubSpot. The 7 Sep week falls inside the migration and is not reported.</a:t>
            </a:r>
            <a:endParaRPr lang="en-US" sz="650" dirty="0"/>
          </a:p>
        </p:txBody>
      </p:sp>
      <p:sp>
        <p:nvSpPr>
          <p:cNvPr id="49" name="Shape 45"/>
          <p:cNvSpPr/>
          <p:nvPr/>
        </p:nvSpPr>
        <p:spPr>
          <a:xfrm>
            <a:off x="7178040" y="2395728"/>
            <a:ext cx="4599432" cy="3913632"/>
          </a:xfrm>
          <a:prstGeom prst="roundRect">
            <a:avLst>
              <a:gd name="adj" fmla="val 1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50" name="Text 46"/>
          <p:cNvSpPr txBox="1"/>
          <p:nvPr/>
        </p:nvSpPr>
        <p:spPr>
          <a:xfrm>
            <a:off x="7379208" y="2505456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SUMMARY</a:t>
            </a:r>
            <a:endParaRPr lang="en-US" sz="1200" dirty="0"/>
          </a:p>
        </p:txBody>
      </p:sp>
      <p:sp>
        <p:nvSpPr>
          <p:cNvPr id="51" name="Text 47"/>
          <p:cNvSpPr txBox="1"/>
          <p:nvPr/>
        </p:nvSpPr>
        <p:spPr>
          <a:xfrm>
            <a:off x="7379208" y="2816352"/>
            <a:ext cx="4187952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buNone/>
            </a:pPr>
            <a:r>
              <a:rPr lang="en-US" sz="9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backlog turned this week. 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Inflow 490 beat resolved 591 — the first week since cutover where it did. Open rose 575 → 575, and the 8–30 day band carried it (249 → 242). The 90+ tail is still the win: 10 → 10.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C88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buNone/>
            </a:pPr>
            <a:r>
              <a:rPr lang="en-US" sz="9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31–90 days is where it is building. 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That band went 132 → 118 in the week, so 142 cases are now past 30 days against 142 a fortnight ago. Work aged 8–30 days is ageing through rather than closing.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buNone/>
            </a:pPr>
            <a:r>
              <a:rPr lang="en-US" sz="9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queue is still the live risk: 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554 open cases show no first response. Migrated tickets answered only in Creatio count as unanswered here — treat as a ceiling until the transition washes through.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SLA fields are populating on new HubSpot tickets — attainment reporting returns once coverage is credible.</a:t>
            </a:r>
            <a:endParaRPr lang="en-US" sz="900" dirty="0"/>
          </a:p>
        </p:txBody>
      </p:sp>
      <p:sp>
        <p:nvSpPr>
          <p:cNvPr id="52" name="Shape 48"/>
          <p:cNvSpPr/>
          <p:nvPr/>
        </p:nvSpPr>
        <p:spPr>
          <a:xfrm>
            <a:off x="8642909" y="6510528"/>
            <a:ext cx="3134563" cy="256032"/>
          </a:xfrm>
          <a:prstGeom prst="roundRect">
            <a:avLst>
              <a:gd name="adj" fmla="val 46429"/>
            </a:avLst>
          </a:prstGeom>
          <a:solidFill>
            <a:srgbClr val="12293A"/>
          </a:solidFill>
          <a:ln/>
        </p:spPr>
      </p:sp>
      <p:sp>
        <p:nvSpPr>
          <p:cNvPr id="53" name="Text 49"/>
          <p:cNvSpPr txBox="1"/>
          <p:nvPr/>
        </p:nvSpPr>
        <p:spPr>
          <a:xfrm>
            <a:off x="8642909" y="6510528"/>
            <a:ext cx="313456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Source: HubSpot (live) — cut over from Creatio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2293A"/>
          </a:solidFill>
          <a:ln/>
        </p:spPr>
      </p:sp>
      <p:sp>
        <p:nvSpPr>
          <p:cNvPr id="3" name="Shape 1"/>
          <p:cNvSpPr/>
          <p:nvPr/>
        </p:nvSpPr>
        <p:spPr>
          <a:xfrm>
            <a:off x="384048" y="155448"/>
            <a:ext cx="73152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84048" y="155448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H&amp;L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54864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Support Agent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1316736" y="51206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AE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Support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686800" y="82296"/>
            <a:ext cx="1965960" cy="347472"/>
          </a:xfrm>
          <a:prstGeom prst="roundRect">
            <a:avLst>
              <a:gd name="adj" fmla="val 50000"/>
            </a:avLst>
          </a:prstGeom>
          <a:solidFill>
            <a:srgbClr val="C88A2E"/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0" y="8229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 ·  DID WE KEEP THEM?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686800" y="484632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B4552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0" y="48463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CUTOVER · NOW HUBSPOT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0872216" y="0"/>
            <a:ext cx="841248" cy="841248"/>
          </a:xfrm>
          <a:prstGeom prst="ellipse">
            <a:avLst/>
          </a:prstGeom>
          <a:solidFill>
            <a:srgbClr val="1C5765"/>
          </a:solidFill>
          <a:ln/>
        </p:spPr>
      </p:sp>
      <p:sp>
        <p:nvSpPr>
          <p:cNvPr id="12" name="Shape 10"/>
          <p:cNvSpPr/>
          <p:nvPr/>
        </p:nvSpPr>
        <p:spPr>
          <a:xfrm>
            <a:off x="10968228" y="96012"/>
            <a:ext cx="649224" cy="649224"/>
          </a:xfrm>
          <a:prstGeom prst="ellipse">
            <a:avLst/>
          </a:prstGeom>
          <a:solidFill>
            <a:srgbClr val="2C8394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64240" y="192024"/>
            <a:ext cx="457200" cy="457200"/>
          </a:xfrm>
          <a:prstGeom prst="ellipse">
            <a:avLst/>
          </a:prstGeom>
          <a:solidFill>
            <a:srgbClr val="6FAEBB"/>
          </a:solidFill>
          <a:ln/>
        </p:spPr>
      </p:sp>
      <p:sp>
        <p:nvSpPr>
          <p:cNvPr id="14" name="Shape 12"/>
          <p:cNvSpPr/>
          <p:nvPr/>
        </p:nvSpPr>
        <p:spPr>
          <a:xfrm>
            <a:off x="11160252" y="288036"/>
            <a:ext cx="265176" cy="265176"/>
          </a:xfrm>
          <a:prstGeom prst="ellipse">
            <a:avLst/>
          </a:prstGeom>
          <a:solidFill>
            <a:srgbClr val="E4F1F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11480" y="877824"/>
            <a:ext cx="11338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Adoption basis: </a:t>
            </a:r>
            <a:pPr indent="0" marL="0">
              <a:buNone/>
            </a:pPr>
            <a:r>
              <a:rPr lang="en-US" sz="75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tickets closed this week (14 Sep–20 Sep) with an AI draft in scope · voicemail/junk excluded · </a:t>
            </a:r>
            <a:pPr indent="0" marL="0">
              <a:buNone/>
            </a:pPr>
            <a:r>
              <a:rPr lang="en-US" sz="750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now read live from the HubSpot draft state machine (ai_draft_status) — Creatio all-time history frozen at cutover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11480" y="1152144"/>
            <a:ext cx="269748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76072" y="1243584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APPROVED &amp; SENT — THIS WEEK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557784" y="1426464"/>
            <a:ext cx="2404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D8F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576072" y="1773936"/>
            <a:ext cx="2368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as-is · 3 edited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3291840" y="1152144"/>
            <a:ext cx="269748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3456432" y="1243584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REJECTED — THIS WEEK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3438144" y="1426464"/>
            <a:ext cx="2404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8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3456432" y="1773936"/>
            <a:ext cx="2368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now measurable — separable from auto-clear for the first time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6172200" y="1152144"/>
            <a:ext cx="269748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336792" y="1243584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DRAFTED (IN SCOPE)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6318504" y="1426464"/>
            <a:ext cx="2404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65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6336792" y="1773936"/>
            <a:ext cx="2368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 tickets closed this week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9052560" y="1152144"/>
            <a:ext cx="2724912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9217152" y="124358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DECISION RATE — NEW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9198864" y="142646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67%</a:t>
            </a:r>
            <a:endParaRPr lang="en-US" sz="2600" dirty="0"/>
          </a:p>
        </p:txBody>
      </p:sp>
      <p:sp>
        <p:nvSpPr>
          <p:cNvPr id="31" name="Text 29"/>
          <p:cNvSpPr txBox="1"/>
          <p:nvPr/>
        </p:nvSpPr>
        <p:spPr>
          <a:xfrm>
            <a:off x="9217152" y="1773936"/>
            <a:ext cx="2395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approved / (approved + rejected) = 4/6 — the metric Creatio couldn't measure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411480" y="2395728"/>
            <a:ext cx="370332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576072" y="2487168"/>
            <a:ext cx="3374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ADOPTION — APPROVED OF ALL DRAFTS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557784" y="2670048"/>
            <a:ext cx="3410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6.2%</a:t>
            </a:r>
            <a:endParaRPr lang="en-US" sz="2600" dirty="0"/>
          </a:p>
        </p:txBody>
      </p:sp>
      <p:sp>
        <p:nvSpPr>
          <p:cNvPr id="35" name="Text 33"/>
          <p:cNvSpPr txBox="1"/>
          <p:nvPr/>
        </p:nvSpPr>
        <p:spPr>
          <a:xfrm>
            <a:off x="576072" y="3017520"/>
            <a:ext cx="3374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of 65 drafts in scope · since cutover (8 Sep): 4.3% (4/92) · human-approved throughout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4297680" y="2395728"/>
            <a:ext cx="370332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4462272" y="2487168"/>
            <a:ext cx="3374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CONFIDENCE — RIGHT FIRST TIME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4443984" y="2670048"/>
            <a:ext cx="3410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8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25%</a:t>
            </a:r>
            <a:endParaRPr lang="en-US" sz="2600" dirty="0"/>
          </a:p>
        </p:txBody>
      </p:sp>
      <p:sp>
        <p:nvSpPr>
          <p:cNvPr id="39" name="Text 37"/>
          <p:cNvSpPr txBox="1"/>
          <p:nvPr/>
        </p:nvSpPr>
        <p:spPr>
          <a:xfrm>
            <a:off x="4462272" y="3017520"/>
            <a:ext cx="3374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as-is of 4 approved · target 95% · small base this week</a:t>
            </a:r>
            <a:endParaRPr lang="en-US" sz="780" dirty="0"/>
          </a:p>
        </p:txBody>
      </p:sp>
      <p:sp>
        <p:nvSpPr>
          <p:cNvPr id="40" name="Shape 38"/>
          <p:cNvSpPr/>
          <p:nvPr/>
        </p:nvSpPr>
        <p:spPr>
          <a:xfrm>
            <a:off x="8183880" y="2395728"/>
            <a:ext cx="3593592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8348472" y="2487168"/>
            <a:ext cx="3264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OPEN QUEUE — NOT YET DECIDED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8330184" y="2670048"/>
            <a:ext cx="3300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62</a:t>
            </a:r>
            <a:endParaRPr lang="en-US" sz="2600" dirty="0"/>
          </a:p>
        </p:txBody>
      </p:sp>
      <p:sp>
        <p:nvSpPr>
          <p:cNvPr id="43" name="Text 41"/>
          <p:cNvSpPr txBox="1"/>
          <p:nvPr/>
        </p:nvSpPr>
        <p:spPr>
          <a:xfrm>
            <a:off x="8348472" y="3017520"/>
            <a:ext cx="3264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pending review on open tickets · +85 flagged needs-human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411480" y="3657600"/>
            <a:ext cx="11365992" cy="2395728"/>
          </a:xfrm>
          <a:prstGeom prst="roundRect">
            <a:avLst>
              <a:gd name="adj" fmla="val 26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45" name="Text 43"/>
          <p:cNvSpPr txBox="1"/>
          <p:nvPr/>
        </p:nvSpPr>
        <p:spPr>
          <a:xfrm>
            <a:off x="612648" y="3767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TO READ ADOPTION — POST-CUTOVER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612648" y="4041648"/>
            <a:ext cx="10972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This week: 65 in-scope drafts on closed tickets, 4 approved &amp; sent (1 as-is, 3 edited) = 6.2% adoption. Every approved reply is human-reviewed — assisted resolution, not autonomous deflection.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C88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buNone/>
            </a:pPr>
            <a:r>
              <a:rPr lang="en-US" sz="9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cutover upgrade: 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ai_draft_status now distinguishes sent as-is / sent edited / rejected / pending review / needs human. Rejects are separable from auto-clears for the first time, so the true decision rate (67% this week, 4 of 6 decided drafts approved) is finally measurable — the number the old CRM export could never produce.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buNone/>
            </a:pPr>
            <a:r>
              <a:rPr lang="en-US" sz="9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Comparisons: </a:t>
            </a:r>
            <a:pPr indent="0" marL="0"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Creatio all-time (7.3% adoption, 64/874) is frozen as the pre-cutover baseline — don't chain it with HubSpot weeks. 34 closed tickets this week ended needs-human (drafts weak on complex technical fixes — knowledge-base gaps, not tone) and 25 closed with a draft still pending review: the review-queue habit is the adoption lever.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411480" y="616305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Adoption = approved &amp; sent / drafts in scope on closed tickets · confidence = sent as-is / approved · decision rate = approved / (approved + rejected)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8891626" y="6510528"/>
            <a:ext cx="2885846" cy="256032"/>
          </a:xfrm>
          <a:prstGeom prst="roundRect">
            <a:avLst>
              <a:gd name="adj" fmla="val 46429"/>
            </a:avLst>
          </a:prstGeom>
          <a:solidFill>
            <a:srgbClr val="12293A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8891626" y="6510528"/>
            <a:ext cx="28858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Source: HubSpot draft state machine (live)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2293A"/>
          </a:solidFill>
          <a:ln/>
        </p:spPr>
      </p:sp>
      <p:sp>
        <p:nvSpPr>
          <p:cNvPr id="3" name="Shape 1"/>
          <p:cNvSpPr/>
          <p:nvPr/>
        </p:nvSpPr>
        <p:spPr>
          <a:xfrm>
            <a:off x="384048" y="155448"/>
            <a:ext cx="73152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84048" y="155448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H&amp;L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54864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Q3 Roadmap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1316736" y="51206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AE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686800" y="246888"/>
            <a:ext cx="1965960" cy="347472"/>
          </a:xfrm>
          <a:prstGeom prst="roundRect">
            <a:avLst>
              <a:gd name="adj" fmla="val 50000"/>
            </a:avLst>
          </a:prstGeom>
          <a:solidFill>
            <a:srgbClr val="24435C"/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0" y="2468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 ·  BUILDING THE FUTURE?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0872216" y="0"/>
            <a:ext cx="841248" cy="841248"/>
          </a:xfrm>
          <a:prstGeom prst="ellipse">
            <a:avLst/>
          </a:prstGeom>
          <a:solidFill>
            <a:srgbClr val="1C5765"/>
          </a:solidFill>
          <a:ln/>
        </p:spPr>
      </p:sp>
      <p:sp>
        <p:nvSpPr>
          <p:cNvPr id="10" name="Shape 8"/>
          <p:cNvSpPr/>
          <p:nvPr/>
        </p:nvSpPr>
        <p:spPr>
          <a:xfrm>
            <a:off x="10968228" y="96012"/>
            <a:ext cx="649224" cy="649224"/>
          </a:xfrm>
          <a:prstGeom prst="ellipse">
            <a:avLst/>
          </a:prstGeom>
          <a:solidFill>
            <a:srgbClr val="2C8394"/>
          </a:solidFill>
          <a:ln/>
        </p:spPr>
      </p:sp>
      <p:sp>
        <p:nvSpPr>
          <p:cNvPr id="11" name="Shape 9"/>
          <p:cNvSpPr/>
          <p:nvPr/>
        </p:nvSpPr>
        <p:spPr>
          <a:xfrm>
            <a:off x="11064240" y="192024"/>
            <a:ext cx="457200" cy="457200"/>
          </a:xfrm>
          <a:prstGeom prst="ellipse">
            <a:avLst/>
          </a:prstGeom>
          <a:solidFill>
            <a:srgbClr val="6FAEBB"/>
          </a:solidFill>
          <a:ln/>
        </p:spPr>
      </p:sp>
      <p:sp>
        <p:nvSpPr>
          <p:cNvPr id="12" name="Shape 10"/>
          <p:cNvSpPr/>
          <p:nvPr/>
        </p:nvSpPr>
        <p:spPr>
          <a:xfrm>
            <a:off x="11160252" y="288036"/>
            <a:ext cx="265176" cy="265176"/>
          </a:xfrm>
          <a:prstGeom prst="ellipse">
            <a:avLst/>
          </a:prstGeom>
          <a:solidFill>
            <a:srgbClr val="E4F1F4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" y="987552"/>
            <a:ext cx="164592" cy="164592"/>
          </a:xfrm>
          <a:prstGeom prst="ellipse">
            <a:avLst/>
          </a:prstGeom>
          <a:solidFill>
            <a:srgbClr val="3D8F5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0936" y="9144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 Done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595628" y="987552"/>
            <a:ext cx="164592" cy="164592"/>
          </a:xfrm>
          <a:prstGeom prst="ellipse">
            <a:avLst/>
          </a:prstGeom>
          <a:solidFill>
            <a:srgbClr val="C88A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815084" y="9144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 On Track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090672" y="987552"/>
            <a:ext cx="164592" cy="164592"/>
          </a:xfrm>
          <a:prstGeom prst="ellipse">
            <a:avLst/>
          </a:prstGeom>
          <a:solidFill>
            <a:srgbClr val="C7D3D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310128" y="9144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Not Started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41164" y="987552"/>
            <a:ext cx="164592" cy="164592"/>
          </a:xfrm>
          <a:prstGeom prst="ellipse">
            <a:avLst/>
          </a:prstGeom>
          <a:solidFill>
            <a:srgbClr val="B4552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960620" y="9144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At risk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080760" y="9144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· 27 items across 6 sprints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3794760" y="1261872"/>
            <a:ext cx="13304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Jul wk1-2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125212" y="1261872"/>
            <a:ext cx="13304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Jul wk3-4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455664" y="1261872"/>
            <a:ext cx="13304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Aug wk1-2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7786116" y="1261872"/>
            <a:ext cx="13304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Aug wk3-4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9116568" y="1261872"/>
            <a:ext cx="13304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Sep wk1-2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447020" y="1261872"/>
            <a:ext cx="13304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Sep wk3-4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11480" y="1572768"/>
            <a:ext cx="11365992" cy="17556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57200" y="1572768"/>
            <a:ext cx="3291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Metcash Phase 1B</a:t>
            </a:r>
            <a:endParaRPr lang="en-US" sz="730" dirty="0"/>
          </a:p>
        </p:txBody>
      </p:sp>
      <p:sp>
        <p:nvSpPr>
          <p:cNvPr id="30" name="Shape 28"/>
          <p:cNvSpPr/>
          <p:nvPr/>
        </p:nvSpPr>
        <p:spPr>
          <a:xfrm>
            <a:off x="3794760" y="1591056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31" name="Shape 29"/>
          <p:cNvSpPr/>
          <p:nvPr/>
        </p:nvSpPr>
        <p:spPr>
          <a:xfrm>
            <a:off x="5125212" y="1591056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32" name="Shape 30"/>
          <p:cNvSpPr/>
          <p:nvPr/>
        </p:nvSpPr>
        <p:spPr>
          <a:xfrm>
            <a:off x="6455664" y="1591056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33" name="Shape 31"/>
          <p:cNvSpPr/>
          <p:nvPr/>
        </p:nvSpPr>
        <p:spPr>
          <a:xfrm>
            <a:off x="7786116" y="1591056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34" name="Shape 32"/>
          <p:cNvSpPr/>
          <p:nvPr/>
        </p:nvSpPr>
        <p:spPr>
          <a:xfrm>
            <a:off x="9116568" y="1591056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0447020" y="1591056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36" name="Shape 34"/>
          <p:cNvSpPr/>
          <p:nvPr/>
        </p:nvSpPr>
        <p:spPr>
          <a:xfrm>
            <a:off x="3822192" y="1592885"/>
            <a:ext cx="1275588" cy="129845"/>
          </a:xfrm>
          <a:prstGeom prst="roundRect">
            <a:avLst>
              <a:gd name="adj" fmla="val 45775"/>
            </a:avLst>
          </a:prstGeom>
          <a:solidFill>
            <a:srgbClr val="3D8F5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3895344" y="1580083"/>
            <a:ext cx="1165860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Ciaran</a:t>
            </a:r>
            <a:endParaRPr lang="en-US" sz="65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1748333"/>
            <a:ext cx="3291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EonX Order at Bar</a:t>
            </a:r>
            <a:endParaRPr lang="en-US" sz="730" dirty="0"/>
          </a:p>
        </p:txBody>
      </p:sp>
      <p:sp>
        <p:nvSpPr>
          <p:cNvPr id="39" name="Shape 37"/>
          <p:cNvSpPr/>
          <p:nvPr/>
        </p:nvSpPr>
        <p:spPr>
          <a:xfrm>
            <a:off x="3794760" y="1766621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40" name="Shape 38"/>
          <p:cNvSpPr/>
          <p:nvPr/>
        </p:nvSpPr>
        <p:spPr>
          <a:xfrm>
            <a:off x="5125212" y="1766621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41" name="Shape 39"/>
          <p:cNvSpPr/>
          <p:nvPr/>
        </p:nvSpPr>
        <p:spPr>
          <a:xfrm>
            <a:off x="6455664" y="1766621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42" name="Shape 40"/>
          <p:cNvSpPr/>
          <p:nvPr/>
        </p:nvSpPr>
        <p:spPr>
          <a:xfrm>
            <a:off x="7786116" y="1766621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43" name="Shape 41"/>
          <p:cNvSpPr/>
          <p:nvPr/>
        </p:nvSpPr>
        <p:spPr>
          <a:xfrm>
            <a:off x="9116568" y="1766621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44" name="Shape 42"/>
          <p:cNvSpPr/>
          <p:nvPr/>
        </p:nvSpPr>
        <p:spPr>
          <a:xfrm>
            <a:off x="10447020" y="1766621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45" name="Shape 43"/>
          <p:cNvSpPr/>
          <p:nvPr/>
        </p:nvSpPr>
        <p:spPr>
          <a:xfrm>
            <a:off x="3822192" y="1768450"/>
            <a:ext cx="1275588" cy="129845"/>
          </a:xfrm>
          <a:prstGeom prst="roundRect">
            <a:avLst>
              <a:gd name="adj" fmla="val 45775"/>
            </a:avLst>
          </a:prstGeom>
          <a:solidFill>
            <a:srgbClr val="3D8F5F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3895344" y="1755648"/>
            <a:ext cx="1165860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Ciaran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411480" y="1923898"/>
            <a:ext cx="11365992" cy="17556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457200" y="1923898"/>
            <a:ext cx="3291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WebOrders Reference/BatchID Capture</a:t>
            </a:r>
            <a:endParaRPr lang="en-US" sz="730" dirty="0"/>
          </a:p>
        </p:txBody>
      </p:sp>
      <p:sp>
        <p:nvSpPr>
          <p:cNvPr id="49" name="Shape 47"/>
          <p:cNvSpPr/>
          <p:nvPr/>
        </p:nvSpPr>
        <p:spPr>
          <a:xfrm>
            <a:off x="3794760" y="1942186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50" name="Shape 48"/>
          <p:cNvSpPr/>
          <p:nvPr/>
        </p:nvSpPr>
        <p:spPr>
          <a:xfrm>
            <a:off x="5125212" y="1942186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51" name="Shape 49"/>
          <p:cNvSpPr/>
          <p:nvPr/>
        </p:nvSpPr>
        <p:spPr>
          <a:xfrm>
            <a:off x="6455664" y="1942186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52" name="Shape 50"/>
          <p:cNvSpPr/>
          <p:nvPr/>
        </p:nvSpPr>
        <p:spPr>
          <a:xfrm>
            <a:off x="7786116" y="1942186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53" name="Shape 51"/>
          <p:cNvSpPr/>
          <p:nvPr/>
        </p:nvSpPr>
        <p:spPr>
          <a:xfrm>
            <a:off x="9116568" y="1942186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54" name="Shape 52"/>
          <p:cNvSpPr/>
          <p:nvPr/>
        </p:nvSpPr>
        <p:spPr>
          <a:xfrm>
            <a:off x="10447020" y="1942186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55" name="Shape 53"/>
          <p:cNvSpPr/>
          <p:nvPr/>
        </p:nvSpPr>
        <p:spPr>
          <a:xfrm>
            <a:off x="5152644" y="1944014"/>
            <a:ext cx="1275588" cy="129845"/>
          </a:xfrm>
          <a:prstGeom prst="roundRect">
            <a:avLst>
              <a:gd name="adj" fmla="val 45775"/>
            </a:avLst>
          </a:prstGeom>
          <a:solidFill>
            <a:srgbClr val="3D8F5F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5225796" y="1931213"/>
            <a:ext cx="1165860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Ciaran</a:t>
            </a:r>
            <a:endParaRPr lang="en-US" sz="650" dirty="0"/>
          </a:p>
        </p:txBody>
      </p:sp>
      <p:sp>
        <p:nvSpPr>
          <p:cNvPr id="57" name="Text 55"/>
          <p:cNvSpPr txBox="1"/>
          <p:nvPr/>
        </p:nvSpPr>
        <p:spPr>
          <a:xfrm>
            <a:off x="457200" y="2099462"/>
            <a:ext cx="3291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Eonx API Uplift</a:t>
            </a:r>
            <a:endParaRPr lang="en-US" sz="730" dirty="0"/>
          </a:p>
        </p:txBody>
      </p:sp>
      <p:sp>
        <p:nvSpPr>
          <p:cNvPr id="58" name="Shape 56"/>
          <p:cNvSpPr/>
          <p:nvPr/>
        </p:nvSpPr>
        <p:spPr>
          <a:xfrm>
            <a:off x="3794760" y="2117750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59" name="Shape 57"/>
          <p:cNvSpPr/>
          <p:nvPr/>
        </p:nvSpPr>
        <p:spPr>
          <a:xfrm>
            <a:off x="5125212" y="2117750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60" name="Shape 58"/>
          <p:cNvSpPr/>
          <p:nvPr/>
        </p:nvSpPr>
        <p:spPr>
          <a:xfrm>
            <a:off x="6455664" y="2117750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61" name="Shape 59"/>
          <p:cNvSpPr/>
          <p:nvPr/>
        </p:nvSpPr>
        <p:spPr>
          <a:xfrm>
            <a:off x="7786116" y="2117750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62" name="Shape 60"/>
          <p:cNvSpPr/>
          <p:nvPr/>
        </p:nvSpPr>
        <p:spPr>
          <a:xfrm>
            <a:off x="9116568" y="2117750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63" name="Shape 61"/>
          <p:cNvSpPr/>
          <p:nvPr/>
        </p:nvSpPr>
        <p:spPr>
          <a:xfrm>
            <a:off x="10447020" y="2117750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64" name="Shape 62"/>
          <p:cNvSpPr/>
          <p:nvPr/>
        </p:nvSpPr>
        <p:spPr>
          <a:xfrm>
            <a:off x="6483096" y="2119579"/>
            <a:ext cx="2606040" cy="129845"/>
          </a:xfrm>
          <a:prstGeom prst="roundRect">
            <a:avLst>
              <a:gd name="adj" fmla="val 45775"/>
            </a:avLst>
          </a:prstGeom>
          <a:solidFill>
            <a:srgbClr val="C88A2E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6556248" y="2106778"/>
            <a:ext cx="2496312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Ciaran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411480" y="2275027"/>
            <a:ext cx="11365992" cy="17556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457200" y="2275027"/>
            <a:ext cx="3291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Onxy Gaming</a:t>
            </a:r>
            <a:endParaRPr lang="en-US" sz="730" dirty="0"/>
          </a:p>
        </p:txBody>
      </p:sp>
      <p:sp>
        <p:nvSpPr>
          <p:cNvPr id="68" name="Shape 66"/>
          <p:cNvSpPr/>
          <p:nvPr/>
        </p:nvSpPr>
        <p:spPr>
          <a:xfrm>
            <a:off x="3794760" y="2293315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69" name="Shape 67"/>
          <p:cNvSpPr/>
          <p:nvPr/>
        </p:nvSpPr>
        <p:spPr>
          <a:xfrm>
            <a:off x="5125212" y="2293315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70" name="Shape 68"/>
          <p:cNvSpPr/>
          <p:nvPr/>
        </p:nvSpPr>
        <p:spPr>
          <a:xfrm>
            <a:off x="6455664" y="2293315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71" name="Shape 69"/>
          <p:cNvSpPr/>
          <p:nvPr/>
        </p:nvSpPr>
        <p:spPr>
          <a:xfrm>
            <a:off x="7786116" y="2293315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72" name="Shape 70"/>
          <p:cNvSpPr/>
          <p:nvPr/>
        </p:nvSpPr>
        <p:spPr>
          <a:xfrm>
            <a:off x="9116568" y="2293315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73" name="Shape 71"/>
          <p:cNvSpPr/>
          <p:nvPr/>
        </p:nvSpPr>
        <p:spPr>
          <a:xfrm>
            <a:off x="10447020" y="2293315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22192" y="2295144"/>
            <a:ext cx="1275588" cy="129845"/>
          </a:xfrm>
          <a:prstGeom prst="roundRect">
            <a:avLst>
              <a:gd name="adj" fmla="val 45775"/>
            </a:avLst>
          </a:prstGeom>
          <a:solidFill>
            <a:srgbClr val="3D8F5F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3895344" y="2282342"/>
            <a:ext cx="1165860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Hawraa</a:t>
            </a:r>
            <a:endParaRPr lang="en-US" sz="650" dirty="0"/>
          </a:p>
        </p:txBody>
      </p:sp>
      <p:sp>
        <p:nvSpPr>
          <p:cNvPr id="76" name="Text 74"/>
          <p:cNvSpPr txBox="1"/>
          <p:nvPr/>
        </p:nvSpPr>
        <p:spPr>
          <a:xfrm>
            <a:off x="457200" y="2450592"/>
            <a:ext cx="3291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SCIS Stock Movement</a:t>
            </a:r>
            <a:endParaRPr lang="en-US" sz="730" dirty="0"/>
          </a:p>
        </p:txBody>
      </p:sp>
      <p:sp>
        <p:nvSpPr>
          <p:cNvPr id="77" name="Shape 75"/>
          <p:cNvSpPr/>
          <p:nvPr/>
        </p:nvSpPr>
        <p:spPr>
          <a:xfrm>
            <a:off x="3794760" y="2468880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78" name="Shape 76"/>
          <p:cNvSpPr/>
          <p:nvPr/>
        </p:nvSpPr>
        <p:spPr>
          <a:xfrm>
            <a:off x="5125212" y="2468880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79" name="Shape 77"/>
          <p:cNvSpPr/>
          <p:nvPr/>
        </p:nvSpPr>
        <p:spPr>
          <a:xfrm>
            <a:off x="6455664" y="2468880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80" name="Shape 78"/>
          <p:cNvSpPr/>
          <p:nvPr/>
        </p:nvSpPr>
        <p:spPr>
          <a:xfrm>
            <a:off x="7786116" y="2468880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81" name="Shape 79"/>
          <p:cNvSpPr/>
          <p:nvPr/>
        </p:nvSpPr>
        <p:spPr>
          <a:xfrm>
            <a:off x="9116568" y="2468880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82" name="Shape 80"/>
          <p:cNvSpPr/>
          <p:nvPr/>
        </p:nvSpPr>
        <p:spPr>
          <a:xfrm>
            <a:off x="10447020" y="2468880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83" name="Shape 81"/>
          <p:cNvSpPr/>
          <p:nvPr/>
        </p:nvSpPr>
        <p:spPr>
          <a:xfrm>
            <a:off x="3822192" y="2470709"/>
            <a:ext cx="2606040" cy="129845"/>
          </a:xfrm>
          <a:prstGeom prst="roundRect">
            <a:avLst>
              <a:gd name="adj" fmla="val 45775"/>
            </a:avLst>
          </a:prstGeom>
          <a:solidFill>
            <a:srgbClr val="3D8F5F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3895344" y="2457907"/>
            <a:ext cx="2496312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Brad</a:t>
            </a:r>
            <a:endParaRPr lang="en-US" sz="650" dirty="0"/>
          </a:p>
        </p:txBody>
      </p:sp>
      <p:sp>
        <p:nvSpPr>
          <p:cNvPr id="85" name="Shape 83"/>
          <p:cNvSpPr/>
          <p:nvPr/>
        </p:nvSpPr>
        <p:spPr>
          <a:xfrm>
            <a:off x="411480" y="2626157"/>
            <a:ext cx="11365992" cy="17556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6" name="Text 84"/>
          <p:cNvSpPr txBox="1"/>
          <p:nvPr/>
        </p:nvSpPr>
        <p:spPr>
          <a:xfrm>
            <a:off x="457200" y="2626157"/>
            <a:ext cx="3291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EDR Auth</a:t>
            </a:r>
            <a:endParaRPr lang="en-US" sz="730" dirty="0"/>
          </a:p>
        </p:txBody>
      </p:sp>
      <p:sp>
        <p:nvSpPr>
          <p:cNvPr id="87" name="Shape 85"/>
          <p:cNvSpPr/>
          <p:nvPr/>
        </p:nvSpPr>
        <p:spPr>
          <a:xfrm>
            <a:off x="3794760" y="2644445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88" name="Shape 86"/>
          <p:cNvSpPr/>
          <p:nvPr/>
        </p:nvSpPr>
        <p:spPr>
          <a:xfrm>
            <a:off x="5125212" y="2644445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89" name="Shape 87"/>
          <p:cNvSpPr/>
          <p:nvPr/>
        </p:nvSpPr>
        <p:spPr>
          <a:xfrm>
            <a:off x="6455664" y="2644445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90" name="Shape 88"/>
          <p:cNvSpPr/>
          <p:nvPr/>
        </p:nvSpPr>
        <p:spPr>
          <a:xfrm>
            <a:off x="7786116" y="2644445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91" name="Shape 89"/>
          <p:cNvSpPr/>
          <p:nvPr/>
        </p:nvSpPr>
        <p:spPr>
          <a:xfrm>
            <a:off x="9116568" y="2644445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92" name="Shape 90"/>
          <p:cNvSpPr/>
          <p:nvPr/>
        </p:nvSpPr>
        <p:spPr>
          <a:xfrm>
            <a:off x="10447020" y="2644445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93" name="Shape 91"/>
          <p:cNvSpPr/>
          <p:nvPr/>
        </p:nvSpPr>
        <p:spPr>
          <a:xfrm>
            <a:off x="5152644" y="2646274"/>
            <a:ext cx="1275588" cy="129845"/>
          </a:xfrm>
          <a:prstGeom prst="roundRect">
            <a:avLst>
              <a:gd name="adj" fmla="val 45775"/>
            </a:avLst>
          </a:prstGeom>
          <a:solidFill>
            <a:srgbClr val="3D8F5F"/>
          </a:solidFill>
          <a:ln/>
        </p:spPr>
      </p:sp>
      <p:sp>
        <p:nvSpPr>
          <p:cNvPr id="94" name="Text 92"/>
          <p:cNvSpPr txBox="1"/>
          <p:nvPr/>
        </p:nvSpPr>
        <p:spPr>
          <a:xfrm>
            <a:off x="5225796" y="2633472"/>
            <a:ext cx="1165860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Ciaran</a:t>
            </a:r>
            <a:endParaRPr lang="en-US" sz="650" dirty="0"/>
          </a:p>
        </p:txBody>
      </p:sp>
      <p:sp>
        <p:nvSpPr>
          <p:cNvPr id="95" name="Text 93"/>
          <p:cNvSpPr txBox="1"/>
          <p:nvPr/>
        </p:nvSpPr>
        <p:spPr>
          <a:xfrm>
            <a:off x="457200" y="2801722"/>
            <a:ext cx="3291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Accounts Flow Auto Promo File Delivery</a:t>
            </a:r>
            <a:endParaRPr lang="en-US" sz="730" dirty="0"/>
          </a:p>
        </p:txBody>
      </p:sp>
      <p:sp>
        <p:nvSpPr>
          <p:cNvPr id="96" name="Shape 94"/>
          <p:cNvSpPr/>
          <p:nvPr/>
        </p:nvSpPr>
        <p:spPr>
          <a:xfrm>
            <a:off x="3794760" y="2820010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97" name="Shape 95"/>
          <p:cNvSpPr/>
          <p:nvPr/>
        </p:nvSpPr>
        <p:spPr>
          <a:xfrm>
            <a:off x="5125212" y="2820010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98" name="Shape 96"/>
          <p:cNvSpPr/>
          <p:nvPr/>
        </p:nvSpPr>
        <p:spPr>
          <a:xfrm>
            <a:off x="6455664" y="2820010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99" name="Shape 97"/>
          <p:cNvSpPr/>
          <p:nvPr/>
        </p:nvSpPr>
        <p:spPr>
          <a:xfrm>
            <a:off x="7786116" y="2820010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9116568" y="2820010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10447020" y="2820010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152644" y="2821838"/>
            <a:ext cx="1275588" cy="129845"/>
          </a:xfrm>
          <a:prstGeom prst="roundRect">
            <a:avLst>
              <a:gd name="adj" fmla="val 45775"/>
            </a:avLst>
          </a:prstGeom>
          <a:solidFill>
            <a:srgbClr val="3D8F5F"/>
          </a:solidFill>
          <a:ln/>
        </p:spPr>
      </p:sp>
      <p:sp>
        <p:nvSpPr>
          <p:cNvPr id="103" name="Text 101"/>
          <p:cNvSpPr txBox="1"/>
          <p:nvPr/>
        </p:nvSpPr>
        <p:spPr>
          <a:xfrm>
            <a:off x="5225796" y="2809037"/>
            <a:ext cx="1165860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Ciaran</a:t>
            </a:r>
            <a:endParaRPr lang="en-US" sz="650" dirty="0"/>
          </a:p>
        </p:txBody>
      </p:sp>
      <p:sp>
        <p:nvSpPr>
          <p:cNvPr id="104" name="Shape 102"/>
          <p:cNvSpPr/>
          <p:nvPr/>
        </p:nvSpPr>
        <p:spPr>
          <a:xfrm>
            <a:off x="411480" y="2977286"/>
            <a:ext cx="11365992" cy="17556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5" name="Text 103"/>
          <p:cNvSpPr txBox="1"/>
          <p:nvPr/>
        </p:nvSpPr>
        <p:spPr>
          <a:xfrm>
            <a:off x="457200" y="2977286"/>
            <a:ext cx="3291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Create Stripe Terminal Simulator</a:t>
            </a:r>
            <a:endParaRPr lang="en-US" sz="730" dirty="0"/>
          </a:p>
        </p:txBody>
      </p:sp>
      <p:sp>
        <p:nvSpPr>
          <p:cNvPr id="106" name="Shape 104"/>
          <p:cNvSpPr/>
          <p:nvPr/>
        </p:nvSpPr>
        <p:spPr>
          <a:xfrm>
            <a:off x="3794760" y="2995574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125212" y="2995574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6455664" y="2995574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7786116" y="2995574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9116568" y="2995574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10447020" y="2995574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152644" y="2997403"/>
            <a:ext cx="1275588" cy="129845"/>
          </a:xfrm>
          <a:prstGeom prst="roundRect">
            <a:avLst>
              <a:gd name="adj" fmla="val 45775"/>
            </a:avLst>
          </a:prstGeom>
          <a:solidFill>
            <a:srgbClr val="3D8F5F"/>
          </a:solidFill>
          <a:ln/>
        </p:spPr>
      </p:sp>
      <p:sp>
        <p:nvSpPr>
          <p:cNvPr id="113" name="Text 111"/>
          <p:cNvSpPr txBox="1"/>
          <p:nvPr/>
        </p:nvSpPr>
        <p:spPr>
          <a:xfrm>
            <a:off x="5225796" y="2984602"/>
            <a:ext cx="1165860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Dave</a:t>
            </a:r>
            <a:endParaRPr lang="en-US" sz="650" dirty="0"/>
          </a:p>
        </p:txBody>
      </p:sp>
      <p:sp>
        <p:nvSpPr>
          <p:cNvPr id="114" name="Text 112"/>
          <p:cNvSpPr txBox="1"/>
          <p:nvPr/>
        </p:nvSpPr>
        <p:spPr>
          <a:xfrm>
            <a:off x="457200" y="3152851"/>
            <a:ext cx="3291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ALH Bug Fixes</a:t>
            </a:r>
            <a:endParaRPr lang="en-US" sz="730" dirty="0"/>
          </a:p>
        </p:txBody>
      </p:sp>
      <p:sp>
        <p:nvSpPr>
          <p:cNvPr id="115" name="Shape 113"/>
          <p:cNvSpPr/>
          <p:nvPr/>
        </p:nvSpPr>
        <p:spPr>
          <a:xfrm>
            <a:off x="3794760" y="3171139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125212" y="3171139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6455664" y="3171139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7786116" y="3171139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9116568" y="3171139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10447020" y="3171139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3822192" y="3172968"/>
            <a:ext cx="1275588" cy="129845"/>
          </a:xfrm>
          <a:prstGeom prst="roundRect">
            <a:avLst>
              <a:gd name="adj" fmla="val 45775"/>
            </a:avLst>
          </a:prstGeom>
          <a:solidFill>
            <a:srgbClr val="3D8F5F"/>
          </a:solidFill>
          <a:ln/>
        </p:spPr>
      </p:sp>
      <p:sp>
        <p:nvSpPr>
          <p:cNvPr id="122" name="Text 120"/>
          <p:cNvSpPr txBox="1"/>
          <p:nvPr/>
        </p:nvSpPr>
        <p:spPr>
          <a:xfrm>
            <a:off x="3895344" y="3160166"/>
            <a:ext cx="1165860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Ciaran</a:t>
            </a:r>
            <a:endParaRPr lang="en-US" sz="650" dirty="0"/>
          </a:p>
        </p:txBody>
      </p:sp>
      <p:sp>
        <p:nvSpPr>
          <p:cNvPr id="123" name="Shape 121"/>
          <p:cNvSpPr/>
          <p:nvPr/>
        </p:nvSpPr>
        <p:spPr>
          <a:xfrm>
            <a:off x="411480" y="3328416"/>
            <a:ext cx="11365992" cy="17556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4" name="Text 122"/>
          <p:cNvSpPr txBox="1"/>
          <p:nvPr/>
        </p:nvSpPr>
        <p:spPr>
          <a:xfrm>
            <a:off x="457200" y="3328416"/>
            <a:ext cx="3291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ALH Food Pricing - PLU Visibility Filter</a:t>
            </a:r>
            <a:endParaRPr lang="en-US" sz="730" dirty="0"/>
          </a:p>
        </p:txBody>
      </p:sp>
      <p:sp>
        <p:nvSpPr>
          <p:cNvPr id="125" name="Shape 123"/>
          <p:cNvSpPr/>
          <p:nvPr/>
        </p:nvSpPr>
        <p:spPr>
          <a:xfrm>
            <a:off x="3794760" y="3346704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5125212" y="3346704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455664" y="3346704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7786116" y="3346704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9116568" y="3346704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10447020" y="3346704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5152644" y="3348533"/>
            <a:ext cx="1275588" cy="129845"/>
          </a:xfrm>
          <a:prstGeom prst="roundRect">
            <a:avLst>
              <a:gd name="adj" fmla="val 45775"/>
            </a:avLst>
          </a:prstGeom>
          <a:solidFill>
            <a:srgbClr val="C88A2E"/>
          </a:solidFill>
          <a:ln/>
        </p:spPr>
      </p:sp>
      <p:sp>
        <p:nvSpPr>
          <p:cNvPr id="132" name="Text 130"/>
          <p:cNvSpPr txBox="1"/>
          <p:nvPr/>
        </p:nvSpPr>
        <p:spPr>
          <a:xfrm>
            <a:off x="5225796" y="3335731"/>
            <a:ext cx="1165860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Ciaran</a:t>
            </a:r>
            <a:endParaRPr lang="en-US" sz="650" dirty="0"/>
          </a:p>
        </p:txBody>
      </p:sp>
      <p:sp>
        <p:nvSpPr>
          <p:cNvPr id="133" name="Text 131"/>
          <p:cNvSpPr txBox="1"/>
          <p:nvPr/>
        </p:nvSpPr>
        <p:spPr>
          <a:xfrm>
            <a:off x="457200" y="3503981"/>
            <a:ext cx="3291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ALH RMS</a:t>
            </a:r>
            <a:endParaRPr lang="en-US" sz="730" dirty="0"/>
          </a:p>
        </p:txBody>
      </p:sp>
      <p:sp>
        <p:nvSpPr>
          <p:cNvPr id="134" name="Shape 132"/>
          <p:cNvSpPr/>
          <p:nvPr/>
        </p:nvSpPr>
        <p:spPr>
          <a:xfrm>
            <a:off x="3794760" y="3522269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5125212" y="3522269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455664" y="3522269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7786116" y="3522269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9116568" y="3522269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10447020" y="3522269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483096" y="3524098"/>
            <a:ext cx="1275588" cy="129845"/>
          </a:xfrm>
          <a:prstGeom prst="roundRect">
            <a:avLst>
              <a:gd name="adj" fmla="val 45775"/>
            </a:avLst>
          </a:prstGeom>
          <a:solidFill>
            <a:srgbClr val="C88A2E"/>
          </a:solidFill>
          <a:ln/>
        </p:spPr>
      </p:sp>
      <p:sp>
        <p:nvSpPr>
          <p:cNvPr id="141" name="Text 139"/>
          <p:cNvSpPr txBox="1"/>
          <p:nvPr/>
        </p:nvSpPr>
        <p:spPr>
          <a:xfrm>
            <a:off x="6556248" y="3511296"/>
            <a:ext cx="1165860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Brad</a:t>
            </a:r>
            <a:endParaRPr lang="en-US" sz="650" dirty="0"/>
          </a:p>
        </p:txBody>
      </p:sp>
      <p:sp>
        <p:nvSpPr>
          <p:cNvPr id="142" name="Shape 140"/>
          <p:cNvSpPr/>
          <p:nvPr/>
        </p:nvSpPr>
        <p:spPr>
          <a:xfrm>
            <a:off x="411480" y="3679546"/>
            <a:ext cx="11365992" cy="17556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3" name="Text 141"/>
          <p:cNvSpPr txBox="1"/>
          <p:nvPr/>
        </p:nvSpPr>
        <p:spPr>
          <a:xfrm>
            <a:off x="457200" y="3679546"/>
            <a:ext cx="3291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LMG - various enhancemens</a:t>
            </a:r>
            <a:endParaRPr lang="en-US" sz="730" dirty="0"/>
          </a:p>
        </p:txBody>
      </p:sp>
      <p:sp>
        <p:nvSpPr>
          <p:cNvPr id="144" name="Shape 142"/>
          <p:cNvSpPr/>
          <p:nvPr/>
        </p:nvSpPr>
        <p:spPr>
          <a:xfrm>
            <a:off x="3794760" y="3697834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5125212" y="3697834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6455664" y="3697834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786116" y="3697834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9116568" y="3697834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10447020" y="3697834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813548" y="3699662"/>
            <a:ext cx="2606040" cy="129845"/>
          </a:xfrm>
          <a:prstGeom prst="roundRect">
            <a:avLst>
              <a:gd name="adj" fmla="val 45775"/>
            </a:avLst>
          </a:prstGeom>
          <a:solidFill>
            <a:srgbClr val="C7D3DA">
              <a:alpha val="75000"/>
            </a:srgbClr>
          </a:solidFill>
          <a:ln/>
        </p:spPr>
      </p:sp>
      <p:sp>
        <p:nvSpPr>
          <p:cNvPr id="151" name="Text 149"/>
          <p:cNvSpPr txBox="1"/>
          <p:nvPr/>
        </p:nvSpPr>
        <p:spPr>
          <a:xfrm>
            <a:off x="7886700" y="3686861"/>
            <a:ext cx="2496312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Brad</a:t>
            </a:r>
            <a:endParaRPr lang="en-US" sz="650" dirty="0"/>
          </a:p>
        </p:txBody>
      </p:sp>
      <p:sp>
        <p:nvSpPr>
          <p:cNvPr id="152" name="Text 150"/>
          <p:cNvSpPr txBox="1"/>
          <p:nvPr/>
        </p:nvSpPr>
        <p:spPr>
          <a:xfrm>
            <a:off x="457200" y="3855110"/>
            <a:ext cx="3291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Bug Run 9.3</a:t>
            </a:r>
            <a:endParaRPr lang="en-US" sz="730" dirty="0"/>
          </a:p>
        </p:txBody>
      </p:sp>
      <p:sp>
        <p:nvSpPr>
          <p:cNvPr id="153" name="Shape 151"/>
          <p:cNvSpPr/>
          <p:nvPr/>
        </p:nvSpPr>
        <p:spPr>
          <a:xfrm>
            <a:off x="3794760" y="3873398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5125212" y="3873398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6455664" y="3873398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786116" y="3873398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9116568" y="3873398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10447020" y="3873398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10474452" y="3875227"/>
            <a:ext cx="1275588" cy="129845"/>
          </a:xfrm>
          <a:prstGeom prst="roundRect">
            <a:avLst>
              <a:gd name="adj" fmla="val 45775"/>
            </a:avLst>
          </a:prstGeom>
          <a:solidFill>
            <a:srgbClr val="C7D3DA">
              <a:alpha val="75000"/>
            </a:srgbClr>
          </a:solidFill>
          <a:ln/>
        </p:spPr>
      </p:sp>
      <p:sp>
        <p:nvSpPr>
          <p:cNvPr id="160" name="Text 158"/>
          <p:cNvSpPr txBox="1"/>
          <p:nvPr/>
        </p:nvSpPr>
        <p:spPr>
          <a:xfrm>
            <a:off x="10547604" y="3862426"/>
            <a:ext cx="1165860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Brad</a:t>
            </a:r>
            <a:endParaRPr lang="en-US" sz="650" dirty="0"/>
          </a:p>
        </p:txBody>
      </p:sp>
      <p:sp>
        <p:nvSpPr>
          <p:cNvPr id="161" name="Shape 159"/>
          <p:cNvSpPr/>
          <p:nvPr/>
        </p:nvSpPr>
        <p:spPr>
          <a:xfrm>
            <a:off x="411480" y="4030675"/>
            <a:ext cx="11365992" cy="17556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2" name="Text 160"/>
          <p:cNvSpPr txBox="1"/>
          <p:nvPr/>
        </p:nvSpPr>
        <p:spPr>
          <a:xfrm>
            <a:off x="457200" y="4030675"/>
            <a:ext cx="3291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OpenTable</a:t>
            </a:r>
            <a:endParaRPr lang="en-US" sz="730" dirty="0"/>
          </a:p>
        </p:txBody>
      </p:sp>
      <p:sp>
        <p:nvSpPr>
          <p:cNvPr id="163" name="Shape 161"/>
          <p:cNvSpPr/>
          <p:nvPr/>
        </p:nvSpPr>
        <p:spPr>
          <a:xfrm>
            <a:off x="3794760" y="4048963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5125212" y="4048963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6455664" y="4048963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7786116" y="4048963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9116568" y="4048963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10447020" y="4048963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3822192" y="4050792"/>
            <a:ext cx="2606040" cy="129845"/>
          </a:xfrm>
          <a:prstGeom prst="roundRect">
            <a:avLst>
              <a:gd name="adj" fmla="val 45775"/>
            </a:avLst>
          </a:prstGeom>
          <a:solidFill>
            <a:srgbClr val="3D8F5F"/>
          </a:solidFill>
          <a:ln/>
        </p:spPr>
      </p:sp>
      <p:sp>
        <p:nvSpPr>
          <p:cNvPr id="170" name="Text 168"/>
          <p:cNvSpPr txBox="1"/>
          <p:nvPr/>
        </p:nvSpPr>
        <p:spPr>
          <a:xfrm>
            <a:off x="3895344" y="4037990"/>
            <a:ext cx="2496312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Hawraa</a:t>
            </a:r>
            <a:endParaRPr lang="en-US" sz="650" dirty="0"/>
          </a:p>
        </p:txBody>
      </p:sp>
      <p:sp>
        <p:nvSpPr>
          <p:cNvPr id="171" name="Text 169"/>
          <p:cNvSpPr txBox="1"/>
          <p:nvPr/>
        </p:nvSpPr>
        <p:spPr>
          <a:xfrm>
            <a:off x="457200" y="4206240"/>
            <a:ext cx="3291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Metcash Scan Work (SM-6423,SM-6478)</a:t>
            </a:r>
            <a:endParaRPr lang="en-US" sz="730" dirty="0"/>
          </a:p>
        </p:txBody>
      </p:sp>
      <p:sp>
        <p:nvSpPr>
          <p:cNvPr id="172" name="Shape 170"/>
          <p:cNvSpPr/>
          <p:nvPr/>
        </p:nvSpPr>
        <p:spPr>
          <a:xfrm>
            <a:off x="3794760" y="4224528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5125212" y="4224528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6455664" y="4224528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7786116" y="4224528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9116568" y="4224528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10447020" y="4224528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9144000" y="4226357"/>
            <a:ext cx="1275588" cy="129845"/>
          </a:xfrm>
          <a:prstGeom prst="roundRect">
            <a:avLst>
              <a:gd name="adj" fmla="val 45775"/>
            </a:avLst>
          </a:prstGeom>
          <a:solidFill>
            <a:srgbClr val="C7D3DA">
              <a:alpha val="75000"/>
            </a:srgbClr>
          </a:solidFill>
          <a:ln/>
        </p:spPr>
      </p:sp>
      <p:sp>
        <p:nvSpPr>
          <p:cNvPr id="179" name="Text 177"/>
          <p:cNvSpPr txBox="1"/>
          <p:nvPr/>
        </p:nvSpPr>
        <p:spPr>
          <a:xfrm>
            <a:off x="9217152" y="4213555"/>
            <a:ext cx="1165860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Ciaran</a:t>
            </a:r>
            <a:endParaRPr lang="en-US" sz="650" dirty="0"/>
          </a:p>
        </p:txBody>
      </p:sp>
      <p:sp>
        <p:nvSpPr>
          <p:cNvPr id="180" name="Shape 178"/>
          <p:cNvSpPr/>
          <p:nvPr/>
        </p:nvSpPr>
        <p:spPr>
          <a:xfrm>
            <a:off x="411480" y="4381805"/>
            <a:ext cx="11365992" cy="17556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1" name="Text 179"/>
          <p:cNvSpPr txBox="1"/>
          <p:nvPr/>
        </p:nvSpPr>
        <p:spPr>
          <a:xfrm>
            <a:off x="457200" y="4381805"/>
            <a:ext cx="3291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Unattended Upgrades (released deployment)</a:t>
            </a:r>
            <a:endParaRPr lang="en-US" sz="730" dirty="0"/>
          </a:p>
        </p:txBody>
      </p:sp>
      <p:sp>
        <p:nvSpPr>
          <p:cNvPr id="182" name="Shape 180"/>
          <p:cNvSpPr/>
          <p:nvPr/>
        </p:nvSpPr>
        <p:spPr>
          <a:xfrm>
            <a:off x="3794760" y="4400093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83" name="Shape 181"/>
          <p:cNvSpPr/>
          <p:nvPr/>
        </p:nvSpPr>
        <p:spPr>
          <a:xfrm>
            <a:off x="5125212" y="4400093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84" name="Shape 182"/>
          <p:cNvSpPr/>
          <p:nvPr/>
        </p:nvSpPr>
        <p:spPr>
          <a:xfrm>
            <a:off x="6455664" y="4400093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85" name="Shape 183"/>
          <p:cNvSpPr/>
          <p:nvPr/>
        </p:nvSpPr>
        <p:spPr>
          <a:xfrm>
            <a:off x="7786116" y="4400093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86" name="Shape 184"/>
          <p:cNvSpPr/>
          <p:nvPr/>
        </p:nvSpPr>
        <p:spPr>
          <a:xfrm>
            <a:off x="9116568" y="4400093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87" name="Shape 185"/>
          <p:cNvSpPr/>
          <p:nvPr/>
        </p:nvSpPr>
        <p:spPr>
          <a:xfrm>
            <a:off x="10447020" y="4400093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88" name="Shape 186"/>
          <p:cNvSpPr/>
          <p:nvPr/>
        </p:nvSpPr>
        <p:spPr>
          <a:xfrm>
            <a:off x="3822192" y="4401922"/>
            <a:ext cx="3936492" cy="129845"/>
          </a:xfrm>
          <a:prstGeom prst="roundRect">
            <a:avLst>
              <a:gd name="adj" fmla="val 45775"/>
            </a:avLst>
          </a:prstGeom>
          <a:solidFill>
            <a:srgbClr val="C88A2E"/>
          </a:solidFill>
          <a:ln/>
        </p:spPr>
      </p:sp>
      <p:sp>
        <p:nvSpPr>
          <p:cNvPr id="189" name="Text 187"/>
          <p:cNvSpPr txBox="1"/>
          <p:nvPr/>
        </p:nvSpPr>
        <p:spPr>
          <a:xfrm>
            <a:off x="3895344" y="4389120"/>
            <a:ext cx="3826764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Dave</a:t>
            </a:r>
            <a:endParaRPr lang="en-US" sz="650" dirty="0"/>
          </a:p>
        </p:txBody>
      </p:sp>
      <p:sp>
        <p:nvSpPr>
          <p:cNvPr id="190" name="Text 188"/>
          <p:cNvSpPr txBox="1"/>
          <p:nvPr/>
        </p:nvSpPr>
        <p:spPr>
          <a:xfrm>
            <a:off x="457200" y="4557370"/>
            <a:ext cx="3291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H&amp;L Pay - Tyro Parity</a:t>
            </a:r>
            <a:endParaRPr lang="en-US" sz="730" dirty="0"/>
          </a:p>
        </p:txBody>
      </p:sp>
      <p:sp>
        <p:nvSpPr>
          <p:cNvPr id="191" name="Shape 189"/>
          <p:cNvSpPr/>
          <p:nvPr/>
        </p:nvSpPr>
        <p:spPr>
          <a:xfrm>
            <a:off x="3794760" y="4575658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92" name="Shape 190"/>
          <p:cNvSpPr/>
          <p:nvPr/>
        </p:nvSpPr>
        <p:spPr>
          <a:xfrm>
            <a:off x="5125212" y="4575658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93" name="Shape 191"/>
          <p:cNvSpPr/>
          <p:nvPr/>
        </p:nvSpPr>
        <p:spPr>
          <a:xfrm>
            <a:off x="6455664" y="4575658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94" name="Shape 192"/>
          <p:cNvSpPr/>
          <p:nvPr/>
        </p:nvSpPr>
        <p:spPr>
          <a:xfrm>
            <a:off x="7786116" y="4575658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95" name="Shape 193"/>
          <p:cNvSpPr/>
          <p:nvPr/>
        </p:nvSpPr>
        <p:spPr>
          <a:xfrm>
            <a:off x="9116568" y="4575658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96" name="Shape 194"/>
          <p:cNvSpPr/>
          <p:nvPr/>
        </p:nvSpPr>
        <p:spPr>
          <a:xfrm>
            <a:off x="10447020" y="4575658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197" name="Shape 195"/>
          <p:cNvSpPr/>
          <p:nvPr/>
        </p:nvSpPr>
        <p:spPr>
          <a:xfrm>
            <a:off x="5152644" y="4577486"/>
            <a:ext cx="6597396" cy="129845"/>
          </a:xfrm>
          <a:prstGeom prst="roundRect">
            <a:avLst>
              <a:gd name="adj" fmla="val 45775"/>
            </a:avLst>
          </a:prstGeom>
          <a:solidFill>
            <a:srgbClr val="B4552D"/>
          </a:solidFill>
          <a:ln/>
        </p:spPr>
      </p:sp>
      <p:sp>
        <p:nvSpPr>
          <p:cNvPr id="198" name="Text 196"/>
          <p:cNvSpPr txBox="1"/>
          <p:nvPr/>
        </p:nvSpPr>
        <p:spPr>
          <a:xfrm>
            <a:off x="5225796" y="4564685"/>
            <a:ext cx="6487668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Valpay</a:t>
            </a:r>
            <a:endParaRPr lang="en-US" sz="650" dirty="0"/>
          </a:p>
        </p:txBody>
      </p:sp>
      <p:sp>
        <p:nvSpPr>
          <p:cNvPr id="199" name="Shape 197"/>
          <p:cNvSpPr/>
          <p:nvPr/>
        </p:nvSpPr>
        <p:spPr>
          <a:xfrm>
            <a:off x="411480" y="4732934"/>
            <a:ext cx="11365992" cy="17556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0" name="Text 198"/>
          <p:cNvSpPr txBox="1"/>
          <p:nvPr/>
        </p:nvSpPr>
        <p:spPr>
          <a:xfrm>
            <a:off x="457200" y="4732934"/>
            <a:ext cx="3291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QR Code Ordering</a:t>
            </a:r>
            <a:endParaRPr lang="en-US" sz="730" dirty="0"/>
          </a:p>
        </p:txBody>
      </p:sp>
      <p:sp>
        <p:nvSpPr>
          <p:cNvPr id="201" name="Shape 199"/>
          <p:cNvSpPr/>
          <p:nvPr/>
        </p:nvSpPr>
        <p:spPr>
          <a:xfrm>
            <a:off x="3794760" y="4751222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02" name="Shape 200"/>
          <p:cNvSpPr/>
          <p:nvPr/>
        </p:nvSpPr>
        <p:spPr>
          <a:xfrm>
            <a:off x="5125212" y="4751222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03" name="Shape 201"/>
          <p:cNvSpPr/>
          <p:nvPr/>
        </p:nvSpPr>
        <p:spPr>
          <a:xfrm>
            <a:off x="6455664" y="4751222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04" name="Shape 202"/>
          <p:cNvSpPr/>
          <p:nvPr/>
        </p:nvSpPr>
        <p:spPr>
          <a:xfrm>
            <a:off x="7786116" y="4751222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05" name="Shape 203"/>
          <p:cNvSpPr/>
          <p:nvPr/>
        </p:nvSpPr>
        <p:spPr>
          <a:xfrm>
            <a:off x="9116568" y="4751222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06" name="Shape 204"/>
          <p:cNvSpPr/>
          <p:nvPr/>
        </p:nvSpPr>
        <p:spPr>
          <a:xfrm>
            <a:off x="10447020" y="4751222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07" name="Shape 205"/>
          <p:cNvSpPr/>
          <p:nvPr/>
        </p:nvSpPr>
        <p:spPr>
          <a:xfrm>
            <a:off x="3822192" y="4753051"/>
            <a:ext cx="7927848" cy="129845"/>
          </a:xfrm>
          <a:prstGeom prst="roundRect">
            <a:avLst>
              <a:gd name="adj" fmla="val 45775"/>
            </a:avLst>
          </a:prstGeom>
          <a:solidFill>
            <a:srgbClr val="C88A2E"/>
          </a:solidFill>
          <a:ln/>
        </p:spPr>
      </p:sp>
      <p:sp>
        <p:nvSpPr>
          <p:cNvPr id="208" name="Text 206"/>
          <p:cNvSpPr txBox="1"/>
          <p:nvPr/>
        </p:nvSpPr>
        <p:spPr>
          <a:xfrm>
            <a:off x="3895344" y="4740250"/>
            <a:ext cx="7818120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Tony</a:t>
            </a:r>
            <a:endParaRPr lang="en-US" sz="650" dirty="0"/>
          </a:p>
        </p:txBody>
      </p:sp>
      <p:sp>
        <p:nvSpPr>
          <p:cNvPr id="209" name="Text 207"/>
          <p:cNvSpPr txBox="1"/>
          <p:nvPr/>
        </p:nvSpPr>
        <p:spPr>
          <a:xfrm>
            <a:off x="457200" y="4908499"/>
            <a:ext cx="3291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Mobile POS - Native Apps</a:t>
            </a:r>
            <a:endParaRPr lang="en-US" sz="730" dirty="0"/>
          </a:p>
        </p:txBody>
      </p:sp>
      <p:sp>
        <p:nvSpPr>
          <p:cNvPr id="210" name="Shape 208"/>
          <p:cNvSpPr/>
          <p:nvPr/>
        </p:nvSpPr>
        <p:spPr>
          <a:xfrm>
            <a:off x="3794760" y="4926787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11" name="Shape 209"/>
          <p:cNvSpPr/>
          <p:nvPr/>
        </p:nvSpPr>
        <p:spPr>
          <a:xfrm>
            <a:off x="5125212" y="4926787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12" name="Shape 210"/>
          <p:cNvSpPr/>
          <p:nvPr/>
        </p:nvSpPr>
        <p:spPr>
          <a:xfrm>
            <a:off x="6455664" y="4926787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13" name="Shape 211"/>
          <p:cNvSpPr/>
          <p:nvPr/>
        </p:nvSpPr>
        <p:spPr>
          <a:xfrm>
            <a:off x="7786116" y="4926787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14" name="Shape 212"/>
          <p:cNvSpPr/>
          <p:nvPr/>
        </p:nvSpPr>
        <p:spPr>
          <a:xfrm>
            <a:off x="9116568" y="4926787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15" name="Shape 213"/>
          <p:cNvSpPr/>
          <p:nvPr/>
        </p:nvSpPr>
        <p:spPr>
          <a:xfrm>
            <a:off x="10447020" y="4926787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16" name="Shape 214"/>
          <p:cNvSpPr/>
          <p:nvPr/>
        </p:nvSpPr>
        <p:spPr>
          <a:xfrm>
            <a:off x="3822192" y="4928616"/>
            <a:ext cx="3936492" cy="129845"/>
          </a:xfrm>
          <a:prstGeom prst="roundRect">
            <a:avLst>
              <a:gd name="adj" fmla="val 45775"/>
            </a:avLst>
          </a:prstGeom>
          <a:solidFill>
            <a:srgbClr val="C88A2E"/>
          </a:solidFill>
          <a:ln/>
        </p:spPr>
      </p:sp>
      <p:sp>
        <p:nvSpPr>
          <p:cNvPr id="217" name="Text 215"/>
          <p:cNvSpPr txBox="1"/>
          <p:nvPr/>
        </p:nvSpPr>
        <p:spPr>
          <a:xfrm>
            <a:off x="3895344" y="4915814"/>
            <a:ext cx="3826764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Nidhi, Eric</a:t>
            </a:r>
            <a:endParaRPr lang="en-US" sz="650" dirty="0"/>
          </a:p>
        </p:txBody>
      </p:sp>
      <p:sp>
        <p:nvSpPr>
          <p:cNvPr id="218" name="Shape 216"/>
          <p:cNvSpPr/>
          <p:nvPr/>
        </p:nvSpPr>
        <p:spPr>
          <a:xfrm>
            <a:off x="411480" y="5084064"/>
            <a:ext cx="11365992" cy="17556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9" name="Text 217"/>
          <p:cNvSpPr txBox="1"/>
          <p:nvPr/>
        </p:nvSpPr>
        <p:spPr>
          <a:xfrm>
            <a:off x="457200" y="5084064"/>
            <a:ext cx="3291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Mobile POS - Adyen Native SDK</a:t>
            </a:r>
            <a:endParaRPr lang="en-US" sz="730" dirty="0"/>
          </a:p>
        </p:txBody>
      </p:sp>
      <p:sp>
        <p:nvSpPr>
          <p:cNvPr id="220" name="Shape 218"/>
          <p:cNvSpPr/>
          <p:nvPr/>
        </p:nvSpPr>
        <p:spPr>
          <a:xfrm>
            <a:off x="3794760" y="5102352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21" name="Shape 219"/>
          <p:cNvSpPr/>
          <p:nvPr/>
        </p:nvSpPr>
        <p:spPr>
          <a:xfrm>
            <a:off x="5125212" y="5102352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22" name="Shape 220"/>
          <p:cNvSpPr/>
          <p:nvPr/>
        </p:nvSpPr>
        <p:spPr>
          <a:xfrm>
            <a:off x="6455664" y="5102352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23" name="Shape 221"/>
          <p:cNvSpPr/>
          <p:nvPr/>
        </p:nvSpPr>
        <p:spPr>
          <a:xfrm>
            <a:off x="7786116" y="5102352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24" name="Shape 222"/>
          <p:cNvSpPr/>
          <p:nvPr/>
        </p:nvSpPr>
        <p:spPr>
          <a:xfrm>
            <a:off x="9116568" y="5102352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25" name="Shape 223"/>
          <p:cNvSpPr/>
          <p:nvPr/>
        </p:nvSpPr>
        <p:spPr>
          <a:xfrm>
            <a:off x="10447020" y="5102352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26" name="Shape 224"/>
          <p:cNvSpPr/>
          <p:nvPr/>
        </p:nvSpPr>
        <p:spPr>
          <a:xfrm>
            <a:off x="3822192" y="5104181"/>
            <a:ext cx="3936492" cy="129845"/>
          </a:xfrm>
          <a:prstGeom prst="roundRect">
            <a:avLst>
              <a:gd name="adj" fmla="val 45775"/>
            </a:avLst>
          </a:prstGeom>
          <a:solidFill>
            <a:srgbClr val="C88A2E"/>
          </a:solidFill>
          <a:ln/>
        </p:spPr>
      </p:sp>
      <p:sp>
        <p:nvSpPr>
          <p:cNvPr id="227" name="Text 225"/>
          <p:cNvSpPr txBox="1"/>
          <p:nvPr/>
        </p:nvSpPr>
        <p:spPr>
          <a:xfrm>
            <a:off x="3895344" y="5091379"/>
            <a:ext cx="3826764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Nidhi, Eric</a:t>
            </a:r>
            <a:endParaRPr lang="en-US" sz="650" dirty="0"/>
          </a:p>
        </p:txBody>
      </p:sp>
      <p:sp>
        <p:nvSpPr>
          <p:cNvPr id="228" name="Text 226"/>
          <p:cNvSpPr txBox="1"/>
          <p:nvPr/>
        </p:nvSpPr>
        <p:spPr>
          <a:xfrm>
            <a:off x="457200" y="5259629"/>
            <a:ext cx="3291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Mobile POS - Tyro Tap to Pay</a:t>
            </a:r>
            <a:endParaRPr lang="en-US" sz="730" dirty="0"/>
          </a:p>
        </p:txBody>
      </p:sp>
      <p:sp>
        <p:nvSpPr>
          <p:cNvPr id="229" name="Shape 227"/>
          <p:cNvSpPr/>
          <p:nvPr/>
        </p:nvSpPr>
        <p:spPr>
          <a:xfrm>
            <a:off x="3794760" y="5277917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30" name="Shape 228"/>
          <p:cNvSpPr/>
          <p:nvPr/>
        </p:nvSpPr>
        <p:spPr>
          <a:xfrm>
            <a:off x="5125212" y="5277917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31" name="Shape 229"/>
          <p:cNvSpPr/>
          <p:nvPr/>
        </p:nvSpPr>
        <p:spPr>
          <a:xfrm>
            <a:off x="6455664" y="5277917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32" name="Shape 230"/>
          <p:cNvSpPr/>
          <p:nvPr/>
        </p:nvSpPr>
        <p:spPr>
          <a:xfrm>
            <a:off x="7786116" y="5277917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33" name="Shape 231"/>
          <p:cNvSpPr/>
          <p:nvPr/>
        </p:nvSpPr>
        <p:spPr>
          <a:xfrm>
            <a:off x="9116568" y="5277917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34" name="Shape 232"/>
          <p:cNvSpPr/>
          <p:nvPr/>
        </p:nvSpPr>
        <p:spPr>
          <a:xfrm>
            <a:off x="10447020" y="5277917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35" name="Shape 233"/>
          <p:cNvSpPr/>
          <p:nvPr/>
        </p:nvSpPr>
        <p:spPr>
          <a:xfrm>
            <a:off x="3822192" y="5279746"/>
            <a:ext cx="3936492" cy="129845"/>
          </a:xfrm>
          <a:prstGeom prst="roundRect">
            <a:avLst>
              <a:gd name="adj" fmla="val 45775"/>
            </a:avLst>
          </a:prstGeom>
          <a:solidFill>
            <a:srgbClr val="C88A2E"/>
          </a:solidFill>
          <a:ln/>
        </p:spPr>
      </p:sp>
      <p:sp>
        <p:nvSpPr>
          <p:cNvPr id="236" name="Text 234"/>
          <p:cNvSpPr txBox="1"/>
          <p:nvPr/>
        </p:nvSpPr>
        <p:spPr>
          <a:xfrm>
            <a:off x="3895344" y="5266944"/>
            <a:ext cx="3826764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Nidhi, Eric</a:t>
            </a:r>
            <a:endParaRPr lang="en-US" sz="650" dirty="0"/>
          </a:p>
        </p:txBody>
      </p:sp>
      <p:sp>
        <p:nvSpPr>
          <p:cNvPr id="237" name="Shape 235"/>
          <p:cNvSpPr/>
          <p:nvPr/>
        </p:nvSpPr>
        <p:spPr>
          <a:xfrm>
            <a:off x="411480" y="5435194"/>
            <a:ext cx="11365992" cy="17556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8" name="Text 236"/>
          <p:cNvSpPr txBox="1"/>
          <p:nvPr/>
        </p:nvSpPr>
        <p:spPr>
          <a:xfrm>
            <a:off x="457200" y="5435194"/>
            <a:ext cx="3291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Mobile POS - Floorplan</a:t>
            </a:r>
            <a:endParaRPr lang="en-US" sz="730" dirty="0"/>
          </a:p>
        </p:txBody>
      </p:sp>
      <p:sp>
        <p:nvSpPr>
          <p:cNvPr id="239" name="Shape 237"/>
          <p:cNvSpPr/>
          <p:nvPr/>
        </p:nvSpPr>
        <p:spPr>
          <a:xfrm>
            <a:off x="3794760" y="5453482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40" name="Shape 238"/>
          <p:cNvSpPr/>
          <p:nvPr/>
        </p:nvSpPr>
        <p:spPr>
          <a:xfrm>
            <a:off x="5125212" y="5453482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41" name="Shape 239"/>
          <p:cNvSpPr/>
          <p:nvPr/>
        </p:nvSpPr>
        <p:spPr>
          <a:xfrm>
            <a:off x="6455664" y="5453482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42" name="Shape 240"/>
          <p:cNvSpPr/>
          <p:nvPr/>
        </p:nvSpPr>
        <p:spPr>
          <a:xfrm>
            <a:off x="7786116" y="5453482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43" name="Shape 241"/>
          <p:cNvSpPr/>
          <p:nvPr/>
        </p:nvSpPr>
        <p:spPr>
          <a:xfrm>
            <a:off x="9116568" y="5453482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44" name="Shape 242"/>
          <p:cNvSpPr/>
          <p:nvPr/>
        </p:nvSpPr>
        <p:spPr>
          <a:xfrm>
            <a:off x="10447020" y="5453482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45" name="Shape 243"/>
          <p:cNvSpPr/>
          <p:nvPr/>
        </p:nvSpPr>
        <p:spPr>
          <a:xfrm>
            <a:off x="3822192" y="5455310"/>
            <a:ext cx="1275588" cy="129845"/>
          </a:xfrm>
          <a:prstGeom prst="roundRect">
            <a:avLst>
              <a:gd name="adj" fmla="val 45775"/>
            </a:avLst>
          </a:prstGeom>
          <a:solidFill>
            <a:srgbClr val="C88A2E"/>
          </a:solidFill>
          <a:ln/>
        </p:spPr>
      </p:sp>
      <p:sp>
        <p:nvSpPr>
          <p:cNvPr id="246" name="Text 244"/>
          <p:cNvSpPr txBox="1"/>
          <p:nvPr/>
        </p:nvSpPr>
        <p:spPr>
          <a:xfrm>
            <a:off x="3895344" y="5442509"/>
            <a:ext cx="1165860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Nidhi</a:t>
            </a:r>
            <a:endParaRPr lang="en-US" sz="650" dirty="0"/>
          </a:p>
        </p:txBody>
      </p:sp>
      <p:sp>
        <p:nvSpPr>
          <p:cNvPr id="247" name="Text 245"/>
          <p:cNvSpPr txBox="1"/>
          <p:nvPr/>
        </p:nvSpPr>
        <p:spPr>
          <a:xfrm>
            <a:off x="457200" y="5610758"/>
            <a:ext cx="3291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Mobile POS - The Pass Integration</a:t>
            </a:r>
            <a:endParaRPr lang="en-US" sz="730" dirty="0"/>
          </a:p>
        </p:txBody>
      </p:sp>
      <p:sp>
        <p:nvSpPr>
          <p:cNvPr id="248" name="Shape 246"/>
          <p:cNvSpPr/>
          <p:nvPr/>
        </p:nvSpPr>
        <p:spPr>
          <a:xfrm>
            <a:off x="3794760" y="5629046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49" name="Shape 247"/>
          <p:cNvSpPr/>
          <p:nvPr/>
        </p:nvSpPr>
        <p:spPr>
          <a:xfrm>
            <a:off x="5125212" y="5629046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50" name="Shape 248"/>
          <p:cNvSpPr/>
          <p:nvPr/>
        </p:nvSpPr>
        <p:spPr>
          <a:xfrm>
            <a:off x="6455664" y="5629046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51" name="Shape 249"/>
          <p:cNvSpPr/>
          <p:nvPr/>
        </p:nvSpPr>
        <p:spPr>
          <a:xfrm>
            <a:off x="7786116" y="5629046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52" name="Shape 250"/>
          <p:cNvSpPr/>
          <p:nvPr/>
        </p:nvSpPr>
        <p:spPr>
          <a:xfrm>
            <a:off x="9116568" y="5629046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53" name="Shape 251"/>
          <p:cNvSpPr/>
          <p:nvPr/>
        </p:nvSpPr>
        <p:spPr>
          <a:xfrm>
            <a:off x="10447020" y="5629046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54" name="Shape 252"/>
          <p:cNvSpPr/>
          <p:nvPr/>
        </p:nvSpPr>
        <p:spPr>
          <a:xfrm>
            <a:off x="6483096" y="5630875"/>
            <a:ext cx="5266944" cy="129845"/>
          </a:xfrm>
          <a:prstGeom prst="roundRect">
            <a:avLst>
              <a:gd name="adj" fmla="val 45775"/>
            </a:avLst>
          </a:prstGeom>
          <a:solidFill>
            <a:srgbClr val="B4552D"/>
          </a:solidFill>
          <a:ln/>
        </p:spPr>
      </p:sp>
      <p:sp>
        <p:nvSpPr>
          <p:cNvPr id="255" name="Text 253"/>
          <p:cNvSpPr txBox="1"/>
          <p:nvPr/>
        </p:nvSpPr>
        <p:spPr>
          <a:xfrm>
            <a:off x="6556248" y="5618074"/>
            <a:ext cx="5157216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Nidhi</a:t>
            </a:r>
            <a:endParaRPr lang="en-US" sz="650" dirty="0"/>
          </a:p>
        </p:txBody>
      </p:sp>
      <p:sp>
        <p:nvSpPr>
          <p:cNvPr id="256" name="Shape 254"/>
          <p:cNvSpPr/>
          <p:nvPr/>
        </p:nvSpPr>
        <p:spPr>
          <a:xfrm>
            <a:off x="411480" y="5786323"/>
            <a:ext cx="11365992" cy="17556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7" name="Text 255"/>
          <p:cNvSpPr txBox="1"/>
          <p:nvPr/>
        </p:nvSpPr>
        <p:spPr>
          <a:xfrm>
            <a:off x="457200" y="5786323"/>
            <a:ext cx="3291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Mobile POS - Quick Sale for Events</a:t>
            </a:r>
            <a:endParaRPr lang="en-US" sz="730" dirty="0"/>
          </a:p>
        </p:txBody>
      </p:sp>
      <p:sp>
        <p:nvSpPr>
          <p:cNvPr id="258" name="Shape 256"/>
          <p:cNvSpPr/>
          <p:nvPr/>
        </p:nvSpPr>
        <p:spPr>
          <a:xfrm>
            <a:off x="3794760" y="5804611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59" name="Shape 257"/>
          <p:cNvSpPr/>
          <p:nvPr/>
        </p:nvSpPr>
        <p:spPr>
          <a:xfrm>
            <a:off x="5125212" y="5804611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60" name="Shape 258"/>
          <p:cNvSpPr/>
          <p:nvPr/>
        </p:nvSpPr>
        <p:spPr>
          <a:xfrm>
            <a:off x="6455664" y="5804611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61" name="Shape 259"/>
          <p:cNvSpPr/>
          <p:nvPr/>
        </p:nvSpPr>
        <p:spPr>
          <a:xfrm>
            <a:off x="7786116" y="5804611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62" name="Shape 260"/>
          <p:cNvSpPr/>
          <p:nvPr/>
        </p:nvSpPr>
        <p:spPr>
          <a:xfrm>
            <a:off x="9116568" y="5804611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63" name="Shape 261"/>
          <p:cNvSpPr/>
          <p:nvPr/>
        </p:nvSpPr>
        <p:spPr>
          <a:xfrm>
            <a:off x="10447020" y="5804611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64" name="Shape 262"/>
          <p:cNvSpPr/>
          <p:nvPr/>
        </p:nvSpPr>
        <p:spPr>
          <a:xfrm>
            <a:off x="6483096" y="5806440"/>
            <a:ext cx="2606040" cy="129845"/>
          </a:xfrm>
          <a:prstGeom prst="roundRect">
            <a:avLst>
              <a:gd name="adj" fmla="val 45775"/>
            </a:avLst>
          </a:prstGeom>
          <a:solidFill>
            <a:srgbClr val="C88A2E"/>
          </a:solidFill>
          <a:ln/>
        </p:spPr>
      </p:sp>
      <p:sp>
        <p:nvSpPr>
          <p:cNvPr id="265" name="Text 263"/>
          <p:cNvSpPr txBox="1"/>
          <p:nvPr/>
        </p:nvSpPr>
        <p:spPr>
          <a:xfrm>
            <a:off x="6556248" y="5793638"/>
            <a:ext cx="2496312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Eric</a:t>
            </a:r>
            <a:endParaRPr lang="en-US" sz="650" dirty="0"/>
          </a:p>
        </p:txBody>
      </p:sp>
      <p:sp>
        <p:nvSpPr>
          <p:cNvPr id="266" name="Text 264"/>
          <p:cNvSpPr txBox="1"/>
          <p:nvPr/>
        </p:nvSpPr>
        <p:spPr>
          <a:xfrm>
            <a:off x="457200" y="5961888"/>
            <a:ext cx="3291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Mobile POS - Happy Hour</a:t>
            </a:r>
            <a:endParaRPr lang="en-US" sz="730" dirty="0"/>
          </a:p>
        </p:txBody>
      </p:sp>
      <p:sp>
        <p:nvSpPr>
          <p:cNvPr id="267" name="Shape 265"/>
          <p:cNvSpPr/>
          <p:nvPr/>
        </p:nvSpPr>
        <p:spPr>
          <a:xfrm>
            <a:off x="3794760" y="5980176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68" name="Shape 266"/>
          <p:cNvSpPr/>
          <p:nvPr/>
        </p:nvSpPr>
        <p:spPr>
          <a:xfrm>
            <a:off x="5125212" y="5980176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69" name="Shape 267"/>
          <p:cNvSpPr/>
          <p:nvPr/>
        </p:nvSpPr>
        <p:spPr>
          <a:xfrm>
            <a:off x="6455664" y="5980176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70" name="Shape 268"/>
          <p:cNvSpPr/>
          <p:nvPr/>
        </p:nvSpPr>
        <p:spPr>
          <a:xfrm>
            <a:off x="7786116" y="5980176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71" name="Shape 269"/>
          <p:cNvSpPr/>
          <p:nvPr/>
        </p:nvSpPr>
        <p:spPr>
          <a:xfrm>
            <a:off x="9116568" y="5980176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72" name="Shape 270"/>
          <p:cNvSpPr/>
          <p:nvPr/>
        </p:nvSpPr>
        <p:spPr>
          <a:xfrm>
            <a:off x="10447020" y="5980176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73" name="Shape 271"/>
          <p:cNvSpPr/>
          <p:nvPr/>
        </p:nvSpPr>
        <p:spPr>
          <a:xfrm>
            <a:off x="9144000" y="5982005"/>
            <a:ext cx="2606040" cy="129845"/>
          </a:xfrm>
          <a:prstGeom prst="roundRect">
            <a:avLst>
              <a:gd name="adj" fmla="val 45775"/>
            </a:avLst>
          </a:prstGeom>
          <a:solidFill>
            <a:srgbClr val="C88A2E"/>
          </a:solidFill>
          <a:ln/>
        </p:spPr>
      </p:sp>
      <p:sp>
        <p:nvSpPr>
          <p:cNvPr id="274" name="Text 272"/>
          <p:cNvSpPr txBox="1"/>
          <p:nvPr/>
        </p:nvSpPr>
        <p:spPr>
          <a:xfrm>
            <a:off x="9217152" y="5969203"/>
            <a:ext cx="2496312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Eric</a:t>
            </a:r>
            <a:endParaRPr lang="en-US" sz="650" dirty="0"/>
          </a:p>
        </p:txBody>
      </p:sp>
      <p:sp>
        <p:nvSpPr>
          <p:cNvPr id="275" name="Shape 273"/>
          <p:cNvSpPr/>
          <p:nvPr/>
        </p:nvSpPr>
        <p:spPr>
          <a:xfrm>
            <a:off x="411480" y="6137453"/>
            <a:ext cx="11365992" cy="17556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6" name="Text 274"/>
          <p:cNvSpPr txBox="1"/>
          <p:nvPr/>
        </p:nvSpPr>
        <p:spPr>
          <a:xfrm>
            <a:off x="457200" y="6137453"/>
            <a:ext cx="3291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Product #1 - Margin Capture (Lucas)</a:t>
            </a:r>
            <a:endParaRPr lang="en-US" sz="730" dirty="0"/>
          </a:p>
        </p:txBody>
      </p:sp>
      <p:sp>
        <p:nvSpPr>
          <p:cNvPr id="277" name="Shape 275"/>
          <p:cNvSpPr/>
          <p:nvPr/>
        </p:nvSpPr>
        <p:spPr>
          <a:xfrm>
            <a:off x="3794760" y="6155741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78" name="Shape 276"/>
          <p:cNvSpPr/>
          <p:nvPr/>
        </p:nvSpPr>
        <p:spPr>
          <a:xfrm>
            <a:off x="5125212" y="6155741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79" name="Shape 277"/>
          <p:cNvSpPr/>
          <p:nvPr/>
        </p:nvSpPr>
        <p:spPr>
          <a:xfrm>
            <a:off x="6455664" y="6155741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80" name="Shape 278"/>
          <p:cNvSpPr/>
          <p:nvPr/>
        </p:nvSpPr>
        <p:spPr>
          <a:xfrm>
            <a:off x="7786116" y="6155741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81" name="Shape 279"/>
          <p:cNvSpPr/>
          <p:nvPr/>
        </p:nvSpPr>
        <p:spPr>
          <a:xfrm>
            <a:off x="9116568" y="6155741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82" name="Shape 280"/>
          <p:cNvSpPr/>
          <p:nvPr/>
        </p:nvSpPr>
        <p:spPr>
          <a:xfrm>
            <a:off x="10447020" y="6155741"/>
            <a:ext cx="10973" cy="148133"/>
          </a:xfrm>
          <a:prstGeom prst="rect">
            <a:avLst/>
          </a:prstGeom>
          <a:solidFill>
            <a:srgbClr val="E2EAEE"/>
          </a:solidFill>
          <a:ln/>
        </p:spPr>
      </p:sp>
      <p:sp>
        <p:nvSpPr>
          <p:cNvPr id="283" name="Shape 281"/>
          <p:cNvSpPr/>
          <p:nvPr/>
        </p:nvSpPr>
        <p:spPr>
          <a:xfrm>
            <a:off x="3822192" y="6157570"/>
            <a:ext cx="7927848" cy="129845"/>
          </a:xfrm>
          <a:prstGeom prst="roundRect">
            <a:avLst>
              <a:gd name="adj" fmla="val 45775"/>
            </a:avLst>
          </a:prstGeom>
          <a:solidFill>
            <a:srgbClr val="C88A2E"/>
          </a:solidFill>
          <a:ln/>
        </p:spPr>
      </p:sp>
      <p:sp>
        <p:nvSpPr>
          <p:cNvPr id="284" name="Text 282"/>
          <p:cNvSpPr txBox="1"/>
          <p:nvPr/>
        </p:nvSpPr>
        <p:spPr>
          <a:xfrm>
            <a:off x="3895344" y="6144768"/>
            <a:ext cx="7818120" cy="157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Ammar</a:t>
            </a:r>
            <a:endParaRPr lang="en-US" sz="650" dirty="0"/>
          </a:p>
        </p:txBody>
      </p:sp>
      <p:sp>
        <p:nvSpPr>
          <p:cNvPr id="285" name="Shape 283"/>
          <p:cNvSpPr/>
          <p:nvPr/>
        </p:nvSpPr>
        <p:spPr>
          <a:xfrm>
            <a:off x="9389059" y="6510528"/>
            <a:ext cx="2388413" cy="256032"/>
          </a:xfrm>
          <a:prstGeom prst="roundRect">
            <a:avLst>
              <a:gd name="adj" fmla="val 46429"/>
            </a:avLst>
          </a:prstGeom>
          <a:solidFill>
            <a:srgbClr val="12293A"/>
          </a:solidFill>
          <a:ln/>
        </p:spPr>
      </p:sp>
      <p:sp>
        <p:nvSpPr>
          <p:cNvPr id="286" name="Text 284"/>
          <p:cNvSpPr txBox="1"/>
          <p:nvPr/>
        </p:nvSpPr>
        <p:spPr>
          <a:xfrm>
            <a:off x="9389059" y="6510528"/>
            <a:ext cx="238841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Source: GTM Tracker (product team)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2293A"/>
          </a:solidFill>
          <a:ln/>
        </p:spPr>
      </p:sp>
      <p:sp>
        <p:nvSpPr>
          <p:cNvPr id="3" name="Shape 1"/>
          <p:cNvSpPr/>
          <p:nvPr/>
        </p:nvSpPr>
        <p:spPr>
          <a:xfrm>
            <a:off x="384048" y="155448"/>
            <a:ext cx="73152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84048" y="155448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H&amp;L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54864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GTM Readiness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1316736" y="51206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AE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686800" y="246888"/>
            <a:ext cx="1965960" cy="347472"/>
          </a:xfrm>
          <a:prstGeom prst="roundRect">
            <a:avLst>
              <a:gd name="adj" fmla="val 50000"/>
            </a:avLst>
          </a:prstGeom>
          <a:solidFill>
            <a:srgbClr val="24435C"/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0" y="2468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 ·  BUILDING THE FUTURE?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0872216" y="0"/>
            <a:ext cx="841248" cy="841248"/>
          </a:xfrm>
          <a:prstGeom prst="ellipse">
            <a:avLst/>
          </a:prstGeom>
          <a:solidFill>
            <a:srgbClr val="1C5765"/>
          </a:solidFill>
          <a:ln/>
        </p:spPr>
      </p:sp>
      <p:sp>
        <p:nvSpPr>
          <p:cNvPr id="10" name="Shape 8"/>
          <p:cNvSpPr/>
          <p:nvPr/>
        </p:nvSpPr>
        <p:spPr>
          <a:xfrm>
            <a:off x="10968228" y="96012"/>
            <a:ext cx="649224" cy="649224"/>
          </a:xfrm>
          <a:prstGeom prst="ellipse">
            <a:avLst/>
          </a:prstGeom>
          <a:solidFill>
            <a:srgbClr val="2C8394"/>
          </a:solidFill>
          <a:ln/>
        </p:spPr>
      </p:sp>
      <p:sp>
        <p:nvSpPr>
          <p:cNvPr id="11" name="Shape 9"/>
          <p:cNvSpPr/>
          <p:nvPr/>
        </p:nvSpPr>
        <p:spPr>
          <a:xfrm>
            <a:off x="11064240" y="192024"/>
            <a:ext cx="457200" cy="457200"/>
          </a:xfrm>
          <a:prstGeom prst="ellipse">
            <a:avLst/>
          </a:prstGeom>
          <a:solidFill>
            <a:srgbClr val="6FAEBB"/>
          </a:solidFill>
          <a:ln/>
        </p:spPr>
      </p:sp>
      <p:sp>
        <p:nvSpPr>
          <p:cNvPr id="12" name="Shape 10"/>
          <p:cNvSpPr/>
          <p:nvPr/>
        </p:nvSpPr>
        <p:spPr>
          <a:xfrm>
            <a:off x="11160252" y="288036"/>
            <a:ext cx="265176" cy="265176"/>
          </a:xfrm>
          <a:prstGeom prst="ellipse">
            <a:avLst/>
          </a:prstGeom>
          <a:solidFill>
            <a:srgbClr val="E4F1F4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" y="1005840"/>
            <a:ext cx="11365992" cy="457200"/>
          </a:xfrm>
          <a:prstGeom prst="roundRect">
            <a:avLst>
              <a:gd name="adj" fmla="val 12000"/>
            </a:avLst>
          </a:prstGeom>
          <a:solidFill>
            <a:srgbClr val="12293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10058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2514600" y="104241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MESSAGING &amp; COLLATERAL</a:t>
            </a:r>
            <a:endParaRPr lang="en-US" sz="580" dirty="0"/>
          </a:p>
        </p:txBody>
      </p:sp>
      <p:sp>
        <p:nvSpPr>
          <p:cNvPr id="16" name="Text 14"/>
          <p:cNvSpPr txBox="1"/>
          <p:nvPr/>
        </p:nvSpPr>
        <p:spPr>
          <a:xfrm>
            <a:off x="3547872" y="104241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VALUE CASE $ PROVEN</a:t>
            </a:r>
            <a:endParaRPr lang="en-US" sz="580" dirty="0"/>
          </a:p>
        </p:txBody>
      </p:sp>
      <p:sp>
        <p:nvSpPr>
          <p:cNvPr id="17" name="Text 15"/>
          <p:cNvSpPr txBox="1"/>
          <p:nvPr/>
        </p:nvSpPr>
        <p:spPr>
          <a:xfrm>
            <a:off x="4581144" y="104241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PRICING &amp; PACKAGING</a:t>
            </a:r>
            <a:endParaRPr lang="en-US" sz="580" dirty="0"/>
          </a:p>
        </p:txBody>
      </p:sp>
      <p:sp>
        <p:nvSpPr>
          <p:cNvPr id="18" name="Text 16"/>
          <p:cNvSpPr txBox="1"/>
          <p:nvPr/>
        </p:nvSpPr>
        <p:spPr>
          <a:xfrm>
            <a:off x="5614416" y="104241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CONTRACT &amp; DATA TERMS</a:t>
            </a:r>
            <a:endParaRPr lang="en-US" sz="580" dirty="0"/>
          </a:p>
        </p:txBody>
      </p:sp>
      <p:sp>
        <p:nvSpPr>
          <p:cNvPr id="19" name="Text 17"/>
          <p:cNvSpPr txBox="1"/>
          <p:nvPr/>
        </p:nvSpPr>
        <p:spPr>
          <a:xfrm>
            <a:off x="6647688" y="104241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BILLING &amp; METERING</a:t>
            </a:r>
            <a:endParaRPr lang="en-US" sz="580" dirty="0"/>
          </a:p>
        </p:txBody>
      </p:sp>
      <p:sp>
        <p:nvSpPr>
          <p:cNvPr id="20" name="Text 18"/>
          <p:cNvSpPr txBox="1"/>
          <p:nvPr/>
        </p:nvSpPr>
        <p:spPr>
          <a:xfrm>
            <a:off x="7680960" y="104241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REFERENCE PILOT</a:t>
            </a:r>
            <a:endParaRPr lang="en-US" sz="580" dirty="0"/>
          </a:p>
        </p:txBody>
      </p:sp>
      <p:sp>
        <p:nvSpPr>
          <p:cNvPr id="21" name="Text 19"/>
          <p:cNvSpPr txBox="1"/>
          <p:nvPr/>
        </p:nvSpPr>
        <p:spPr>
          <a:xfrm>
            <a:off x="8714232" y="104241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SALES ENABLED</a:t>
            </a:r>
            <a:endParaRPr lang="en-US" sz="580" dirty="0"/>
          </a:p>
        </p:txBody>
      </p:sp>
      <p:sp>
        <p:nvSpPr>
          <p:cNvPr id="22" name="Text 20"/>
          <p:cNvSpPr txBox="1"/>
          <p:nvPr/>
        </p:nvSpPr>
        <p:spPr>
          <a:xfrm>
            <a:off x="9747504" y="104241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SUPPORT &amp; REMI</a:t>
            </a:r>
            <a:endParaRPr lang="en-US" sz="580" dirty="0"/>
          </a:p>
        </p:txBody>
      </p:sp>
      <p:sp>
        <p:nvSpPr>
          <p:cNvPr id="23" name="Text 21"/>
          <p:cNvSpPr txBox="1"/>
          <p:nvPr/>
        </p:nvSpPr>
        <p:spPr>
          <a:xfrm>
            <a:off x="10780776" y="104241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ACCURACY &amp; FALLBACK</a:t>
            </a:r>
            <a:endParaRPr lang="en-US" sz="580" dirty="0"/>
          </a:p>
        </p:txBody>
      </p:sp>
      <p:sp>
        <p:nvSpPr>
          <p:cNvPr id="24" name="Shape 22"/>
          <p:cNvSpPr/>
          <p:nvPr/>
        </p:nvSpPr>
        <p:spPr>
          <a:xfrm>
            <a:off x="411480" y="1627632"/>
            <a:ext cx="11365992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594360" y="1627632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QR Ordering (OrderNow)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514600" y="1783080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B4552D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2514600" y="1783080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Jasmine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547872" y="1783080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C88A2E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3547872" y="1783080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81144" y="1783080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C88A2E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4581144" y="1783080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Luke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614416" y="1783080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C88A2E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5614416" y="1783080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Luke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647688" y="1783080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C88A2E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6647688" y="1783080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Janice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680960" y="1783080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C88A2E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7680960" y="1783080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714232" y="1783080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B4552D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8714232" y="1783080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9747504" y="1783080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B4552D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9747504" y="1783080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Matt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0780776" y="1783080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C88A2E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10780776" y="1783080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Eric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11480" y="2340864"/>
            <a:ext cx="11365992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45" name="Text 43"/>
          <p:cNvSpPr txBox="1"/>
          <p:nvPr/>
        </p:nvSpPr>
        <p:spPr>
          <a:xfrm>
            <a:off x="594360" y="2340864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Roam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514600" y="2496312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C88A2E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47" name="Text 45"/>
          <p:cNvSpPr txBox="1"/>
          <p:nvPr/>
        </p:nvSpPr>
        <p:spPr>
          <a:xfrm>
            <a:off x="2514600" y="2496312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Bjorn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547872" y="2496312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3D8F5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49" name="Text 47"/>
          <p:cNvSpPr txBox="1"/>
          <p:nvPr/>
        </p:nvSpPr>
        <p:spPr>
          <a:xfrm>
            <a:off x="3547872" y="2496312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581144" y="2496312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3D8F5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51" name="Text 49"/>
          <p:cNvSpPr txBox="1"/>
          <p:nvPr/>
        </p:nvSpPr>
        <p:spPr>
          <a:xfrm>
            <a:off x="4581144" y="2496312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Luke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614416" y="2496312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3D8F5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53" name="Text 51"/>
          <p:cNvSpPr txBox="1"/>
          <p:nvPr/>
        </p:nvSpPr>
        <p:spPr>
          <a:xfrm>
            <a:off x="5614416" y="2496312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Luke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647688" y="2496312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3D8F5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55" name="Text 53"/>
          <p:cNvSpPr txBox="1"/>
          <p:nvPr/>
        </p:nvSpPr>
        <p:spPr>
          <a:xfrm>
            <a:off x="6647688" y="2496312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Janice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7680960" y="2496312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3D8F5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57" name="Text 55"/>
          <p:cNvSpPr txBox="1"/>
          <p:nvPr/>
        </p:nvSpPr>
        <p:spPr>
          <a:xfrm>
            <a:off x="7680960" y="2496312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Matt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8714232" y="2496312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C88A2E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59" name="Text 57"/>
          <p:cNvSpPr txBox="1"/>
          <p:nvPr/>
        </p:nvSpPr>
        <p:spPr>
          <a:xfrm>
            <a:off x="8714232" y="2496312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Matt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9747504" y="2496312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3D8F5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61" name="Text 59"/>
          <p:cNvSpPr txBox="1"/>
          <p:nvPr/>
        </p:nvSpPr>
        <p:spPr>
          <a:xfrm>
            <a:off x="9747504" y="2496312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Matt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10780776" y="2496312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C7D3DA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63" name="Text 61"/>
          <p:cNvSpPr txBox="1"/>
          <p:nvPr/>
        </p:nvSpPr>
        <p:spPr>
          <a:xfrm>
            <a:off x="10780776" y="2496312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N/A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11480" y="3054096"/>
            <a:ext cx="11365992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65" name="Text 63"/>
          <p:cNvSpPr txBox="1"/>
          <p:nvPr/>
        </p:nvSpPr>
        <p:spPr>
          <a:xfrm>
            <a:off x="594360" y="3054096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Sentinel AI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2514600" y="3209544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B4552D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67" name="Text 65"/>
          <p:cNvSpPr txBox="1"/>
          <p:nvPr/>
        </p:nvSpPr>
        <p:spPr>
          <a:xfrm>
            <a:off x="2514600" y="320954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Bradford *1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3547872" y="3209544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C88A2E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69" name="Text 67"/>
          <p:cNvSpPr txBox="1"/>
          <p:nvPr/>
        </p:nvSpPr>
        <p:spPr>
          <a:xfrm>
            <a:off x="3547872" y="320954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581144" y="3209544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B4552D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71" name="Text 69"/>
          <p:cNvSpPr txBox="1"/>
          <p:nvPr/>
        </p:nvSpPr>
        <p:spPr>
          <a:xfrm>
            <a:off x="4581144" y="320954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Luke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5614416" y="3209544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B4552D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73" name="Text 71"/>
          <p:cNvSpPr txBox="1"/>
          <p:nvPr/>
        </p:nvSpPr>
        <p:spPr>
          <a:xfrm>
            <a:off x="5614416" y="320954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Luke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6647688" y="3209544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B4552D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75" name="Text 73"/>
          <p:cNvSpPr txBox="1"/>
          <p:nvPr/>
        </p:nvSpPr>
        <p:spPr>
          <a:xfrm>
            <a:off x="6647688" y="320954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Janice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7680960" y="3209544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C88A2E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77" name="Text 75"/>
          <p:cNvSpPr txBox="1"/>
          <p:nvPr/>
        </p:nvSpPr>
        <p:spPr>
          <a:xfrm>
            <a:off x="7680960" y="320954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Matt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8714232" y="3209544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B4552D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79" name="Text 77"/>
          <p:cNvSpPr txBox="1"/>
          <p:nvPr/>
        </p:nvSpPr>
        <p:spPr>
          <a:xfrm>
            <a:off x="8714232" y="320954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Matt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9747504" y="3209544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B4552D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81" name="Text 79"/>
          <p:cNvSpPr txBox="1"/>
          <p:nvPr/>
        </p:nvSpPr>
        <p:spPr>
          <a:xfrm>
            <a:off x="9747504" y="320954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Matt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10780776" y="3209544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B4552D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83" name="Text 81"/>
          <p:cNvSpPr txBox="1"/>
          <p:nvPr/>
        </p:nvSpPr>
        <p:spPr>
          <a:xfrm>
            <a:off x="10780776" y="320954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Ammar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411480" y="3931920"/>
            <a:ext cx="6035040" cy="2395728"/>
          </a:xfrm>
          <a:prstGeom prst="roundRect">
            <a:avLst>
              <a:gd name="adj" fmla="val 26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85" name="Text 83"/>
          <p:cNvSpPr txBox="1"/>
          <p:nvPr/>
        </p:nvSpPr>
        <p:spPr>
          <a:xfrm>
            <a:off x="612648" y="40416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GTM READINESS — AI SUMMARY</a:t>
            </a:r>
            <a:endParaRPr lang="en-US" sz="1200" dirty="0"/>
          </a:p>
        </p:txBody>
      </p:sp>
      <p:sp>
        <p:nvSpPr>
          <p:cNvPr id="86" name="Text 84"/>
          <p:cNvSpPr txBox="1"/>
          <p:nvPr/>
        </p:nvSpPr>
        <p:spPr>
          <a:xfrm>
            <a:off x="612648" y="4352544"/>
            <a:ext cx="562356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buNone/>
            </a:pPr>
            <a:r>
              <a:rPr lang="en-US" sz="9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Launch scoreboard — 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Roam 78% · QR Ordering (OrderNow) 33% · Sentinel AI 11% (green = done, amber = half-credit)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buNone/>
            </a:pPr>
            <a:r>
              <a:rPr lang="en-US" sz="9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Red gates — 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QR Ordering (OrderNow) is blocked on Messaging &amp; collateral, Sales enabled, Support &amp; Remi; Sentinel AI is blocked on Messaging &amp; collateral, Pricing &amp; packaging, Contract &amp; data terms, Billing &amp; metering, Sales enabled, Support &amp; Remi, AI accuracy &amp; fallback. Nothing else stops a launch.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buNone/>
            </a:pPr>
            <a:r>
              <a:rPr lang="en-US" sz="9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Who owns it — 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24 of 27 dimensions have a named owner on the pill; 1 carries a note. An unowned red is a stalled red.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*1 Sentinel AI · Messaging &amp; collateral: MF to give BY prototype to produce a 1pgr pitch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6629400" y="3931920"/>
            <a:ext cx="5148072" cy="2395728"/>
          </a:xfrm>
          <a:prstGeom prst="roundRect">
            <a:avLst>
              <a:gd name="adj" fmla="val 26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88" name="Text 86"/>
          <p:cNvSpPr txBox="1"/>
          <p:nvPr/>
        </p:nvSpPr>
        <p:spPr>
          <a:xfrm>
            <a:off x="6830568" y="4041648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ROADMAP — AI SUMMARY</a:t>
            </a:r>
            <a:endParaRPr lang="en-US" sz="1200" dirty="0"/>
          </a:p>
        </p:txBody>
      </p:sp>
      <p:sp>
        <p:nvSpPr>
          <p:cNvPr id="89" name="Text 87"/>
          <p:cNvSpPr txBox="1"/>
          <p:nvPr/>
        </p:nvSpPr>
        <p:spPr>
          <a:xfrm>
            <a:off x="6830568" y="4352544"/>
            <a:ext cx="4736592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C88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buNone/>
            </a:pPr>
            <a:r>
              <a:rPr lang="en-US" sz="9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ALH Food Pricing - PLU Visibility Filter (On Track): 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Requirements gathered - behind schedule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C88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buNone/>
            </a:pPr>
            <a:r>
              <a:rPr lang="en-US" sz="9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H&amp;L Pay - Tyro Parity (At risk): 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Tarek interviewing next week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C88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buNone/>
            </a:pPr>
            <a:r>
              <a:rPr lang="en-US" sz="9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Mobile POS - The Pass Integration (At risk): 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Needs validation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C88A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buNone/>
            </a:pPr>
            <a:r>
              <a:rPr lang="en-US" sz="9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Mobile POS - Tyro Tap to Pay (On Track): 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Awaiting certification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9389059" y="6510528"/>
            <a:ext cx="2388413" cy="256032"/>
          </a:xfrm>
          <a:prstGeom prst="roundRect">
            <a:avLst>
              <a:gd name="adj" fmla="val 46429"/>
            </a:avLst>
          </a:prstGeom>
          <a:solidFill>
            <a:srgbClr val="12293A"/>
          </a:solidFill>
          <a:ln/>
        </p:spPr>
      </p:sp>
      <p:sp>
        <p:nvSpPr>
          <p:cNvPr id="91" name="Text 89"/>
          <p:cNvSpPr txBox="1"/>
          <p:nvPr/>
        </p:nvSpPr>
        <p:spPr>
          <a:xfrm>
            <a:off x="9389059" y="6510528"/>
            <a:ext cx="238841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Source: GTM Tracker (product team)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2293A"/>
          </a:solidFill>
          <a:ln/>
        </p:spPr>
      </p:sp>
      <p:sp>
        <p:nvSpPr>
          <p:cNvPr id="3" name="Shape 1"/>
          <p:cNvSpPr/>
          <p:nvPr/>
        </p:nvSpPr>
        <p:spPr>
          <a:xfrm>
            <a:off x="384048" y="155448"/>
            <a:ext cx="73152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84048" y="155448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H&amp;L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54864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Usage — Adoption &amp; Activity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1316736" y="51206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AE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686800" y="246888"/>
            <a:ext cx="1965960" cy="347472"/>
          </a:xfrm>
          <a:prstGeom prst="roundRect">
            <a:avLst>
              <a:gd name="adj" fmla="val 50000"/>
            </a:avLst>
          </a:prstGeom>
          <a:solidFill>
            <a:srgbClr val="24435C"/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0" y="2468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 ·  BUILDING THE FUTURE?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0872216" y="0"/>
            <a:ext cx="841248" cy="841248"/>
          </a:xfrm>
          <a:prstGeom prst="ellipse">
            <a:avLst/>
          </a:prstGeom>
          <a:solidFill>
            <a:srgbClr val="1C5765"/>
          </a:solidFill>
          <a:ln/>
        </p:spPr>
      </p:sp>
      <p:sp>
        <p:nvSpPr>
          <p:cNvPr id="10" name="Shape 8"/>
          <p:cNvSpPr/>
          <p:nvPr/>
        </p:nvSpPr>
        <p:spPr>
          <a:xfrm>
            <a:off x="10968228" y="96012"/>
            <a:ext cx="649224" cy="649224"/>
          </a:xfrm>
          <a:prstGeom prst="ellipse">
            <a:avLst/>
          </a:prstGeom>
          <a:solidFill>
            <a:srgbClr val="2C8394"/>
          </a:solidFill>
          <a:ln/>
        </p:spPr>
      </p:sp>
      <p:sp>
        <p:nvSpPr>
          <p:cNvPr id="11" name="Shape 9"/>
          <p:cNvSpPr/>
          <p:nvPr/>
        </p:nvSpPr>
        <p:spPr>
          <a:xfrm>
            <a:off x="11064240" y="192024"/>
            <a:ext cx="457200" cy="457200"/>
          </a:xfrm>
          <a:prstGeom prst="ellipse">
            <a:avLst/>
          </a:prstGeom>
          <a:solidFill>
            <a:srgbClr val="6FAEBB"/>
          </a:solidFill>
          <a:ln/>
        </p:spPr>
      </p:sp>
      <p:sp>
        <p:nvSpPr>
          <p:cNvPr id="12" name="Shape 10"/>
          <p:cNvSpPr/>
          <p:nvPr/>
        </p:nvSpPr>
        <p:spPr>
          <a:xfrm>
            <a:off x="11160252" y="288036"/>
            <a:ext cx="265176" cy="265176"/>
          </a:xfrm>
          <a:prstGeom prst="ellipse">
            <a:avLst/>
          </a:prstGeom>
          <a:solidFill>
            <a:srgbClr val="E4F1F4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" y="987552"/>
            <a:ext cx="269748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76072" y="1078992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ACTIVE MEMBERS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557784" y="1261872"/>
            <a:ext cx="2404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43 of 48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576072" y="1609344"/>
            <a:ext cx="2368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weekly active · 34 daily · 45 monthly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3291840" y="987552"/>
            <a:ext cx="269748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3456432" y="1078992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LINES OF CODE — LAST WEEK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3438144" y="1261872"/>
            <a:ext cx="2404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66,273 ▲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3456432" y="1609344"/>
            <a:ext cx="2368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+10% WoW · w/c 06 Sep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6172200" y="987552"/>
            <a:ext cx="5605272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336792" y="1060704"/>
            <a:ext cx="5276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PLATFORM STICKINESS — SHARE OF MONTHLY USERS ACTIVE DAILY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6336792" y="12984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Claude Code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7498080" y="1335024"/>
            <a:ext cx="3291840" cy="91440"/>
          </a:xfrm>
          <a:prstGeom prst="roundRect">
            <a:avLst>
              <a:gd name="adj" fmla="val 40000"/>
            </a:avLst>
          </a:prstGeom>
          <a:solidFill>
            <a:srgbClr val="E2EAEE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0" y="1335024"/>
            <a:ext cx="2073859" cy="91440"/>
          </a:xfrm>
          <a:prstGeom prst="roundRect">
            <a:avLst>
              <a:gd name="adj" fmla="val 40000"/>
            </a:avLst>
          </a:prstGeom>
          <a:solidFill>
            <a:srgbClr val="2C839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881360" y="129844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63%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6336792" y="148132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Cowork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498080" y="1517904"/>
            <a:ext cx="3291840" cy="91440"/>
          </a:xfrm>
          <a:prstGeom prst="roundRect">
            <a:avLst>
              <a:gd name="adj" fmla="val 40000"/>
            </a:avLst>
          </a:prstGeom>
          <a:solidFill>
            <a:srgbClr val="E2EAEE"/>
          </a:solidFill>
          <a:ln/>
        </p:spPr>
      </p:sp>
      <p:sp>
        <p:nvSpPr>
          <p:cNvPr id="29" name="Shape 27"/>
          <p:cNvSpPr/>
          <p:nvPr/>
        </p:nvSpPr>
        <p:spPr>
          <a:xfrm>
            <a:off x="7498080" y="1517904"/>
            <a:ext cx="2106778" cy="91440"/>
          </a:xfrm>
          <a:prstGeom prst="roundRect">
            <a:avLst>
              <a:gd name="adj" fmla="val 40000"/>
            </a:avLst>
          </a:prstGeom>
          <a:solidFill>
            <a:srgbClr val="2C839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881360" y="148132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64%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6336792" y="166420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Claude.ai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7498080" y="1700784"/>
            <a:ext cx="3291840" cy="91440"/>
          </a:xfrm>
          <a:prstGeom prst="roundRect">
            <a:avLst>
              <a:gd name="adj" fmla="val 40000"/>
            </a:avLst>
          </a:prstGeom>
          <a:solidFill>
            <a:srgbClr val="E2EAEE"/>
          </a:solidFill>
          <a:ln/>
        </p:spPr>
      </p:sp>
      <p:sp>
        <p:nvSpPr>
          <p:cNvPr id="33" name="Shape 31"/>
          <p:cNvSpPr/>
          <p:nvPr/>
        </p:nvSpPr>
        <p:spPr>
          <a:xfrm>
            <a:off x="7498080" y="1700784"/>
            <a:ext cx="1744675" cy="91440"/>
          </a:xfrm>
          <a:prstGeom prst="roundRect">
            <a:avLst>
              <a:gd name="adj" fmla="val 40000"/>
            </a:avLst>
          </a:prstGeom>
          <a:solidFill>
            <a:srgbClr val="2C839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10881360" y="166420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53%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6336792" y="184708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Office Agents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7498080" y="1883664"/>
            <a:ext cx="3291840" cy="91440"/>
          </a:xfrm>
          <a:prstGeom prst="roundRect">
            <a:avLst>
              <a:gd name="adj" fmla="val 40000"/>
            </a:avLst>
          </a:prstGeom>
          <a:solidFill>
            <a:srgbClr val="E2EAEE"/>
          </a:solidFill>
          <a:ln/>
        </p:spPr>
      </p:sp>
      <p:sp>
        <p:nvSpPr>
          <p:cNvPr id="37" name="Shape 35"/>
          <p:cNvSpPr/>
          <p:nvPr/>
        </p:nvSpPr>
        <p:spPr>
          <a:xfrm>
            <a:off x="7498080" y="1883664"/>
            <a:ext cx="1086307" cy="91440"/>
          </a:xfrm>
          <a:prstGeom prst="roundRect">
            <a:avLst>
              <a:gd name="adj" fmla="val 40000"/>
            </a:avLst>
          </a:prstGeom>
          <a:solidFill>
            <a:srgbClr val="2C8394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10881360" y="184708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33%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11480" y="2212848"/>
            <a:ext cx="7498080" cy="3383280"/>
          </a:xfrm>
          <a:prstGeom prst="roundRect">
            <a:avLst>
              <a:gd name="adj" fmla="val 18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612648" y="2322576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CODE PICTURE — WHO, BY MONTH · AND THE WEEKLY RHYTHM BENEATH IT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2057400" y="259689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Jun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3136392" y="259689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Jul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4215384" y="259689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Aug</a:t>
            </a:r>
            <a:endParaRPr lang="en-US" sz="800" dirty="0"/>
          </a:p>
        </p:txBody>
      </p:sp>
      <p:sp>
        <p:nvSpPr>
          <p:cNvPr id="44" name="Text 42"/>
          <p:cNvSpPr txBox="1"/>
          <p:nvPr/>
        </p:nvSpPr>
        <p:spPr>
          <a:xfrm>
            <a:off x="5294376" y="259689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Sep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6400800" y="259689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TOTAL</a:t>
            </a:r>
            <a:endParaRPr lang="en-US" sz="800" dirty="0"/>
          </a:p>
        </p:txBody>
      </p:sp>
      <p:sp>
        <p:nvSpPr>
          <p:cNvPr id="46" name="Text 44"/>
          <p:cNvSpPr txBox="1"/>
          <p:nvPr/>
        </p:nvSpPr>
        <p:spPr>
          <a:xfrm>
            <a:off x="594360" y="281635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Brad Smith</a:t>
            </a:r>
            <a:endParaRPr lang="en-US" sz="720" dirty="0"/>
          </a:p>
        </p:txBody>
      </p:sp>
      <p:sp>
        <p:nvSpPr>
          <p:cNvPr id="47" name="Shape 45"/>
          <p:cNvSpPr/>
          <p:nvPr/>
        </p:nvSpPr>
        <p:spPr>
          <a:xfrm>
            <a:off x="2084832" y="2823667"/>
            <a:ext cx="996696" cy="150876"/>
          </a:xfrm>
          <a:prstGeom prst="rect">
            <a:avLst/>
          </a:prstGeom>
          <a:solidFill>
            <a:srgbClr val="D4E9ED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2057400" y="2816352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10,351</a:t>
            </a:r>
            <a:endParaRPr lang="en-US" sz="680" dirty="0"/>
          </a:p>
        </p:txBody>
      </p:sp>
      <p:sp>
        <p:nvSpPr>
          <p:cNvPr id="49" name="Shape 47"/>
          <p:cNvSpPr/>
          <p:nvPr/>
        </p:nvSpPr>
        <p:spPr>
          <a:xfrm>
            <a:off x="3163824" y="2823667"/>
            <a:ext cx="996696" cy="150876"/>
          </a:xfrm>
          <a:prstGeom prst="rect">
            <a:avLst/>
          </a:prstGeom>
          <a:solidFill>
            <a:srgbClr val="8FC3CC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3136392" y="2816352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39,579</a:t>
            </a:r>
            <a:endParaRPr lang="en-US" sz="680" dirty="0"/>
          </a:p>
        </p:txBody>
      </p:sp>
      <p:sp>
        <p:nvSpPr>
          <p:cNvPr id="51" name="Shape 49"/>
          <p:cNvSpPr/>
          <p:nvPr/>
        </p:nvSpPr>
        <p:spPr>
          <a:xfrm>
            <a:off x="4242816" y="2823667"/>
            <a:ext cx="996696" cy="150876"/>
          </a:xfrm>
          <a:prstGeom prst="rect">
            <a:avLst/>
          </a:prstGeom>
          <a:solidFill>
            <a:srgbClr val="8FC3CC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4215384" y="2816352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41,244</a:t>
            </a:r>
            <a:endParaRPr lang="en-US" sz="680" dirty="0"/>
          </a:p>
        </p:txBody>
      </p:sp>
      <p:sp>
        <p:nvSpPr>
          <p:cNvPr id="53" name="Shape 51"/>
          <p:cNvSpPr/>
          <p:nvPr/>
        </p:nvSpPr>
        <p:spPr>
          <a:xfrm>
            <a:off x="5321808" y="2823667"/>
            <a:ext cx="996696" cy="150876"/>
          </a:xfrm>
          <a:prstGeom prst="rect">
            <a:avLst/>
          </a:prstGeom>
          <a:solidFill>
            <a:srgbClr val="D4E9ED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5294376" y="2816352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10,108</a:t>
            </a:r>
            <a:endParaRPr lang="en-US" sz="680" dirty="0"/>
          </a:p>
        </p:txBody>
      </p:sp>
      <p:sp>
        <p:nvSpPr>
          <p:cNvPr id="55" name="Text 53"/>
          <p:cNvSpPr txBox="1"/>
          <p:nvPr/>
        </p:nvSpPr>
        <p:spPr>
          <a:xfrm>
            <a:off x="6400800" y="281635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101,282</a:t>
            </a:r>
            <a:endParaRPr lang="en-US" sz="700" dirty="0"/>
          </a:p>
        </p:txBody>
      </p:sp>
      <p:sp>
        <p:nvSpPr>
          <p:cNvPr id="56" name="Text 54"/>
          <p:cNvSpPr txBox="1"/>
          <p:nvPr/>
        </p:nvSpPr>
        <p:spPr>
          <a:xfrm>
            <a:off x="594360" y="299008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Nicolas Ibrahim</a:t>
            </a:r>
            <a:endParaRPr lang="en-US" sz="720" dirty="0"/>
          </a:p>
        </p:txBody>
      </p:sp>
      <p:sp>
        <p:nvSpPr>
          <p:cNvPr id="57" name="Shape 55"/>
          <p:cNvSpPr/>
          <p:nvPr/>
        </p:nvSpPr>
        <p:spPr>
          <a:xfrm>
            <a:off x="2084832" y="2997403"/>
            <a:ext cx="996696" cy="150876"/>
          </a:xfrm>
          <a:prstGeom prst="rect">
            <a:avLst/>
          </a:prstGeom>
          <a:solidFill>
            <a:srgbClr val="D4E9ED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2057400" y="299008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18,954</a:t>
            </a:r>
            <a:endParaRPr lang="en-US" sz="680" dirty="0"/>
          </a:p>
        </p:txBody>
      </p:sp>
      <p:sp>
        <p:nvSpPr>
          <p:cNvPr id="59" name="Shape 57"/>
          <p:cNvSpPr/>
          <p:nvPr/>
        </p:nvSpPr>
        <p:spPr>
          <a:xfrm>
            <a:off x="3163824" y="2997403"/>
            <a:ext cx="996696" cy="150876"/>
          </a:xfrm>
          <a:prstGeom prst="rect">
            <a:avLst/>
          </a:prstGeom>
          <a:solidFill>
            <a:srgbClr val="D4E9ED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3136392" y="299008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15,834</a:t>
            </a:r>
            <a:endParaRPr lang="en-US" sz="680" dirty="0"/>
          </a:p>
        </p:txBody>
      </p:sp>
      <p:sp>
        <p:nvSpPr>
          <p:cNvPr id="61" name="Shape 59"/>
          <p:cNvSpPr/>
          <p:nvPr/>
        </p:nvSpPr>
        <p:spPr>
          <a:xfrm>
            <a:off x="4242816" y="2997403"/>
            <a:ext cx="996696" cy="150876"/>
          </a:xfrm>
          <a:prstGeom prst="rect">
            <a:avLst/>
          </a:prstGeom>
          <a:solidFill>
            <a:srgbClr val="8FC3CC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4215384" y="299008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38,142</a:t>
            </a:r>
            <a:endParaRPr lang="en-US" sz="680" dirty="0"/>
          </a:p>
        </p:txBody>
      </p:sp>
      <p:sp>
        <p:nvSpPr>
          <p:cNvPr id="63" name="Shape 61"/>
          <p:cNvSpPr/>
          <p:nvPr/>
        </p:nvSpPr>
        <p:spPr>
          <a:xfrm>
            <a:off x="5321808" y="2997403"/>
            <a:ext cx="996696" cy="150876"/>
          </a:xfrm>
          <a:prstGeom prst="rect">
            <a:avLst/>
          </a:prstGeom>
          <a:solidFill>
            <a:srgbClr val="B5D9E0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5294376" y="299008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27,783</a:t>
            </a:r>
            <a:endParaRPr lang="en-US" sz="680" dirty="0"/>
          </a:p>
        </p:txBody>
      </p:sp>
      <p:sp>
        <p:nvSpPr>
          <p:cNvPr id="65" name="Text 63"/>
          <p:cNvSpPr txBox="1"/>
          <p:nvPr/>
        </p:nvSpPr>
        <p:spPr>
          <a:xfrm>
            <a:off x="6400800" y="299008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100,713</a:t>
            </a:r>
            <a:endParaRPr lang="en-US" sz="700" dirty="0"/>
          </a:p>
        </p:txBody>
      </p:sp>
      <p:sp>
        <p:nvSpPr>
          <p:cNvPr id="66" name="Text 64"/>
          <p:cNvSpPr txBox="1"/>
          <p:nvPr/>
        </p:nvSpPr>
        <p:spPr>
          <a:xfrm>
            <a:off x="594360" y="316382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Hawraa Khalil</a:t>
            </a:r>
            <a:endParaRPr lang="en-US" sz="720" dirty="0"/>
          </a:p>
        </p:txBody>
      </p:sp>
      <p:sp>
        <p:nvSpPr>
          <p:cNvPr id="67" name="Shape 65"/>
          <p:cNvSpPr/>
          <p:nvPr/>
        </p:nvSpPr>
        <p:spPr>
          <a:xfrm>
            <a:off x="2084832" y="3171139"/>
            <a:ext cx="996696" cy="150876"/>
          </a:xfrm>
          <a:prstGeom prst="rect">
            <a:avLst/>
          </a:prstGeom>
          <a:solidFill>
            <a:srgbClr val="B5D9E0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2057400" y="316382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22,385</a:t>
            </a:r>
            <a:endParaRPr lang="en-US" sz="680" dirty="0"/>
          </a:p>
        </p:txBody>
      </p:sp>
      <p:sp>
        <p:nvSpPr>
          <p:cNvPr id="69" name="Shape 67"/>
          <p:cNvSpPr/>
          <p:nvPr/>
        </p:nvSpPr>
        <p:spPr>
          <a:xfrm>
            <a:off x="3163824" y="3171139"/>
            <a:ext cx="996696" cy="150876"/>
          </a:xfrm>
          <a:prstGeom prst="rect">
            <a:avLst/>
          </a:prstGeom>
          <a:solidFill>
            <a:srgbClr val="B5D9E0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3136392" y="316382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28,536</a:t>
            </a:r>
            <a:endParaRPr lang="en-US" sz="680" dirty="0"/>
          </a:p>
        </p:txBody>
      </p:sp>
      <p:sp>
        <p:nvSpPr>
          <p:cNvPr id="71" name="Shape 69"/>
          <p:cNvSpPr/>
          <p:nvPr/>
        </p:nvSpPr>
        <p:spPr>
          <a:xfrm>
            <a:off x="4242816" y="3171139"/>
            <a:ext cx="996696" cy="150876"/>
          </a:xfrm>
          <a:prstGeom prst="rect">
            <a:avLst/>
          </a:prstGeom>
          <a:solidFill>
            <a:srgbClr val="B5D9E0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4215384" y="316382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23,285</a:t>
            </a:r>
            <a:endParaRPr lang="en-US" sz="680" dirty="0"/>
          </a:p>
        </p:txBody>
      </p:sp>
      <p:sp>
        <p:nvSpPr>
          <p:cNvPr id="73" name="Shape 71"/>
          <p:cNvSpPr/>
          <p:nvPr/>
        </p:nvSpPr>
        <p:spPr>
          <a:xfrm>
            <a:off x="5321808" y="3171139"/>
            <a:ext cx="996696" cy="150876"/>
          </a:xfrm>
          <a:prstGeom prst="rect">
            <a:avLst/>
          </a:prstGeom>
          <a:solidFill>
            <a:srgbClr val="D4E9ED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5294376" y="316382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16,658</a:t>
            </a:r>
            <a:endParaRPr lang="en-US" sz="680" dirty="0"/>
          </a:p>
        </p:txBody>
      </p:sp>
      <p:sp>
        <p:nvSpPr>
          <p:cNvPr id="75" name="Text 73"/>
          <p:cNvSpPr txBox="1"/>
          <p:nvPr/>
        </p:nvSpPr>
        <p:spPr>
          <a:xfrm>
            <a:off x="6400800" y="316382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90,864</a:t>
            </a:r>
            <a:endParaRPr lang="en-US" sz="700" dirty="0"/>
          </a:p>
        </p:txBody>
      </p:sp>
      <p:sp>
        <p:nvSpPr>
          <p:cNvPr id="76" name="Text 74"/>
          <p:cNvSpPr txBox="1"/>
          <p:nvPr/>
        </p:nvSpPr>
        <p:spPr>
          <a:xfrm>
            <a:off x="594360" y="333756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Ciaran Dempsey</a:t>
            </a:r>
            <a:endParaRPr lang="en-US" sz="720" dirty="0"/>
          </a:p>
        </p:txBody>
      </p:sp>
      <p:sp>
        <p:nvSpPr>
          <p:cNvPr id="77" name="Shape 75"/>
          <p:cNvSpPr/>
          <p:nvPr/>
        </p:nvSpPr>
        <p:spPr>
          <a:xfrm>
            <a:off x="2084832" y="3344875"/>
            <a:ext cx="996696" cy="150876"/>
          </a:xfrm>
          <a:prstGeom prst="rect">
            <a:avLst/>
          </a:prstGeom>
          <a:solidFill>
            <a:srgbClr val="EDF5F7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2057400" y="333756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6,280</a:t>
            </a:r>
            <a:endParaRPr lang="en-US" sz="680" dirty="0"/>
          </a:p>
        </p:txBody>
      </p:sp>
      <p:sp>
        <p:nvSpPr>
          <p:cNvPr id="79" name="Shape 77"/>
          <p:cNvSpPr/>
          <p:nvPr/>
        </p:nvSpPr>
        <p:spPr>
          <a:xfrm>
            <a:off x="3163824" y="3344875"/>
            <a:ext cx="996696" cy="150876"/>
          </a:xfrm>
          <a:prstGeom prst="rect">
            <a:avLst/>
          </a:prstGeom>
          <a:solidFill>
            <a:srgbClr val="D4E9ED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3136392" y="333756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18,918</a:t>
            </a:r>
            <a:endParaRPr lang="en-US" sz="680" dirty="0"/>
          </a:p>
        </p:txBody>
      </p:sp>
      <p:sp>
        <p:nvSpPr>
          <p:cNvPr id="81" name="Shape 79"/>
          <p:cNvSpPr/>
          <p:nvPr/>
        </p:nvSpPr>
        <p:spPr>
          <a:xfrm>
            <a:off x="4242816" y="3344875"/>
            <a:ext cx="996696" cy="150876"/>
          </a:xfrm>
          <a:prstGeom prst="rect">
            <a:avLst/>
          </a:prstGeom>
          <a:solidFill>
            <a:srgbClr val="B5D9E0"/>
          </a:solidFill>
          <a:ln/>
        </p:spPr>
      </p:sp>
      <p:sp>
        <p:nvSpPr>
          <p:cNvPr id="82" name="Text 80"/>
          <p:cNvSpPr txBox="1"/>
          <p:nvPr/>
        </p:nvSpPr>
        <p:spPr>
          <a:xfrm>
            <a:off x="4215384" y="333756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23,650</a:t>
            </a:r>
            <a:endParaRPr lang="en-US" sz="680" dirty="0"/>
          </a:p>
        </p:txBody>
      </p:sp>
      <p:sp>
        <p:nvSpPr>
          <p:cNvPr id="83" name="Shape 81"/>
          <p:cNvSpPr/>
          <p:nvPr/>
        </p:nvSpPr>
        <p:spPr>
          <a:xfrm>
            <a:off x="5321808" y="3344875"/>
            <a:ext cx="996696" cy="150876"/>
          </a:xfrm>
          <a:prstGeom prst="rect">
            <a:avLst/>
          </a:prstGeom>
          <a:solidFill>
            <a:srgbClr val="D4E9ED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5294376" y="333756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13,006</a:t>
            </a:r>
            <a:endParaRPr lang="en-US" sz="680" dirty="0"/>
          </a:p>
        </p:txBody>
      </p:sp>
      <p:sp>
        <p:nvSpPr>
          <p:cNvPr id="85" name="Text 83"/>
          <p:cNvSpPr txBox="1"/>
          <p:nvPr/>
        </p:nvSpPr>
        <p:spPr>
          <a:xfrm>
            <a:off x="6400800" y="333756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61,854</a:t>
            </a:r>
            <a:endParaRPr lang="en-US" sz="700" dirty="0"/>
          </a:p>
        </p:txBody>
      </p:sp>
      <p:sp>
        <p:nvSpPr>
          <p:cNvPr id="86" name="Text 84"/>
          <p:cNvSpPr txBox="1"/>
          <p:nvPr/>
        </p:nvSpPr>
        <p:spPr>
          <a:xfrm>
            <a:off x="594360" y="351129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David Corbett</a:t>
            </a:r>
            <a:endParaRPr lang="en-US" sz="720" dirty="0"/>
          </a:p>
        </p:txBody>
      </p:sp>
      <p:sp>
        <p:nvSpPr>
          <p:cNvPr id="87" name="Shape 85"/>
          <p:cNvSpPr/>
          <p:nvPr/>
        </p:nvSpPr>
        <p:spPr>
          <a:xfrm>
            <a:off x="2084832" y="3518611"/>
            <a:ext cx="996696" cy="150876"/>
          </a:xfrm>
          <a:prstGeom prst="rect">
            <a:avLst/>
          </a:prstGeom>
          <a:solidFill>
            <a:srgbClr val="D4E9ED"/>
          </a:solidFill>
          <a:ln/>
        </p:spPr>
      </p:sp>
      <p:sp>
        <p:nvSpPr>
          <p:cNvPr id="88" name="Text 86"/>
          <p:cNvSpPr txBox="1"/>
          <p:nvPr/>
        </p:nvSpPr>
        <p:spPr>
          <a:xfrm>
            <a:off x="2057400" y="351129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10,549</a:t>
            </a:r>
            <a:endParaRPr lang="en-US" sz="680" dirty="0"/>
          </a:p>
        </p:txBody>
      </p:sp>
      <p:sp>
        <p:nvSpPr>
          <p:cNvPr id="89" name="Shape 87"/>
          <p:cNvSpPr/>
          <p:nvPr/>
        </p:nvSpPr>
        <p:spPr>
          <a:xfrm>
            <a:off x="3163824" y="3518611"/>
            <a:ext cx="996696" cy="150876"/>
          </a:xfrm>
          <a:prstGeom prst="rect">
            <a:avLst/>
          </a:prstGeom>
          <a:solidFill>
            <a:srgbClr val="B5D9E0"/>
          </a:solidFill>
          <a:ln/>
        </p:spPr>
      </p:sp>
      <p:sp>
        <p:nvSpPr>
          <p:cNvPr id="90" name="Text 88"/>
          <p:cNvSpPr txBox="1"/>
          <p:nvPr/>
        </p:nvSpPr>
        <p:spPr>
          <a:xfrm>
            <a:off x="3136392" y="351129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27,031</a:t>
            </a:r>
            <a:endParaRPr lang="en-US" sz="680" dirty="0"/>
          </a:p>
        </p:txBody>
      </p:sp>
      <p:sp>
        <p:nvSpPr>
          <p:cNvPr id="91" name="Shape 89"/>
          <p:cNvSpPr/>
          <p:nvPr/>
        </p:nvSpPr>
        <p:spPr>
          <a:xfrm>
            <a:off x="4242816" y="3518611"/>
            <a:ext cx="996696" cy="150876"/>
          </a:xfrm>
          <a:prstGeom prst="rect">
            <a:avLst/>
          </a:prstGeom>
          <a:solidFill>
            <a:srgbClr val="D4E9ED"/>
          </a:solidFill>
          <a:ln/>
        </p:spPr>
      </p:sp>
      <p:sp>
        <p:nvSpPr>
          <p:cNvPr id="92" name="Text 90"/>
          <p:cNvSpPr txBox="1"/>
          <p:nvPr/>
        </p:nvSpPr>
        <p:spPr>
          <a:xfrm>
            <a:off x="4215384" y="351129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10,145</a:t>
            </a:r>
            <a:endParaRPr lang="en-US" sz="680" dirty="0"/>
          </a:p>
        </p:txBody>
      </p:sp>
      <p:sp>
        <p:nvSpPr>
          <p:cNvPr id="93" name="Shape 91"/>
          <p:cNvSpPr/>
          <p:nvPr/>
        </p:nvSpPr>
        <p:spPr>
          <a:xfrm>
            <a:off x="5321808" y="3518611"/>
            <a:ext cx="996696" cy="150876"/>
          </a:xfrm>
          <a:prstGeom prst="rect">
            <a:avLst/>
          </a:prstGeom>
          <a:solidFill>
            <a:srgbClr val="EDF5F7"/>
          </a:solidFill>
          <a:ln/>
        </p:spPr>
      </p:sp>
      <p:sp>
        <p:nvSpPr>
          <p:cNvPr id="94" name="Text 92"/>
          <p:cNvSpPr txBox="1"/>
          <p:nvPr/>
        </p:nvSpPr>
        <p:spPr>
          <a:xfrm>
            <a:off x="5294376" y="351129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6,070</a:t>
            </a:r>
            <a:endParaRPr lang="en-US" sz="680" dirty="0"/>
          </a:p>
        </p:txBody>
      </p:sp>
      <p:sp>
        <p:nvSpPr>
          <p:cNvPr id="95" name="Text 93"/>
          <p:cNvSpPr txBox="1"/>
          <p:nvPr/>
        </p:nvSpPr>
        <p:spPr>
          <a:xfrm>
            <a:off x="6400800" y="351129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53,795</a:t>
            </a:r>
            <a:endParaRPr lang="en-US" sz="700" dirty="0"/>
          </a:p>
        </p:txBody>
      </p:sp>
      <p:sp>
        <p:nvSpPr>
          <p:cNvPr id="96" name="Text 94"/>
          <p:cNvSpPr txBox="1"/>
          <p:nvPr/>
        </p:nvSpPr>
        <p:spPr>
          <a:xfrm>
            <a:off x="594360" y="368503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Chris Huang</a:t>
            </a:r>
            <a:endParaRPr lang="en-US" sz="720" dirty="0"/>
          </a:p>
        </p:txBody>
      </p:sp>
      <p:sp>
        <p:nvSpPr>
          <p:cNvPr id="97" name="Shape 95"/>
          <p:cNvSpPr/>
          <p:nvPr/>
        </p:nvSpPr>
        <p:spPr>
          <a:xfrm>
            <a:off x="2084832" y="3692347"/>
            <a:ext cx="996696" cy="150876"/>
          </a:xfrm>
          <a:prstGeom prst="rect">
            <a:avLst/>
          </a:prstGeom>
          <a:solidFill>
            <a:srgbClr val="D4E9ED"/>
          </a:solidFill>
          <a:ln/>
        </p:spPr>
      </p:sp>
      <p:sp>
        <p:nvSpPr>
          <p:cNvPr id="98" name="Text 96"/>
          <p:cNvSpPr txBox="1"/>
          <p:nvPr/>
        </p:nvSpPr>
        <p:spPr>
          <a:xfrm>
            <a:off x="2057400" y="3685032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12,955</a:t>
            </a:r>
            <a:endParaRPr lang="en-US" sz="680" dirty="0"/>
          </a:p>
        </p:txBody>
      </p:sp>
      <p:sp>
        <p:nvSpPr>
          <p:cNvPr id="99" name="Shape 97"/>
          <p:cNvSpPr/>
          <p:nvPr/>
        </p:nvSpPr>
        <p:spPr>
          <a:xfrm>
            <a:off x="3163824" y="3692347"/>
            <a:ext cx="996696" cy="150876"/>
          </a:xfrm>
          <a:prstGeom prst="rect">
            <a:avLst/>
          </a:prstGeom>
          <a:solidFill>
            <a:srgbClr val="B5D9E0"/>
          </a:solidFill>
          <a:ln/>
        </p:spPr>
      </p:sp>
      <p:sp>
        <p:nvSpPr>
          <p:cNvPr id="100" name="Text 98"/>
          <p:cNvSpPr txBox="1"/>
          <p:nvPr/>
        </p:nvSpPr>
        <p:spPr>
          <a:xfrm>
            <a:off x="3136392" y="3685032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19,535</a:t>
            </a:r>
            <a:endParaRPr lang="en-US" sz="680" dirty="0"/>
          </a:p>
        </p:txBody>
      </p:sp>
      <p:sp>
        <p:nvSpPr>
          <p:cNvPr id="101" name="Shape 99"/>
          <p:cNvSpPr/>
          <p:nvPr/>
        </p:nvSpPr>
        <p:spPr>
          <a:xfrm>
            <a:off x="4242816" y="3692347"/>
            <a:ext cx="996696" cy="150876"/>
          </a:xfrm>
          <a:prstGeom prst="rect">
            <a:avLst/>
          </a:prstGeom>
          <a:solidFill>
            <a:srgbClr val="D4E9ED"/>
          </a:solidFill>
          <a:ln/>
        </p:spPr>
      </p:sp>
      <p:sp>
        <p:nvSpPr>
          <p:cNvPr id="102" name="Text 100"/>
          <p:cNvSpPr txBox="1"/>
          <p:nvPr/>
        </p:nvSpPr>
        <p:spPr>
          <a:xfrm>
            <a:off x="4215384" y="3685032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12,856</a:t>
            </a:r>
            <a:endParaRPr lang="en-US" sz="680" dirty="0"/>
          </a:p>
        </p:txBody>
      </p:sp>
      <p:sp>
        <p:nvSpPr>
          <p:cNvPr id="103" name="Shape 101"/>
          <p:cNvSpPr/>
          <p:nvPr/>
        </p:nvSpPr>
        <p:spPr>
          <a:xfrm>
            <a:off x="5321808" y="3692347"/>
            <a:ext cx="996696" cy="150876"/>
          </a:xfrm>
          <a:prstGeom prst="rect">
            <a:avLst/>
          </a:prstGeom>
          <a:solidFill>
            <a:srgbClr val="EDF5F7"/>
          </a:solidFill>
          <a:ln/>
        </p:spPr>
      </p:sp>
      <p:sp>
        <p:nvSpPr>
          <p:cNvPr id="104" name="Text 102"/>
          <p:cNvSpPr txBox="1"/>
          <p:nvPr/>
        </p:nvSpPr>
        <p:spPr>
          <a:xfrm>
            <a:off x="5294376" y="3685032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4,541</a:t>
            </a:r>
            <a:endParaRPr lang="en-US" sz="680" dirty="0"/>
          </a:p>
        </p:txBody>
      </p:sp>
      <p:sp>
        <p:nvSpPr>
          <p:cNvPr id="105" name="Text 103"/>
          <p:cNvSpPr txBox="1"/>
          <p:nvPr/>
        </p:nvSpPr>
        <p:spPr>
          <a:xfrm>
            <a:off x="6400800" y="368503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49,887</a:t>
            </a:r>
            <a:endParaRPr lang="en-US" sz="700" dirty="0"/>
          </a:p>
        </p:txBody>
      </p:sp>
      <p:sp>
        <p:nvSpPr>
          <p:cNvPr id="106" name="Text 104"/>
          <p:cNvSpPr txBox="1"/>
          <p:nvPr/>
        </p:nvSpPr>
        <p:spPr>
          <a:xfrm>
            <a:off x="594360" y="385876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Rahul Kumar</a:t>
            </a:r>
            <a:endParaRPr lang="en-US" sz="720" dirty="0"/>
          </a:p>
        </p:txBody>
      </p:sp>
      <p:sp>
        <p:nvSpPr>
          <p:cNvPr id="107" name="Text 105"/>
          <p:cNvSpPr txBox="1"/>
          <p:nvPr/>
        </p:nvSpPr>
        <p:spPr>
          <a:xfrm>
            <a:off x="2057400" y="385876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680" dirty="0"/>
          </a:p>
        </p:txBody>
      </p:sp>
      <p:sp>
        <p:nvSpPr>
          <p:cNvPr id="108" name="Text 106"/>
          <p:cNvSpPr txBox="1"/>
          <p:nvPr/>
        </p:nvSpPr>
        <p:spPr>
          <a:xfrm>
            <a:off x="3136392" y="385876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680" dirty="0"/>
          </a:p>
        </p:txBody>
      </p:sp>
      <p:sp>
        <p:nvSpPr>
          <p:cNvPr id="109" name="Shape 107"/>
          <p:cNvSpPr/>
          <p:nvPr/>
        </p:nvSpPr>
        <p:spPr>
          <a:xfrm>
            <a:off x="4242816" y="3866083"/>
            <a:ext cx="996696" cy="150876"/>
          </a:xfrm>
          <a:prstGeom prst="rect">
            <a:avLst/>
          </a:prstGeom>
          <a:solidFill>
            <a:srgbClr val="8FC3CC"/>
          </a:solidFill>
          <a:ln/>
        </p:spPr>
      </p:sp>
      <p:sp>
        <p:nvSpPr>
          <p:cNvPr id="110" name="Text 108"/>
          <p:cNvSpPr txBox="1"/>
          <p:nvPr/>
        </p:nvSpPr>
        <p:spPr>
          <a:xfrm>
            <a:off x="4215384" y="385876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42,859</a:t>
            </a:r>
            <a:endParaRPr lang="en-US" sz="680" dirty="0"/>
          </a:p>
        </p:txBody>
      </p:sp>
      <p:sp>
        <p:nvSpPr>
          <p:cNvPr id="111" name="Shape 109"/>
          <p:cNvSpPr/>
          <p:nvPr/>
        </p:nvSpPr>
        <p:spPr>
          <a:xfrm>
            <a:off x="5321808" y="3866083"/>
            <a:ext cx="996696" cy="150876"/>
          </a:xfrm>
          <a:prstGeom prst="rect">
            <a:avLst/>
          </a:prstGeom>
          <a:solidFill>
            <a:srgbClr val="EDF5F7"/>
          </a:solidFill>
          <a:ln/>
        </p:spPr>
      </p:sp>
      <p:sp>
        <p:nvSpPr>
          <p:cNvPr id="112" name="Text 110"/>
          <p:cNvSpPr txBox="1"/>
          <p:nvPr/>
        </p:nvSpPr>
        <p:spPr>
          <a:xfrm>
            <a:off x="5294376" y="385876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7,083</a:t>
            </a:r>
            <a:endParaRPr lang="en-US" sz="680" dirty="0"/>
          </a:p>
        </p:txBody>
      </p:sp>
      <p:sp>
        <p:nvSpPr>
          <p:cNvPr id="113" name="Text 111"/>
          <p:cNvSpPr txBox="1"/>
          <p:nvPr/>
        </p:nvSpPr>
        <p:spPr>
          <a:xfrm>
            <a:off x="6400800" y="385876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49,942</a:t>
            </a:r>
            <a:endParaRPr lang="en-US" sz="700" dirty="0"/>
          </a:p>
        </p:txBody>
      </p:sp>
      <p:sp>
        <p:nvSpPr>
          <p:cNvPr id="114" name="Text 112"/>
          <p:cNvSpPr txBox="1"/>
          <p:nvPr/>
        </p:nvSpPr>
        <p:spPr>
          <a:xfrm>
            <a:off x="594360" y="403250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Mohamed Ammar</a:t>
            </a:r>
            <a:endParaRPr lang="en-US" sz="720" dirty="0"/>
          </a:p>
        </p:txBody>
      </p:sp>
      <p:sp>
        <p:nvSpPr>
          <p:cNvPr id="115" name="Shape 113"/>
          <p:cNvSpPr/>
          <p:nvPr/>
        </p:nvSpPr>
        <p:spPr>
          <a:xfrm>
            <a:off x="2084832" y="4039819"/>
            <a:ext cx="996696" cy="150876"/>
          </a:xfrm>
          <a:prstGeom prst="rect">
            <a:avLst/>
          </a:prstGeom>
          <a:solidFill>
            <a:srgbClr val="EDF5F7"/>
          </a:solidFill>
          <a:ln/>
        </p:spPr>
      </p:sp>
      <p:sp>
        <p:nvSpPr>
          <p:cNvPr id="116" name="Text 114"/>
          <p:cNvSpPr txBox="1"/>
          <p:nvPr/>
        </p:nvSpPr>
        <p:spPr>
          <a:xfrm>
            <a:off x="2057400" y="403250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7,046</a:t>
            </a:r>
            <a:endParaRPr lang="en-US" sz="680" dirty="0"/>
          </a:p>
        </p:txBody>
      </p:sp>
      <p:sp>
        <p:nvSpPr>
          <p:cNvPr id="117" name="Shape 115"/>
          <p:cNvSpPr/>
          <p:nvPr/>
        </p:nvSpPr>
        <p:spPr>
          <a:xfrm>
            <a:off x="3163824" y="4039819"/>
            <a:ext cx="996696" cy="150876"/>
          </a:xfrm>
          <a:prstGeom prst="rect">
            <a:avLst/>
          </a:prstGeom>
          <a:solidFill>
            <a:srgbClr val="EDF5F7"/>
          </a:solidFill>
          <a:ln/>
        </p:spPr>
      </p:sp>
      <p:sp>
        <p:nvSpPr>
          <p:cNvPr id="118" name="Text 116"/>
          <p:cNvSpPr txBox="1"/>
          <p:nvPr/>
        </p:nvSpPr>
        <p:spPr>
          <a:xfrm>
            <a:off x="3136392" y="403250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6,582</a:t>
            </a:r>
            <a:endParaRPr lang="en-US" sz="680" dirty="0"/>
          </a:p>
        </p:txBody>
      </p:sp>
      <p:sp>
        <p:nvSpPr>
          <p:cNvPr id="119" name="Shape 117"/>
          <p:cNvSpPr/>
          <p:nvPr/>
        </p:nvSpPr>
        <p:spPr>
          <a:xfrm>
            <a:off x="4242816" y="4039819"/>
            <a:ext cx="996696" cy="150876"/>
          </a:xfrm>
          <a:prstGeom prst="rect">
            <a:avLst/>
          </a:prstGeom>
          <a:solidFill>
            <a:srgbClr val="B5D9E0"/>
          </a:solidFill>
          <a:ln/>
        </p:spPr>
      </p:sp>
      <p:sp>
        <p:nvSpPr>
          <p:cNvPr id="120" name="Text 118"/>
          <p:cNvSpPr txBox="1"/>
          <p:nvPr/>
        </p:nvSpPr>
        <p:spPr>
          <a:xfrm>
            <a:off x="4215384" y="403250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23,266</a:t>
            </a:r>
            <a:endParaRPr lang="en-US" sz="680" dirty="0"/>
          </a:p>
        </p:txBody>
      </p:sp>
      <p:sp>
        <p:nvSpPr>
          <p:cNvPr id="121" name="Shape 119"/>
          <p:cNvSpPr/>
          <p:nvPr/>
        </p:nvSpPr>
        <p:spPr>
          <a:xfrm>
            <a:off x="5321808" y="4039819"/>
            <a:ext cx="996696" cy="150876"/>
          </a:xfrm>
          <a:prstGeom prst="rect">
            <a:avLst/>
          </a:prstGeom>
          <a:solidFill>
            <a:srgbClr val="EDF5F7"/>
          </a:solidFill>
          <a:ln/>
        </p:spPr>
      </p:sp>
      <p:sp>
        <p:nvSpPr>
          <p:cNvPr id="122" name="Text 120"/>
          <p:cNvSpPr txBox="1"/>
          <p:nvPr/>
        </p:nvSpPr>
        <p:spPr>
          <a:xfrm>
            <a:off x="5294376" y="403250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4,017</a:t>
            </a:r>
            <a:endParaRPr lang="en-US" sz="680" dirty="0"/>
          </a:p>
        </p:txBody>
      </p:sp>
      <p:sp>
        <p:nvSpPr>
          <p:cNvPr id="123" name="Text 121"/>
          <p:cNvSpPr txBox="1"/>
          <p:nvPr/>
        </p:nvSpPr>
        <p:spPr>
          <a:xfrm>
            <a:off x="6400800" y="403250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40,911</a:t>
            </a:r>
            <a:endParaRPr lang="en-US" sz="700" dirty="0"/>
          </a:p>
        </p:txBody>
      </p:sp>
      <p:sp>
        <p:nvSpPr>
          <p:cNvPr id="124" name="Text 122"/>
          <p:cNvSpPr txBox="1"/>
          <p:nvPr/>
        </p:nvSpPr>
        <p:spPr>
          <a:xfrm>
            <a:off x="594360" y="42062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Tony Ghoussein</a:t>
            </a:r>
            <a:endParaRPr lang="en-US" sz="720" dirty="0"/>
          </a:p>
        </p:txBody>
      </p:sp>
      <p:sp>
        <p:nvSpPr>
          <p:cNvPr id="125" name="Shape 123"/>
          <p:cNvSpPr/>
          <p:nvPr/>
        </p:nvSpPr>
        <p:spPr>
          <a:xfrm>
            <a:off x="2084832" y="4213555"/>
            <a:ext cx="996696" cy="150876"/>
          </a:xfrm>
          <a:prstGeom prst="rect">
            <a:avLst/>
          </a:prstGeom>
          <a:solidFill>
            <a:srgbClr val="EDF5F7"/>
          </a:solidFill>
          <a:ln/>
        </p:spPr>
      </p:sp>
      <p:sp>
        <p:nvSpPr>
          <p:cNvPr id="126" name="Text 124"/>
          <p:cNvSpPr txBox="1"/>
          <p:nvPr/>
        </p:nvSpPr>
        <p:spPr>
          <a:xfrm>
            <a:off x="2057400" y="420624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885</a:t>
            </a:r>
            <a:endParaRPr lang="en-US" sz="680" dirty="0"/>
          </a:p>
        </p:txBody>
      </p:sp>
      <p:sp>
        <p:nvSpPr>
          <p:cNvPr id="127" name="Shape 125"/>
          <p:cNvSpPr/>
          <p:nvPr/>
        </p:nvSpPr>
        <p:spPr>
          <a:xfrm>
            <a:off x="3163824" y="4213555"/>
            <a:ext cx="996696" cy="150876"/>
          </a:xfrm>
          <a:prstGeom prst="rect">
            <a:avLst/>
          </a:prstGeom>
          <a:solidFill>
            <a:srgbClr val="EDF5F7"/>
          </a:solidFill>
          <a:ln/>
        </p:spPr>
      </p:sp>
      <p:sp>
        <p:nvSpPr>
          <p:cNvPr id="128" name="Text 126"/>
          <p:cNvSpPr txBox="1"/>
          <p:nvPr/>
        </p:nvSpPr>
        <p:spPr>
          <a:xfrm>
            <a:off x="3136392" y="420624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6,208</a:t>
            </a:r>
            <a:endParaRPr lang="en-US" sz="680" dirty="0"/>
          </a:p>
        </p:txBody>
      </p:sp>
      <p:sp>
        <p:nvSpPr>
          <p:cNvPr id="129" name="Shape 127"/>
          <p:cNvSpPr/>
          <p:nvPr/>
        </p:nvSpPr>
        <p:spPr>
          <a:xfrm>
            <a:off x="4242816" y="4213555"/>
            <a:ext cx="996696" cy="150876"/>
          </a:xfrm>
          <a:prstGeom prst="rect">
            <a:avLst/>
          </a:prstGeom>
          <a:solidFill>
            <a:srgbClr val="D4E9ED"/>
          </a:solidFill>
          <a:ln/>
        </p:spPr>
      </p:sp>
      <p:sp>
        <p:nvSpPr>
          <p:cNvPr id="130" name="Text 128"/>
          <p:cNvSpPr txBox="1"/>
          <p:nvPr/>
        </p:nvSpPr>
        <p:spPr>
          <a:xfrm>
            <a:off x="4215384" y="420624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10,369</a:t>
            </a:r>
            <a:endParaRPr lang="en-US" sz="680" dirty="0"/>
          </a:p>
        </p:txBody>
      </p:sp>
      <p:sp>
        <p:nvSpPr>
          <p:cNvPr id="131" name="Shape 129"/>
          <p:cNvSpPr/>
          <p:nvPr/>
        </p:nvSpPr>
        <p:spPr>
          <a:xfrm>
            <a:off x="5321808" y="4213555"/>
            <a:ext cx="996696" cy="150876"/>
          </a:xfrm>
          <a:prstGeom prst="rect">
            <a:avLst/>
          </a:prstGeom>
          <a:solidFill>
            <a:srgbClr val="EDF5F7"/>
          </a:solidFill>
          <a:ln/>
        </p:spPr>
      </p:sp>
      <p:sp>
        <p:nvSpPr>
          <p:cNvPr id="132" name="Text 130"/>
          <p:cNvSpPr txBox="1"/>
          <p:nvPr/>
        </p:nvSpPr>
        <p:spPr>
          <a:xfrm>
            <a:off x="5294376" y="420624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1,816</a:t>
            </a:r>
            <a:endParaRPr lang="en-US" sz="680" dirty="0"/>
          </a:p>
        </p:txBody>
      </p:sp>
      <p:sp>
        <p:nvSpPr>
          <p:cNvPr id="133" name="Text 131"/>
          <p:cNvSpPr txBox="1"/>
          <p:nvPr/>
        </p:nvSpPr>
        <p:spPr>
          <a:xfrm>
            <a:off x="6400800" y="420624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19,278</a:t>
            </a:r>
            <a:endParaRPr lang="en-US" sz="700" dirty="0"/>
          </a:p>
        </p:txBody>
      </p:sp>
      <p:sp>
        <p:nvSpPr>
          <p:cNvPr id="134" name="Text 132"/>
          <p:cNvSpPr txBox="1"/>
          <p:nvPr/>
        </p:nvSpPr>
        <p:spPr>
          <a:xfrm>
            <a:off x="594360" y="437997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Eric Cruz</a:t>
            </a:r>
            <a:endParaRPr lang="en-US" sz="720" dirty="0"/>
          </a:p>
        </p:txBody>
      </p:sp>
      <p:sp>
        <p:nvSpPr>
          <p:cNvPr id="135" name="Shape 133"/>
          <p:cNvSpPr/>
          <p:nvPr/>
        </p:nvSpPr>
        <p:spPr>
          <a:xfrm>
            <a:off x="2084832" y="4387291"/>
            <a:ext cx="996696" cy="150876"/>
          </a:xfrm>
          <a:prstGeom prst="rect">
            <a:avLst/>
          </a:prstGeom>
          <a:solidFill>
            <a:srgbClr val="EDF5F7"/>
          </a:solidFill>
          <a:ln/>
        </p:spPr>
      </p:sp>
      <p:sp>
        <p:nvSpPr>
          <p:cNvPr id="136" name="Text 134"/>
          <p:cNvSpPr txBox="1"/>
          <p:nvPr/>
        </p:nvSpPr>
        <p:spPr>
          <a:xfrm>
            <a:off x="2057400" y="437997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1,666</a:t>
            </a:r>
            <a:endParaRPr lang="en-US" sz="680" dirty="0"/>
          </a:p>
        </p:txBody>
      </p:sp>
      <p:sp>
        <p:nvSpPr>
          <p:cNvPr id="137" name="Shape 135"/>
          <p:cNvSpPr/>
          <p:nvPr/>
        </p:nvSpPr>
        <p:spPr>
          <a:xfrm>
            <a:off x="3163824" y="4387291"/>
            <a:ext cx="996696" cy="150876"/>
          </a:xfrm>
          <a:prstGeom prst="rect">
            <a:avLst/>
          </a:prstGeom>
          <a:solidFill>
            <a:srgbClr val="EDF5F7"/>
          </a:solidFill>
          <a:ln/>
        </p:spPr>
      </p:sp>
      <p:sp>
        <p:nvSpPr>
          <p:cNvPr id="138" name="Text 136"/>
          <p:cNvSpPr txBox="1"/>
          <p:nvPr/>
        </p:nvSpPr>
        <p:spPr>
          <a:xfrm>
            <a:off x="3136392" y="437997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2,970</a:t>
            </a:r>
            <a:endParaRPr lang="en-US" sz="680" dirty="0"/>
          </a:p>
        </p:txBody>
      </p:sp>
      <p:sp>
        <p:nvSpPr>
          <p:cNvPr id="139" name="Shape 137"/>
          <p:cNvSpPr/>
          <p:nvPr/>
        </p:nvSpPr>
        <p:spPr>
          <a:xfrm>
            <a:off x="4242816" y="4387291"/>
            <a:ext cx="996696" cy="150876"/>
          </a:xfrm>
          <a:prstGeom prst="rect">
            <a:avLst/>
          </a:prstGeom>
          <a:solidFill>
            <a:srgbClr val="EDF5F7"/>
          </a:solidFill>
          <a:ln/>
        </p:spPr>
      </p:sp>
      <p:sp>
        <p:nvSpPr>
          <p:cNvPr id="140" name="Text 138"/>
          <p:cNvSpPr txBox="1"/>
          <p:nvPr/>
        </p:nvSpPr>
        <p:spPr>
          <a:xfrm>
            <a:off x="4215384" y="437997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7,237</a:t>
            </a:r>
            <a:endParaRPr lang="en-US" sz="680" dirty="0"/>
          </a:p>
        </p:txBody>
      </p:sp>
      <p:sp>
        <p:nvSpPr>
          <p:cNvPr id="141" name="Shape 139"/>
          <p:cNvSpPr/>
          <p:nvPr/>
        </p:nvSpPr>
        <p:spPr>
          <a:xfrm>
            <a:off x="5321808" y="4387291"/>
            <a:ext cx="996696" cy="150876"/>
          </a:xfrm>
          <a:prstGeom prst="rect">
            <a:avLst/>
          </a:prstGeom>
          <a:solidFill>
            <a:srgbClr val="EDF5F7"/>
          </a:solidFill>
          <a:ln/>
        </p:spPr>
      </p:sp>
      <p:sp>
        <p:nvSpPr>
          <p:cNvPr id="142" name="Text 140"/>
          <p:cNvSpPr txBox="1"/>
          <p:nvPr/>
        </p:nvSpPr>
        <p:spPr>
          <a:xfrm>
            <a:off x="5294376" y="437997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5,884</a:t>
            </a:r>
            <a:endParaRPr lang="en-US" sz="680" dirty="0"/>
          </a:p>
        </p:txBody>
      </p:sp>
      <p:sp>
        <p:nvSpPr>
          <p:cNvPr id="143" name="Text 141"/>
          <p:cNvSpPr txBox="1"/>
          <p:nvPr/>
        </p:nvSpPr>
        <p:spPr>
          <a:xfrm>
            <a:off x="6400800" y="437997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17,757</a:t>
            </a:r>
            <a:endParaRPr lang="en-US" sz="700" dirty="0"/>
          </a:p>
        </p:txBody>
      </p:sp>
      <p:sp>
        <p:nvSpPr>
          <p:cNvPr id="144" name="Shape 142"/>
          <p:cNvSpPr/>
          <p:nvPr/>
        </p:nvSpPr>
        <p:spPr>
          <a:xfrm>
            <a:off x="594360" y="4553712"/>
            <a:ext cx="7132320" cy="10973"/>
          </a:xfrm>
          <a:prstGeom prst="rect">
            <a:avLst/>
          </a:prstGeom>
          <a:solidFill>
            <a:srgbClr val="12293A"/>
          </a:solidFill>
          <a:ln/>
        </p:spPr>
      </p:sp>
      <p:sp>
        <p:nvSpPr>
          <p:cNvPr id="145" name="Text 143"/>
          <p:cNvSpPr txBox="1"/>
          <p:nvPr/>
        </p:nvSpPr>
        <p:spPr>
          <a:xfrm>
            <a:off x="594360" y="458114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ALL DEVELOPERS</a:t>
            </a:r>
            <a:endParaRPr lang="en-US" sz="750" dirty="0"/>
          </a:p>
        </p:txBody>
      </p:sp>
      <p:sp>
        <p:nvSpPr>
          <p:cNvPr id="146" name="Text 144"/>
          <p:cNvSpPr txBox="1"/>
          <p:nvPr/>
        </p:nvSpPr>
        <p:spPr>
          <a:xfrm>
            <a:off x="2057400" y="458114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120,224</a:t>
            </a:r>
            <a:endParaRPr lang="en-US" sz="750" dirty="0"/>
          </a:p>
        </p:txBody>
      </p:sp>
      <p:sp>
        <p:nvSpPr>
          <p:cNvPr id="147" name="Text 145"/>
          <p:cNvSpPr txBox="1"/>
          <p:nvPr/>
        </p:nvSpPr>
        <p:spPr>
          <a:xfrm>
            <a:off x="3136392" y="458114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228,132</a:t>
            </a:r>
            <a:endParaRPr lang="en-US" sz="750" dirty="0"/>
          </a:p>
        </p:txBody>
      </p:sp>
      <p:sp>
        <p:nvSpPr>
          <p:cNvPr id="148" name="Text 146"/>
          <p:cNvSpPr txBox="1"/>
          <p:nvPr/>
        </p:nvSpPr>
        <p:spPr>
          <a:xfrm>
            <a:off x="4215384" y="458114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293,419</a:t>
            </a:r>
            <a:endParaRPr lang="en-US" sz="750" dirty="0"/>
          </a:p>
        </p:txBody>
      </p:sp>
      <p:sp>
        <p:nvSpPr>
          <p:cNvPr id="149" name="Text 147"/>
          <p:cNvSpPr txBox="1"/>
          <p:nvPr/>
        </p:nvSpPr>
        <p:spPr>
          <a:xfrm>
            <a:off x="5294376" y="458114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101,159</a:t>
            </a:r>
            <a:endParaRPr lang="en-US" sz="750" dirty="0"/>
          </a:p>
        </p:txBody>
      </p:sp>
      <p:sp>
        <p:nvSpPr>
          <p:cNvPr id="150" name="Text 148"/>
          <p:cNvSpPr txBox="1"/>
          <p:nvPr/>
        </p:nvSpPr>
        <p:spPr>
          <a:xfrm>
            <a:off x="6400800" y="458114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742,934</a:t>
            </a:r>
            <a:endParaRPr lang="en-US" sz="750" dirty="0"/>
          </a:p>
        </p:txBody>
      </p:sp>
      <p:sp>
        <p:nvSpPr>
          <p:cNvPr id="151" name="Text 149"/>
          <p:cNvSpPr txBox="1"/>
          <p:nvPr/>
        </p:nvSpPr>
        <p:spPr>
          <a:xfrm>
            <a:off x="594360" y="48920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BY WEEK  </a:t>
            </a:r>
            <a:pPr indent="0" marL="0">
              <a:buNone/>
            </a:pPr>
            <a:r>
              <a:rPr lang="en-US" sz="6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cell = one week</a:t>
            </a:r>
            <a:endParaRPr lang="en-US" sz="750" dirty="0"/>
          </a:p>
        </p:txBody>
      </p:sp>
      <p:sp>
        <p:nvSpPr>
          <p:cNvPr id="152" name="Shape 150"/>
          <p:cNvSpPr/>
          <p:nvPr/>
        </p:nvSpPr>
        <p:spPr>
          <a:xfrm>
            <a:off x="2075688" y="4892040"/>
            <a:ext cx="365107" cy="219456"/>
          </a:xfrm>
          <a:prstGeom prst="rect">
            <a:avLst/>
          </a:prstGeom>
          <a:solidFill>
            <a:srgbClr val="D4E9ED"/>
          </a:solidFill>
          <a:ln/>
        </p:spPr>
      </p:sp>
      <p:sp>
        <p:nvSpPr>
          <p:cNvPr id="153" name="Text 151"/>
          <p:cNvSpPr txBox="1"/>
          <p:nvPr/>
        </p:nvSpPr>
        <p:spPr>
          <a:xfrm>
            <a:off x="2057400" y="4892040"/>
            <a:ext cx="4016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28k</a:t>
            </a:r>
            <a:endParaRPr lang="en-US" sz="620" dirty="0"/>
          </a:p>
        </p:txBody>
      </p:sp>
      <p:sp>
        <p:nvSpPr>
          <p:cNvPr id="154" name="Text 152"/>
          <p:cNvSpPr txBox="1"/>
          <p:nvPr/>
        </p:nvSpPr>
        <p:spPr>
          <a:xfrm>
            <a:off x="2057400" y="5120640"/>
            <a:ext cx="40168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</a:t>
            </a:r>
            <a:endParaRPr lang="en-US" sz="550" dirty="0"/>
          </a:p>
        </p:txBody>
      </p:sp>
      <p:sp>
        <p:nvSpPr>
          <p:cNvPr id="155" name="Shape 153"/>
          <p:cNvSpPr/>
          <p:nvPr/>
        </p:nvSpPr>
        <p:spPr>
          <a:xfrm>
            <a:off x="2477371" y="4892040"/>
            <a:ext cx="365107" cy="219456"/>
          </a:xfrm>
          <a:prstGeom prst="rect">
            <a:avLst/>
          </a:prstGeom>
          <a:solidFill>
            <a:srgbClr val="D4E9ED"/>
          </a:solidFill>
          <a:ln/>
        </p:spPr>
      </p:sp>
      <p:sp>
        <p:nvSpPr>
          <p:cNvPr id="156" name="Text 154"/>
          <p:cNvSpPr txBox="1"/>
          <p:nvPr/>
        </p:nvSpPr>
        <p:spPr>
          <a:xfrm>
            <a:off x="2459083" y="4892040"/>
            <a:ext cx="4016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28k</a:t>
            </a:r>
            <a:endParaRPr lang="en-US" sz="620" dirty="0"/>
          </a:p>
        </p:txBody>
      </p:sp>
      <p:sp>
        <p:nvSpPr>
          <p:cNvPr id="157" name="Text 155"/>
          <p:cNvSpPr txBox="1"/>
          <p:nvPr/>
        </p:nvSpPr>
        <p:spPr>
          <a:xfrm>
            <a:off x="2459083" y="5120640"/>
            <a:ext cx="40168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</a:t>
            </a:r>
            <a:endParaRPr lang="en-US" sz="550" dirty="0"/>
          </a:p>
        </p:txBody>
      </p:sp>
      <p:sp>
        <p:nvSpPr>
          <p:cNvPr id="158" name="Shape 156"/>
          <p:cNvSpPr/>
          <p:nvPr/>
        </p:nvSpPr>
        <p:spPr>
          <a:xfrm>
            <a:off x="2879054" y="4892040"/>
            <a:ext cx="365107" cy="219456"/>
          </a:xfrm>
          <a:prstGeom prst="rect">
            <a:avLst/>
          </a:prstGeom>
          <a:solidFill>
            <a:srgbClr val="D4E9ED"/>
          </a:solidFill>
          <a:ln/>
        </p:spPr>
      </p:sp>
      <p:sp>
        <p:nvSpPr>
          <p:cNvPr id="159" name="Text 157"/>
          <p:cNvSpPr txBox="1"/>
          <p:nvPr/>
        </p:nvSpPr>
        <p:spPr>
          <a:xfrm>
            <a:off x="2860766" y="4892040"/>
            <a:ext cx="4016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28k</a:t>
            </a:r>
            <a:endParaRPr lang="en-US" sz="620" dirty="0"/>
          </a:p>
        </p:txBody>
      </p:sp>
      <p:sp>
        <p:nvSpPr>
          <p:cNvPr id="160" name="Text 158"/>
          <p:cNvSpPr txBox="1"/>
          <p:nvPr/>
        </p:nvSpPr>
        <p:spPr>
          <a:xfrm>
            <a:off x="2860766" y="5120640"/>
            <a:ext cx="40168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21</a:t>
            </a:r>
            <a:endParaRPr lang="en-US" sz="550" dirty="0"/>
          </a:p>
        </p:txBody>
      </p:sp>
      <p:sp>
        <p:nvSpPr>
          <p:cNvPr id="161" name="Shape 159"/>
          <p:cNvSpPr/>
          <p:nvPr/>
        </p:nvSpPr>
        <p:spPr>
          <a:xfrm>
            <a:off x="3280737" y="4892040"/>
            <a:ext cx="365107" cy="219456"/>
          </a:xfrm>
          <a:prstGeom prst="rect">
            <a:avLst/>
          </a:prstGeom>
          <a:solidFill>
            <a:srgbClr val="B5D9E0"/>
          </a:solidFill>
          <a:ln/>
        </p:spPr>
      </p:sp>
      <p:sp>
        <p:nvSpPr>
          <p:cNvPr id="162" name="Text 160"/>
          <p:cNvSpPr txBox="1"/>
          <p:nvPr/>
        </p:nvSpPr>
        <p:spPr>
          <a:xfrm>
            <a:off x="3262449" y="4892040"/>
            <a:ext cx="4016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41k</a:t>
            </a:r>
            <a:endParaRPr lang="en-US" sz="620" dirty="0"/>
          </a:p>
        </p:txBody>
      </p:sp>
      <p:sp>
        <p:nvSpPr>
          <p:cNvPr id="163" name="Text 161"/>
          <p:cNvSpPr txBox="1"/>
          <p:nvPr/>
        </p:nvSpPr>
        <p:spPr>
          <a:xfrm>
            <a:off x="3262449" y="5120640"/>
            <a:ext cx="40168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28</a:t>
            </a:r>
            <a:endParaRPr lang="en-US" sz="550" dirty="0"/>
          </a:p>
        </p:txBody>
      </p:sp>
      <p:sp>
        <p:nvSpPr>
          <p:cNvPr id="164" name="Shape 162"/>
          <p:cNvSpPr/>
          <p:nvPr/>
        </p:nvSpPr>
        <p:spPr>
          <a:xfrm>
            <a:off x="3682419" y="4892040"/>
            <a:ext cx="365107" cy="219456"/>
          </a:xfrm>
          <a:prstGeom prst="rect">
            <a:avLst/>
          </a:prstGeom>
          <a:solidFill>
            <a:srgbClr val="B5D9E0"/>
          </a:solidFill>
          <a:ln/>
        </p:spPr>
      </p:sp>
      <p:sp>
        <p:nvSpPr>
          <p:cNvPr id="165" name="Text 163"/>
          <p:cNvSpPr txBox="1"/>
          <p:nvPr/>
        </p:nvSpPr>
        <p:spPr>
          <a:xfrm>
            <a:off x="3664131" y="4892040"/>
            <a:ext cx="4016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52k</a:t>
            </a:r>
            <a:endParaRPr lang="en-US" sz="620" dirty="0"/>
          </a:p>
        </p:txBody>
      </p:sp>
      <p:sp>
        <p:nvSpPr>
          <p:cNvPr id="166" name="Text 164"/>
          <p:cNvSpPr txBox="1"/>
          <p:nvPr/>
        </p:nvSpPr>
        <p:spPr>
          <a:xfrm>
            <a:off x="3664131" y="5120640"/>
            <a:ext cx="40168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550" dirty="0"/>
          </a:p>
        </p:txBody>
      </p:sp>
      <p:sp>
        <p:nvSpPr>
          <p:cNvPr id="167" name="Shape 165"/>
          <p:cNvSpPr/>
          <p:nvPr/>
        </p:nvSpPr>
        <p:spPr>
          <a:xfrm>
            <a:off x="4084102" y="4892040"/>
            <a:ext cx="365107" cy="219456"/>
          </a:xfrm>
          <a:prstGeom prst="rect">
            <a:avLst/>
          </a:prstGeom>
          <a:solidFill>
            <a:srgbClr val="B5D9E0"/>
          </a:solidFill>
          <a:ln/>
        </p:spPr>
      </p:sp>
      <p:sp>
        <p:nvSpPr>
          <p:cNvPr id="168" name="Text 166"/>
          <p:cNvSpPr txBox="1"/>
          <p:nvPr/>
        </p:nvSpPr>
        <p:spPr>
          <a:xfrm>
            <a:off x="4065814" y="4892040"/>
            <a:ext cx="4016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52k</a:t>
            </a:r>
            <a:endParaRPr lang="en-US" sz="620" dirty="0"/>
          </a:p>
        </p:txBody>
      </p:sp>
      <p:sp>
        <p:nvSpPr>
          <p:cNvPr id="169" name="Text 167"/>
          <p:cNvSpPr txBox="1"/>
          <p:nvPr/>
        </p:nvSpPr>
        <p:spPr>
          <a:xfrm>
            <a:off x="4065814" y="5120640"/>
            <a:ext cx="40168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550" dirty="0"/>
          </a:p>
        </p:txBody>
      </p:sp>
      <p:sp>
        <p:nvSpPr>
          <p:cNvPr id="170" name="Shape 168"/>
          <p:cNvSpPr/>
          <p:nvPr/>
        </p:nvSpPr>
        <p:spPr>
          <a:xfrm>
            <a:off x="4485785" y="4892040"/>
            <a:ext cx="365107" cy="219456"/>
          </a:xfrm>
          <a:prstGeom prst="rect">
            <a:avLst/>
          </a:prstGeom>
          <a:solidFill>
            <a:srgbClr val="B5D9E0"/>
          </a:solidFill>
          <a:ln/>
        </p:spPr>
      </p:sp>
      <p:sp>
        <p:nvSpPr>
          <p:cNvPr id="171" name="Text 169"/>
          <p:cNvSpPr txBox="1"/>
          <p:nvPr/>
        </p:nvSpPr>
        <p:spPr>
          <a:xfrm>
            <a:off x="4467497" y="4892040"/>
            <a:ext cx="4016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52k</a:t>
            </a:r>
            <a:endParaRPr lang="en-US" sz="620" dirty="0"/>
          </a:p>
        </p:txBody>
      </p:sp>
      <p:sp>
        <p:nvSpPr>
          <p:cNvPr id="172" name="Text 170"/>
          <p:cNvSpPr txBox="1"/>
          <p:nvPr/>
        </p:nvSpPr>
        <p:spPr>
          <a:xfrm>
            <a:off x="4467497" y="5120640"/>
            <a:ext cx="40168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</a:t>
            </a:r>
            <a:endParaRPr lang="en-US" sz="550" dirty="0"/>
          </a:p>
        </p:txBody>
      </p:sp>
      <p:sp>
        <p:nvSpPr>
          <p:cNvPr id="173" name="Shape 171"/>
          <p:cNvSpPr/>
          <p:nvPr/>
        </p:nvSpPr>
        <p:spPr>
          <a:xfrm>
            <a:off x="4887468" y="4892040"/>
            <a:ext cx="365107" cy="219456"/>
          </a:xfrm>
          <a:prstGeom prst="rect">
            <a:avLst/>
          </a:prstGeom>
          <a:solidFill>
            <a:srgbClr val="B5D9E0"/>
          </a:solidFill>
          <a:ln/>
        </p:spPr>
      </p:sp>
      <p:sp>
        <p:nvSpPr>
          <p:cNvPr id="174" name="Text 172"/>
          <p:cNvSpPr txBox="1"/>
          <p:nvPr/>
        </p:nvSpPr>
        <p:spPr>
          <a:xfrm>
            <a:off x="4869180" y="4892040"/>
            <a:ext cx="4016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48k</a:t>
            </a:r>
            <a:endParaRPr lang="en-US" sz="620" dirty="0"/>
          </a:p>
        </p:txBody>
      </p:sp>
      <p:sp>
        <p:nvSpPr>
          <p:cNvPr id="175" name="Text 173"/>
          <p:cNvSpPr txBox="1"/>
          <p:nvPr/>
        </p:nvSpPr>
        <p:spPr>
          <a:xfrm>
            <a:off x="4869180" y="5120640"/>
            <a:ext cx="40168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26</a:t>
            </a:r>
            <a:endParaRPr lang="en-US" sz="550" dirty="0"/>
          </a:p>
        </p:txBody>
      </p:sp>
      <p:sp>
        <p:nvSpPr>
          <p:cNvPr id="176" name="Shape 174"/>
          <p:cNvSpPr/>
          <p:nvPr/>
        </p:nvSpPr>
        <p:spPr>
          <a:xfrm>
            <a:off x="5289151" y="4892040"/>
            <a:ext cx="365107" cy="219456"/>
          </a:xfrm>
          <a:prstGeom prst="rect">
            <a:avLst/>
          </a:prstGeom>
          <a:solidFill>
            <a:srgbClr val="D4E9ED"/>
          </a:solidFill>
          <a:ln/>
        </p:spPr>
      </p:sp>
      <p:sp>
        <p:nvSpPr>
          <p:cNvPr id="177" name="Text 175"/>
          <p:cNvSpPr txBox="1"/>
          <p:nvPr/>
        </p:nvSpPr>
        <p:spPr>
          <a:xfrm>
            <a:off x="5270863" y="4892040"/>
            <a:ext cx="4016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28k</a:t>
            </a:r>
            <a:endParaRPr lang="en-US" sz="620" dirty="0"/>
          </a:p>
        </p:txBody>
      </p:sp>
      <p:sp>
        <p:nvSpPr>
          <p:cNvPr id="178" name="Text 176"/>
          <p:cNvSpPr txBox="1"/>
          <p:nvPr/>
        </p:nvSpPr>
        <p:spPr>
          <a:xfrm>
            <a:off x="5270863" y="5120640"/>
            <a:ext cx="40168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550" dirty="0"/>
          </a:p>
        </p:txBody>
      </p:sp>
      <p:sp>
        <p:nvSpPr>
          <p:cNvPr id="179" name="Shape 177"/>
          <p:cNvSpPr/>
          <p:nvPr/>
        </p:nvSpPr>
        <p:spPr>
          <a:xfrm>
            <a:off x="5690834" y="4892040"/>
            <a:ext cx="365107" cy="219456"/>
          </a:xfrm>
          <a:prstGeom prst="rect">
            <a:avLst/>
          </a:prstGeom>
          <a:solidFill>
            <a:srgbClr val="2C8394"/>
          </a:solidFill>
          <a:ln/>
        </p:spPr>
      </p:sp>
      <p:sp>
        <p:nvSpPr>
          <p:cNvPr id="180" name="Text 178"/>
          <p:cNvSpPr txBox="1"/>
          <p:nvPr/>
        </p:nvSpPr>
        <p:spPr>
          <a:xfrm>
            <a:off x="5672546" y="4892040"/>
            <a:ext cx="4016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78k</a:t>
            </a:r>
            <a:endParaRPr lang="en-US" sz="620" dirty="0"/>
          </a:p>
        </p:txBody>
      </p:sp>
      <p:sp>
        <p:nvSpPr>
          <p:cNvPr id="181" name="Text 179"/>
          <p:cNvSpPr txBox="1"/>
          <p:nvPr/>
        </p:nvSpPr>
        <p:spPr>
          <a:xfrm>
            <a:off x="5672546" y="5120640"/>
            <a:ext cx="40168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09</a:t>
            </a:r>
            <a:endParaRPr lang="en-US" sz="550" dirty="0"/>
          </a:p>
        </p:txBody>
      </p:sp>
      <p:sp>
        <p:nvSpPr>
          <p:cNvPr id="182" name="Shape 180"/>
          <p:cNvSpPr/>
          <p:nvPr/>
        </p:nvSpPr>
        <p:spPr>
          <a:xfrm>
            <a:off x="6092517" y="4892040"/>
            <a:ext cx="365107" cy="219456"/>
          </a:xfrm>
          <a:prstGeom prst="rect">
            <a:avLst/>
          </a:prstGeom>
          <a:solidFill>
            <a:srgbClr val="2C8394"/>
          </a:solidFill>
          <a:ln/>
        </p:spPr>
      </p:sp>
      <p:sp>
        <p:nvSpPr>
          <p:cNvPr id="183" name="Text 181"/>
          <p:cNvSpPr txBox="1"/>
          <p:nvPr/>
        </p:nvSpPr>
        <p:spPr>
          <a:xfrm>
            <a:off x="6074229" y="4892040"/>
            <a:ext cx="4016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87k</a:t>
            </a:r>
            <a:endParaRPr lang="en-US" sz="620" dirty="0"/>
          </a:p>
        </p:txBody>
      </p:sp>
      <p:sp>
        <p:nvSpPr>
          <p:cNvPr id="184" name="Text 182"/>
          <p:cNvSpPr txBox="1"/>
          <p:nvPr/>
        </p:nvSpPr>
        <p:spPr>
          <a:xfrm>
            <a:off x="6074229" y="5120640"/>
            <a:ext cx="40168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</a:t>
            </a:r>
            <a:endParaRPr lang="en-US" sz="550" dirty="0"/>
          </a:p>
        </p:txBody>
      </p:sp>
      <p:sp>
        <p:nvSpPr>
          <p:cNvPr id="185" name="Shape 183"/>
          <p:cNvSpPr/>
          <p:nvPr/>
        </p:nvSpPr>
        <p:spPr>
          <a:xfrm>
            <a:off x="6494199" y="4892040"/>
            <a:ext cx="365107" cy="219456"/>
          </a:xfrm>
          <a:prstGeom prst="rect">
            <a:avLst/>
          </a:prstGeom>
          <a:solidFill>
            <a:srgbClr val="8FC3CC"/>
          </a:solidFill>
          <a:ln/>
        </p:spPr>
      </p:sp>
      <p:sp>
        <p:nvSpPr>
          <p:cNvPr id="186" name="Text 184"/>
          <p:cNvSpPr txBox="1"/>
          <p:nvPr/>
        </p:nvSpPr>
        <p:spPr>
          <a:xfrm>
            <a:off x="6475911" y="4892040"/>
            <a:ext cx="4016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68k</a:t>
            </a:r>
            <a:endParaRPr lang="en-US" sz="620" dirty="0"/>
          </a:p>
        </p:txBody>
      </p:sp>
      <p:sp>
        <p:nvSpPr>
          <p:cNvPr id="187" name="Text 185"/>
          <p:cNvSpPr txBox="1"/>
          <p:nvPr/>
        </p:nvSpPr>
        <p:spPr>
          <a:xfrm>
            <a:off x="6475911" y="5120640"/>
            <a:ext cx="40168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23</a:t>
            </a:r>
            <a:endParaRPr lang="en-US" sz="550" dirty="0"/>
          </a:p>
        </p:txBody>
      </p:sp>
      <p:sp>
        <p:nvSpPr>
          <p:cNvPr id="188" name="Shape 186"/>
          <p:cNvSpPr/>
          <p:nvPr/>
        </p:nvSpPr>
        <p:spPr>
          <a:xfrm>
            <a:off x="6895882" y="4892040"/>
            <a:ext cx="365107" cy="219456"/>
          </a:xfrm>
          <a:prstGeom prst="rect">
            <a:avLst/>
          </a:prstGeom>
          <a:solidFill>
            <a:srgbClr val="8FC3CC"/>
          </a:solidFill>
          <a:ln/>
        </p:spPr>
      </p:sp>
      <p:sp>
        <p:nvSpPr>
          <p:cNvPr id="189" name="Text 187"/>
          <p:cNvSpPr txBox="1"/>
          <p:nvPr/>
        </p:nvSpPr>
        <p:spPr>
          <a:xfrm>
            <a:off x="6877594" y="4892040"/>
            <a:ext cx="4016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60k</a:t>
            </a:r>
            <a:endParaRPr lang="en-US" sz="620" dirty="0"/>
          </a:p>
        </p:txBody>
      </p:sp>
      <p:sp>
        <p:nvSpPr>
          <p:cNvPr id="190" name="Text 188"/>
          <p:cNvSpPr txBox="1"/>
          <p:nvPr/>
        </p:nvSpPr>
        <p:spPr>
          <a:xfrm>
            <a:off x="6877594" y="5120640"/>
            <a:ext cx="40168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30</a:t>
            </a:r>
            <a:endParaRPr lang="en-US" sz="550" dirty="0"/>
          </a:p>
        </p:txBody>
      </p:sp>
      <p:sp>
        <p:nvSpPr>
          <p:cNvPr id="191" name="Shape 189"/>
          <p:cNvSpPr/>
          <p:nvPr/>
        </p:nvSpPr>
        <p:spPr>
          <a:xfrm>
            <a:off x="7297565" y="4892040"/>
            <a:ext cx="365107" cy="219456"/>
          </a:xfrm>
          <a:prstGeom prst="rect">
            <a:avLst/>
          </a:prstGeom>
          <a:solidFill>
            <a:srgbClr val="8FC3CC"/>
          </a:solidFill>
          <a:ln/>
        </p:spPr>
      </p:sp>
      <p:sp>
        <p:nvSpPr>
          <p:cNvPr id="192" name="Text 190"/>
          <p:cNvSpPr txBox="1"/>
          <p:nvPr/>
        </p:nvSpPr>
        <p:spPr>
          <a:xfrm>
            <a:off x="7279277" y="4892040"/>
            <a:ext cx="4016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66k</a:t>
            </a:r>
            <a:endParaRPr lang="en-US" sz="620" dirty="0"/>
          </a:p>
        </p:txBody>
      </p:sp>
      <p:sp>
        <p:nvSpPr>
          <p:cNvPr id="193" name="Text 191"/>
          <p:cNvSpPr txBox="1"/>
          <p:nvPr/>
        </p:nvSpPr>
        <p:spPr>
          <a:xfrm>
            <a:off x="7279277" y="5120640"/>
            <a:ext cx="40168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550" dirty="0"/>
          </a:p>
        </p:txBody>
      </p:sp>
      <p:sp>
        <p:nvSpPr>
          <p:cNvPr id="194" name="Text 192"/>
          <p:cNvSpPr txBox="1"/>
          <p:nvPr/>
        </p:nvSpPr>
        <p:spPr>
          <a:xfrm>
            <a:off x="594360" y="534009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cell = one week · early weeks estimated from the admin's rolling windows</a:t>
            </a:r>
            <a:endParaRPr lang="en-US" sz="600" dirty="0"/>
          </a:p>
        </p:txBody>
      </p:sp>
      <p:sp>
        <p:nvSpPr>
          <p:cNvPr id="195" name="Shape 193"/>
          <p:cNvSpPr/>
          <p:nvPr/>
        </p:nvSpPr>
        <p:spPr>
          <a:xfrm>
            <a:off x="8092440" y="2212848"/>
            <a:ext cx="3685032" cy="3383280"/>
          </a:xfrm>
          <a:prstGeom prst="roundRect">
            <a:avLst>
              <a:gd name="adj" fmla="val 18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196" name="Text 194"/>
          <p:cNvSpPr txBox="1"/>
          <p:nvPr/>
        </p:nvSpPr>
        <p:spPr>
          <a:xfrm>
            <a:off x="8293608" y="23225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COWORK — SESSIONS PER WEEK</a:t>
            </a:r>
            <a:endParaRPr lang="en-US" sz="1200" dirty="0"/>
          </a:p>
        </p:txBody>
      </p:sp>
      <p:sp>
        <p:nvSpPr>
          <p:cNvPr id="197" name="Text 195"/>
          <p:cNvSpPr txBox="1"/>
          <p:nvPr/>
        </p:nvSpPr>
        <p:spPr>
          <a:xfrm>
            <a:off x="8275320" y="259689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~137</a:t>
            </a:r>
            <a:endParaRPr lang="en-US" sz="3000" dirty="0"/>
          </a:p>
        </p:txBody>
      </p:sp>
      <p:sp>
        <p:nvSpPr>
          <p:cNvPr id="198" name="Text 196"/>
          <p:cNvSpPr txBox="1"/>
          <p:nvPr/>
        </p:nvSpPr>
        <p:spPr>
          <a:xfrm>
            <a:off x="9555480" y="26243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total / wk
</a:t>
            </a:r>
            <a:pPr indent="0" marL="0">
              <a:buNone/>
            </a:pPr>
            <a:r>
              <a:rPr lang="en-US" sz="7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~130 baseline</a:t>
            </a:r>
            <a:endParaRPr lang="en-US" sz="750" dirty="0"/>
          </a:p>
        </p:txBody>
      </p:sp>
      <p:sp>
        <p:nvSpPr>
          <p:cNvPr id="199" name="Text 197"/>
          <p:cNvSpPr txBox="1"/>
          <p:nvPr/>
        </p:nvSpPr>
        <p:spPr>
          <a:xfrm>
            <a:off x="8275320" y="323697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Matt Freeman</a:t>
            </a:r>
            <a:endParaRPr lang="en-US" sz="750" dirty="0"/>
          </a:p>
        </p:txBody>
      </p:sp>
      <p:sp>
        <p:nvSpPr>
          <p:cNvPr id="200" name="Text 198"/>
          <p:cNvSpPr txBox="1"/>
          <p:nvPr/>
        </p:nvSpPr>
        <p:spPr>
          <a:xfrm>
            <a:off x="10058400" y="323697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▼ -3</a:t>
            </a:r>
            <a:endParaRPr lang="en-US" sz="680" dirty="0"/>
          </a:p>
        </p:txBody>
      </p:sp>
      <p:sp>
        <p:nvSpPr>
          <p:cNvPr id="201" name="Text 199"/>
          <p:cNvSpPr txBox="1"/>
          <p:nvPr/>
        </p:nvSpPr>
        <p:spPr>
          <a:xfrm>
            <a:off x="10835640" y="3236976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~17/wk</a:t>
            </a:r>
            <a:endParaRPr lang="en-US" sz="750" dirty="0"/>
          </a:p>
        </p:txBody>
      </p:sp>
      <p:sp>
        <p:nvSpPr>
          <p:cNvPr id="202" name="Text 200"/>
          <p:cNvSpPr txBox="1"/>
          <p:nvPr/>
        </p:nvSpPr>
        <p:spPr>
          <a:xfrm>
            <a:off x="8275320" y="34290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Bradford Young</a:t>
            </a:r>
            <a:endParaRPr lang="en-US" sz="750" dirty="0"/>
          </a:p>
        </p:txBody>
      </p:sp>
      <p:sp>
        <p:nvSpPr>
          <p:cNvPr id="203" name="Text 201"/>
          <p:cNvSpPr txBox="1"/>
          <p:nvPr/>
        </p:nvSpPr>
        <p:spPr>
          <a:xfrm>
            <a:off x="10058400" y="342900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3D8F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▲ +2</a:t>
            </a:r>
            <a:endParaRPr lang="en-US" sz="680" dirty="0"/>
          </a:p>
        </p:txBody>
      </p:sp>
      <p:sp>
        <p:nvSpPr>
          <p:cNvPr id="204" name="Text 202"/>
          <p:cNvSpPr txBox="1"/>
          <p:nvPr/>
        </p:nvSpPr>
        <p:spPr>
          <a:xfrm>
            <a:off x="10835640" y="3429000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~16/wk</a:t>
            </a:r>
            <a:endParaRPr lang="en-US" sz="750" dirty="0"/>
          </a:p>
        </p:txBody>
      </p:sp>
      <p:sp>
        <p:nvSpPr>
          <p:cNvPr id="205" name="Text 203"/>
          <p:cNvSpPr txBox="1"/>
          <p:nvPr/>
        </p:nvSpPr>
        <p:spPr>
          <a:xfrm>
            <a:off x="8275320" y="362102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Dave Corbett</a:t>
            </a:r>
            <a:endParaRPr lang="en-US" sz="750" dirty="0"/>
          </a:p>
        </p:txBody>
      </p:sp>
      <p:sp>
        <p:nvSpPr>
          <p:cNvPr id="206" name="Text 204"/>
          <p:cNvSpPr txBox="1"/>
          <p:nvPr/>
        </p:nvSpPr>
        <p:spPr>
          <a:xfrm>
            <a:off x="10058400" y="362102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▼ -4</a:t>
            </a:r>
            <a:endParaRPr lang="en-US" sz="680" dirty="0"/>
          </a:p>
        </p:txBody>
      </p:sp>
      <p:sp>
        <p:nvSpPr>
          <p:cNvPr id="207" name="Text 205"/>
          <p:cNvSpPr txBox="1"/>
          <p:nvPr/>
        </p:nvSpPr>
        <p:spPr>
          <a:xfrm>
            <a:off x="10835640" y="3621024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~15/wk</a:t>
            </a:r>
            <a:endParaRPr lang="en-US" sz="750" dirty="0"/>
          </a:p>
        </p:txBody>
      </p:sp>
      <p:sp>
        <p:nvSpPr>
          <p:cNvPr id="208" name="Text 206"/>
          <p:cNvSpPr txBox="1"/>
          <p:nvPr/>
        </p:nvSpPr>
        <p:spPr>
          <a:xfrm>
            <a:off x="8275320" y="38130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Katherine Fenwick</a:t>
            </a:r>
            <a:endParaRPr lang="en-US" sz="750" dirty="0"/>
          </a:p>
        </p:txBody>
      </p:sp>
      <p:sp>
        <p:nvSpPr>
          <p:cNvPr id="209" name="Text 207"/>
          <p:cNvSpPr txBox="1"/>
          <p:nvPr/>
        </p:nvSpPr>
        <p:spPr>
          <a:xfrm>
            <a:off x="10058400" y="381304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3D8F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▲ +1</a:t>
            </a:r>
            <a:endParaRPr lang="en-US" sz="680" dirty="0"/>
          </a:p>
        </p:txBody>
      </p:sp>
      <p:sp>
        <p:nvSpPr>
          <p:cNvPr id="210" name="Text 208"/>
          <p:cNvSpPr txBox="1"/>
          <p:nvPr/>
        </p:nvSpPr>
        <p:spPr>
          <a:xfrm>
            <a:off x="10835640" y="3813048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~14/wk</a:t>
            </a:r>
            <a:endParaRPr lang="en-US" sz="750" dirty="0"/>
          </a:p>
        </p:txBody>
      </p:sp>
      <p:sp>
        <p:nvSpPr>
          <p:cNvPr id="211" name="Text 209"/>
          <p:cNvSpPr txBox="1"/>
          <p:nvPr/>
        </p:nvSpPr>
        <p:spPr>
          <a:xfrm>
            <a:off x="8275320" y="400507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Harjeet Sammi</a:t>
            </a:r>
            <a:endParaRPr lang="en-US" sz="750" dirty="0"/>
          </a:p>
        </p:txBody>
      </p:sp>
      <p:sp>
        <p:nvSpPr>
          <p:cNvPr id="212" name="Text 210"/>
          <p:cNvSpPr txBox="1"/>
          <p:nvPr/>
        </p:nvSpPr>
        <p:spPr>
          <a:xfrm>
            <a:off x="10058400" y="400507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3D8F5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▲ +1</a:t>
            </a:r>
            <a:endParaRPr lang="en-US" sz="680" dirty="0"/>
          </a:p>
        </p:txBody>
      </p:sp>
      <p:sp>
        <p:nvSpPr>
          <p:cNvPr id="213" name="Text 211"/>
          <p:cNvSpPr txBox="1"/>
          <p:nvPr/>
        </p:nvSpPr>
        <p:spPr>
          <a:xfrm>
            <a:off x="10835640" y="4005072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~13/wk</a:t>
            </a:r>
            <a:endParaRPr lang="en-US" sz="750" dirty="0"/>
          </a:p>
        </p:txBody>
      </p:sp>
      <p:sp>
        <p:nvSpPr>
          <p:cNvPr id="214" name="Text 212"/>
          <p:cNvSpPr txBox="1"/>
          <p:nvPr/>
        </p:nvSpPr>
        <p:spPr>
          <a:xfrm>
            <a:off x="8275320" y="419709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Ron Makins</a:t>
            </a:r>
            <a:endParaRPr lang="en-US" sz="750" dirty="0"/>
          </a:p>
        </p:txBody>
      </p:sp>
      <p:sp>
        <p:nvSpPr>
          <p:cNvPr id="215" name="Text 213"/>
          <p:cNvSpPr txBox="1"/>
          <p:nvPr/>
        </p:nvSpPr>
        <p:spPr>
          <a:xfrm>
            <a:off x="10058400" y="419709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</a:t>
            </a:r>
            <a:endParaRPr lang="en-US" sz="680" dirty="0"/>
          </a:p>
        </p:txBody>
      </p:sp>
      <p:sp>
        <p:nvSpPr>
          <p:cNvPr id="216" name="Text 214"/>
          <p:cNvSpPr txBox="1"/>
          <p:nvPr/>
        </p:nvSpPr>
        <p:spPr>
          <a:xfrm>
            <a:off x="10835640" y="4197096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~8/wk</a:t>
            </a:r>
            <a:endParaRPr lang="en-US" sz="750" dirty="0"/>
          </a:p>
        </p:txBody>
      </p:sp>
      <p:sp>
        <p:nvSpPr>
          <p:cNvPr id="217" name="Text 215"/>
          <p:cNvSpPr txBox="1"/>
          <p:nvPr/>
        </p:nvSpPr>
        <p:spPr>
          <a:xfrm>
            <a:off x="8275320" y="43891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Youssef Medhat</a:t>
            </a:r>
            <a:endParaRPr lang="en-US" sz="750" dirty="0"/>
          </a:p>
        </p:txBody>
      </p:sp>
      <p:sp>
        <p:nvSpPr>
          <p:cNvPr id="218" name="Text 216"/>
          <p:cNvSpPr txBox="1"/>
          <p:nvPr/>
        </p:nvSpPr>
        <p:spPr>
          <a:xfrm>
            <a:off x="10058400" y="438912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new</a:t>
            </a:r>
            <a:endParaRPr lang="en-US" sz="680" dirty="0"/>
          </a:p>
        </p:txBody>
      </p:sp>
      <p:sp>
        <p:nvSpPr>
          <p:cNvPr id="219" name="Text 217"/>
          <p:cNvSpPr txBox="1"/>
          <p:nvPr/>
        </p:nvSpPr>
        <p:spPr>
          <a:xfrm>
            <a:off x="10835640" y="4389120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~7/wk</a:t>
            </a:r>
            <a:endParaRPr lang="en-US" sz="750" dirty="0"/>
          </a:p>
        </p:txBody>
      </p:sp>
      <p:sp>
        <p:nvSpPr>
          <p:cNvPr id="220" name="Text 218"/>
          <p:cNvSpPr txBox="1"/>
          <p:nvPr/>
        </p:nvSpPr>
        <p:spPr>
          <a:xfrm>
            <a:off x="8275320" y="458114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Lee Atkins</a:t>
            </a:r>
            <a:endParaRPr lang="en-US" sz="750" dirty="0"/>
          </a:p>
        </p:txBody>
      </p:sp>
      <p:sp>
        <p:nvSpPr>
          <p:cNvPr id="221" name="Text 219"/>
          <p:cNvSpPr txBox="1"/>
          <p:nvPr/>
        </p:nvSpPr>
        <p:spPr>
          <a:xfrm>
            <a:off x="10058400" y="458114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▼ -1</a:t>
            </a:r>
            <a:endParaRPr lang="en-US" sz="680" dirty="0"/>
          </a:p>
        </p:txBody>
      </p:sp>
      <p:sp>
        <p:nvSpPr>
          <p:cNvPr id="222" name="Text 220"/>
          <p:cNvSpPr txBox="1"/>
          <p:nvPr/>
        </p:nvSpPr>
        <p:spPr>
          <a:xfrm>
            <a:off x="10835640" y="4581144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~7/wk</a:t>
            </a:r>
            <a:endParaRPr lang="en-US" sz="750" dirty="0"/>
          </a:p>
        </p:txBody>
      </p:sp>
      <p:sp>
        <p:nvSpPr>
          <p:cNvPr id="223" name="Text 221"/>
          <p:cNvSpPr txBox="1"/>
          <p:nvPr/>
        </p:nvSpPr>
        <p:spPr>
          <a:xfrm>
            <a:off x="8275320" y="47731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Glynn Johnson</a:t>
            </a:r>
            <a:endParaRPr lang="en-US" sz="750" dirty="0"/>
          </a:p>
        </p:txBody>
      </p:sp>
      <p:sp>
        <p:nvSpPr>
          <p:cNvPr id="224" name="Text 222"/>
          <p:cNvSpPr txBox="1"/>
          <p:nvPr/>
        </p:nvSpPr>
        <p:spPr>
          <a:xfrm>
            <a:off x="10058400" y="4773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new</a:t>
            </a:r>
            <a:endParaRPr lang="en-US" sz="680" dirty="0"/>
          </a:p>
        </p:txBody>
      </p:sp>
      <p:sp>
        <p:nvSpPr>
          <p:cNvPr id="225" name="Text 223"/>
          <p:cNvSpPr txBox="1"/>
          <p:nvPr/>
        </p:nvSpPr>
        <p:spPr>
          <a:xfrm>
            <a:off x="10835640" y="4773168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~6/wk</a:t>
            </a:r>
            <a:endParaRPr lang="en-US" sz="750" dirty="0"/>
          </a:p>
        </p:txBody>
      </p:sp>
      <p:sp>
        <p:nvSpPr>
          <p:cNvPr id="226" name="Text 224"/>
          <p:cNvSpPr txBox="1"/>
          <p:nvPr/>
        </p:nvSpPr>
        <p:spPr>
          <a:xfrm>
            <a:off x="8275320" y="49651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Izaak Horner</a:t>
            </a:r>
            <a:endParaRPr lang="en-US" sz="750" dirty="0"/>
          </a:p>
        </p:txBody>
      </p:sp>
      <p:sp>
        <p:nvSpPr>
          <p:cNvPr id="227" name="Text 225"/>
          <p:cNvSpPr txBox="1"/>
          <p:nvPr/>
        </p:nvSpPr>
        <p:spPr>
          <a:xfrm>
            <a:off x="10058400" y="496519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▼ -1</a:t>
            </a:r>
            <a:endParaRPr lang="en-US" sz="680" dirty="0"/>
          </a:p>
        </p:txBody>
      </p:sp>
      <p:sp>
        <p:nvSpPr>
          <p:cNvPr id="228" name="Text 226"/>
          <p:cNvSpPr txBox="1"/>
          <p:nvPr/>
        </p:nvSpPr>
        <p:spPr>
          <a:xfrm>
            <a:off x="10835640" y="4965192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~5/wk</a:t>
            </a:r>
            <a:endParaRPr lang="en-US" sz="750" dirty="0"/>
          </a:p>
        </p:txBody>
      </p:sp>
      <p:sp>
        <p:nvSpPr>
          <p:cNvPr id="229" name="Text 227"/>
          <p:cNvSpPr txBox="1"/>
          <p:nvPr/>
        </p:nvSpPr>
        <p:spPr>
          <a:xfrm>
            <a:off x="8275320" y="5321808"/>
            <a:ext cx="3319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rate = 30-day sessions ÷ 4.3 · arrow = change vs last capture · — = first capture</a:t>
            </a:r>
            <a:endParaRPr lang="en-US" sz="600" dirty="0"/>
          </a:p>
        </p:txBody>
      </p:sp>
      <p:sp>
        <p:nvSpPr>
          <p:cNvPr id="230" name="Shape 228"/>
          <p:cNvSpPr/>
          <p:nvPr/>
        </p:nvSpPr>
        <p:spPr>
          <a:xfrm>
            <a:off x="411480" y="5669280"/>
            <a:ext cx="11365992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31" name="Text 229"/>
          <p:cNvSpPr txBox="1"/>
          <p:nvPr/>
        </p:nvSpPr>
        <p:spPr>
          <a:xfrm>
            <a:off x="612648" y="5779008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SUMMARY</a:t>
            </a:r>
            <a:endParaRPr lang="en-US" sz="1200" dirty="0"/>
          </a:p>
        </p:txBody>
      </p:sp>
      <p:sp>
        <p:nvSpPr>
          <p:cNvPr id="232" name="Text 230"/>
          <p:cNvSpPr txBox="1"/>
          <p:nvPr/>
        </p:nvSpPr>
        <p:spPr>
          <a:xfrm>
            <a:off x="612648" y="6089904"/>
            <a:ext cx="10954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</a:t>
            </a:r>
            <a:pPr indent="0" marL="0">
              <a:buNone/>
            </a:pPr>
            <a:r>
              <a:rPr lang="en-US" sz="9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43 of 48 active weekly (34 daily) </a:t>
            </a:r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 Cowork edges Claude Code on stickiness (64% vs 63% DAU/MAU); code output 66,273 lines (+10% WoW), Nicolas leading September. Engineers show zero Cowork sessions because they live in Claude Code — Cowork is the ops and leadership surface, not a sign of inactivity.</a:t>
            </a:r>
            <a:endParaRPr lang="en-US" sz="900" dirty="0"/>
          </a:p>
        </p:txBody>
      </p:sp>
      <p:sp>
        <p:nvSpPr>
          <p:cNvPr id="233" name="Shape 231"/>
          <p:cNvSpPr/>
          <p:nvPr/>
        </p:nvSpPr>
        <p:spPr>
          <a:xfrm>
            <a:off x="9326880" y="6510528"/>
            <a:ext cx="2450592" cy="256032"/>
          </a:xfrm>
          <a:prstGeom prst="roundRect">
            <a:avLst>
              <a:gd name="adj" fmla="val 46429"/>
            </a:avLst>
          </a:prstGeom>
          <a:solidFill>
            <a:srgbClr val="12293A"/>
          </a:solidFill>
          <a:ln/>
        </p:spPr>
      </p:sp>
      <p:sp>
        <p:nvSpPr>
          <p:cNvPr id="234" name="Text 232"/>
          <p:cNvSpPr txBox="1"/>
          <p:nvPr/>
        </p:nvSpPr>
        <p:spPr>
          <a:xfrm>
            <a:off x="9326880" y="6510528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Source: Claude Admin weekly capture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12293A"/>
          </a:solidFill>
          <a:ln/>
        </p:spPr>
      </p:sp>
      <p:sp>
        <p:nvSpPr>
          <p:cNvPr id="3" name="Shape 1"/>
          <p:cNvSpPr/>
          <p:nvPr/>
        </p:nvSpPr>
        <p:spPr>
          <a:xfrm>
            <a:off x="384048" y="155448"/>
            <a:ext cx="73152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84048" y="155448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H&amp;L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54864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Projects — Portfolio Status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1316736" y="51206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AEB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Portfolio · 19 Sep 2026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686800" y="246888"/>
            <a:ext cx="1965960" cy="347472"/>
          </a:xfrm>
          <a:prstGeom prst="roundRect">
            <a:avLst>
              <a:gd name="adj" fmla="val 50000"/>
            </a:avLst>
          </a:prstGeom>
          <a:solidFill>
            <a:srgbClr val="24435C"/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0" y="2468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 ·  BUILDING THE FUTURE?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0872216" y="0"/>
            <a:ext cx="841248" cy="841248"/>
          </a:xfrm>
          <a:prstGeom prst="ellipse">
            <a:avLst/>
          </a:prstGeom>
          <a:solidFill>
            <a:srgbClr val="1C5765"/>
          </a:solidFill>
          <a:ln/>
        </p:spPr>
      </p:sp>
      <p:sp>
        <p:nvSpPr>
          <p:cNvPr id="10" name="Shape 8"/>
          <p:cNvSpPr/>
          <p:nvPr/>
        </p:nvSpPr>
        <p:spPr>
          <a:xfrm>
            <a:off x="10968228" y="96012"/>
            <a:ext cx="649224" cy="649224"/>
          </a:xfrm>
          <a:prstGeom prst="ellipse">
            <a:avLst/>
          </a:prstGeom>
          <a:solidFill>
            <a:srgbClr val="2C8394"/>
          </a:solidFill>
          <a:ln/>
        </p:spPr>
      </p:sp>
      <p:sp>
        <p:nvSpPr>
          <p:cNvPr id="11" name="Shape 9"/>
          <p:cNvSpPr/>
          <p:nvPr/>
        </p:nvSpPr>
        <p:spPr>
          <a:xfrm>
            <a:off x="11064240" y="192024"/>
            <a:ext cx="457200" cy="457200"/>
          </a:xfrm>
          <a:prstGeom prst="ellipse">
            <a:avLst/>
          </a:prstGeom>
          <a:solidFill>
            <a:srgbClr val="6FAEBB"/>
          </a:solidFill>
          <a:ln/>
        </p:spPr>
      </p:sp>
      <p:sp>
        <p:nvSpPr>
          <p:cNvPr id="12" name="Shape 10"/>
          <p:cNvSpPr/>
          <p:nvPr/>
        </p:nvSpPr>
        <p:spPr>
          <a:xfrm>
            <a:off x="11160252" y="288036"/>
            <a:ext cx="265176" cy="265176"/>
          </a:xfrm>
          <a:prstGeom prst="ellipse">
            <a:avLst/>
          </a:prstGeom>
          <a:solidFill>
            <a:srgbClr val="E4F1F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9601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PROJECT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9601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STATUS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806440" y="9601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CURRENT STATE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9601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83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ROADBLOCK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1298448"/>
            <a:ext cx="11091672" cy="1115568"/>
          </a:xfrm>
          <a:prstGeom prst="roundRect">
            <a:avLst>
              <a:gd name="adj" fmla="val 57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77240" y="140817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HubSpot Migration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175564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Shipped · live 2026-09-08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204825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Owner Izaak Horner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26280" y="1591056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2C8394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4526280" y="1591056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DONE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5806440" y="1408176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Cutover complete — this deck is the first produced fully on HubSpot sources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8915400" y="1408176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Post-migration data quality: owner attribution on tickets/deals, SLA fields ramping, PS time logging habit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48640" y="2542032"/>
            <a:ext cx="11091672" cy="1115568"/>
          </a:xfrm>
          <a:prstGeom prst="roundRect">
            <a:avLst>
              <a:gd name="adj" fmla="val 57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777240" y="265176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Support Agents — Email + Voice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299923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Rollout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777240" y="32918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Owner Izaak Horner / Nicolas Ibrahim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26280" y="283464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C88A2E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4526280" y="283464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WATCH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5806440" y="26517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 in HubSpot with draft state machine — rejects now separable, decision rate measurable for the first time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8915400" y="265176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Review-queue habit: 62 drafts pending review on open tickets · 85 flagged needs-human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48640" y="3785616"/>
            <a:ext cx="11091672" cy="1115568"/>
          </a:xfrm>
          <a:prstGeom prst="roundRect">
            <a:avLst>
              <a:gd name="adj" fmla="val 57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777240" y="389534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Leadership Reporting &amp; Hosting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777240" y="424281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Ship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777240" y="453542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Owner Izaak Horner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526280" y="4078224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3D8F5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4526280" y="407822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 TRACK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5806440" y="3895344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Reporting safety net live — weekly deck generated from HubSpot (live) + file drops while the tiered dashboard is built out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8915400" y="3895344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Finance movement register &amp; ValPay export drops pending post-cutover · AWS hosting still gated on budget approval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48640" y="5029200"/>
            <a:ext cx="11091672" cy="1115568"/>
          </a:xfrm>
          <a:prstGeom prst="roundRect">
            <a:avLst>
              <a:gd name="adj" fmla="val 57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42" name="Text 40"/>
          <p:cNvSpPr txBox="1"/>
          <p:nvPr/>
        </p:nvSpPr>
        <p:spPr>
          <a:xfrm>
            <a:off x="777240" y="513892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9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ALH RFP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777240" y="548640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Response</a:t>
            </a:r>
            <a:endParaRPr lang="en-US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777240" y="577900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Owner Luke Plunkett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526280" y="5321808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3D8F5F"/>
          </a:solidFill>
          <a:ln/>
          <a:effectLst>
            <a:outerShdw sx="100000" sy="100000" kx="0" ky="0" algn="bl" rotWithShape="0" blurRad="76200" dist="25400" dir="5400000">
              <a:srgbClr val="9AAAB5">
                <a:alpha val="35000"/>
              </a:srgbClr>
            </a:outerShdw>
          </a:effectLst>
        </p:spPr>
      </p:sp>
      <p:sp>
        <p:nvSpPr>
          <p:cNvPr id="46" name="Text 44"/>
          <p:cNvSpPr txBox="1"/>
          <p:nvPr/>
        </p:nvSpPr>
        <p:spPr>
          <a:xfrm>
            <a:off x="4526280" y="532180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 TRACK</a:t>
            </a:r>
            <a:endParaRPr lang="en-US" sz="850" dirty="0"/>
          </a:p>
        </p:txBody>
      </p:sp>
      <p:sp>
        <p:nvSpPr>
          <p:cNvPr id="47" name="Text 45"/>
          <p:cNvSpPr txBox="1"/>
          <p:nvPr/>
        </p:nvSpPr>
        <p:spPr>
          <a:xfrm>
            <a:off x="5806440" y="5138928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A4B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In-person demo done 24 Aug; three win themes locked</a:t>
            </a:r>
            <a:endParaRPr lang="en-US" sz="850" dirty="0"/>
          </a:p>
        </p:txBody>
      </p:sp>
      <p:sp>
        <p:nvSpPr>
          <p:cNvPr id="48" name="Text 46"/>
          <p:cNvSpPr txBox="1"/>
          <p:nvPr/>
        </p:nvSpPr>
        <p:spPr>
          <a:xfrm>
            <a:off x="8915400" y="5138928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455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Security and compliance criteria need early IT input (Glynn flagged third-party dependencies)</a:t>
            </a:r>
            <a:endParaRPr lang="en-US" sz="800" dirty="0"/>
          </a:p>
        </p:txBody>
      </p:sp>
      <p:sp>
        <p:nvSpPr>
          <p:cNvPr id="49" name="Text 47"/>
          <p:cNvSpPr txBox="1"/>
          <p:nvPr/>
        </p:nvSpPr>
        <p:spPr>
          <a:xfrm>
            <a:off x="411480" y="640080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1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Current state = next action from the weekly meeting record · roadblock = flagged risks · Operating Model Update not yet a tracked project — add it to the record to appear here.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2026-09-28T06:14:59Z</dcterms:created>
  <dcterms:modified xsi:type="dcterms:W3CDTF">2026-09-28T06:14:59Z</dcterms:modified>
</cp:coreProperties>
</file>