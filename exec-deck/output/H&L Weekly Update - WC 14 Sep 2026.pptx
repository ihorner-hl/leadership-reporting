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7–13 Sep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Discounts (HW + training)</c:v>
                  </c:pt>
                  <c:pt idx="1">
                    <c:v>Other (fees, deposits)</c:v>
                  </c:pt>
                  <c:pt idx="2">
                    <c:v>S/W Subscriptions</c:v>
                  </c:pt>
                  <c:pt idx="3">
                    <c:v>Training</c:v>
                  </c:pt>
                  <c:pt idx="4">
                    <c:v>Support Travel</c:v>
                  </c:pt>
                  <c:pt idx="5">
                    <c:v>Freight - Customer</c:v>
                  </c:pt>
                  <c:pt idx="6">
                    <c:v>Equipment Repair</c:v>
                  </c:pt>
                  <c:pt idx="7">
                    <c:v>Consumables</c:v>
                  </c:pt>
                  <c:pt idx="8">
                    <c:v>Tech Support</c:v>
                  </c:pt>
                  <c:pt idx="9">
                    <c:v>Commission - Other</c:v>
                  </c:pt>
                  <c:pt idx="10">
                    <c:v>Hardware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-2327</c:v>
                </c:pt>
                <c:pt idx="1">
                  <c:v>-2017.54</c:v>
                </c:pt>
                <c:pt idx="2">
                  <c:v>871</c:v>
                </c:pt>
                <c:pt idx="3">
                  <c:v>4650</c:v>
                </c:pt>
                <c:pt idx="4">
                  <c:v>390</c:v>
                </c:pt>
                <c:pt idx="5">
                  <c:v>1114</c:v>
                </c:pt>
                <c:pt idx="6">
                  <c:v>2275</c:v>
                </c:pt>
                <c:pt idx="7">
                  <c:v>3729.1</c:v>
                </c:pt>
                <c:pt idx="8">
                  <c:v>2362.5</c:v>
                </c:pt>
                <c:pt idx="9">
                  <c:v>77870.97</c:v>
                </c:pt>
                <c:pt idx="10">
                  <c:v>38478.75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14–20 Sep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Discounts (HW + training)</c:v>
                  </c:pt>
                  <c:pt idx="1">
                    <c:v>Other (fees, deposits)</c:v>
                  </c:pt>
                  <c:pt idx="2">
                    <c:v>S/W Subscriptions</c:v>
                  </c:pt>
                  <c:pt idx="3">
                    <c:v>Training</c:v>
                  </c:pt>
                  <c:pt idx="4">
                    <c:v>Support Travel</c:v>
                  </c:pt>
                  <c:pt idx="5">
                    <c:v>Freight - Customer</c:v>
                  </c:pt>
                  <c:pt idx="6">
                    <c:v>Equipment Repair</c:v>
                  </c:pt>
                  <c:pt idx="7">
                    <c:v>Consumables</c:v>
                  </c:pt>
                  <c:pt idx="8">
                    <c:v>Tech Support</c:v>
                  </c:pt>
                  <c:pt idx="9">
                    <c:v>Commission - Other</c:v>
                  </c:pt>
                  <c:pt idx="10">
                    <c:v>Hardware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-10194.5</c:v>
                </c:pt>
                <c:pt idx="1">
                  <c:v>-15</c:v>
                </c:pt>
                <c:pt idx="2">
                  <c:v>-148</c:v>
                </c:pt>
                <c:pt idx="3">
                  <c:v>0</c:v>
                </c:pt>
                <c:pt idx="4">
                  <c:v>240</c:v>
                </c:pt>
                <c:pt idx="5">
                  <c:v>969.5</c:v>
                </c:pt>
                <c:pt idx="6">
                  <c:v>1315</c:v>
                </c:pt>
                <c:pt idx="7">
                  <c:v>1710.5</c:v>
                </c:pt>
                <c:pt idx="8">
                  <c:v>2812.5</c:v>
                </c:pt>
                <c:pt idx="9">
                  <c:v>37017.7</c:v>
                </c:pt>
                <c:pt idx="10">
                  <c:v>37636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Unweighted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11</c:v>
                </c:pt>
                <c:pt idx="2">
                  <c:v>12</c:v>
                </c:pt>
                <c:pt idx="3">
                  <c:v>26</c:v>
                </c:pt>
                <c:pt idx="4">
                  <c:v>27</c:v>
                </c:pt>
                <c:pt idx="5">
                  <c:v>59</c:v>
                </c:pt>
                <c:pt idx="6">
                  <c:v>81</c:v>
                </c:pt>
                <c:pt idx="7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8</c:v>
                </c:pt>
                <c:pt idx="4">
                  <c:v>8</c:v>
                </c:pt>
                <c:pt idx="5">
                  <c:v>23</c:v>
                </c:pt>
                <c:pt idx="6">
                  <c:v>24</c:v>
                </c:pt>
                <c:pt idx="7">
                  <c:v>52</c:v>
                </c:pt>
              </c:numCache>
            </c:numRef>
          </c:val>
        </c:ser>
        <c:dLbls>
          <c:numFmt formatCode="$#,##0\k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-12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649</c:v>
                </c:pt>
                <c:pt idx="1">
                  <c:v>469</c:v>
                </c:pt>
                <c:pt idx="2">
                  <c:v>418</c:v>
                </c:pt>
                <c:pt idx="3">
                  <c:v>451</c:v>
                </c:pt>
                <c:pt idx="4">
                  <c:v>615</c:v>
                </c:pt>
                <c:pt idx="5">
                  <c:v>490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B455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465</c:v>
                </c:pt>
                <c:pt idx="1">
                  <c:v>456</c:v>
                </c:pt>
                <c:pt idx="2">
                  <c:v>343</c:v>
                </c:pt>
                <c:pt idx="3">
                  <c:v>347</c:v>
                </c:pt>
                <c:pt idx="4">
                  <c:v>1250</c:v>
                </c:pt>
                <c:pt idx="5">
                  <c:v>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A9CB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1C57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 of code (k)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0\k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07 Jun</c:v>
                  </c:pt>
                  <c:pt idx="1">
                    <c:v>14</c:v>
                  </c:pt>
                  <c:pt idx="2">
                    <c:v>21</c:v>
                  </c:pt>
                  <c:pt idx="3">
                    <c:v>28</c:v>
                  </c:pt>
                  <c:pt idx="4">
                    <c:v>05 Jul</c:v>
                  </c:pt>
                  <c:pt idx="5">
                    <c:v>12</c:v>
                  </c:pt>
                  <c:pt idx="6">
                    <c:v>19</c:v>
                  </c:pt>
                  <c:pt idx="7">
                    <c:v>26</c:v>
                  </c:pt>
                  <c:pt idx="8">
                    <c:v>02 Aug</c:v>
                  </c:pt>
                  <c:pt idx="9">
                    <c:v>09</c:v>
                  </c:pt>
                  <c:pt idx="10">
                    <c:v>16</c:v>
                  </c:pt>
                  <c:pt idx="11">
                    <c:v>23</c:v>
                  </c:pt>
                  <c:pt idx="12">
                    <c:v>30</c:v>
                  </c:pt>
                  <c:pt idx="13">
                    <c:v>06 Sep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</c:v>
                </c:pt>
                <c:pt idx="1">
                  <c:v>28</c:v>
                </c:pt>
                <c:pt idx="2">
                  <c:v>28</c:v>
                </c:pt>
                <c:pt idx="3">
                  <c:v>41</c:v>
                </c:pt>
                <c:pt idx="4">
                  <c:v>52</c:v>
                </c:pt>
                <c:pt idx="5">
                  <c:v>52</c:v>
                </c:pt>
                <c:pt idx="6">
                  <c:v>52</c:v>
                </c:pt>
                <c:pt idx="7">
                  <c:v>48</c:v>
                </c:pt>
                <c:pt idx="8">
                  <c:v>28</c:v>
                </c:pt>
                <c:pt idx="9">
                  <c:v>78</c:v>
                </c:pt>
                <c:pt idx="10">
                  <c:v>87</c:v>
                </c:pt>
                <c:pt idx="11">
                  <c:v>68</c:v>
                </c:pt>
                <c:pt idx="12">
                  <c:v>60</c:v>
                </c:pt>
                <c:pt idx="13">
                  <c:v>66</c:v>
                </c:pt>
              </c:numCache>
            </c:numRef>
          </c:val>
        </c:ser>
        <c:dLbls>
          <c:numFmt formatCode="#0\k" sourceLinked="0"/>
          <c:txPr>
            <a:bodyPr/>
            <a:lstStyle/>
            <a:p>
              <a:pPr>
                <a:defRPr b="0" i="0" strike="noStrike" sz="6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5E728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Revenue — weekly extract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week invoiced $71k (HW $38k gross, discounts -$10k); new-MRR register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46 deals · $161k (HubSpot); Q3 pipe $335k unweighted / $123k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as at 6 Sep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wk: register refresh pending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64043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as at 6 Sep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56327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3159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4381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$154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58522" cy="100584"/>
          </a:xfrm>
          <a:prstGeom prst="roundRect">
            <a:avLst>
              <a:gd name="adj" fmla="val 78124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$11k*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 MRR QTD held at last register run (6 Sep) — movement register refresh pending post-cutover</a:t>
            </a:r>
            <a:endParaRPr lang="en-US" sz="72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the remaining gap: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(the line of record) hasn't rerun since 6 Sep; this week's extract shows a net -$148 S/W subscription movement (credits), a different measure shown for direction only.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026250" y="6510528"/>
            <a:ext cx="475122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026250" y="6510528"/>
            <a:ext cx="47512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sales targets · MRR register pending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Revenue — Weekly Extract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· Sysnet weekly sales export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INVOICED — THIS WEEK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$71.3k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14–20 Sep · prior week $127.4k (7–13 Sep)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GROSS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$37.6k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commissionable · 53% of the week's invoicing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-$10.2k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· prior week -$2.3k — nets hardware to $27.4k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 &amp; OTHER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$37.0k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$31.1k · National $5.9k — not commissionable hardware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557784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WEEK'S INVOICING CAME FROM</a:t>
            </a:r>
            <a:endParaRPr lang="en-US" sz="12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594360" y="2816352"/>
          <a:ext cx="519379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Text 29"/>
          <p:cNvSpPr txBox="1"/>
          <p:nvPr/>
        </p:nvSpPr>
        <p:spPr>
          <a:xfrm>
            <a:off x="594360" y="55778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 Amount, ex GST · 'National' = unattributed/company-level lines (mostly commission)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6126480" y="2395728"/>
            <a:ext cx="2651760" cy="35661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327648" y="2505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ACCOUNT MANAGER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285292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7223760" y="28529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WK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7955280" y="28529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PRIOR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6309360" y="3429000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09360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7223760" y="309067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$37k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955280" y="30906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309360" y="3813048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6309360" y="3474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7223760" y="347472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$20k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7955280" y="3474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$15k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309360" y="4197096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09360" y="38587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National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7223760" y="385876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7955280" y="385876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$76k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6309360" y="4581144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309360" y="42428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52" name="Text 49"/>
          <p:cNvSpPr txBox="1"/>
          <p:nvPr/>
        </p:nvSpPr>
        <p:spPr>
          <a:xfrm>
            <a:off x="7223760" y="42428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7955280" y="42428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309360" y="4965192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6309360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7223760" y="462686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7955280" y="462686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$23k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6309360" y="5349240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309360" y="50109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7223760" y="501091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501091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309360" y="5385816"/>
            <a:ext cx="2286000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6309360" y="54315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7223760" y="54315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$71.3k</a:t>
            </a:r>
            <a:endParaRPr lang="en-US" sz="850" dirty="0"/>
          </a:p>
        </p:txBody>
      </p:sp>
      <p:sp>
        <p:nvSpPr>
          <p:cNvPr id="65" name="Text 62"/>
          <p:cNvSpPr txBox="1"/>
          <p:nvPr/>
        </p:nvSpPr>
        <p:spPr>
          <a:xfrm>
            <a:off x="7955280" y="54315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$127.4k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8961120" y="2395728"/>
            <a:ext cx="2816352" cy="35661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4"/>
          <p:cNvSpPr txBox="1"/>
          <p:nvPr/>
        </p:nvSpPr>
        <p:spPr>
          <a:xfrm>
            <a:off x="9162288" y="2505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9162288" y="2816352"/>
            <a:ext cx="24048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week invoiced $71.3k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$127.4k the week before — but the drop is mix, not collapse: last week carried $77.9k of commission, this week $37.0k.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held up at $37.6k gross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(vs $38.5k) — the commissionable line is flat week on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Discounting is the watch item: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-$10.2k this week vs -$2.3k prior, almost all on Jasmine's hardware.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billed nothing this week (vs $4.7k) · S/W subscriptions net -$148 on credits.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8767267" y="6510528"/>
            <a:ext cx="3010205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767267" y="6510528"/>
            <a:ext cx="30102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weekly sales export (Finance)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figures as at 6 Sep — weekly export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39% of all wins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register — tracked ahead of referral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434340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8529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651760" y="28529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337560" y="28529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285292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2648" y="350215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3108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31089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337560" y="3108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3840480" y="310896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2648" y="3941064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54787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54787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37560" y="35478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3840480" y="3547872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" y="4379976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39867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2651760" y="39867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3337560" y="398678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3840480" y="3986784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" y="4818888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2648" y="442569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651760" y="442569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3337560" y="44256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42569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12648" y="5257800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12648" y="486460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486460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3337560" y="48646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840480" y="4864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" y="569671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53035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651760" y="5303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3337560" y="530352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3840480" y="530352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892040" y="2395728"/>
            <a:ext cx="3017520" cy="356616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5093208" y="25054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GIVEN</a:t>
            </a:r>
            <a:endParaRPr lang="en-US" sz="12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056632" y="2834640"/>
          <a:ext cx="2670048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xt 65"/>
          <p:cNvSpPr txBox="1"/>
          <p:nvPr/>
        </p:nvSpPr>
        <p:spPr>
          <a:xfrm>
            <a:off x="5074920" y="54132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referrals given / month · 27 YTD · as at 6 Sep export</a:t>
            </a:r>
            <a:endParaRPr lang="en-US" sz="700" dirty="0"/>
          </a:p>
        </p:txBody>
      </p:sp>
      <p:sp>
        <p:nvSpPr>
          <p:cNvPr id="69" name="Shape 66"/>
          <p:cNvSpPr/>
          <p:nvPr/>
        </p:nvSpPr>
        <p:spPr>
          <a:xfrm>
            <a:off x="8046720" y="2395728"/>
            <a:ext cx="373075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0" name="Text 67"/>
          <p:cNvSpPr txBox="1"/>
          <p:nvPr/>
        </p:nvSpPr>
        <p:spPr>
          <a:xfrm>
            <a:off x="8247888" y="250545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247888" y="2816352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→ 14 wins worth $38M GMV — 39% of everything H&amp;L Pay has signed — with $245M more in negotiation.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leads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11 referrals (6 won). Referring is concentrated in a handful of AMs — widening the referrer base is the lever.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export pending: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ValPay drop and identification register haven't updated since 6 Sep (cutover fortnight). Figures shown are the last verified state, not this week's movement.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 = estimated annual (AUD) · referrer = Account Manager on the deal · 6 deals untagged — referral figures are a floor.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 basis note: identification register tracks accounts H&amp;L flags before referral — CRM-to-CRM connection with ValPay still to come.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ValPay export + identification register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$335k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open deals with a Q3 close date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$123k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$809k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90.1%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won / 27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21945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won this wk: 46 · $161k (prior wk 20 · $44k) · new this wk: 67 · $200k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248716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12648" y="2596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BY OWNER — UNWEIGHTED VS WEIGHTED</a:t>
            </a:r>
            <a:endParaRPr lang="en-US" sz="12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0080" y="2944368"/>
          <a:ext cx="6080760" cy="3227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7178040" y="248716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59689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290779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 — read levels as a new baseline.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measure; weighted uses HubSpot stage probabilities (10/30/50/80%). Closed-won Q3 reads $809k across 246 deals on this basis.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hygiene transformed: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172 open deals ($360k) carry no close date — down from 1,678 in Creatio. The migrated dating debt now shows as 1,545 open deals ($2.9M) with a lapsed close date — the clean-up queue for AMs.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restarts: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movement now reads live (won / new above). Deal-level NET Δ returns as weekly HubSpot snapshots accumulate — first snapshot taken this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attribution now live on the open Q3 book — Bjorn holds the most ($117k unweighted).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work-order feed ended 4 Sep — HubSpot time logging not yet at coverage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capacity model to be rebuilt on HubSpot hours · 80% target unchanged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CASES OPENED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40 · Integrations 14 · Training 7 · Onboarding 3 · Warranty 0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HUBSPOT CASES — RAMPING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072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98.6h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697480" y="2852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 48 cases, all-time — the new ground truth (actual_hours on the ticket case)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62356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08736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48840" y="3854196"/>
            <a:ext cx="2377440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1772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45.0h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2356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447141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148840" y="4238244"/>
            <a:ext cx="97739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18.5h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2356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8554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148840" y="4622292"/>
            <a:ext cx="998525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1772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18.9h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62356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40080" y="52395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148840" y="5006340"/>
            <a:ext cx="69738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61772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13.2h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562356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008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148840" y="5390388"/>
            <a:ext cx="158496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61772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62356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178040" y="2395728"/>
            <a:ext cx="459943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379208" y="2816352"/>
            <a:ext cx="4187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is deliberately blank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Creatio work-order feed (the old basis) ended 4 Sep. HubSpot's actual_hours covers ~99 hours on 48 cases all-time — far below the ~1,000h/month the old view measured, so computing a % would fabricate a collapse that isn't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takes to switch this back 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members logging actual_hours on every case (Training adds training_actual_hours), plus the 38h/week capacity roster re-based in the new reporting. The number returns automatically as coverage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signal is live meanwhile: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week, concentrated in Tech (40).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Creatio-based reading (week of 30 Aug): 69.4% total utilisation, 31.8% billed — kept as the pre-cutover baseline.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the design ethos: where a source isn't ready the state is shown honestly — never an estimated utilisation presented as measured.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96758" y="6510528"/>
            <a:ext cx="388071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7896758" y="6510528"/>
            <a:ext cx="3880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(hours ramping) — Creatio feed ended 4 Sep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 · as at 6 Sep — refresh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series as last published (10 Aug deck, Creatio ARR basis) — post-cutover refresh pending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" y="1481328"/>
          <a:ext cx="6263640" cy="2221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won since Mar · 277 invoiced · 220 outstanding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$1.15M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259 logos lost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-$22k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cumulative — the base is shrinking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4" name="Text 51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6" name="Text 63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2" name="Text 69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8" name="Text 75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4" name="Text 81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0" name="Text 87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5" name="Shape 92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6" name="Text 93"/>
          <p:cNvSpPr txBox="1"/>
          <p:nvPr/>
        </p:nvSpPr>
        <p:spPr>
          <a:xfrm>
            <a:off x="612648" y="4133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7" name="Text 94"/>
          <p:cNvSpPr txBox="1"/>
          <p:nvPr/>
        </p:nvSpPr>
        <p:spPr>
          <a:xfrm>
            <a:off x="612648" y="4443984"/>
            <a:ext cx="53492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6 Sep register run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figures and chart are the last verified state (customer-spine matched), shown rather than re-derived on a new basis mid-migration.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March wins still uninvoiced (Oscars Group $155k) are past normal lag and worth chasing. Oscars: held by old provider's contract terms; asking H&amp;L for a bridging discount.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 · AVC excluded pending Creatio MRR-field correction.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8269834" y="6510528"/>
            <a:ext cx="350763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8269834" y="6510528"/>
            <a:ext cx="35076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CRM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 aged 31d+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441 older than 2 days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VS RESOLVED — LAST 6 WEEKS (HUBSPOT)</a:t>
            </a:r>
            <a:endParaRPr lang="en-US" sz="12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834640"/>
          <a:ext cx="6080760" cy="2953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" y="59253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09-07 resolved spike (1,250) is migration cleanup — not real throughput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7178040" y="2395728"/>
            <a:ext cx="45994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WoW   </a:t>
            </a:r>
            <a:pPr indent="0" marL="0">
              <a:buNone/>
            </a:pPr>
            <a:r>
              <a:rPr lang="en-US" sz="7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restarts at cutover</a:t>
            </a:r>
            <a:endParaRPr lang="en-US" sz="110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7360920" y="2761488"/>
          <a:ext cx="4187952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Shape 34"/>
          <p:cNvSpPr/>
          <p:nvPr/>
        </p:nvSpPr>
        <p:spPr>
          <a:xfrm>
            <a:off x="7178040" y="4736592"/>
            <a:ext cx="4599432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379208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379208" y="5157216"/>
            <a:ext cx="41879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Outflow beat inflow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(591 out vs 490 in) — backlog 681 → 570 WoW, with the 90+ tail cut from 35 to 10. Pre-cutover age bands can't be restated (migration re-dated old closes).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 open with no first response (441 past 2 days) — a ceiling while migrated tickets answered only in Creatio wash through.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· weekly capture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WK TO 11 SEP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derived from Friday-capture deltas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560527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97280"/>
            <a:ext cx="5276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353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94460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94460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35331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54533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864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8648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545336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73736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78508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78508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7373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9293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970532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970532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929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SEPTEMBER TO 11 SEP, BY MEMBER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25603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00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5603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400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400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25603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400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5603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8404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404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57607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8404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8404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57607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8404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404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7607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8404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57607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8404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404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Kumari Nidhi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7607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2,757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27939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MEMBERS  </a:t>
            </a:r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 lines Sep-to-date (capture 11 Sep)</a:t>
            </a:r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 BY WEEK — THE RHYTHM BENEATH IT</a:t>
            </a:r>
            <a:endParaRPr lang="en-US" sz="85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594360" y="4498848"/>
          <a:ext cx="6172200" cy="1170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3" name="Text 70"/>
          <p:cNvSpPr txBox="1"/>
          <p:nvPr/>
        </p:nvSpPr>
        <p:spPr>
          <a:xfrm>
            <a:off x="640080" y="5678424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(thousands of lines) · early weeks estimated from rolling windows · wk to 11 Sep = latest capture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7178040" y="2395728"/>
            <a:ext cx="459943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2"/>
          <p:cNvSpPr txBox="1"/>
          <p:nvPr/>
        </p:nvSpPr>
        <p:spPr>
          <a:xfrm>
            <a:off x="7379208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 (30-DAY RATE)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7379208" y="2852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800" dirty="0"/>
          </a:p>
        </p:txBody>
      </p:sp>
      <p:sp>
        <p:nvSpPr>
          <p:cNvPr id="77" name="Text 74"/>
          <p:cNvSpPr txBox="1"/>
          <p:nvPr/>
        </p:nvSpPr>
        <p:spPr>
          <a:xfrm>
            <a:off x="8988552" y="28529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800" dirty="0"/>
          </a:p>
        </p:txBody>
      </p:sp>
      <p:sp>
        <p:nvSpPr>
          <p:cNvPr id="78" name="Text 75"/>
          <p:cNvSpPr txBox="1"/>
          <p:nvPr/>
        </p:nvSpPr>
        <p:spPr>
          <a:xfrm>
            <a:off x="9784080" y="28529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1110996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7379208" y="3154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00" dirty="0"/>
          </a:p>
        </p:txBody>
      </p:sp>
      <p:sp>
        <p:nvSpPr>
          <p:cNvPr id="81" name="Text 78"/>
          <p:cNvSpPr txBox="1"/>
          <p:nvPr/>
        </p:nvSpPr>
        <p:spPr>
          <a:xfrm>
            <a:off x="8988552" y="31546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9784080" y="3154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09960" y="3154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7379208" y="3456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8988552" y="34564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800" dirty="0"/>
          </a:p>
        </p:txBody>
      </p:sp>
      <p:sp>
        <p:nvSpPr>
          <p:cNvPr id="86" name="Text 83"/>
          <p:cNvSpPr txBox="1"/>
          <p:nvPr/>
        </p:nvSpPr>
        <p:spPr>
          <a:xfrm>
            <a:off x="9784080" y="3456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1109960" y="3456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7379208" y="3758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89" name="Text 86"/>
          <p:cNvSpPr txBox="1"/>
          <p:nvPr/>
        </p:nvSpPr>
        <p:spPr>
          <a:xfrm>
            <a:off x="8988552" y="37581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800" dirty="0"/>
          </a:p>
        </p:txBody>
      </p:sp>
      <p:sp>
        <p:nvSpPr>
          <p:cNvPr id="90" name="Text 87"/>
          <p:cNvSpPr txBox="1"/>
          <p:nvPr/>
        </p:nvSpPr>
        <p:spPr>
          <a:xfrm>
            <a:off x="9784080" y="37581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11109960" y="37581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7379208" y="40599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800" dirty="0"/>
          </a:p>
        </p:txBody>
      </p:sp>
      <p:sp>
        <p:nvSpPr>
          <p:cNvPr id="93" name="Text 90"/>
          <p:cNvSpPr txBox="1"/>
          <p:nvPr/>
        </p:nvSpPr>
        <p:spPr>
          <a:xfrm>
            <a:off x="8988552" y="4059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978408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0996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7178040" y="4645152"/>
            <a:ext cx="459943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7379208" y="475488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7379208" y="5065776"/>
            <a:ext cx="41879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now edges Claude Code on stickiness (64% vs 63% DAU/MAU). Code &amp; scripts are 50% of Cowork file output.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Cowork sessions: engineering shows zeros (Hawraa, Chris, Eric, Tony, Brad, Nidhi, Rahul) — engineers live in Claude Code; Cowork is the ops/leadership surface.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2026-09-21T01:14:35Z</dcterms:created>
  <dcterms:modified xsi:type="dcterms:W3CDTF">2026-09-21T01:14:35Z</dcterms:modified>
</cp:coreProperties>
</file>