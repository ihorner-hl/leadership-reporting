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won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89148</c:v>
                </c:pt>
                <c:pt idx="1">
                  <c:v>53717</c:v>
                </c:pt>
                <c:pt idx="2">
                  <c:v>200064</c:v>
                </c:pt>
                <c:pt idx="3">
                  <c:v>34236</c:v>
                </c:pt>
                <c:pt idx="4">
                  <c:v>39372</c:v>
                </c:pt>
                <c:pt idx="5">
                  <c:v>77748</c:v>
                </c:pt>
                <c:pt idx="6">
                  <c:v>15377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(new + expansion)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30732</c:v>
                </c:pt>
                <c:pt idx="1">
                  <c:v>66948</c:v>
                </c:pt>
                <c:pt idx="2">
                  <c:v>44352</c:v>
                </c:pt>
                <c:pt idx="3">
                  <c:v>58572</c:v>
                </c:pt>
                <c:pt idx="4">
                  <c:v>70788</c:v>
                </c:pt>
                <c:pt idx="5">
                  <c:v>45408</c:v>
                </c:pt>
                <c:pt idx="6">
                  <c:v>90012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255</c:v>
                </c:pt>
                <c:pt idx="2">
                  <c:v>172</c:v>
                </c:pt>
                <c:pt idx="3">
                  <c:v>164</c:v>
                </c:pt>
                <c:pt idx="4">
                  <c:v>151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217</c:v>
                </c:pt>
                <c:pt idx="1">
                  <c:v>228</c:v>
                </c:pt>
                <c:pt idx="2">
                  <c:v>270</c:v>
                </c:pt>
                <c:pt idx="3">
                  <c:v>299</c:v>
                </c:pt>
                <c:pt idx="4">
                  <c:v>297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237</c:v>
                </c:pt>
                <c:pt idx="1">
                  <c:v>85</c:v>
                </c:pt>
                <c:pt idx="2">
                  <c:v>90</c:v>
                </c:pt>
                <c:pt idx="3">
                  <c:v>111</c:v>
                </c:pt>
                <c:pt idx="4">
                  <c:v>79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73</c:v>
                </c:pt>
                <c:pt idx="1">
                  <c:v>57</c:v>
                </c:pt>
                <c:pt idx="2">
                  <c:v>52</c:v>
                </c:pt>
                <c:pt idx="3">
                  <c:v>58</c:v>
                </c:pt>
                <c:pt idx="4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236</c:v>
                </c:pt>
                <c:pt idx="1">
                  <c:v>184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259</c:v>
                </c:pt>
                <c:pt idx="1">
                  <c:v>249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151</c:v>
                </c:pt>
                <c:pt idx="1">
                  <c:v>132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35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1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21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1st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WC 7 Sep deck skipped in the cutover — deltas flagged where they bridge two weeks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7 Sep week shows a resolved spike (1,250) from migration cleanup — not real throughput.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actual_hours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Work-order feed ended 4 Sep. HubSpot time logging covers too few cases to compute utilisation honestly — shown as not set up, not faked.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extracts current to 20 Sep (received 21 Sep). Movement register (new-MRR line of record) refresh still pending.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tracker current; Claude admin weekly capture received; ValPay export as at 6 Sep — weekly drop pending.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$410k = 57% of $715k vs 89% pace; this week +$38k gross (HW discounts -$10k); new MRR $12.1k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48 deals · $162k (HubSpot); new MRR $12.1k QTD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+$139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80868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39755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20 Sep · Δ wk = 14–20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65105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7066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+4k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$78k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6576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$51k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2677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+27k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$205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73152" cy="100584"/>
          </a:xfrm>
          <a:prstGeom prst="roundRect">
            <a:avLst>
              <a:gd name="adj" fmla="val 62500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Q3 (movement register, live to 20 Sep) · H&amp;L Pay net new $1,770/mo is tracked separately and never sits inside core MRR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$410k (57%)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an 89% pace mark. This week's extract (14–20 Sep) added $38k gross — Jasmine +$27k, Bradford +$5k, Bjorn +$4k; the prior (7–13 Sep) week's $38k closed the skipped WC 7 Sep deck.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the discounts: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ran -$10.2k this week (-$10.0k on Jasmine's deals) vs -$2.2k last week — gross $37.6k nets to $27.4k.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now live — and behind.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movement register has rerun: $12,129 invoiced this quarter (43% of the $28k OKR2) against an 89% pace mark, with only $139 added in the reporting week. Bjorn leads on $4.4k (89% of target); Jasmine sits at 27%.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day 82 of 92 in Q3.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7523683" y="6510528"/>
            <a:ext cx="4253789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523683" y="6510528"/>
            <a:ext cx="4253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extracts to 20 Sep + MRR movement register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US$2,103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A$2,953 · 28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A$217 · 5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A$361 · 2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placed / 2 lost by count · 38%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119409" cy="182880"/>
          </a:xfrm>
          <a:prstGeom prst="roundRect">
            <a:avLst>
              <a:gd name="adj" fmla="val 61262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deal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809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81528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809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US$1,297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8094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32841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429000"/>
            <a:ext cx="2211131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3284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US$765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32841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6758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776472"/>
            <a:ext cx="446755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6758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67588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deals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402336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4123944"/>
            <a:ext cx="743220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402336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40233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deals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67512" y="3653028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77640" y="3493008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5" name="Text 53"/>
          <p:cNvSpPr txBox="1"/>
          <p:nvPr/>
        </p:nvSpPr>
        <p:spPr>
          <a:xfrm>
            <a:off x="3977640" y="3703320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56" name="Text 54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828800" y="4800600"/>
            <a:ext cx="292214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9" name="Shape 57"/>
          <p:cNvSpPr/>
          <p:nvPr/>
        </p:nvSpPr>
        <p:spPr>
          <a:xfrm>
            <a:off x="2139302" y="4800600"/>
            <a:ext cx="3976539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139302" y="4782312"/>
            <a:ext cx="39765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84%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6134130" y="4800600"/>
            <a:ext cx="486126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134130" y="4782312"/>
            <a:ext cx="4861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1828800" y="5111496"/>
            <a:ext cx="679269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828800" y="5093208"/>
            <a:ext cx="6792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2526357" y="5111496"/>
            <a:ext cx="3803904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526357" y="5093208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6348549" y="5111496"/>
            <a:ext cx="271707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1" name="Shape 69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3" name="Shape 71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75" name="Shape 73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78" name="Text 76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79" name="Text 77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0" name="Text 78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most volume</a:t>
            </a:r>
            <a:endParaRPr lang="en-US" sz="530" dirty="0"/>
          </a:p>
        </p:txBody>
      </p:sp>
      <p:sp>
        <p:nvSpPr>
          <p:cNvPr id="83" name="Text 81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US$1,251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750" dirty="0"/>
          </a:p>
        </p:txBody>
      </p:sp>
      <p:sp>
        <p:nvSpPr>
          <p:cNvPr id="85" name="Text 83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US$44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no orders yet</a:t>
            </a:r>
            <a:endParaRPr lang="en-US" sz="530" dirty="0"/>
          </a:p>
        </p:txBody>
      </p:sp>
      <p:sp>
        <p:nvSpPr>
          <p:cNvPr id="88" name="Text 86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US$852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US$213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line priced $0 — value understated</a:t>
            </a:r>
            <a:endParaRPr lang="en-US" sz="530" dirty="0"/>
          </a:p>
        </p:txBody>
      </p:sp>
      <p:sp>
        <p:nvSpPr>
          <p:cNvPr id="93" name="Text 91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98" name="Text 96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2" name="Text 100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   </a:t>
            </a:r>
            <a:pPr indent="0" marL="0">
              <a:buNone/>
            </a:pPr>
            <a:r>
              <a:rPr lang="en-US" sz="6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lines are one month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US$15,016</a:t>
            </a:r>
            <a:endParaRPr lang="en-US" sz="1800" dirty="0"/>
          </a:p>
        </p:txBody>
      </p:sp>
      <p:sp>
        <p:nvSpPr>
          <p:cNvPr id="104" name="Text 102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(A$21,084) — the contract value behind the US$2,103 of monthly lines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HubSpot holds no USD field</a:t>
            </a:r>
            <a:endParaRPr lang="en-US" sz="580" dirty="0"/>
          </a:p>
        </p:txBody>
      </p:sp>
      <p:sp>
        <p:nvSpPr>
          <p:cNvPr id="106" name="Shape 104"/>
          <p:cNvSpPr/>
          <p:nvPr/>
        </p:nvSpPr>
        <p:spPr>
          <a:xfrm>
            <a:off x="411480" y="5504688"/>
            <a:ext cx="11365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7" name="Text 105"/>
          <p:cNvSpPr txBox="1"/>
          <p:nvPr/>
        </p:nvSpPr>
        <p:spPr>
          <a:xfrm>
            <a:off x="612648" y="56144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12648" y="5925312"/>
            <a:ext cx="10954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orders placed since 1 Jul (US$155) against 2 lost — 71% by count, 38% by value. All of it is ROAM; Sentinel has US$852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US$2,062 of the US$2,103 open sits in Quote Sent and Negotiation across 27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is priced $0 on every line, so its value reads nil · ROAM lines are one month, not contract value.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ValPay export as at 6 Sep · identification register live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REFERRAL ENGINE — 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7150608" y="6510528"/>
            <a:ext cx="462686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150608" y="6510528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H&amp;L identification register (live) + ValPay export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6.7%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33.01h billed of 494h available · target 80%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233672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398264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AVAILABLE HOURS — THIS WEEK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379976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494h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398264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people assigned to PS-pipeline tickets × 38h standard week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55864" y="1024128"/>
            <a:ext cx="3721608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0456" y="1115568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TIME-LOGGING COVERAGE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02168" y="1298448"/>
            <a:ext cx="3429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0456" y="1691640"/>
            <a:ext cx="3392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of 132 PS items raised this week carry hours — utilisation reads low because logging is ramping, not because delivery stopped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505456"/>
            <a:ext cx="6181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EMPLOYEE  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 against 38h available each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TEAM MEMBER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0" y="28346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28346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 %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2468880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743200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944368" y="3017520"/>
            <a:ext cx="5486" cy="2496312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18688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3419856" y="3017520"/>
            <a:ext cx="5486" cy="2496312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694176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3895344" y="3017520"/>
            <a:ext cx="5486" cy="2496312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169664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4370832" y="3017520"/>
            <a:ext cx="5486" cy="2496312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443984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4846320" y="3017520"/>
            <a:ext cx="5486" cy="2496312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3054096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468880" y="3120847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2468880" y="3120847"/>
            <a:ext cx="908182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29200" y="3054096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14.50h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5943600" y="3054096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38.2%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3246120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468880" y="3312871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2468880" y="3312871"/>
            <a:ext cx="865388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29200" y="3246120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13.82h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5943600" y="3246120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36.4%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640080" y="343814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Yeran Hettiarachchy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468880" y="3504895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2468880" y="3504895"/>
            <a:ext cx="152156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029200" y="3438144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2.44h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5943600" y="3438144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6.4%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640080" y="3630168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Gregory St Clare-Hobbs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2468880" y="3696919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2468880" y="3696919"/>
            <a:ext cx="92720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029200" y="3630168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1.50h</a:t>
            </a:r>
            <a:endParaRPr lang="en-US" sz="800" dirty="0"/>
          </a:p>
        </p:txBody>
      </p:sp>
      <p:sp>
        <p:nvSpPr>
          <p:cNvPr id="62" name="Text 60"/>
          <p:cNvSpPr txBox="1"/>
          <p:nvPr/>
        </p:nvSpPr>
        <p:spPr>
          <a:xfrm>
            <a:off x="5943600" y="3630168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3.9%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640080" y="3822192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Isayah Kuhlmann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468880" y="3888943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5" name="Shape 63"/>
          <p:cNvSpPr/>
          <p:nvPr/>
        </p:nvSpPr>
        <p:spPr>
          <a:xfrm>
            <a:off x="2468880" y="3888943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029200" y="3822192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0.50h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5943600" y="3822192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1.3%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640080" y="4014216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Joshua Casey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2468880" y="4080967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2468880" y="4080967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029200" y="4014216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0.25h</a:t>
            </a:r>
            <a:endParaRPr lang="en-US" sz="800" dirty="0"/>
          </a:p>
        </p:txBody>
      </p:sp>
      <p:sp>
        <p:nvSpPr>
          <p:cNvPr id="72" name="Text 70"/>
          <p:cNvSpPr txBox="1"/>
          <p:nvPr/>
        </p:nvSpPr>
        <p:spPr>
          <a:xfrm>
            <a:off x="5943600" y="4014216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0.7%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640080" y="4206240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Rodney Nolan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2468880" y="4272991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29200" y="4206240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5943600" y="4206240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7" name="Text 75"/>
          <p:cNvSpPr txBox="1"/>
          <p:nvPr/>
        </p:nvSpPr>
        <p:spPr>
          <a:xfrm>
            <a:off x="640080" y="439826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Karim AlRifaii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2468880" y="4465015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5029200" y="4398264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0" name="Text 78"/>
          <p:cNvSpPr txBox="1"/>
          <p:nvPr/>
        </p:nvSpPr>
        <p:spPr>
          <a:xfrm>
            <a:off x="5943600" y="4398264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81" name="Text 79"/>
          <p:cNvSpPr txBox="1"/>
          <p:nvPr/>
        </p:nvSpPr>
        <p:spPr>
          <a:xfrm>
            <a:off x="640080" y="4590288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Ryan Neil Orande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2468880" y="4657039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5029200" y="4590288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943600" y="4590288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85" name="Text 83"/>
          <p:cNvSpPr txBox="1"/>
          <p:nvPr/>
        </p:nvSpPr>
        <p:spPr>
          <a:xfrm>
            <a:off x="640080" y="4782312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Anton Lopez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2468880" y="4849063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5029200" y="4782312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5943600" y="4782312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89" name="Text 87"/>
          <p:cNvSpPr txBox="1"/>
          <p:nvPr/>
        </p:nvSpPr>
        <p:spPr>
          <a:xfrm>
            <a:off x="640080" y="4974336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2468880" y="5041087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5029200" y="4974336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2" name="Text 90"/>
          <p:cNvSpPr txBox="1"/>
          <p:nvPr/>
        </p:nvSpPr>
        <p:spPr>
          <a:xfrm>
            <a:off x="5943600" y="4974336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93" name="Text 91"/>
          <p:cNvSpPr txBox="1"/>
          <p:nvPr/>
        </p:nvSpPr>
        <p:spPr>
          <a:xfrm>
            <a:off x="640080" y="5166360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2468880" y="5233111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5029200" y="5166360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6" name="Text 94"/>
          <p:cNvSpPr txBox="1"/>
          <p:nvPr/>
        </p:nvSpPr>
        <p:spPr>
          <a:xfrm>
            <a:off x="5943600" y="5166360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97" name="Text 95"/>
          <p:cNvSpPr txBox="1"/>
          <p:nvPr/>
        </p:nvSpPr>
        <p:spPr>
          <a:xfrm>
            <a:off x="640080" y="5358384"/>
            <a:ext cx="1783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2468880" y="5425135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5029200" y="5358384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5943600" y="5358384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101" name="Text 99"/>
          <p:cNvSpPr txBox="1"/>
          <p:nvPr/>
        </p:nvSpPr>
        <p:spPr>
          <a:xfrm>
            <a:off x="640080" y="561441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Available staff = the 13 Professional Services people assigned to PS-pipeline tickets open now or closed this week, at a 38h standard week. Argenis Rafael Guevara and Isaac Mercado carry PS-pipeline tickets but are not Professional Services staff — excluded from the capacity base.</a:t>
            </a:r>
            <a:endParaRPr lang="en-US" sz="580" dirty="0"/>
          </a:p>
        </p:txBody>
      </p:sp>
      <p:sp>
        <p:nvSpPr>
          <p:cNvPr id="102" name="Shape 100"/>
          <p:cNvSpPr/>
          <p:nvPr/>
        </p:nvSpPr>
        <p:spPr>
          <a:xfrm>
            <a:off x="7178040" y="2395728"/>
            <a:ext cx="4599432" cy="1700784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3" name="Text 101"/>
          <p:cNvSpPr txBox="1"/>
          <p:nvPr/>
        </p:nvSpPr>
        <p:spPr>
          <a:xfrm>
            <a:off x="7379208" y="2487168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PS WORK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hours logged</a:t>
            </a:r>
            <a:endParaRPr lang="en-US" sz="1100" dirty="0"/>
          </a:p>
        </p:txBody>
      </p:sp>
      <p:sp>
        <p:nvSpPr>
          <p:cNvPr id="104" name="Text 102"/>
          <p:cNvSpPr txBox="1"/>
          <p:nvPr/>
        </p:nvSpPr>
        <p:spPr>
          <a:xfrm>
            <a:off x="7379208" y="274320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SERVICE TYPE</a:t>
            </a:r>
            <a:endParaRPr lang="en-US" sz="680" dirty="0"/>
          </a:p>
        </p:txBody>
      </p:sp>
      <p:sp>
        <p:nvSpPr>
          <p:cNvPr id="105" name="Text 103"/>
          <p:cNvSpPr txBox="1"/>
          <p:nvPr/>
        </p:nvSpPr>
        <p:spPr>
          <a:xfrm>
            <a:off x="10287000" y="27432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680" dirty="0"/>
          </a:p>
        </p:txBody>
      </p:sp>
      <p:sp>
        <p:nvSpPr>
          <p:cNvPr id="106" name="Text 104"/>
          <p:cNvSpPr txBox="1"/>
          <p:nvPr/>
        </p:nvSpPr>
        <p:spPr>
          <a:xfrm>
            <a:off x="10972800" y="2743200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</a:t>
            </a:r>
            <a:endParaRPr lang="en-US" sz="680" dirty="0"/>
          </a:p>
        </p:txBody>
      </p:sp>
      <p:sp>
        <p:nvSpPr>
          <p:cNvPr id="107" name="Text 105"/>
          <p:cNvSpPr txBox="1"/>
          <p:nvPr/>
        </p:nvSpPr>
        <p:spPr>
          <a:xfrm>
            <a:off x="7379208" y="2944368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8823960" y="3012948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823960" y="3012948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287000" y="2944368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31.44h</a:t>
            </a:r>
            <a:endParaRPr lang="en-US" sz="800" dirty="0"/>
          </a:p>
        </p:txBody>
      </p:sp>
      <p:sp>
        <p:nvSpPr>
          <p:cNvPr id="111" name="Text 109"/>
          <p:cNvSpPr txBox="1"/>
          <p:nvPr/>
        </p:nvSpPr>
        <p:spPr>
          <a:xfrm>
            <a:off x="10972800" y="2944368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95.2%</a:t>
            </a:r>
            <a:endParaRPr lang="en-US" sz="800" dirty="0"/>
          </a:p>
        </p:txBody>
      </p:sp>
      <p:sp>
        <p:nvSpPr>
          <p:cNvPr id="112" name="Text 110"/>
          <p:cNvSpPr txBox="1"/>
          <p:nvPr/>
        </p:nvSpPr>
        <p:spPr>
          <a:xfrm>
            <a:off x="7379208" y="3140964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8823960" y="3209544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823960" y="3209544"/>
            <a:ext cx="68493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287000" y="3140964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1.57h</a:t>
            </a:r>
            <a:endParaRPr lang="en-US" sz="800" dirty="0"/>
          </a:p>
        </p:txBody>
      </p:sp>
      <p:sp>
        <p:nvSpPr>
          <p:cNvPr id="116" name="Text 114"/>
          <p:cNvSpPr txBox="1"/>
          <p:nvPr/>
        </p:nvSpPr>
        <p:spPr>
          <a:xfrm>
            <a:off x="10972800" y="3140964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4.8%</a:t>
            </a:r>
            <a:endParaRPr lang="en-US" sz="800" dirty="0"/>
          </a:p>
        </p:txBody>
      </p:sp>
      <p:sp>
        <p:nvSpPr>
          <p:cNvPr id="117" name="Text 115"/>
          <p:cNvSpPr txBox="1"/>
          <p:nvPr/>
        </p:nvSpPr>
        <p:spPr>
          <a:xfrm>
            <a:off x="7379208" y="3337560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8823960" y="3406140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287000" y="3337560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0" name="Text 118"/>
          <p:cNvSpPr txBox="1"/>
          <p:nvPr/>
        </p:nvSpPr>
        <p:spPr>
          <a:xfrm>
            <a:off x="10972800" y="3337560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21" name="Text 119"/>
          <p:cNvSpPr txBox="1"/>
          <p:nvPr/>
        </p:nvSpPr>
        <p:spPr>
          <a:xfrm>
            <a:off x="7379208" y="3534156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8823960" y="3602736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287000" y="3534156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10972800" y="3534156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25" name="Text 123"/>
          <p:cNvSpPr txBox="1"/>
          <p:nvPr/>
        </p:nvSpPr>
        <p:spPr>
          <a:xfrm>
            <a:off x="7379208" y="3730752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8823960" y="3799332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287000" y="3730752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8" name="Text 126"/>
          <p:cNvSpPr txBox="1"/>
          <p:nvPr/>
        </p:nvSpPr>
        <p:spPr>
          <a:xfrm>
            <a:off x="10972800" y="3730752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29" name="Shape 127"/>
          <p:cNvSpPr/>
          <p:nvPr/>
        </p:nvSpPr>
        <p:spPr>
          <a:xfrm>
            <a:off x="7178040" y="4224528"/>
            <a:ext cx="459943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0" name="Text 128"/>
          <p:cNvSpPr txBox="1"/>
          <p:nvPr/>
        </p:nvSpPr>
        <p:spPr>
          <a:xfrm>
            <a:off x="7379208" y="43342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7379208" y="4645152"/>
            <a:ext cx="4187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6.7% billable utilisation is a logging number, not a delivery number.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33.01h landed against 494h of capacity, but only 13% of the week's 132 PS items carry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people carry the entire logged total.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 38.2% and Rhys Woolcock 36.4%; the other 7 PS members logged nothing at all.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landing even where hours aren't.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PS cases opened this week; Tech carries 95% of logged time. Median time to close since 8 Sep: Tech 0.6 d.</a:t>
            </a:r>
            <a:endParaRPr lang="en-US" sz="900" dirty="0"/>
          </a:p>
        </p:txBody>
      </p:sp>
      <p:sp>
        <p:nvSpPr>
          <p:cNvPr id="132" name="Text 130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logged hours are treated as billable — creatio_non_billable is populated on only 3 of 30 records, so billable/non-billable is not yet separable. 2.44h of the Tech total sits on a record named 'Warranty Test' — worth clearing out.</a:t>
            </a:r>
            <a:endParaRPr lang="en-US" sz="750" dirty="0"/>
          </a:p>
        </p:txBody>
      </p:sp>
      <p:sp>
        <p:nvSpPr>
          <p:cNvPr id="133" name="Shape 131"/>
          <p:cNvSpPr/>
          <p:nvPr/>
        </p:nvSpPr>
        <p:spPr>
          <a:xfrm>
            <a:off x="6155741" y="6510528"/>
            <a:ext cx="562173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6155741" y="6510528"/>
            <a:ext cx="56217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PS records (total_hours) + PS pipeline ticket owners — live, read-only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ARR VS INVOICED ARR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 — Creatio ARR basis, as last published. Aug–Sep are not plotted: HubSpot closed-won is deal amount, not the Creatio ARR measure, so a new series starts once the post-cutover months are confirmed.</a:t>
            </a: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deals won since Mar · 277 invoiced · 220 outstanding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$1.17M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262 logos lost · register live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-$6.3k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(Jul–Sep) · movement register, live — the base is still shrinking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9" name="Text 4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5" name="Text 5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7" name="Text 6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9" name="Text 7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5" name="Text 8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— wins bill ~a quarter later; March wins still uninvoiced are past normal lag and worth chasing.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Uninvoiced is top-loaded: Oscars Group is 62% of the $250k awaiting go-live; the top 3 clients are ~78%.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 is now read live from the movement register: $1.17M of ARR across 262 logos since 2025, plus $235k lost to contraction on accounts that stayed. Q3 net MRR is -$6.3k — new business is not covering it.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excluded — Creatio MRR field misstated (annual values in the monthly field); correction pending.</a:t>
            </a:r>
            <a:endParaRPr lang="en-US" sz="85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GO-LIVE CONTEXT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— </a:t>
            </a:r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Signed — ~1.5x rollout timeline expected. Keen to start but held by old provider's contract terms; asking H&amp;L for a discount to bridge.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</a:t>
            </a:r>
            <a:endParaRPr lang="en-US" sz="750" dirty="0"/>
          </a:p>
        </p:txBody>
      </p:sp>
      <p:sp>
        <p:nvSpPr>
          <p:cNvPr id="100" name="Shape 97"/>
          <p:cNvSpPr/>
          <p:nvPr/>
        </p:nvSpPr>
        <p:spPr>
          <a:xfrm>
            <a:off x="7274966" y="6510528"/>
            <a:ext cx="450250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7274966" y="6510528"/>
            <a:ext cx="45025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Creatio · register live for churn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 aged 31d+ · as at 20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first response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WEEKLY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" y="2807208"/>
            <a:ext cx="109728" cy="109728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8096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0–7 days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1472184" y="2807208"/>
            <a:ext cx="109728" cy="10972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609344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8–30 days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313432" y="2807208"/>
            <a:ext cx="109728" cy="109728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450592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154680" y="2807208"/>
            <a:ext cx="109728" cy="109728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9184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days</a:t>
            </a:r>
            <a:endParaRPr lang="en-US" sz="68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539496" y="3054096"/>
          <a:ext cx="393192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Chart 1" descr=""/>
          <p:cNvGraphicFramePr/>
          <p:nvPr/>
        </p:nvGraphicFramePr>
        <p:xfrm>
          <a:off x="4727448" y="3054096"/>
          <a:ext cx="212140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Shape 39"/>
          <p:cNvSpPr/>
          <p:nvPr/>
        </p:nvSpPr>
        <p:spPr>
          <a:xfrm>
            <a:off x="4599432" y="3099816"/>
            <a:ext cx="20117" cy="2331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44" name="Shape 40"/>
          <p:cNvSpPr/>
          <p:nvPr/>
        </p:nvSpPr>
        <p:spPr>
          <a:xfrm>
            <a:off x="4142232" y="2761488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142232" y="27614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6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56418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</a:t>
            </a:r>
            <a:endParaRPr lang="en-US" sz="650" dirty="0"/>
          </a:p>
        </p:txBody>
      </p:sp>
      <p:sp>
        <p:nvSpPr>
          <p:cNvPr id="47" name="Text 43"/>
          <p:cNvSpPr txBox="1"/>
          <p:nvPr/>
        </p:nvSpPr>
        <p:spPr>
          <a:xfrm>
            <a:off x="4727448" y="5641848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50" dirty="0"/>
          </a:p>
        </p:txBody>
      </p:sp>
      <p:sp>
        <p:nvSpPr>
          <p:cNvPr id="48" name="Text 44"/>
          <p:cNvSpPr txBox="1"/>
          <p:nvPr/>
        </p:nvSpPr>
        <p:spPr>
          <a:xfrm>
            <a:off x="612648" y="5925312"/>
            <a:ext cx="6181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frozen Creatio series (extracts ended 4 Sep); 13 &amp; 20 Sep read live from HubSpot. The 7 Sep week falls inside the migration and is not reported.</a:t>
            </a:r>
            <a:endParaRPr lang="en-US" sz="650" dirty="0"/>
          </a:p>
        </p:txBody>
      </p:sp>
      <p:sp>
        <p:nvSpPr>
          <p:cNvPr id="49" name="Shape 45"/>
          <p:cNvSpPr/>
          <p:nvPr/>
        </p:nvSpPr>
        <p:spPr>
          <a:xfrm>
            <a:off x="7178040" y="239572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7379208" y="281635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tail is finally coming down.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 cases fell 35 → 10 and the 31–90 band 151 → 132 across the first two HubSpot weeks; backlog 681 → 575. Outflow beat inflow this week (591 resolved vs 490 in).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is frozen, not restated.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Creatio series as it stood at the final extract. The migration re-dated old closes, so those weeks cannot be recomputed in HubSpot — and the 7 Sep week sits inside the cutover, so it is not reported.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still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 open cases show no first response. Migrated tickets answered only in Creatio count as unanswered here — treat as a ceiling until the transition washes through.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SLA fields are populating on new HubSpot tickets — attainment reporting returns once coverage is credible.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(14–20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3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4/6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6.2%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65 drafts in scope · since cutover (8 Sep): 4.3% (4/92)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4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+85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65 in-scope drafts on closed tickets, 4 approved &amp; sent (1 as-is, 3 edited) = 6.2%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4 of 6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34 closed tickets this week ended needs-human (drafts weak on complex technical fixes — knowledge-base gaps, not tone) and 25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LAST WEEK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w/c 06 Sep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10,351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321808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94376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6400800" y="28163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101,282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94360" y="29900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084832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057400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18,954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3163824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136392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242816" y="299740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215384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5321808" y="2997403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294376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6400800" y="29900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100,713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" y="316382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2084832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057400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22,385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3163824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36392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4242816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215384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5321808" y="3171139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294376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6400800" y="316382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90,864</a:t>
            </a:r>
            <a:endParaRPr lang="en-US" sz="700" dirty="0"/>
          </a:p>
        </p:txBody>
      </p:sp>
      <p:sp>
        <p:nvSpPr>
          <p:cNvPr id="76" name="Text 74"/>
          <p:cNvSpPr txBox="1"/>
          <p:nvPr/>
        </p:nvSpPr>
        <p:spPr>
          <a:xfrm>
            <a:off x="594360" y="33375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084832" y="334487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057400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6,280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3163824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136392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4242816" y="3344875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4215384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83" name="Shape 81"/>
          <p:cNvSpPr/>
          <p:nvPr/>
        </p:nvSpPr>
        <p:spPr>
          <a:xfrm>
            <a:off x="5321808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294376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68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33375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61,854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94360" y="351129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87" name="Shape 85"/>
          <p:cNvSpPr/>
          <p:nvPr/>
        </p:nvSpPr>
        <p:spPr>
          <a:xfrm>
            <a:off x="2084832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2057400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10,549</a:t>
            </a:r>
            <a:endParaRPr lang="en-US" sz="680" dirty="0"/>
          </a:p>
        </p:txBody>
      </p:sp>
      <p:sp>
        <p:nvSpPr>
          <p:cNvPr id="89" name="Shape 87"/>
          <p:cNvSpPr/>
          <p:nvPr/>
        </p:nvSpPr>
        <p:spPr>
          <a:xfrm>
            <a:off x="3163824" y="3518611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3136392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91" name="Shape 89"/>
          <p:cNvSpPr/>
          <p:nvPr/>
        </p:nvSpPr>
        <p:spPr>
          <a:xfrm>
            <a:off x="4242816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215384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5321808" y="351861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94376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680" dirty="0"/>
          </a:p>
        </p:txBody>
      </p:sp>
      <p:sp>
        <p:nvSpPr>
          <p:cNvPr id="95" name="Text 93"/>
          <p:cNvSpPr txBox="1"/>
          <p:nvPr/>
        </p:nvSpPr>
        <p:spPr>
          <a:xfrm>
            <a:off x="6400800" y="351129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53,795</a:t>
            </a:r>
            <a:endParaRPr lang="en-US" sz="700" dirty="0"/>
          </a:p>
        </p:txBody>
      </p:sp>
      <p:sp>
        <p:nvSpPr>
          <p:cNvPr id="96" name="Text 94"/>
          <p:cNvSpPr txBox="1"/>
          <p:nvPr/>
        </p:nvSpPr>
        <p:spPr>
          <a:xfrm>
            <a:off x="594360" y="368503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97" name="Shape 95"/>
          <p:cNvSpPr/>
          <p:nvPr/>
        </p:nvSpPr>
        <p:spPr>
          <a:xfrm>
            <a:off x="2084832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057400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12,955</a:t>
            </a:r>
            <a:endParaRPr lang="en-US" sz="680" dirty="0"/>
          </a:p>
        </p:txBody>
      </p:sp>
      <p:sp>
        <p:nvSpPr>
          <p:cNvPr id="99" name="Shape 97"/>
          <p:cNvSpPr/>
          <p:nvPr/>
        </p:nvSpPr>
        <p:spPr>
          <a:xfrm>
            <a:off x="3163824" y="3692347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136392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4242816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215384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03" name="Shape 101"/>
          <p:cNvSpPr/>
          <p:nvPr/>
        </p:nvSpPr>
        <p:spPr>
          <a:xfrm>
            <a:off x="5321808" y="3692347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294376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680" dirty="0"/>
          </a:p>
        </p:txBody>
      </p:sp>
      <p:sp>
        <p:nvSpPr>
          <p:cNvPr id="105" name="Text 103"/>
          <p:cNvSpPr txBox="1"/>
          <p:nvPr/>
        </p:nvSpPr>
        <p:spPr>
          <a:xfrm>
            <a:off x="6400800" y="36850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49,887</a:t>
            </a:r>
            <a:endParaRPr lang="en-US" sz="700" dirty="0"/>
          </a:p>
        </p:txBody>
      </p:sp>
      <p:sp>
        <p:nvSpPr>
          <p:cNvPr id="106" name="Text 104"/>
          <p:cNvSpPr txBox="1"/>
          <p:nvPr/>
        </p:nvSpPr>
        <p:spPr>
          <a:xfrm>
            <a:off x="594360" y="385876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2057400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6"/>
          <p:cNvSpPr txBox="1"/>
          <p:nvPr/>
        </p:nvSpPr>
        <p:spPr>
          <a:xfrm>
            <a:off x="3136392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9" name="Shape 107"/>
          <p:cNvSpPr/>
          <p:nvPr/>
        </p:nvSpPr>
        <p:spPr>
          <a:xfrm>
            <a:off x="4242816" y="386608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4215384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5321808" y="3866083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294376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680" dirty="0"/>
          </a:p>
        </p:txBody>
      </p:sp>
      <p:sp>
        <p:nvSpPr>
          <p:cNvPr id="113" name="Text 111"/>
          <p:cNvSpPr txBox="1"/>
          <p:nvPr/>
        </p:nvSpPr>
        <p:spPr>
          <a:xfrm>
            <a:off x="6400800" y="3858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49,942</a:t>
            </a:r>
            <a:endParaRPr lang="en-US" sz="700" dirty="0"/>
          </a:p>
        </p:txBody>
      </p:sp>
      <p:sp>
        <p:nvSpPr>
          <p:cNvPr id="114" name="Text 112"/>
          <p:cNvSpPr txBox="1"/>
          <p:nvPr/>
        </p:nvSpPr>
        <p:spPr>
          <a:xfrm>
            <a:off x="594360" y="403250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15" name="Shape 113"/>
          <p:cNvSpPr/>
          <p:nvPr/>
        </p:nvSpPr>
        <p:spPr>
          <a:xfrm>
            <a:off x="2084832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057400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7,046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3163824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136392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19" name="Shape 117"/>
          <p:cNvSpPr/>
          <p:nvPr/>
        </p:nvSpPr>
        <p:spPr>
          <a:xfrm>
            <a:off x="4242816" y="403981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4215384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21" name="Shape 119"/>
          <p:cNvSpPr/>
          <p:nvPr/>
        </p:nvSpPr>
        <p:spPr>
          <a:xfrm>
            <a:off x="5321808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5294376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680" dirty="0"/>
          </a:p>
        </p:txBody>
      </p:sp>
      <p:sp>
        <p:nvSpPr>
          <p:cNvPr id="123" name="Text 121"/>
          <p:cNvSpPr txBox="1"/>
          <p:nvPr/>
        </p:nvSpPr>
        <p:spPr>
          <a:xfrm>
            <a:off x="6400800" y="403250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40,911</a:t>
            </a:r>
            <a:endParaRPr lang="en-US" sz="700" dirty="0"/>
          </a:p>
        </p:txBody>
      </p:sp>
      <p:sp>
        <p:nvSpPr>
          <p:cNvPr id="124" name="Text 122"/>
          <p:cNvSpPr txBox="1"/>
          <p:nvPr/>
        </p:nvSpPr>
        <p:spPr>
          <a:xfrm>
            <a:off x="594360" y="420624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25" name="Shape 123"/>
          <p:cNvSpPr/>
          <p:nvPr/>
        </p:nvSpPr>
        <p:spPr>
          <a:xfrm>
            <a:off x="2084832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2057400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885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3163824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136392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29" name="Shape 127"/>
          <p:cNvSpPr/>
          <p:nvPr/>
        </p:nvSpPr>
        <p:spPr>
          <a:xfrm>
            <a:off x="4242816" y="421355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4215384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31" name="Shape 129"/>
          <p:cNvSpPr/>
          <p:nvPr/>
        </p:nvSpPr>
        <p:spPr>
          <a:xfrm>
            <a:off x="5321808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94376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1,816</a:t>
            </a:r>
            <a:endParaRPr lang="en-US" sz="680" dirty="0"/>
          </a:p>
        </p:txBody>
      </p:sp>
      <p:sp>
        <p:nvSpPr>
          <p:cNvPr id="133" name="Text 131"/>
          <p:cNvSpPr txBox="1"/>
          <p:nvPr/>
        </p:nvSpPr>
        <p:spPr>
          <a:xfrm>
            <a:off x="6400800" y="42062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19,278</a:t>
            </a:r>
            <a:endParaRPr lang="en-US" sz="700" dirty="0"/>
          </a:p>
        </p:txBody>
      </p:sp>
      <p:sp>
        <p:nvSpPr>
          <p:cNvPr id="134" name="Text 132"/>
          <p:cNvSpPr txBox="1"/>
          <p:nvPr/>
        </p:nvSpPr>
        <p:spPr>
          <a:xfrm>
            <a:off x="594360" y="437997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2084832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2057400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1,666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3163824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3136392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39" name="Shape 137"/>
          <p:cNvSpPr/>
          <p:nvPr/>
        </p:nvSpPr>
        <p:spPr>
          <a:xfrm>
            <a:off x="4242816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4215384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5321808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294376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680" dirty="0"/>
          </a:p>
        </p:txBody>
      </p:sp>
      <p:sp>
        <p:nvSpPr>
          <p:cNvPr id="143" name="Text 141"/>
          <p:cNvSpPr txBox="1"/>
          <p:nvPr/>
        </p:nvSpPr>
        <p:spPr>
          <a:xfrm>
            <a:off x="6400800" y="43799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17,757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594360" y="4553712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94360" y="45811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46" name="Text 144"/>
          <p:cNvSpPr txBox="1"/>
          <p:nvPr/>
        </p:nvSpPr>
        <p:spPr>
          <a:xfrm>
            <a:off x="2057400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120,224</a:t>
            </a:r>
            <a:endParaRPr lang="en-US" sz="750" dirty="0"/>
          </a:p>
        </p:txBody>
      </p:sp>
      <p:sp>
        <p:nvSpPr>
          <p:cNvPr id="147" name="Text 145"/>
          <p:cNvSpPr txBox="1"/>
          <p:nvPr/>
        </p:nvSpPr>
        <p:spPr>
          <a:xfrm>
            <a:off x="3136392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48" name="Text 146"/>
          <p:cNvSpPr txBox="1"/>
          <p:nvPr/>
        </p:nvSpPr>
        <p:spPr>
          <a:xfrm>
            <a:off x="4215384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49" name="Text 147"/>
          <p:cNvSpPr txBox="1"/>
          <p:nvPr/>
        </p:nvSpPr>
        <p:spPr>
          <a:xfrm>
            <a:off x="5294376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</a:t>
            </a:r>
            <a:endParaRPr lang="en-US" sz="750" dirty="0"/>
          </a:p>
        </p:txBody>
      </p:sp>
      <p:sp>
        <p:nvSpPr>
          <p:cNvPr id="150" name="Text 148"/>
          <p:cNvSpPr txBox="1"/>
          <p:nvPr/>
        </p:nvSpPr>
        <p:spPr>
          <a:xfrm>
            <a:off x="6400800" y="45811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742,934</a:t>
            </a:r>
            <a:endParaRPr lang="en-US" sz="750" dirty="0"/>
          </a:p>
        </p:txBody>
      </p:sp>
      <p:sp>
        <p:nvSpPr>
          <p:cNvPr id="151" name="Text 149"/>
          <p:cNvSpPr txBox="1"/>
          <p:nvPr/>
        </p:nvSpPr>
        <p:spPr>
          <a:xfrm>
            <a:off x="594360" y="48920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2075688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05740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4" name="Text 152"/>
          <p:cNvSpPr txBox="1"/>
          <p:nvPr/>
        </p:nvSpPr>
        <p:spPr>
          <a:xfrm>
            <a:off x="205740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55" name="Shape 153"/>
          <p:cNvSpPr/>
          <p:nvPr/>
        </p:nvSpPr>
        <p:spPr>
          <a:xfrm>
            <a:off x="247737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245908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7" name="Text 155"/>
          <p:cNvSpPr txBox="1"/>
          <p:nvPr/>
        </p:nvSpPr>
        <p:spPr>
          <a:xfrm>
            <a:off x="245908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2879054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86076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0" name="Text 158"/>
          <p:cNvSpPr txBox="1"/>
          <p:nvPr/>
        </p:nvSpPr>
        <p:spPr>
          <a:xfrm>
            <a:off x="286076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3280737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26244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63" name="Text 161"/>
          <p:cNvSpPr txBox="1"/>
          <p:nvPr/>
        </p:nvSpPr>
        <p:spPr>
          <a:xfrm>
            <a:off x="326244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3682419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366413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6" name="Text 164"/>
          <p:cNvSpPr txBox="1"/>
          <p:nvPr/>
        </p:nvSpPr>
        <p:spPr>
          <a:xfrm>
            <a:off x="366413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4084102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406581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9" name="Text 167"/>
          <p:cNvSpPr txBox="1"/>
          <p:nvPr/>
        </p:nvSpPr>
        <p:spPr>
          <a:xfrm>
            <a:off x="406581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4485785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446749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2" name="Text 170"/>
          <p:cNvSpPr txBox="1"/>
          <p:nvPr/>
        </p:nvSpPr>
        <p:spPr>
          <a:xfrm>
            <a:off x="446749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4887468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486918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75" name="Text 173"/>
          <p:cNvSpPr txBox="1"/>
          <p:nvPr/>
        </p:nvSpPr>
        <p:spPr>
          <a:xfrm>
            <a:off x="486918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528915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527086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8" name="Text 176"/>
          <p:cNvSpPr txBox="1"/>
          <p:nvPr/>
        </p:nvSpPr>
        <p:spPr>
          <a:xfrm>
            <a:off x="527086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5690834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567254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567254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6092517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607422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607422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6494199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47591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647591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6895882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687759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687759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7297565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727927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727927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194" name="Text 192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early weeks estimated from the admin's rolling windows</a:t>
            </a:r>
            <a:endParaRPr lang="en-US" sz="600" dirty="0"/>
          </a:p>
        </p:txBody>
      </p:sp>
      <p:sp>
        <p:nvSpPr>
          <p:cNvPr id="195" name="Shape 193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6" name="Text 194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197" name="Text 195"/>
          <p:cNvSpPr txBox="1"/>
          <p:nvPr/>
        </p:nvSpPr>
        <p:spPr>
          <a:xfrm>
            <a:off x="8275320" y="25968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~137</a:t>
            </a:r>
            <a:endParaRPr lang="en-US" sz="3000" dirty="0"/>
          </a:p>
        </p:txBody>
      </p:sp>
      <p:sp>
        <p:nvSpPr>
          <p:cNvPr id="198" name="Text 196"/>
          <p:cNvSpPr txBox="1"/>
          <p:nvPr/>
        </p:nvSpPr>
        <p:spPr>
          <a:xfrm>
            <a:off x="9555480" y="2624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~130 baseline</a:t>
            </a:r>
            <a:endParaRPr lang="en-US" sz="750" dirty="0"/>
          </a:p>
        </p:txBody>
      </p:sp>
      <p:sp>
        <p:nvSpPr>
          <p:cNvPr id="199" name="Text 197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00" name="Text 198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-3</a:t>
            </a:r>
            <a:endParaRPr lang="en-US" sz="680" dirty="0"/>
          </a:p>
        </p:txBody>
      </p:sp>
      <p:sp>
        <p:nvSpPr>
          <p:cNvPr id="201" name="Text 199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750" dirty="0"/>
          </a:p>
        </p:txBody>
      </p:sp>
      <p:sp>
        <p:nvSpPr>
          <p:cNvPr id="202" name="Text 200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03" name="Text 201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04" name="Text 202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06" name="Text 204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-4</a:t>
            </a:r>
            <a:endParaRPr lang="en-US" sz="680" dirty="0"/>
          </a:p>
        </p:txBody>
      </p:sp>
      <p:sp>
        <p:nvSpPr>
          <p:cNvPr id="207" name="Text 205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75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09" name="Text 207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0" name="Text 208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750" dirty="0"/>
          </a:p>
        </p:txBody>
      </p:sp>
      <p:sp>
        <p:nvSpPr>
          <p:cNvPr id="211" name="Text 209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3" name="Text 211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14" name="Text 212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16" name="Text 214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17" name="Text 215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19" name="Text 217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0" name="Text 218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2" name="Text 220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25" name="Text 223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last capture · — = first capture</a:t>
            </a:r>
            <a:endParaRPr lang="en-US" sz="600" dirty="0"/>
          </a:p>
        </p:txBody>
      </p:sp>
      <p:sp>
        <p:nvSpPr>
          <p:cNvPr id="230" name="Shape 228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1" name="Text 229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2" name="Text 230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edges Claude Code on stickiness (64% vs 63% DAU/MAU); code output 66,273 lines (+10% WoW), Nicolas leading September. Engineers show zero Cowork sessions because they live in Claude Code — Cowork is the ops and leadership surface, not a sign of inactivity.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9326880" y="6510528"/>
            <a:ext cx="245059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4" name="Text 232"/>
          <p:cNvSpPr txBox="1"/>
          <p:nvPr/>
        </p:nvSpPr>
        <p:spPr>
          <a:xfrm>
            <a:off x="9326880" y="6510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weekly capture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19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this deck is the first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62 drafts pending review on open tickets · 85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2026-09-21T06:01:56Z</dcterms:created>
  <dcterms:modified xsi:type="dcterms:W3CDTF">2026-09-21T06:01:56Z</dcterms:modified>
</cp:coreProperties>
</file>