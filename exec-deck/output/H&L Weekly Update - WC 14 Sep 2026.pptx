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Q3 pipe $321k unweighted / $114k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NEW-PRODUCT MRR — SEPTEMBER · committed $30k/mo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3350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recorded of $30k committed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371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+10 Roam deals this wk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2482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67%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 TO DECEMBER · exit $136.8k MRR · 77% AI-built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$137k committed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plan-to-date $30k/mo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232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9" name="Shape 27"/>
          <p:cNvSpPr/>
          <p:nvPr/>
        </p:nvSpPr>
        <p:spPr>
          <a:xfrm>
            <a:off x="734354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22%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open pipe &amp; Δ now HubSpot keyword-matched (deal name) · MRR from the deal mrr field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7980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279806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 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383280" y="27980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 MRR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27980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 PIPE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98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 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12648" y="358444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07238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072384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$25k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83280" y="30723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251960" y="307238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07238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30723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30723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$598/mo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2648" y="41513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363931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BI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560320" y="363931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363931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251960" y="363931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Oct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63931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63931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995160" y="363931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· $0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47183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420624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2560320" y="42062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383280" y="42062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251960" y="42062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486400" y="42062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6400800" y="420624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99516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$598/mo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" y="528523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2648" y="477316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(MobilePOS)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2560320" y="477316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3383280" y="47731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251960" y="47731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wins · MRR untagged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0" y="477316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deals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477316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995160" y="47731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$372/mo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12648" y="535838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12648" y="5413248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 committed · $0 recorded · open pipe 24 deals · ~$1.6k/mo keyword-matched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12648" y="5779008"/>
            <a:ext cx="7232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COMMITTED TRAJECTORY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$10k → Sep $30k → Oct $60k → Nov $97k → Dec $137k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recorded MRR is $0 on the new basis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2 Roam wins closed this month carry no MRR value on the deal. That's a tagging gap to fix in HubSpot, not zero traction.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 is moving: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Roam-matched deals created this week; open pipe 18 · $372/mo (Roam), 2 · $598/mo (Sentinel).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matching moved from Creatio opportunity names to HubSpot deal names, and $ now read the deal mrr field — levels reset against last week's $217 QTD.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Demos &amp; pilots still come from the product-team feed — the CRM carries no demo/pilot signal. Product tagging in HubSpot is the unlock.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834579" y="6510528"/>
            <a:ext cx="394289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834579" y="6510528"/>
            <a:ext cx="3942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(keyword-matched deal names) + product plan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$321k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 open deals with a Q3 close date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$114k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$810k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248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89.9%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248 won / 28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137160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+$62k wk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7726680" y="10972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48 won wk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2395728"/>
            <a:ext cx="7360920" cy="3986784"/>
          </a:xfrm>
          <a:prstGeom prst="roundRect">
            <a:avLst>
              <a:gd name="adj" fmla="val 1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487168"/>
            <a:ext cx="6958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MEMBER — Q3 PIPELINE HELD &amp; THIS WEEK'S MOVEMENT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706624"/>
            <a:ext cx="6958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= live HubSpot reads for 14–20 Sep · resize returns next week from the first stored snapshot (20 Sep)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1508760" y="29260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 </a:t>
            </a:r>
            <a:pPr indent="0" marL="0">
              <a:buNone/>
            </a:pPr>
            <a:r>
              <a:rPr lang="en-US" sz="6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▉ unweighted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▉ weighted</a:t>
            </a:r>
            <a:endParaRPr lang="en-US" sz="68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680" dirty="0"/>
          </a:p>
        </p:txBody>
      </p:sp>
      <p:sp>
        <p:nvSpPr>
          <p:cNvPr id="38" name="Text 36"/>
          <p:cNvSpPr txBox="1"/>
          <p:nvPr/>
        </p:nvSpPr>
        <p:spPr>
          <a:xfrm>
            <a:off x="4389120" y="29260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39" name="Text 37"/>
          <p:cNvSpPr txBox="1"/>
          <p:nvPr/>
        </p:nvSpPr>
        <p:spPr>
          <a:xfrm>
            <a:off x="5394960" y="292608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✓</a:t>
            </a:r>
            <a:endParaRPr lang="en-US" sz="680" dirty="0"/>
          </a:p>
        </p:txBody>
      </p:sp>
      <p:sp>
        <p:nvSpPr>
          <p:cNvPr id="40" name="Text 38"/>
          <p:cNvSpPr txBox="1"/>
          <p:nvPr/>
        </p:nvSpPr>
        <p:spPr>
          <a:xfrm>
            <a:off x="6281928" y="29260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RESIZE</a:t>
            </a:r>
            <a:endParaRPr lang="en-US" sz="680" dirty="0"/>
          </a:p>
        </p:txBody>
      </p:sp>
      <p:sp>
        <p:nvSpPr>
          <p:cNvPr id="41" name="Text 39"/>
          <p:cNvSpPr txBox="1"/>
          <p:nvPr/>
        </p:nvSpPr>
        <p:spPr>
          <a:xfrm>
            <a:off x="6995160" y="2926080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612648" y="349758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63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508760" y="3236976"/>
            <a:ext cx="1508760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45" name="Shape 43"/>
          <p:cNvSpPr/>
          <p:nvPr/>
        </p:nvSpPr>
        <p:spPr>
          <a:xfrm>
            <a:off x="1508760" y="3364992"/>
            <a:ext cx="626380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08960" y="316382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$108k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$45k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389120" y="3163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· $42k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394960" y="3163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$4k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281928" y="316382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6995160" y="31638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+32k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12648" y="386334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35295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508760" y="3602736"/>
            <a:ext cx="1134973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54" name="Shape 52"/>
          <p:cNvSpPr/>
          <p:nvPr/>
        </p:nvSpPr>
        <p:spPr>
          <a:xfrm>
            <a:off x="1508760" y="3730752"/>
            <a:ext cx="340488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108960" y="352958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$81k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$24k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389120" y="35295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394960" y="35295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· $2k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281928" y="352958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6995160" y="35295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−2k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" y="422910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38953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508760" y="3968496"/>
            <a:ext cx="824321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63" name="Shape 61"/>
          <p:cNvSpPr/>
          <p:nvPr/>
        </p:nvSpPr>
        <p:spPr>
          <a:xfrm>
            <a:off x="1508760" y="4096512"/>
            <a:ext cx="318518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08960" y="38953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$59k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4389120" y="38953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$17k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394960" y="38953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· $144k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6281928" y="389534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995160" y="38953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−128k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12648" y="459486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12648" y="42611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Kent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508760" y="4334256"/>
            <a:ext cx="339633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72" name="Shape 70"/>
          <p:cNvSpPr/>
          <p:nvPr/>
        </p:nvSpPr>
        <p:spPr>
          <a:xfrm>
            <a:off x="1508760" y="4462272"/>
            <a:ext cx="101887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108960" y="426110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$7k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4389120" y="42611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$2k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5394960" y="42611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6281928" y="426110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6995160" y="42611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12648" y="496062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12648" y="4626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508760" y="4700016"/>
            <a:ext cx="288878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81" name="Shape 79"/>
          <p:cNvSpPr/>
          <p:nvPr/>
        </p:nvSpPr>
        <p:spPr>
          <a:xfrm>
            <a:off x="1508760" y="4828032"/>
            <a:ext cx="85441" cy="100584"/>
          </a:xfrm>
          <a:prstGeom prst="roundRect">
            <a:avLst>
              <a:gd name="adj" fmla="val 48160"/>
            </a:avLst>
          </a:prstGeom>
          <a:solidFill>
            <a:srgbClr val="3D8F5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3108960" y="462686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$6k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389120" y="462686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$324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394960" y="462686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· $7k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6281928" y="462686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6995160" y="462686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−12k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12648" y="532638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12648" y="49926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508760" y="5065776"/>
            <a:ext cx="163591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90" name="Shape 88"/>
          <p:cNvSpPr/>
          <p:nvPr/>
        </p:nvSpPr>
        <p:spPr>
          <a:xfrm>
            <a:off x="1508760" y="5193792"/>
            <a:ext cx="49072" cy="100584"/>
          </a:xfrm>
          <a:prstGeom prst="roundRect">
            <a:avLst>
              <a:gd name="adj" fmla="val 83852"/>
            </a:avLst>
          </a:prstGeom>
          <a:solidFill>
            <a:srgbClr val="3D8F5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3108960" y="499262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$4k</a:t>
            </a:r>
            <a:endParaRPr lang="en-US" sz="850" dirty="0"/>
          </a:p>
        </p:txBody>
      </p:sp>
      <p:sp>
        <p:nvSpPr>
          <p:cNvPr id="92" name="Text 90"/>
          <p:cNvSpPr txBox="1"/>
          <p:nvPr/>
        </p:nvSpPr>
        <p:spPr>
          <a:xfrm>
            <a:off x="4389120" y="49926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3" name="Text 91"/>
          <p:cNvSpPr txBox="1"/>
          <p:nvPr/>
        </p:nvSpPr>
        <p:spPr>
          <a:xfrm>
            <a:off x="5394960" y="49926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6281928" y="499262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5" name="Text 93"/>
          <p:cNvSpPr txBox="1"/>
          <p:nvPr/>
        </p:nvSpPr>
        <p:spPr>
          <a:xfrm>
            <a:off x="6995160" y="49926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12648" y="569214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53583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508760" y="5431536"/>
            <a:ext cx="151043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99" name="Shape 97"/>
          <p:cNvSpPr/>
          <p:nvPr/>
        </p:nvSpPr>
        <p:spPr>
          <a:xfrm>
            <a:off x="1508760" y="5559552"/>
            <a:ext cx="45314" cy="100584"/>
          </a:xfrm>
          <a:prstGeom prst="roundRect">
            <a:avLst>
              <a:gd name="adj" fmla="val 90806"/>
            </a:avLst>
          </a:prstGeom>
          <a:solidFill>
            <a:srgbClr val="3D8F5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08960" y="535838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$3k</a:t>
            </a:r>
            <a:endParaRPr lang="en-US" sz="850" dirty="0"/>
          </a:p>
        </p:txBody>
      </p:sp>
      <p:sp>
        <p:nvSpPr>
          <p:cNvPr id="101" name="Text 99"/>
          <p:cNvSpPr txBox="1"/>
          <p:nvPr/>
        </p:nvSpPr>
        <p:spPr>
          <a:xfrm>
            <a:off x="4389120" y="53583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2" name="Text 100"/>
          <p:cNvSpPr txBox="1"/>
          <p:nvPr/>
        </p:nvSpPr>
        <p:spPr>
          <a:xfrm>
            <a:off x="5394960" y="535838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· $5k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6281928" y="535838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6995160" y="535838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−6k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12648" y="6057900"/>
            <a:ext cx="6958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612648" y="57241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1508760" y="5797296"/>
            <a:ext cx="82917" cy="100584"/>
          </a:xfrm>
          <a:prstGeom prst="roundRect">
            <a:avLst>
              <a:gd name="adj" fmla="val 49626"/>
            </a:avLst>
          </a:prstGeom>
          <a:solidFill>
            <a:srgbClr val="2C839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508760" y="5925312"/>
            <a:ext cx="27432" cy="100584"/>
          </a:xfrm>
          <a:prstGeom prst="roundRect">
            <a:avLst>
              <a:gd name="adj" fmla="val 150000"/>
            </a:avLst>
          </a:prstGeom>
          <a:solidFill>
            <a:srgbClr val="3D8F5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3108960" y="57241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pPr algn="l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4389120" y="57241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$650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5394960" y="57241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$1k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6281928" y="5724144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6995160" y="57241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−16k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612648" y="6089904"/>
            <a:ext cx="695858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12648" y="6144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1508760" y="6144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$321k</a:t>
            </a:r>
            <a:pPr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$114k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Q3 unw / wtd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389120" y="61447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· $62k</a:t>
            </a:r>
            <a:endParaRPr lang="en-US" sz="800" dirty="0"/>
          </a:p>
        </p:txBody>
      </p:sp>
      <p:sp>
        <p:nvSpPr>
          <p:cNvPr id="118" name="Text 116"/>
          <p:cNvSpPr txBox="1"/>
          <p:nvPr/>
        </p:nvSpPr>
        <p:spPr>
          <a:xfrm>
            <a:off x="5394960" y="61447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· $162k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6281928" y="614476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6995160" y="614476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−131k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12648" y="6455664"/>
            <a:ext cx="6958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leaves the open pipeline — the goal, not a loss.  NET Δ = new + resize − won − lost − removed; resize is blank this week because it needs two stored snapshots and the first was taken 20 Sep — it reports from next week.  + 2 deals ($715) on other owners, included in totals · 2 test deals sit in the lost column (Brad TestSA3, TEST OPTY ORD MGT) — worth deleting in HubSpot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955280" y="2395728"/>
            <a:ext cx="3822192" cy="3986784"/>
          </a:xfrm>
          <a:prstGeom prst="roundRect">
            <a:avLst>
              <a:gd name="adj" fmla="val 16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3" name="Text 121"/>
          <p:cNvSpPr txBox="1"/>
          <p:nvPr/>
        </p:nvSpPr>
        <p:spPr>
          <a:xfrm>
            <a:off x="8156448" y="250545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8156448" y="2816352"/>
            <a:ext cx="3410712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Q3-dated pipeline.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$321k unweighted / $114k weighted sits against a Jul–Sep close date, across 118 deals. Bjorn holds the most ($108k).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converted the week.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worth $144k — 89% of all closed-won value this week, and why the member NET Δ reads negative. Bjorn is the only one adding materially back: 10 new Q3 deals worth $42k.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is the watch item.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lost ($15k) against 2 won ($1k), and the smallest book on the team at $6k — worth a pipeline review.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Attribution basis.</a:t>
            </a:r>
            <a:endParaRPr lang="en-US" sz="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measure. Only 172 open deals ($360k) carry no close date, down from 1,678 in Creatio — dating discipline has held through the migration.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31.8% / 38%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 reading · week of 2026-08-30 — frozen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69.4%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hours vs capacity · 80% target — frozen at cutover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— SINCE CUTOVER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78.93h logged vs 608h capacity, 8–20 Sep — logging still ramping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ENGAGEMENTS — THIS WEEK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131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PS records · 29 of 8,969 carry time so far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749808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GO — AVAILABLE VS UTILISED, MONTHLY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2688336"/>
            <a:ext cx="4279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 AT 4 SEP EXTRACT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6108192" y="268833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1645920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645920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1,216h avail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2359152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2359152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988h avail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072384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3072384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1,102h avail</a:t>
            </a:r>
            <a:endParaRPr lang="en-US" sz="550" dirty="0"/>
          </a:p>
        </p:txBody>
      </p:sp>
      <p:sp>
        <p:nvSpPr>
          <p:cNvPr id="41" name="Text 39"/>
          <p:cNvSpPr txBox="1"/>
          <p:nvPr/>
        </p:nvSpPr>
        <p:spPr>
          <a:xfrm>
            <a:off x="3785616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785616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1,482h avail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498848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4498848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1,064h avail</a:t>
            </a:r>
            <a:endParaRPr lang="en-US" sz="55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2852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Sep*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212080" y="3008376"/>
            <a:ext cx="713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228h avail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6108192" y="28529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8–20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108192" y="30083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608h avail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1638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664208" y="3177540"/>
            <a:ext cx="676656" cy="146304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645920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377440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9152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229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090672" y="3177540"/>
            <a:ext cx="676656" cy="146304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072384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354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3803904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785616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254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517136" y="317754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498848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225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5230368" y="31775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212080" y="31638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6126480" y="317754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108192" y="316382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35.9</a:t>
            </a:r>
            <a:endParaRPr lang="en-US" sz="650" dirty="0"/>
          </a:p>
        </p:txBody>
      </p:sp>
      <p:sp>
        <p:nvSpPr>
          <p:cNvPr id="64" name="Text 62"/>
          <p:cNvSpPr txBox="1"/>
          <p:nvPr/>
        </p:nvSpPr>
        <p:spPr>
          <a:xfrm>
            <a:off x="612648" y="33467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664208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645920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148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2377440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359152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3090672" y="336042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072384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174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3803904" y="336042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785616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198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4517136" y="336042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498848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5230368" y="33604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212080" y="33467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6126480" y="336042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108192" y="33467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36.9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612648" y="35295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1664208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645920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134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2377440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359152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090672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072384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124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3803904" y="354330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785616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194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4517136" y="354330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498848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5230368" y="35433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212080" y="35295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6126480" y="354330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108192" y="35295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650" dirty="0"/>
          </a:p>
        </p:txBody>
      </p:sp>
      <p:sp>
        <p:nvSpPr>
          <p:cNvPr id="94" name="Text 92"/>
          <p:cNvSpPr txBox="1"/>
          <p:nvPr/>
        </p:nvSpPr>
        <p:spPr>
          <a:xfrm>
            <a:off x="612648" y="37124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Travel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664208" y="3726180"/>
            <a:ext cx="676656" cy="146304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645920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2377440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359152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3090672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072384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3803904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785616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4517136" y="372618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498848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5230368" y="372618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212080" y="371246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6126480" y="372618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08192" y="371246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09" name="Text 107"/>
          <p:cNvSpPr txBox="1"/>
          <p:nvPr/>
        </p:nvSpPr>
        <p:spPr>
          <a:xfrm>
            <a:off x="612648" y="389534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1664208" y="390906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645920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2377440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2359152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3090672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3072384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3803904" y="390906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3785616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4517136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4498848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5230368" y="390906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5212080" y="389534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6126480" y="390906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08192" y="38953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40782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1664208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645920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2377440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2359152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3090672" y="4091940"/>
            <a:ext cx="676656" cy="146304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3072384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3803904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3785616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4517136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4498848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5230368" y="409194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5212080" y="407822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650" dirty="0"/>
          </a:p>
        </p:txBody>
      </p:sp>
      <p:sp>
        <p:nvSpPr>
          <p:cNvPr id="137" name="Shape 135"/>
          <p:cNvSpPr/>
          <p:nvPr/>
        </p:nvSpPr>
        <p:spPr>
          <a:xfrm>
            <a:off x="6126480" y="409194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108192" y="407822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2.6</a:t>
            </a:r>
            <a:endParaRPr lang="en-US" sz="650" dirty="0"/>
          </a:p>
        </p:txBody>
      </p:sp>
      <p:sp>
        <p:nvSpPr>
          <p:cNvPr id="139" name="Text 137"/>
          <p:cNvSpPr txBox="1"/>
          <p:nvPr/>
        </p:nvSpPr>
        <p:spPr>
          <a:xfrm>
            <a:off x="612648" y="426110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1664208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645920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2377440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2359152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650" dirty="0"/>
          </a:p>
        </p:txBody>
      </p:sp>
      <p:sp>
        <p:nvSpPr>
          <p:cNvPr id="144" name="Shape 142"/>
          <p:cNvSpPr/>
          <p:nvPr/>
        </p:nvSpPr>
        <p:spPr>
          <a:xfrm>
            <a:off x="3090672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3072384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3803904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3785616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4517136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4498848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5230368" y="427482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5212080" y="426110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6126480" y="4274820"/>
            <a:ext cx="1060704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108192" y="42611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</a:t>
            </a:r>
            <a:endParaRPr lang="en-US" sz="650" dirty="0"/>
          </a:p>
        </p:txBody>
      </p:sp>
      <p:sp>
        <p:nvSpPr>
          <p:cNvPr id="154" name="Text 152"/>
          <p:cNvSpPr txBox="1"/>
          <p:nvPr/>
        </p:nvSpPr>
        <p:spPr>
          <a:xfrm>
            <a:off x="612648" y="44439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1664208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1645920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>
            <a:off x="2377440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2359152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650" dirty="0"/>
          </a:p>
        </p:txBody>
      </p:sp>
      <p:sp>
        <p:nvSpPr>
          <p:cNvPr id="159" name="Shape 157"/>
          <p:cNvSpPr/>
          <p:nvPr/>
        </p:nvSpPr>
        <p:spPr>
          <a:xfrm>
            <a:off x="3090672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3072384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3803904" y="4457700"/>
            <a:ext cx="676656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785616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4517136" y="4457700"/>
            <a:ext cx="676656" cy="146304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4498848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650" dirty="0"/>
          </a:p>
        </p:txBody>
      </p:sp>
      <p:sp>
        <p:nvSpPr>
          <p:cNvPr id="165" name="Shape 163"/>
          <p:cNvSpPr/>
          <p:nvPr/>
        </p:nvSpPr>
        <p:spPr>
          <a:xfrm>
            <a:off x="5230368" y="4457700"/>
            <a:ext cx="676656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212080" y="4443984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6126480" y="4457700"/>
            <a:ext cx="1060704" cy="146304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6108192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50" dirty="0"/>
          </a:p>
        </p:txBody>
      </p:sp>
      <p:sp>
        <p:nvSpPr>
          <p:cNvPr id="169" name="Text 167"/>
          <p:cNvSpPr txBox="1"/>
          <p:nvPr/>
        </p:nvSpPr>
        <p:spPr>
          <a:xfrm>
            <a:off x="612648" y="46542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VS AVAILABLE
</a:t>
            </a:r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billed / % used</a:t>
            </a:r>
            <a:endParaRPr lang="en-US" sz="620" dirty="0"/>
          </a:p>
        </p:txBody>
      </p:sp>
      <p:sp>
        <p:nvSpPr>
          <p:cNvPr id="170" name="Shape 168"/>
          <p:cNvSpPr/>
          <p:nvPr/>
        </p:nvSpPr>
        <p:spPr>
          <a:xfrm>
            <a:off x="1691640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691640" y="4700016"/>
            <a:ext cx="460126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691640" y="4700016"/>
            <a:ext cx="105705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1645920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74%</a:t>
            </a:r>
            <a:endParaRPr lang="en-US" sz="630" dirty="0"/>
          </a:p>
        </p:txBody>
      </p:sp>
      <p:sp>
        <p:nvSpPr>
          <p:cNvPr id="174" name="Shape 172"/>
          <p:cNvSpPr/>
          <p:nvPr/>
        </p:nvSpPr>
        <p:spPr>
          <a:xfrm>
            <a:off x="2404872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404872" y="4700016"/>
            <a:ext cx="404165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404872" y="4700016"/>
            <a:ext cx="167884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2359152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65%</a:t>
            </a:r>
            <a:endParaRPr lang="en-US" sz="630" dirty="0"/>
          </a:p>
        </p:txBody>
      </p:sp>
      <p:sp>
        <p:nvSpPr>
          <p:cNvPr id="178" name="Shape 176"/>
          <p:cNvSpPr/>
          <p:nvPr/>
        </p:nvSpPr>
        <p:spPr>
          <a:xfrm>
            <a:off x="3118104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118104" y="4700016"/>
            <a:ext cx="516087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18104" y="4700016"/>
            <a:ext cx="267371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3072384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83%</a:t>
            </a:r>
            <a:endParaRPr lang="en-US" sz="630" dirty="0"/>
          </a:p>
        </p:txBody>
      </p:sp>
      <p:sp>
        <p:nvSpPr>
          <p:cNvPr id="182" name="Shape 180"/>
          <p:cNvSpPr/>
          <p:nvPr/>
        </p:nvSpPr>
        <p:spPr>
          <a:xfrm>
            <a:off x="3831336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831336" y="4700016"/>
            <a:ext cx="379293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31336" y="4700016"/>
            <a:ext cx="198973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3785616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61%</a:t>
            </a:r>
            <a:endParaRPr lang="en-US" sz="630" dirty="0"/>
          </a:p>
        </p:txBody>
      </p:sp>
      <p:sp>
        <p:nvSpPr>
          <p:cNvPr id="186" name="Shape 184"/>
          <p:cNvSpPr/>
          <p:nvPr/>
        </p:nvSpPr>
        <p:spPr>
          <a:xfrm>
            <a:off x="4544568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544568" y="4700016"/>
            <a:ext cx="391729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544568" y="4700016"/>
            <a:ext cx="167884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4498848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63%</a:t>
            </a:r>
            <a:endParaRPr lang="en-US" sz="630" dirty="0"/>
          </a:p>
        </p:txBody>
      </p:sp>
      <p:sp>
        <p:nvSpPr>
          <p:cNvPr id="190" name="Shape 188"/>
          <p:cNvSpPr/>
          <p:nvPr/>
        </p:nvSpPr>
        <p:spPr>
          <a:xfrm>
            <a:off x="5257800" y="4700016"/>
            <a:ext cx="621792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257800" y="4700016"/>
            <a:ext cx="429036" cy="7772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257800" y="4700016"/>
            <a:ext cx="198973" cy="7772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212080" y="479145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63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69%</a:t>
            </a:r>
            <a:endParaRPr lang="en-US" sz="630" dirty="0"/>
          </a:p>
        </p:txBody>
      </p:sp>
      <p:sp>
        <p:nvSpPr>
          <p:cNvPr id="194" name="Shape 192"/>
          <p:cNvSpPr/>
          <p:nvPr/>
        </p:nvSpPr>
        <p:spPr>
          <a:xfrm>
            <a:off x="6153912" y="4700016"/>
            <a:ext cx="1005840" cy="77724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53912" y="4700016"/>
            <a:ext cx="130759" cy="7772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108192" y="47914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</a:t>
            </a:r>
            <a:pPr algn="ctr" indent="0" marL="0">
              <a:buNone/>
            </a:pPr>
            <a:r>
              <a:rPr lang="en-US" sz="6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13%</a:t>
            </a:r>
            <a:endParaRPr lang="en-US" sz="630" dirty="0"/>
          </a:p>
        </p:txBody>
      </p:sp>
      <p:sp>
        <p:nvSpPr>
          <p:cNvPr id="197" name="Shape 195"/>
          <p:cNvSpPr/>
          <p:nvPr/>
        </p:nvSpPr>
        <p:spPr>
          <a:xfrm>
            <a:off x="6016752" y="2670048"/>
            <a:ext cx="20117" cy="230428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8" name="Shape 196"/>
          <p:cNvSpPr/>
          <p:nvPr/>
        </p:nvSpPr>
        <p:spPr>
          <a:xfrm>
            <a:off x="5596128" y="2450592"/>
            <a:ext cx="868680" cy="182880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596128" y="245059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580" dirty="0"/>
          </a:p>
        </p:txBody>
      </p:sp>
      <p:sp>
        <p:nvSpPr>
          <p:cNvPr id="200" name="Text 198"/>
          <p:cNvSpPr txBox="1"/>
          <p:nvPr/>
        </p:nvSpPr>
        <p:spPr>
          <a:xfrm>
            <a:off x="612648" y="5010912"/>
            <a:ext cx="7086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months frozen at the final 4 Sep extract (Sep* is a part month) · HubSpot column = hours on the PS record vs 38h/week × 8-person roster; % billed not yet separable</a:t>
            </a:r>
            <a:endParaRPr lang="en-US" sz="550" dirty="0"/>
          </a:p>
        </p:txBody>
      </p:sp>
      <p:sp>
        <p:nvSpPr>
          <p:cNvPr id="201" name="Shape 199"/>
          <p:cNvSpPr/>
          <p:nvPr/>
        </p:nvSpPr>
        <p:spPr>
          <a:xfrm>
            <a:off x="8092440" y="2395728"/>
            <a:ext cx="36850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2" name="Text 200"/>
          <p:cNvSpPr txBox="1"/>
          <p:nvPr/>
        </p:nvSpPr>
        <p:spPr>
          <a:xfrm>
            <a:off x="8275320" y="2478024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MEMBER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 2026-08-30 · frozen</a:t>
            </a:r>
            <a:endParaRPr lang="en-US" sz="950" dirty="0"/>
          </a:p>
        </p:txBody>
      </p:sp>
      <p:sp>
        <p:nvSpPr>
          <p:cNvPr id="203" name="Text 201"/>
          <p:cNvSpPr txBox="1"/>
          <p:nvPr/>
        </p:nvSpPr>
        <p:spPr>
          <a:xfrm>
            <a:off x="8275320" y="2706624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 S.  </a:t>
            </a:r>
            <a:pPr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(11%)  ·  39.8h</a:t>
            </a:r>
            <a:endParaRPr lang="en-US" sz="700" dirty="0"/>
          </a:p>
        </p:txBody>
      </p:sp>
      <p:sp>
        <p:nvSpPr>
          <p:cNvPr id="204" name="Text 202"/>
          <p:cNvSpPr txBox="1"/>
          <p:nvPr/>
        </p:nvSpPr>
        <p:spPr>
          <a:xfrm>
            <a:off x="8275320" y="2841955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(14%)  ·  12h</a:t>
            </a:r>
            <a:endParaRPr lang="en-US" sz="70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2977286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G.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(16%)  ·  11.2h</a:t>
            </a:r>
            <a:endParaRPr lang="en-US" sz="700" dirty="0"/>
          </a:p>
        </p:txBody>
      </p:sp>
      <p:sp>
        <p:nvSpPr>
          <p:cNvPr id="206" name="Text 204"/>
          <p:cNvSpPr txBox="1"/>
          <p:nvPr/>
        </p:nvSpPr>
        <p:spPr>
          <a:xfrm>
            <a:off x="8275320" y="3112618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(20%)  ·  6.5h</a:t>
            </a:r>
            <a:endParaRPr lang="en-US" sz="700" dirty="0"/>
          </a:p>
        </p:txBody>
      </p:sp>
      <p:sp>
        <p:nvSpPr>
          <p:cNvPr id="207" name="Text 205"/>
          <p:cNvSpPr txBox="1"/>
          <p:nvPr/>
        </p:nvSpPr>
        <p:spPr>
          <a:xfrm>
            <a:off x="8275320" y="3247949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(74%)  ·  2h</a:t>
            </a:r>
            <a:endParaRPr lang="en-US" sz="70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383280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 C.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(92%)  ·  1h</a:t>
            </a:r>
            <a:endParaRPr lang="en-US" sz="700" dirty="0"/>
          </a:p>
        </p:txBody>
      </p:sp>
      <p:sp>
        <p:nvSpPr>
          <p:cNvPr id="209" name="Text 207"/>
          <p:cNvSpPr txBox="1"/>
          <p:nvPr/>
        </p:nvSpPr>
        <p:spPr>
          <a:xfrm>
            <a:off x="8275320" y="3518611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R.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(0%)  ·  0h</a:t>
            </a:r>
            <a:endParaRPr lang="en-US" sz="700" dirty="0"/>
          </a:p>
        </p:txBody>
      </p:sp>
      <p:sp>
        <p:nvSpPr>
          <p:cNvPr id="210" name="Text 208"/>
          <p:cNvSpPr txBox="1"/>
          <p:nvPr/>
        </p:nvSpPr>
        <p:spPr>
          <a:xfrm>
            <a:off x="8275320" y="3653942"/>
            <a:ext cx="33192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N.  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(4%)  ·  0h</a:t>
            </a:r>
            <a:endParaRPr lang="en-US" sz="700" dirty="0"/>
          </a:p>
        </p:txBody>
      </p:sp>
      <p:sp>
        <p:nvSpPr>
          <p:cNvPr id="211" name="Shape 209"/>
          <p:cNvSpPr/>
          <p:nvPr/>
        </p:nvSpPr>
        <p:spPr>
          <a:xfrm>
            <a:off x="8092440" y="3931920"/>
            <a:ext cx="368503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2" name="Text 210"/>
          <p:cNvSpPr txBox="1"/>
          <p:nvPr/>
        </p:nvSpPr>
        <p:spPr>
          <a:xfrm>
            <a:off x="8275320" y="4014216"/>
            <a:ext cx="3319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PS WORK  </a:t>
            </a:r>
            <a:pPr indent="0" marL="0">
              <a:buNone/>
            </a:pPr>
            <a:r>
              <a:rPr lang="en-US" sz="6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· live</a:t>
            </a:r>
            <a:endParaRPr lang="en-US" sz="950" dirty="0"/>
          </a:p>
        </p:txBody>
      </p:sp>
      <p:sp>
        <p:nvSpPr>
          <p:cNvPr id="213" name="Text 211"/>
          <p:cNvSpPr txBox="1"/>
          <p:nvPr/>
        </p:nvSpPr>
        <p:spPr>
          <a:xfrm>
            <a:off x="8275320" y="424281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9326880" y="4293108"/>
            <a:ext cx="1783080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11201400" y="424281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348</a:t>
            </a:r>
            <a:endParaRPr lang="en-US" sz="700" dirty="0"/>
          </a:p>
        </p:txBody>
      </p:sp>
      <p:sp>
        <p:nvSpPr>
          <p:cNvPr id="216" name="Text 214"/>
          <p:cNvSpPr txBox="1"/>
          <p:nvPr/>
        </p:nvSpPr>
        <p:spPr>
          <a:xfrm>
            <a:off x="8275320" y="442569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9326880" y="4475988"/>
            <a:ext cx="824931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18" name="Text 216"/>
          <p:cNvSpPr txBox="1"/>
          <p:nvPr/>
        </p:nvSpPr>
        <p:spPr>
          <a:xfrm>
            <a:off x="11201400" y="442569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161</a:t>
            </a:r>
            <a:endParaRPr lang="en-US" sz="700" dirty="0"/>
          </a:p>
        </p:txBody>
      </p:sp>
      <p:sp>
        <p:nvSpPr>
          <p:cNvPr id="219" name="Text 217"/>
          <p:cNvSpPr txBox="1"/>
          <p:nvPr/>
        </p:nvSpPr>
        <p:spPr>
          <a:xfrm>
            <a:off x="8275320" y="460857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220" name="Shape 218"/>
          <p:cNvSpPr/>
          <p:nvPr/>
        </p:nvSpPr>
        <p:spPr>
          <a:xfrm>
            <a:off x="9326880" y="4658868"/>
            <a:ext cx="625103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11201400" y="460857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00" dirty="0"/>
          </a:p>
        </p:txBody>
      </p:sp>
      <p:sp>
        <p:nvSpPr>
          <p:cNvPr id="222" name="Text 220"/>
          <p:cNvSpPr txBox="1"/>
          <p:nvPr/>
        </p:nvSpPr>
        <p:spPr>
          <a:xfrm>
            <a:off x="8275320" y="479145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223" name="Shape 221"/>
          <p:cNvSpPr/>
          <p:nvPr/>
        </p:nvSpPr>
        <p:spPr>
          <a:xfrm>
            <a:off x="9326880" y="4841748"/>
            <a:ext cx="302304" cy="77724"/>
          </a:xfrm>
          <a:prstGeom prst="roundRect">
            <a:avLst>
              <a:gd name="adj" fmla="val 41176"/>
            </a:avLst>
          </a:prstGeom>
          <a:solidFill>
            <a:srgbClr val="2C8394"/>
          </a:solidFill>
          <a:ln/>
        </p:spPr>
      </p:sp>
      <p:sp>
        <p:nvSpPr>
          <p:cNvPr id="224" name="Text 222"/>
          <p:cNvSpPr txBox="1"/>
          <p:nvPr/>
        </p:nvSpPr>
        <p:spPr>
          <a:xfrm>
            <a:off x="11201400" y="479145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</a:t>
            </a:r>
            <a:endParaRPr lang="en-US" sz="700" dirty="0"/>
          </a:p>
        </p:txBody>
      </p:sp>
      <p:sp>
        <p:nvSpPr>
          <p:cNvPr id="225" name="Text 223"/>
          <p:cNvSpPr txBox="1"/>
          <p:nvPr/>
        </p:nvSpPr>
        <p:spPr>
          <a:xfrm>
            <a:off x="8275320" y="4974336"/>
            <a:ext cx="1005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226" name="Shape 224"/>
          <p:cNvSpPr/>
          <p:nvPr/>
        </p:nvSpPr>
        <p:spPr>
          <a:xfrm>
            <a:off x="9326880" y="5024628"/>
            <a:ext cx="45720" cy="77724"/>
          </a:xfrm>
          <a:prstGeom prst="roundRect">
            <a:avLst>
              <a:gd name="adj" fmla="val 70000"/>
            </a:avLst>
          </a:prstGeom>
          <a:solidFill>
            <a:srgbClr val="2C8394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11201400" y="4974336"/>
            <a:ext cx="411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228" name="Shape 226"/>
          <p:cNvSpPr/>
          <p:nvPr/>
        </p:nvSpPr>
        <p:spPr>
          <a:xfrm>
            <a:off x="411480" y="5349240"/>
            <a:ext cx="11365992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9" name="Text 227"/>
          <p:cNvSpPr txBox="1"/>
          <p:nvPr/>
        </p:nvSpPr>
        <p:spPr>
          <a:xfrm>
            <a:off x="612648" y="545896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0" name="Text 228"/>
          <p:cNvSpPr txBox="1"/>
          <p:nvPr/>
        </p:nvSpPr>
        <p:spPr>
          <a:xfrm>
            <a:off x="612648" y="5769864"/>
            <a:ext cx="1095451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continues across the cutover, on a thinner meter.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 of the 608h capacity is logged for 8–20 Sep (78.93h on 29 records) against 69.4% in the last full Creatio week — that gap is logging coverage, not idle teams: 131 PS engagements were opened this week and only 29 carry time.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are going is consistent: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(36.9h) and Onboarding (35.9h) dominate, the same two categories that led every Creatio month. 21.4h of the 78.9h sits on two records named 'test' / 'Warranty Test' — worth clearing out.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Creatio (frozen to 4 Sep) + HubSpot PS records (live)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2026-09-21T03:57:57Z</dcterms:created>
  <dcterms:modified xsi:type="dcterms:W3CDTF">2026-09-21T03:57:57Z</dcterms:modified>
</cp:coreProperties>
</file>