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new MRR $12.1k QTD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28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A$217 · 5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2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placed / 2 lost by count · 38%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19409" cy="182880"/>
          </a:xfrm>
          <a:prstGeom prst="roundRect">
            <a:avLst>
              <a:gd name="adj" fmla="val 61262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21113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446755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29221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Shape 57"/>
          <p:cNvSpPr/>
          <p:nvPr/>
        </p:nvSpPr>
        <p:spPr>
          <a:xfrm>
            <a:off x="2139302" y="4800600"/>
            <a:ext cx="3976539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139302" y="4782312"/>
            <a:ext cx="3976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134130" y="4800600"/>
            <a:ext cx="486126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134130" y="4782312"/>
            <a:ext cx="486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828800" y="5111496"/>
            <a:ext cx="679269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828800" y="5093208"/>
            <a:ext cx="6792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26357" y="5111496"/>
            <a:ext cx="3803904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26357" y="509320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348549" y="5111496"/>
            <a:ext cx="271707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78" name="Text 76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3" name="Text 81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88" name="Text 86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3" name="Text 91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98" name="Text 96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2" name="Text 100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 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lines are one month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4" name="Text 102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HubSpot holds no USD field</a:t>
            </a:r>
            <a:endParaRPr lang="en-US" sz="580" dirty="0"/>
          </a:p>
        </p:txBody>
      </p:sp>
      <p:sp>
        <p:nvSpPr>
          <p:cNvPr id="106" name="Shape 104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5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orders placed since 1 Jul (US$155) against 2 lost — 71% by count, 38%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US$2,062 of the US$2,103 open sits in Quote Sent and Negotiation across 27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identification register live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BILLED VS NON-BILLED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flag set on only 3 of 29 records carrying time — not yet separable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UTILISATION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capacity model to be rebuilt on HubSpot hours · 80% target unchanged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CASES OPENED — THIS WEEK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 40 · Integrations 14 · Training 7 · Onboarding 3 · Warranty 0 (HubSpot, live)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ON PS RECORDS — RAMPING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0720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78.93h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2697480" y="28529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across 29 of 8,969 records — the new ground truth (total_hours on the Professional Services record)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930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TYPE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5166360" y="349300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RECORDS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40080" y="4087368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40080" y="374904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2148840" y="3867912"/>
            <a:ext cx="1234440" cy="118872"/>
          </a:xfrm>
          <a:prstGeom prst="roundRect">
            <a:avLst>
              <a:gd name="adj" fmla="val 38462"/>
            </a:avLst>
          </a:prstGeom>
          <a:solidFill>
            <a:srgbClr val="2C839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20440" y="37490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36.9h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5166360" y="37490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40080" y="4471416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0080" y="4133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148840" y="4251960"/>
            <a:ext cx="1200986" cy="118872"/>
          </a:xfrm>
          <a:prstGeom prst="roundRect">
            <a:avLst>
              <a:gd name="adj" fmla="val 38462"/>
            </a:avLst>
          </a:prstGeom>
          <a:solidFill>
            <a:srgbClr val="2C839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52044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35.9h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5166360" y="413308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" y="4855464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0080" y="451713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Other / unassigned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2148840" y="4636008"/>
            <a:ext cx="100361" cy="118872"/>
          </a:xfrm>
          <a:prstGeom prst="roundRect">
            <a:avLst>
              <a:gd name="adj" fmla="val 45556"/>
            </a:avLst>
          </a:prstGeom>
          <a:solidFill>
            <a:srgbClr val="2C8394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520440" y="45171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3.0h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5166360" y="451713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40080" y="5239512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40080" y="490118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2148840" y="5020056"/>
            <a:ext cx="86980" cy="118872"/>
          </a:xfrm>
          <a:prstGeom prst="roundRect">
            <a:avLst>
              <a:gd name="adj" fmla="val 52564"/>
            </a:avLst>
          </a:prstGeom>
          <a:solidFill>
            <a:srgbClr val="2C8394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3520440" y="49011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2.6h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490118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40080" y="5623560"/>
            <a:ext cx="6126480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40080" y="528523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148840" y="5404104"/>
            <a:ext cx="45720" cy="118872"/>
          </a:xfrm>
          <a:prstGeom prst="roundRect">
            <a:avLst>
              <a:gd name="adj" fmla="val 100000"/>
            </a:avLst>
          </a:prstGeom>
          <a:solidFill>
            <a:srgbClr val="2C8394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20440" y="52852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0.5h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5166360" y="52852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40080" y="557784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21.4h of the 78.9h sits on two records named 'test' / 'Warranty Test' — worth clearing out</a:t>
            </a:r>
            <a:endParaRPr lang="en-US" sz="680" dirty="0"/>
          </a:p>
        </p:txBody>
      </p:sp>
      <p:sp>
        <p:nvSpPr>
          <p:cNvPr id="60" name="Shape 58"/>
          <p:cNvSpPr/>
          <p:nvPr/>
        </p:nvSpPr>
        <p:spPr>
          <a:xfrm>
            <a:off x="7178040" y="2395728"/>
            <a:ext cx="4599432" cy="1700784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PS WORK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time to close · since 8 Sep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379208" y="274320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TYPE</a:t>
            </a:r>
            <a:endParaRPr lang="en-US" sz="680" dirty="0"/>
          </a:p>
        </p:txBody>
      </p:sp>
      <p:sp>
        <p:nvSpPr>
          <p:cNvPr id="63" name="Text 61"/>
          <p:cNvSpPr txBox="1"/>
          <p:nvPr/>
        </p:nvSpPr>
        <p:spPr>
          <a:xfrm>
            <a:off x="9326880" y="2743200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8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TTC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7379208" y="292608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800" dirty="0"/>
          </a:p>
        </p:txBody>
      </p:sp>
      <p:sp>
        <p:nvSpPr>
          <p:cNvPr id="66" name="Text 64"/>
          <p:cNvSpPr txBox="1"/>
          <p:nvPr/>
        </p:nvSpPr>
        <p:spPr>
          <a:xfrm>
            <a:off x="9326880" y="292608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353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0" y="292608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0.6 d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11128248" y="2926080"/>
            <a:ext cx="4389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n=31</a:t>
            </a:r>
            <a:endParaRPr lang="en-US" sz="620" dirty="0"/>
          </a:p>
        </p:txBody>
      </p:sp>
      <p:sp>
        <p:nvSpPr>
          <p:cNvPr id="69" name="Text 67"/>
          <p:cNvSpPr txBox="1"/>
          <p:nvPr/>
        </p:nvSpPr>
        <p:spPr>
          <a:xfrm>
            <a:off x="7379208" y="310896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9326880" y="310896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162</a:t>
            </a:r>
            <a:endParaRPr lang="en-US" sz="800" dirty="0"/>
          </a:p>
        </p:txBody>
      </p:sp>
      <p:sp>
        <p:nvSpPr>
          <p:cNvPr id="71" name="Text 69"/>
          <p:cNvSpPr txBox="1"/>
          <p:nvPr/>
        </p:nvSpPr>
        <p:spPr>
          <a:xfrm>
            <a:off x="10149840" y="310896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closes yet</a:t>
            </a:r>
            <a:endParaRPr lang="en-US" sz="800" dirty="0"/>
          </a:p>
        </p:txBody>
      </p:sp>
      <p:sp>
        <p:nvSpPr>
          <p:cNvPr id="72" name="Text 70"/>
          <p:cNvSpPr txBox="1"/>
          <p:nvPr/>
        </p:nvSpPr>
        <p:spPr>
          <a:xfrm>
            <a:off x="11128248" y="3108960"/>
            <a:ext cx="4389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620" dirty="0"/>
          </a:p>
        </p:txBody>
      </p:sp>
      <p:sp>
        <p:nvSpPr>
          <p:cNvPr id="73" name="Text 71"/>
          <p:cNvSpPr txBox="1"/>
          <p:nvPr/>
        </p:nvSpPr>
        <p:spPr>
          <a:xfrm>
            <a:off x="7379208" y="329184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Integrations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9326880" y="32918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122</a:t>
            </a:r>
            <a:endParaRPr lang="en-US" sz="800" dirty="0"/>
          </a:p>
        </p:txBody>
      </p:sp>
      <p:sp>
        <p:nvSpPr>
          <p:cNvPr id="75" name="Text 73"/>
          <p:cNvSpPr txBox="1"/>
          <p:nvPr/>
        </p:nvSpPr>
        <p:spPr>
          <a:xfrm>
            <a:off x="10149840" y="329184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11128248" y="3291840"/>
            <a:ext cx="4389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n=5</a:t>
            </a:r>
            <a:endParaRPr lang="en-US" sz="620" dirty="0"/>
          </a:p>
        </p:txBody>
      </p:sp>
      <p:sp>
        <p:nvSpPr>
          <p:cNvPr id="77" name="Text 75"/>
          <p:cNvSpPr txBox="1"/>
          <p:nvPr/>
        </p:nvSpPr>
        <p:spPr>
          <a:xfrm>
            <a:off x="7379208" y="347472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800" dirty="0"/>
          </a:p>
        </p:txBody>
      </p:sp>
      <p:sp>
        <p:nvSpPr>
          <p:cNvPr id="78" name="Text 76"/>
          <p:cNvSpPr txBox="1"/>
          <p:nvPr/>
        </p:nvSpPr>
        <p:spPr>
          <a:xfrm>
            <a:off x="9326880" y="347472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59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0" y="347472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 d</a:t>
            </a:r>
            <a:endParaRPr lang="en-US" sz="800" dirty="0"/>
          </a:p>
        </p:txBody>
      </p:sp>
      <p:sp>
        <p:nvSpPr>
          <p:cNvPr id="80" name="Text 78"/>
          <p:cNvSpPr txBox="1"/>
          <p:nvPr/>
        </p:nvSpPr>
        <p:spPr>
          <a:xfrm>
            <a:off x="11128248" y="3474720"/>
            <a:ext cx="4389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n=2</a:t>
            </a:r>
            <a:endParaRPr lang="en-US" sz="620" dirty="0"/>
          </a:p>
        </p:txBody>
      </p:sp>
      <p:sp>
        <p:nvSpPr>
          <p:cNvPr id="81" name="Text 79"/>
          <p:cNvSpPr txBox="1"/>
          <p:nvPr/>
        </p:nvSpPr>
        <p:spPr>
          <a:xfrm>
            <a:off x="7379208" y="365760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9326880" y="365760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10149840" y="3657600"/>
            <a:ext cx="9144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&lt;0.1 d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11128248" y="3657600"/>
            <a:ext cx="43891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n=1</a:t>
            </a:r>
            <a:endParaRPr lang="en-US" sz="620" dirty="0"/>
          </a:p>
        </p:txBody>
      </p:sp>
      <p:sp>
        <p:nvSpPr>
          <p:cNvPr id="85" name="Text 83"/>
          <p:cNvSpPr txBox="1"/>
          <p:nvPr/>
        </p:nvSpPr>
        <p:spPr>
          <a:xfrm>
            <a:off x="7379208" y="3858768"/>
            <a:ext cx="41970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Median TTC is measured on tickets created and closed since 8 Sep — all-time medians are unusable because the migration re-dated old closes.</a:t>
            </a:r>
            <a:endParaRPr lang="en-US" sz="550" dirty="0"/>
          </a:p>
        </p:txBody>
      </p:sp>
      <p:sp>
        <p:nvSpPr>
          <p:cNvPr id="86" name="Shape 84"/>
          <p:cNvSpPr/>
          <p:nvPr/>
        </p:nvSpPr>
        <p:spPr>
          <a:xfrm>
            <a:off x="7178040" y="4224528"/>
            <a:ext cx="45994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7" name="Text 85"/>
          <p:cNvSpPr txBox="1"/>
          <p:nvPr/>
        </p:nvSpPr>
        <p:spPr>
          <a:xfrm>
            <a:off x="7379208" y="43342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7379208" y="4645152"/>
            <a:ext cx="4187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is deliberately blank this week.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 logging covers 78.93h on 29 of 8,969 PS records. Computing a percentage on that coverage would fabricate a collapse that isn't real.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takes to switch this back on: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members logging hours on every Professional Services record, plus the 38h/week capacity roster re-based in the new reporting. The number returns automatically as coverage lands.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Demand signal is live meanwhile: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week, concentrated in Tech (40); 131 PS records created. Tech and Onboarding carry almost all the time logged.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Per the design ethos: where a source isn't ready the state is shown honestly — never an estimated utilisation presented as measured.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8456371" y="6510528"/>
            <a:ext cx="332110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456371" y="6510528"/>
            <a:ext cx="33211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PS records (time logging ramping)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now read live from the movement register: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2026-09-21T04:49:26Z</dcterms:created>
  <dcterms:modified xsi:type="dcterms:W3CDTF">2026-09-21T04:49:26Z</dcterms:modified>
</cp:coreProperties>
</file>