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7–13 Sep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Discounts (HW + training)</c:v>
                  </c:pt>
                  <c:pt idx="1">
                    <c:v>Other (fees, deposits)</c:v>
                  </c:pt>
                  <c:pt idx="2">
                    <c:v>S/W Subscriptions</c:v>
                  </c:pt>
                  <c:pt idx="3">
                    <c:v>Training</c:v>
                  </c:pt>
                  <c:pt idx="4">
                    <c:v>Support Travel</c:v>
                  </c:pt>
                  <c:pt idx="5">
                    <c:v>Freight - Customer</c:v>
                  </c:pt>
                  <c:pt idx="6">
                    <c:v>Equipment Repair</c:v>
                  </c:pt>
                  <c:pt idx="7">
                    <c:v>Consumables</c:v>
                  </c:pt>
                  <c:pt idx="8">
                    <c:v>Tech Support</c:v>
                  </c:pt>
                  <c:pt idx="9">
                    <c:v>Commission - Other</c:v>
                  </c:pt>
                  <c:pt idx="10">
                    <c:v>Hardware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-2327</c:v>
                </c:pt>
                <c:pt idx="1">
                  <c:v>-2017.54</c:v>
                </c:pt>
                <c:pt idx="2">
                  <c:v>871</c:v>
                </c:pt>
                <c:pt idx="3">
                  <c:v>4650</c:v>
                </c:pt>
                <c:pt idx="4">
                  <c:v>390</c:v>
                </c:pt>
                <c:pt idx="5">
                  <c:v>1114</c:v>
                </c:pt>
                <c:pt idx="6">
                  <c:v>2275</c:v>
                </c:pt>
                <c:pt idx="7">
                  <c:v>3729.1</c:v>
                </c:pt>
                <c:pt idx="8">
                  <c:v>2362.5</c:v>
                </c:pt>
                <c:pt idx="9">
                  <c:v>77870.97</c:v>
                </c:pt>
                <c:pt idx="10">
                  <c:v>38478.75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14–20 Sep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Discounts (HW + training)</c:v>
                  </c:pt>
                  <c:pt idx="1">
                    <c:v>Other (fees, deposits)</c:v>
                  </c:pt>
                  <c:pt idx="2">
                    <c:v>S/W Subscriptions</c:v>
                  </c:pt>
                  <c:pt idx="3">
                    <c:v>Training</c:v>
                  </c:pt>
                  <c:pt idx="4">
                    <c:v>Support Travel</c:v>
                  </c:pt>
                  <c:pt idx="5">
                    <c:v>Freight - Customer</c:v>
                  </c:pt>
                  <c:pt idx="6">
                    <c:v>Equipment Repair</c:v>
                  </c:pt>
                  <c:pt idx="7">
                    <c:v>Consumables</c:v>
                  </c:pt>
                  <c:pt idx="8">
                    <c:v>Tech Support</c:v>
                  </c:pt>
                  <c:pt idx="9">
                    <c:v>Commission - Other</c:v>
                  </c:pt>
                  <c:pt idx="10">
                    <c:v>Hardware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-10194.5</c:v>
                </c:pt>
                <c:pt idx="1">
                  <c:v>-15</c:v>
                </c:pt>
                <c:pt idx="2">
                  <c:v>-148</c:v>
                </c:pt>
                <c:pt idx="3">
                  <c:v>0</c:v>
                </c:pt>
                <c:pt idx="4">
                  <c:v>240</c:v>
                </c:pt>
                <c:pt idx="5">
                  <c:v>969.5</c:v>
                </c:pt>
                <c:pt idx="6">
                  <c:v>1315</c:v>
                </c:pt>
                <c:pt idx="7">
                  <c:v>1710.5</c:v>
                </c:pt>
                <c:pt idx="8">
                  <c:v>2812.5</c:v>
                </c:pt>
                <c:pt idx="9">
                  <c:v>37017.7</c:v>
                </c:pt>
                <c:pt idx="10">
                  <c:v>37636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MRR (net new + expansion + ValPay)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$#,##0,&quot;k&quot;;$#,##0,&quot;k&quot;" sourceLinked="0"/>
            <c:txPr>
              <a:bodyPr/>
              <a:lstStyle/>
              <a:p>
                <a:pPr>
                  <a:defRPr b="0" i="0" strike="noStrike" sz="58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5433</c:v>
                </c:pt>
                <c:pt idx="1">
                  <c:v>5205</c:v>
                </c:pt>
                <c:pt idx="2">
                  <c:v>7434</c:v>
                </c:pt>
                <c:pt idx="3">
                  <c:v>3957</c:v>
                </c:pt>
                <c:pt idx="4">
                  <c:v>8550</c:v>
                </c:pt>
                <c:pt idx="5">
                  <c:v>9159</c:v>
                </c:pt>
                <c:pt idx="6">
                  <c:v>5443</c:v>
                </c:pt>
                <c:pt idx="7">
                  <c:v>4510</c:v>
                </c:pt>
                <c:pt idx="8">
                  <c:v>3946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Churn + contraction</c:v>
                </c:pt>
              </c:strCache>
            </c:strRef>
          </c:tx>
          <c:spPr>
            <a:solidFill>
              <a:srgbClr val="B4552D"/>
            </a:solidFill>
            <a:effectLst/>
          </c:spPr>
          <c:invertIfNegative val="0"/>
          <c:dLbls>
            <c:numFmt formatCode="$#,##0,&quot;k&quot;;$#,##0,&quot;k&quot;" sourceLinked="0"/>
            <c:txPr>
              <a:bodyPr/>
              <a:lstStyle/>
              <a:p>
                <a:pPr>
                  <a:defRPr b="0" i="0" strike="noStrike" sz="58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-12639</c:v>
                </c:pt>
                <c:pt idx="1">
                  <c:v>-5254</c:v>
                </c:pt>
                <c:pt idx="2">
                  <c:v>-3409</c:v>
                </c:pt>
                <c:pt idx="3">
                  <c:v>-1304</c:v>
                </c:pt>
                <c:pt idx="4">
                  <c:v>-4714</c:v>
                </c:pt>
                <c:pt idx="5">
                  <c:v>-4807</c:v>
                </c:pt>
                <c:pt idx="6">
                  <c:v>-6947</c:v>
                </c:pt>
                <c:pt idx="7">
                  <c:v>-5649</c:v>
                </c:pt>
                <c:pt idx="8">
                  <c:v>-2569</c:v>
                </c:pt>
              </c:numCache>
            </c:numRef>
          </c:val>
        </c:ser>
        <c:dLbls>
          <c:numFmt formatCode="$#,##0,&quot;k&quot;;$#,##0,&quot;k&quot;" sourceLinked="0"/>
          <c:txPr>
            <a:bodyPr/>
            <a:lstStyle/>
            <a:p>
              <a:pPr>
                <a:defRPr b="0" i="0" strike="noStrike" sz="58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Revenue — weekly extract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week invoiced $71k (HW $38k gross, discounts -$10k); new-MRR register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46 deals · $161k (HubSpot); Q3 pipe $335k unweighted / $123k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Revenue — Weekly Extract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· Sysnet weekly sales export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INVOICED — THIS WEEK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$71.3k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14–20 Sep · prior week $127.4k (7–13 Sep)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GROSS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$37.6k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commissionable · 53% of the week's invoicing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-$10.2k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· prior week -$2.3k — nets hardware to $27.4k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 &amp; OTHER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$37.0k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$31.1k · National $5.9k — not commissionable hardware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557784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WEEK'S INVOICING CAME FROM</a:t>
            </a:r>
            <a:endParaRPr lang="en-US" sz="12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594360" y="2816352"/>
          <a:ext cx="519379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Text 29"/>
          <p:cNvSpPr txBox="1"/>
          <p:nvPr/>
        </p:nvSpPr>
        <p:spPr>
          <a:xfrm>
            <a:off x="594360" y="55778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 Amount, ex GST · 'National' = unattributed/company-level lines (mostly commission)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6126480" y="2395728"/>
            <a:ext cx="2651760" cy="35661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327648" y="2505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ACCOUNT MANAGER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285292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7223760" y="285292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WK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7955280" y="28529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PRIOR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6309360" y="3429000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309360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7223760" y="309067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$37k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955280" y="30906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309360" y="3813048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6309360" y="34747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7223760" y="3474720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$20k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7955280" y="3474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$15k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309360" y="4197096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09360" y="38587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National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7223760" y="385876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7955280" y="385876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$76k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6309360" y="4581144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309360" y="42428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52" name="Text 49"/>
          <p:cNvSpPr txBox="1"/>
          <p:nvPr/>
        </p:nvSpPr>
        <p:spPr>
          <a:xfrm>
            <a:off x="7223760" y="42428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7955280" y="42428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309360" y="4965192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6309360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7223760" y="4626864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7955280" y="462686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$23k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6309360" y="5349240"/>
            <a:ext cx="228600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309360" y="50109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7223760" y="5010912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501091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309360" y="5385816"/>
            <a:ext cx="2286000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6309360" y="54315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7223760" y="5431536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$71.3k</a:t>
            </a:r>
            <a:endParaRPr lang="en-US" sz="850" dirty="0"/>
          </a:p>
        </p:txBody>
      </p:sp>
      <p:sp>
        <p:nvSpPr>
          <p:cNvPr id="65" name="Text 62"/>
          <p:cNvSpPr txBox="1"/>
          <p:nvPr/>
        </p:nvSpPr>
        <p:spPr>
          <a:xfrm>
            <a:off x="7955280" y="54315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$127.4k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8961120" y="2395728"/>
            <a:ext cx="2816352" cy="35661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4"/>
          <p:cNvSpPr txBox="1"/>
          <p:nvPr/>
        </p:nvSpPr>
        <p:spPr>
          <a:xfrm>
            <a:off x="9162288" y="2505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9162288" y="2816352"/>
            <a:ext cx="24048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week invoiced $71.3k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$127.4k the week before — but the drop is mix, not collapse: last week carried $77.9k of commission, this week $37.0k.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held up at $37.6k gross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(vs $38.5k) — the commissionable line is flat week on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Discounting is the watch item: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-$10.2k this week vs -$2.3k prior, almost all on Jasmine's hardware.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 billed nothing this week (vs $4.7k) · S/W subscriptions net -$148 on credits.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8767267" y="6510528"/>
            <a:ext cx="3010205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767267" y="6510528"/>
            <a:ext cx="30102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weekly sales export (Finance)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identification register live · ValPay export as at 6 Sep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10 already referred on — register, live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39% of all wins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393192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  </a:t>
            </a:r>
            <a:pPr indent="0" marL="0">
              <a:buNone/>
            </a:pPr>
            <a:r>
              <a:rPr lang="en-US" sz="6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 · 6 Sep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816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2816352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28163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3520440" y="281635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12648" y="3438144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3054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377440" y="305409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017520" y="3054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3520440" y="305409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2648" y="3867912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4838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377440" y="348386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017520" y="34838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3520440" y="348386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" y="4297680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39136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2377440" y="391363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3017520" y="3913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3520440" y="391363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" y="4727448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2648" y="434340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377440" y="434340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3017520" y="4343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3520440" y="434340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12648" y="5157216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12648" y="47731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377440" y="477316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3017520" y="477316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520440" y="477316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" y="5586984"/>
            <a:ext cx="352958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520293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377440" y="520293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3017520" y="52029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3520440" y="520293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26280" y="2395728"/>
            <a:ext cx="374904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4727448" y="2505456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REGISTER  </a:t>
            </a:r>
            <a:pPr indent="0" marL="0">
              <a:buNone/>
            </a:pPr>
            <a:r>
              <a:rPr lang="en-US" sz="65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owns · live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727448" y="2724912"/>
            <a:ext cx="3346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H&amp;L flags before the referral is given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4727448" y="29443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MANAGER</a:t>
            </a:r>
            <a:endParaRPr lang="en-US" sz="7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294436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7360920" y="29443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700" dirty="0"/>
          </a:p>
        </p:txBody>
      </p:sp>
      <p:sp>
        <p:nvSpPr>
          <p:cNvPr id="71" name="Text 69"/>
          <p:cNvSpPr txBox="1"/>
          <p:nvPr/>
        </p:nvSpPr>
        <p:spPr>
          <a:xfrm>
            <a:off x="4727448" y="32004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438144"/>
            <a:ext cx="2377440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73" name="Shape 71"/>
          <p:cNvSpPr/>
          <p:nvPr/>
        </p:nvSpPr>
        <p:spPr>
          <a:xfrm>
            <a:off x="4727448" y="3438144"/>
            <a:ext cx="731520" cy="9144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217920" y="320040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7360920" y="32004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4727448" y="36758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727448" y="3913632"/>
            <a:ext cx="2011680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78" name="Shape 76"/>
          <p:cNvSpPr/>
          <p:nvPr/>
        </p:nvSpPr>
        <p:spPr>
          <a:xfrm>
            <a:off x="4727448" y="3913632"/>
            <a:ext cx="731520" cy="9144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217920" y="367588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7360920" y="3675888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4727448" y="41513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727448" y="4389120"/>
            <a:ext cx="1097280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83" name="Shape 81"/>
          <p:cNvSpPr/>
          <p:nvPr/>
        </p:nvSpPr>
        <p:spPr>
          <a:xfrm>
            <a:off x="4727448" y="4389120"/>
            <a:ext cx="365760" cy="9144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217920" y="415137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360920" y="4151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4727448" y="46268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727448" y="4864608"/>
            <a:ext cx="731520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88" name="Shape 86"/>
          <p:cNvSpPr/>
          <p:nvPr/>
        </p:nvSpPr>
        <p:spPr>
          <a:xfrm>
            <a:off x="4727448" y="4864608"/>
            <a:ext cx="27432" cy="91440"/>
          </a:xfrm>
          <a:prstGeom prst="roundRect">
            <a:avLst>
              <a:gd name="adj" fmla="val 133333"/>
            </a:avLst>
          </a:prstGeom>
          <a:solidFill>
            <a:srgbClr val="3D8F5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217920" y="46268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7360920" y="4626864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4727448" y="5138928"/>
            <a:ext cx="3346704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727448" y="519379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THEY WERE IDENTIFIED</a:t>
            </a:r>
            <a:endParaRPr lang="en-US" sz="700" dirty="0"/>
          </a:p>
        </p:txBody>
      </p:sp>
      <p:sp>
        <p:nvSpPr>
          <p:cNvPr id="93" name="Text 91"/>
          <p:cNvSpPr txBox="1"/>
          <p:nvPr/>
        </p:nvSpPr>
        <p:spPr>
          <a:xfrm>
            <a:off x="4727448" y="54315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5257800" y="5495544"/>
            <a:ext cx="2194560" cy="118872"/>
          </a:xfrm>
          <a:prstGeom prst="roundRect">
            <a:avLst>
              <a:gd name="adj" fmla="val 38462"/>
            </a:avLst>
          </a:prstGeom>
          <a:solidFill>
            <a:srgbClr val="2C8394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7543800" y="543153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4727448" y="57058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5257800" y="5769864"/>
            <a:ext cx="858741" cy="118872"/>
          </a:xfrm>
          <a:prstGeom prst="roundRect">
            <a:avLst>
              <a:gd name="adj" fmla="val 38462"/>
            </a:avLst>
          </a:prstGeom>
          <a:solidFill>
            <a:srgbClr val="2C839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7543800" y="570585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8458200" y="2395728"/>
            <a:ext cx="3319272" cy="35661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0" name="Text 98"/>
          <p:cNvSpPr txBox="1"/>
          <p:nvPr/>
        </p:nvSpPr>
        <p:spPr>
          <a:xfrm>
            <a:off x="8659368" y="2505456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8659368" y="2816352"/>
            <a:ext cx="29077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→ 14 wins worth $38M GMV — 39% of everything H&amp;L Pay has signed — with $245M more in negotiation.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front of the funnel is now tracked: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identified by H&amp;L (32 unique venues), but only 10 have been referred on — the conversion from "identified" to "referred" is the gap to close.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 and Bradford are doing the identifying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(13 and 11); Bjorn has flagged 4 and referred none. Widening the referrer base remains the lever.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 side is one export behind: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GMV, wins and open pipeline are as at the 6 Sep partner export — the weekly drop is still pending.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rows carry out-of-range identification dates (2027, 2036) — treated as keying errors, counted once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$339k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 open deals with a Q3 close date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$125k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$810k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89.9%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248 won / 28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1828800" y="1371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20 new · $62k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1371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46 won · $161k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2395728"/>
            <a:ext cx="7726680" cy="3986784"/>
          </a:xfrm>
          <a:prstGeom prst="roundRect">
            <a:avLst>
              <a:gd name="adj" fmla="val 1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487168"/>
            <a:ext cx="7324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MEMBER — Q3 PIPELINE HELD &amp; THIS WEEK'S MOVEMENT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706624"/>
            <a:ext cx="7324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/ WON / LOST read live from HubSpot for 14–20 Sep · RESIZE returns once two weekly snapshots exist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1554480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 </a:t>
            </a:r>
            <a:pPr indent="0" marL="0">
              <a:buNone/>
            </a:pPr>
            <a:r>
              <a:rPr lang="en-US" sz="7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unweighted / </a:t>
            </a:r>
            <a:pPr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▉ weighted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4416552" y="292608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5394960" y="292608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✓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6373368" y="292608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2926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Δ*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12648" y="349758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63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554480" y="3236976"/>
            <a:ext cx="1645920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4480" y="3364992"/>
            <a:ext cx="738083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264408" y="31638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$118k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$53k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416552" y="31638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· $42k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394960" y="31638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$4k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373368" y="31638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$6k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60920" y="31638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+32k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12648" y="386334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35295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554480" y="3602736"/>
            <a:ext cx="1131108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54" name="Shape 52"/>
          <p:cNvSpPr/>
          <p:nvPr/>
        </p:nvSpPr>
        <p:spPr>
          <a:xfrm>
            <a:off x="1554480" y="3730752"/>
            <a:ext cx="339328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264408" y="352958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$81k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$24k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416552" y="35295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394960" y="35295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$2k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373368" y="35295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7360920" y="3529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−2k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" y="422910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38953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1554480" y="3968496"/>
            <a:ext cx="821514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63" name="Shape 61"/>
          <p:cNvSpPr/>
          <p:nvPr/>
        </p:nvSpPr>
        <p:spPr>
          <a:xfrm>
            <a:off x="1554480" y="4096512"/>
            <a:ext cx="317433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264408" y="389534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$59k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4416552" y="38953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$17k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5394960" y="38953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· $144k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6373368" y="38953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$1k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7360920" y="38953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−128k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12648" y="459486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12648" y="42611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554480" y="4334256"/>
            <a:ext cx="368378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72" name="Shape 70"/>
          <p:cNvSpPr/>
          <p:nvPr/>
        </p:nvSpPr>
        <p:spPr>
          <a:xfrm>
            <a:off x="1554480" y="4462272"/>
            <a:ext cx="109295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264408" y="426110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$8k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4416552" y="426110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$0k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5394960" y="426110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· $5k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6373368" y="426110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$0k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7360920" y="42611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−6k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12648" y="496062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" y="4626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Kent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554480" y="4700016"/>
            <a:ext cx="366910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81" name="Shape 79"/>
          <p:cNvSpPr/>
          <p:nvPr/>
        </p:nvSpPr>
        <p:spPr>
          <a:xfrm>
            <a:off x="1554480" y="4828032"/>
            <a:ext cx="110077" cy="100584"/>
          </a:xfrm>
          <a:prstGeom prst="roundRect">
            <a:avLst>
              <a:gd name="adj" fmla="val 40909"/>
            </a:avLst>
          </a:prstGeom>
          <a:solidFill>
            <a:srgbClr val="3D8F5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3264408" y="462686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$8k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416552" y="462686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$2k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394960" y="462686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6373368" y="462686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7360920" y="46268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12648" y="532638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12648" y="49926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1554480" y="5065776"/>
            <a:ext cx="163034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0" name="Shape 88"/>
          <p:cNvSpPr/>
          <p:nvPr/>
        </p:nvSpPr>
        <p:spPr>
          <a:xfrm>
            <a:off x="1554480" y="5193792"/>
            <a:ext cx="48905" cy="100584"/>
          </a:xfrm>
          <a:prstGeom prst="roundRect">
            <a:avLst>
              <a:gd name="adj" fmla="val 84139"/>
            </a:avLst>
          </a:prstGeom>
          <a:solidFill>
            <a:srgbClr val="3D8F5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3264408" y="499262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$4k</a:t>
            </a:r>
            <a:endParaRPr lang="en-US" sz="850" dirty="0"/>
          </a:p>
        </p:txBody>
      </p:sp>
      <p:sp>
        <p:nvSpPr>
          <p:cNvPr id="92" name="Text 90"/>
          <p:cNvSpPr txBox="1"/>
          <p:nvPr/>
        </p:nvSpPr>
        <p:spPr>
          <a:xfrm>
            <a:off x="4416552" y="49926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5394960" y="49926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6373368" y="499262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5" name="Text 93"/>
          <p:cNvSpPr txBox="1"/>
          <p:nvPr/>
        </p:nvSpPr>
        <p:spPr>
          <a:xfrm>
            <a:off x="7360920" y="4992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12648" y="569214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12648" y="53583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554480" y="5431536"/>
            <a:ext cx="150528" cy="100584"/>
          </a:xfrm>
          <a:prstGeom prst="roundRect">
            <a:avLst>
              <a:gd name="adj" fmla="val 40909"/>
            </a:avLst>
          </a:prstGeom>
          <a:solidFill>
            <a:srgbClr val="2C8394"/>
          </a:solidFill>
          <a:ln/>
        </p:spPr>
      </p:sp>
      <p:sp>
        <p:nvSpPr>
          <p:cNvPr id="99" name="Shape 97"/>
          <p:cNvSpPr/>
          <p:nvPr/>
        </p:nvSpPr>
        <p:spPr>
          <a:xfrm>
            <a:off x="1554480" y="5559552"/>
            <a:ext cx="45160" cy="100584"/>
          </a:xfrm>
          <a:prstGeom prst="roundRect">
            <a:avLst>
              <a:gd name="adj" fmla="val 91116"/>
            </a:avLst>
          </a:prstGeom>
          <a:solidFill>
            <a:srgbClr val="3D8F5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264408" y="535838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$3k</a:t>
            </a:r>
            <a:endParaRPr lang="en-US" sz="850" dirty="0"/>
          </a:p>
        </p:txBody>
      </p:sp>
      <p:sp>
        <p:nvSpPr>
          <p:cNvPr id="101" name="Text 99"/>
          <p:cNvSpPr txBox="1"/>
          <p:nvPr/>
        </p:nvSpPr>
        <p:spPr>
          <a:xfrm>
            <a:off x="4416552" y="53583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5394960" y="53583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· $5k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6373368" y="535838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$2k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7360920" y="53583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−6k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12648" y="6057900"/>
            <a:ext cx="732434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612648" y="57241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1554480" y="5797296"/>
            <a:ext cx="85471" cy="100584"/>
          </a:xfrm>
          <a:prstGeom prst="roundRect">
            <a:avLst>
              <a:gd name="adj" fmla="val 48143"/>
            </a:avLst>
          </a:prstGeom>
          <a:solidFill>
            <a:srgbClr val="2C839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554480" y="5925312"/>
            <a:ext cx="27432" cy="100584"/>
          </a:xfrm>
          <a:prstGeom prst="roundRect">
            <a:avLst>
              <a:gd name="adj" fmla="val 150000"/>
            </a:avLst>
          </a:prstGeom>
          <a:solidFill>
            <a:srgbClr val="3D8F5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3264408" y="5724144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$2k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4416552" y="57241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$1k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5394960" y="57241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$1k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6373368" y="5724144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· $15k</a:t>
            </a:r>
            <a:endParaRPr lang="en-US" sz="800" dirty="0"/>
          </a:p>
        </p:txBody>
      </p:sp>
      <p:sp>
        <p:nvSpPr>
          <p:cNvPr id="113" name="Text 111"/>
          <p:cNvSpPr txBox="1"/>
          <p:nvPr/>
        </p:nvSpPr>
        <p:spPr>
          <a:xfrm>
            <a:off x="7360920" y="57241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−16k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612648" y="6089904"/>
            <a:ext cx="732434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12648" y="6144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3264408" y="614476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$339k</a:t>
            </a:r>
            <a:pPr algn="r" indent="0" marL="0">
              <a:buNone/>
            </a:pPr>
            <a:r>
              <a:rPr lang="en-US" sz="80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$125k</a:t>
            </a:r>
            <a:endParaRPr lang="en-US" sz="850" dirty="0"/>
          </a:p>
        </p:txBody>
      </p:sp>
      <p:sp>
        <p:nvSpPr>
          <p:cNvPr id="117" name="Text 115"/>
          <p:cNvSpPr txBox="1"/>
          <p:nvPr/>
        </p:nvSpPr>
        <p:spPr>
          <a:xfrm>
            <a:off x="4416552" y="6144768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· $62k</a:t>
            </a:r>
            <a:endParaRPr lang="en-US" sz="800" dirty="0"/>
          </a:p>
        </p:txBody>
      </p:sp>
      <p:sp>
        <p:nvSpPr>
          <p:cNvPr id="118" name="Text 116"/>
          <p:cNvSpPr txBox="1"/>
          <p:nvPr/>
        </p:nvSpPr>
        <p:spPr>
          <a:xfrm>
            <a:off x="5394960" y="6144768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· $161k</a:t>
            </a:r>
            <a:endParaRPr lang="en-US" sz="800" dirty="0"/>
          </a:p>
        </p:txBody>
      </p:sp>
      <p:sp>
        <p:nvSpPr>
          <p:cNvPr id="119" name="Text 117"/>
          <p:cNvSpPr txBox="1"/>
          <p:nvPr/>
        </p:nvSpPr>
        <p:spPr>
          <a:xfrm>
            <a:off x="6373368" y="6144768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· $24k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7360920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−124k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12648" y="6455664"/>
            <a:ext cx="7324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leaves the open pipeline — the goal, not a loss.  *NET Δ = new − won − lost; resize is not yet measurable (first weekly HubSpot snapshot taken this week), so it does not fully reconcile to the change in pipeline held.  + 2 deals ($715) held by other owners, included in totals</a:t>
            </a:r>
            <a:endParaRPr lang="en-US" sz="680" dirty="0"/>
          </a:p>
        </p:txBody>
      </p:sp>
      <p:sp>
        <p:nvSpPr>
          <p:cNvPr id="122" name="Shape 120"/>
          <p:cNvSpPr/>
          <p:nvPr/>
        </p:nvSpPr>
        <p:spPr>
          <a:xfrm>
            <a:off x="8321040" y="2395728"/>
            <a:ext cx="3456432" cy="3986784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3" name="Text 121"/>
          <p:cNvSpPr txBox="1"/>
          <p:nvPr/>
        </p:nvSpPr>
        <p:spPr>
          <a:xfrm>
            <a:off x="8522208" y="2505456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8522208" y="2816352"/>
            <a:ext cx="3044952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converted the week: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worth $144k — 89% of all closed-won value this week, and the reason the member NET Δ reads negative.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is rebuilding cover: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new Q3-dated deals worth $42k, the only member adding materially to the open book.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is the watch item: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lost ($15k) against 2 won ($1k) — worth a pipeline review.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measure. Only 172 open deals ($360k) carry no close date, down from 1,678 in Creatio.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31.8% / 38%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 reading · week of 2026-08-30 — frozen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69.4%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hours vs capacity · 80% target — frozen at cutover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ENGAGEMENTS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131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Professional Services records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ON PS RECORDS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78.93h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records carry time since 8 Sep · ~12% of this week's engagements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7498080" cy="3986784"/>
          </a:xfrm>
          <a:prstGeom prst="roundRect">
            <a:avLst>
              <a:gd name="adj" fmla="val 1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HOURS GO — AVAILABLE VS UTILISED, MONTHLY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67335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67335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1,216h avail</a:t>
            </a:r>
            <a:endParaRPr lang="en-US" sz="600" dirty="0"/>
          </a:p>
        </p:txBody>
      </p:sp>
      <p:sp>
        <p:nvSpPr>
          <p:cNvPr id="35" name="Text 33"/>
          <p:cNvSpPr txBox="1"/>
          <p:nvPr/>
        </p:nvSpPr>
        <p:spPr>
          <a:xfrm>
            <a:off x="240487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240487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988h avail</a:t>
            </a:r>
            <a:endParaRPr lang="en-US" sz="600" dirty="0"/>
          </a:p>
        </p:txBody>
      </p:sp>
      <p:sp>
        <p:nvSpPr>
          <p:cNvPr id="37" name="Text 35"/>
          <p:cNvSpPr txBox="1"/>
          <p:nvPr/>
        </p:nvSpPr>
        <p:spPr>
          <a:xfrm>
            <a:off x="313639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13639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1,102h avail</a:t>
            </a:r>
            <a:endParaRPr lang="en-US" sz="600" dirty="0"/>
          </a:p>
        </p:txBody>
      </p:sp>
      <p:sp>
        <p:nvSpPr>
          <p:cNvPr id="39" name="Text 37"/>
          <p:cNvSpPr txBox="1"/>
          <p:nvPr/>
        </p:nvSpPr>
        <p:spPr>
          <a:xfrm>
            <a:off x="386791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386791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1,482h avail</a:t>
            </a:r>
            <a:endParaRPr lang="en-US" sz="600" dirty="0"/>
          </a:p>
        </p:txBody>
      </p:sp>
      <p:sp>
        <p:nvSpPr>
          <p:cNvPr id="41" name="Text 39"/>
          <p:cNvSpPr txBox="1"/>
          <p:nvPr/>
        </p:nvSpPr>
        <p:spPr>
          <a:xfrm>
            <a:off x="459943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459943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1,064h avail</a:t>
            </a:r>
            <a:endParaRPr lang="en-US" sz="600" dirty="0"/>
          </a:p>
        </p:txBody>
      </p:sp>
      <p:sp>
        <p:nvSpPr>
          <p:cNvPr id="43" name="Text 41"/>
          <p:cNvSpPr txBox="1"/>
          <p:nvPr/>
        </p:nvSpPr>
        <p:spPr>
          <a:xfrm>
            <a:off x="5330952" y="2980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Sep*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330952" y="316382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228h avail</a:t>
            </a:r>
            <a:endParaRPr lang="en-US" sz="600" dirty="0"/>
          </a:p>
        </p:txBody>
      </p:sp>
      <p:sp>
        <p:nvSpPr>
          <p:cNvPr id="45" name="Text 43"/>
          <p:cNvSpPr txBox="1"/>
          <p:nvPr/>
        </p:nvSpPr>
        <p:spPr>
          <a:xfrm>
            <a:off x="1673352" y="279806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 AT 4 SEP EXTRACT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2798064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7" name="Text 45"/>
          <p:cNvSpPr txBox="1"/>
          <p:nvPr/>
        </p:nvSpPr>
        <p:spPr>
          <a:xfrm>
            <a:off x="612648" y="3364992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691640" y="3383280"/>
            <a:ext cx="694944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67335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423160" y="3383280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40487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229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4680" y="3383280"/>
            <a:ext cx="694944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13639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886200" y="3383280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86791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254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4617720" y="3383280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59943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225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349240" y="338328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330952" y="336499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612648" y="3630168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691640" y="3648456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67335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148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2423160" y="3648456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40487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154680" y="3648456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3639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174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886200" y="3648456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86791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198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617720" y="3648456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59943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5349240" y="364845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330952" y="363016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</a:t>
            </a:r>
            <a:endParaRPr lang="en-US" sz="700" dirty="0"/>
          </a:p>
        </p:txBody>
      </p:sp>
      <p:sp>
        <p:nvSpPr>
          <p:cNvPr id="73" name="Text 71"/>
          <p:cNvSpPr txBox="1"/>
          <p:nvPr/>
        </p:nvSpPr>
        <p:spPr>
          <a:xfrm>
            <a:off x="612648" y="3895344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1691640" y="3913632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67335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134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423160" y="3913632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240487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154680" y="3913632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13639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124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3886200" y="3913632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6791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4617720" y="3913632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59943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5349240" y="3913632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330952" y="389534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160520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Travel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1691640" y="4178808"/>
            <a:ext cx="694944" cy="219456"/>
          </a:xfrm>
          <a:prstGeom prst="rect">
            <a:avLst/>
          </a:prstGeom>
          <a:solidFill>
            <a:srgbClr val="7FB8C4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67335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177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2423160" y="4178808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240487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3154680" y="4178808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13639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3886200" y="4178808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86791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4617720" y="4178808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459943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5349240" y="4178808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30952" y="4160520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612648" y="4425696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691640" y="4443984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67335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2423160" y="4443984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240487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3154680" y="4443984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13639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3886200" y="4443984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386791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617720" y="4443984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459943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5349240" y="4443984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5330952" y="4425696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700" dirty="0"/>
          </a:p>
        </p:txBody>
      </p:sp>
      <p:sp>
        <p:nvSpPr>
          <p:cNvPr id="112" name="Text 110"/>
          <p:cNvSpPr txBox="1"/>
          <p:nvPr/>
        </p:nvSpPr>
        <p:spPr>
          <a:xfrm>
            <a:off x="612648" y="4690872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1691640" y="470916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67335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2423160" y="470916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40487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154680" y="4709160"/>
            <a:ext cx="694944" cy="219456"/>
          </a:xfrm>
          <a:prstGeom prst="rect">
            <a:avLst/>
          </a:prstGeom>
          <a:solidFill>
            <a:srgbClr val="B9D8D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3886200" y="470916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86791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4617720" y="470916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459943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5349240" y="4709160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5330952" y="4690872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125" name="Text 123"/>
          <p:cNvSpPr txBox="1"/>
          <p:nvPr/>
        </p:nvSpPr>
        <p:spPr>
          <a:xfrm>
            <a:off x="612648" y="4956048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69164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67335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242316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240487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315468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313639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388620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386791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461772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59943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5349240" y="4974336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5330952" y="4956048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138" name="Text 136"/>
          <p:cNvSpPr txBox="1"/>
          <p:nvPr/>
        </p:nvSpPr>
        <p:spPr>
          <a:xfrm>
            <a:off x="612648" y="5221224"/>
            <a:ext cx="960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1691640" y="5239512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167335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2423160" y="5239512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240487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700" dirty="0"/>
          </a:p>
        </p:txBody>
      </p:sp>
      <p:sp>
        <p:nvSpPr>
          <p:cNvPr id="143" name="Shape 141"/>
          <p:cNvSpPr/>
          <p:nvPr/>
        </p:nvSpPr>
        <p:spPr>
          <a:xfrm>
            <a:off x="3154680" y="5239512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313639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3886200" y="5239512"/>
            <a:ext cx="694944" cy="219456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386791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4617720" y="5239512"/>
            <a:ext cx="694944" cy="219456"/>
          </a:xfrm>
          <a:prstGeom prst="rect">
            <a:avLst/>
          </a:prstGeom>
          <a:solidFill>
            <a:srgbClr val="E4F1F4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459943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5349240" y="5239512"/>
            <a:ext cx="694944" cy="219456"/>
          </a:xfrm>
          <a:prstGeom prst="rect">
            <a:avLst/>
          </a:prstGeom>
          <a:solidFill>
            <a:srgbClr val="F4F8FA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330952" y="5221224"/>
            <a:ext cx="731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700" dirty="0"/>
          </a:p>
        </p:txBody>
      </p:sp>
      <p:sp>
        <p:nvSpPr>
          <p:cNvPr id="151" name="Text 149"/>
          <p:cNvSpPr txBox="1"/>
          <p:nvPr/>
        </p:nvSpPr>
        <p:spPr>
          <a:xfrm>
            <a:off x="612648" y="55595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VS AVAILABLE
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billed / % used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172821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728216" y="5596128"/>
            <a:ext cx="460126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728216" y="5596128"/>
            <a:ext cx="105705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167335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74%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45973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2459736" y="5596128"/>
            <a:ext cx="404165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2459736" y="5596128"/>
            <a:ext cx="167884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40487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65%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19125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191256" y="5596128"/>
            <a:ext cx="516087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3191256" y="5596128"/>
            <a:ext cx="267371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313639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83%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392277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3922776" y="5596128"/>
            <a:ext cx="379293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3922776" y="5596128"/>
            <a:ext cx="198973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386791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61%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465429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654296" y="5596128"/>
            <a:ext cx="391729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654296" y="5596128"/>
            <a:ext cx="167884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59943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63%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5385816" y="5596128"/>
            <a:ext cx="621792" cy="91440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385816" y="5596128"/>
            <a:ext cx="429036" cy="91440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385816" y="5596128"/>
            <a:ext cx="198973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5330952" y="57058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algn="ctr" indent="0" marL="0">
              <a:buNone/>
            </a:pPr>
            <a:r>
              <a:rPr lang="en-US" sz="7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69%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6217920" y="2944368"/>
            <a:ext cx="20117" cy="298094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33872" y="2414016"/>
            <a:ext cx="804672" cy="182880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5833872" y="2414016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580" dirty="0"/>
          </a:p>
        </p:txBody>
      </p:sp>
      <p:sp>
        <p:nvSpPr>
          <p:cNvPr id="179" name="Text 177"/>
          <p:cNvSpPr txBox="1"/>
          <p:nvPr/>
        </p:nvSpPr>
        <p:spPr>
          <a:xfrm>
            <a:off x="6400800" y="336499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PS RECORDS</a:t>
            </a:r>
            <a:endParaRPr lang="en-US" sz="680" dirty="0"/>
          </a:p>
        </p:txBody>
      </p:sp>
      <p:sp>
        <p:nvSpPr>
          <p:cNvPr id="180" name="Text 178"/>
          <p:cNvSpPr txBox="1"/>
          <p:nvPr/>
        </p:nvSpPr>
        <p:spPr>
          <a:xfrm>
            <a:off x="6400800" y="3657600"/>
            <a:ext cx="714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w/c 07 Sep</a:t>
            </a:r>
            <a:endParaRPr lang="en-US" sz="700" dirty="0"/>
          </a:p>
        </p:txBody>
      </p:sp>
      <p:sp>
        <p:nvSpPr>
          <p:cNvPr id="181" name="Text 179"/>
          <p:cNvSpPr txBox="1"/>
          <p:nvPr/>
        </p:nvSpPr>
        <p:spPr>
          <a:xfrm>
            <a:off x="7050024" y="3657600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46.42h</a:t>
            </a:r>
            <a:endParaRPr lang="en-US" sz="850" dirty="0"/>
          </a:p>
        </p:txBody>
      </p:sp>
      <p:sp>
        <p:nvSpPr>
          <p:cNvPr id="182" name="Text 180"/>
          <p:cNvSpPr txBox="1"/>
          <p:nvPr/>
        </p:nvSpPr>
        <p:spPr>
          <a:xfrm>
            <a:off x="6400800" y="3813048"/>
            <a:ext cx="1298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records</a:t>
            </a:r>
            <a:endParaRPr lang="en-US" sz="580" dirty="0"/>
          </a:p>
        </p:txBody>
      </p:sp>
      <p:sp>
        <p:nvSpPr>
          <p:cNvPr id="183" name="Text 181"/>
          <p:cNvSpPr txBox="1"/>
          <p:nvPr/>
        </p:nvSpPr>
        <p:spPr>
          <a:xfrm>
            <a:off x="6400800" y="3968496"/>
            <a:ext cx="714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w/c 14 Sep</a:t>
            </a:r>
            <a:endParaRPr lang="en-US" sz="700" dirty="0"/>
          </a:p>
        </p:txBody>
      </p:sp>
      <p:sp>
        <p:nvSpPr>
          <p:cNvPr id="184" name="Text 182"/>
          <p:cNvSpPr txBox="1"/>
          <p:nvPr/>
        </p:nvSpPr>
        <p:spPr>
          <a:xfrm>
            <a:off x="7050024" y="3968496"/>
            <a:ext cx="649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32.51h</a:t>
            </a:r>
            <a:endParaRPr lang="en-US" sz="850" dirty="0"/>
          </a:p>
        </p:txBody>
      </p:sp>
      <p:sp>
        <p:nvSpPr>
          <p:cNvPr id="185" name="Text 183"/>
          <p:cNvSpPr txBox="1"/>
          <p:nvPr/>
        </p:nvSpPr>
        <p:spPr>
          <a:xfrm>
            <a:off x="6400800" y="4123944"/>
            <a:ext cx="12984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records</a:t>
            </a:r>
            <a:endParaRPr lang="en-US" sz="580" dirty="0"/>
          </a:p>
        </p:txBody>
      </p:sp>
      <p:sp>
        <p:nvSpPr>
          <p:cNvPr id="186" name="Text 184"/>
          <p:cNvSpPr txBox="1"/>
          <p:nvPr/>
        </p:nvSpPr>
        <p:spPr>
          <a:xfrm>
            <a:off x="6400800" y="444398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PS WORK — LIVE</a:t>
            </a:r>
            <a:endParaRPr lang="en-US" sz="680" dirty="0"/>
          </a:p>
        </p:txBody>
      </p:sp>
      <p:sp>
        <p:nvSpPr>
          <p:cNvPr id="187" name="Text 185"/>
          <p:cNvSpPr txBox="1"/>
          <p:nvPr/>
        </p:nvSpPr>
        <p:spPr>
          <a:xfrm>
            <a:off x="6400800" y="4681728"/>
            <a:ext cx="805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700" dirty="0"/>
          </a:p>
        </p:txBody>
      </p:sp>
      <p:sp>
        <p:nvSpPr>
          <p:cNvPr id="188" name="Text 186"/>
          <p:cNvSpPr txBox="1"/>
          <p:nvPr/>
        </p:nvSpPr>
        <p:spPr>
          <a:xfrm>
            <a:off x="7114946" y="4681728"/>
            <a:ext cx="584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348</a:t>
            </a:r>
            <a:endParaRPr lang="en-US" sz="750" dirty="0"/>
          </a:p>
        </p:txBody>
      </p:sp>
      <p:sp>
        <p:nvSpPr>
          <p:cNvPr id="189" name="Text 187"/>
          <p:cNvSpPr txBox="1"/>
          <p:nvPr/>
        </p:nvSpPr>
        <p:spPr>
          <a:xfrm>
            <a:off x="6400800" y="4901184"/>
            <a:ext cx="805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700" dirty="0"/>
          </a:p>
        </p:txBody>
      </p:sp>
      <p:sp>
        <p:nvSpPr>
          <p:cNvPr id="190" name="Text 188"/>
          <p:cNvSpPr txBox="1"/>
          <p:nvPr/>
        </p:nvSpPr>
        <p:spPr>
          <a:xfrm>
            <a:off x="7114946" y="4901184"/>
            <a:ext cx="584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161</a:t>
            </a:r>
            <a:endParaRPr lang="en-US" sz="750" dirty="0"/>
          </a:p>
        </p:txBody>
      </p:sp>
      <p:sp>
        <p:nvSpPr>
          <p:cNvPr id="191" name="Text 189"/>
          <p:cNvSpPr txBox="1"/>
          <p:nvPr/>
        </p:nvSpPr>
        <p:spPr>
          <a:xfrm>
            <a:off x="6400800" y="5120640"/>
            <a:ext cx="805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700" dirty="0"/>
          </a:p>
        </p:txBody>
      </p:sp>
      <p:sp>
        <p:nvSpPr>
          <p:cNvPr id="192" name="Text 190"/>
          <p:cNvSpPr txBox="1"/>
          <p:nvPr/>
        </p:nvSpPr>
        <p:spPr>
          <a:xfrm>
            <a:off x="7114946" y="5120640"/>
            <a:ext cx="584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750" dirty="0"/>
          </a:p>
        </p:txBody>
      </p:sp>
      <p:sp>
        <p:nvSpPr>
          <p:cNvPr id="193" name="Text 191"/>
          <p:cNvSpPr txBox="1"/>
          <p:nvPr/>
        </p:nvSpPr>
        <p:spPr>
          <a:xfrm>
            <a:off x="6400800" y="5340096"/>
            <a:ext cx="805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700" dirty="0"/>
          </a:p>
        </p:txBody>
      </p:sp>
      <p:sp>
        <p:nvSpPr>
          <p:cNvPr id="194" name="Text 192"/>
          <p:cNvSpPr txBox="1"/>
          <p:nvPr/>
        </p:nvSpPr>
        <p:spPr>
          <a:xfrm>
            <a:off x="7114946" y="5340096"/>
            <a:ext cx="584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</a:t>
            </a:r>
            <a:endParaRPr lang="en-US" sz="750" dirty="0"/>
          </a:p>
        </p:txBody>
      </p:sp>
      <p:sp>
        <p:nvSpPr>
          <p:cNvPr id="195" name="Text 193"/>
          <p:cNvSpPr txBox="1"/>
          <p:nvPr/>
        </p:nvSpPr>
        <p:spPr>
          <a:xfrm>
            <a:off x="6400800" y="5559552"/>
            <a:ext cx="805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700" dirty="0"/>
          </a:p>
        </p:txBody>
      </p:sp>
      <p:sp>
        <p:nvSpPr>
          <p:cNvPr id="196" name="Text 194"/>
          <p:cNvSpPr txBox="1"/>
          <p:nvPr/>
        </p:nvSpPr>
        <p:spPr>
          <a:xfrm>
            <a:off x="7114946" y="5559552"/>
            <a:ext cx="584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197" name="Text 195"/>
          <p:cNvSpPr txBox="1"/>
          <p:nvPr/>
        </p:nvSpPr>
        <p:spPr>
          <a:xfrm>
            <a:off x="612648" y="607161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the last Creatio extract (4 Sep) — Sep* is a part month</a:t>
            </a:r>
            <a:endParaRPr lang="en-US" sz="630" dirty="0"/>
          </a:p>
        </p:txBody>
      </p:sp>
      <p:sp>
        <p:nvSpPr>
          <p:cNvPr id="198" name="Shape 196"/>
          <p:cNvSpPr/>
          <p:nvPr/>
        </p:nvSpPr>
        <p:spPr>
          <a:xfrm>
            <a:off x="8092440" y="2395728"/>
            <a:ext cx="36850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9" name="Text 197"/>
          <p:cNvSpPr txBox="1"/>
          <p:nvPr/>
        </p:nvSpPr>
        <p:spPr>
          <a:xfrm>
            <a:off x="8275320" y="2487168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MEMBER  </a:t>
            </a:r>
            <a:pPr indent="0" marL="0">
              <a:buNone/>
            </a:pPr>
            <a:r>
              <a:rPr lang="en-US" sz="6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 2026-08-30 · frozen</a:t>
            </a:r>
            <a:endParaRPr lang="en-US" sz="1000" dirty="0"/>
          </a:p>
        </p:txBody>
      </p:sp>
      <p:sp>
        <p:nvSpPr>
          <p:cNvPr id="200" name="Text 198"/>
          <p:cNvSpPr txBox="1"/>
          <p:nvPr/>
        </p:nvSpPr>
        <p:spPr>
          <a:xfrm>
            <a:off x="8275320" y="276148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 S.  </a:t>
            </a:r>
            <a:pPr indent="0" marL="0">
              <a:buNone/>
            </a:pPr>
            <a:r>
              <a:rPr lang="en-US" sz="72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(11%)  ·  39.8h</a:t>
            </a:r>
            <a:endParaRPr lang="en-US" sz="720" dirty="0"/>
          </a:p>
        </p:txBody>
      </p:sp>
      <p:sp>
        <p:nvSpPr>
          <p:cNvPr id="201" name="Text 199"/>
          <p:cNvSpPr txBox="1"/>
          <p:nvPr/>
        </p:nvSpPr>
        <p:spPr>
          <a:xfrm>
            <a:off x="8275320" y="292150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(14%)  ·  12h</a:t>
            </a:r>
            <a:endParaRPr lang="en-US" sz="72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08152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G.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(16%)  ·  11.2h</a:t>
            </a:r>
            <a:endParaRPr lang="en-US" sz="720" dirty="0"/>
          </a:p>
        </p:txBody>
      </p:sp>
      <p:sp>
        <p:nvSpPr>
          <p:cNvPr id="203" name="Text 201"/>
          <p:cNvSpPr txBox="1"/>
          <p:nvPr/>
        </p:nvSpPr>
        <p:spPr>
          <a:xfrm>
            <a:off x="8275320" y="324154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(20%)  ·  6.5h</a:t>
            </a:r>
            <a:endParaRPr lang="en-US" sz="720" dirty="0"/>
          </a:p>
        </p:txBody>
      </p:sp>
      <p:sp>
        <p:nvSpPr>
          <p:cNvPr id="204" name="Text 202"/>
          <p:cNvSpPr txBox="1"/>
          <p:nvPr/>
        </p:nvSpPr>
        <p:spPr>
          <a:xfrm>
            <a:off x="8275320" y="340156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(74%)  ·  2h</a:t>
            </a:r>
            <a:endParaRPr lang="en-US" sz="72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56158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 C.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(92%)  ·  1h</a:t>
            </a:r>
            <a:endParaRPr lang="en-US" sz="720" dirty="0"/>
          </a:p>
        </p:txBody>
      </p:sp>
      <p:sp>
        <p:nvSpPr>
          <p:cNvPr id="206" name="Text 204"/>
          <p:cNvSpPr txBox="1"/>
          <p:nvPr/>
        </p:nvSpPr>
        <p:spPr>
          <a:xfrm>
            <a:off x="8275320" y="372160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R.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(0%)  ·  0h</a:t>
            </a:r>
            <a:endParaRPr lang="en-US" sz="720" dirty="0"/>
          </a:p>
        </p:txBody>
      </p:sp>
      <p:sp>
        <p:nvSpPr>
          <p:cNvPr id="207" name="Text 205"/>
          <p:cNvSpPr txBox="1"/>
          <p:nvPr/>
        </p:nvSpPr>
        <p:spPr>
          <a:xfrm>
            <a:off x="8275320" y="3881628"/>
            <a:ext cx="3319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N.  </a:t>
            </a:r>
            <a:pPr indent="0" marL="0">
              <a:buNone/>
            </a:pPr>
            <a:r>
              <a:rPr lang="en-US" sz="72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(4%)  ·  0h</a:t>
            </a:r>
            <a:endParaRPr lang="en-US" sz="720" dirty="0"/>
          </a:p>
        </p:txBody>
      </p:sp>
      <p:sp>
        <p:nvSpPr>
          <p:cNvPr id="208" name="Shape 206"/>
          <p:cNvSpPr/>
          <p:nvPr/>
        </p:nvSpPr>
        <p:spPr>
          <a:xfrm>
            <a:off x="8092440" y="4242816"/>
            <a:ext cx="3685032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9" name="Text 207"/>
          <p:cNvSpPr txBox="1"/>
          <p:nvPr/>
        </p:nvSpPr>
        <p:spPr>
          <a:xfrm>
            <a:off x="8293608" y="4352544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10" name="Text 208"/>
          <p:cNvSpPr txBox="1"/>
          <p:nvPr/>
        </p:nvSpPr>
        <p:spPr>
          <a:xfrm>
            <a:off x="8293608" y="4663440"/>
            <a:ext cx="327355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lost.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Apr–Sep* is the Creatio series at the final 4 Sep extract; 69.4% utilisation is that last reading.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new meter is running: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now sit on the PS record — 78.93h across 29 records since 8 Sep (46.4h then 32.5h) against 131 engagements opened this week, ~12% coverage.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% stays dark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until coverage lands — a % on 12% of engagements would read as a collapse that hasn't happened.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Creatio (frozen to 4 Sep) + HubSpot PS records (live)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MOVEMENT BY MONTH · 2026   </a:t>
            </a:r>
            <a:pPr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register — live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53312"/>
          <a:ext cx="6318504" cy="2039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4655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108813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−$7.2k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172821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−$0k</a:t>
            </a:r>
            <a:endParaRPr lang="en-US" sz="650" dirty="0"/>
          </a:p>
        </p:txBody>
      </p:sp>
      <p:sp>
        <p:nvSpPr>
          <p:cNvPr id="19" name="Text 16"/>
          <p:cNvSpPr txBox="1"/>
          <p:nvPr/>
        </p:nvSpPr>
        <p:spPr>
          <a:xfrm>
            <a:off x="236829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+$4k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300837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+$2.7k</a:t>
            </a:r>
            <a:endParaRPr lang="en-US" sz="650" dirty="0"/>
          </a:p>
        </p:txBody>
      </p:sp>
      <p:sp>
        <p:nvSpPr>
          <p:cNvPr id="21" name="Text 18"/>
          <p:cNvSpPr txBox="1"/>
          <p:nvPr/>
        </p:nvSpPr>
        <p:spPr>
          <a:xfrm>
            <a:off x="364845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+$3.8k</a:t>
            </a:r>
            <a:endParaRPr lang="en-US" sz="650" dirty="0"/>
          </a:p>
        </p:txBody>
      </p:sp>
      <p:sp>
        <p:nvSpPr>
          <p:cNvPr id="22" name="Text 19"/>
          <p:cNvSpPr txBox="1"/>
          <p:nvPr/>
        </p:nvSpPr>
        <p:spPr>
          <a:xfrm>
            <a:off x="428853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+$4.4k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492861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−$1.5k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556869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−$1.1k</a:t>
            </a:r>
            <a:endParaRPr lang="en-US" sz="650" dirty="0"/>
          </a:p>
        </p:txBody>
      </p:sp>
      <p:sp>
        <p:nvSpPr>
          <p:cNvPr id="25" name="Text 22"/>
          <p:cNvSpPr txBox="1"/>
          <p:nvPr/>
        </p:nvSpPr>
        <p:spPr>
          <a:xfrm>
            <a:off x="6208776" y="34655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+$1.4k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612648" y="3657600"/>
            <a:ext cx="6318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= net new + expansion + ValPay · lost = churn + contraction · register basis, live</a:t>
            </a:r>
            <a:endParaRPr lang="en-US" sz="620" dirty="0"/>
          </a:p>
        </p:txBody>
      </p:sp>
      <p:sp>
        <p:nvSpPr>
          <p:cNvPr id="27" name="Shape 2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— Q3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not covering churn + contraction this quarter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contraction a further $235k ARR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220 deals won and not yet invoiced · CRM match as at 6 Sep</a:t>
            </a:r>
            <a:endParaRPr lang="en-US" sz="780" dirty="0"/>
          </a:p>
        </p:txBody>
      </p:sp>
      <p:sp>
        <p:nvSpPr>
          <p:cNvPr id="39" name="Shape 3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· as at 6 Sep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46" name="Text 4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96" name="Text 9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7" name="Text 9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99" name="Text 9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100" name="Text 9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106" name="Shape 10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4"/>
          <p:cNvSpPr txBox="1"/>
          <p:nvPr/>
        </p:nvSpPr>
        <p:spPr>
          <a:xfrm>
            <a:off x="612648" y="4133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5"/>
          <p:cNvSpPr txBox="1"/>
          <p:nvPr/>
        </p:nvSpPr>
        <p:spPr>
          <a:xfrm>
            <a:off x="612648" y="4443984"/>
            <a:ext cx="53492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register has rerun — and the base is still shrinking.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net MRR is -$6.3k: $13.9k of new MRR against $15.2k of churn and contraction. September is the first positive month since June (+$1.4k).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the whole story, not new business.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has run $4–9k a month all year; losses spike when they spike. 262 logos have gone since 2025 ($1.17M ARR), with a further $235k of ARR lost to contraction on accounts that stayed.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to land: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 of won ARR awaiting go-live and $2,297/mo across 45 pending integrations — both bill once the work completes.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basis: MRR ex GST by date of invoice (new/expansion) and date of MRR impact (churn/contraction). Go-live queue is the CRM match, still as at 6 Sep.</a:t>
            </a:r>
            <a:endParaRPr lang="en-US" sz="900" dirty="0"/>
          </a:p>
        </p:txBody>
      </p:sp>
      <p:sp>
        <p:nvSpPr>
          <p:cNvPr id="109" name="Shape 106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MRR movement register (live) + CRM matching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2026-09-21T01:39:43Z</dcterms:created>
  <dcterms:modified xsi:type="dcterms:W3CDTF">2026-09-21T01:39:43Z</dcterms:modified>
</cp:coreProperties>
</file>