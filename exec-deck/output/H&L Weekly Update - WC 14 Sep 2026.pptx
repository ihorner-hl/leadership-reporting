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won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89148</c:v>
                </c:pt>
                <c:pt idx="1">
                  <c:v>53717</c:v>
                </c:pt>
                <c:pt idx="2">
                  <c:v>200064</c:v>
                </c:pt>
                <c:pt idx="3">
                  <c:v>34236</c:v>
                </c:pt>
                <c:pt idx="4">
                  <c:v>39372</c:v>
                </c:pt>
                <c:pt idx="5">
                  <c:v>77748</c:v>
                </c:pt>
                <c:pt idx="6">
                  <c:v>15377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(new + expansion)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30732</c:v>
                </c:pt>
                <c:pt idx="1">
                  <c:v>66948</c:v>
                </c:pt>
                <c:pt idx="2">
                  <c:v>44352</c:v>
                </c:pt>
                <c:pt idx="3">
                  <c:v>58572</c:v>
                </c:pt>
                <c:pt idx="4">
                  <c:v>70788</c:v>
                </c:pt>
                <c:pt idx="5">
                  <c:v>45408</c:v>
                </c:pt>
                <c:pt idx="6">
                  <c:v>90012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255</c:v>
                </c:pt>
                <c:pt idx="2">
                  <c:v>172</c:v>
                </c:pt>
                <c:pt idx="3">
                  <c:v>164</c:v>
                </c:pt>
                <c:pt idx="4">
                  <c:v>151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217</c:v>
                </c:pt>
                <c:pt idx="1">
                  <c:v>228</c:v>
                </c:pt>
                <c:pt idx="2">
                  <c:v>270</c:v>
                </c:pt>
                <c:pt idx="3">
                  <c:v>299</c:v>
                </c:pt>
                <c:pt idx="4">
                  <c:v>297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237</c:v>
                </c:pt>
                <c:pt idx="1">
                  <c:v>85</c:v>
                </c:pt>
                <c:pt idx="2">
                  <c:v>90</c:v>
                </c:pt>
                <c:pt idx="3">
                  <c:v>111</c:v>
                </c:pt>
                <c:pt idx="4">
                  <c:v>79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73</c:v>
                </c:pt>
                <c:pt idx="1">
                  <c:v>57</c:v>
                </c:pt>
                <c:pt idx="2">
                  <c:v>52</c:v>
                </c:pt>
                <c:pt idx="3">
                  <c:v>58</c:v>
                </c:pt>
                <c:pt idx="4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236</c:v>
                </c:pt>
                <c:pt idx="1">
                  <c:v>184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259</c:v>
                </c:pt>
                <c:pt idx="1">
                  <c:v>249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151</c:v>
                </c:pt>
                <c:pt idx="1">
                  <c:v>132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35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1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14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21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EDITION — FIRST DECK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 &amp; conversion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$410k = 57% of $715k vs 89% pace; this week +$38k gross (HW discounts -$10k); new MRR $12.1k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48 deals · $162k (HubSpot); new MRR $12.1k QTD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not measurable during cutover — HubSpot time logging ramping (99h on 48 cases)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490 vs resolved 591 — backlog 570 and falling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roadmap: 10 done · 12 on track · 3 not started · 2 at risk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6.2% this week (4/65) — first HubSpot-measured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+$139 this wk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80868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7855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+$38k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239755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1727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(89%)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live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20 Sep · Δ wk = 14–20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65105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0657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70662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685178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+4k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0657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$78k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39502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685178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6576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0657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$51k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2677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685178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0657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685178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+27k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$205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73152" cy="100584"/>
          </a:xfrm>
          <a:prstGeom prst="roundRect">
            <a:avLst>
              <a:gd name="adj" fmla="val 62500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0657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6825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5178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06570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06570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+38k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Q3 (movement register, live 20 Sep) · H&amp;L Pay net new $1,770/mo is tracked separately and never sits inside core MRR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$410k (57%)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 89% pace mark. The 14–20 Sep 2026 extract added $38k gross — the biggest week of the quarter — but $102k of it is one Corporate account (Solotel) booked to Jasmine, who jumps to 115% of target.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Discounts eased in proportion: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ran -$8.4k on $115.6k gross (7%) against -$10.2k on $37.6k (27%) last week. Net hardware for the week is $107.2k.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was not refreshed this week.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is held at $12,129 (43% of the $28k OKR2) as at 20 Sep, against a 89% pace mark. The Sysnet extract's own subscription line moved +$592, which is a different measure and is not carried into MRR.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day 82 of 92 in Q3 (Jul–Sep) at week end 20 Sep.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7523683" y="6510528"/>
            <a:ext cx="4253789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523683" y="6510528"/>
            <a:ext cx="4253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extracts to 20 Sep + MRR movement register (live)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PIPELINE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US$2,103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A$2,953 · 28 deals not yet ordered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A$217 · 5 deals since 1 Jul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A$361 · 2 deals since 1 Jul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987552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0789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— OF CLOSED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6187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71%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093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placed / 2 lost by count · 38% by value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212848"/>
            <a:ext cx="68580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304288"/>
            <a:ext cx="645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BY STAGE   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converted at 0.7122 AUD→USD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" y="26334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828800" y="2734056"/>
            <a:ext cx="119409" cy="182880"/>
          </a:xfrm>
          <a:prstGeom prst="roundRect">
            <a:avLst>
              <a:gd name="adj" fmla="val 61262"/>
            </a:avLst>
          </a:prstGeom>
          <a:solidFill>
            <a:srgbClr val="2C839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263347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deal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" y="29809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Sent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828800" y="3081528"/>
            <a:ext cx="3749040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0" y="29809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US$1,297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2980944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deals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67512" y="332841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Negotiation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28800" y="3429000"/>
            <a:ext cx="2211131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669280" y="33284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US$765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3328416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deals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67512" y="36758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828800" y="3776472"/>
            <a:ext cx="446755" cy="18288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0" y="36758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0" y="3675888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deals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667512" y="402336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28800" y="4123944"/>
            <a:ext cx="743220" cy="182880"/>
          </a:xfrm>
          <a:prstGeom prst="roundRect">
            <a:avLst>
              <a:gd name="adj" fmla="val 40000"/>
            </a:avLst>
          </a:prstGeom>
          <a:solidFill>
            <a:srgbClr val="B4552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669280" y="402336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40233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deals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67512" y="3653028"/>
            <a:ext cx="6345936" cy="1280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77640" y="3493008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 NOT ORDER PLACED</a:t>
            </a:r>
            <a:endParaRPr lang="en-US" sz="600" dirty="0"/>
          </a:p>
        </p:txBody>
      </p:sp>
      <p:sp>
        <p:nvSpPr>
          <p:cNvPr id="55" name="Text 53"/>
          <p:cNvSpPr txBox="1"/>
          <p:nvPr/>
        </p:nvSpPr>
        <p:spPr>
          <a:xfrm>
            <a:off x="3977640" y="3703320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 ORDER PLACED</a:t>
            </a:r>
            <a:endParaRPr lang="en-US" sz="600" dirty="0"/>
          </a:p>
        </p:txBody>
      </p:sp>
      <p:sp>
        <p:nvSpPr>
          <p:cNvPr id="56" name="Text 54"/>
          <p:cNvSpPr txBox="1"/>
          <p:nvPr/>
        </p:nvSpPr>
        <p:spPr>
          <a:xfrm>
            <a:off x="667512" y="4517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 VS NOT — SHARE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667512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VALUE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828800" y="4800600"/>
            <a:ext cx="292214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9" name="Shape 57"/>
          <p:cNvSpPr/>
          <p:nvPr/>
        </p:nvSpPr>
        <p:spPr>
          <a:xfrm>
            <a:off x="2139302" y="4800600"/>
            <a:ext cx="3976539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139302" y="4782312"/>
            <a:ext cx="39765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84%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6134130" y="4800600"/>
            <a:ext cx="486126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134130" y="4782312"/>
            <a:ext cx="4861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66751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DEALS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1828800" y="5111496"/>
            <a:ext cx="679269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828800" y="5093208"/>
            <a:ext cx="6792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2526357" y="5111496"/>
            <a:ext cx="3803904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526357" y="5093208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6348549" y="5111496"/>
            <a:ext cx="271707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3657600" y="4562856"/>
            <a:ext cx="91440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78561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630" dirty="0"/>
          </a:p>
        </p:txBody>
      </p:sp>
      <p:sp>
        <p:nvSpPr>
          <p:cNvPr id="71" name="Shape 69"/>
          <p:cNvSpPr/>
          <p:nvPr/>
        </p:nvSpPr>
        <p:spPr>
          <a:xfrm>
            <a:off x="4754880" y="4562856"/>
            <a:ext cx="91440" cy="91440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88289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open</a:t>
            </a:r>
            <a:endParaRPr lang="en-US" sz="630" dirty="0"/>
          </a:p>
        </p:txBody>
      </p:sp>
      <p:sp>
        <p:nvSpPr>
          <p:cNvPr id="73" name="Shape 71"/>
          <p:cNvSpPr/>
          <p:nvPr/>
        </p:nvSpPr>
        <p:spPr>
          <a:xfrm>
            <a:off x="5852160" y="4562856"/>
            <a:ext cx="91440" cy="9144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98017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630" dirty="0"/>
          </a:p>
        </p:txBody>
      </p:sp>
      <p:sp>
        <p:nvSpPr>
          <p:cNvPr id="75" name="Shape 73"/>
          <p:cNvSpPr/>
          <p:nvPr/>
        </p:nvSpPr>
        <p:spPr>
          <a:xfrm>
            <a:off x="7452360" y="2212848"/>
            <a:ext cx="432511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7653528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7653528" y="25968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650" dirty="0"/>
          </a:p>
        </p:txBody>
      </p:sp>
      <p:sp>
        <p:nvSpPr>
          <p:cNvPr id="78" name="Text 76"/>
          <p:cNvSpPr txBox="1"/>
          <p:nvPr/>
        </p:nvSpPr>
        <p:spPr>
          <a:xfrm>
            <a:off x="960120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50" dirty="0"/>
          </a:p>
        </p:txBody>
      </p:sp>
      <p:sp>
        <p:nvSpPr>
          <p:cNvPr id="79" name="Text 77"/>
          <p:cNvSpPr txBox="1"/>
          <p:nvPr/>
        </p:nvSpPr>
        <p:spPr>
          <a:xfrm>
            <a:off x="1033272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PLACED</a:t>
            </a:r>
            <a:endParaRPr lang="en-US" sz="650" dirty="0"/>
          </a:p>
        </p:txBody>
      </p:sp>
      <p:sp>
        <p:nvSpPr>
          <p:cNvPr id="80" name="Text 78"/>
          <p:cNvSpPr txBox="1"/>
          <p:nvPr/>
        </p:nvSpPr>
        <p:spPr>
          <a:xfrm>
            <a:off x="11064240" y="25968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7653528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Monthly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7653528" y="293522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$29–31/unit/mo · most volume</a:t>
            </a:r>
            <a:endParaRPr lang="en-US" sz="530" dirty="0"/>
          </a:p>
        </p:txBody>
      </p:sp>
      <p:sp>
        <p:nvSpPr>
          <p:cNvPr id="83" name="Text 81"/>
          <p:cNvSpPr txBox="1"/>
          <p:nvPr/>
        </p:nvSpPr>
        <p:spPr>
          <a:xfrm>
            <a:off x="960120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US$1,251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1033272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750" dirty="0"/>
          </a:p>
        </p:txBody>
      </p:sp>
      <p:sp>
        <p:nvSpPr>
          <p:cNvPr id="85" name="Text 83"/>
          <p:cNvSpPr txBox="1"/>
          <p:nvPr/>
        </p:nvSpPr>
        <p:spPr>
          <a:xfrm>
            <a:off x="1106424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US$44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7653528" y="30998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Reporting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7653528" y="323697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$299/unit licence · no orders yet</a:t>
            </a:r>
            <a:endParaRPr lang="en-US" sz="530" dirty="0"/>
          </a:p>
        </p:txBody>
      </p:sp>
      <p:sp>
        <p:nvSpPr>
          <p:cNvPr id="88" name="Text 86"/>
          <p:cNvSpPr txBox="1"/>
          <p:nvPr/>
        </p:nvSpPr>
        <p:spPr>
          <a:xfrm>
            <a:off x="960120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US$852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1033272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106424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US$213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7653528" y="340156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7653528" y="353872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line priced $0 — value understated</a:t>
            </a:r>
            <a:endParaRPr lang="en-US" sz="530" dirty="0"/>
          </a:p>
        </p:txBody>
      </p:sp>
      <p:sp>
        <p:nvSpPr>
          <p:cNvPr id="93" name="Text 91"/>
          <p:cNvSpPr txBox="1"/>
          <p:nvPr/>
        </p:nvSpPr>
        <p:spPr>
          <a:xfrm>
            <a:off x="960120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1033272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11064240" y="34015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7653528" y="3703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Annual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7653528" y="384048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flagged but no line items anywhere</a:t>
            </a:r>
            <a:endParaRPr lang="en-US" sz="530" dirty="0"/>
          </a:p>
        </p:txBody>
      </p:sp>
      <p:sp>
        <p:nvSpPr>
          <p:cNvPr id="98" name="Text 96"/>
          <p:cNvSpPr txBox="1"/>
          <p:nvPr/>
        </p:nvSpPr>
        <p:spPr>
          <a:xfrm>
            <a:off x="960120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1033272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11064240" y="3703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7452360" y="4169664"/>
            <a:ext cx="4325112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2" name="Text 100"/>
          <p:cNvSpPr txBox="1"/>
          <p:nvPr/>
        </p:nvSpPr>
        <p:spPr>
          <a:xfrm>
            <a:off x="7653528" y="4242816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ANNUALISED VIEW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7653528" y="446227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US$15,016</a:t>
            </a:r>
            <a:endParaRPr lang="en-US" sz="1800" dirty="0"/>
          </a:p>
        </p:txBody>
      </p:sp>
      <p:sp>
        <p:nvSpPr>
          <p:cNvPr id="104" name="Text 102"/>
          <p:cNvSpPr txBox="1"/>
          <p:nvPr/>
        </p:nvSpPr>
        <p:spPr>
          <a:xfrm>
            <a:off x="9326880" y="444398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ROAM pipeline at ×12 (A$21,084) — the contract value behind the US$2,103 of monthly lines</a:t>
            </a:r>
            <a:endParaRPr lang="en-US" sz="700" dirty="0"/>
          </a:p>
        </p:txBody>
      </p:sp>
      <p:sp>
        <p:nvSpPr>
          <p:cNvPr id="105" name="Text 103"/>
          <p:cNvSpPr txBox="1"/>
          <p:nvPr/>
        </p:nvSpPr>
        <p:spPr>
          <a:xfrm>
            <a:off x="7653528" y="4901184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AUD→USD 0.7122 (mid-market close 20 Sep 2026) — HubSpot holds no USD field</a:t>
            </a:r>
            <a:endParaRPr lang="en-US" sz="580" dirty="0"/>
          </a:p>
        </p:txBody>
      </p:sp>
      <p:sp>
        <p:nvSpPr>
          <p:cNvPr id="106" name="Shape 104"/>
          <p:cNvSpPr/>
          <p:nvPr/>
        </p:nvSpPr>
        <p:spPr>
          <a:xfrm>
            <a:off x="411480" y="5504688"/>
            <a:ext cx="11365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7" name="Text 105"/>
          <p:cNvSpPr txBox="1"/>
          <p:nvPr/>
        </p:nvSpPr>
        <p:spPr>
          <a:xfrm>
            <a:off x="612648" y="56144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12648" y="5925312"/>
            <a:ext cx="10954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is real but tiny.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orders placed since 1 Jul (US$155) against 2 lost — 71% by count, 38% by value. All of it is ROAM; Sentinel has US$852 in play and no order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book is stuck mid-funnel: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US$2,062 of the US$2,103 open sits in Quote Sent and Negotiation across 27 deals — the movement to chase is quote-to-order, not top-of-funnel.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is priced $0 on every line, so its value reads nil · ROAM lines are one month, not contract value.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7585862" y="6510528"/>
            <a:ext cx="419161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7585862" y="6510528"/>
            <a:ext cx="4191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line items · products flagged ai_infused (live)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7150608" y="6510528"/>
            <a:ext cx="462686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150608" y="6510528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H&amp;L identification register (live) + ValPay export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4.7%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16.07h billed of 342h available · target 80%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233672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398264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AVAILABLE HOURS — THIS WEEK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379976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342h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398264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people assigned to PS-pipeline tickets × 38h standard week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55864" y="1024128"/>
            <a:ext cx="3721608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0456" y="1115568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TIME-LOGGING COVERAGE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02168" y="1298448"/>
            <a:ext cx="3429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0456" y="1691640"/>
            <a:ext cx="3392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of 132 PS items raised this week carry hours — utilisation reads low because logging is ramping, not because delivery stopped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505456"/>
            <a:ext cx="6181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EMPLOYEE  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 against 38h available each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TEAM MEMBER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0" y="28346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0" y="28346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 %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2468880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743200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2944368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18688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3419856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694176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3895344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169664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4370832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443984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4846320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305409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Woolcock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468880" y="3143250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2468880" y="3143250"/>
            <a:ext cx="865388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29200" y="30540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13.82h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5943600" y="30540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36.4%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640080" y="329184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Gregory St Clare-Hobbs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468880" y="3380994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2468880" y="3380994"/>
            <a:ext cx="92720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29200" y="32918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1.50h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5943600" y="32918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3.9%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640080" y="3529584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Isayah Kuhlmann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468880" y="3618738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2468880" y="3618738"/>
            <a:ext cx="45720" cy="59436"/>
          </a:xfrm>
          <a:prstGeom prst="roundRect">
            <a:avLst>
              <a:gd name="adj" fmla="val 64000"/>
            </a:avLst>
          </a:prstGeom>
          <a:solidFill>
            <a:srgbClr val="2C839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029200" y="352958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0.50h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5943600" y="352958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1.3%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640080" y="37673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Joshua Casey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2468880" y="3856482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2468880" y="3856482"/>
            <a:ext cx="45720" cy="59436"/>
          </a:xfrm>
          <a:prstGeom prst="roundRect">
            <a:avLst>
              <a:gd name="adj" fmla="val 64000"/>
            </a:avLst>
          </a:prstGeom>
          <a:solidFill>
            <a:srgbClr val="2C839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029200" y="37673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0.25h</a:t>
            </a:r>
            <a:endParaRPr lang="en-US" sz="800" dirty="0"/>
          </a:p>
        </p:txBody>
      </p:sp>
      <p:sp>
        <p:nvSpPr>
          <p:cNvPr id="62" name="Text 60"/>
          <p:cNvSpPr txBox="1"/>
          <p:nvPr/>
        </p:nvSpPr>
        <p:spPr>
          <a:xfrm>
            <a:off x="5943600" y="37673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0.7%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640080" y="4005072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Rodney Nolan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468880" y="4094226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29200" y="400507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0" y="400507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67" name="Text 65"/>
          <p:cNvSpPr txBox="1"/>
          <p:nvPr/>
        </p:nvSpPr>
        <p:spPr>
          <a:xfrm>
            <a:off x="640080" y="424281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Karim AlRifaii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2468880" y="4331970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029200" y="424281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5943600" y="424281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448056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Ryan Neil Orande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2468880" y="4569714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029200" y="44805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5943600" y="44805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75" name="Text 73"/>
          <p:cNvSpPr txBox="1"/>
          <p:nvPr/>
        </p:nvSpPr>
        <p:spPr>
          <a:xfrm>
            <a:off x="640080" y="4718304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Argenis Rafael Guevara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2468880" y="4807458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029200" y="47183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5943600" y="47183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79" name="Text 77"/>
          <p:cNvSpPr txBox="1"/>
          <p:nvPr/>
        </p:nvSpPr>
        <p:spPr>
          <a:xfrm>
            <a:off x="640080" y="495604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Isaac Mercado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68880" y="5045202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029200" y="49560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943600" y="49560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640080" y="5230368"/>
            <a:ext cx="612648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40080" y="5266944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50" dirty="0"/>
          </a:p>
        </p:txBody>
      </p:sp>
      <p:sp>
        <p:nvSpPr>
          <p:cNvPr id="85" name="Text 83"/>
          <p:cNvSpPr txBox="1"/>
          <p:nvPr/>
        </p:nvSpPr>
        <p:spPr>
          <a:xfrm>
            <a:off x="2468880" y="526694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PS people × 38h = 342h available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029200" y="526694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16.07h</a:t>
            </a:r>
            <a:endParaRPr lang="en-US" sz="950" dirty="0"/>
          </a:p>
        </p:txBody>
      </p:sp>
      <p:sp>
        <p:nvSpPr>
          <p:cNvPr id="87" name="Text 85"/>
          <p:cNvSpPr txBox="1"/>
          <p:nvPr/>
        </p:nvSpPr>
        <p:spPr>
          <a:xfrm>
            <a:off x="5943600" y="526694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4.7%</a:t>
            </a:r>
            <a:endParaRPr lang="en-US" sz="950" dirty="0"/>
          </a:p>
        </p:txBody>
      </p:sp>
      <p:sp>
        <p:nvSpPr>
          <p:cNvPr id="88" name="Text 86"/>
          <p:cNvSpPr txBox="1"/>
          <p:nvPr/>
        </p:nvSpPr>
        <p:spPr>
          <a:xfrm>
            <a:off x="640080" y="561441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Available staff = the 9 Professional Services people assigned to PS-pipeline tickets open now or closed this week, at a 38h standard week. Anton Lopez, Jasmine Hikuroa, Bjorn Magabo, Phuong Ho, Katherine Fenwick and Yeran Hettiarachchy carry PS-pipeline tickets but are not Professional Services staff — they and their hours are excluded.</a:t>
            </a:r>
            <a:endParaRPr lang="en-US" sz="580" dirty="0"/>
          </a:p>
        </p:txBody>
      </p:sp>
      <p:sp>
        <p:nvSpPr>
          <p:cNvPr id="89" name="Shape 87"/>
          <p:cNvSpPr/>
          <p:nvPr/>
        </p:nvSpPr>
        <p:spPr>
          <a:xfrm>
            <a:off x="7178040" y="2395728"/>
            <a:ext cx="4599432" cy="1700784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8"/>
          <p:cNvSpPr txBox="1"/>
          <p:nvPr/>
        </p:nvSpPr>
        <p:spPr>
          <a:xfrm>
            <a:off x="7379208" y="2487168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PS WORK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hours logged</a:t>
            </a:r>
            <a:endParaRPr lang="en-US" sz="1100" dirty="0"/>
          </a:p>
        </p:txBody>
      </p:sp>
      <p:sp>
        <p:nvSpPr>
          <p:cNvPr id="91" name="Text 89"/>
          <p:cNvSpPr txBox="1"/>
          <p:nvPr/>
        </p:nvSpPr>
        <p:spPr>
          <a:xfrm>
            <a:off x="7379208" y="274320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SERVICE TYPE</a:t>
            </a:r>
            <a:endParaRPr lang="en-US" sz="680" dirty="0"/>
          </a:p>
        </p:txBody>
      </p:sp>
      <p:sp>
        <p:nvSpPr>
          <p:cNvPr id="92" name="Text 90"/>
          <p:cNvSpPr txBox="1"/>
          <p:nvPr/>
        </p:nvSpPr>
        <p:spPr>
          <a:xfrm>
            <a:off x="10287000" y="27432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680" dirty="0"/>
          </a:p>
        </p:txBody>
      </p:sp>
      <p:sp>
        <p:nvSpPr>
          <p:cNvPr id="93" name="Text 91"/>
          <p:cNvSpPr txBox="1"/>
          <p:nvPr/>
        </p:nvSpPr>
        <p:spPr>
          <a:xfrm>
            <a:off x="10972800" y="2743200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</a:t>
            </a:r>
            <a:endParaRPr lang="en-US" sz="680" dirty="0"/>
          </a:p>
        </p:txBody>
      </p:sp>
      <p:sp>
        <p:nvSpPr>
          <p:cNvPr id="94" name="Text 92"/>
          <p:cNvSpPr txBox="1"/>
          <p:nvPr/>
        </p:nvSpPr>
        <p:spPr>
          <a:xfrm>
            <a:off x="7379208" y="29077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8823960" y="2964942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96" name="Shape 94"/>
          <p:cNvSpPr/>
          <p:nvPr/>
        </p:nvSpPr>
        <p:spPr>
          <a:xfrm>
            <a:off x="8823960" y="2964942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287000" y="2907792"/>
            <a:ext cx="6400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16.00h</a:t>
            </a:r>
            <a:endParaRPr lang="en-US" sz="800" dirty="0"/>
          </a:p>
        </p:txBody>
      </p:sp>
      <p:sp>
        <p:nvSpPr>
          <p:cNvPr id="98" name="Text 96"/>
          <p:cNvSpPr txBox="1"/>
          <p:nvPr/>
        </p:nvSpPr>
        <p:spPr>
          <a:xfrm>
            <a:off x="10972800" y="2907792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99.6%</a:t>
            </a:r>
            <a:endParaRPr lang="en-US" sz="800" dirty="0"/>
          </a:p>
        </p:txBody>
      </p:sp>
      <p:sp>
        <p:nvSpPr>
          <p:cNvPr id="99" name="Text 97"/>
          <p:cNvSpPr txBox="1"/>
          <p:nvPr/>
        </p:nvSpPr>
        <p:spPr>
          <a:xfrm>
            <a:off x="7379208" y="308152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8823960" y="3138678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8823960" y="3138678"/>
            <a:ext cx="45720" cy="59436"/>
          </a:xfrm>
          <a:prstGeom prst="roundRect">
            <a:avLst>
              <a:gd name="adj" fmla="val 64000"/>
            </a:avLst>
          </a:prstGeom>
          <a:solidFill>
            <a:srgbClr val="2C8394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287000" y="3081528"/>
            <a:ext cx="6400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0.07h</a:t>
            </a:r>
            <a:endParaRPr lang="en-US" sz="800" dirty="0"/>
          </a:p>
        </p:txBody>
      </p:sp>
      <p:sp>
        <p:nvSpPr>
          <p:cNvPr id="103" name="Text 101"/>
          <p:cNvSpPr txBox="1"/>
          <p:nvPr/>
        </p:nvSpPr>
        <p:spPr>
          <a:xfrm>
            <a:off x="10972800" y="3081528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0.4%</a:t>
            </a:r>
            <a:endParaRPr lang="en-US" sz="800" dirty="0"/>
          </a:p>
        </p:txBody>
      </p:sp>
      <p:sp>
        <p:nvSpPr>
          <p:cNvPr id="104" name="Text 102"/>
          <p:cNvSpPr txBox="1"/>
          <p:nvPr/>
        </p:nvSpPr>
        <p:spPr>
          <a:xfrm>
            <a:off x="7379208" y="32552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8823960" y="3312414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287000" y="3255264"/>
            <a:ext cx="6400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07" name="Text 105"/>
          <p:cNvSpPr txBox="1"/>
          <p:nvPr/>
        </p:nvSpPr>
        <p:spPr>
          <a:xfrm>
            <a:off x="10972800" y="3255264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08" name="Text 106"/>
          <p:cNvSpPr txBox="1"/>
          <p:nvPr/>
        </p:nvSpPr>
        <p:spPr>
          <a:xfrm>
            <a:off x="7379208" y="342900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8823960" y="3486150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287000" y="3429000"/>
            <a:ext cx="6400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11" name="Text 109"/>
          <p:cNvSpPr txBox="1"/>
          <p:nvPr/>
        </p:nvSpPr>
        <p:spPr>
          <a:xfrm>
            <a:off x="10972800" y="3429000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12" name="Text 110"/>
          <p:cNvSpPr txBox="1"/>
          <p:nvPr/>
        </p:nvSpPr>
        <p:spPr>
          <a:xfrm>
            <a:off x="7379208" y="36027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8823960" y="3659886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287000" y="3602736"/>
            <a:ext cx="6400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10972800" y="3602736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16" name="Shape 114"/>
          <p:cNvSpPr/>
          <p:nvPr/>
        </p:nvSpPr>
        <p:spPr>
          <a:xfrm>
            <a:off x="7379208" y="3803904"/>
            <a:ext cx="4197096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7379208" y="38313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50" dirty="0"/>
          </a:p>
        </p:txBody>
      </p:sp>
      <p:sp>
        <p:nvSpPr>
          <p:cNvPr id="118" name="Text 116"/>
          <p:cNvSpPr txBox="1"/>
          <p:nvPr/>
        </p:nvSpPr>
        <p:spPr>
          <a:xfrm>
            <a:off x="8823960" y="38313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PS items carry time</a:t>
            </a:r>
            <a:endParaRPr lang="en-US" sz="650" dirty="0"/>
          </a:p>
        </p:txBody>
      </p:sp>
      <p:sp>
        <p:nvSpPr>
          <p:cNvPr id="119" name="Text 117"/>
          <p:cNvSpPr txBox="1"/>
          <p:nvPr/>
        </p:nvSpPr>
        <p:spPr>
          <a:xfrm>
            <a:off x="10287000" y="383133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16.07h</a:t>
            </a:r>
            <a:endParaRPr lang="en-US" sz="900" dirty="0"/>
          </a:p>
        </p:txBody>
      </p:sp>
      <p:sp>
        <p:nvSpPr>
          <p:cNvPr id="120" name="Text 118"/>
          <p:cNvSpPr txBox="1"/>
          <p:nvPr/>
        </p:nvSpPr>
        <p:spPr>
          <a:xfrm>
            <a:off x="10972800" y="3831336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7178040" y="4224528"/>
            <a:ext cx="4599432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2" name="Text 120"/>
          <p:cNvSpPr txBox="1"/>
          <p:nvPr/>
        </p:nvSpPr>
        <p:spPr>
          <a:xfrm>
            <a:off x="7379208" y="43342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7379208" y="4645152"/>
            <a:ext cx="4187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4.7% billable utilisation is a logging number, not a delivery number.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16.07h landed against 342h of capacity, but only 10% of the week's 132 PS items carry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people carry 95% of the logged total.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Woolcock 13.82h (36.4% of a 38h week) and Gregory St Clare-Hobbs 1.50h (3.9%); 5 PS members logged nothing at all.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landing even where hours aren't.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PS cases opened this week; Tech carries 99.6% of logged time. Median time to close on PS tickets created and closed since 8 Sep: Tech 0.6 d · Integrations 1.0 d · Training 1.5 d · Onboarding no closes yet.</a:t>
            </a:r>
            <a:endParaRPr lang="en-US" sz="900" dirty="0"/>
          </a:p>
        </p:txBody>
      </p:sp>
      <p:sp>
        <p:nvSpPr>
          <p:cNvPr id="124" name="Text 122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logged hours are treated as billable — creatio_non_billable is populated on only 3 of the 30 PS records carrying time, so billable/non-billable is not yet separable.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6155741" y="6510528"/>
            <a:ext cx="562173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6155741" y="6510528"/>
            <a:ext cx="56217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PS records (total_hours) + PS pipeline ticket owners — live, read-only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ARR VS INVOICED ARR BY MONTH · 2026   </a:t>
            </a:r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 — Creatio ARR basis, as last published. Aug–Sep are not plotted: HubSpot closed-won is deal amount, not the Creatio ARR measure, so a new series starts once the post-cutover months are confirmed.</a:t>
            </a: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497 deals won since Mar · 277 invoiced · 220 outstanding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$1.17M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262 logos lost · register live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-$6.3k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(Jul–Sep) · movement register, live — the base is still shrinking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9" name="Text 46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5" name="Text 52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1" name="Text 58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7" name="Text 64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9" name="Text 76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5" name="Text 82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1" name="Text 88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Install-to-invoice lag runs 60–90 days — wins bill ~a quarter later; March wins still uninvoiced are past normal lag and worth chasing.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Uninvoiced is top-loaded: Oscars Group is 62% of the $250k awaiting go-live; the top 3 clients are ~78%.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 reads from the movement register (live): $1.17M of ARR across 262 logos since 2025, plus $235k lost to contraction on accounts that stayed. Q3 net MRR is -$6.3k — new business is not covering it.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excluded — Creatio MRR field misstated (annual values in the monthly field); correction pending.</a:t>
            </a:r>
            <a:endParaRPr lang="en-US" sz="85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GO-LIVE CONTEXT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— </a:t>
            </a:r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Signed — ~1.5x rollout timeline expected. Keen to start but held by old provider's contract terms; asking H&amp;L for a discount to bridge.</a:t>
            </a:r>
            <a:endParaRPr lang="en-US" sz="850" dirty="0"/>
          </a:p>
        </p:txBody>
      </p:sp>
      <p:sp>
        <p:nvSpPr>
          <p:cNvPr id="99" name="Text 96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= new + expansion MRR movements annualised</a:t>
            </a:r>
            <a:endParaRPr lang="en-US" sz="750" dirty="0"/>
          </a:p>
        </p:txBody>
      </p:sp>
      <p:sp>
        <p:nvSpPr>
          <p:cNvPr id="100" name="Shape 97"/>
          <p:cNvSpPr/>
          <p:nvPr/>
        </p:nvSpPr>
        <p:spPr>
          <a:xfrm>
            <a:off x="7274966" y="6510528"/>
            <a:ext cx="450250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7274966" y="6510528"/>
            <a:ext cx="45025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Finance Weekly Invoicing &amp; Creatio · register live for churn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at 20 Sep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resolution overdue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TICKET AGE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Days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open tickets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13,115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20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BAND — WEEKLY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" y="2807208"/>
            <a:ext cx="109728" cy="109728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8096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0–7 days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1472184" y="2807208"/>
            <a:ext cx="109728" cy="10972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609344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8–30 days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313432" y="2807208"/>
            <a:ext cx="109728" cy="109728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450592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154680" y="2807208"/>
            <a:ext cx="109728" cy="109728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9184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days</a:t>
            </a:r>
            <a:endParaRPr lang="en-US" sz="68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539496" y="3054096"/>
          <a:ext cx="393192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2" name="Chart 1" descr=""/>
          <p:cNvGraphicFramePr/>
          <p:nvPr/>
        </p:nvGraphicFramePr>
        <p:xfrm>
          <a:off x="4727448" y="3054096"/>
          <a:ext cx="212140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Shape 39"/>
          <p:cNvSpPr/>
          <p:nvPr/>
        </p:nvSpPr>
        <p:spPr>
          <a:xfrm>
            <a:off x="4599432" y="3099816"/>
            <a:ext cx="20117" cy="2331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44" name="Shape 40"/>
          <p:cNvSpPr/>
          <p:nvPr/>
        </p:nvSpPr>
        <p:spPr>
          <a:xfrm>
            <a:off x="4142232" y="2761488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4142232" y="276148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6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56418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</a:t>
            </a:r>
            <a:endParaRPr lang="en-US" sz="650" dirty="0"/>
          </a:p>
        </p:txBody>
      </p:sp>
      <p:sp>
        <p:nvSpPr>
          <p:cNvPr id="47" name="Text 43"/>
          <p:cNvSpPr txBox="1"/>
          <p:nvPr/>
        </p:nvSpPr>
        <p:spPr>
          <a:xfrm>
            <a:off x="4727448" y="5641848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50" dirty="0"/>
          </a:p>
        </p:txBody>
      </p:sp>
      <p:sp>
        <p:nvSpPr>
          <p:cNvPr id="48" name="Text 44"/>
          <p:cNvSpPr txBox="1"/>
          <p:nvPr/>
        </p:nvSpPr>
        <p:spPr>
          <a:xfrm>
            <a:off x="612648" y="5925312"/>
            <a:ext cx="6181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frozen Creatio series (extracts ended 4 Sep); 13 &amp; 20 Sep read live from HubSpot. The 7 Sep week falls inside the migration and is not reported.</a:t>
            </a:r>
            <a:endParaRPr lang="en-US" sz="650" dirty="0"/>
          </a:p>
        </p:txBody>
      </p:sp>
      <p:sp>
        <p:nvSpPr>
          <p:cNvPr id="49" name="Shape 45"/>
          <p:cNvSpPr/>
          <p:nvPr/>
        </p:nvSpPr>
        <p:spPr>
          <a:xfrm>
            <a:off x="7178040" y="239572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7379208" y="281635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backlog turned this week.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 490 beat resolved 591 — the first week since cutover where it did. Open rose 575 → 575, and the 8–30 day band carried it (249 → 242). The 90+ tail is still the win: 10 → 10.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 is where it is building.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band went 132 → 118 in the week, so 142 cases are now past 30 days against 142 a fortnight ago. Work aged 8–30 days is ageing through rather than closing.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still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 open cases show no first response. Migrated tickets answered only in Creatio count as unanswered here — treat as a ceiling until the transition washes through.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SLA fields are populating on new HubSpot tickets — attainment reporting returns once coverage is credible.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LAST WEEK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w/c 06 Sep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10,351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321808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94376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6400800" y="28163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101,282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94360" y="299008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084832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057400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18,954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3163824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136392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242816" y="299740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215384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5321808" y="2997403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294376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6400800" y="29900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100,713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" y="316382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>
            <a:off x="2084832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057400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22,385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3163824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36392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4242816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215384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5321808" y="3171139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294376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680" dirty="0"/>
          </a:p>
        </p:txBody>
      </p:sp>
      <p:sp>
        <p:nvSpPr>
          <p:cNvPr id="75" name="Text 73"/>
          <p:cNvSpPr txBox="1"/>
          <p:nvPr/>
        </p:nvSpPr>
        <p:spPr>
          <a:xfrm>
            <a:off x="6400800" y="316382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90,864</a:t>
            </a:r>
            <a:endParaRPr lang="en-US" sz="700" dirty="0"/>
          </a:p>
        </p:txBody>
      </p:sp>
      <p:sp>
        <p:nvSpPr>
          <p:cNvPr id="76" name="Text 74"/>
          <p:cNvSpPr txBox="1"/>
          <p:nvPr/>
        </p:nvSpPr>
        <p:spPr>
          <a:xfrm>
            <a:off x="594360" y="33375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084832" y="334487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057400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6,280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3163824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136392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4242816" y="3344875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4215384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83" name="Shape 81"/>
          <p:cNvSpPr/>
          <p:nvPr/>
        </p:nvSpPr>
        <p:spPr>
          <a:xfrm>
            <a:off x="5321808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294376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680" dirty="0"/>
          </a:p>
        </p:txBody>
      </p:sp>
      <p:sp>
        <p:nvSpPr>
          <p:cNvPr id="85" name="Text 83"/>
          <p:cNvSpPr txBox="1"/>
          <p:nvPr/>
        </p:nvSpPr>
        <p:spPr>
          <a:xfrm>
            <a:off x="6400800" y="33375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61,854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94360" y="351129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87" name="Shape 85"/>
          <p:cNvSpPr/>
          <p:nvPr/>
        </p:nvSpPr>
        <p:spPr>
          <a:xfrm>
            <a:off x="2084832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2057400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10,549</a:t>
            </a:r>
            <a:endParaRPr lang="en-US" sz="680" dirty="0"/>
          </a:p>
        </p:txBody>
      </p:sp>
      <p:sp>
        <p:nvSpPr>
          <p:cNvPr id="89" name="Shape 87"/>
          <p:cNvSpPr/>
          <p:nvPr/>
        </p:nvSpPr>
        <p:spPr>
          <a:xfrm>
            <a:off x="3163824" y="3518611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3136392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91" name="Shape 89"/>
          <p:cNvSpPr/>
          <p:nvPr/>
        </p:nvSpPr>
        <p:spPr>
          <a:xfrm>
            <a:off x="4242816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215384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93" name="Shape 91"/>
          <p:cNvSpPr/>
          <p:nvPr/>
        </p:nvSpPr>
        <p:spPr>
          <a:xfrm>
            <a:off x="5321808" y="351861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94376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680" dirty="0"/>
          </a:p>
        </p:txBody>
      </p:sp>
      <p:sp>
        <p:nvSpPr>
          <p:cNvPr id="95" name="Text 93"/>
          <p:cNvSpPr txBox="1"/>
          <p:nvPr/>
        </p:nvSpPr>
        <p:spPr>
          <a:xfrm>
            <a:off x="6400800" y="351129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53,795</a:t>
            </a:r>
            <a:endParaRPr lang="en-US" sz="700" dirty="0"/>
          </a:p>
        </p:txBody>
      </p:sp>
      <p:sp>
        <p:nvSpPr>
          <p:cNvPr id="96" name="Text 94"/>
          <p:cNvSpPr txBox="1"/>
          <p:nvPr/>
        </p:nvSpPr>
        <p:spPr>
          <a:xfrm>
            <a:off x="594360" y="368503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97" name="Shape 95"/>
          <p:cNvSpPr/>
          <p:nvPr/>
        </p:nvSpPr>
        <p:spPr>
          <a:xfrm>
            <a:off x="2084832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057400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12,955</a:t>
            </a:r>
            <a:endParaRPr lang="en-US" sz="680" dirty="0"/>
          </a:p>
        </p:txBody>
      </p:sp>
      <p:sp>
        <p:nvSpPr>
          <p:cNvPr id="99" name="Shape 97"/>
          <p:cNvSpPr/>
          <p:nvPr/>
        </p:nvSpPr>
        <p:spPr>
          <a:xfrm>
            <a:off x="3163824" y="3692347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136392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01" name="Shape 99"/>
          <p:cNvSpPr/>
          <p:nvPr/>
        </p:nvSpPr>
        <p:spPr>
          <a:xfrm>
            <a:off x="4242816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215384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03" name="Shape 101"/>
          <p:cNvSpPr/>
          <p:nvPr/>
        </p:nvSpPr>
        <p:spPr>
          <a:xfrm>
            <a:off x="5321808" y="3692347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294376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680" dirty="0"/>
          </a:p>
        </p:txBody>
      </p:sp>
      <p:sp>
        <p:nvSpPr>
          <p:cNvPr id="105" name="Text 103"/>
          <p:cNvSpPr txBox="1"/>
          <p:nvPr/>
        </p:nvSpPr>
        <p:spPr>
          <a:xfrm>
            <a:off x="6400800" y="36850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49,887</a:t>
            </a:r>
            <a:endParaRPr lang="en-US" sz="700" dirty="0"/>
          </a:p>
        </p:txBody>
      </p:sp>
      <p:sp>
        <p:nvSpPr>
          <p:cNvPr id="106" name="Text 104"/>
          <p:cNvSpPr txBox="1"/>
          <p:nvPr/>
        </p:nvSpPr>
        <p:spPr>
          <a:xfrm>
            <a:off x="594360" y="385876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07" name="Text 105"/>
          <p:cNvSpPr txBox="1"/>
          <p:nvPr/>
        </p:nvSpPr>
        <p:spPr>
          <a:xfrm>
            <a:off x="2057400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6"/>
          <p:cNvSpPr txBox="1"/>
          <p:nvPr/>
        </p:nvSpPr>
        <p:spPr>
          <a:xfrm>
            <a:off x="3136392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9" name="Shape 107"/>
          <p:cNvSpPr/>
          <p:nvPr/>
        </p:nvSpPr>
        <p:spPr>
          <a:xfrm>
            <a:off x="4242816" y="386608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4215384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11" name="Shape 109"/>
          <p:cNvSpPr/>
          <p:nvPr/>
        </p:nvSpPr>
        <p:spPr>
          <a:xfrm>
            <a:off x="5321808" y="3866083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294376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680" dirty="0"/>
          </a:p>
        </p:txBody>
      </p:sp>
      <p:sp>
        <p:nvSpPr>
          <p:cNvPr id="113" name="Text 111"/>
          <p:cNvSpPr txBox="1"/>
          <p:nvPr/>
        </p:nvSpPr>
        <p:spPr>
          <a:xfrm>
            <a:off x="6400800" y="3858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49,942</a:t>
            </a:r>
            <a:endParaRPr lang="en-US" sz="700" dirty="0"/>
          </a:p>
        </p:txBody>
      </p:sp>
      <p:sp>
        <p:nvSpPr>
          <p:cNvPr id="114" name="Text 112"/>
          <p:cNvSpPr txBox="1"/>
          <p:nvPr/>
        </p:nvSpPr>
        <p:spPr>
          <a:xfrm>
            <a:off x="594360" y="403250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15" name="Shape 113"/>
          <p:cNvSpPr/>
          <p:nvPr/>
        </p:nvSpPr>
        <p:spPr>
          <a:xfrm>
            <a:off x="2084832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057400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7,046</a:t>
            </a:r>
            <a:endParaRPr lang="en-US" sz="680" dirty="0"/>
          </a:p>
        </p:txBody>
      </p:sp>
      <p:sp>
        <p:nvSpPr>
          <p:cNvPr id="117" name="Shape 115"/>
          <p:cNvSpPr/>
          <p:nvPr/>
        </p:nvSpPr>
        <p:spPr>
          <a:xfrm>
            <a:off x="3163824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136392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19" name="Shape 117"/>
          <p:cNvSpPr/>
          <p:nvPr/>
        </p:nvSpPr>
        <p:spPr>
          <a:xfrm>
            <a:off x="4242816" y="403981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4215384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21" name="Shape 119"/>
          <p:cNvSpPr/>
          <p:nvPr/>
        </p:nvSpPr>
        <p:spPr>
          <a:xfrm>
            <a:off x="5321808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5294376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680" dirty="0"/>
          </a:p>
        </p:txBody>
      </p:sp>
      <p:sp>
        <p:nvSpPr>
          <p:cNvPr id="123" name="Text 121"/>
          <p:cNvSpPr txBox="1"/>
          <p:nvPr/>
        </p:nvSpPr>
        <p:spPr>
          <a:xfrm>
            <a:off x="6400800" y="403250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40,911</a:t>
            </a:r>
            <a:endParaRPr lang="en-US" sz="700" dirty="0"/>
          </a:p>
        </p:txBody>
      </p:sp>
      <p:sp>
        <p:nvSpPr>
          <p:cNvPr id="124" name="Text 122"/>
          <p:cNvSpPr txBox="1"/>
          <p:nvPr/>
        </p:nvSpPr>
        <p:spPr>
          <a:xfrm>
            <a:off x="594360" y="420624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25" name="Shape 123"/>
          <p:cNvSpPr/>
          <p:nvPr/>
        </p:nvSpPr>
        <p:spPr>
          <a:xfrm>
            <a:off x="2084832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2057400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885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3163824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136392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29" name="Shape 127"/>
          <p:cNvSpPr/>
          <p:nvPr/>
        </p:nvSpPr>
        <p:spPr>
          <a:xfrm>
            <a:off x="4242816" y="421355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4215384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31" name="Shape 129"/>
          <p:cNvSpPr/>
          <p:nvPr/>
        </p:nvSpPr>
        <p:spPr>
          <a:xfrm>
            <a:off x="5321808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94376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1,816</a:t>
            </a:r>
            <a:endParaRPr lang="en-US" sz="680" dirty="0"/>
          </a:p>
        </p:txBody>
      </p:sp>
      <p:sp>
        <p:nvSpPr>
          <p:cNvPr id="133" name="Text 131"/>
          <p:cNvSpPr txBox="1"/>
          <p:nvPr/>
        </p:nvSpPr>
        <p:spPr>
          <a:xfrm>
            <a:off x="6400800" y="42062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19,278</a:t>
            </a:r>
            <a:endParaRPr lang="en-US" sz="700" dirty="0"/>
          </a:p>
        </p:txBody>
      </p:sp>
      <p:sp>
        <p:nvSpPr>
          <p:cNvPr id="134" name="Text 132"/>
          <p:cNvSpPr txBox="1"/>
          <p:nvPr/>
        </p:nvSpPr>
        <p:spPr>
          <a:xfrm>
            <a:off x="594360" y="437997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35" name="Shape 133"/>
          <p:cNvSpPr/>
          <p:nvPr/>
        </p:nvSpPr>
        <p:spPr>
          <a:xfrm>
            <a:off x="2084832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2057400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1,666</a:t>
            </a:r>
            <a:endParaRPr lang="en-US" sz="680" dirty="0"/>
          </a:p>
        </p:txBody>
      </p:sp>
      <p:sp>
        <p:nvSpPr>
          <p:cNvPr id="137" name="Shape 135"/>
          <p:cNvSpPr/>
          <p:nvPr/>
        </p:nvSpPr>
        <p:spPr>
          <a:xfrm>
            <a:off x="3163824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3136392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39" name="Shape 137"/>
          <p:cNvSpPr/>
          <p:nvPr/>
        </p:nvSpPr>
        <p:spPr>
          <a:xfrm>
            <a:off x="4242816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4215384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41" name="Shape 139"/>
          <p:cNvSpPr/>
          <p:nvPr/>
        </p:nvSpPr>
        <p:spPr>
          <a:xfrm>
            <a:off x="5321808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294376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680" dirty="0"/>
          </a:p>
        </p:txBody>
      </p:sp>
      <p:sp>
        <p:nvSpPr>
          <p:cNvPr id="143" name="Text 141"/>
          <p:cNvSpPr txBox="1"/>
          <p:nvPr/>
        </p:nvSpPr>
        <p:spPr>
          <a:xfrm>
            <a:off x="6400800" y="43799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17,757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594360" y="4553712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94360" y="45811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46" name="Text 144"/>
          <p:cNvSpPr txBox="1"/>
          <p:nvPr/>
        </p:nvSpPr>
        <p:spPr>
          <a:xfrm>
            <a:off x="2057400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120,224</a:t>
            </a:r>
            <a:endParaRPr lang="en-US" sz="750" dirty="0"/>
          </a:p>
        </p:txBody>
      </p:sp>
      <p:sp>
        <p:nvSpPr>
          <p:cNvPr id="147" name="Text 145"/>
          <p:cNvSpPr txBox="1"/>
          <p:nvPr/>
        </p:nvSpPr>
        <p:spPr>
          <a:xfrm>
            <a:off x="3136392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48" name="Text 146"/>
          <p:cNvSpPr txBox="1"/>
          <p:nvPr/>
        </p:nvSpPr>
        <p:spPr>
          <a:xfrm>
            <a:off x="4215384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49" name="Text 147"/>
          <p:cNvSpPr txBox="1"/>
          <p:nvPr/>
        </p:nvSpPr>
        <p:spPr>
          <a:xfrm>
            <a:off x="5294376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</a:t>
            </a:r>
            <a:endParaRPr lang="en-US" sz="750" dirty="0"/>
          </a:p>
        </p:txBody>
      </p:sp>
      <p:sp>
        <p:nvSpPr>
          <p:cNvPr id="150" name="Text 148"/>
          <p:cNvSpPr txBox="1"/>
          <p:nvPr/>
        </p:nvSpPr>
        <p:spPr>
          <a:xfrm>
            <a:off x="6400800" y="45811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742,934</a:t>
            </a:r>
            <a:endParaRPr lang="en-US" sz="750" dirty="0"/>
          </a:p>
        </p:txBody>
      </p:sp>
      <p:sp>
        <p:nvSpPr>
          <p:cNvPr id="151" name="Text 149"/>
          <p:cNvSpPr txBox="1"/>
          <p:nvPr/>
        </p:nvSpPr>
        <p:spPr>
          <a:xfrm>
            <a:off x="594360" y="48920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2075688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205740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4" name="Text 152"/>
          <p:cNvSpPr txBox="1"/>
          <p:nvPr/>
        </p:nvSpPr>
        <p:spPr>
          <a:xfrm>
            <a:off x="205740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55" name="Shape 153"/>
          <p:cNvSpPr/>
          <p:nvPr/>
        </p:nvSpPr>
        <p:spPr>
          <a:xfrm>
            <a:off x="247737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245908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7" name="Text 155"/>
          <p:cNvSpPr txBox="1"/>
          <p:nvPr/>
        </p:nvSpPr>
        <p:spPr>
          <a:xfrm>
            <a:off x="245908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58" name="Shape 156"/>
          <p:cNvSpPr/>
          <p:nvPr/>
        </p:nvSpPr>
        <p:spPr>
          <a:xfrm>
            <a:off x="2879054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286076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0" name="Text 158"/>
          <p:cNvSpPr txBox="1"/>
          <p:nvPr/>
        </p:nvSpPr>
        <p:spPr>
          <a:xfrm>
            <a:off x="286076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3280737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326244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63" name="Text 161"/>
          <p:cNvSpPr txBox="1"/>
          <p:nvPr/>
        </p:nvSpPr>
        <p:spPr>
          <a:xfrm>
            <a:off x="326244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3682419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366413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6" name="Text 164"/>
          <p:cNvSpPr txBox="1"/>
          <p:nvPr/>
        </p:nvSpPr>
        <p:spPr>
          <a:xfrm>
            <a:off x="366413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4084102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406581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9" name="Text 167"/>
          <p:cNvSpPr txBox="1"/>
          <p:nvPr/>
        </p:nvSpPr>
        <p:spPr>
          <a:xfrm>
            <a:off x="406581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70" name="Shape 168"/>
          <p:cNvSpPr/>
          <p:nvPr/>
        </p:nvSpPr>
        <p:spPr>
          <a:xfrm>
            <a:off x="4485785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446749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2" name="Text 170"/>
          <p:cNvSpPr txBox="1"/>
          <p:nvPr/>
        </p:nvSpPr>
        <p:spPr>
          <a:xfrm>
            <a:off x="446749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73" name="Shape 171"/>
          <p:cNvSpPr/>
          <p:nvPr/>
        </p:nvSpPr>
        <p:spPr>
          <a:xfrm>
            <a:off x="4887468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486918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75" name="Text 173"/>
          <p:cNvSpPr txBox="1"/>
          <p:nvPr/>
        </p:nvSpPr>
        <p:spPr>
          <a:xfrm>
            <a:off x="486918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76" name="Shape 174"/>
          <p:cNvSpPr/>
          <p:nvPr/>
        </p:nvSpPr>
        <p:spPr>
          <a:xfrm>
            <a:off x="528915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527086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8" name="Text 176"/>
          <p:cNvSpPr txBox="1"/>
          <p:nvPr/>
        </p:nvSpPr>
        <p:spPr>
          <a:xfrm>
            <a:off x="527086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79" name="Shape 177"/>
          <p:cNvSpPr/>
          <p:nvPr/>
        </p:nvSpPr>
        <p:spPr>
          <a:xfrm>
            <a:off x="5690834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567254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81" name="Text 179"/>
          <p:cNvSpPr txBox="1"/>
          <p:nvPr/>
        </p:nvSpPr>
        <p:spPr>
          <a:xfrm>
            <a:off x="567254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82" name="Shape 180"/>
          <p:cNvSpPr/>
          <p:nvPr/>
        </p:nvSpPr>
        <p:spPr>
          <a:xfrm>
            <a:off x="6092517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607422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84" name="Text 182"/>
          <p:cNvSpPr txBox="1"/>
          <p:nvPr/>
        </p:nvSpPr>
        <p:spPr>
          <a:xfrm>
            <a:off x="607422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6494199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47591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187" name="Text 185"/>
          <p:cNvSpPr txBox="1"/>
          <p:nvPr/>
        </p:nvSpPr>
        <p:spPr>
          <a:xfrm>
            <a:off x="647591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6895882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687759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190" name="Text 188"/>
          <p:cNvSpPr txBox="1"/>
          <p:nvPr/>
        </p:nvSpPr>
        <p:spPr>
          <a:xfrm>
            <a:off x="687759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7297565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727927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193" name="Text 191"/>
          <p:cNvSpPr txBox="1"/>
          <p:nvPr/>
        </p:nvSpPr>
        <p:spPr>
          <a:xfrm>
            <a:off x="727927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194" name="Text 192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early weeks estimated from the admin's rolling windows</a:t>
            </a:r>
            <a:endParaRPr lang="en-US" sz="600" dirty="0"/>
          </a:p>
        </p:txBody>
      </p:sp>
      <p:sp>
        <p:nvSpPr>
          <p:cNvPr id="195" name="Shape 193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6" name="Text 194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197" name="Text 195"/>
          <p:cNvSpPr txBox="1"/>
          <p:nvPr/>
        </p:nvSpPr>
        <p:spPr>
          <a:xfrm>
            <a:off x="8275320" y="25968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~137</a:t>
            </a:r>
            <a:endParaRPr lang="en-US" sz="3000" dirty="0"/>
          </a:p>
        </p:txBody>
      </p:sp>
      <p:sp>
        <p:nvSpPr>
          <p:cNvPr id="198" name="Text 196"/>
          <p:cNvSpPr txBox="1"/>
          <p:nvPr/>
        </p:nvSpPr>
        <p:spPr>
          <a:xfrm>
            <a:off x="9555480" y="2624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~130 baseline</a:t>
            </a:r>
            <a:endParaRPr lang="en-US" sz="750" dirty="0"/>
          </a:p>
        </p:txBody>
      </p:sp>
      <p:sp>
        <p:nvSpPr>
          <p:cNvPr id="199" name="Text 197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00" name="Text 198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-3</a:t>
            </a:r>
            <a:endParaRPr lang="en-US" sz="680" dirty="0"/>
          </a:p>
        </p:txBody>
      </p:sp>
      <p:sp>
        <p:nvSpPr>
          <p:cNvPr id="201" name="Text 199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750" dirty="0"/>
          </a:p>
        </p:txBody>
      </p:sp>
      <p:sp>
        <p:nvSpPr>
          <p:cNvPr id="202" name="Text 200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03" name="Text 201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04" name="Text 202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06" name="Text 204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-4</a:t>
            </a:r>
            <a:endParaRPr lang="en-US" sz="680" dirty="0"/>
          </a:p>
        </p:txBody>
      </p:sp>
      <p:sp>
        <p:nvSpPr>
          <p:cNvPr id="207" name="Text 205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75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09" name="Text 207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0" name="Text 208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750" dirty="0"/>
          </a:p>
        </p:txBody>
      </p:sp>
      <p:sp>
        <p:nvSpPr>
          <p:cNvPr id="211" name="Text 209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3" name="Text 211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14" name="Text 212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16" name="Text 214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17" name="Text 215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19" name="Text 217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0" name="Text 218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2" name="Text 220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3" name="Text 221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25" name="Text 223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226" name="Text 224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8" name="Text 226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229" name="Text 227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last capture · — = first capture</a:t>
            </a:r>
            <a:endParaRPr lang="en-US" sz="600" dirty="0"/>
          </a:p>
        </p:txBody>
      </p:sp>
      <p:sp>
        <p:nvSpPr>
          <p:cNvPr id="230" name="Shape 228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1" name="Text 229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2" name="Text 230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is the stickiest surface at 64% DAU/MAU against Claude Code's 63%. September code output stands at 101,159 lines, 66,273 of them since the 20 Sep capture, with Nicolas Ibrahim on 27,783 alone. 30-day Cowork sessions: engineering shows zeros (Hawraa, Chris, Eric, Tony, Brad, Nidhi, Rahul) — engineers live in Claude Code; Cowork is the ops/leadership surface.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9326880" y="6510528"/>
            <a:ext cx="2450592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34" name="Text 232"/>
          <p:cNvSpPr txBox="1"/>
          <p:nvPr/>
        </p:nvSpPr>
        <p:spPr>
          <a:xfrm>
            <a:off x="9326880" y="6510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weekly capture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9" name="Shape 7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0" name="Shape 8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1" name="Shape 9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drafts and voice triage handover, Autonomous launching on Sysnet and Exceed and gates will start to open progressively.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 – just cautiously rolling out.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is still ongoing but on track for 30 September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to build out reporting. The reporting scope from Anicca was limited.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Waiting on outcome.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2026-09-28T06:51:37Z</dcterms:created>
  <dcterms:modified xsi:type="dcterms:W3CDTF">2026-09-28T06:51:37Z</dcterms:modified>
</cp:coreProperties>
</file>