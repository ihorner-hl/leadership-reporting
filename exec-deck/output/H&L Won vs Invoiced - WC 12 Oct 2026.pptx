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Won (HubSpot)</c:v>
                </c:pt>
              </c:strCache>
            </c:strRef>
          </c:tx>
          <c:spPr>
            <a:solidFill>
              <a:srgbClr val="2C8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4077</c:v>
                </c:pt>
                <c:pt idx="1">
                  <c:v>7481</c:v>
                </c:pt>
                <c:pt idx="2">
                  <c:v>16726</c:v>
                </c:pt>
                <c:pt idx="3">
                  <c:v>3839</c:v>
                </c:pt>
                <c:pt idx="4">
                  <c:v>1967</c:v>
                </c:pt>
                <c:pt idx="5">
                  <c:v>12943</c:v>
                </c:pt>
                <c:pt idx="6">
                  <c:v>969</c:v>
                </c:pt>
                <c:pt idx="7">
                  <c:v>1935</c:v>
                </c:pt>
                <c:pt idx="8">
                  <c:v>8778</c:v>
                </c:pt>
                <c:pt idx="9">
                  <c:v>3889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Invoiced (register)</c:v>
                </c:pt>
              </c:strCache>
            </c:strRef>
          </c:tx>
          <c:spPr>
            <a:solidFill>
              <a:srgbClr val="3D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2829</c:v>
                </c:pt>
                <c:pt idx="1">
                  <c:v>5205</c:v>
                </c:pt>
                <c:pt idx="2">
                  <c:v>5883</c:v>
                </c:pt>
                <c:pt idx="3">
                  <c:v>3463</c:v>
                </c:pt>
                <c:pt idx="4">
                  <c:v>5482</c:v>
                </c:pt>
                <c:pt idx="5">
                  <c:v>7087</c:v>
                </c:pt>
                <c:pt idx="6">
                  <c:v>4860</c:v>
                </c:pt>
                <c:pt idx="7">
                  <c:v>3700</c:v>
                </c:pt>
                <c:pt idx="8">
                  <c:v>6853</c:v>
                </c:pt>
                <c:pt idx="9">
                  <c:v>3817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5E7280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vs Invoiced &amp; Retention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Sales, Professional Services &amp;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67208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" y="1097280"/>
            <a:ext cx="6318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— WON VS INVOICED BY MONTH · 2026   </a:t>
            </a:r>
            <a:pPr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series live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" y="1335024"/>
          <a:ext cx="6318504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12648" y="3538728"/>
            <a:ext cx="6318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7269480" y="1005840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34072" y="109728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AWAITING INVOICE — ARR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15784" y="128016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$233k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34072" y="1609344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of the 78 deals won with software MRR in 2026 have no row on the register · Oscars Group is $155k of it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7269480" y="1993392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434072" y="208483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CHURNED ARR · 2025→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15784" y="226771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$1.28M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34072" y="2596896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271 logos · MRR movement register, live · HubSpot churn object stopped being maintained after February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7269480" y="2980944"/>
            <a:ext cx="4507992" cy="905256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434072" y="3072384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 MRR MOVEMENT · Q4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415784" y="3255264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-$7.7k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434072" y="3584448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to 18 Oct · new $3.8k − churn $9.4k − contraction $2.1k − credits $0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6309360" y="4023360"/>
            <a:ext cx="5468112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10528" y="410565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10 NOT INVOICED 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— sums to the awaiting figure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748272" y="4352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4352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43525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MRR/mo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10652760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11155680" y="4352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6510528" y="453542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6748272" y="453542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Hotels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9052560" y="453542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$155k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9921240" y="453542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$12,880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10652760" y="45354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155680" y="45354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◆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510528" y="4710989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6748272" y="4710989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 Henry Tavern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9052560" y="471098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$11k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9921240" y="4710989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$905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10652760" y="4710989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1155680" y="4710989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6510528" y="488655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6748272" y="488655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Caves House Hotel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9052560" y="488655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$8k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9921240" y="488655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$669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10652760" y="488655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11155680" y="488655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6510528" y="506211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6748272" y="506211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Pier Hotel - Pt Lincoln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9052560" y="506211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$8k</a:t>
            </a:r>
            <a:endParaRPr lang="en-US" sz="750" dirty="0"/>
          </a:p>
        </p:txBody>
      </p:sp>
      <p:sp>
        <p:nvSpPr>
          <p:cNvPr id="57" name="Text 54"/>
          <p:cNvSpPr txBox="1"/>
          <p:nvPr/>
        </p:nvSpPr>
        <p:spPr>
          <a:xfrm>
            <a:off x="9921240" y="506211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$648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0652760" y="506211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1155680" y="506211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6510528" y="523768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6748272" y="523768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Iris Pavilion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9052560" y="523768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$7k</a:t>
            </a:r>
            <a:endParaRPr lang="en-US" sz="750" dirty="0"/>
          </a:p>
        </p:txBody>
      </p:sp>
      <p:sp>
        <p:nvSpPr>
          <p:cNvPr id="63" name="Text 60"/>
          <p:cNvSpPr txBox="1"/>
          <p:nvPr/>
        </p:nvSpPr>
        <p:spPr>
          <a:xfrm>
            <a:off x="9921240" y="523768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$623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10652760" y="523768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155680" y="523768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6510528" y="541324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700" dirty="0"/>
          </a:p>
        </p:txBody>
      </p:sp>
      <p:sp>
        <p:nvSpPr>
          <p:cNvPr id="67" name="Text 64"/>
          <p:cNvSpPr txBox="1"/>
          <p:nvPr/>
        </p:nvSpPr>
        <p:spPr>
          <a:xfrm>
            <a:off x="6748272" y="541324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Berrigan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9052560" y="541324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69" name="Text 66"/>
          <p:cNvSpPr txBox="1"/>
          <p:nvPr/>
        </p:nvSpPr>
        <p:spPr>
          <a:xfrm>
            <a:off x="9921240" y="541324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$475</a:t>
            </a:r>
            <a:endParaRPr lang="en-US" sz="750" dirty="0"/>
          </a:p>
        </p:txBody>
      </p:sp>
      <p:sp>
        <p:nvSpPr>
          <p:cNvPr id="70" name="Text 67"/>
          <p:cNvSpPr txBox="1"/>
          <p:nvPr/>
        </p:nvSpPr>
        <p:spPr>
          <a:xfrm>
            <a:off x="10652760" y="5413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1155680" y="541324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72" name="Text 69"/>
          <p:cNvSpPr txBox="1"/>
          <p:nvPr/>
        </p:nvSpPr>
        <p:spPr>
          <a:xfrm>
            <a:off x="6510528" y="558881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6748272" y="558881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Carolina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052560" y="558881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9921240" y="558881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$474</a:t>
            </a:r>
            <a:endParaRPr lang="en-US" sz="750" dirty="0"/>
          </a:p>
        </p:txBody>
      </p:sp>
      <p:sp>
        <p:nvSpPr>
          <p:cNvPr id="76" name="Text 73"/>
          <p:cNvSpPr txBox="1"/>
          <p:nvPr/>
        </p:nvSpPr>
        <p:spPr>
          <a:xfrm>
            <a:off x="10652760" y="558881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1155680" y="558881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78" name="Text 75"/>
          <p:cNvSpPr txBox="1"/>
          <p:nvPr/>
        </p:nvSpPr>
        <p:spPr>
          <a:xfrm>
            <a:off x="6510528" y="576437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6748272" y="576437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Hotel Augusta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052560" y="576437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9921240" y="576437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</a:t>
            </a:r>
            <a:endParaRPr lang="en-US" sz="750" dirty="0"/>
          </a:p>
        </p:txBody>
      </p:sp>
      <p:sp>
        <p:nvSpPr>
          <p:cNvPr id="82" name="Text 79"/>
          <p:cNvSpPr txBox="1"/>
          <p:nvPr/>
        </p:nvSpPr>
        <p:spPr>
          <a:xfrm>
            <a:off x="10652760" y="576437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11155680" y="576437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84" name="Text 81"/>
          <p:cNvSpPr txBox="1"/>
          <p:nvPr/>
        </p:nvSpPr>
        <p:spPr>
          <a:xfrm>
            <a:off x="6510528" y="593994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700" dirty="0"/>
          </a:p>
        </p:txBody>
      </p:sp>
      <p:sp>
        <p:nvSpPr>
          <p:cNvPr id="85" name="Text 82"/>
          <p:cNvSpPr txBox="1"/>
          <p:nvPr/>
        </p:nvSpPr>
        <p:spPr>
          <a:xfrm>
            <a:off x="6748272" y="593994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Star Hotel (Milton)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9052560" y="593994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9921240" y="593994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$392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10652760" y="593994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11155680" y="5939942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90" name="Text 87"/>
          <p:cNvSpPr txBox="1"/>
          <p:nvPr/>
        </p:nvSpPr>
        <p:spPr>
          <a:xfrm>
            <a:off x="6510528" y="6115507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700" dirty="0"/>
          </a:p>
        </p:txBody>
      </p:sp>
      <p:sp>
        <p:nvSpPr>
          <p:cNvPr id="91" name="Text 88"/>
          <p:cNvSpPr txBox="1"/>
          <p:nvPr/>
        </p:nvSpPr>
        <p:spPr>
          <a:xfrm>
            <a:off x="6748272" y="6115507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Orient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9052560" y="6115507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93" name="Text 90"/>
          <p:cNvSpPr txBox="1"/>
          <p:nvPr/>
        </p:nvSpPr>
        <p:spPr>
          <a:xfrm>
            <a:off x="9921240" y="6115507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$377</a:t>
            </a:r>
            <a:endParaRPr lang="en-US" sz="750" dirty="0"/>
          </a:p>
        </p:txBody>
      </p:sp>
      <p:sp>
        <p:nvSpPr>
          <p:cNvPr id="94" name="Text 91"/>
          <p:cNvSpPr txBox="1"/>
          <p:nvPr/>
        </p:nvSpPr>
        <p:spPr>
          <a:xfrm>
            <a:off x="10652760" y="6115507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11155680" y="6115507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411480" y="4023360"/>
            <a:ext cx="5760720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7" name="Text 94"/>
          <p:cNvSpPr txBox="1"/>
          <p:nvPr/>
        </p:nvSpPr>
        <p:spPr>
          <a:xfrm>
            <a:off x="612648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612648" y="4425696"/>
            <a:ext cx="5349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has won more than it has invoiced for a second month.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$3,889 won against $3,817 invoiced, after $8,778 against $6,853 in September. Both series read live for ten months, and AVC new sites are now out of the won series.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 is still the whole story: $1.28M of ARR across 271 logos since Jan 2025.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is −$7.7k net — $3.8k in against $9.4k of churn and $2.1k of contraction, eighteen days in. Two more logos went this week: Solotel Sackville divested, Zig Zag Lithgow to a competitor.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$233k of ARR is won with no row on the register.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of the 78 deals that carried software MRR in 2026. Oscars Group is $155k of it — 66%. The PS pack breaks the whole list down by age.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◆ Oscars Group — signed, ~1.5x rollout, held by the old provider's contract terms. AVC new sites are excluded throughout — 17 deals worth $8,759 of 2026 software MRR, parked licences that are not counted in MRR or ARR. Eight more sit below the cut, worth $1.6k/mo.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411480" y="6455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= monthly MRR × 12 · matched on debtor ID and venue name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closed-won deals (total_software_cost, AVC excluded) + MRR movement register (live, 19 Oct)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2026-10-19T11:29:52Z</dcterms:created>
  <dcterms:modified xsi:type="dcterms:W3CDTF">2026-10-19T11:29:52Z</dcterms:modified>
</cp:coreProperties>
</file>