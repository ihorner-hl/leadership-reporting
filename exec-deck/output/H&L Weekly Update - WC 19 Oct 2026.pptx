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Won (HubSpot)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4077</c:v>
                </c:pt>
                <c:pt idx="1">
                  <c:v>7481</c:v>
                </c:pt>
                <c:pt idx="2">
                  <c:v>16726</c:v>
                </c:pt>
                <c:pt idx="3">
                  <c:v>3839</c:v>
                </c:pt>
                <c:pt idx="4">
                  <c:v>1967</c:v>
                </c:pt>
                <c:pt idx="5">
                  <c:v>12943</c:v>
                </c:pt>
                <c:pt idx="6">
                  <c:v>969</c:v>
                </c:pt>
                <c:pt idx="7">
                  <c:v>1935</c:v>
                </c:pt>
                <c:pt idx="8">
                  <c:v>8130</c:v>
                </c:pt>
                <c:pt idx="9">
                  <c:v>6441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(register)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2829</c:v>
                </c:pt>
                <c:pt idx="1">
                  <c:v>5205</c:v>
                </c:pt>
                <c:pt idx="2">
                  <c:v>5883</c:v>
                </c:pt>
                <c:pt idx="3">
                  <c:v>3463</c:v>
                </c:pt>
                <c:pt idx="4">
                  <c:v>5482</c:v>
                </c:pt>
                <c:pt idx="5">
                  <c:v>7087</c:v>
                </c:pt>
                <c:pt idx="6">
                  <c:v>4860</c:v>
                </c:pt>
                <c:pt idx="7">
                  <c:v>3700</c:v>
                </c:pt>
                <c:pt idx="8">
                  <c:v>6853</c:v>
                </c:pt>
                <c:pt idx="9">
                  <c:v>3817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329</c:v>
                </c:pt>
                <c:pt idx="1">
                  <c:v>332</c:v>
                </c:pt>
                <c:pt idx="2">
                  <c:v>391</c:v>
                </c:pt>
                <c:pt idx="3">
                  <c:v>362</c:v>
                </c:pt>
                <c:pt idx="4">
                  <c:v>322</c:v>
                </c:pt>
                <c:pt idx="5">
                  <c:v>325</c:v>
                </c:pt>
                <c:pt idx="6">
                  <c:v>355</c:v>
                </c:pt>
                <c:pt idx="7">
                  <c:v>384</c:v>
                </c:pt>
                <c:pt idx="8">
                  <c:v>324</c:v>
                </c:pt>
                <c:pt idx="9">
                  <c:v>372</c:v>
                </c:pt>
                <c:pt idx="10">
                  <c:v>331</c:v>
                </c:pt>
                <c:pt idx="11">
                  <c:v>333</c:v>
                </c:pt>
                <c:pt idx="12">
                  <c:v>306</c:v>
                </c:pt>
                <c:pt idx="13">
                  <c:v>425</c:v>
                </c:pt>
                <c:pt idx="14">
                  <c:v>432</c:v>
                </c:pt>
                <c:pt idx="15">
                  <c:v>644</c:v>
                </c:pt>
                <c:pt idx="16">
                  <c:v>466</c:v>
                </c:pt>
                <c:pt idx="17">
                  <c:v>412</c:v>
                </c:pt>
                <c:pt idx="18">
                  <c:v>451</c:v>
                </c:pt>
                <c:pt idx="19">
                  <c:v>492</c:v>
                </c:pt>
                <c:pt idx="20">
                  <c:v>490</c:v>
                </c:pt>
                <c:pt idx="21">
                  <c:v>450</c:v>
                </c:pt>
                <c:pt idx="22">
                  <c:v>417</c:v>
                </c:pt>
                <c:pt idx="23">
                  <c:v>561</c:v>
                </c:pt>
                <c:pt idx="24">
                  <c:v>396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281</c:v>
                </c:pt>
                <c:pt idx="1">
                  <c:v>298</c:v>
                </c:pt>
                <c:pt idx="2">
                  <c:v>319</c:v>
                </c:pt>
                <c:pt idx="3">
                  <c:v>287</c:v>
                </c:pt>
                <c:pt idx="4">
                  <c:v>406</c:v>
                </c:pt>
                <c:pt idx="5">
                  <c:v>292</c:v>
                </c:pt>
                <c:pt idx="6">
                  <c:v>371</c:v>
                </c:pt>
                <c:pt idx="7">
                  <c:v>402</c:v>
                </c:pt>
                <c:pt idx="8">
                  <c:v>266</c:v>
                </c:pt>
                <c:pt idx="9">
                  <c:v>315</c:v>
                </c:pt>
                <c:pt idx="10">
                  <c:v>487</c:v>
                </c:pt>
                <c:pt idx="11">
                  <c:v>524</c:v>
                </c:pt>
                <c:pt idx="12">
                  <c:v>329</c:v>
                </c:pt>
                <c:pt idx="13">
                  <c:v>359</c:v>
                </c:pt>
                <c:pt idx="14">
                  <c:v>292</c:v>
                </c:pt>
                <c:pt idx="15">
                  <c:v>465</c:v>
                </c:pt>
                <c:pt idx="16">
                  <c:v>454</c:v>
                </c:pt>
                <c:pt idx="17">
                  <c:v>343</c:v>
                </c:pt>
                <c:pt idx="18">
                  <c:v>347</c:v>
                </c:pt>
                <c:pt idx="19">
                  <c:v>607</c:v>
                </c:pt>
                <c:pt idx="20">
                  <c:v>419</c:v>
                </c:pt>
                <c:pt idx="21">
                  <c:v>431</c:v>
                </c:pt>
                <c:pt idx="22">
                  <c:v>426</c:v>
                </c:pt>
                <c:pt idx="23">
                  <c:v>608</c:v>
                </c:pt>
                <c:pt idx="24">
                  <c:v>597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Net movement (new − closed)</c:v>
                </c:pt>
              </c:strCache>
            </c:strRef>
          </c:tx>
          <c:spPr>
            <a:solidFill>
              <a:srgbClr val="C2562A"/>
            </a:solidFill>
            <a:ln w="31750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48</c:v>
                </c:pt>
                <c:pt idx="1">
                  <c:v>34</c:v>
                </c:pt>
                <c:pt idx="2">
                  <c:v>72</c:v>
                </c:pt>
                <c:pt idx="3">
                  <c:v>75</c:v>
                </c:pt>
                <c:pt idx="4">
                  <c:v>-84</c:v>
                </c:pt>
                <c:pt idx="5">
                  <c:v>33</c:v>
                </c:pt>
                <c:pt idx="6">
                  <c:v>-16</c:v>
                </c:pt>
                <c:pt idx="7">
                  <c:v>-18</c:v>
                </c:pt>
                <c:pt idx="8">
                  <c:v>58</c:v>
                </c:pt>
                <c:pt idx="9">
                  <c:v>57</c:v>
                </c:pt>
                <c:pt idx="10">
                  <c:v>-156</c:v>
                </c:pt>
                <c:pt idx="11">
                  <c:v>-191</c:v>
                </c:pt>
                <c:pt idx="12">
                  <c:v>-23</c:v>
                </c:pt>
                <c:pt idx="13">
                  <c:v>66</c:v>
                </c:pt>
                <c:pt idx="14">
                  <c:v>140</c:v>
                </c:pt>
                <c:pt idx="15">
                  <c:v>179</c:v>
                </c:pt>
                <c:pt idx="16">
                  <c:v>12</c:v>
                </c:pt>
                <c:pt idx="17">
                  <c:v>69</c:v>
                </c:pt>
                <c:pt idx="18">
                  <c:v>104</c:v>
                </c:pt>
                <c:pt idx="19">
                  <c:v>-115</c:v>
                </c:pt>
                <c:pt idx="20">
                  <c:v>71</c:v>
                </c:pt>
                <c:pt idx="21">
                  <c:v>19</c:v>
                </c:pt>
                <c:pt idx="22">
                  <c:v>-9</c:v>
                </c:pt>
                <c:pt idx="23">
                  <c:v>-47</c:v>
                </c:pt>
                <c:pt idx="24">
                  <c:v>-201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800"/>
          <c:min val="-3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19 October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24 Oct 2026 (first pass)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PASS — HUBSPOT LIVE TO 24 OCT · FILE DROPS PENDING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 at the 18 Oct Sysnet extract — Q4 hardware $99k = 14% of the $715k OKR2 against a 26% pace mark; this week's extract lands Monday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new MRR invoiced $3.8k = 14% of OKR2 (register as at 18 Oct); HubSpot shows $6.4k of software MRR won in October to 24 Oct, $2.6k of it this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 3.7% so far — 11.5h of 311.6h (Argenis and Karim out Thu–Fri); last week restated 13.0% → 16.8% (39.45h → 51.02h), so this is a floor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 358 vs resolved 555 to Sat — backlog 588 → 393, third straight fall; 54 of the closes were a single bulk close of September voice tickets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as at 19 Sep: 10 done · 12 on track · 3 not started · 2 at risk — tracker refresh now six weeks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 at the 19 Oct capture — 40 of 51 active weekly, 14 daily; October code output 329,436 lines to 19 Oct; refresh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Q4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as at 18 Oct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137160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pending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58887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77924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26%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Q4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$99k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pending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58887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751179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26%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(26%)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002536" y="2724912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18 Oct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599432" y="272491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18 Oct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002536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514600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044952" y="29443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3904488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Δ WK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99432" y="29443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5184648" y="294436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5843016" y="294436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2944368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318211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002536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2514600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081528" y="329412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7" name="Shape 45"/>
          <p:cNvSpPr/>
          <p:nvPr/>
        </p:nvSpPr>
        <p:spPr>
          <a:xfrm>
            <a:off x="3081528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48" name="Shape 46"/>
          <p:cNvSpPr/>
          <p:nvPr/>
        </p:nvSpPr>
        <p:spPr>
          <a:xfrm>
            <a:off x="3214116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3016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3904488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599432" y="318211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184648" y="318211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879592" y="3294126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5879592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55" name="Shape 53"/>
          <p:cNvSpPr/>
          <p:nvPr/>
        </p:nvSpPr>
        <p:spPr>
          <a:xfrm>
            <a:off x="6016935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6480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830568" y="318211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12648" y="349758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002536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2514600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$658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081528" y="360959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3081528" y="3609594"/>
            <a:ext cx="71323" cy="100584"/>
          </a:xfrm>
          <a:prstGeom prst="roundRect">
            <a:avLst>
              <a:gd name="adj" fmla="val 64103"/>
            </a:avLst>
          </a:prstGeom>
          <a:solidFill>
            <a:srgbClr val="B4552D"/>
          </a:solidFill>
          <a:ln/>
        </p:spPr>
      </p:sp>
      <p:sp>
        <p:nvSpPr>
          <p:cNvPr id="64" name="Shape 62"/>
          <p:cNvSpPr/>
          <p:nvPr/>
        </p:nvSpPr>
        <p:spPr>
          <a:xfrm>
            <a:off x="3214116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63016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3904488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4599432" y="349758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5184648" y="349758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879592" y="3609594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5879592" y="3609594"/>
            <a:ext cx="62362" cy="100584"/>
          </a:xfrm>
          <a:prstGeom prst="roundRect">
            <a:avLst>
              <a:gd name="adj" fmla="val 73314"/>
            </a:avLst>
          </a:prstGeom>
          <a:solidFill>
            <a:srgbClr val="B4552D"/>
          </a:solidFill>
          <a:ln/>
        </p:spPr>
      </p:sp>
      <p:sp>
        <p:nvSpPr>
          <p:cNvPr id="71" name="Shape 69"/>
          <p:cNvSpPr/>
          <p:nvPr/>
        </p:nvSpPr>
        <p:spPr>
          <a:xfrm>
            <a:off x="6016935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6480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11%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830568" y="349758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12648" y="3813048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2002536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7" name="Text 75"/>
          <p:cNvSpPr txBox="1"/>
          <p:nvPr/>
        </p:nvSpPr>
        <p:spPr>
          <a:xfrm>
            <a:off x="2514600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$177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081528" y="3925062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3081528" y="392506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80" name="Shape 78"/>
          <p:cNvSpPr/>
          <p:nvPr/>
        </p:nvSpPr>
        <p:spPr>
          <a:xfrm>
            <a:off x="3214116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63016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904488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4599432" y="3813048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5184648" y="3813048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5879592" y="3925062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6" name="Shape 84"/>
          <p:cNvSpPr/>
          <p:nvPr/>
        </p:nvSpPr>
        <p:spPr>
          <a:xfrm>
            <a:off x="5879592" y="392506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87" name="Shape 85"/>
          <p:cNvSpPr/>
          <p:nvPr/>
        </p:nvSpPr>
        <p:spPr>
          <a:xfrm>
            <a:off x="6016935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46480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endParaRPr lang="en-US" sz="8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3813048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12648" y="4128516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2002536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93" name="Text 91"/>
          <p:cNvSpPr txBox="1"/>
          <p:nvPr/>
        </p:nvSpPr>
        <p:spPr>
          <a:xfrm>
            <a:off x="2514600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3081528" y="4240530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5" name="Shape 93"/>
          <p:cNvSpPr/>
          <p:nvPr/>
        </p:nvSpPr>
        <p:spPr>
          <a:xfrm>
            <a:off x="3081528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6" name="Shape 94"/>
          <p:cNvSpPr/>
          <p:nvPr/>
        </p:nvSpPr>
        <p:spPr>
          <a:xfrm>
            <a:off x="3214116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3016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36%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3904488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4599432" y="4128516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100" name="Text 98"/>
          <p:cNvSpPr txBox="1"/>
          <p:nvPr/>
        </p:nvSpPr>
        <p:spPr>
          <a:xfrm>
            <a:off x="5184648" y="4128516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879592" y="4240530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879592" y="4240530"/>
            <a:ext cx="85039" cy="100584"/>
          </a:xfrm>
          <a:prstGeom prst="roundRect">
            <a:avLst>
              <a:gd name="adj" fmla="val 53764"/>
            </a:avLst>
          </a:prstGeom>
          <a:solidFill>
            <a:srgbClr val="B4552D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016935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46480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6830568" y="4128516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12648" y="4443984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8" name="Text 106"/>
          <p:cNvSpPr txBox="1"/>
          <p:nvPr/>
        </p:nvSpPr>
        <p:spPr>
          <a:xfrm>
            <a:off x="2002536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2514600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$98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3081528" y="4555998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81528" y="4555998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214116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363016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endParaRPr lang="en-US" sz="800" dirty="0"/>
          </a:p>
        </p:txBody>
      </p:sp>
      <p:sp>
        <p:nvSpPr>
          <p:cNvPr id="114" name="Text 112"/>
          <p:cNvSpPr txBox="1"/>
          <p:nvPr/>
        </p:nvSpPr>
        <p:spPr>
          <a:xfrm>
            <a:off x="3904488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15" name="Text 113"/>
          <p:cNvSpPr txBox="1"/>
          <p:nvPr/>
        </p:nvSpPr>
        <p:spPr>
          <a:xfrm>
            <a:off x="4599432" y="4443984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184648" y="4443984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$37k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879592" y="4555998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879592" y="4555998"/>
            <a:ext cx="38551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016935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46480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68%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6830568" y="4443984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12648" y="475945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2002536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2514600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3081528" y="487146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81528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214116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3630168" y="475945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30" name="Text 128"/>
          <p:cNvSpPr txBox="1"/>
          <p:nvPr/>
        </p:nvSpPr>
        <p:spPr>
          <a:xfrm>
            <a:off x="3904488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4599432" y="475945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32" name="Text 130"/>
          <p:cNvSpPr txBox="1"/>
          <p:nvPr/>
        </p:nvSpPr>
        <p:spPr>
          <a:xfrm>
            <a:off x="5184648" y="475945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3" name="Text 131"/>
          <p:cNvSpPr txBox="1"/>
          <p:nvPr/>
        </p:nvSpPr>
        <p:spPr>
          <a:xfrm>
            <a:off x="5843016" y="4759452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4" name="Text 132"/>
          <p:cNvSpPr txBox="1"/>
          <p:nvPr/>
        </p:nvSpPr>
        <p:spPr>
          <a:xfrm>
            <a:off x="6830568" y="475945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612648" y="507492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7" name="Text 135"/>
          <p:cNvSpPr txBox="1"/>
          <p:nvPr/>
        </p:nvSpPr>
        <p:spPr>
          <a:xfrm>
            <a:off x="2002536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2514600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3081528" y="518693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081528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214116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3630168" y="507492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7%</a:t>
            </a:r>
            <a:endParaRPr lang="en-US" sz="800" dirty="0"/>
          </a:p>
        </p:txBody>
      </p:sp>
      <p:sp>
        <p:nvSpPr>
          <p:cNvPr id="143" name="Text 141"/>
          <p:cNvSpPr txBox="1"/>
          <p:nvPr/>
        </p:nvSpPr>
        <p:spPr>
          <a:xfrm>
            <a:off x="3904488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599432" y="507492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184648" y="507492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5843016" y="5074920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47" name="Text 145"/>
          <p:cNvSpPr txBox="1"/>
          <p:nvPr/>
        </p:nvSpPr>
        <p:spPr>
          <a:xfrm>
            <a:off x="6830568" y="507492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8" name="Shape 146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612648" y="54269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50" name="Text 148"/>
          <p:cNvSpPr txBox="1"/>
          <p:nvPr/>
        </p:nvSpPr>
        <p:spPr>
          <a:xfrm>
            <a:off x="2002536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51" name="Text 149"/>
          <p:cNvSpPr txBox="1"/>
          <p:nvPr/>
        </p:nvSpPr>
        <p:spPr>
          <a:xfrm>
            <a:off x="2514600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52" name="Text 150"/>
          <p:cNvSpPr txBox="1"/>
          <p:nvPr/>
        </p:nvSpPr>
        <p:spPr>
          <a:xfrm>
            <a:off x="3904488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53" name="Text 151"/>
          <p:cNvSpPr txBox="1"/>
          <p:nvPr/>
        </p:nvSpPr>
        <p:spPr>
          <a:xfrm>
            <a:off x="4599432" y="54269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54" name="Text 152"/>
          <p:cNvSpPr txBox="1"/>
          <p:nvPr/>
        </p:nvSpPr>
        <p:spPr>
          <a:xfrm>
            <a:off x="5184648" y="542696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$99k</a:t>
            </a:r>
            <a:endParaRPr lang="en-US" sz="850" dirty="0"/>
          </a:p>
        </p:txBody>
      </p:sp>
      <p:sp>
        <p:nvSpPr>
          <p:cNvPr id="155" name="Text 153"/>
          <p:cNvSpPr txBox="1"/>
          <p:nvPr/>
        </p:nvSpPr>
        <p:spPr>
          <a:xfrm>
            <a:off x="5843016" y="542696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850" dirty="0"/>
          </a:p>
        </p:txBody>
      </p:sp>
      <p:sp>
        <p:nvSpPr>
          <p:cNvPr id="156" name="Text 154"/>
          <p:cNvSpPr txBox="1"/>
          <p:nvPr/>
        </p:nvSpPr>
        <p:spPr>
          <a:xfrm>
            <a:off x="6830568" y="5426964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57" name="Text 155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Q4 (movement register, as at 18 Oct) · H&amp;L Pay net new $0/mo is tracked separately and never sits inside core MRR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9" name="Text 157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 at 18 Oct — this week's Sysnet extract and register refresh land Monday.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hardware $98,973 (14% of the $715k OKR2) and new MRR $3,817 (14% of $28k) are last week's figures against this week's 26% pace mark, so the gap to pace reads wider than it will once the week is in.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shows the selling continued.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$2,552 of software MRR was won 19–24 Oct across 9 deals — the register will show how much of it invoiced.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Targets are still the Q3 numbers carried forward.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Q4 OKR2 or team target has been set, so every attainment percentage on this slide is measured against last quarter's bar.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Q4 (Oct–Dec) · 24 of 92 days elapsed.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 12–18 Oct + MRR register (19 Oct) · held at 19 Oct, refresh pending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US$2,081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A$2,922 · 32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A$775 · 11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US$360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A$506 · 7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placed / 7 lost by count · 60%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34308" cy="182880"/>
          </a:xfrm>
          <a:prstGeom prst="roundRect">
            <a:avLst>
              <a:gd name="adj" fmla="val 54466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2303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23616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2303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US$1,153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2303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21259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313176"/>
            <a:ext cx="281120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21259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21259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50215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Finance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602736"/>
            <a:ext cx="71785" cy="182880"/>
          </a:xfrm>
          <a:prstGeom prst="roundRect">
            <a:avLst>
              <a:gd name="adj" fmla="val 101904"/>
            </a:avLst>
          </a:prstGeom>
          <a:solidFill>
            <a:srgbClr val="2C839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50215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US$22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50215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379171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3892296"/>
            <a:ext cx="1794630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379171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379171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deals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667512" y="40812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828800" y="4181856"/>
            <a:ext cx="11717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69280" y="40812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US$360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0" y="40812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deals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67512" y="3768852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77640" y="3608832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9" name="Text 57"/>
          <p:cNvSpPr txBox="1"/>
          <p:nvPr/>
        </p:nvSpPr>
        <p:spPr>
          <a:xfrm>
            <a:off x="3977640" y="3819144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60" name="Text 58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828800" y="4800600"/>
            <a:ext cx="876762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828800" y="4782312"/>
            <a:ext cx="8767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18%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2723850" y="4800600"/>
            <a:ext cx="3305677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723850" y="4782312"/>
            <a:ext cx="33056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6047815" y="4800600"/>
            <a:ext cx="572441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047815" y="4782312"/>
            <a:ext cx="57244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12%</a:t>
            </a:r>
            <a:endParaRPr lang="en-US" sz="650" dirty="0"/>
          </a:p>
        </p:txBody>
      </p:sp>
      <p:sp>
        <p:nvSpPr>
          <p:cNvPr id="68" name="Text 66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828800" y="5111496"/>
            <a:ext cx="104607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828800" y="5093208"/>
            <a:ext cx="10460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22%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2893162" y="5111496"/>
            <a:ext cx="3043123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2893162" y="5093208"/>
            <a:ext cx="30431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5954573" y="5111496"/>
            <a:ext cx="665683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54573" y="5093208"/>
            <a:ext cx="66568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7" name="Shape 75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9" name="Shape 77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81" name="Shape 79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2" name="Text 80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84" name="Text 82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85" name="Text 83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all the order volume</a:t>
            </a:r>
            <a:endParaRPr lang="en-US" sz="530" dirty="0"/>
          </a:p>
        </p:txBody>
      </p:sp>
      <p:sp>
        <p:nvSpPr>
          <p:cNvPr id="89" name="Text 87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US$1,229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US$147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still no orders</a:t>
            </a:r>
            <a:endParaRPr lang="en-US" sz="530" dirty="0"/>
          </a:p>
        </p:txBody>
      </p:sp>
      <p:sp>
        <p:nvSpPr>
          <p:cNvPr id="94" name="Text 92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lines on deals, every one priced $0</a:t>
            </a:r>
            <a:endParaRPr lang="en-US" sz="530" dirty="0"/>
          </a:p>
        </p:txBody>
      </p:sp>
      <p:sp>
        <p:nvSpPr>
          <p:cNvPr id="99" name="Text 97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104" name="Text 102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8" name="Text 106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</a:t>
            </a:r>
            <a:endParaRPr lang="en-US" sz="900" dirty="0"/>
          </a:p>
        </p:txBody>
      </p:sp>
      <p:sp>
        <p:nvSpPr>
          <p:cNvPr id="109" name="Text 107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US$14,751</a:t>
            </a:r>
            <a:endParaRPr lang="en-US" sz="1800" dirty="0"/>
          </a:p>
        </p:txBody>
      </p:sp>
      <p:sp>
        <p:nvSpPr>
          <p:cNvPr id="110" name="Text 108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(A$20,712) — the contract value behind the US$2,081 of monthly lines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rate five weeks stale; HubSpot holds no USD field</a:t>
            </a:r>
            <a:endParaRPr lang="en-US" sz="580" dirty="0"/>
          </a:p>
        </p:txBody>
      </p:sp>
      <p:sp>
        <p:nvSpPr>
          <p:cNvPr id="112" name="Shape 110"/>
          <p:cNvSpPr/>
          <p:nvPr/>
        </p:nvSpPr>
        <p:spPr>
          <a:xfrm>
            <a:off x="411480" y="5413248"/>
            <a:ext cx="11365992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3" name="Text 111"/>
          <p:cNvSpPr txBox="1"/>
          <p:nvPr/>
        </p:nvSpPr>
        <p:spPr>
          <a:xfrm>
            <a:off x="612648" y="552297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612648" y="5833872"/>
            <a:ext cx="10954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orders placed since 1 Jul (US$552) against 7 lost — 61% by count, 60%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US$2,018 of the US$2,081 open sits in Quote Sent and Negotiation across 25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ROAM orders placed this week (Dave &amp; Busters Perth, Prendiville Norfolk — A$124) · QR Ordering lines still all $0 · 28 ROAM lines (A$2,170) on no deal are excluded.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 The 19 Oct workbook is byte-identical to the 6 and 12 Oct drops: no new identifications, referrals or wins for a fifth week.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+ ValPay export (19 Oct) · held at 19 Oct, refresh pending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2282952" y="941832"/>
            <a:ext cx="5705856" cy="1005840"/>
          </a:xfrm>
          <a:prstGeom prst="roundRect">
            <a:avLst>
              <a:gd name="adj" fmla="val 8182"/>
            </a:avLst>
          </a:prstGeom>
          <a:solidFill>
            <a:srgbClr val="E4F1F4"/>
          </a:solidFill>
          <a:ln w="9525">
            <a:solidFill>
              <a:srgbClr val="6FA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HOURS LOGGED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311.6h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51.0h last week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328672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65832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65832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2447544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target 50%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465832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16.8% last week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245864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3024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83024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CHARGEABLE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364736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91% of billable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383024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50.0h (98%) last week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6163056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0216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0216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NON-CHARGEABLE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9% of billable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300216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from 1.0h (2%) last week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8080248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7408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7408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· NON-BILLABLE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8199120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17408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non-billable records yet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999744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134600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3460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NON-UTILISED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1011631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13460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admin, meetings, leave not logged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411480" y="2011680"/>
            <a:ext cx="51206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521208" y="2359152"/>
          <a:ext cx="4901184" cy="24597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Shape 44"/>
          <p:cNvSpPr/>
          <p:nvPr/>
        </p:nvSpPr>
        <p:spPr>
          <a:xfrm>
            <a:off x="411480" y="5001768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94360" y="5056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ON WEEK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hours as the weeks stand today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594360" y="52943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endParaRPr lang="en-US" sz="580" dirty="0"/>
          </a:p>
        </p:txBody>
      </p:sp>
      <p:sp>
        <p:nvSpPr>
          <p:cNvPr id="50" name="Text 47"/>
          <p:cNvSpPr txBox="1"/>
          <p:nvPr/>
        </p:nvSpPr>
        <p:spPr>
          <a:xfrm>
            <a:off x="1463040" y="5294376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</a:t>
            </a:r>
            <a:endParaRPr lang="en-US" sz="580" dirty="0"/>
          </a:p>
        </p:txBody>
      </p:sp>
      <p:sp>
        <p:nvSpPr>
          <p:cNvPr id="51" name="Text 48"/>
          <p:cNvSpPr txBox="1"/>
          <p:nvPr/>
        </p:nvSpPr>
        <p:spPr>
          <a:xfrm>
            <a:off x="2194560" y="529437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580" dirty="0"/>
          </a:p>
        </p:txBody>
      </p:sp>
      <p:sp>
        <p:nvSpPr>
          <p:cNvPr id="52" name="Text 49"/>
          <p:cNvSpPr txBox="1"/>
          <p:nvPr/>
        </p:nvSpPr>
        <p:spPr>
          <a:xfrm>
            <a:off x="3017520" y="529437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NON-CHARGEABLE</a:t>
            </a:r>
            <a:endParaRPr lang="en-US" sz="580" dirty="0"/>
          </a:p>
        </p:txBody>
      </p:sp>
      <p:sp>
        <p:nvSpPr>
          <p:cNvPr id="53" name="Text 50"/>
          <p:cNvSpPr txBox="1"/>
          <p:nvPr/>
        </p:nvSpPr>
        <p:spPr>
          <a:xfrm>
            <a:off x="393192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</a:t>
            </a:r>
            <a:endParaRPr lang="en-US" sz="580" dirty="0"/>
          </a:p>
        </p:txBody>
      </p:sp>
      <p:sp>
        <p:nvSpPr>
          <p:cNvPr id="54" name="Text 51"/>
          <p:cNvSpPr txBox="1"/>
          <p:nvPr/>
        </p:nvSpPr>
        <p:spPr>
          <a:xfrm>
            <a:off x="4434840" y="52943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REPORTED</a:t>
            </a:r>
            <a:endParaRPr lang="en-US" sz="580" dirty="0"/>
          </a:p>
        </p:txBody>
      </p:sp>
      <p:sp>
        <p:nvSpPr>
          <p:cNvPr id="55" name="Text 52"/>
          <p:cNvSpPr txBox="1"/>
          <p:nvPr/>
        </p:nvSpPr>
        <p:spPr>
          <a:xfrm>
            <a:off x="594360" y="54589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5–11 Oct</a:t>
            </a:r>
            <a:endParaRPr lang="en-US" sz="780" dirty="0"/>
          </a:p>
        </p:txBody>
      </p:sp>
      <p:sp>
        <p:nvSpPr>
          <p:cNvPr id="56" name="Text 53"/>
          <p:cNvSpPr txBox="1"/>
          <p:nvPr/>
        </p:nvSpPr>
        <p:spPr>
          <a:xfrm>
            <a:off x="1463040" y="5458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35.3h</a:t>
            </a:r>
            <a:endParaRPr lang="en-US" sz="780" dirty="0"/>
          </a:p>
        </p:txBody>
      </p:sp>
      <p:sp>
        <p:nvSpPr>
          <p:cNvPr id="57" name="Text 54"/>
          <p:cNvSpPr txBox="1"/>
          <p:nvPr/>
        </p:nvSpPr>
        <p:spPr>
          <a:xfrm>
            <a:off x="2194560" y="54589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17.3h</a:t>
            </a:r>
            <a:endParaRPr lang="en-US" sz="780" dirty="0"/>
          </a:p>
        </p:txBody>
      </p:sp>
      <p:sp>
        <p:nvSpPr>
          <p:cNvPr id="58" name="Text 55"/>
          <p:cNvSpPr txBox="1"/>
          <p:nvPr/>
        </p:nvSpPr>
        <p:spPr>
          <a:xfrm>
            <a:off x="3017520" y="54589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780" dirty="0"/>
          </a:p>
        </p:txBody>
      </p:sp>
      <p:sp>
        <p:nvSpPr>
          <p:cNvPr id="59" name="Text 56"/>
          <p:cNvSpPr txBox="1"/>
          <p:nvPr/>
        </p:nvSpPr>
        <p:spPr>
          <a:xfrm>
            <a:off x="393192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10.3%</a:t>
            </a:r>
            <a:endParaRPr lang="en-US" sz="780" dirty="0"/>
          </a:p>
        </p:txBody>
      </p:sp>
      <p:sp>
        <p:nvSpPr>
          <p:cNvPr id="60" name="Text 57"/>
          <p:cNvSpPr txBox="1"/>
          <p:nvPr/>
        </p:nvSpPr>
        <p:spPr>
          <a:xfrm>
            <a:off x="4434840" y="5458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21.3h  ▲ +14.0h</a:t>
            </a:r>
            <a:endParaRPr lang="en-US" sz="680" dirty="0"/>
          </a:p>
        </p:txBody>
      </p:sp>
      <p:sp>
        <p:nvSpPr>
          <p:cNvPr id="61" name="Shape 58"/>
          <p:cNvSpPr/>
          <p:nvPr/>
        </p:nvSpPr>
        <p:spPr>
          <a:xfrm>
            <a:off x="594360" y="5696712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94360" y="569671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12–18 Oct</a:t>
            </a:r>
            <a:endParaRPr lang="en-US" sz="780" dirty="0"/>
          </a:p>
        </p:txBody>
      </p:sp>
      <p:sp>
        <p:nvSpPr>
          <p:cNvPr id="63" name="Text 60"/>
          <p:cNvSpPr txBox="1"/>
          <p:nvPr/>
        </p:nvSpPr>
        <p:spPr>
          <a:xfrm>
            <a:off x="1463040" y="56967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51.0h</a:t>
            </a:r>
            <a:endParaRPr lang="en-US" sz="780" dirty="0"/>
          </a:p>
        </p:txBody>
      </p:sp>
      <p:sp>
        <p:nvSpPr>
          <p:cNvPr id="64" name="Text 61"/>
          <p:cNvSpPr txBox="1"/>
          <p:nvPr/>
        </p:nvSpPr>
        <p:spPr>
          <a:xfrm>
            <a:off x="2194560" y="56967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50.0h</a:t>
            </a:r>
            <a:endParaRPr lang="en-US" sz="780" dirty="0"/>
          </a:p>
        </p:txBody>
      </p:sp>
      <p:sp>
        <p:nvSpPr>
          <p:cNvPr id="65" name="Text 62"/>
          <p:cNvSpPr txBox="1"/>
          <p:nvPr/>
        </p:nvSpPr>
        <p:spPr>
          <a:xfrm>
            <a:off x="3017520" y="56967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66" name="Text 63"/>
          <p:cNvSpPr txBox="1"/>
          <p:nvPr/>
        </p:nvSpPr>
        <p:spPr>
          <a:xfrm>
            <a:off x="393192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16.8%</a:t>
            </a:r>
            <a:endParaRPr lang="en-US" sz="780" dirty="0"/>
          </a:p>
        </p:txBody>
      </p:sp>
      <p:sp>
        <p:nvSpPr>
          <p:cNvPr id="67" name="Text 64"/>
          <p:cNvSpPr txBox="1"/>
          <p:nvPr/>
        </p:nvSpPr>
        <p:spPr>
          <a:xfrm>
            <a:off x="4434840" y="56967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39.5h  ▲ +11.6h</a:t>
            </a:r>
            <a:endParaRPr lang="en-US" sz="680" dirty="0"/>
          </a:p>
        </p:txBody>
      </p:sp>
      <p:sp>
        <p:nvSpPr>
          <p:cNvPr id="68" name="Shape 65"/>
          <p:cNvSpPr/>
          <p:nvPr/>
        </p:nvSpPr>
        <p:spPr>
          <a:xfrm>
            <a:off x="594360" y="5934456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94360" y="593445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19–25 Oct ●</a:t>
            </a:r>
            <a:endParaRPr lang="en-US" sz="780" dirty="0"/>
          </a:p>
        </p:txBody>
      </p:sp>
      <p:sp>
        <p:nvSpPr>
          <p:cNvPr id="70" name="Text 67"/>
          <p:cNvSpPr txBox="1"/>
          <p:nvPr/>
        </p:nvSpPr>
        <p:spPr>
          <a:xfrm>
            <a:off x="1463040" y="59344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endParaRPr lang="en-US" sz="780" dirty="0"/>
          </a:p>
        </p:txBody>
      </p:sp>
      <p:sp>
        <p:nvSpPr>
          <p:cNvPr id="71" name="Text 68"/>
          <p:cNvSpPr txBox="1"/>
          <p:nvPr/>
        </p:nvSpPr>
        <p:spPr>
          <a:xfrm>
            <a:off x="2194560" y="59344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endParaRPr lang="en-US" sz="780" dirty="0"/>
          </a:p>
        </p:txBody>
      </p:sp>
      <p:sp>
        <p:nvSpPr>
          <p:cNvPr id="72" name="Text 69"/>
          <p:cNvSpPr txBox="1"/>
          <p:nvPr/>
        </p:nvSpPr>
        <p:spPr>
          <a:xfrm>
            <a:off x="3017520" y="5934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73" name="Text 70"/>
          <p:cNvSpPr txBox="1"/>
          <p:nvPr/>
        </p:nvSpPr>
        <p:spPr>
          <a:xfrm>
            <a:off x="393192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780" dirty="0"/>
          </a:p>
        </p:txBody>
      </p:sp>
      <p:sp>
        <p:nvSpPr>
          <p:cNvPr id="74" name="Text 71"/>
          <p:cNvSpPr txBox="1"/>
          <p:nvPr/>
        </p:nvSpPr>
        <p:spPr>
          <a:xfrm>
            <a:off x="4434840" y="59344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</a:t>
            </a:r>
            <a:endParaRPr lang="en-US" sz="680" dirty="0"/>
          </a:p>
        </p:txBody>
      </p:sp>
      <p:sp>
        <p:nvSpPr>
          <p:cNvPr id="75" name="Shape 72"/>
          <p:cNvSpPr/>
          <p:nvPr/>
        </p:nvSpPr>
        <p:spPr>
          <a:xfrm>
            <a:off x="57150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3"/>
          <p:cNvSpPr txBox="1"/>
          <p:nvPr/>
        </p:nvSpPr>
        <p:spPr>
          <a:xfrm>
            <a:off x="58795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— COMMISSION vs PS WORK</a:t>
            </a:r>
            <a:endParaRPr lang="en-US" sz="950" dirty="0"/>
          </a:p>
        </p:txBody>
      </p:sp>
      <p:sp>
        <p:nvSpPr>
          <p:cNvPr id="77" name="Text 74"/>
          <p:cNvSpPr txBox="1"/>
          <p:nvPr/>
        </p:nvSpPr>
        <p:spPr>
          <a:xfrm>
            <a:off x="5879592" y="2395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560" dirty="0"/>
          </a:p>
        </p:txBody>
      </p:sp>
      <p:sp>
        <p:nvSpPr>
          <p:cNvPr id="78" name="Text 75"/>
          <p:cNvSpPr txBox="1"/>
          <p:nvPr/>
        </p:nvSpPr>
        <p:spPr>
          <a:xfrm>
            <a:off x="6858000" y="239572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COMM. JAN–SEP</a:t>
            </a:r>
            <a:endParaRPr lang="en-US" sz="560" dirty="0"/>
          </a:p>
        </p:txBody>
      </p:sp>
      <p:sp>
        <p:nvSpPr>
          <p:cNvPr id="79" name="Text 76"/>
          <p:cNvSpPr txBox="1"/>
          <p:nvPr/>
        </p:nvSpPr>
        <p:spPr>
          <a:xfrm>
            <a:off x="7589520" y="239572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80" name="Text 77"/>
          <p:cNvSpPr txBox="1"/>
          <p:nvPr/>
        </p:nvSpPr>
        <p:spPr>
          <a:xfrm>
            <a:off x="7955280" y="23957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81" name="Text 78"/>
          <p:cNvSpPr txBox="1"/>
          <p:nvPr/>
        </p:nvSpPr>
        <p:spPr>
          <a:xfrm>
            <a:off x="5879592" y="256032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680" dirty="0"/>
          </a:p>
        </p:txBody>
      </p:sp>
      <p:sp>
        <p:nvSpPr>
          <p:cNvPr id="82" name="Text 79"/>
          <p:cNvSpPr txBox="1"/>
          <p:nvPr/>
        </p:nvSpPr>
        <p:spPr>
          <a:xfrm>
            <a:off x="6858000" y="256032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680" dirty="0"/>
          </a:p>
        </p:txBody>
      </p:sp>
      <p:sp>
        <p:nvSpPr>
          <p:cNvPr id="83" name="Text 80"/>
          <p:cNvSpPr txBox="1"/>
          <p:nvPr/>
        </p:nvSpPr>
        <p:spPr>
          <a:xfrm>
            <a:off x="7589520" y="256032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4" name="Text 81"/>
          <p:cNvSpPr txBox="1"/>
          <p:nvPr/>
        </p:nvSpPr>
        <p:spPr>
          <a:xfrm>
            <a:off x="7955280" y="256032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5" name="Shape 82"/>
          <p:cNvSpPr/>
          <p:nvPr/>
        </p:nvSpPr>
        <p:spPr>
          <a:xfrm>
            <a:off x="58064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5879592" y="271119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680" dirty="0"/>
          </a:p>
        </p:txBody>
      </p:sp>
      <p:sp>
        <p:nvSpPr>
          <p:cNvPr id="87" name="Text 84"/>
          <p:cNvSpPr txBox="1"/>
          <p:nvPr/>
        </p:nvSpPr>
        <p:spPr>
          <a:xfrm>
            <a:off x="6858000" y="271119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680" dirty="0"/>
          </a:p>
        </p:txBody>
      </p:sp>
      <p:sp>
        <p:nvSpPr>
          <p:cNvPr id="88" name="Text 85"/>
          <p:cNvSpPr txBox="1"/>
          <p:nvPr/>
        </p:nvSpPr>
        <p:spPr>
          <a:xfrm>
            <a:off x="7589520" y="271119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9" name="Text 86"/>
          <p:cNvSpPr txBox="1"/>
          <p:nvPr/>
        </p:nvSpPr>
        <p:spPr>
          <a:xfrm>
            <a:off x="7955280" y="271119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0" name="Text 87"/>
          <p:cNvSpPr txBox="1"/>
          <p:nvPr/>
        </p:nvSpPr>
        <p:spPr>
          <a:xfrm>
            <a:off x="5879592" y="286207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680" dirty="0"/>
          </a:p>
        </p:txBody>
      </p:sp>
      <p:sp>
        <p:nvSpPr>
          <p:cNvPr id="91" name="Text 88"/>
          <p:cNvSpPr txBox="1"/>
          <p:nvPr/>
        </p:nvSpPr>
        <p:spPr>
          <a:xfrm>
            <a:off x="6858000" y="286207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7589520" y="286207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3" name="Text 90"/>
          <p:cNvSpPr txBox="1"/>
          <p:nvPr/>
        </p:nvSpPr>
        <p:spPr>
          <a:xfrm>
            <a:off x="7955280" y="286207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4" name="Shape 91"/>
          <p:cNvSpPr/>
          <p:nvPr/>
        </p:nvSpPr>
        <p:spPr>
          <a:xfrm>
            <a:off x="58064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5879592" y="301294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680" dirty="0"/>
          </a:p>
        </p:txBody>
      </p:sp>
      <p:sp>
        <p:nvSpPr>
          <p:cNvPr id="96" name="Text 93"/>
          <p:cNvSpPr txBox="1"/>
          <p:nvPr/>
        </p:nvSpPr>
        <p:spPr>
          <a:xfrm>
            <a:off x="6858000" y="301294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680" dirty="0"/>
          </a:p>
        </p:txBody>
      </p:sp>
      <p:sp>
        <p:nvSpPr>
          <p:cNvPr id="97" name="Text 94"/>
          <p:cNvSpPr txBox="1"/>
          <p:nvPr/>
        </p:nvSpPr>
        <p:spPr>
          <a:xfrm>
            <a:off x="7589520" y="301294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98" name="Text 95"/>
          <p:cNvSpPr txBox="1"/>
          <p:nvPr/>
        </p:nvSpPr>
        <p:spPr>
          <a:xfrm>
            <a:off x="7955280" y="301294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9" name="Text 96"/>
          <p:cNvSpPr txBox="1"/>
          <p:nvPr/>
        </p:nvSpPr>
        <p:spPr>
          <a:xfrm>
            <a:off x="5879592" y="316382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680" dirty="0"/>
          </a:p>
        </p:txBody>
      </p:sp>
      <p:sp>
        <p:nvSpPr>
          <p:cNvPr id="100" name="Text 97"/>
          <p:cNvSpPr txBox="1"/>
          <p:nvPr/>
        </p:nvSpPr>
        <p:spPr>
          <a:xfrm>
            <a:off x="6858000" y="316382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680" dirty="0"/>
          </a:p>
        </p:txBody>
      </p:sp>
      <p:sp>
        <p:nvSpPr>
          <p:cNvPr id="101" name="Text 98"/>
          <p:cNvSpPr txBox="1"/>
          <p:nvPr/>
        </p:nvSpPr>
        <p:spPr>
          <a:xfrm>
            <a:off x="7589520" y="316382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2" name="Text 99"/>
          <p:cNvSpPr txBox="1"/>
          <p:nvPr/>
        </p:nvSpPr>
        <p:spPr>
          <a:xfrm>
            <a:off x="7955280" y="316382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3" name="Shape 100"/>
          <p:cNvSpPr/>
          <p:nvPr/>
        </p:nvSpPr>
        <p:spPr>
          <a:xfrm>
            <a:off x="58064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5879592" y="331470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680" dirty="0"/>
          </a:p>
        </p:txBody>
      </p:sp>
      <p:sp>
        <p:nvSpPr>
          <p:cNvPr id="105" name="Text 102"/>
          <p:cNvSpPr txBox="1"/>
          <p:nvPr/>
        </p:nvSpPr>
        <p:spPr>
          <a:xfrm>
            <a:off x="6858000" y="331470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7589520" y="331470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7" name="Text 104"/>
          <p:cNvSpPr txBox="1"/>
          <p:nvPr/>
        </p:nvSpPr>
        <p:spPr>
          <a:xfrm>
            <a:off x="7955280" y="331470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5"/>
          <p:cNvSpPr txBox="1"/>
          <p:nvPr/>
        </p:nvSpPr>
        <p:spPr>
          <a:xfrm>
            <a:off x="5879592" y="346557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680" dirty="0"/>
          </a:p>
        </p:txBody>
      </p:sp>
      <p:sp>
        <p:nvSpPr>
          <p:cNvPr id="109" name="Text 106"/>
          <p:cNvSpPr txBox="1"/>
          <p:nvPr/>
        </p:nvSpPr>
        <p:spPr>
          <a:xfrm>
            <a:off x="6858000" y="346557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680" dirty="0"/>
          </a:p>
        </p:txBody>
      </p:sp>
      <p:sp>
        <p:nvSpPr>
          <p:cNvPr id="110" name="Text 107"/>
          <p:cNvSpPr txBox="1"/>
          <p:nvPr/>
        </p:nvSpPr>
        <p:spPr>
          <a:xfrm>
            <a:off x="7589520" y="346557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1" name="Text 108"/>
          <p:cNvSpPr txBox="1"/>
          <p:nvPr/>
        </p:nvSpPr>
        <p:spPr>
          <a:xfrm>
            <a:off x="7955280" y="346557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2" name="Shape 109"/>
          <p:cNvSpPr/>
          <p:nvPr/>
        </p:nvSpPr>
        <p:spPr>
          <a:xfrm>
            <a:off x="58064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5879592" y="361645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680" dirty="0"/>
          </a:p>
        </p:txBody>
      </p:sp>
      <p:sp>
        <p:nvSpPr>
          <p:cNvPr id="114" name="Text 111"/>
          <p:cNvSpPr txBox="1"/>
          <p:nvPr/>
        </p:nvSpPr>
        <p:spPr>
          <a:xfrm>
            <a:off x="6858000" y="361645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680" dirty="0"/>
          </a:p>
        </p:txBody>
      </p:sp>
      <p:sp>
        <p:nvSpPr>
          <p:cNvPr id="115" name="Text 112"/>
          <p:cNvSpPr txBox="1"/>
          <p:nvPr/>
        </p:nvSpPr>
        <p:spPr>
          <a:xfrm>
            <a:off x="7589520" y="361645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680" dirty="0"/>
          </a:p>
        </p:txBody>
      </p:sp>
      <p:sp>
        <p:nvSpPr>
          <p:cNvPr id="116" name="Text 113"/>
          <p:cNvSpPr txBox="1"/>
          <p:nvPr/>
        </p:nvSpPr>
        <p:spPr>
          <a:xfrm>
            <a:off x="7955280" y="361645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7" name="Text 114"/>
          <p:cNvSpPr txBox="1"/>
          <p:nvPr/>
        </p:nvSpPr>
        <p:spPr>
          <a:xfrm>
            <a:off x="5879592" y="376732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680" dirty="0"/>
          </a:p>
        </p:txBody>
      </p:sp>
      <p:sp>
        <p:nvSpPr>
          <p:cNvPr id="118" name="Text 115"/>
          <p:cNvSpPr txBox="1"/>
          <p:nvPr/>
        </p:nvSpPr>
        <p:spPr>
          <a:xfrm>
            <a:off x="6858000" y="376732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680" dirty="0"/>
          </a:p>
        </p:txBody>
      </p:sp>
      <p:sp>
        <p:nvSpPr>
          <p:cNvPr id="119" name="Text 116"/>
          <p:cNvSpPr txBox="1"/>
          <p:nvPr/>
        </p:nvSpPr>
        <p:spPr>
          <a:xfrm>
            <a:off x="7589520" y="376732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680" dirty="0"/>
          </a:p>
        </p:txBody>
      </p:sp>
      <p:sp>
        <p:nvSpPr>
          <p:cNvPr id="120" name="Text 117"/>
          <p:cNvSpPr txBox="1"/>
          <p:nvPr/>
        </p:nvSpPr>
        <p:spPr>
          <a:xfrm>
            <a:off x="7955280" y="376732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21" name="Shape 118"/>
          <p:cNvSpPr/>
          <p:nvPr/>
        </p:nvSpPr>
        <p:spPr>
          <a:xfrm>
            <a:off x="5806440" y="3918204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5879592" y="391820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680" dirty="0"/>
          </a:p>
        </p:txBody>
      </p:sp>
      <p:sp>
        <p:nvSpPr>
          <p:cNvPr id="123" name="Text 120"/>
          <p:cNvSpPr txBox="1"/>
          <p:nvPr/>
        </p:nvSpPr>
        <p:spPr>
          <a:xfrm>
            <a:off x="6858000" y="391820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4" name="Text 121"/>
          <p:cNvSpPr txBox="1"/>
          <p:nvPr/>
        </p:nvSpPr>
        <p:spPr>
          <a:xfrm>
            <a:off x="7589520" y="391820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5" name="Text 122"/>
          <p:cNvSpPr txBox="1"/>
          <p:nvPr/>
        </p:nvSpPr>
        <p:spPr>
          <a:xfrm>
            <a:off x="7955280" y="391820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26" name="Text 123"/>
          <p:cNvSpPr txBox="1"/>
          <p:nvPr/>
        </p:nvSpPr>
        <p:spPr>
          <a:xfrm>
            <a:off x="5879592" y="406908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NowBookIt</a:t>
            </a:r>
            <a:endParaRPr lang="en-US" sz="680" dirty="0"/>
          </a:p>
        </p:txBody>
      </p:sp>
      <p:sp>
        <p:nvSpPr>
          <p:cNvPr id="127" name="Text 124"/>
          <p:cNvSpPr txBox="1"/>
          <p:nvPr/>
        </p:nvSpPr>
        <p:spPr>
          <a:xfrm>
            <a:off x="6858000" y="406908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8" name="Text 125"/>
          <p:cNvSpPr txBox="1"/>
          <p:nvPr/>
        </p:nvSpPr>
        <p:spPr>
          <a:xfrm>
            <a:off x="7589520" y="406908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9" name="Text 126"/>
          <p:cNvSpPr txBox="1"/>
          <p:nvPr/>
        </p:nvSpPr>
        <p:spPr>
          <a:xfrm>
            <a:off x="7955280" y="406908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0" name="Shape 127"/>
          <p:cNvSpPr/>
          <p:nvPr/>
        </p:nvSpPr>
        <p:spPr>
          <a:xfrm>
            <a:off x="5806440" y="421995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5879592" y="421995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</a:t>
            </a:r>
            <a:endParaRPr lang="en-US" sz="680" dirty="0"/>
          </a:p>
        </p:txBody>
      </p:sp>
      <p:sp>
        <p:nvSpPr>
          <p:cNvPr id="132" name="Text 129"/>
          <p:cNvSpPr txBox="1"/>
          <p:nvPr/>
        </p:nvSpPr>
        <p:spPr>
          <a:xfrm>
            <a:off x="6858000" y="421995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3" name="Text 130"/>
          <p:cNvSpPr txBox="1"/>
          <p:nvPr/>
        </p:nvSpPr>
        <p:spPr>
          <a:xfrm>
            <a:off x="7589520" y="421995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680" dirty="0"/>
          </a:p>
        </p:txBody>
      </p:sp>
      <p:sp>
        <p:nvSpPr>
          <p:cNvPr id="134" name="Text 131"/>
          <p:cNvSpPr txBox="1"/>
          <p:nvPr/>
        </p:nvSpPr>
        <p:spPr>
          <a:xfrm>
            <a:off x="7955280" y="421995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5" name="Shape 132"/>
          <p:cNvSpPr/>
          <p:nvPr/>
        </p:nvSpPr>
        <p:spPr>
          <a:xfrm>
            <a:off x="88011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6" name="Text 133"/>
          <p:cNvSpPr txBox="1"/>
          <p:nvPr/>
        </p:nvSpPr>
        <p:spPr>
          <a:xfrm>
            <a:off x="89656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ACCOUNTS — PS WORK BUILT IN</a:t>
            </a:r>
            <a:endParaRPr lang="en-US" sz="950" dirty="0"/>
          </a:p>
        </p:txBody>
      </p:sp>
      <p:sp>
        <p:nvSpPr>
          <p:cNvPr id="137" name="Text 134"/>
          <p:cNvSpPr txBox="1"/>
          <p:nvPr/>
        </p:nvSpPr>
        <p:spPr>
          <a:xfrm>
            <a:off x="8965692" y="239572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endParaRPr lang="en-US" sz="560" dirty="0"/>
          </a:p>
        </p:txBody>
      </p:sp>
      <p:sp>
        <p:nvSpPr>
          <p:cNvPr id="138" name="Text 135"/>
          <p:cNvSpPr txBox="1"/>
          <p:nvPr/>
        </p:nvSpPr>
        <p:spPr>
          <a:xfrm>
            <a:off x="985266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139" name="Text 136"/>
          <p:cNvSpPr txBox="1"/>
          <p:nvPr/>
        </p:nvSpPr>
        <p:spPr>
          <a:xfrm>
            <a:off x="10264140" y="23957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CHG.</a:t>
            </a:r>
            <a:endParaRPr lang="en-US" sz="560" dirty="0"/>
          </a:p>
        </p:txBody>
      </p:sp>
      <p:sp>
        <p:nvSpPr>
          <p:cNvPr id="140" name="Text 137"/>
          <p:cNvSpPr txBox="1"/>
          <p:nvPr/>
        </p:nvSpPr>
        <p:spPr>
          <a:xfrm>
            <a:off x="10721340" y="23957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NON-CHG.</a:t>
            </a:r>
            <a:endParaRPr lang="en-US" sz="560" dirty="0"/>
          </a:p>
        </p:txBody>
      </p:sp>
      <p:sp>
        <p:nvSpPr>
          <p:cNvPr id="141" name="Text 138"/>
          <p:cNvSpPr txBox="1"/>
          <p:nvPr/>
        </p:nvSpPr>
        <p:spPr>
          <a:xfrm>
            <a:off x="11087100" y="2395728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142" name="Text 139"/>
          <p:cNvSpPr txBox="1"/>
          <p:nvPr/>
        </p:nvSpPr>
        <p:spPr>
          <a:xfrm>
            <a:off x="8965692" y="256032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</a:t>
            </a:r>
            <a:endParaRPr lang="en-US" sz="680" dirty="0"/>
          </a:p>
        </p:txBody>
      </p:sp>
      <p:sp>
        <p:nvSpPr>
          <p:cNvPr id="143" name="Text 140"/>
          <p:cNvSpPr txBox="1"/>
          <p:nvPr/>
        </p:nvSpPr>
        <p:spPr>
          <a:xfrm>
            <a:off x="985266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21.5h</a:t>
            </a:r>
            <a:endParaRPr lang="en-US" sz="680" dirty="0"/>
          </a:p>
        </p:txBody>
      </p:sp>
      <p:sp>
        <p:nvSpPr>
          <p:cNvPr id="144" name="Text 141"/>
          <p:cNvSpPr txBox="1"/>
          <p:nvPr/>
        </p:nvSpPr>
        <p:spPr>
          <a:xfrm>
            <a:off x="10264140" y="256032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45" name="Text 142"/>
          <p:cNvSpPr txBox="1"/>
          <p:nvPr/>
        </p:nvSpPr>
        <p:spPr>
          <a:xfrm>
            <a:off x="10721340" y="256032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680" dirty="0"/>
          </a:p>
        </p:txBody>
      </p:sp>
      <p:sp>
        <p:nvSpPr>
          <p:cNvPr id="146" name="Text 143"/>
          <p:cNvSpPr txBox="1"/>
          <p:nvPr/>
        </p:nvSpPr>
        <p:spPr>
          <a:xfrm>
            <a:off x="11087100" y="256032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$2,700</a:t>
            </a:r>
            <a:endParaRPr lang="en-US" sz="680" dirty="0"/>
          </a:p>
        </p:txBody>
      </p:sp>
      <p:sp>
        <p:nvSpPr>
          <p:cNvPr id="147" name="Shape 144"/>
          <p:cNvSpPr/>
          <p:nvPr/>
        </p:nvSpPr>
        <p:spPr>
          <a:xfrm>
            <a:off x="88925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8965692" y="271119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Solotel</a:t>
            </a:r>
            <a:endParaRPr lang="en-US" sz="680" dirty="0"/>
          </a:p>
        </p:txBody>
      </p:sp>
      <p:sp>
        <p:nvSpPr>
          <p:cNvPr id="149" name="Text 146"/>
          <p:cNvSpPr txBox="1"/>
          <p:nvPr/>
        </p:nvSpPr>
        <p:spPr>
          <a:xfrm>
            <a:off x="985266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0" name="Text 147"/>
          <p:cNvSpPr txBox="1"/>
          <p:nvPr/>
        </p:nvSpPr>
        <p:spPr>
          <a:xfrm>
            <a:off x="10264140" y="271119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1" name="Text 148"/>
          <p:cNvSpPr txBox="1"/>
          <p:nvPr/>
        </p:nvSpPr>
        <p:spPr>
          <a:xfrm>
            <a:off x="10721340" y="271119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2" name="Text 149"/>
          <p:cNvSpPr txBox="1"/>
          <p:nvPr/>
        </p:nvSpPr>
        <p:spPr>
          <a:xfrm>
            <a:off x="11087100" y="271119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3" name="Text 150"/>
          <p:cNvSpPr txBox="1"/>
          <p:nvPr/>
        </p:nvSpPr>
        <p:spPr>
          <a:xfrm>
            <a:off x="8965692" y="286207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Trader House</a:t>
            </a:r>
            <a:endParaRPr lang="en-US" sz="680" dirty="0"/>
          </a:p>
        </p:txBody>
      </p:sp>
      <p:sp>
        <p:nvSpPr>
          <p:cNvPr id="154" name="Text 151"/>
          <p:cNvSpPr txBox="1"/>
          <p:nvPr/>
        </p:nvSpPr>
        <p:spPr>
          <a:xfrm>
            <a:off x="985266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5" name="Text 152"/>
          <p:cNvSpPr txBox="1"/>
          <p:nvPr/>
        </p:nvSpPr>
        <p:spPr>
          <a:xfrm>
            <a:off x="10264140" y="286207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6" name="Text 153"/>
          <p:cNvSpPr txBox="1"/>
          <p:nvPr/>
        </p:nvSpPr>
        <p:spPr>
          <a:xfrm>
            <a:off x="10721340" y="286207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7" name="Text 154"/>
          <p:cNvSpPr txBox="1"/>
          <p:nvPr/>
        </p:nvSpPr>
        <p:spPr>
          <a:xfrm>
            <a:off x="11087100" y="286207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8" name="Shape 155"/>
          <p:cNvSpPr/>
          <p:nvPr/>
        </p:nvSpPr>
        <p:spPr>
          <a:xfrm>
            <a:off x="88925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8965692" y="301294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Locals Co</a:t>
            </a:r>
            <a:endParaRPr lang="en-US" sz="680" dirty="0"/>
          </a:p>
        </p:txBody>
      </p:sp>
      <p:sp>
        <p:nvSpPr>
          <p:cNvPr id="160" name="Text 157"/>
          <p:cNvSpPr txBox="1"/>
          <p:nvPr/>
        </p:nvSpPr>
        <p:spPr>
          <a:xfrm>
            <a:off x="985266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1" name="Text 158"/>
          <p:cNvSpPr txBox="1"/>
          <p:nvPr/>
        </p:nvSpPr>
        <p:spPr>
          <a:xfrm>
            <a:off x="10264140" y="301294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2" name="Text 159"/>
          <p:cNvSpPr txBox="1"/>
          <p:nvPr/>
        </p:nvSpPr>
        <p:spPr>
          <a:xfrm>
            <a:off x="10721340" y="301294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3" name="Text 160"/>
          <p:cNvSpPr txBox="1"/>
          <p:nvPr/>
        </p:nvSpPr>
        <p:spPr>
          <a:xfrm>
            <a:off x="11087100" y="301294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4" name="Text 161"/>
          <p:cNvSpPr txBox="1"/>
          <p:nvPr/>
        </p:nvSpPr>
        <p:spPr>
          <a:xfrm>
            <a:off x="8965692" y="3163824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HHG</a:t>
            </a:r>
            <a:endParaRPr lang="en-US" sz="680" dirty="0"/>
          </a:p>
        </p:txBody>
      </p:sp>
      <p:sp>
        <p:nvSpPr>
          <p:cNvPr id="165" name="Text 162"/>
          <p:cNvSpPr txBox="1"/>
          <p:nvPr/>
        </p:nvSpPr>
        <p:spPr>
          <a:xfrm>
            <a:off x="985266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6" name="Text 163"/>
          <p:cNvSpPr txBox="1"/>
          <p:nvPr/>
        </p:nvSpPr>
        <p:spPr>
          <a:xfrm>
            <a:off x="10264140" y="3163824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7" name="Text 164"/>
          <p:cNvSpPr txBox="1"/>
          <p:nvPr/>
        </p:nvSpPr>
        <p:spPr>
          <a:xfrm>
            <a:off x="10721340" y="3163824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8" name="Text 165"/>
          <p:cNvSpPr txBox="1"/>
          <p:nvPr/>
        </p:nvSpPr>
        <p:spPr>
          <a:xfrm>
            <a:off x="11087100" y="3163824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9" name="Shape 166"/>
          <p:cNvSpPr/>
          <p:nvPr/>
        </p:nvSpPr>
        <p:spPr>
          <a:xfrm>
            <a:off x="88925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8965692" y="331470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Lucas Collective</a:t>
            </a:r>
            <a:endParaRPr lang="en-US" sz="680" dirty="0"/>
          </a:p>
        </p:txBody>
      </p:sp>
      <p:sp>
        <p:nvSpPr>
          <p:cNvPr id="171" name="Text 168"/>
          <p:cNvSpPr txBox="1"/>
          <p:nvPr/>
        </p:nvSpPr>
        <p:spPr>
          <a:xfrm>
            <a:off x="985266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2" name="Text 169"/>
          <p:cNvSpPr txBox="1"/>
          <p:nvPr/>
        </p:nvSpPr>
        <p:spPr>
          <a:xfrm>
            <a:off x="10264140" y="331470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3" name="Text 170"/>
          <p:cNvSpPr txBox="1"/>
          <p:nvPr/>
        </p:nvSpPr>
        <p:spPr>
          <a:xfrm>
            <a:off x="10721340" y="331470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4" name="Text 171"/>
          <p:cNvSpPr txBox="1"/>
          <p:nvPr/>
        </p:nvSpPr>
        <p:spPr>
          <a:xfrm>
            <a:off x="11087100" y="331470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5" name="Text 172"/>
          <p:cNvSpPr txBox="1"/>
          <p:nvPr/>
        </p:nvSpPr>
        <p:spPr>
          <a:xfrm>
            <a:off x="8965692" y="346557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Liquor Barons</a:t>
            </a:r>
            <a:endParaRPr lang="en-US" sz="680" dirty="0"/>
          </a:p>
        </p:txBody>
      </p:sp>
      <p:sp>
        <p:nvSpPr>
          <p:cNvPr id="176" name="Text 173"/>
          <p:cNvSpPr txBox="1"/>
          <p:nvPr/>
        </p:nvSpPr>
        <p:spPr>
          <a:xfrm>
            <a:off x="985266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7" name="Text 174"/>
          <p:cNvSpPr txBox="1"/>
          <p:nvPr/>
        </p:nvSpPr>
        <p:spPr>
          <a:xfrm>
            <a:off x="10264140" y="346557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8" name="Text 175"/>
          <p:cNvSpPr txBox="1"/>
          <p:nvPr/>
        </p:nvSpPr>
        <p:spPr>
          <a:xfrm>
            <a:off x="10721340" y="346557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9" name="Text 176"/>
          <p:cNvSpPr txBox="1"/>
          <p:nvPr/>
        </p:nvSpPr>
        <p:spPr>
          <a:xfrm>
            <a:off x="11087100" y="346557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0" name="Shape 177"/>
          <p:cNvSpPr/>
          <p:nvPr/>
        </p:nvSpPr>
        <p:spPr>
          <a:xfrm>
            <a:off x="88925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8965692" y="361645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</a:t>
            </a:r>
            <a:endParaRPr lang="en-US" sz="680" dirty="0"/>
          </a:p>
        </p:txBody>
      </p:sp>
      <p:sp>
        <p:nvSpPr>
          <p:cNvPr id="182" name="Text 179"/>
          <p:cNvSpPr txBox="1"/>
          <p:nvPr/>
        </p:nvSpPr>
        <p:spPr>
          <a:xfrm>
            <a:off x="985266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3" name="Text 180"/>
          <p:cNvSpPr txBox="1"/>
          <p:nvPr/>
        </p:nvSpPr>
        <p:spPr>
          <a:xfrm>
            <a:off x="10264140" y="361645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4" name="Text 181"/>
          <p:cNvSpPr txBox="1"/>
          <p:nvPr/>
        </p:nvSpPr>
        <p:spPr>
          <a:xfrm>
            <a:off x="10721340" y="361645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5" name="Text 182"/>
          <p:cNvSpPr txBox="1"/>
          <p:nvPr/>
        </p:nvSpPr>
        <p:spPr>
          <a:xfrm>
            <a:off x="11087100" y="361645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6" name="Text 183"/>
          <p:cNvSpPr txBox="1"/>
          <p:nvPr/>
        </p:nvSpPr>
        <p:spPr>
          <a:xfrm>
            <a:off x="8965692" y="376732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Perks Hospitality</a:t>
            </a:r>
            <a:endParaRPr lang="en-US" sz="680" dirty="0"/>
          </a:p>
        </p:txBody>
      </p:sp>
      <p:sp>
        <p:nvSpPr>
          <p:cNvPr id="187" name="Text 184"/>
          <p:cNvSpPr txBox="1"/>
          <p:nvPr/>
        </p:nvSpPr>
        <p:spPr>
          <a:xfrm>
            <a:off x="985266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8" name="Text 185"/>
          <p:cNvSpPr txBox="1"/>
          <p:nvPr/>
        </p:nvSpPr>
        <p:spPr>
          <a:xfrm>
            <a:off x="10264140" y="376732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9" name="Text 186"/>
          <p:cNvSpPr txBox="1"/>
          <p:nvPr/>
        </p:nvSpPr>
        <p:spPr>
          <a:xfrm>
            <a:off x="10721340" y="376732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0" name="Text 187"/>
          <p:cNvSpPr txBox="1"/>
          <p:nvPr/>
        </p:nvSpPr>
        <p:spPr>
          <a:xfrm>
            <a:off x="11087100" y="376732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1" name="Shape 188"/>
          <p:cNvSpPr/>
          <p:nvPr/>
        </p:nvSpPr>
        <p:spPr>
          <a:xfrm>
            <a:off x="5715000" y="4727448"/>
            <a:ext cx="606247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2" name="Text 189"/>
          <p:cNvSpPr txBox="1"/>
          <p:nvPr/>
        </p:nvSpPr>
        <p:spPr>
          <a:xfrm>
            <a:off x="5916168" y="4837176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93" name="Text 190"/>
          <p:cNvSpPr txBox="1"/>
          <p:nvPr/>
        </p:nvSpPr>
        <p:spPr>
          <a:xfrm>
            <a:off x="5916168" y="5148072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 on its P&amp;L,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the shortfall is partner and key-account work we don't charge for — the billable, non-chargeable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Q4's hidden work so far: 20h, $3,000 of unrecognised PS revenue.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AVC's 9.2 upgrades (18h, $2,700) and H&amp;L Pay activations (2h, $300).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renegotiate, every non-chargeable hour needs its partner or account,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these tables total the revenue PS gives away against what each relationship pays.</a:t>
            </a:r>
            <a:endParaRPr lang="en-US" sz="900" dirty="0"/>
          </a:p>
        </p:txBody>
      </p:sp>
      <p:sp>
        <p:nvSpPr>
          <p:cNvPr id="194" name="Shape 191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95" name="Text 192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WON VS INVOICED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live to 24 Oct · invoiced held at 18 Oct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INVOICE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$233k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of the 78 deals won with software MRR in 2026 have no row on the register · Oscars Group is $155k of it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$1.28M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271 logos · MRR movement register, as at 18 Oct · HubSpot churn object stopped being maintained after February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 · Q4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-$7.7k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to 18 Oct · new $3.8k − churn $9.4k − contraction $2.1k − credits $0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Hotels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 Henry Tavern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$905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Caves House Hotel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$669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- Pt Lincoln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$648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Iris Pavilion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$623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Carolina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$474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Hotel Augusta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Star Hotel (Milton)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$392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Orient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October's wins have pulled clear of invoicing.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$6,441 won to 24 Oct — $2,552 of it this week across 9 deals, led by the Lucas Collective reports API ($793) and Pier Hotel Pt Lincoln ($648) — against $3,817 invoiced to 18 Oct. The register refresh lands Monday.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September restated down $648 to $8,130.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– Pt Lincoln's close date moved from 30 Sep to 22 Oct in HubSpot, so it now counts as an October win.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and the awaiting-invoice list are held at 18 Oct.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$1.28M of ARR across 271 logos since Jan 2025, Q4 net −$7.7k, and $233k of ARR won with no row on the register — all refresh with Monday's register.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Oscars Group — signed, ~1.5x rollout, held by the old provider's contract terms. AVC new sites are excluded throughout — 17 deals worth $8,759 of 2026 software MRR, parked licences that are not counted in MRR or ARR. Eight more sit below the cut, worth $1.6k/mo.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= monthly MRR × 12 · matched on debtor ID and venue name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closed-won (live, 24 Oct, AVC excluded) + MRR register (19 Oct, refresh pending)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389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588 last week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21254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885846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5846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867558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2.2 : 1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2885846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3.2 : 1 last week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031029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95621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95621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TICKET AGE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177333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5195621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27 days last week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340803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05395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05395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FIRST RESPONSE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7487107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505395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46.8 hrs last week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650578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815170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15170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TIME TO CLOSE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796882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14.0 Days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9815170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8.6 days last week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11480" y="2240280"/>
            <a:ext cx="6583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12648" y="2350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vs CLOSED — WEEKLY, WITH NET MOVEMENT</a:t>
            </a:r>
            <a:endParaRPr lang="en-US" sz="1200" dirty="0"/>
          </a:p>
        </p:txBody>
      </p:sp>
      <p:graphicFrame>
        <p:nvGraphicFramePr>
          <p:cNvPr id="40" name="Chart 0" descr=""/>
          <p:cNvGraphicFramePr/>
          <p:nvPr/>
        </p:nvGraphicFramePr>
        <p:xfrm>
          <a:off x="548640" y="2624328"/>
          <a:ext cx="6309360" cy="3364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Shape 38"/>
          <p:cNvSpPr/>
          <p:nvPr/>
        </p:nvSpPr>
        <p:spPr>
          <a:xfrm>
            <a:off x="7178040" y="2240280"/>
            <a:ext cx="45994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7379208" y="2331720"/>
            <a:ext cx="4197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389 OPEN SIT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379208" y="2624328"/>
            <a:ext cx="3002758" cy="10972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4" name="Shape 41"/>
          <p:cNvSpPr/>
          <p:nvPr/>
        </p:nvSpPr>
        <p:spPr>
          <a:xfrm>
            <a:off x="10400254" y="2624328"/>
            <a:ext cx="629079" cy="109728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45" name="Shape 42"/>
          <p:cNvSpPr/>
          <p:nvPr/>
        </p:nvSpPr>
        <p:spPr>
          <a:xfrm>
            <a:off x="11047621" y="2624328"/>
            <a:ext cx="89606" cy="109728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6" name="Shape 43"/>
          <p:cNvSpPr/>
          <p:nvPr/>
        </p:nvSpPr>
        <p:spPr>
          <a:xfrm>
            <a:off x="11155515" y="2624328"/>
            <a:ext cx="402501" cy="109728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47" name="Shape 44"/>
          <p:cNvSpPr/>
          <p:nvPr/>
        </p:nvSpPr>
        <p:spPr>
          <a:xfrm>
            <a:off x="7379208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8" name="Shape 45"/>
          <p:cNvSpPr/>
          <p:nvPr/>
        </p:nvSpPr>
        <p:spPr>
          <a:xfrm>
            <a:off x="7379208" y="2843784"/>
            <a:ext cx="994410" cy="45720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379208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7406640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72%</a:t>
            </a:r>
            <a:endParaRPr lang="en-US" sz="580" dirty="0"/>
          </a:p>
        </p:txBody>
      </p:sp>
      <p:sp>
        <p:nvSpPr>
          <p:cNvPr id="51" name="Shape 48"/>
          <p:cNvSpPr/>
          <p:nvPr/>
        </p:nvSpPr>
        <p:spPr>
          <a:xfrm>
            <a:off x="8446770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2" name="Shape 49"/>
          <p:cNvSpPr/>
          <p:nvPr/>
        </p:nvSpPr>
        <p:spPr>
          <a:xfrm>
            <a:off x="8446770" y="2843784"/>
            <a:ext cx="994410" cy="45720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8446770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8474202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580" dirty="0"/>
          </a:p>
        </p:txBody>
      </p:sp>
      <p:sp>
        <p:nvSpPr>
          <p:cNvPr id="55" name="Shape 52"/>
          <p:cNvSpPr/>
          <p:nvPr/>
        </p:nvSpPr>
        <p:spPr>
          <a:xfrm>
            <a:off x="9514332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6" name="Shape 53"/>
          <p:cNvSpPr/>
          <p:nvPr/>
        </p:nvSpPr>
        <p:spPr>
          <a:xfrm>
            <a:off x="9514332" y="2843784"/>
            <a:ext cx="994410" cy="4572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514332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9541764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INTERNAL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endParaRPr lang="en-US" sz="580" dirty="0"/>
          </a:p>
        </p:txBody>
      </p:sp>
      <p:sp>
        <p:nvSpPr>
          <p:cNvPr id="59" name="Shape 56"/>
          <p:cNvSpPr/>
          <p:nvPr/>
        </p:nvSpPr>
        <p:spPr>
          <a:xfrm>
            <a:off x="10581894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10581894" y="2843784"/>
            <a:ext cx="994410" cy="45720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581894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</a:t>
            </a:r>
            <a:endParaRPr lang="en-US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10609326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EXTERNAL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580" dirty="0"/>
          </a:p>
        </p:txBody>
      </p:sp>
      <p:sp>
        <p:nvSpPr>
          <p:cNvPr id="63" name="Shape 60"/>
          <p:cNvSpPr/>
          <p:nvPr/>
        </p:nvSpPr>
        <p:spPr>
          <a:xfrm>
            <a:off x="7178040" y="3776472"/>
            <a:ext cx="4599432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4" name="Text 61"/>
          <p:cNvSpPr txBox="1"/>
          <p:nvPr/>
        </p:nvSpPr>
        <p:spPr>
          <a:xfrm>
            <a:off x="7379208" y="388620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7379208" y="4197096"/>
            <a:ext cx="418795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8D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has beaten new three weeks running.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597 closed against 396 new this week — net −201, the biggest weekly fall in six months. Open is 389, down from 588.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256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Clearing old tickets pushed the averages up.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old voice tickets were bulk-closed on Monday, so average time to close rose from 8.6 to 14.0 days. What's left open is older too: median age 27 → 31 days.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looks faster, on a thin base.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 against 46.8 hrs last week — but only email-answered tickets carry a response time (14% of new tickets), and ones still waiting aren't counted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 = new tickets by Source, phone vs email. First response = time to first agent email reply; phone and AI-agent tickets have none.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Support pipeline only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of 51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14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OCT MTD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329,436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1–18 Oct · October month-to-date at the 19 Oct capture, up from 111,689 a week ago; the admin capture gives month totals only, so there is no weekly split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92171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75712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55961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45720" cy="91440"/>
          </a:xfrm>
          <a:prstGeom prst="roundRect">
            <a:avLst>
              <a:gd name="adj" fmla="val 8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15,821</a:t>
            </a:r>
            <a:endParaRPr lang="en-US" sz="680" dirty="0"/>
          </a:p>
        </p:txBody>
      </p:sp>
      <p:sp>
        <p:nvSpPr>
          <p:cNvPr id="53" name="Text 51"/>
          <p:cNvSpPr txBox="1"/>
          <p:nvPr/>
        </p:nvSpPr>
        <p:spPr>
          <a:xfrm>
            <a:off x="5294376" y="2816352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2816352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96,644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594360" y="2975956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2084832" y="298327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057400" y="297595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3163824" y="2983272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136392" y="297595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0" name="Shape 58"/>
          <p:cNvSpPr/>
          <p:nvPr/>
        </p:nvSpPr>
        <p:spPr>
          <a:xfrm>
            <a:off x="4242816" y="2983272"/>
            <a:ext cx="996696" cy="136744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215384" y="297595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99,693</a:t>
            </a:r>
            <a:endParaRPr lang="en-US" sz="680" dirty="0"/>
          </a:p>
        </p:txBody>
      </p:sp>
      <p:sp>
        <p:nvSpPr>
          <p:cNvPr id="62" name="Shape 60"/>
          <p:cNvSpPr/>
          <p:nvPr/>
        </p:nvSpPr>
        <p:spPr>
          <a:xfrm>
            <a:off x="5321808" y="2983272"/>
            <a:ext cx="996696" cy="136744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294376" y="297595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170,962</a:t>
            </a:r>
            <a:endParaRPr lang="en-US" sz="680" dirty="0"/>
          </a:p>
        </p:txBody>
      </p:sp>
      <p:sp>
        <p:nvSpPr>
          <p:cNvPr id="64" name="Text 62"/>
          <p:cNvSpPr txBox="1"/>
          <p:nvPr/>
        </p:nvSpPr>
        <p:spPr>
          <a:xfrm>
            <a:off x="6400800" y="2975956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324,631</a:t>
            </a:r>
            <a:endParaRPr lang="en-US" sz="700" dirty="0"/>
          </a:p>
        </p:txBody>
      </p:sp>
      <p:sp>
        <p:nvSpPr>
          <p:cNvPr id="65" name="Text 63"/>
          <p:cNvSpPr txBox="1"/>
          <p:nvPr/>
        </p:nvSpPr>
        <p:spPr>
          <a:xfrm>
            <a:off x="594360" y="3135561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Daniel Maddern</a:t>
            </a:r>
            <a:endParaRPr lang="en-US" sz="720" dirty="0"/>
          </a:p>
        </p:txBody>
      </p:sp>
      <p:sp>
        <p:nvSpPr>
          <p:cNvPr id="66" name="Text 64"/>
          <p:cNvSpPr txBox="1"/>
          <p:nvPr/>
        </p:nvSpPr>
        <p:spPr>
          <a:xfrm>
            <a:off x="2057400" y="313556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7" name="Text 65"/>
          <p:cNvSpPr txBox="1"/>
          <p:nvPr/>
        </p:nvSpPr>
        <p:spPr>
          <a:xfrm>
            <a:off x="3136392" y="313556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8" name="Text 66"/>
          <p:cNvSpPr txBox="1"/>
          <p:nvPr/>
        </p:nvSpPr>
        <p:spPr>
          <a:xfrm>
            <a:off x="4215384" y="313556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5321808" y="3142876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294376" y="313556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43,288</a:t>
            </a:r>
            <a:endParaRPr lang="en-US" sz="680" dirty="0"/>
          </a:p>
        </p:txBody>
      </p:sp>
      <p:sp>
        <p:nvSpPr>
          <p:cNvPr id="71" name="Text 69"/>
          <p:cNvSpPr txBox="1"/>
          <p:nvPr/>
        </p:nvSpPr>
        <p:spPr>
          <a:xfrm>
            <a:off x="6400800" y="3135561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43,288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594360" y="3295165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73" name="Shape 71"/>
          <p:cNvSpPr/>
          <p:nvPr/>
        </p:nvSpPr>
        <p:spPr>
          <a:xfrm>
            <a:off x="2084832" y="3302480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2057400" y="3295165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5" name="Shape 73"/>
          <p:cNvSpPr/>
          <p:nvPr/>
        </p:nvSpPr>
        <p:spPr>
          <a:xfrm>
            <a:off x="3163824" y="3302480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3136392" y="3295165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7" name="Shape 75"/>
          <p:cNvSpPr/>
          <p:nvPr/>
        </p:nvSpPr>
        <p:spPr>
          <a:xfrm>
            <a:off x="4242816" y="3302480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15384" y="3295165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19,047</a:t>
            </a:r>
            <a:endParaRPr lang="en-US" sz="680" dirty="0"/>
          </a:p>
        </p:txBody>
      </p:sp>
      <p:sp>
        <p:nvSpPr>
          <p:cNvPr id="79" name="Text 77"/>
          <p:cNvSpPr txBox="1"/>
          <p:nvPr/>
        </p:nvSpPr>
        <p:spPr>
          <a:xfrm>
            <a:off x="5294376" y="3295165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0" name="Text 78"/>
          <p:cNvSpPr txBox="1"/>
          <p:nvPr/>
        </p:nvSpPr>
        <p:spPr>
          <a:xfrm>
            <a:off x="6400800" y="3295165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70,868</a:t>
            </a:r>
            <a:endParaRPr lang="en-US" sz="700" dirty="0"/>
          </a:p>
        </p:txBody>
      </p:sp>
      <p:sp>
        <p:nvSpPr>
          <p:cNvPr id="81" name="Text 79"/>
          <p:cNvSpPr txBox="1"/>
          <p:nvPr/>
        </p:nvSpPr>
        <p:spPr>
          <a:xfrm>
            <a:off x="594360" y="3454769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2084832" y="3462085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057400" y="3454769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4" name="Shape 82"/>
          <p:cNvSpPr/>
          <p:nvPr/>
        </p:nvSpPr>
        <p:spPr>
          <a:xfrm>
            <a:off x="3163824" y="3462085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136392" y="3454769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6" name="Shape 84"/>
          <p:cNvSpPr/>
          <p:nvPr/>
        </p:nvSpPr>
        <p:spPr>
          <a:xfrm>
            <a:off x="4242816" y="3462085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215384" y="3454769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24,443</a:t>
            </a:r>
            <a:endParaRPr lang="en-US" sz="680" dirty="0"/>
          </a:p>
        </p:txBody>
      </p:sp>
      <p:sp>
        <p:nvSpPr>
          <p:cNvPr id="88" name="Shape 86"/>
          <p:cNvSpPr/>
          <p:nvPr/>
        </p:nvSpPr>
        <p:spPr>
          <a:xfrm>
            <a:off x="5321808" y="3462085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294376" y="3454769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2,971</a:t>
            </a:r>
            <a:endParaRPr lang="en-US" sz="680" dirty="0"/>
          </a:p>
        </p:txBody>
      </p:sp>
      <p:sp>
        <p:nvSpPr>
          <p:cNvPr id="90" name="Text 88"/>
          <p:cNvSpPr txBox="1"/>
          <p:nvPr/>
        </p:nvSpPr>
        <p:spPr>
          <a:xfrm>
            <a:off x="6400800" y="3454769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69,982</a:t>
            </a:r>
            <a:endParaRPr lang="en-US" sz="700" dirty="0"/>
          </a:p>
        </p:txBody>
      </p:sp>
      <p:sp>
        <p:nvSpPr>
          <p:cNvPr id="91" name="Text 89"/>
          <p:cNvSpPr txBox="1"/>
          <p:nvPr/>
        </p:nvSpPr>
        <p:spPr>
          <a:xfrm>
            <a:off x="594360" y="3614374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2084832" y="3621689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2057400" y="3614374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163824" y="3621689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136392" y="3614374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6" name="Shape 94"/>
          <p:cNvSpPr/>
          <p:nvPr/>
        </p:nvSpPr>
        <p:spPr>
          <a:xfrm>
            <a:off x="4242816" y="3621689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4215384" y="3614374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30,828</a:t>
            </a:r>
            <a:endParaRPr lang="en-US" sz="680" dirty="0"/>
          </a:p>
        </p:txBody>
      </p:sp>
      <p:sp>
        <p:nvSpPr>
          <p:cNvPr id="98" name="Shape 96"/>
          <p:cNvSpPr/>
          <p:nvPr/>
        </p:nvSpPr>
        <p:spPr>
          <a:xfrm>
            <a:off x="5321808" y="3621689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5294376" y="3614374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21,999</a:t>
            </a:r>
            <a:endParaRPr lang="en-US" sz="680" dirty="0"/>
          </a:p>
        </p:txBody>
      </p:sp>
      <p:sp>
        <p:nvSpPr>
          <p:cNvPr id="100" name="Text 98"/>
          <p:cNvSpPr txBox="1"/>
          <p:nvPr/>
        </p:nvSpPr>
        <p:spPr>
          <a:xfrm>
            <a:off x="6400800" y="3614374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90,003</a:t>
            </a:r>
            <a:endParaRPr lang="en-US" sz="700" dirty="0"/>
          </a:p>
        </p:txBody>
      </p:sp>
      <p:sp>
        <p:nvSpPr>
          <p:cNvPr id="101" name="Text 99"/>
          <p:cNvSpPr txBox="1"/>
          <p:nvPr/>
        </p:nvSpPr>
        <p:spPr>
          <a:xfrm>
            <a:off x="594360" y="3773978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102" name="Shape 100"/>
          <p:cNvSpPr/>
          <p:nvPr/>
        </p:nvSpPr>
        <p:spPr>
          <a:xfrm>
            <a:off x="2084832" y="3781293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057400" y="3773978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4" name="Shape 102"/>
          <p:cNvSpPr/>
          <p:nvPr/>
        </p:nvSpPr>
        <p:spPr>
          <a:xfrm>
            <a:off x="3163824" y="3781293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136392" y="3773978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6" name="Shape 104"/>
          <p:cNvSpPr/>
          <p:nvPr/>
        </p:nvSpPr>
        <p:spPr>
          <a:xfrm>
            <a:off x="4242816" y="3781293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4215384" y="3773978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17,516</a:t>
            </a:r>
            <a:endParaRPr lang="en-US" sz="680" dirty="0"/>
          </a:p>
        </p:txBody>
      </p:sp>
      <p:sp>
        <p:nvSpPr>
          <p:cNvPr id="108" name="Shape 106"/>
          <p:cNvSpPr/>
          <p:nvPr/>
        </p:nvSpPr>
        <p:spPr>
          <a:xfrm>
            <a:off x="5321808" y="3781293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5294376" y="3773978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5,907</a:t>
            </a:r>
            <a:endParaRPr lang="en-US" sz="680" dirty="0"/>
          </a:p>
        </p:txBody>
      </p:sp>
      <p:sp>
        <p:nvSpPr>
          <p:cNvPr id="110" name="Text 108"/>
          <p:cNvSpPr txBox="1"/>
          <p:nvPr/>
        </p:nvSpPr>
        <p:spPr>
          <a:xfrm>
            <a:off x="6400800" y="3773978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55,814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594360" y="3933583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12" name="Text 110"/>
          <p:cNvSpPr txBox="1"/>
          <p:nvPr/>
        </p:nvSpPr>
        <p:spPr>
          <a:xfrm>
            <a:off x="2057400" y="3933583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3" name="Shape 111"/>
          <p:cNvSpPr/>
          <p:nvPr/>
        </p:nvSpPr>
        <p:spPr>
          <a:xfrm>
            <a:off x="3163824" y="3940898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3136392" y="3933583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5" name="Shape 113"/>
          <p:cNvSpPr/>
          <p:nvPr/>
        </p:nvSpPr>
        <p:spPr>
          <a:xfrm>
            <a:off x="4242816" y="3940898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4215384" y="3933583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5321808" y="3940898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5294376" y="3933583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17,140</a:t>
            </a:r>
            <a:endParaRPr lang="en-US" sz="680" dirty="0"/>
          </a:p>
        </p:txBody>
      </p:sp>
      <p:sp>
        <p:nvSpPr>
          <p:cNvPr id="119" name="Text 117"/>
          <p:cNvSpPr txBox="1"/>
          <p:nvPr/>
        </p:nvSpPr>
        <p:spPr>
          <a:xfrm>
            <a:off x="6400800" y="3933583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83,285</a:t>
            </a:r>
            <a:endParaRPr lang="en-US" sz="700" dirty="0"/>
          </a:p>
        </p:txBody>
      </p:sp>
      <p:sp>
        <p:nvSpPr>
          <p:cNvPr id="120" name="Text 118"/>
          <p:cNvSpPr txBox="1"/>
          <p:nvPr/>
        </p:nvSpPr>
        <p:spPr>
          <a:xfrm>
            <a:off x="594360" y="4093187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21" name="Shape 119"/>
          <p:cNvSpPr/>
          <p:nvPr/>
        </p:nvSpPr>
        <p:spPr>
          <a:xfrm>
            <a:off x="2084832" y="410050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2057400" y="4093187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23" name="Shape 121"/>
          <p:cNvSpPr/>
          <p:nvPr/>
        </p:nvSpPr>
        <p:spPr>
          <a:xfrm>
            <a:off x="3163824" y="410050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3136392" y="4093187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5" name="Shape 123"/>
          <p:cNvSpPr/>
          <p:nvPr/>
        </p:nvSpPr>
        <p:spPr>
          <a:xfrm>
            <a:off x="4242816" y="410050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4215384" y="4093187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4,322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5321808" y="410050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5294376" y="4093187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5,548</a:t>
            </a:r>
            <a:endParaRPr lang="en-US" sz="680" dirty="0"/>
          </a:p>
        </p:txBody>
      </p:sp>
      <p:sp>
        <p:nvSpPr>
          <p:cNvPr id="129" name="Text 127"/>
          <p:cNvSpPr txBox="1"/>
          <p:nvPr/>
        </p:nvSpPr>
        <p:spPr>
          <a:xfrm>
            <a:off x="6400800" y="4093187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39,718</a:t>
            </a:r>
            <a:endParaRPr lang="en-US" sz="700" dirty="0"/>
          </a:p>
        </p:txBody>
      </p:sp>
      <p:sp>
        <p:nvSpPr>
          <p:cNvPr id="130" name="Text 128"/>
          <p:cNvSpPr txBox="1"/>
          <p:nvPr/>
        </p:nvSpPr>
        <p:spPr>
          <a:xfrm>
            <a:off x="594360" y="4252791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31" name="Shape 129"/>
          <p:cNvSpPr/>
          <p:nvPr/>
        </p:nvSpPr>
        <p:spPr>
          <a:xfrm>
            <a:off x="2084832" y="4260106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2057400" y="425279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33" name="Shape 131"/>
          <p:cNvSpPr/>
          <p:nvPr/>
        </p:nvSpPr>
        <p:spPr>
          <a:xfrm>
            <a:off x="3163824" y="4260106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136392" y="425279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5" name="Shape 133"/>
          <p:cNvSpPr/>
          <p:nvPr/>
        </p:nvSpPr>
        <p:spPr>
          <a:xfrm>
            <a:off x="4242816" y="4260106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4215384" y="425279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11,891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5321808" y="4260106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5294376" y="425279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26,261</a:t>
            </a:r>
            <a:endParaRPr lang="en-US" sz="680" dirty="0"/>
          </a:p>
        </p:txBody>
      </p:sp>
      <p:sp>
        <p:nvSpPr>
          <p:cNvPr id="139" name="Text 137"/>
          <p:cNvSpPr txBox="1"/>
          <p:nvPr/>
        </p:nvSpPr>
        <p:spPr>
          <a:xfrm>
            <a:off x="6400800" y="4252791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54,729</a:t>
            </a:r>
            <a:endParaRPr lang="en-US" sz="700" dirty="0"/>
          </a:p>
        </p:txBody>
      </p:sp>
      <p:sp>
        <p:nvSpPr>
          <p:cNvPr id="140" name="Text 138"/>
          <p:cNvSpPr txBox="1"/>
          <p:nvPr/>
        </p:nvSpPr>
        <p:spPr>
          <a:xfrm>
            <a:off x="594360" y="4412396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41" name="Shape 139"/>
          <p:cNvSpPr/>
          <p:nvPr/>
        </p:nvSpPr>
        <p:spPr>
          <a:xfrm>
            <a:off x="2084832" y="4419711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2057400" y="441239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43" name="Shape 141"/>
          <p:cNvSpPr/>
          <p:nvPr/>
        </p:nvSpPr>
        <p:spPr>
          <a:xfrm>
            <a:off x="3163824" y="4419711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3136392" y="441239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5" name="Shape 143"/>
          <p:cNvSpPr/>
          <p:nvPr/>
        </p:nvSpPr>
        <p:spPr>
          <a:xfrm>
            <a:off x="4242816" y="4419711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4215384" y="441239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19,289</a:t>
            </a:r>
            <a:endParaRPr lang="en-US" sz="680" dirty="0"/>
          </a:p>
        </p:txBody>
      </p:sp>
      <p:sp>
        <p:nvSpPr>
          <p:cNvPr id="147" name="Shape 145"/>
          <p:cNvSpPr/>
          <p:nvPr/>
        </p:nvSpPr>
        <p:spPr>
          <a:xfrm>
            <a:off x="5321808" y="4419711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5294376" y="441239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3,890</a:t>
            </a:r>
            <a:endParaRPr lang="en-US" sz="680" dirty="0"/>
          </a:p>
        </p:txBody>
      </p:sp>
      <p:sp>
        <p:nvSpPr>
          <p:cNvPr id="149" name="Text 147"/>
          <p:cNvSpPr txBox="1"/>
          <p:nvPr/>
        </p:nvSpPr>
        <p:spPr>
          <a:xfrm>
            <a:off x="6400800" y="4412396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33,386</a:t>
            </a:r>
            <a:endParaRPr lang="en-US" sz="700" dirty="0"/>
          </a:p>
        </p:txBody>
      </p:sp>
      <p:sp>
        <p:nvSpPr>
          <p:cNvPr id="150" name="Shape 148"/>
          <p:cNvSpPr/>
          <p:nvPr/>
        </p:nvSpPr>
        <p:spPr>
          <a:xfrm>
            <a:off x="594360" y="4572000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594360" y="459943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52" name="Text 150"/>
          <p:cNvSpPr txBox="1"/>
          <p:nvPr/>
        </p:nvSpPr>
        <p:spPr>
          <a:xfrm>
            <a:off x="2057400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53" name="Text 151"/>
          <p:cNvSpPr txBox="1"/>
          <p:nvPr/>
        </p:nvSpPr>
        <p:spPr>
          <a:xfrm>
            <a:off x="3136392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4215384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277,261</a:t>
            </a:r>
            <a:endParaRPr lang="en-US" sz="750" dirty="0"/>
          </a:p>
        </p:txBody>
      </p:sp>
      <p:sp>
        <p:nvSpPr>
          <p:cNvPr id="155" name="Text 153"/>
          <p:cNvSpPr txBox="1"/>
          <p:nvPr/>
        </p:nvSpPr>
        <p:spPr>
          <a:xfrm>
            <a:off x="5294376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329,436</a:t>
            </a:r>
            <a:endParaRPr lang="en-US" sz="750" dirty="0"/>
          </a:p>
        </p:txBody>
      </p:sp>
      <p:sp>
        <p:nvSpPr>
          <p:cNvPr id="156" name="Text 154"/>
          <p:cNvSpPr txBox="1"/>
          <p:nvPr/>
        </p:nvSpPr>
        <p:spPr>
          <a:xfrm>
            <a:off x="6400800" y="45994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1,128,248</a:t>
            </a:r>
            <a:endParaRPr lang="en-US" sz="750" dirty="0"/>
          </a:p>
        </p:txBody>
      </p:sp>
      <p:sp>
        <p:nvSpPr>
          <p:cNvPr id="157" name="Text 155"/>
          <p:cNvSpPr txBox="1"/>
          <p:nvPr/>
        </p:nvSpPr>
        <p:spPr>
          <a:xfrm>
            <a:off x="59436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2075688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05740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05740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247737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245908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245908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2879054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286076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286076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3280737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326244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326244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3682419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366413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366413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084102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06581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06581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4485785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446749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446749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4887468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486918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486918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528915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527086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527086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5690834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567254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567254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092517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07422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07422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6494199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647591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647591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94" name="Shape 192"/>
          <p:cNvSpPr/>
          <p:nvPr/>
        </p:nvSpPr>
        <p:spPr>
          <a:xfrm>
            <a:off x="6895882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687759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6" name="Text 194"/>
          <p:cNvSpPr txBox="1"/>
          <p:nvPr/>
        </p:nvSpPr>
        <p:spPr>
          <a:xfrm>
            <a:off x="687759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7" name="Shape 195"/>
          <p:cNvSpPr/>
          <p:nvPr/>
        </p:nvSpPr>
        <p:spPr>
          <a:xfrm>
            <a:off x="7297565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727927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9" name="Text 197"/>
          <p:cNvSpPr txBox="1"/>
          <p:nvPr/>
        </p:nvSpPr>
        <p:spPr>
          <a:xfrm>
            <a:off x="727927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200" name="Text 198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series ends w/c 06 Sep — later captures give month-to-date only · Nicolas Ibrahim and Daniel Maddern each have two accounts, combined here; Daniel Maddern is new to the capture, so Jul–Sep are unavailable for him, not zero</a:t>
            </a:r>
            <a:endParaRPr lang="en-US" sz="600" dirty="0"/>
          </a:p>
        </p:txBody>
      </p:sp>
      <p:sp>
        <p:nvSpPr>
          <p:cNvPr id="201" name="Shape 199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2" name="Text 200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203" name="Text 201"/>
          <p:cNvSpPr txBox="1"/>
          <p:nvPr/>
        </p:nvSpPr>
        <p:spPr>
          <a:xfrm>
            <a:off x="8275320" y="259689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~1070</a:t>
            </a:r>
            <a:endParaRPr lang="en-US" sz="2600" dirty="0"/>
          </a:p>
        </p:txBody>
      </p:sp>
      <p:sp>
        <p:nvSpPr>
          <p:cNvPr id="204" name="Text 202"/>
          <p:cNvSpPr txBox="1"/>
          <p:nvPr/>
        </p:nvSpPr>
        <p:spPr>
          <a:xfrm>
            <a:off x="9811512" y="2624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~1012 baseline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+69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~765/wk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-5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~163/wk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~22/wk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-2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~11/wk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750" dirty="0"/>
          </a:p>
        </p:txBody>
      </p:sp>
      <p:sp>
        <p:nvSpPr>
          <p:cNvPr id="230" name="Text 228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31" name="Text 229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32" name="Text 230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Kuhlmann</a:t>
            </a:r>
            <a:endParaRPr lang="en-US" sz="750" dirty="0"/>
          </a:p>
        </p:txBody>
      </p:sp>
      <p:sp>
        <p:nvSpPr>
          <p:cNvPr id="233" name="Text 231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34" name="Text 232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35" name="Text 233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the 12 Oct capture</a:t>
            </a:r>
            <a:endParaRPr lang="en-US" sz="600" dirty="0"/>
          </a:p>
        </p:txBody>
      </p:sp>
      <p:sp>
        <p:nvSpPr>
          <p:cNvPr id="236" name="Shape 234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7" name="Text 235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8" name="Text 236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of 51 active weekly, 14 daily — breadth and depth both back up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last week's dip. Claude.ai stickiness recovered 7% → 17% DAU/MAU and Claude Code rose to 28%; Cowork eased 24% → 23% and Office Agents are still at nil. The code number is the headline: 329,436 lines in October to date against 111,689 a week ago, already above any full month this year. Nicolas Ibrahim is 170,962 of it — 52% — and Daniel Maddern enters at 43,288.</a:t>
            </a:r>
            <a:endParaRPr lang="en-US" sz="900" dirty="0"/>
          </a:p>
        </p:txBody>
      </p:sp>
      <p:sp>
        <p:nvSpPr>
          <p:cNvPr id="239" name="Shape 237"/>
          <p:cNvSpPr/>
          <p:nvPr/>
        </p:nvSpPr>
        <p:spPr>
          <a:xfrm>
            <a:off x="6653174" y="6510528"/>
            <a:ext cx="512429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40" name="Text 238"/>
          <p:cNvSpPr txBox="1"/>
          <p:nvPr/>
        </p:nvSpPr>
        <p:spPr>
          <a:xfrm>
            <a:off x="6653174" y="6510528"/>
            <a:ext cx="5124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capture (30d to 19 Oct) · held at 19 Oct, refresh pending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2026-10-26T02:58:29Z</dcterms:created>
  <dcterms:modified xsi:type="dcterms:W3CDTF">2026-10-26T02:58:29Z</dcterms:modified>
</cp:coreProperties>
</file>