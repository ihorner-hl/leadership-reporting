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identified</c:v>
                </c:pt>
              </c:strCache>
            </c:strRef>
          </c:tx>
          <c:spPr>
            <a:solidFill>
              <a:srgbClr val="24435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23</c:v>
                </c:pt>
                <c:pt idx="8">
                  <c:v>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referred</c:v>
                </c:pt>
              </c:strCache>
            </c:strRef>
          </c:tx>
          <c:spPr>
            <a:solidFill>
              <a:srgbClr val="2C839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3</c:v>
                </c:pt>
                <c:pt idx="1">
                  <c:v>2</c:v>
                </c:pt>
                <c:pt idx="2">
                  <c:v>4</c:v>
                </c:pt>
                <c:pt idx="3">
                  <c:v>3</c:v>
                </c:pt>
                <c:pt idx="4">
                  <c:v>2</c:v>
                </c:pt>
                <c:pt idx="5">
                  <c:v>6</c:v>
                </c:pt>
                <c:pt idx="6">
                  <c:v>2</c:v>
                </c:pt>
                <c:pt idx="7">
                  <c:v>5</c:v>
                </c:pt>
                <c:pt idx="8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5"/>
        <c:overlap val="-10"/>
        <c:axId val="2094734554"/>
        <c:axId val="2094734552"/>
        <c:axId val="2094734556"/>
      </c:barChart>
      <c:lineChart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cumulative referred</c:v>
                </c:pt>
              </c:strCache>
            </c:strRef>
          </c:tx>
          <c:spPr>
            <a:solidFill>
              <a:srgbClr val="C88A2E"/>
            </a:solidFill>
            <a:ln w="25400" cap="flat">
              <a:solidFill>
                <a:srgbClr val="C88A2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C88A2E"/>
              </a:solidFill>
              <a:ln w="9525" cap="flat">
                <a:solidFill>
                  <a:srgbClr val="C88A2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</c:lvl>
              </c:multiLvlStrCache>
            </c:multiLvl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3</c:v>
                </c:pt>
                <c:pt idx="1">
                  <c:v>5</c:v>
                </c:pt>
                <c:pt idx="2">
                  <c:v>9</c:v>
                </c:pt>
                <c:pt idx="3">
                  <c:v>12</c:v>
                </c:pt>
                <c:pt idx="4">
                  <c:v>14</c:v>
                </c:pt>
                <c:pt idx="5">
                  <c:v>20</c:v>
                </c:pt>
                <c:pt idx="6">
                  <c:v>22</c:v>
                </c:pt>
                <c:pt idx="7">
                  <c:v>27</c:v>
                </c:pt>
                <c:pt idx="8">
                  <c:v>27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12293A"/>
                </a:solidFill>
                <a:latin typeface="Poppi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A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8FA1AC"/>
                </a:solidFill>
                <a:latin typeface="Poppin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650">
              <a:solidFill>
                <a:srgbClr val="5E7280"/>
              </a:solidFill>
              <a:latin typeface="Poppins"/>
              <a:cs typeface="Poppins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B8D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24452</c:v>
                </c:pt>
                <c:pt idx="1">
                  <c:v>27867</c:v>
                </c:pt>
                <c:pt idx="2">
                  <c:v>30164</c:v>
                </c:pt>
                <c:pt idx="3">
                  <c:v>23947</c:v>
                </c:pt>
                <c:pt idx="4">
                  <c:v>32107</c:v>
                </c:pt>
                <c:pt idx="5">
                  <c:v>32610</c:v>
                </c:pt>
                <c:pt idx="6">
                  <c:v>35340</c:v>
                </c:pt>
                <c:pt idx="7">
                  <c:v>66642</c:v>
                </c:pt>
                <c:pt idx="8">
                  <c:v>20359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Cost</c:v>
                </c:pt>
              </c:strCache>
            </c:strRef>
          </c:tx>
          <c:spPr>
            <a:solidFill>
              <a:srgbClr val="E0A45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56087</c:v>
                </c:pt>
                <c:pt idx="1">
                  <c:v>63765</c:v>
                </c:pt>
                <c:pt idx="2">
                  <c:v>75839</c:v>
                </c:pt>
                <c:pt idx="3">
                  <c:v>69343</c:v>
                </c:pt>
                <c:pt idx="4">
                  <c:v>60274</c:v>
                </c:pt>
                <c:pt idx="5">
                  <c:v>60368</c:v>
                </c:pt>
                <c:pt idx="6">
                  <c:v>60240</c:v>
                </c:pt>
                <c:pt idx="7">
                  <c:v>50403</c:v>
                </c:pt>
                <c:pt idx="8">
                  <c:v>65362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lineChart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Contribution</c:v>
                </c:pt>
              </c:strCache>
            </c:strRef>
          </c:tx>
          <c:spPr>
            <a:solidFill>
              <a:srgbClr val="C2562A"/>
            </a:solidFill>
            <a:ln w="28575" cap="flat">
              <a:solidFill>
                <a:srgbClr val="C2562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2562A"/>
              </a:solidFill>
              <a:ln w="9525" cap="flat">
                <a:solidFill>
                  <a:srgbClr val="C2562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</c:lvl>
              </c:multiLvlStrCache>
            </c:multiLvl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-31635</c:v>
                </c:pt>
                <c:pt idx="1">
                  <c:v>-35898</c:v>
                </c:pt>
                <c:pt idx="2">
                  <c:v>-45675</c:v>
                </c:pt>
                <c:pt idx="3">
                  <c:v>-45396</c:v>
                </c:pt>
                <c:pt idx="4">
                  <c:v>-28167</c:v>
                </c:pt>
                <c:pt idx="5">
                  <c:v>-27758</c:v>
                </c:pt>
                <c:pt idx="6">
                  <c:v>-24900</c:v>
                </c:pt>
                <c:pt idx="7">
                  <c:v>16239</c:v>
                </c:pt>
                <c:pt idx="8">
                  <c:v>-45003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12293A"/>
                </a:solidFill>
                <a:latin typeface="Poppi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000"/>
          <c:min val="-60000"/>
        </c:scaling>
        <c:delete val="0"/>
        <c:axPos val="l"/>
        <c:majorGridlines>
          <c:spPr>
            <a:ln w="6350" cap="flat">
              <a:solidFill>
                <a:srgbClr val="E2EAEE"/>
              </a:solidFill>
              <a:prstDash val="solid"/>
              <a:round/>
            </a:ln>
          </c:spPr>
        </c:majorGridlines>
        <c:numFmt formatCode="$#,##0,&quot;k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50" b="0" i="0" u="none" strike="noStrike">
                <a:solidFill>
                  <a:srgbClr val="8FA1AC"/>
                </a:solidFill>
                <a:latin typeface="Poppins"/>
              </a:defRPr>
            </a:pPr>
            <a:endParaRPr lang="en-US"/>
          </a:p>
        </c:txPr>
        <c:crossAx val="2094734554"/>
        <c:crosses val="autoZero"/>
        <c:crossBetween val="between"/>
        <c:majorUnit val="20000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750">
              <a:solidFill>
                <a:srgbClr val="3A4B57"/>
              </a:solidFill>
              <a:latin typeface="Poppins"/>
              <a:cs typeface="Poppins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Won (HubSpot)</c:v>
                </c:pt>
              </c:strCache>
            </c:strRef>
          </c:tx>
          <c:spPr>
            <a:solidFill>
              <a:srgbClr val="2C839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4077</c:v>
                </c:pt>
                <c:pt idx="1">
                  <c:v>7481</c:v>
                </c:pt>
                <c:pt idx="2">
                  <c:v>16726</c:v>
                </c:pt>
                <c:pt idx="3">
                  <c:v>3839</c:v>
                </c:pt>
                <c:pt idx="4">
                  <c:v>1967</c:v>
                </c:pt>
                <c:pt idx="5">
                  <c:v>12943</c:v>
                </c:pt>
                <c:pt idx="6">
                  <c:v>969</c:v>
                </c:pt>
                <c:pt idx="7">
                  <c:v>1935</c:v>
                </c:pt>
                <c:pt idx="8">
                  <c:v>8130</c:v>
                </c:pt>
                <c:pt idx="9">
                  <c:v>6441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Invoiced (register)</c:v>
                </c:pt>
              </c:strCache>
            </c:strRef>
          </c:tx>
          <c:spPr>
            <a:solidFill>
              <a:srgbClr val="3D8F5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2829</c:v>
                </c:pt>
                <c:pt idx="1">
                  <c:v>5205</c:v>
                </c:pt>
                <c:pt idx="2">
                  <c:v>5883</c:v>
                </c:pt>
                <c:pt idx="3">
                  <c:v>3463</c:v>
                </c:pt>
                <c:pt idx="4">
                  <c:v>5482</c:v>
                </c:pt>
                <c:pt idx="5">
                  <c:v>7087</c:v>
                </c:pt>
                <c:pt idx="6">
                  <c:v>4860</c:v>
                </c:pt>
                <c:pt idx="7">
                  <c:v>3700</c:v>
                </c:pt>
                <c:pt idx="8">
                  <c:v>6853</c:v>
                </c:pt>
                <c:pt idx="9">
                  <c:v>3817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5"/>
        <c:overlap val="-1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12293A"/>
                </a:solidFill>
                <a:latin typeface="Poppi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A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50" b="0" i="0" u="none" strike="noStrike">
                <a:solidFill>
                  <a:srgbClr val="8FA1AC"/>
                </a:solidFill>
                <a:latin typeface="Poppin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750">
              <a:solidFill>
                <a:srgbClr val="5E7280"/>
              </a:solidFill>
              <a:latin typeface="Poppins"/>
              <a:cs typeface="Poppins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New</c:v>
                </c:pt>
              </c:strCache>
            </c:strRef>
          </c:tx>
          <c:spPr>
            <a:solidFill>
              <a:srgbClr val="1B8D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3A4B57"/>
                    </a:solidFill>
                    <a:latin typeface="Poppins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Sheet1!$A$2:$A$26</c:f>
              <c:multiLvlStrCache>
                <c:ptCount val="25"/>
                <c:lvl>
                  <c:pt idx="0">
                    <c:v>27 Apr</c:v>
                  </c:pt>
                  <c:pt idx="1">
                    <c:v>4 May</c:v>
                  </c:pt>
                  <c:pt idx="2">
                    <c:v>11 May</c:v>
                  </c:pt>
                  <c:pt idx="3">
                    <c:v>18 May</c:v>
                  </c:pt>
                  <c:pt idx="4">
                    <c:v>25 May</c:v>
                  </c:pt>
                  <c:pt idx="5">
                    <c:v>1 Jun</c:v>
                  </c:pt>
                  <c:pt idx="6">
                    <c:v>8 Jun</c:v>
                  </c:pt>
                  <c:pt idx="7">
                    <c:v>15 Jun</c:v>
                  </c:pt>
                  <c:pt idx="8">
                    <c:v>22 Jun</c:v>
                  </c:pt>
                  <c:pt idx="9">
                    <c:v>29 Jun</c:v>
                  </c:pt>
                  <c:pt idx="10">
                    <c:v>6 Jul</c:v>
                  </c:pt>
                  <c:pt idx="11">
                    <c:v>13 Jul</c:v>
                  </c:pt>
                  <c:pt idx="12">
                    <c:v>20 Jul</c:v>
                  </c:pt>
                  <c:pt idx="13">
                    <c:v>27 Jul</c:v>
                  </c:pt>
                  <c:pt idx="14">
                    <c:v>3 Aug</c:v>
                  </c:pt>
                  <c:pt idx="15">
                    <c:v>10 Aug</c:v>
                  </c:pt>
                  <c:pt idx="16">
                    <c:v>17 Aug</c:v>
                  </c:pt>
                  <c:pt idx="17">
                    <c:v>24 Aug</c:v>
                  </c:pt>
                  <c:pt idx="18">
                    <c:v>31 Aug</c:v>
                  </c:pt>
                  <c:pt idx="19">
                    <c:v>14 Sep</c:v>
                  </c:pt>
                  <c:pt idx="20">
                    <c:v>21 Sep</c:v>
                  </c:pt>
                  <c:pt idx="21">
                    <c:v>28 Sep</c:v>
                  </c:pt>
                  <c:pt idx="22">
                    <c:v>5 Oct</c:v>
                  </c:pt>
                  <c:pt idx="23">
                    <c:v>12 Oct</c:v>
                  </c:pt>
                  <c:pt idx="24">
                    <c:v>19 Oct</c:v>
                  </c:pt>
                </c:lvl>
              </c:multiLvlStrCache>
            </c:multiLvlStrRef>
          </c:cat>
          <c:val>
            <c:numRef>
              <c:f>Sheet1!$B$2:$B$26</c:f>
              <c:numCache>
                <c:formatCode>General</c:formatCode>
                <c:ptCount val="25"/>
                <c:pt idx="0">
                  <c:v>329</c:v>
                </c:pt>
                <c:pt idx="1">
                  <c:v>332</c:v>
                </c:pt>
                <c:pt idx="2">
                  <c:v>391</c:v>
                </c:pt>
                <c:pt idx="3">
                  <c:v>362</c:v>
                </c:pt>
                <c:pt idx="4">
                  <c:v>322</c:v>
                </c:pt>
                <c:pt idx="5">
                  <c:v>325</c:v>
                </c:pt>
                <c:pt idx="6">
                  <c:v>355</c:v>
                </c:pt>
                <c:pt idx="7">
                  <c:v>384</c:v>
                </c:pt>
                <c:pt idx="8">
                  <c:v>324</c:v>
                </c:pt>
                <c:pt idx="9">
                  <c:v>372</c:v>
                </c:pt>
                <c:pt idx="10">
                  <c:v>331</c:v>
                </c:pt>
                <c:pt idx="11">
                  <c:v>333</c:v>
                </c:pt>
                <c:pt idx="12">
                  <c:v>306</c:v>
                </c:pt>
                <c:pt idx="13">
                  <c:v>425</c:v>
                </c:pt>
                <c:pt idx="14">
                  <c:v>432</c:v>
                </c:pt>
                <c:pt idx="15">
                  <c:v>644</c:v>
                </c:pt>
                <c:pt idx="16">
                  <c:v>466</c:v>
                </c:pt>
                <c:pt idx="17">
                  <c:v>412</c:v>
                </c:pt>
                <c:pt idx="18">
                  <c:v>451</c:v>
                </c:pt>
                <c:pt idx="19">
                  <c:v>492</c:v>
                </c:pt>
                <c:pt idx="20">
                  <c:v>490</c:v>
                </c:pt>
                <c:pt idx="21">
                  <c:v>450</c:v>
                </c:pt>
                <c:pt idx="22">
                  <c:v>417</c:v>
                </c:pt>
                <c:pt idx="23">
                  <c:v>561</c:v>
                </c:pt>
                <c:pt idx="24">
                  <c:v>396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Closed</c:v>
                </c:pt>
              </c:strCache>
            </c:strRef>
          </c:tx>
          <c:spPr>
            <a:solidFill>
              <a:srgbClr val="E0A45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3A4B57"/>
                    </a:solidFill>
                    <a:latin typeface="Poppins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Sheet1!$A$2:$A$26</c:f>
              <c:multiLvlStrCache>
                <c:ptCount val="25"/>
                <c:lvl>
                  <c:pt idx="0">
                    <c:v>27 Apr</c:v>
                  </c:pt>
                  <c:pt idx="1">
                    <c:v>4 May</c:v>
                  </c:pt>
                  <c:pt idx="2">
                    <c:v>11 May</c:v>
                  </c:pt>
                  <c:pt idx="3">
                    <c:v>18 May</c:v>
                  </c:pt>
                  <c:pt idx="4">
                    <c:v>25 May</c:v>
                  </c:pt>
                  <c:pt idx="5">
                    <c:v>1 Jun</c:v>
                  </c:pt>
                  <c:pt idx="6">
                    <c:v>8 Jun</c:v>
                  </c:pt>
                  <c:pt idx="7">
                    <c:v>15 Jun</c:v>
                  </c:pt>
                  <c:pt idx="8">
                    <c:v>22 Jun</c:v>
                  </c:pt>
                  <c:pt idx="9">
                    <c:v>29 Jun</c:v>
                  </c:pt>
                  <c:pt idx="10">
                    <c:v>6 Jul</c:v>
                  </c:pt>
                  <c:pt idx="11">
                    <c:v>13 Jul</c:v>
                  </c:pt>
                  <c:pt idx="12">
                    <c:v>20 Jul</c:v>
                  </c:pt>
                  <c:pt idx="13">
                    <c:v>27 Jul</c:v>
                  </c:pt>
                  <c:pt idx="14">
                    <c:v>3 Aug</c:v>
                  </c:pt>
                  <c:pt idx="15">
                    <c:v>10 Aug</c:v>
                  </c:pt>
                  <c:pt idx="16">
                    <c:v>17 Aug</c:v>
                  </c:pt>
                  <c:pt idx="17">
                    <c:v>24 Aug</c:v>
                  </c:pt>
                  <c:pt idx="18">
                    <c:v>31 Aug</c:v>
                  </c:pt>
                  <c:pt idx="19">
                    <c:v>14 Sep</c:v>
                  </c:pt>
                  <c:pt idx="20">
                    <c:v>21 Sep</c:v>
                  </c:pt>
                  <c:pt idx="21">
                    <c:v>28 Sep</c:v>
                  </c:pt>
                  <c:pt idx="22">
                    <c:v>5 Oct</c:v>
                  </c:pt>
                  <c:pt idx="23">
                    <c:v>12 Oct</c:v>
                  </c:pt>
                  <c:pt idx="24">
                    <c:v>19 Oct</c:v>
                  </c:pt>
                </c:lvl>
              </c:multiLvlStrCache>
            </c:multiLvlStrRef>
          </c:cat>
          <c:val>
            <c:numRef>
              <c:f>Sheet1!$C$2:$C$26</c:f>
              <c:numCache>
                <c:formatCode>General</c:formatCode>
                <c:ptCount val="25"/>
                <c:pt idx="0">
                  <c:v>281</c:v>
                </c:pt>
                <c:pt idx="1">
                  <c:v>298</c:v>
                </c:pt>
                <c:pt idx="2">
                  <c:v>319</c:v>
                </c:pt>
                <c:pt idx="3">
                  <c:v>287</c:v>
                </c:pt>
                <c:pt idx="4">
                  <c:v>406</c:v>
                </c:pt>
                <c:pt idx="5">
                  <c:v>292</c:v>
                </c:pt>
                <c:pt idx="6">
                  <c:v>371</c:v>
                </c:pt>
                <c:pt idx="7">
                  <c:v>402</c:v>
                </c:pt>
                <c:pt idx="8">
                  <c:v>266</c:v>
                </c:pt>
                <c:pt idx="9">
                  <c:v>315</c:v>
                </c:pt>
                <c:pt idx="10">
                  <c:v>487</c:v>
                </c:pt>
                <c:pt idx="11">
                  <c:v>524</c:v>
                </c:pt>
                <c:pt idx="12">
                  <c:v>329</c:v>
                </c:pt>
                <c:pt idx="13">
                  <c:v>359</c:v>
                </c:pt>
                <c:pt idx="14">
                  <c:v>292</c:v>
                </c:pt>
                <c:pt idx="15">
                  <c:v>465</c:v>
                </c:pt>
                <c:pt idx="16">
                  <c:v>454</c:v>
                </c:pt>
                <c:pt idx="17">
                  <c:v>343</c:v>
                </c:pt>
                <c:pt idx="18">
                  <c:v>347</c:v>
                </c:pt>
                <c:pt idx="19">
                  <c:v>607</c:v>
                </c:pt>
                <c:pt idx="20">
                  <c:v>419</c:v>
                </c:pt>
                <c:pt idx="21">
                  <c:v>431</c:v>
                </c:pt>
                <c:pt idx="22">
                  <c:v>426</c:v>
                </c:pt>
                <c:pt idx="23">
                  <c:v>608</c:v>
                </c:pt>
                <c:pt idx="24">
                  <c:v>597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3A4B57"/>
                  </a:solidFill>
                  <a:latin typeface="Poppi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lineChart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Net movement (new − closed)</c:v>
                </c:pt>
              </c:strCache>
            </c:strRef>
          </c:tx>
          <c:spPr>
            <a:solidFill>
              <a:srgbClr val="C2562A"/>
            </a:solidFill>
            <a:ln w="31750" cap="flat">
              <a:solidFill>
                <a:srgbClr val="C2562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3A4B57"/>
                    </a:solidFill>
                    <a:latin typeface="Poppins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C2562A"/>
              </a:solidFill>
              <a:ln w="9525" cap="flat">
                <a:solidFill>
                  <a:srgbClr val="C2562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Sheet1!$A$2:$A$26</c:f>
              <c:multiLvlStrCache>
                <c:ptCount val="25"/>
                <c:lvl>
                  <c:pt idx="0">
                    <c:v>27 Apr</c:v>
                  </c:pt>
                  <c:pt idx="1">
                    <c:v>4 May</c:v>
                  </c:pt>
                  <c:pt idx="2">
                    <c:v>11 May</c:v>
                  </c:pt>
                  <c:pt idx="3">
                    <c:v>18 May</c:v>
                  </c:pt>
                  <c:pt idx="4">
                    <c:v>25 May</c:v>
                  </c:pt>
                  <c:pt idx="5">
                    <c:v>1 Jun</c:v>
                  </c:pt>
                  <c:pt idx="6">
                    <c:v>8 Jun</c:v>
                  </c:pt>
                  <c:pt idx="7">
                    <c:v>15 Jun</c:v>
                  </c:pt>
                  <c:pt idx="8">
                    <c:v>22 Jun</c:v>
                  </c:pt>
                  <c:pt idx="9">
                    <c:v>29 Jun</c:v>
                  </c:pt>
                  <c:pt idx="10">
                    <c:v>6 Jul</c:v>
                  </c:pt>
                  <c:pt idx="11">
                    <c:v>13 Jul</c:v>
                  </c:pt>
                  <c:pt idx="12">
                    <c:v>20 Jul</c:v>
                  </c:pt>
                  <c:pt idx="13">
                    <c:v>27 Jul</c:v>
                  </c:pt>
                  <c:pt idx="14">
                    <c:v>3 Aug</c:v>
                  </c:pt>
                  <c:pt idx="15">
                    <c:v>10 Aug</c:v>
                  </c:pt>
                  <c:pt idx="16">
                    <c:v>17 Aug</c:v>
                  </c:pt>
                  <c:pt idx="17">
                    <c:v>24 Aug</c:v>
                  </c:pt>
                  <c:pt idx="18">
                    <c:v>31 Aug</c:v>
                  </c:pt>
                  <c:pt idx="19">
                    <c:v>14 Sep</c:v>
                  </c:pt>
                  <c:pt idx="20">
                    <c:v>21 Sep</c:v>
                  </c:pt>
                  <c:pt idx="21">
                    <c:v>28 Sep</c:v>
                  </c:pt>
                  <c:pt idx="22">
                    <c:v>5 Oct</c:v>
                  </c:pt>
                  <c:pt idx="23">
                    <c:v>12 Oct</c:v>
                  </c:pt>
                  <c:pt idx="24">
                    <c:v>19 Oct</c:v>
                  </c:pt>
                </c:lvl>
              </c:multiLvlStrCache>
            </c:multiLvlStrRef>
          </c:cat>
          <c:val>
            <c:numRef>
              <c:f>Sheet1!$D$2:$D$26</c:f>
              <c:numCache>
                <c:formatCode>General</c:formatCode>
                <c:ptCount val="25"/>
                <c:pt idx="0">
                  <c:v>48</c:v>
                </c:pt>
                <c:pt idx="1">
                  <c:v>34</c:v>
                </c:pt>
                <c:pt idx="2">
                  <c:v>72</c:v>
                </c:pt>
                <c:pt idx="3">
                  <c:v>75</c:v>
                </c:pt>
                <c:pt idx="4">
                  <c:v>-84</c:v>
                </c:pt>
                <c:pt idx="5">
                  <c:v>33</c:v>
                </c:pt>
                <c:pt idx="6">
                  <c:v>-16</c:v>
                </c:pt>
                <c:pt idx="7">
                  <c:v>-18</c:v>
                </c:pt>
                <c:pt idx="8">
                  <c:v>58</c:v>
                </c:pt>
                <c:pt idx="9">
                  <c:v>57</c:v>
                </c:pt>
                <c:pt idx="10">
                  <c:v>-156</c:v>
                </c:pt>
                <c:pt idx="11">
                  <c:v>-191</c:v>
                </c:pt>
                <c:pt idx="12">
                  <c:v>-23</c:v>
                </c:pt>
                <c:pt idx="13">
                  <c:v>66</c:v>
                </c:pt>
                <c:pt idx="14">
                  <c:v>140</c:v>
                </c:pt>
                <c:pt idx="15">
                  <c:v>179</c:v>
                </c:pt>
                <c:pt idx="16">
                  <c:v>12</c:v>
                </c:pt>
                <c:pt idx="17">
                  <c:v>69</c:v>
                </c:pt>
                <c:pt idx="18">
                  <c:v>104</c:v>
                </c:pt>
                <c:pt idx="19">
                  <c:v>-115</c:v>
                </c:pt>
                <c:pt idx="20">
                  <c:v>71</c:v>
                </c:pt>
                <c:pt idx="21">
                  <c:v>19</c:v>
                </c:pt>
                <c:pt idx="22">
                  <c:v>-9</c:v>
                </c:pt>
                <c:pt idx="23">
                  <c:v>-47</c:v>
                </c:pt>
                <c:pt idx="24">
                  <c:v>-201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3A4B57"/>
                  </a:solidFill>
                  <a:latin typeface="Poppi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12293A"/>
                </a:solidFill>
                <a:latin typeface="Poppi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2"/>
      </c:catAx>
      <c:valAx>
        <c:axId val="2094734552"/>
        <c:scaling>
          <c:orientation val="minMax"/>
          <c:max val="800"/>
          <c:min val="-300"/>
        </c:scaling>
        <c:delete val="0"/>
        <c:axPos val="l"/>
        <c:majorGridlines>
          <c:spPr>
            <a:ln w="6350" cap="flat">
              <a:solidFill>
                <a:srgbClr val="E2EA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8FA1AC"/>
                </a:solidFill>
                <a:latin typeface="Poppins"/>
              </a:defRPr>
            </a:pPr>
            <a:endParaRPr lang="en-US"/>
          </a:p>
        </c:txPr>
        <c:crossAx val="2094734554"/>
        <c:crosses val="autoZero"/>
        <c:crossBetween val="between"/>
        <c:majorUnit val="100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800">
              <a:solidFill>
                <a:srgbClr val="3A4B57"/>
              </a:solidFill>
              <a:latin typeface="Poppins"/>
              <a:cs typeface="Poppins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First weekly deck produced after the Creatio → HubSpot migration (live 8 Sep 2026). Slide 3 carries the cutover register; per-slide source pills carry the provenance.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9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09099" y="-1263701"/>
            <a:ext cx="3533242" cy="3533242"/>
          </a:xfrm>
          <a:prstGeom prst="ellipse">
            <a:avLst/>
          </a:prstGeom>
          <a:solidFill>
            <a:srgbClr val="1C5765"/>
          </a:solidFill>
          <a:ln/>
        </p:spPr>
      </p:sp>
      <p:sp>
        <p:nvSpPr>
          <p:cNvPr id="3" name="Shape 1"/>
          <p:cNvSpPr/>
          <p:nvPr/>
        </p:nvSpPr>
        <p:spPr>
          <a:xfrm>
            <a:off x="10112350" y="-860450"/>
            <a:ext cx="2726741" cy="2726741"/>
          </a:xfrm>
          <a:prstGeom prst="ellipse">
            <a:avLst/>
          </a:prstGeom>
          <a:solidFill>
            <a:srgbClr val="2C8394"/>
          </a:solidFill>
          <a:ln/>
        </p:spPr>
      </p:sp>
      <p:sp>
        <p:nvSpPr>
          <p:cNvPr id="4" name="Shape 2"/>
          <p:cNvSpPr/>
          <p:nvPr/>
        </p:nvSpPr>
        <p:spPr>
          <a:xfrm>
            <a:off x="10515600" y="-457200"/>
            <a:ext cx="1920240" cy="1920240"/>
          </a:xfrm>
          <a:prstGeom prst="ellipse">
            <a:avLst/>
          </a:prstGeom>
          <a:solidFill>
            <a:srgbClr val="6FAEBB"/>
          </a:solidFill>
          <a:ln/>
        </p:spPr>
      </p:sp>
      <p:sp>
        <p:nvSpPr>
          <p:cNvPr id="5" name="Shape 3"/>
          <p:cNvSpPr/>
          <p:nvPr/>
        </p:nvSpPr>
        <p:spPr>
          <a:xfrm>
            <a:off x="10918850" y="-53950"/>
            <a:ext cx="1113739" cy="1113739"/>
          </a:xfrm>
          <a:prstGeom prst="ellipse">
            <a:avLst/>
          </a:prstGeom>
          <a:solidFill>
            <a:srgbClr val="E4F1F4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777240"/>
            <a:ext cx="1051560" cy="1051560"/>
          </a:xfrm>
          <a:prstGeom prst="roundRect">
            <a:avLst>
              <a:gd name="adj" fmla="val 139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68680" y="7772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H&amp;L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743200"/>
            <a:ext cx="10424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H&amp;L Weekly Update</a:t>
            </a:r>
            <a:endParaRPr lang="en-US" sz="5400" dirty="0"/>
          </a:p>
        </p:txBody>
      </p:sp>
      <p:sp>
        <p:nvSpPr>
          <p:cNvPr id="9" name="Text 7"/>
          <p:cNvSpPr txBox="1"/>
          <p:nvPr/>
        </p:nvSpPr>
        <p:spPr>
          <a:xfrm>
            <a:off x="896112" y="39776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Week commencing 19 October 2026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896112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FAEB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Generated: 26 Oct 2026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96112" y="5029200"/>
            <a:ext cx="4572000" cy="402336"/>
          </a:xfrm>
          <a:prstGeom prst="roundRect">
            <a:avLst>
              <a:gd name="adj" fmla="val 50000"/>
            </a:avLst>
          </a:prstGeom>
          <a:solidFill>
            <a:srgbClr val="B4552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96112" y="5029200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Q4 — TARGETS CARRIED FORWARD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12293A"/>
          </a:solidFill>
          <a:ln/>
        </p:spPr>
      </p:sp>
      <p:sp>
        <p:nvSpPr>
          <p:cNvPr id="3" name="Shape 1"/>
          <p:cNvSpPr/>
          <p:nvPr/>
        </p:nvSpPr>
        <p:spPr>
          <a:xfrm>
            <a:off x="384048" y="155448"/>
            <a:ext cx="731520" cy="530352"/>
          </a:xfrm>
          <a:prstGeom prst="roundRect">
            <a:avLst>
              <a:gd name="adj" fmla="val 15517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84048" y="155448"/>
            <a:ext cx="731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H&amp;L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298448" y="54864"/>
            <a:ext cx="7223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Agenda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10872216" y="0"/>
            <a:ext cx="841248" cy="841248"/>
          </a:xfrm>
          <a:prstGeom prst="ellipse">
            <a:avLst/>
          </a:prstGeom>
          <a:solidFill>
            <a:srgbClr val="1C5765"/>
          </a:solidFill>
          <a:ln/>
        </p:spPr>
      </p:sp>
      <p:sp>
        <p:nvSpPr>
          <p:cNvPr id="7" name="Shape 5"/>
          <p:cNvSpPr/>
          <p:nvPr/>
        </p:nvSpPr>
        <p:spPr>
          <a:xfrm>
            <a:off x="10968228" y="96012"/>
            <a:ext cx="649224" cy="649224"/>
          </a:xfrm>
          <a:prstGeom prst="ellipse">
            <a:avLst/>
          </a:prstGeom>
          <a:solidFill>
            <a:srgbClr val="2C8394"/>
          </a:solidFill>
          <a:ln/>
        </p:spPr>
      </p:sp>
      <p:sp>
        <p:nvSpPr>
          <p:cNvPr id="8" name="Shape 6"/>
          <p:cNvSpPr/>
          <p:nvPr/>
        </p:nvSpPr>
        <p:spPr>
          <a:xfrm>
            <a:off x="11064240" y="192024"/>
            <a:ext cx="457200" cy="457200"/>
          </a:xfrm>
          <a:prstGeom prst="ellipse">
            <a:avLst/>
          </a:prstGeom>
          <a:solidFill>
            <a:srgbClr val="6FAEBB"/>
          </a:solidFill>
          <a:ln/>
        </p:spPr>
      </p:sp>
      <p:sp>
        <p:nvSpPr>
          <p:cNvPr id="9" name="Shape 7"/>
          <p:cNvSpPr/>
          <p:nvPr/>
        </p:nvSpPr>
        <p:spPr>
          <a:xfrm>
            <a:off x="11160252" y="288036"/>
            <a:ext cx="265176" cy="265176"/>
          </a:xfrm>
          <a:prstGeom prst="ellipse">
            <a:avLst/>
          </a:prstGeom>
          <a:solidFill>
            <a:srgbClr val="E4F1F4"/>
          </a:solidFill>
          <a:ln/>
        </p:spPr>
      </p:sp>
      <p:sp>
        <p:nvSpPr>
          <p:cNvPr id="10" name="Shape 8"/>
          <p:cNvSpPr/>
          <p:nvPr/>
        </p:nvSpPr>
        <p:spPr>
          <a:xfrm>
            <a:off x="411480" y="1371600"/>
            <a:ext cx="2670048" cy="82296"/>
          </a:xfrm>
          <a:prstGeom prst="rect">
            <a:avLst/>
          </a:prstGeom>
          <a:solidFill>
            <a:srgbClr val="2C8394"/>
          </a:solidFill>
          <a:ln/>
        </p:spPr>
      </p:sp>
      <p:sp>
        <p:nvSpPr>
          <p:cNvPr id="11" name="Shape 9"/>
          <p:cNvSpPr/>
          <p:nvPr/>
        </p:nvSpPr>
        <p:spPr>
          <a:xfrm>
            <a:off x="411480" y="1453896"/>
            <a:ext cx="2670048" cy="4398264"/>
          </a:xfrm>
          <a:prstGeom prst="roundRect">
            <a:avLst>
              <a:gd name="adj" fmla="val 23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435608" y="1874520"/>
            <a:ext cx="621792" cy="621792"/>
          </a:xfrm>
          <a:prstGeom prst="ellipse">
            <a:avLst/>
          </a:prstGeom>
          <a:solidFill>
            <a:srgbClr val="2C8394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1435608" y="187452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502920" y="2651760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DID WE SELL?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502920" y="2971800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Sales &amp; partner motion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426464" y="3310128"/>
            <a:ext cx="640080" cy="50292"/>
          </a:xfrm>
          <a:prstGeom prst="roundRect">
            <a:avLst>
              <a:gd name="adj" fmla="val 36364"/>
            </a:avLst>
          </a:prstGeom>
          <a:solidFill>
            <a:srgbClr val="E2EAE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12648" y="3520440"/>
            <a:ext cx="226771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950" dirty="0">
                <a:solidFill>
                  <a:srgbClr val="3A4B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Target vs Invoiced — sales team roll-up</a:t>
            </a:r>
            <a:endParaRPr lang="en-US" sz="9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950" dirty="0">
                <a:solidFill>
                  <a:srgbClr val="3A4B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AI-Infused Products — pipeline &amp; conversion</a:t>
            </a:r>
            <a:endParaRPr lang="en-US" sz="9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950" dirty="0">
                <a:solidFill>
                  <a:srgbClr val="3A4B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H&amp;L Pay — partner motion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310128" y="1371600"/>
            <a:ext cx="2670048" cy="82296"/>
          </a:xfrm>
          <a:prstGeom prst="rect">
            <a:avLst/>
          </a:prstGeom>
          <a:solidFill>
            <a:srgbClr val="3D8F5F"/>
          </a:solidFill>
          <a:ln/>
        </p:spPr>
      </p:sp>
      <p:sp>
        <p:nvSpPr>
          <p:cNvPr id="19" name="Shape 17"/>
          <p:cNvSpPr/>
          <p:nvPr/>
        </p:nvSpPr>
        <p:spPr>
          <a:xfrm>
            <a:off x="3310128" y="1453896"/>
            <a:ext cx="2670048" cy="4398264"/>
          </a:xfrm>
          <a:prstGeom prst="roundRect">
            <a:avLst>
              <a:gd name="adj" fmla="val 23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334256" y="1874520"/>
            <a:ext cx="621792" cy="621792"/>
          </a:xfrm>
          <a:prstGeom prst="ellipse">
            <a:avLst/>
          </a:prstGeom>
          <a:solidFill>
            <a:srgbClr val="3D8F5F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4334256" y="187452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3401568" y="2651760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DID WE DELIVER?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3401568" y="2971800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D8F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From signed to billed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325112" y="3310128"/>
            <a:ext cx="640080" cy="50292"/>
          </a:xfrm>
          <a:prstGeom prst="roundRect">
            <a:avLst>
              <a:gd name="adj" fmla="val 36364"/>
            </a:avLst>
          </a:prstGeom>
          <a:solidFill>
            <a:srgbClr val="E2EAEE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3511296" y="3520440"/>
            <a:ext cx="226771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950" dirty="0">
                <a:solidFill>
                  <a:srgbClr val="3A4B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Utilisation &amp; Delivery Hours</a:t>
            </a:r>
            <a:endParaRPr lang="en-US" sz="9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950" dirty="0">
                <a:solidFill>
                  <a:srgbClr val="3A4B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Won vs Invoiced &amp; Retention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208776" y="1371600"/>
            <a:ext cx="2670048" cy="82296"/>
          </a:xfrm>
          <a:prstGeom prst="rect">
            <a:avLst/>
          </a:prstGeom>
          <a:solidFill>
            <a:srgbClr val="C88A2E"/>
          </a:solidFill>
          <a:ln/>
        </p:spPr>
      </p:sp>
      <p:sp>
        <p:nvSpPr>
          <p:cNvPr id="27" name="Shape 25"/>
          <p:cNvSpPr/>
          <p:nvPr/>
        </p:nvSpPr>
        <p:spPr>
          <a:xfrm>
            <a:off x="6208776" y="1453896"/>
            <a:ext cx="2670048" cy="4398264"/>
          </a:xfrm>
          <a:prstGeom prst="roundRect">
            <a:avLst>
              <a:gd name="adj" fmla="val 23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232904" y="1874520"/>
            <a:ext cx="621792" cy="621792"/>
          </a:xfrm>
          <a:prstGeom prst="ellipse">
            <a:avLst/>
          </a:prstGeom>
          <a:solidFill>
            <a:srgbClr val="C88A2E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7232904" y="187452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2200" dirty="0"/>
          </a:p>
        </p:txBody>
      </p:sp>
      <p:sp>
        <p:nvSpPr>
          <p:cNvPr id="30" name="Text 28"/>
          <p:cNvSpPr txBox="1"/>
          <p:nvPr/>
        </p:nvSpPr>
        <p:spPr>
          <a:xfrm>
            <a:off x="6300216" y="2651760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DID WE KEEP THEM?</a:t>
            </a:r>
            <a:endParaRPr lang="en-US" sz="1350" dirty="0"/>
          </a:p>
        </p:txBody>
      </p:sp>
      <p:sp>
        <p:nvSpPr>
          <p:cNvPr id="31" name="Text 29"/>
          <p:cNvSpPr txBox="1"/>
          <p:nvPr/>
        </p:nvSpPr>
        <p:spPr>
          <a:xfrm>
            <a:off x="6300216" y="2971800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8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Support health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223760" y="3310128"/>
            <a:ext cx="640080" cy="50292"/>
          </a:xfrm>
          <a:prstGeom prst="roundRect">
            <a:avLst>
              <a:gd name="adj" fmla="val 36364"/>
            </a:avLst>
          </a:prstGeom>
          <a:solidFill>
            <a:srgbClr val="E2EAEE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409944" y="3520440"/>
            <a:ext cx="226771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950" dirty="0">
                <a:solidFill>
                  <a:srgbClr val="3A4B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Backlog, ageing &amp; first response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9107424" y="1371600"/>
            <a:ext cx="2670048" cy="82296"/>
          </a:xfrm>
          <a:prstGeom prst="rect">
            <a:avLst/>
          </a:prstGeom>
          <a:solidFill>
            <a:srgbClr val="12293A"/>
          </a:solidFill>
          <a:ln/>
        </p:spPr>
      </p:sp>
      <p:sp>
        <p:nvSpPr>
          <p:cNvPr id="35" name="Shape 33"/>
          <p:cNvSpPr/>
          <p:nvPr/>
        </p:nvSpPr>
        <p:spPr>
          <a:xfrm>
            <a:off x="9107424" y="1453896"/>
            <a:ext cx="2670048" cy="4398264"/>
          </a:xfrm>
          <a:prstGeom prst="roundRect">
            <a:avLst>
              <a:gd name="adj" fmla="val 23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10131552" y="1874520"/>
            <a:ext cx="621792" cy="621792"/>
          </a:xfrm>
          <a:prstGeom prst="ellipse">
            <a:avLst/>
          </a:prstGeom>
          <a:solidFill>
            <a:srgbClr val="12293A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37" name="Text 35"/>
          <p:cNvSpPr txBox="1"/>
          <p:nvPr/>
        </p:nvSpPr>
        <p:spPr>
          <a:xfrm>
            <a:off x="10131552" y="187452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2200" dirty="0"/>
          </a:p>
        </p:txBody>
      </p:sp>
      <p:sp>
        <p:nvSpPr>
          <p:cNvPr id="38" name="Text 36"/>
          <p:cNvSpPr txBox="1"/>
          <p:nvPr/>
        </p:nvSpPr>
        <p:spPr>
          <a:xfrm>
            <a:off x="9198864" y="2651760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BUILDING THE FUTURE?</a:t>
            </a:r>
            <a:endParaRPr lang="en-US" sz="1350" dirty="0"/>
          </a:p>
        </p:txBody>
      </p:sp>
      <p:sp>
        <p:nvSpPr>
          <p:cNvPr id="39" name="Text 37"/>
          <p:cNvSpPr txBox="1"/>
          <p:nvPr/>
        </p:nvSpPr>
        <p:spPr>
          <a:xfrm>
            <a:off x="9198864" y="2971800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Product, AI &amp; projects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10122408" y="3310128"/>
            <a:ext cx="640080" cy="50292"/>
          </a:xfrm>
          <a:prstGeom prst="roundRect">
            <a:avLst>
              <a:gd name="adj" fmla="val 36364"/>
            </a:avLst>
          </a:prstGeom>
          <a:solidFill>
            <a:srgbClr val="E2EAEE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9308592" y="3520440"/>
            <a:ext cx="226771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950" dirty="0">
                <a:solidFill>
                  <a:srgbClr val="3A4B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Q3 Roadmap · GTM Readiness</a:t>
            </a:r>
            <a:endParaRPr lang="en-US" sz="9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950" dirty="0">
                <a:solidFill>
                  <a:srgbClr val="3A4B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Usage — adoption &amp; activity</a:t>
            </a:r>
            <a:endParaRPr lang="en-US" sz="9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950" dirty="0">
                <a:solidFill>
                  <a:srgbClr val="3A4B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Projects — portfolio status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12293A"/>
          </a:solidFill>
          <a:ln/>
        </p:spPr>
      </p:sp>
      <p:sp>
        <p:nvSpPr>
          <p:cNvPr id="3" name="Shape 1"/>
          <p:cNvSpPr/>
          <p:nvPr/>
        </p:nvSpPr>
        <p:spPr>
          <a:xfrm>
            <a:off x="384048" y="155448"/>
            <a:ext cx="731520" cy="530352"/>
          </a:xfrm>
          <a:prstGeom prst="roundRect">
            <a:avLst>
              <a:gd name="adj" fmla="val 15517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84048" y="155448"/>
            <a:ext cx="731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H&amp;L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298448" y="54864"/>
            <a:ext cx="7223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Executive Summary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10872216" y="0"/>
            <a:ext cx="841248" cy="841248"/>
          </a:xfrm>
          <a:prstGeom prst="ellipse">
            <a:avLst/>
          </a:prstGeom>
          <a:solidFill>
            <a:srgbClr val="1C5765"/>
          </a:solidFill>
          <a:ln/>
        </p:spPr>
      </p:sp>
      <p:sp>
        <p:nvSpPr>
          <p:cNvPr id="7" name="Shape 5"/>
          <p:cNvSpPr/>
          <p:nvPr/>
        </p:nvSpPr>
        <p:spPr>
          <a:xfrm>
            <a:off x="10968228" y="96012"/>
            <a:ext cx="649224" cy="649224"/>
          </a:xfrm>
          <a:prstGeom prst="ellipse">
            <a:avLst/>
          </a:prstGeom>
          <a:solidFill>
            <a:srgbClr val="2C8394"/>
          </a:solidFill>
          <a:ln/>
        </p:spPr>
      </p:sp>
      <p:sp>
        <p:nvSpPr>
          <p:cNvPr id="8" name="Shape 6"/>
          <p:cNvSpPr/>
          <p:nvPr/>
        </p:nvSpPr>
        <p:spPr>
          <a:xfrm>
            <a:off x="11064240" y="192024"/>
            <a:ext cx="457200" cy="457200"/>
          </a:xfrm>
          <a:prstGeom prst="ellipse">
            <a:avLst/>
          </a:prstGeom>
          <a:solidFill>
            <a:srgbClr val="6FAEBB"/>
          </a:solidFill>
          <a:ln/>
        </p:spPr>
      </p:sp>
      <p:sp>
        <p:nvSpPr>
          <p:cNvPr id="9" name="Shape 7"/>
          <p:cNvSpPr/>
          <p:nvPr/>
        </p:nvSpPr>
        <p:spPr>
          <a:xfrm>
            <a:off x="11160252" y="288036"/>
            <a:ext cx="265176" cy="265176"/>
          </a:xfrm>
          <a:prstGeom prst="ellipse">
            <a:avLst/>
          </a:prstGeom>
          <a:solidFill>
            <a:srgbClr val="E4F1F4"/>
          </a:solidFill>
          <a:ln/>
        </p:spPr>
      </p:sp>
      <p:sp>
        <p:nvSpPr>
          <p:cNvPr id="10" name="Shape 8"/>
          <p:cNvSpPr/>
          <p:nvPr/>
        </p:nvSpPr>
        <p:spPr>
          <a:xfrm>
            <a:off x="411480" y="1143000"/>
            <a:ext cx="3639312" cy="2331720"/>
          </a:xfrm>
          <a:prstGeom prst="roundRect">
            <a:avLst>
              <a:gd name="adj" fmla="val 27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594360" y="1271016"/>
            <a:ext cx="3273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OVERALL PERFORMANCE &amp; FINANCE SUMMARY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594360" y="1691640"/>
            <a:ext cx="327355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Team on track to target and why? </a:t>
            </a:r>
            <a:pPr indent="0" marL="0">
              <a:spcAft>
                <a:spcPts val="1000"/>
              </a:spcAft>
              <a:buNone/>
            </a:pPr>
            <a:r>
              <a:rPr lang="en-US" sz="900" dirty="0">
                <a:solidFill>
                  <a:srgbClr val="3A4B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Q4 hardware $111k = 16% of the $715k OKR2 against a 27% pace mark — $12.0k this week, Bradford $10.3k of it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What's working well? </a:t>
            </a:r>
            <a:pPr indent="0" marL="0">
              <a:spcAft>
                <a:spcPts val="1000"/>
              </a:spcAft>
              <a:buNone/>
            </a:pPr>
            <a:r>
              <a:rPr lang="en-US" sz="900" dirty="0">
                <a:solidFill>
                  <a:srgbClr val="3A4B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xx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What's not? </a:t>
            </a:r>
            <a:pPr indent="0" marL="0">
              <a:buNone/>
            </a:pPr>
            <a:r>
              <a:rPr lang="en-US" sz="900" dirty="0">
                <a:solidFill>
                  <a:srgbClr val="3A4B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xx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279392" y="1143000"/>
            <a:ext cx="3639312" cy="2331720"/>
          </a:xfrm>
          <a:prstGeom prst="roundRect">
            <a:avLst>
              <a:gd name="adj" fmla="val 27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4462272" y="1271016"/>
            <a:ext cx="3273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SALES &amp; ACCOUNT MANAGEMENT SUMMARY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4462272" y="1691640"/>
            <a:ext cx="327355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Team on track to target and why? </a:t>
            </a:r>
            <a:pPr indent="0" marL="0">
              <a:spcAft>
                <a:spcPts val="1000"/>
              </a:spcAft>
              <a:buNone/>
            </a:pPr>
            <a:r>
              <a:rPr lang="en-US" sz="900" dirty="0">
                <a:solidFill>
                  <a:srgbClr val="3A4B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Q4 new MRR $3.8k = 14% of OKR2 with nothing invoiced this week; three churned logos net the week −$1,148 and Q4 −$8.9k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What's working well? </a:t>
            </a:r>
            <a:pPr indent="0" marL="0">
              <a:spcAft>
                <a:spcPts val="1000"/>
              </a:spcAft>
              <a:buNone/>
            </a:pPr>
            <a:r>
              <a:rPr lang="en-US" sz="900" dirty="0">
                <a:solidFill>
                  <a:srgbClr val="3A4B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xx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What's not? </a:t>
            </a:r>
            <a:pPr indent="0" marL="0">
              <a:buNone/>
            </a:pPr>
            <a:r>
              <a:rPr lang="en-US" sz="900" dirty="0">
                <a:solidFill>
                  <a:srgbClr val="3A4B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xx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8147304" y="1143000"/>
            <a:ext cx="3639312" cy="2331720"/>
          </a:xfrm>
          <a:prstGeom prst="roundRect">
            <a:avLst>
              <a:gd name="adj" fmla="val 27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330184" y="1271016"/>
            <a:ext cx="3273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PROFESSIONAL SERVICES SUMMARY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8330184" y="1691640"/>
            <a:ext cx="327355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Team on track to target and why? </a:t>
            </a:r>
            <a:pPr indent="0" marL="0">
              <a:spcAft>
                <a:spcPts val="1000"/>
              </a:spcAft>
              <a:buNone/>
            </a:pPr>
            <a:r>
              <a:rPr lang="en-US" sz="900" dirty="0">
                <a:solidFill>
                  <a:srgbClr val="3A4B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billable utilisation 3.7% — 11.5h of 311.6h; 10.5h chargeable, 1.0h non-chargeable; Q4 hidden work 20h = $3,000 unrecognised PS revenue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What's working well? </a:t>
            </a:r>
            <a:pPr indent="0" marL="0">
              <a:spcAft>
                <a:spcPts val="1000"/>
              </a:spcAft>
              <a:buNone/>
            </a:pPr>
            <a:r>
              <a:rPr lang="en-US" sz="900" dirty="0">
                <a:solidFill>
                  <a:srgbClr val="3A4B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xx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What's not? </a:t>
            </a:r>
            <a:pPr indent="0" marL="0">
              <a:buNone/>
            </a:pPr>
            <a:r>
              <a:rPr lang="en-US" sz="900" dirty="0">
                <a:solidFill>
                  <a:srgbClr val="3A4B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xx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11480" y="3657600"/>
            <a:ext cx="3639312" cy="2331720"/>
          </a:xfrm>
          <a:prstGeom prst="roundRect">
            <a:avLst>
              <a:gd name="adj" fmla="val 27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594360" y="3785616"/>
            <a:ext cx="3273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SUPPORT SUMMARY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594360" y="4206240"/>
            <a:ext cx="327355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Team on track to target and why? </a:t>
            </a:r>
            <a:pPr indent="0" marL="0">
              <a:spcAft>
                <a:spcPts val="1000"/>
              </a:spcAft>
              <a:buNone/>
            </a:pPr>
            <a:r>
              <a:rPr lang="en-US" sz="900" dirty="0">
                <a:solidFill>
                  <a:srgbClr val="3A4B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inflow 396 vs resolved 597 — backlog 588 → 389, third straight fall; 54 of the closes were one bulk close of September voice tickets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What's working well? </a:t>
            </a:r>
            <a:pPr indent="0" marL="0">
              <a:spcAft>
                <a:spcPts val="1000"/>
              </a:spcAft>
              <a:buNone/>
            </a:pPr>
            <a:r>
              <a:rPr lang="en-US" sz="900" dirty="0">
                <a:solidFill>
                  <a:srgbClr val="3A4B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xx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What's not? </a:t>
            </a:r>
            <a:pPr indent="0" marL="0">
              <a:buNone/>
            </a:pPr>
            <a:r>
              <a:rPr lang="en-US" sz="900" dirty="0">
                <a:solidFill>
                  <a:srgbClr val="3A4B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xx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279392" y="3657600"/>
            <a:ext cx="3639312" cy="2331720"/>
          </a:xfrm>
          <a:prstGeom prst="roundRect">
            <a:avLst>
              <a:gd name="adj" fmla="val 27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4462272" y="3785616"/>
            <a:ext cx="3273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PRODUCT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4462272" y="4206240"/>
            <a:ext cx="327355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Team on track to target and why? </a:t>
            </a:r>
            <a:pPr indent="0" marL="0">
              <a:spcAft>
                <a:spcPts val="1000"/>
              </a:spcAft>
              <a:buNone/>
            </a:pPr>
            <a:r>
              <a:rPr lang="en-US" sz="900" dirty="0">
                <a:solidFill>
                  <a:srgbClr val="3A4B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Q3 roadmap as at 19 Sep: 10 done · 12 on track · 3 not started · 2 at risk — tracker refresh now six weeks pending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What's working well? </a:t>
            </a:r>
            <a:pPr indent="0" marL="0">
              <a:spcAft>
                <a:spcPts val="1000"/>
              </a:spcAft>
              <a:buNone/>
            </a:pPr>
            <a:r>
              <a:rPr lang="en-US" sz="900" dirty="0">
                <a:solidFill>
                  <a:srgbClr val="3A4B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xx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What's not? </a:t>
            </a:r>
            <a:pPr indent="0" marL="0">
              <a:buNone/>
            </a:pPr>
            <a:r>
              <a:rPr lang="en-US" sz="900" dirty="0">
                <a:solidFill>
                  <a:srgbClr val="3A4B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xx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8147304" y="3657600"/>
            <a:ext cx="3639312" cy="2331720"/>
          </a:xfrm>
          <a:prstGeom prst="roundRect">
            <a:avLst>
              <a:gd name="adj" fmla="val 27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8330184" y="3785616"/>
            <a:ext cx="3273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USAGE SUMMARY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8330184" y="4206240"/>
            <a:ext cx="327355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Team on track to target and why? </a:t>
            </a:r>
            <a:pPr indent="0" marL="0">
              <a:spcAft>
                <a:spcPts val="1000"/>
              </a:spcAft>
              <a:buNone/>
            </a:pPr>
            <a:r>
              <a:rPr lang="en-US" sz="900" dirty="0">
                <a:solidFill>
                  <a:srgbClr val="3A4B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43 of 49 active weekly (▲7.5% WoW); October code output 1.23M lines to 26 Oct, 193 PRs in Code over 30 days; daily actives held at 19 Oct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What's working well? </a:t>
            </a:r>
            <a:pPr indent="0" marL="0">
              <a:spcAft>
                <a:spcPts val="1000"/>
              </a:spcAft>
              <a:buNone/>
            </a:pPr>
            <a:r>
              <a:rPr lang="en-US" sz="900" dirty="0">
                <a:solidFill>
                  <a:srgbClr val="3A4B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xx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What's not? </a:t>
            </a:r>
            <a:pPr indent="0" marL="0">
              <a:buNone/>
            </a:pPr>
            <a:r>
              <a:rPr lang="en-US" sz="900" dirty="0">
                <a:solidFill>
                  <a:srgbClr val="3A4B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xx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411480" y="6510528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Commentary is leadership-editable — pre-filled lines are computed from this week's sources; 'xx' needs an owner's input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12293A"/>
          </a:solidFill>
          <a:ln/>
        </p:spPr>
      </p:sp>
      <p:sp>
        <p:nvSpPr>
          <p:cNvPr id="3" name="Shape 1"/>
          <p:cNvSpPr/>
          <p:nvPr/>
        </p:nvSpPr>
        <p:spPr>
          <a:xfrm>
            <a:off x="384048" y="155448"/>
            <a:ext cx="731520" cy="530352"/>
          </a:xfrm>
          <a:prstGeom prst="roundRect">
            <a:avLst>
              <a:gd name="adj" fmla="val 15517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84048" y="155448"/>
            <a:ext cx="731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H&amp;L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298448" y="54864"/>
            <a:ext cx="7223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Target vs Invoiced — Sales Team Roll-up</a:t>
            </a:r>
            <a:endParaRPr lang="en-US" sz="2300" dirty="0"/>
          </a:p>
        </p:txBody>
      </p:sp>
      <p:sp>
        <p:nvSpPr>
          <p:cNvPr id="6" name="Text 4"/>
          <p:cNvSpPr txBox="1"/>
          <p:nvPr/>
        </p:nvSpPr>
        <p:spPr>
          <a:xfrm>
            <a:off x="1316736" y="512064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FAEB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Finance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8686800" y="246888"/>
            <a:ext cx="1965960" cy="347472"/>
          </a:xfrm>
          <a:prstGeom prst="roundRect">
            <a:avLst>
              <a:gd name="adj" fmla="val 50000"/>
            </a:avLst>
          </a:prstGeom>
          <a:solidFill>
            <a:srgbClr val="2C8394"/>
          </a:solidFill>
          <a:ln w="9525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0" y="24688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  ·  DID WE SELL?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0872216" y="0"/>
            <a:ext cx="841248" cy="841248"/>
          </a:xfrm>
          <a:prstGeom prst="ellipse">
            <a:avLst/>
          </a:prstGeom>
          <a:solidFill>
            <a:srgbClr val="1C5765"/>
          </a:solidFill>
          <a:ln/>
        </p:spPr>
      </p:sp>
      <p:sp>
        <p:nvSpPr>
          <p:cNvPr id="10" name="Shape 8"/>
          <p:cNvSpPr/>
          <p:nvPr/>
        </p:nvSpPr>
        <p:spPr>
          <a:xfrm>
            <a:off x="10968228" y="96012"/>
            <a:ext cx="649224" cy="649224"/>
          </a:xfrm>
          <a:prstGeom prst="ellipse">
            <a:avLst/>
          </a:prstGeom>
          <a:solidFill>
            <a:srgbClr val="2C8394"/>
          </a:solidFill>
          <a:ln/>
        </p:spPr>
      </p:sp>
      <p:sp>
        <p:nvSpPr>
          <p:cNvPr id="11" name="Shape 9"/>
          <p:cNvSpPr/>
          <p:nvPr/>
        </p:nvSpPr>
        <p:spPr>
          <a:xfrm>
            <a:off x="11064240" y="192024"/>
            <a:ext cx="457200" cy="457200"/>
          </a:xfrm>
          <a:prstGeom prst="ellipse">
            <a:avLst/>
          </a:prstGeom>
          <a:solidFill>
            <a:srgbClr val="6FAEBB"/>
          </a:solidFill>
          <a:ln/>
        </p:spPr>
      </p:sp>
      <p:sp>
        <p:nvSpPr>
          <p:cNvPr id="12" name="Shape 10"/>
          <p:cNvSpPr/>
          <p:nvPr/>
        </p:nvSpPr>
        <p:spPr>
          <a:xfrm>
            <a:off x="11160252" y="288036"/>
            <a:ext cx="265176" cy="265176"/>
          </a:xfrm>
          <a:prstGeom prst="ellipse">
            <a:avLst/>
          </a:prstGeom>
          <a:solidFill>
            <a:srgbClr val="E4F1F4"/>
          </a:solidFill>
          <a:ln/>
        </p:spPr>
      </p:sp>
      <p:sp>
        <p:nvSpPr>
          <p:cNvPr id="13" name="Shape 11"/>
          <p:cNvSpPr/>
          <p:nvPr/>
        </p:nvSpPr>
        <p:spPr>
          <a:xfrm>
            <a:off x="411480" y="1005840"/>
            <a:ext cx="5532120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594360" y="1097280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NEW MRR — Q4 · OKR2 $28k · team $30k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594360" y="1335024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455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$4k</a:t>
            </a:r>
            <a:pPr indent="0" marL="0">
              <a:buNone/>
            </a:pPr>
            <a:r>
              <a:rPr lang="en-US" sz="95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of $28k target · register live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3611880" y="137160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B455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▼ −$1,148 net this wk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94360" y="1901952"/>
            <a:ext cx="4206240" cy="100584"/>
          </a:xfrm>
          <a:prstGeom prst="roundRect">
            <a:avLst>
              <a:gd name="adj" fmla="val 45455"/>
            </a:avLst>
          </a:prstGeom>
          <a:solidFill>
            <a:srgbClr val="E2EAEE"/>
          </a:solidFill>
          <a:ln/>
        </p:spPr>
      </p:sp>
      <p:sp>
        <p:nvSpPr>
          <p:cNvPr id="18" name="Shape 16"/>
          <p:cNvSpPr/>
          <p:nvPr/>
        </p:nvSpPr>
        <p:spPr>
          <a:xfrm>
            <a:off x="594360" y="1901952"/>
            <a:ext cx="588874" cy="100584"/>
          </a:xfrm>
          <a:prstGeom prst="roundRect">
            <a:avLst>
              <a:gd name="adj" fmla="val 45455"/>
            </a:avLst>
          </a:prstGeom>
          <a:solidFill>
            <a:srgbClr val="B4552D"/>
          </a:solidFill>
          <a:ln/>
        </p:spPr>
      </p:sp>
      <p:sp>
        <p:nvSpPr>
          <p:cNvPr id="19" name="Shape 17"/>
          <p:cNvSpPr/>
          <p:nvPr/>
        </p:nvSpPr>
        <p:spPr>
          <a:xfrm>
            <a:off x="1719986" y="1856232"/>
            <a:ext cx="20117" cy="192024"/>
          </a:xfrm>
          <a:prstGeom prst="rect">
            <a:avLst/>
          </a:prstGeom>
          <a:solidFill>
            <a:srgbClr val="12293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892040" y="180136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455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14%</a:t>
            </a:r>
            <a:pPr algn="r" indent="0" marL="0">
              <a:buNone/>
            </a:pPr>
            <a:r>
              <a:rPr lang="en-US" sz="80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· pace 27%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245352" y="1005840"/>
            <a:ext cx="5532120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6428232" y="1097280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HARDWARE — Q4 · OKR2 $715k · team $761k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6428232" y="1335024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455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$111k</a:t>
            </a:r>
            <a:pPr indent="0" marL="0">
              <a:buNone/>
            </a:pPr>
            <a:r>
              <a:rPr lang="en-US" sz="95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of $715k target</a:t>
            </a:r>
            <a:endParaRPr lang="en-US" sz="2400" dirty="0"/>
          </a:p>
        </p:txBody>
      </p:sp>
      <p:sp>
        <p:nvSpPr>
          <p:cNvPr id="24" name="Text 22"/>
          <p:cNvSpPr txBox="1"/>
          <p:nvPr/>
        </p:nvSpPr>
        <p:spPr>
          <a:xfrm>
            <a:off x="9509760" y="1371600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3D8F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▲ +$12k this wk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428232" y="1901952"/>
            <a:ext cx="4206240" cy="100584"/>
          </a:xfrm>
          <a:prstGeom prst="roundRect">
            <a:avLst>
              <a:gd name="adj" fmla="val 45455"/>
            </a:avLst>
          </a:prstGeom>
          <a:solidFill>
            <a:srgbClr val="E2EAEE"/>
          </a:solidFill>
          <a:ln/>
        </p:spPr>
      </p:sp>
      <p:sp>
        <p:nvSpPr>
          <p:cNvPr id="26" name="Shape 24"/>
          <p:cNvSpPr/>
          <p:nvPr/>
        </p:nvSpPr>
        <p:spPr>
          <a:xfrm>
            <a:off x="6428232" y="1901952"/>
            <a:ext cx="672998" cy="100584"/>
          </a:xfrm>
          <a:prstGeom prst="roundRect">
            <a:avLst>
              <a:gd name="adj" fmla="val 45455"/>
            </a:avLst>
          </a:prstGeom>
          <a:solidFill>
            <a:srgbClr val="B4552D"/>
          </a:solidFill>
          <a:ln/>
        </p:spPr>
      </p:sp>
      <p:sp>
        <p:nvSpPr>
          <p:cNvPr id="27" name="Shape 25"/>
          <p:cNvSpPr/>
          <p:nvPr/>
        </p:nvSpPr>
        <p:spPr>
          <a:xfrm>
            <a:off x="7553858" y="1856232"/>
            <a:ext cx="20117" cy="192024"/>
          </a:xfrm>
          <a:prstGeom prst="rect">
            <a:avLst/>
          </a:prstGeom>
          <a:solidFill>
            <a:srgbClr val="12293A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10725912" y="180136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455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16%</a:t>
            </a:r>
            <a:pPr algn="r" indent="0" marL="0">
              <a:buNone/>
            </a:pPr>
            <a:r>
              <a:rPr lang="en-US" sz="80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· pace 27%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11480" y="2340864"/>
            <a:ext cx="7635240" cy="4041648"/>
          </a:xfrm>
          <a:prstGeom prst="roundRect">
            <a:avLst>
              <a:gd name="adj" fmla="val 158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612648" y="2450592"/>
            <a:ext cx="7232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Q4 BY MEMBER   </a:t>
            </a:r>
            <a:pPr indent="0" marL="0">
              <a:buNone/>
            </a:pPr>
            <a:r>
              <a:rPr lang="en-US" sz="80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▮ pace mark = share of quarter elapsed (27%)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2002536" y="2724912"/>
            <a:ext cx="2542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NEW MRR ($/qtr) · register live</a:t>
            </a:r>
            <a:endParaRPr lang="en-US" sz="800" dirty="0"/>
          </a:p>
        </p:txBody>
      </p:sp>
      <p:sp>
        <p:nvSpPr>
          <p:cNvPr id="32" name="Text 30"/>
          <p:cNvSpPr txBox="1"/>
          <p:nvPr/>
        </p:nvSpPr>
        <p:spPr>
          <a:xfrm>
            <a:off x="4599432" y="272491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HARDWARE ($/qtr) · extracts to 25 Oct</a:t>
            </a:r>
            <a:endParaRPr lang="en-US" sz="800" dirty="0"/>
          </a:p>
        </p:txBody>
      </p:sp>
      <p:sp>
        <p:nvSpPr>
          <p:cNvPr id="33" name="Text 31"/>
          <p:cNvSpPr txBox="1"/>
          <p:nvPr/>
        </p:nvSpPr>
        <p:spPr>
          <a:xfrm>
            <a:off x="612648" y="294436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MEMBER</a:t>
            </a:r>
            <a:endParaRPr lang="en-US" sz="750" dirty="0"/>
          </a:p>
        </p:txBody>
      </p:sp>
      <p:sp>
        <p:nvSpPr>
          <p:cNvPr id="34" name="Text 32"/>
          <p:cNvSpPr txBox="1"/>
          <p:nvPr/>
        </p:nvSpPr>
        <p:spPr>
          <a:xfrm>
            <a:off x="2002536" y="2944368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TGT</a:t>
            </a:r>
            <a:endParaRPr lang="en-US" sz="750" dirty="0"/>
          </a:p>
        </p:txBody>
      </p:sp>
      <p:sp>
        <p:nvSpPr>
          <p:cNvPr id="35" name="Text 33"/>
          <p:cNvSpPr txBox="1"/>
          <p:nvPr/>
        </p:nvSpPr>
        <p:spPr>
          <a:xfrm>
            <a:off x="2514600" y="2944368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QTD</a:t>
            </a:r>
            <a:endParaRPr lang="en-US" sz="750" dirty="0"/>
          </a:p>
        </p:txBody>
      </p:sp>
      <p:sp>
        <p:nvSpPr>
          <p:cNvPr id="36" name="Text 34"/>
          <p:cNvSpPr txBox="1"/>
          <p:nvPr/>
        </p:nvSpPr>
        <p:spPr>
          <a:xfrm>
            <a:off x="3044952" y="294436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ATTAIN</a:t>
            </a:r>
            <a:endParaRPr lang="en-US" sz="750" dirty="0"/>
          </a:p>
        </p:txBody>
      </p:sp>
      <p:sp>
        <p:nvSpPr>
          <p:cNvPr id="37" name="Text 35"/>
          <p:cNvSpPr txBox="1"/>
          <p:nvPr/>
        </p:nvSpPr>
        <p:spPr>
          <a:xfrm>
            <a:off x="3904488" y="294436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NET Δ WK</a:t>
            </a:r>
            <a:endParaRPr lang="en-US" sz="750" dirty="0"/>
          </a:p>
        </p:txBody>
      </p:sp>
      <p:sp>
        <p:nvSpPr>
          <p:cNvPr id="38" name="Text 36"/>
          <p:cNvSpPr txBox="1"/>
          <p:nvPr/>
        </p:nvSpPr>
        <p:spPr>
          <a:xfrm>
            <a:off x="4599432" y="294436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TGT</a:t>
            </a:r>
            <a:endParaRPr lang="en-US" sz="750" dirty="0"/>
          </a:p>
        </p:txBody>
      </p:sp>
      <p:sp>
        <p:nvSpPr>
          <p:cNvPr id="39" name="Text 37"/>
          <p:cNvSpPr txBox="1"/>
          <p:nvPr/>
        </p:nvSpPr>
        <p:spPr>
          <a:xfrm>
            <a:off x="5184648" y="2944368"/>
            <a:ext cx="603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QTD</a:t>
            </a:r>
            <a:endParaRPr lang="en-US" sz="750" dirty="0"/>
          </a:p>
        </p:txBody>
      </p:sp>
      <p:sp>
        <p:nvSpPr>
          <p:cNvPr id="40" name="Text 38"/>
          <p:cNvSpPr txBox="1"/>
          <p:nvPr/>
        </p:nvSpPr>
        <p:spPr>
          <a:xfrm>
            <a:off x="5843016" y="2944368"/>
            <a:ext cx="932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ATTAIN</a:t>
            </a:r>
            <a:endParaRPr lang="en-US" sz="750" dirty="0"/>
          </a:p>
        </p:txBody>
      </p:sp>
      <p:sp>
        <p:nvSpPr>
          <p:cNvPr id="41" name="Text 39"/>
          <p:cNvSpPr txBox="1"/>
          <p:nvPr/>
        </p:nvSpPr>
        <p:spPr>
          <a:xfrm>
            <a:off x="6830568" y="2944368"/>
            <a:ext cx="987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Δ WK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612648" y="3461004"/>
            <a:ext cx="7232904" cy="6401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612648" y="3182112"/>
            <a:ext cx="137160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Bjorn Magabo</a:t>
            </a:r>
            <a:endParaRPr lang="en-US" sz="900" dirty="0"/>
          </a:p>
        </p:txBody>
      </p:sp>
      <p:sp>
        <p:nvSpPr>
          <p:cNvPr id="44" name="Text 42"/>
          <p:cNvSpPr txBox="1"/>
          <p:nvPr/>
        </p:nvSpPr>
        <p:spPr>
          <a:xfrm>
            <a:off x="2002536" y="3182112"/>
            <a:ext cx="475488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$5k</a:t>
            </a:r>
            <a:endParaRPr lang="en-US" sz="850" dirty="0"/>
          </a:p>
        </p:txBody>
      </p:sp>
      <p:sp>
        <p:nvSpPr>
          <p:cNvPr id="45" name="Text 43"/>
          <p:cNvSpPr txBox="1"/>
          <p:nvPr/>
        </p:nvSpPr>
        <p:spPr>
          <a:xfrm>
            <a:off x="2514600" y="3182112"/>
            <a:ext cx="475488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B455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$421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3081528" y="3294126"/>
            <a:ext cx="548640" cy="100584"/>
          </a:xfrm>
          <a:prstGeom prst="roundRect">
            <a:avLst>
              <a:gd name="adj" fmla="val 45455"/>
            </a:avLst>
          </a:prstGeom>
          <a:solidFill>
            <a:srgbClr val="E2EAEE"/>
          </a:solidFill>
          <a:ln/>
        </p:spPr>
      </p:sp>
      <p:sp>
        <p:nvSpPr>
          <p:cNvPr id="47" name="Shape 45"/>
          <p:cNvSpPr/>
          <p:nvPr/>
        </p:nvSpPr>
        <p:spPr>
          <a:xfrm>
            <a:off x="3081528" y="3294126"/>
            <a:ext cx="54864" cy="100584"/>
          </a:xfrm>
          <a:prstGeom prst="roundRect">
            <a:avLst>
              <a:gd name="adj" fmla="val 83333"/>
            </a:avLst>
          </a:prstGeom>
          <a:solidFill>
            <a:srgbClr val="B4552D"/>
          </a:solidFill>
          <a:ln/>
        </p:spPr>
      </p:sp>
      <p:sp>
        <p:nvSpPr>
          <p:cNvPr id="48" name="Shape 46"/>
          <p:cNvSpPr/>
          <p:nvPr/>
        </p:nvSpPr>
        <p:spPr>
          <a:xfrm>
            <a:off x="3219602" y="3248406"/>
            <a:ext cx="20117" cy="192024"/>
          </a:xfrm>
          <a:prstGeom prst="rect">
            <a:avLst/>
          </a:prstGeom>
          <a:solidFill>
            <a:srgbClr val="12293A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3630168" y="3182112"/>
            <a:ext cx="329184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B455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8%</a:t>
            </a:r>
            <a:endParaRPr lang="en-US" sz="800" dirty="0"/>
          </a:p>
        </p:txBody>
      </p:sp>
      <p:sp>
        <p:nvSpPr>
          <p:cNvPr id="50" name="Text 48"/>
          <p:cNvSpPr txBox="1"/>
          <p:nvPr/>
        </p:nvSpPr>
        <p:spPr>
          <a:xfrm>
            <a:off x="3904488" y="3182112"/>
            <a:ext cx="64008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—</a:t>
            </a:r>
            <a:endParaRPr lang="en-US" sz="850" dirty="0"/>
          </a:p>
        </p:txBody>
      </p:sp>
      <p:sp>
        <p:nvSpPr>
          <p:cNvPr id="51" name="Text 49"/>
          <p:cNvSpPr txBox="1"/>
          <p:nvPr/>
        </p:nvSpPr>
        <p:spPr>
          <a:xfrm>
            <a:off x="4599432" y="3182112"/>
            <a:ext cx="54864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$140k</a:t>
            </a:r>
            <a:endParaRPr lang="en-US" sz="850" dirty="0"/>
          </a:p>
        </p:txBody>
      </p:sp>
      <p:sp>
        <p:nvSpPr>
          <p:cNvPr id="52" name="Text 50"/>
          <p:cNvSpPr txBox="1"/>
          <p:nvPr/>
        </p:nvSpPr>
        <p:spPr>
          <a:xfrm>
            <a:off x="5184648" y="3182112"/>
            <a:ext cx="603504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B455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$5k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5879592" y="3294126"/>
            <a:ext cx="566928" cy="100584"/>
          </a:xfrm>
          <a:prstGeom prst="roundRect">
            <a:avLst>
              <a:gd name="adj" fmla="val 45455"/>
            </a:avLst>
          </a:prstGeom>
          <a:solidFill>
            <a:srgbClr val="E2EAEE"/>
          </a:solidFill>
          <a:ln/>
        </p:spPr>
      </p:sp>
      <p:sp>
        <p:nvSpPr>
          <p:cNvPr id="54" name="Shape 52"/>
          <p:cNvSpPr/>
          <p:nvPr/>
        </p:nvSpPr>
        <p:spPr>
          <a:xfrm>
            <a:off x="5879592" y="3294126"/>
            <a:ext cx="54864" cy="100584"/>
          </a:xfrm>
          <a:prstGeom prst="roundRect">
            <a:avLst>
              <a:gd name="adj" fmla="val 83333"/>
            </a:avLst>
          </a:prstGeom>
          <a:solidFill>
            <a:srgbClr val="B4552D"/>
          </a:solidFill>
          <a:ln/>
        </p:spPr>
      </p:sp>
      <p:sp>
        <p:nvSpPr>
          <p:cNvPr id="55" name="Shape 53"/>
          <p:cNvSpPr/>
          <p:nvPr/>
        </p:nvSpPr>
        <p:spPr>
          <a:xfrm>
            <a:off x="6022604" y="3248406"/>
            <a:ext cx="20117" cy="192024"/>
          </a:xfrm>
          <a:prstGeom prst="rect">
            <a:avLst/>
          </a:prstGeom>
          <a:solidFill>
            <a:srgbClr val="12293A"/>
          </a:solidFill>
          <a:ln/>
        </p:spPr>
      </p:sp>
      <p:sp>
        <p:nvSpPr>
          <p:cNvPr id="56" name="Text 54"/>
          <p:cNvSpPr txBox="1"/>
          <p:nvPr/>
        </p:nvSpPr>
        <p:spPr>
          <a:xfrm>
            <a:off x="6464808" y="3182112"/>
            <a:ext cx="329184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B455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4%</a:t>
            </a:r>
            <a:endParaRPr lang="en-US" sz="800" dirty="0"/>
          </a:p>
        </p:txBody>
      </p:sp>
      <p:sp>
        <p:nvSpPr>
          <p:cNvPr id="57" name="Text 55"/>
          <p:cNvSpPr txBox="1"/>
          <p:nvPr/>
        </p:nvSpPr>
        <p:spPr>
          <a:xfrm>
            <a:off x="6830568" y="3182112"/>
            <a:ext cx="987552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—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612648" y="3776472"/>
            <a:ext cx="7232904" cy="6401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59" name="Text 57"/>
          <p:cNvSpPr txBox="1"/>
          <p:nvPr/>
        </p:nvSpPr>
        <p:spPr>
          <a:xfrm>
            <a:off x="612648" y="3497580"/>
            <a:ext cx="137160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Brett Gorman</a:t>
            </a:r>
            <a:endParaRPr lang="en-US" sz="900" dirty="0"/>
          </a:p>
        </p:txBody>
      </p:sp>
      <p:sp>
        <p:nvSpPr>
          <p:cNvPr id="60" name="Text 58"/>
          <p:cNvSpPr txBox="1"/>
          <p:nvPr/>
        </p:nvSpPr>
        <p:spPr>
          <a:xfrm>
            <a:off x="2002536" y="3497580"/>
            <a:ext cx="475488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$5k</a:t>
            </a:r>
            <a:endParaRPr lang="en-US" sz="850" dirty="0"/>
          </a:p>
        </p:txBody>
      </p:sp>
      <p:sp>
        <p:nvSpPr>
          <p:cNvPr id="61" name="Text 59"/>
          <p:cNvSpPr txBox="1"/>
          <p:nvPr/>
        </p:nvSpPr>
        <p:spPr>
          <a:xfrm>
            <a:off x="2514600" y="3497580"/>
            <a:ext cx="475488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B455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$658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3081528" y="3609594"/>
            <a:ext cx="548640" cy="100584"/>
          </a:xfrm>
          <a:prstGeom prst="roundRect">
            <a:avLst>
              <a:gd name="adj" fmla="val 45455"/>
            </a:avLst>
          </a:prstGeom>
          <a:solidFill>
            <a:srgbClr val="E2EAEE"/>
          </a:solidFill>
          <a:ln/>
        </p:spPr>
      </p:sp>
      <p:sp>
        <p:nvSpPr>
          <p:cNvPr id="63" name="Shape 61"/>
          <p:cNvSpPr/>
          <p:nvPr/>
        </p:nvSpPr>
        <p:spPr>
          <a:xfrm>
            <a:off x="3081528" y="3609594"/>
            <a:ext cx="71323" cy="100584"/>
          </a:xfrm>
          <a:prstGeom prst="roundRect">
            <a:avLst>
              <a:gd name="adj" fmla="val 64103"/>
            </a:avLst>
          </a:prstGeom>
          <a:solidFill>
            <a:srgbClr val="B4552D"/>
          </a:solidFill>
          <a:ln/>
        </p:spPr>
      </p:sp>
      <p:sp>
        <p:nvSpPr>
          <p:cNvPr id="64" name="Shape 62"/>
          <p:cNvSpPr/>
          <p:nvPr/>
        </p:nvSpPr>
        <p:spPr>
          <a:xfrm>
            <a:off x="3219602" y="3563874"/>
            <a:ext cx="20117" cy="192024"/>
          </a:xfrm>
          <a:prstGeom prst="rect">
            <a:avLst/>
          </a:prstGeom>
          <a:solidFill>
            <a:srgbClr val="12293A"/>
          </a:solidFill>
          <a:ln/>
        </p:spPr>
      </p:sp>
      <p:sp>
        <p:nvSpPr>
          <p:cNvPr id="65" name="Text 63"/>
          <p:cNvSpPr txBox="1"/>
          <p:nvPr/>
        </p:nvSpPr>
        <p:spPr>
          <a:xfrm>
            <a:off x="3630168" y="3497580"/>
            <a:ext cx="329184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B455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13%</a:t>
            </a:r>
            <a:endParaRPr lang="en-US" sz="800" dirty="0"/>
          </a:p>
        </p:txBody>
      </p:sp>
      <p:sp>
        <p:nvSpPr>
          <p:cNvPr id="66" name="Text 64"/>
          <p:cNvSpPr txBox="1"/>
          <p:nvPr/>
        </p:nvSpPr>
        <p:spPr>
          <a:xfrm>
            <a:off x="3904488" y="3497580"/>
            <a:ext cx="64008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B455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−1,148</a:t>
            </a:r>
            <a:endParaRPr lang="en-US" sz="850" dirty="0"/>
          </a:p>
        </p:txBody>
      </p:sp>
      <p:sp>
        <p:nvSpPr>
          <p:cNvPr id="67" name="Text 65"/>
          <p:cNvSpPr txBox="1"/>
          <p:nvPr/>
        </p:nvSpPr>
        <p:spPr>
          <a:xfrm>
            <a:off x="4599432" y="3497580"/>
            <a:ext cx="54864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$143k</a:t>
            </a:r>
            <a:endParaRPr lang="en-US" sz="850" dirty="0"/>
          </a:p>
        </p:txBody>
      </p:sp>
      <p:sp>
        <p:nvSpPr>
          <p:cNvPr id="68" name="Text 66"/>
          <p:cNvSpPr txBox="1"/>
          <p:nvPr/>
        </p:nvSpPr>
        <p:spPr>
          <a:xfrm>
            <a:off x="5184648" y="3497580"/>
            <a:ext cx="603504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B455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$16k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5879592" y="3609594"/>
            <a:ext cx="566928" cy="100584"/>
          </a:xfrm>
          <a:prstGeom prst="roundRect">
            <a:avLst>
              <a:gd name="adj" fmla="val 45455"/>
            </a:avLst>
          </a:prstGeom>
          <a:solidFill>
            <a:srgbClr val="E2EAEE"/>
          </a:solidFill>
          <a:ln/>
        </p:spPr>
      </p:sp>
      <p:sp>
        <p:nvSpPr>
          <p:cNvPr id="70" name="Shape 68"/>
          <p:cNvSpPr/>
          <p:nvPr/>
        </p:nvSpPr>
        <p:spPr>
          <a:xfrm>
            <a:off x="5879592" y="3609594"/>
            <a:ext cx="68031" cy="100584"/>
          </a:xfrm>
          <a:prstGeom prst="roundRect">
            <a:avLst>
              <a:gd name="adj" fmla="val 67205"/>
            </a:avLst>
          </a:prstGeom>
          <a:solidFill>
            <a:srgbClr val="B4552D"/>
          </a:solidFill>
          <a:ln/>
        </p:spPr>
      </p:sp>
      <p:sp>
        <p:nvSpPr>
          <p:cNvPr id="71" name="Shape 69"/>
          <p:cNvSpPr/>
          <p:nvPr/>
        </p:nvSpPr>
        <p:spPr>
          <a:xfrm>
            <a:off x="6022604" y="3563874"/>
            <a:ext cx="20117" cy="192024"/>
          </a:xfrm>
          <a:prstGeom prst="rect">
            <a:avLst/>
          </a:prstGeom>
          <a:solidFill>
            <a:srgbClr val="12293A"/>
          </a:solidFill>
          <a:ln/>
        </p:spPr>
      </p:sp>
      <p:sp>
        <p:nvSpPr>
          <p:cNvPr id="72" name="Text 70"/>
          <p:cNvSpPr txBox="1"/>
          <p:nvPr/>
        </p:nvSpPr>
        <p:spPr>
          <a:xfrm>
            <a:off x="6464808" y="3497580"/>
            <a:ext cx="329184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B455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12%</a:t>
            </a:r>
            <a:endParaRPr lang="en-US" sz="800" dirty="0"/>
          </a:p>
        </p:txBody>
      </p:sp>
      <p:sp>
        <p:nvSpPr>
          <p:cNvPr id="73" name="Text 71"/>
          <p:cNvSpPr txBox="1"/>
          <p:nvPr/>
        </p:nvSpPr>
        <p:spPr>
          <a:xfrm>
            <a:off x="6830568" y="3497580"/>
            <a:ext cx="987552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3D8F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+160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612648" y="4091940"/>
            <a:ext cx="7232904" cy="6401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75" name="Text 73"/>
          <p:cNvSpPr txBox="1"/>
          <p:nvPr/>
        </p:nvSpPr>
        <p:spPr>
          <a:xfrm>
            <a:off x="612648" y="3813048"/>
            <a:ext cx="137160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Bradford Young</a:t>
            </a:r>
            <a:endParaRPr lang="en-US" sz="900" dirty="0"/>
          </a:p>
        </p:txBody>
      </p:sp>
      <p:sp>
        <p:nvSpPr>
          <p:cNvPr id="76" name="Text 74"/>
          <p:cNvSpPr txBox="1"/>
          <p:nvPr/>
        </p:nvSpPr>
        <p:spPr>
          <a:xfrm>
            <a:off x="2002536" y="3813048"/>
            <a:ext cx="475488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$5k</a:t>
            </a:r>
            <a:endParaRPr lang="en-US" sz="850" dirty="0"/>
          </a:p>
        </p:txBody>
      </p:sp>
      <p:sp>
        <p:nvSpPr>
          <p:cNvPr id="77" name="Text 75"/>
          <p:cNvSpPr txBox="1"/>
          <p:nvPr/>
        </p:nvSpPr>
        <p:spPr>
          <a:xfrm>
            <a:off x="2514600" y="3813048"/>
            <a:ext cx="475488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B455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$177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3081528" y="3925062"/>
            <a:ext cx="548640" cy="100584"/>
          </a:xfrm>
          <a:prstGeom prst="roundRect">
            <a:avLst>
              <a:gd name="adj" fmla="val 45455"/>
            </a:avLst>
          </a:prstGeom>
          <a:solidFill>
            <a:srgbClr val="E2EAEE"/>
          </a:solidFill>
          <a:ln/>
        </p:spPr>
      </p:sp>
      <p:sp>
        <p:nvSpPr>
          <p:cNvPr id="79" name="Shape 77"/>
          <p:cNvSpPr/>
          <p:nvPr/>
        </p:nvSpPr>
        <p:spPr>
          <a:xfrm>
            <a:off x="3081528" y="3925062"/>
            <a:ext cx="54864" cy="100584"/>
          </a:xfrm>
          <a:prstGeom prst="roundRect">
            <a:avLst>
              <a:gd name="adj" fmla="val 83333"/>
            </a:avLst>
          </a:prstGeom>
          <a:solidFill>
            <a:srgbClr val="B4552D"/>
          </a:solidFill>
          <a:ln/>
        </p:spPr>
      </p:sp>
      <p:sp>
        <p:nvSpPr>
          <p:cNvPr id="80" name="Shape 78"/>
          <p:cNvSpPr/>
          <p:nvPr/>
        </p:nvSpPr>
        <p:spPr>
          <a:xfrm>
            <a:off x="3219602" y="3879342"/>
            <a:ext cx="20117" cy="192024"/>
          </a:xfrm>
          <a:prstGeom prst="rect">
            <a:avLst/>
          </a:prstGeom>
          <a:solidFill>
            <a:srgbClr val="12293A"/>
          </a:solidFill>
          <a:ln/>
        </p:spPr>
      </p:sp>
      <p:sp>
        <p:nvSpPr>
          <p:cNvPr id="81" name="Text 79"/>
          <p:cNvSpPr txBox="1"/>
          <p:nvPr/>
        </p:nvSpPr>
        <p:spPr>
          <a:xfrm>
            <a:off x="3630168" y="3813048"/>
            <a:ext cx="329184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B455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4%</a:t>
            </a:r>
            <a:endParaRPr lang="en-US" sz="800" dirty="0"/>
          </a:p>
        </p:txBody>
      </p:sp>
      <p:sp>
        <p:nvSpPr>
          <p:cNvPr id="82" name="Text 80"/>
          <p:cNvSpPr txBox="1"/>
          <p:nvPr/>
        </p:nvSpPr>
        <p:spPr>
          <a:xfrm>
            <a:off x="3904488" y="3813048"/>
            <a:ext cx="64008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—</a:t>
            </a:r>
            <a:endParaRPr lang="en-US" sz="850" dirty="0"/>
          </a:p>
        </p:txBody>
      </p:sp>
      <p:sp>
        <p:nvSpPr>
          <p:cNvPr id="83" name="Text 81"/>
          <p:cNvSpPr txBox="1"/>
          <p:nvPr/>
        </p:nvSpPr>
        <p:spPr>
          <a:xfrm>
            <a:off x="4599432" y="3813048"/>
            <a:ext cx="54864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$163k</a:t>
            </a:r>
            <a:endParaRPr lang="en-US" sz="850" dirty="0"/>
          </a:p>
        </p:txBody>
      </p:sp>
      <p:sp>
        <p:nvSpPr>
          <p:cNvPr id="84" name="Text 82"/>
          <p:cNvSpPr txBox="1"/>
          <p:nvPr/>
        </p:nvSpPr>
        <p:spPr>
          <a:xfrm>
            <a:off x="5184648" y="3813048"/>
            <a:ext cx="603504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B455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$18k</a:t>
            </a:r>
            <a:endParaRPr lang="en-US" sz="850" dirty="0"/>
          </a:p>
        </p:txBody>
      </p:sp>
      <p:sp>
        <p:nvSpPr>
          <p:cNvPr id="85" name="Shape 83"/>
          <p:cNvSpPr/>
          <p:nvPr/>
        </p:nvSpPr>
        <p:spPr>
          <a:xfrm>
            <a:off x="5879592" y="3925062"/>
            <a:ext cx="566928" cy="100584"/>
          </a:xfrm>
          <a:prstGeom prst="roundRect">
            <a:avLst>
              <a:gd name="adj" fmla="val 45455"/>
            </a:avLst>
          </a:prstGeom>
          <a:solidFill>
            <a:srgbClr val="E2EAEE"/>
          </a:solidFill>
          <a:ln/>
        </p:spPr>
      </p:sp>
      <p:sp>
        <p:nvSpPr>
          <p:cNvPr id="86" name="Shape 84"/>
          <p:cNvSpPr/>
          <p:nvPr/>
        </p:nvSpPr>
        <p:spPr>
          <a:xfrm>
            <a:off x="5879592" y="3925062"/>
            <a:ext cx="62362" cy="100584"/>
          </a:xfrm>
          <a:prstGeom prst="roundRect">
            <a:avLst>
              <a:gd name="adj" fmla="val 73314"/>
            </a:avLst>
          </a:prstGeom>
          <a:solidFill>
            <a:srgbClr val="B4552D"/>
          </a:solidFill>
          <a:ln/>
        </p:spPr>
      </p:sp>
      <p:sp>
        <p:nvSpPr>
          <p:cNvPr id="87" name="Shape 85"/>
          <p:cNvSpPr/>
          <p:nvPr/>
        </p:nvSpPr>
        <p:spPr>
          <a:xfrm>
            <a:off x="6022604" y="3879342"/>
            <a:ext cx="20117" cy="192024"/>
          </a:xfrm>
          <a:prstGeom prst="rect">
            <a:avLst/>
          </a:prstGeom>
          <a:solidFill>
            <a:srgbClr val="12293A"/>
          </a:solidFill>
          <a:ln/>
        </p:spPr>
      </p:sp>
      <p:sp>
        <p:nvSpPr>
          <p:cNvPr id="88" name="Text 86"/>
          <p:cNvSpPr txBox="1"/>
          <p:nvPr/>
        </p:nvSpPr>
        <p:spPr>
          <a:xfrm>
            <a:off x="6464808" y="3813048"/>
            <a:ext cx="329184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B455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11%</a:t>
            </a:r>
            <a:endParaRPr lang="en-US" sz="800" dirty="0"/>
          </a:p>
        </p:txBody>
      </p:sp>
      <p:sp>
        <p:nvSpPr>
          <p:cNvPr id="89" name="Text 87"/>
          <p:cNvSpPr txBox="1"/>
          <p:nvPr/>
        </p:nvSpPr>
        <p:spPr>
          <a:xfrm>
            <a:off x="6830568" y="3813048"/>
            <a:ext cx="987552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3D8F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+10k</a:t>
            </a:r>
            <a:endParaRPr lang="en-US" sz="850" dirty="0"/>
          </a:p>
        </p:txBody>
      </p:sp>
      <p:sp>
        <p:nvSpPr>
          <p:cNvPr id="90" name="Shape 88"/>
          <p:cNvSpPr/>
          <p:nvPr/>
        </p:nvSpPr>
        <p:spPr>
          <a:xfrm>
            <a:off x="612648" y="4407408"/>
            <a:ext cx="7232904" cy="6401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91" name="Text 89"/>
          <p:cNvSpPr txBox="1"/>
          <p:nvPr/>
        </p:nvSpPr>
        <p:spPr>
          <a:xfrm>
            <a:off x="612648" y="4128516"/>
            <a:ext cx="137160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Jasmine Hikuroa</a:t>
            </a:r>
            <a:endParaRPr lang="en-US" sz="900" dirty="0"/>
          </a:p>
        </p:txBody>
      </p:sp>
      <p:sp>
        <p:nvSpPr>
          <p:cNvPr id="92" name="Text 90"/>
          <p:cNvSpPr txBox="1"/>
          <p:nvPr/>
        </p:nvSpPr>
        <p:spPr>
          <a:xfrm>
            <a:off x="2002536" y="4128516"/>
            <a:ext cx="475488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$6k</a:t>
            </a:r>
            <a:endParaRPr lang="en-US" sz="850" dirty="0"/>
          </a:p>
        </p:txBody>
      </p:sp>
      <p:sp>
        <p:nvSpPr>
          <p:cNvPr id="93" name="Text 91"/>
          <p:cNvSpPr txBox="1"/>
          <p:nvPr/>
        </p:nvSpPr>
        <p:spPr>
          <a:xfrm>
            <a:off x="2514600" y="4128516"/>
            <a:ext cx="475488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B455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$2k</a:t>
            </a:r>
            <a:endParaRPr lang="en-US" sz="850" dirty="0"/>
          </a:p>
        </p:txBody>
      </p:sp>
      <p:sp>
        <p:nvSpPr>
          <p:cNvPr id="94" name="Shape 92"/>
          <p:cNvSpPr/>
          <p:nvPr/>
        </p:nvSpPr>
        <p:spPr>
          <a:xfrm>
            <a:off x="3081528" y="4240530"/>
            <a:ext cx="548640" cy="100584"/>
          </a:xfrm>
          <a:prstGeom prst="roundRect">
            <a:avLst>
              <a:gd name="adj" fmla="val 45455"/>
            </a:avLst>
          </a:prstGeom>
          <a:solidFill>
            <a:srgbClr val="E2EAEE"/>
          </a:solidFill>
          <a:ln/>
        </p:spPr>
      </p:sp>
      <p:sp>
        <p:nvSpPr>
          <p:cNvPr id="95" name="Shape 93"/>
          <p:cNvSpPr/>
          <p:nvPr/>
        </p:nvSpPr>
        <p:spPr>
          <a:xfrm>
            <a:off x="3081528" y="4240530"/>
            <a:ext cx="197510" cy="100584"/>
          </a:xfrm>
          <a:prstGeom prst="roundRect">
            <a:avLst>
              <a:gd name="adj" fmla="val 45455"/>
            </a:avLst>
          </a:prstGeom>
          <a:solidFill>
            <a:srgbClr val="B4552D"/>
          </a:solidFill>
          <a:ln/>
        </p:spPr>
      </p:sp>
      <p:sp>
        <p:nvSpPr>
          <p:cNvPr id="96" name="Shape 94"/>
          <p:cNvSpPr/>
          <p:nvPr/>
        </p:nvSpPr>
        <p:spPr>
          <a:xfrm>
            <a:off x="3219602" y="4194810"/>
            <a:ext cx="20117" cy="192024"/>
          </a:xfrm>
          <a:prstGeom prst="rect">
            <a:avLst/>
          </a:prstGeom>
          <a:solidFill>
            <a:srgbClr val="12293A"/>
          </a:solidFill>
          <a:ln/>
        </p:spPr>
      </p:sp>
      <p:sp>
        <p:nvSpPr>
          <p:cNvPr id="97" name="Text 95"/>
          <p:cNvSpPr txBox="1"/>
          <p:nvPr/>
        </p:nvSpPr>
        <p:spPr>
          <a:xfrm>
            <a:off x="3630168" y="4128516"/>
            <a:ext cx="329184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B455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36%</a:t>
            </a:r>
            <a:endParaRPr lang="en-US" sz="800" dirty="0"/>
          </a:p>
        </p:txBody>
      </p:sp>
      <p:sp>
        <p:nvSpPr>
          <p:cNvPr id="98" name="Text 96"/>
          <p:cNvSpPr txBox="1"/>
          <p:nvPr/>
        </p:nvSpPr>
        <p:spPr>
          <a:xfrm>
            <a:off x="3904488" y="4128516"/>
            <a:ext cx="64008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—</a:t>
            </a:r>
            <a:endParaRPr lang="en-US" sz="850" dirty="0"/>
          </a:p>
        </p:txBody>
      </p:sp>
      <p:sp>
        <p:nvSpPr>
          <p:cNvPr id="99" name="Text 97"/>
          <p:cNvSpPr txBox="1"/>
          <p:nvPr/>
        </p:nvSpPr>
        <p:spPr>
          <a:xfrm>
            <a:off x="4599432" y="4128516"/>
            <a:ext cx="54864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$214k</a:t>
            </a:r>
            <a:endParaRPr lang="en-US" sz="850" dirty="0"/>
          </a:p>
        </p:txBody>
      </p:sp>
      <p:sp>
        <p:nvSpPr>
          <p:cNvPr id="100" name="Text 98"/>
          <p:cNvSpPr txBox="1"/>
          <p:nvPr/>
        </p:nvSpPr>
        <p:spPr>
          <a:xfrm>
            <a:off x="5184648" y="4128516"/>
            <a:ext cx="603504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B455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$33k</a:t>
            </a:r>
            <a:endParaRPr lang="en-US" sz="850" dirty="0"/>
          </a:p>
        </p:txBody>
      </p:sp>
      <p:sp>
        <p:nvSpPr>
          <p:cNvPr id="101" name="Shape 99"/>
          <p:cNvSpPr/>
          <p:nvPr/>
        </p:nvSpPr>
        <p:spPr>
          <a:xfrm>
            <a:off x="5879592" y="4240530"/>
            <a:ext cx="566928" cy="100584"/>
          </a:xfrm>
          <a:prstGeom prst="roundRect">
            <a:avLst>
              <a:gd name="adj" fmla="val 45455"/>
            </a:avLst>
          </a:prstGeom>
          <a:solidFill>
            <a:srgbClr val="E2EAEE"/>
          </a:solidFill>
          <a:ln/>
        </p:spPr>
      </p:sp>
      <p:sp>
        <p:nvSpPr>
          <p:cNvPr id="102" name="Shape 100"/>
          <p:cNvSpPr/>
          <p:nvPr/>
        </p:nvSpPr>
        <p:spPr>
          <a:xfrm>
            <a:off x="5879592" y="4240530"/>
            <a:ext cx="85039" cy="100584"/>
          </a:xfrm>
          <a:prstGeom prst="roundRect">
            <a:avLst>
              <a:gd name="adj" fmla="val 53764"/>
            </a:avLst>
          </a:prstGeom>
          <a:solidFill>
            <a:srgbClr val="B4552D"/>
          </a:solidFill>
          <a:ln/>
        </p:spPr>
      </p:sp>
      <p:sp>
        <p:nvSpPr>
          <p:cNvPr id="103" name="Shape 101"/>
          <p:cNvSpPr/>
          <p:nvPr/>
        </p:nvSpPr>
        <p:spPr>
          <a:xfrm>
            <a:off x="6022604" y="4194810"/>
            <a:ext cx="20117" cy="192024"/>
          </a:xfrm>
          <a:prstGeom prst="rect">
            <a:avLst/>
          </a:prstGeom>
          <a:solidFill>
            <a:srgbClr val="12293A"/>
          </a:solidFill>
          <a:ln/>
        </p:spPr>
      </p:sp>
      <p:sp>
        <p:nvSpPr>
          <p:cNvPr id="104" name="Text 102"/>
          <p:cNvSpPr txBox="1"/>
          <p:nvPr/>
        </p:nvSpPr>
        <p:spPr>
          <a:xfrm>
            <a:off x="6464808" y="4128516"/>
            <a:ext cx="329184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B455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15%</a:t>
            </a:r>
            <a:endParaRPr lang="en-US" sz="800" dirty="0"/>
          </a:p>
        </p:txBody>
      </p:sp>
      <p:sp>
        <p:nvSpPr>
          <p:cNvPr id="105" name="Text 103"/>
          <p:cNvSpPr txBox="1"/>
          <p:nvPr/>
        </p:nvSpPr>
        <p:spPr>
          <a:xfrm>
            <a:off x="6830568" y="4128516"/>
            <a:ext cx="987552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3D8F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+918</a:t>
            </a:r>
            <a:endParaRPr lang="en-US" sz="850" dirty="0"/>
          </a:p>
        </p:txBody>
      </p:sp>
      <p:sp>
        <p:nvSpPr>
          <p:cNvPr id="106" name="Shape 104"/>
          <p:cNvSpPr/>
          <p:nvPr/>
        </p:nvSpPr>
        <p:spPr>
          <a:xfrm>
            <a:off x="612648" y="4722876"/>
            <a:ext cx="7232904" cy="6401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107" name="Text 105"/>
          <p:cNvSpPr txBox="1"/>
          <p:nvPr/>
        </p:nvSpPr>
        <p:spPr>
          <a:xfrm>
            <a:off x="612648" y="4443984"/>
            <a:ext cx="137160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Phuong Ho</a:t>
            </a:r>
            <a:endParaRPr lang="en-US" sz="900" dirty="0"/>
          </a:p>
        </p:txBody>
      </p:sp>
      <p:sp>
        <p:nvSpPr>
          <p:cNvPr id="108" name="Text 106"/>
          <p:cNvSpPr txBox="1"/>
          <p:nvPr/>
        </p:nvSpPr>
        <p:spPr>
          <a:xfrm>
            <a:off x="2002536" y="4443984"/>
            <a:ext cx="475488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$2k</a:t>
            </a:r>
            <a:endParaRPr lang="en-US" sz="850" dirty="0"/>
          </a:p>
        </p:txBody>
      </p:sp>
      <p:sp>
        <p:nvSpPr>
          <p:cNvPr id="109" name="Text 107"/>
          <p:cNvSpPr txBox="1"/>
          <p:nvPr/>
        </p:nvSpPr>
        <p:spPr>
          <a:xfrm>
            <a:off x="2514600" y="4443984"/>
            <a:ext cx="475488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B455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$98</a:t>
            </a:r>
            <a:endParaRPr lang="en-US" sz="850" dirty="0"/>
          </a:p>
        </p:txBody>
      </p:sp>
      <p:sp>
        <p:nvSpPr>
          <p:cNvPr id="110" name="Shape 108"/>
          <p:cNvSpPr/>
          <p:nvPr/>
        </p:nvSpPr>
        <p:spPr>
          <a:xfrm>
            <a:off x="3081528" y="4555998"/>
            <a:ext cx="548640" cy="100584"/>
          </a:xfrm>
          <a:prstGeom prst="roundRect">
            <a:avLst>
              <a:gd name="adj" fmla="val 45455"/>
            </a:avLst>
          </a:prstGeom>
          <a:solidFill>
            <a:srgbClr val="E2EAEE"/>
          </a:solidFill>
          <a:ln/>
        </p:spPr>
      </p:sp>
      <p:sp>
        <p:nvSpPr>
          <p:cNvPr id="111" name="Shape 109"/>
          <p:cNvSpPr/>
          <p:nvPr/>
        </p:nvSpPr>
        <p:spPr>
          <a:xfrm>
            <a:off x="3081528" y="4555998"/>
            <a:ext cx="54864" cy="100584"/>
          </a:xfrm>
          <a:prstGeom prst="roundRect">
            <a:avLst>
              <a:gd name="adj" fmla="val 83333"/>
            </a:avLst>
          </a:prstGeom>
          <a:solidFill>
            <a:srgbClr val="B4552D"/>
          </a:solidFill>
          <a:ln/>
        </p:spPr>
      </p:sp>
      <p:sp>
        <p:nvSpPr>
          <p:cNvPr id="112" name="Shape 110"/>
          <p:cNvSpPr/>
          <p:nvPr/>
        </p:nvSpPr>
        <p:spPr>
          <a:xfrm>
            <a:off x="3219602" y="4510278"/>
            <a:ext cx="20117" cy="192024"/>
          </a:xfrm>
          <a:prstGeom prst="rect">
            <a:avLst/>
          </a:prstGeom>
          <a:solidFill>
            <a:srgbClr val="12293A"/>
          </a:solidFill>
          <a:ln/>
        </p:spPr>
      </p:sp>
      <p:sp>
        <p:nvSpPr>
          <p:cNvPr id="113" name="Text 111"/>
          <p:cNvSpPr txBox="1"/>
          <p:nvPr/>
        </p:nvSpPr>
        <p:spPr>
          <a:xfrm>
            <a:off x="3630168" y="4443984"/>
            <a:ext cx="329184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B455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5%</a:t>
            </a:r>
            <a:endParaRPr lang="en-US" sz="800" dirty="0"/>
          </a:p>
        </p:txBody>
      </p:sp>
      <p:sp>
        <p:nvSpPr>
          <p:cNvPr id="114" name="Text 112"/>
          <p:cNvSpPr txBox="1"/>
          <p:nvPr/>
        </p:nvSpPr>
        <p:spPr>
          <a:xfrm>
            <a:off x="3904488" y="4443984"/>
            <a:ext cx="64008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—</a:t>
            </a:r>
            <a:endParaRPr lang="en-US" sz="850" dirty="0"/>
          </a:p>
        </p:txBody>
      </p:sp>
      <p:sp>
        <p:nvSpPr>
          <p:cNvPr id="115" name="Text 113"/>
          <p:cNvSpPr txBox="1"/>
          <p:nvPr/>
        </p:nvSpPr>
        <p:spPr>
          <a:xfrm>
            <a:off x="4599432" y="4443984"/>
            <a:ext cx="54864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$55k</a:t>
            </a:r>
            <a:endParaRPr lang="en-US" sz="850" dirty="0"/>
          </a:p>
        </p:txBody>
      </p:sp>
      <p:sp>
        <p:nvSpPr>
          <p:cNvPr id="116" name="Text 114"/>
          <p:cNvSpPr txBox="1"/>
          <p:nvPr/>
        </p:nvSpPr>
        <p:spPr>
          <a:xfrm>
            <a:off x="5184648" y="4443984"/>
            <a:ext cx="603504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B455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$38k</a:t>
            </a:r>
            <a:endParaRPr lang="en-US" sz="850" dirty="0"/>
          </a:p>
        </p:txBody>
      </p:sp>
      <p:sp>
        <p:nvSpPr>
          <p:cNvPr id="117" name="Shape 115"/>
          <p:cNvSpPr/>
          <p:nvPr/>
        </p:nvSpPr>
        <p:spPr>
          <a:xfrm>
            <a:off x="5879592" y="4555998"/>
            <a:ext cx="566928" cy="100584"/>
          </a:xfrm>
          <a:prstGeom prst="roundRect">
            <a:avLst>
              <a:gd name="adj" fmla="val 45455"/>
            </a:avLst>
          </a:prstGeom>
          <a:solidFill>
            <a:srgbClr val="E2EAEE"/>
          </a:solidFill>
          <a:ln/>
        </p:spPr>
      </p:sp>
      <p:sp>
        <p:nvSpPr>
          <p:cNvPr id="118" name="Shape 116"/>
          <p:cNvSpPr/>
          <p:nvPr/>
        </p:nvSpPr>
        <p:spPr>
          <a:xfrm>
            <a:off x="5879592" y="4555998"/>
            <a:ext cx="391180" cy="100584"/>
          </a:xfrm>
          <a:prstGeom prst="roundRect">
            <a:avLst>
              <a:gd name="adj" fmla="val 45455"/>
            </a:avLst>
          </a:prstGeom>
          <a:solidFill>
            <a:srgbClr val="B4552D"/>
          </a:solidFill>
          <a:ln/>
        </p:spPr>
      </p:sp>
      <p:sp>
        <p:nvSpPr>
          <p:cNvPr id="119" name="Shape 117"/>
          <p:cNvSpPr/>
          <p:nvPr/>
        </p:nvSpPr>
        <p:spPr>
          <a:xfrm>
            <a:off x="6022604" y="4510278"/>
            <a:ext cx="20117" cy="192024"/>
          </a:xfrm>
          <a:prstGeom prst="rect">
            <a:avLst/>
          </a:prstGeom>
          <a:solidFill>
            <a:srgbClr val="12293A"/>
          </a:solidFill>
          <a:ln/>
        </p:spPr>
      </p:sp>
      <p:sp>
        <p:nvSpPr>
          <p:cNvPr id="120" name="Text 118"/>
          <p:cNvSpPr txBox="1"/>
          <p:nvPr/>
        </p:nvSpPr>
        <p:spPr>
          <a:xfrm>
            <a:off x="6464808" y="4443984"/>
            <a:ext cx="329184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B455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69%</a:t>
            </a:r>
            <a:endParaRPr lang="en-US" sz="800" dirty="0"/>
          </a:p>
        </p:txBody>
      </p:sp>
      <p:sp>
        <p:nvSpPr>
          <p:cNvPr id="121" name="Text 119"/>
          <p:cNvSpPr txBox="1"/>
          <p:nvPr/>
        </p:nvSpPr>
        <p:spPr>
          <a:xfrm>
            <a:off x="6830568" y="4443984"/>
            <a:ext cx="987552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3D8F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+705</a:t>
            </a:r>
            <a:endParaRPr lang="en-US" sz="850" dirty="0"/>
          </a:p>
        </p:txBody>
      </p:sp>
      <p:sp>
        <p:nvSpPr>
          <p:cNvPr id="122" name="Shape 120"/>
          <p:cNvSpPr/>
          <p:nvPr/>
        </p:nvSpPr>
        <p:spPr>
          <a:xfrm>
            <a:off x="612648" y="5038344"/>
            <a:ext cx="7232904" cy="6401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123" name="Text 121"/>
          <p:cNvSpPr txBox="1"/>
          <p:nvPr/>
        </p:nvSpPr>
        <p:spPr>
          <a:xfrm>
            <a:off x="612648" y="4759452"/>
            <a:ext cx="137160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Mick Teasdale</a:t>
            </a:r>
            <a:endParaRPr lang="en-US" sz="900" dirty="0"/>
          </a:p>
        </p:txBody>
      </p:sp>
      <p:sp>
        <p:nvSpPr>
          <p:cNvPr id="124" name="Text 122"/>
          <p:cNvSpPr txBox="1"/>
          <p:nvPr/>
        </p:nvSpPr>
        <p:spPr>
          <a:xfrm>
            <a:off x="2002536" y="4759452"/>
            <a:ext cx="475488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$3k</a:t>
            </a:r>
            <a:endParaRPr lang="en-US" sz="850" dirty="0"/>
          </a:p>
        </p:txBody>
      </p:sp>
      <p:sp>
        <p:nvSpPr>
          <p:cNvPr id="125" name="Text 123"/>
          <p:cNvSpPr txBox="1"/>
          <p:nvPr/>
        </p:nvSpPr>
        <p:spPr>
          <a:xfrm>
            <a:off x="2514600" y="4759452"/>
            <a:ext cx="475488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B455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$0</a:t>
            </a:r>
            <a:endParaRPr lang="en-US" sz="850" dirty="0"/>
          </a:p>
        </p:txBody>
      </p:sp>
      <p:sp>
        <p:nvSpPr>
          <p:cNvPr id="126" name="Shape 124"/>
          <p:cNvSpPr/>
          <p:nvPr/>
        </p:nvSpPr>
        <p:spPr>
          <a:xfrm>
            <a:off x="3081528" y="4871466"/>
            <a:ext cx="548640" cy="100584"/>
          </a:xfrm>
          <a:prstGeom prst="roundRect">
            <a:avLst>
              <a:gd name="adj" fmla="val 45455"/>
            </a:avLst>
          </a:prstGeom>
          <a:solidFill>
            <a:srgbClr val="E2EAEE"/>
          </a:solidFill>
          <a:ln/>
        </p:spPr>
      </p:sp>
      <p:sp>
        <p:nvSpPr>
          <p:cNvPr id="127" name="Shape 125"/>
          <p:cNvSpPr/>
          <p:nvPr/>
        </p:nvSpPr>
        <p:spPr>
          <a:xfrm>
            <a:off x="3081528" y="4871466"/>
            <a:ext cx="54864" cy="100584"/>
          </a:xfrm>
          <a:prstGeom prst="roundRect">
            <a:avLst>
              <a:gd name="adj" fmla="val 83333"/>
            </a:avLst>
          </a:prstGeom>
          <a:solidFill>
            <a:srgbClr val="B4552D"/>
          </a:solidFill>
          <a:ln/>
        </p:spPr>
      </p:sp>
      <p:sp>
        <p:nvSpPr>
          <p:cNvPr id="128" name="Shape 126"/>
          <p:cNvSpPr/>
          <p:nvPr/>
        </p:nvSpPr>
        <p:spPr>
          <a:xfrm>
            <a:off x="3219602" y="4825746"/>
            <a:ext cx="20117" cy="192024"/>
          </a:xfrm>
          <a:prstGeom prst="rect">
            <a:avLst/>
          </a:prstGeom>
          <a:solidFill>
            <a:srgbClr val="12293A"/>
          </a:solidFill>
          <a:ln/>
        </p:spPr>
      </p:sp>
      <p:sp>
        <p:nvSpPr>
          <p:cNvPr id="129" name="Text 127"/>
          <p:cNvSpPr txBox="1"/>
          <p:nvPr/>
        </p:nvSpPr>
        <p:spPr>
          <a:xfrm>
            <a:off x="3630168" y="4759452"/>
            <a:ext cx="329184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B455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0%</a:t>
            </a:r>
            <a:endParaRPr lang="en-US" sz="800" dirty="0"/>
          </a:p>
        </p:txBody>
      </p:sp>
      <p:sp>
        <p:nvSpPr>
          <p:cNvPr id="130" name="Text 128"/>
          <p:cNvSpPr txBox="1"/>
          <p:nvPr/>
        </p:nvSpPr>
        <p:spPr>
          <a:xfrm>
            <a:off x="3904488" y="4759452"/>
            <a:ext cx="64008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—</a:t>
            </a:r>
            <a:endParaRPr lang="en-US" sz="850" dirty="0"/>
          </a:p>
        </p:txBody>
      </p:sp>
      <p:sp>
        <p:nvSpPr>
          <p:cNvPr id="131" name="Text 129"/>
          <p:cNvSpPr txBox="1"/>
          <p:nvPr/>
        </p:nvSpPr>
        <p:spPr>
          <a:xfrm>
            <a:off x="4599432" y="4759452"/>
            <a:ext cx="54864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$46k</a:t>
            </a:r>
            <a:endParaRPr lang="en-US" sz="850" dirty="0"/>
          </a:p>
        </p:txBody>
      </p:sp>
      <p:sp>
        <p:nvSpPr>
          <p:cNvPr id="132" name="Text 130"/>
          <p:cNvSpPr txBox="1"/>
          <p:nvPr/>
        </p:nvSpPr>
        <p:spPr>
          <a:xfrm>
            <a:off x="5184648" y="4759452"/>
            <a:ext cx="603504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B455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—</a:t>
            </a:r>
            <a:endParaRPr lang="en-US" sz="850" dirty="0"/>
          </a:p>
        </p:txBody>
      </p:sp>
      <p:sp>
        <p:nvSpPr>
          <p:cNvPr id="133" name="Text 131"/>
          <p:cNvSpPr txBox="1"/>
          <p:nvPr/>
        </p:nvSpPr>
        <p:spPr>
          <a:xfrm>
            <a:off x="5843016" y="4759452"/>
            <a:ext cx="932688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—</a:t>
            </a:r>
            <a:endParaRPr lang="en-US" sz="800" dirty="0"/>
          </a:p>
        </p:txBody>
      </p:sp>
      <p:sp>
        <p:nvSpPr>
          <p:cNvPr id="134" name="Text 132"/>
          <p:cNvSpPr txBox="1"/>
          <p:nvPr/>
        </p:nvSpPr>
        <p:spPr>
          <a:xfrm>
            <a:off x="6830568" y="4759452"/>
            <a:ext cx="987552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—</a:t>
            </a:r>
            <a:endParaRPr lang="en-US" sz="850" dirty="0"/>
          </a:p>
        </p:txBody>
      </p:sp>
      <p:sp>
        <p:nvSpPr>
          <p:cNvPr id="135" name="Shape 133"/>
          <p:cNvSpPr/>
          <p:nvPr/>
        </p:nvSpPr>
        <p:spPr>
          <a:xfrm>
            <a:off x="612648" y="5353812"/>
            <a:ext cx="7232904" cy="6401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136" name="Text 134"/>
          <p:cNvSpPr txBox="1"/>
          <p:nvPr/>
        </p:nvSpPr>
        <p:spPr>
          <a:xfrm>
            <a:off x="612648" y="5074920"/>
            <a:ext cx="137160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8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Unassigned</a:t>
            </a:r>
            <a:endParaRPr lang="en-US" sz="900" dirty="0"/>
          </a:p>
        </p:txBody>
      </p:sp>
      <p:sp>
        <p:nvSpPr>
          <p:cNvPr id="137" name="Text 135"/>
          <p:cNvSpPr txBox="1"/>
          <p:nvPr/>
        </p:nvSpPr>
        <p:spPr>
          <a:xfrm>
            <a:off x="2002536" y="5074920"/>
            <a:ext cx="475488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$4k</a:t>
            </a:r>
            <a:endParaRPr lang="en-US" sz="850" dirty="0"/>
          </a:p>
        </p:txBody>
      </p:sp>
      <p:sp>
        <p:nvSpPr>
          <p:cNvPr id="138" name="Text 136"/>
          <p:cNvSpPr txBox="1"/>
          <p:nvPr/>
        </p:nvSpPr>
        <p:spPr>
          <a:xfrm>
            <a:off x="2514600" y="5074920"/>
            <a:ext cx="475488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B455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$294</a:t>
            </a:r>
            <a:endParaRPr lang="en-US" sz="850" dirty="0"/>
          </a:p>
        </p:txBody>
      </p:sp>
      <p:sp>
        <p:nvSpPr>
          <p:cNvPr id="139" name="Shape 137"/>
          <p:cNvSpPr/>
          <p:nvPr/>
        </p:nvSpPr>
        <p:spPr>
          <a:xfrm>
            <a:off x="3081528" y="5186934"/>
            <a:ext cx="548640" cy="100584"/>
          </a:xfrm>
          <a:prstGeom prst="roundRect">
            <a:avLst>
              <a:gd name="adj" fmla="val 45455"/>
            </a:avLst>
          </a:prstGeom>
          <a:solidFill>
            <a:srgbClr val="E2EAEE"/>
          </a:solidFill>
          <a:ln/>
        </p:spPr>
      </p:sp>
      <p:sp>
        <p:nvSpPr>
          <p:cNvPr id="140" name="Shape 138"/>
          <p:cNvSpPr/>
          <p:nvPr/>
        </p:nvSpPr>
        <p:spPr>
          <a:xfrm>
            <a:off x="3081528" y="5186934"/>
            <a:ext cx="54864" cy="100584"/>
          </a:xfrm>
          <a:prstGeom prst="roundRect">
            <a:avLst>
              <a:gd name="adj" fmla="val 83333"/>
            </a:avLst>
          </a:prstGeom>
          <a:solidFill>
            <a:srgbClr val="B4552D"/>
          </a:solidFill>
          <a:ln/>
        </p:spPr>
      </p:sp>
      <p:sp>
        <p:nvSpPr>
          <p:cNvPr id="141" name="Shape 139"/>
          <p:cNvSpPr/>
          <p:nvPr/>
        </p:nvSpPr>
        <p:spPr>
          <a:xfrm>
            <a:off x="3219602" y="5141214"/>
            <a:ext cx="20117" cy="192024"/>
          </a:xfrm>
          <a:prstGeom prst="rect">
            <a:avLst/>
          </a:prstGeom>
          <a:solidFill>
            <a:srgbClr val="12293A"/>
          </a:solidFill>
          <a:ln/>
        </p:spPr>
      </p:sp>
      <p:sp>
        <p:nvSpPr>
          <p:cNvPr id="142" name="Text 140"/>
          <p:cNvSpPr txBox="1"/>
          <p:nvPr/>
        </p:nvSpPr>
        <p:spPr>
          <a:xfrm>
            <a:off x="3630168" y="5074920"/>
            <a:ext cx="329184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B455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7%</a:t>
            </a:r>
            <a:endParaRPr lang="en-US" sz="800" dirty="0"/>
          </a:p>
        </p:txBody>
      </p:sp>
      <p:sp>
        <p:nvSpPr>
          <p:cNvPr id="143" name="Text 141"/>
          <p:cNvSpPr txBox="1"/>
          <p:nvPr/>
        </p:nvSpPr>
        <p:spPr>
          <a:xfrm>
            <a:off x="3904488" y="5074920"/>
            <a:ext cx="64008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—</a:t>
            </a:r>
            <a:endParaRPr lang="en-US" sz="850" dirty="0"/>
          </a:p>
        </p:txBody>
      </p:sp>
      <p:sp>
        <p:nvSpPr>
          <p:cNvPr id="144" name="Text 142"/>
          <p:cNvSpPr txBox="1"/>
          <p:nvPr/>
        </p:nvSpPr>
        <p:spPr>
          <a:xfrm>
            <a:off x="4599432" y="5074920"/>
            <a:ext cx="54864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—</a:t>
            </a:r>
            <a:endParaRPr lang="en-US" sz="850" dirty="0"/>
          </a:p>
        </p:txBody>
      </p:sp>
      <p:sp>
        <p:nvSpPr>
          <p:cNvPr id="145" name="Text 143"/>
          <p:cNvSpPr txBox="1"/>
          <p:nvPr/>
        </p:nvSpPr>
        <p:spPr>
          <a:xfrm>
            <a:off x="5184648" y="5074920"/>
            <a:ext cx="603504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B455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—</a:t>
            </a:r>
            <a:endParaRPr lang="en-US" sz="850" dirty="0"/>
          </a:p>
        </p:txBody>
      </p:sp>
      <p:sp>
        <p:nvSpPr>
          <p:cNvPr id="146" name="Text 144"/>
          <p:cNvSpPr txBox="1"/>
          <p:nvPr/>
        </p:nvSpPr>
        <p:spPr>
          <a:xfrm>
            <a:off x="5843016" y="5074920"/>
            <a:ext cx="932688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—</a:t>
            </a:r>
            <a:endParaRPr lang="en-US" sz="800" dirty="0"/>
          </a:p>
        </p:txBody>
      </p:sp>
      <p:sp>
        <p:nvSpPr>
          <p:cNvPr id="147" name="Text 145"/>
          <p:cNvSpPr txBox="1"/>
          <p:nvPr/>
        </p:nvSpPr>
        <p:spPr>
          <a:xfrm>
            <a:off x="6830568" y="5074920"/>
            <a:ext cx="987552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—</a:t>
            </a:r>
            <a:endParaRPr lang="en-US" sz="850" dirty="0"/>
          </a:p>
        </p:txBody>
      </p:sp>
      <p:sp>
        <p:nvSpPr>
          <p:cNvPr id="148" name="Shape 146"/>
          <p:cNvSpPr/>
          <p:nvPr/>
        </p:nvSpPr>
        <p:spPr>
          <a:xfrm>
            <a:off x="612648" y="5381244"/>
            <a:ext cx="7232904" cy="14630"/>
          </a:xfrm>
          <a:prstGeom prst="rect">
            <a:avLst/>
          </a:prstGeom>
          <a:solidFill>
            <a:srgbClr val="12293A"/>
          </a:solidFill>
          <a:ln/>
        </p:spPr>
      </p:sp>
      <p:sp>
        <p:nvSpPr>
          <p:cNvPr id="149" name="Text 147"/>
          <p:cNvSpPr txBox="1"/>
          <p:nvPr/>
        </p:nvSpPr>
        <p:spPr>
          <a:xfrm>
            <a:off x="612648" y="54269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SALES TEAM TOTAL</a:t>
            </a:r>
            <a:endParaRPr lang="en-US" sz="900" dirty="0"/>
          </a:p>
        </p:txBody>
      </p:sp>
      <p:sp>
        <p:nvSpPr>
          <p:cNvPr id="150" name="Text 148"/>
          <p:cNvSpPr txBox="1"/>
          <p:nvPr/>
        </p:nvSpPr>
        <p:spPr>
          <a:xfrm>
            <a:off x="2002536" y="5426964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$30k</a:t>
            </a:r>
            <a:endParaRPr lang="en-US" sz="850" dirty="0"/>
          </a:p>
        </p:txBody>
      </p:sp>
      <p:sp>
        <p:nvSpPr>
          <p:cNvPr id="151" name="Text 149"/>
          <p:cNvSpPr txBox="1"/>
          <p:nvPr/>
        </p:nvSpPr>
        <p:spPr>
          <a:xfrm>
            <a:off x="2514600" y="5426964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B455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$4k</a:t>
            </a:r>
            <a:endParaRPr lang="en-US" sz="850" dirty="0"/>
          </a:p>
        </p:txBody>
      </p:sp>
      <p:sp>
        <p:nvSpPr>
          <p:cNvPr id="152" name="Text 150"/>
          <p:cNvSpPr txBox="1"/>
          <p:nvPr/>
        </p:nvSpPr>
        <p:spPr>
          <a:xfrm>
            <a:off x="3904488" y="542696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B455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−1,148</a:t>
            </a:r>
            <a:endParaRPr lang="en-US" sz="850" dirty="0"/>
          </a:p>
        </p:txBody>
      </p:sp>
      <p:sp>
        <p:nvSpPr>
          <p:cNvPr id="153" name="Text 151"/>
          <p:cNvSpPr txBox="1"/>
          <p:nvPr/>
        </p:nvSpPr>
        <p:spPr>
          <a:xfrm>
            <a:off x="4599432" y="54269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$761k</a:t>
            </a:r>
            <a:endParaRPr lang="en-US" sz="850" dirty="0"/>
          </a:p>
        </p:txBody>
      </p:sp>
      <p:sp>
        <p:nvSpPr>
          <p:cNvPr id="154" name="Text 152"/>
          <p:cNvSpPr txBox="1"/>
          <p:nvPr/>
        </p:nvSpPr>
        <p:spPr>
          <a:xfrm>
            <a:off x="5184648" y="5426964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B455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$111k</a:t>
            </a:r>
            <a:endParaRPr lang="en-US" sz="850" dirty="0"/>
          </a:p>
        </p:txBody>
      </p:sp>
      <p:sp>
        <p:nvSpPr>
          <p:cNvPr id="155" name="Text 153"/>
          <p:cNvSpPr txBox="1"/>
          <p:nvPr/>
        </p:nvSpPr>
        <p:spPr>
          <a:xfrm>
            <a:off x="5843016" y="5426964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455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15%</a:t>
            </a:r>
            <a:endParaRPr lang="en-US" sz="850" dirty="0"/>
          </a:p>
        </p:txBody>
      </p:sp>
      <p:sp>
        <p:nvSpPr>
          <p:cNvPr id="156" name="Text 154"/>
          <p:cNvSpPr txBox="1"/>
          <p:nvPr/>
        </p:nvSpPr>
        <p:spPr>
          <a:xfrm>
            <a:off x="6830568" y="5426964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3D8F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+12k</a:t>
            </a:r>
            <a:endParaRPr lang="en-US" sz="850" dirty="0"/>
          </a:p>
        </p:txBody>
      </p:sp>
      <p:sp>
        <p:nvSpPr>
          <p:cNvPr id="157" name="Text 155"/>
          <p:cNvSpPr txBox="1"/>
          <p:nvPr/>
        </p:nvSpPr>
        <p:spPr>
          <a:xfrm>
            <a:off x="612648" y="5719572"/>
            <a:ext cx="7232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MRR = net new + expansion invoiced in Q4 (movement register, live 25 Oct) · H&amp;L Pay net new $0/mo is tracked separately and never sits inside core MRR</a:t>
            </a:r>
            <a:endParaRPr lang="en-US" sz="700" dirty="0"/>
          </a:p>
        </p:txBody>
      </p:sp>
      <p:sp>
        <p:nvSpPr>
          <p:cNvPr id="158" name="Shape 156"/>
          <p:cNvSpPr/>
          <p:nvPr/>
        </p:nvSpPr>
        <p:spPr>
          <a:xfrm>
            <a:off x="8229600" y="2340864"/>
            <a:ext cx="3547872" cy="4041648"/>
          </a:xfrm>
          <a:prstGeom prst="roundRect">
            <a:avLst>
              <a:gd name="adj" fmla="val 18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159" name="Text 157"/>
          <p:cNvSpPr txBox="1"/>
          <p:nvPr/>
        </p:nvSpPr>
        <p:spPr>
          <a:xfrm>
            <a:off x="8430768" y="2450592"/>
            <a:ext cx="3182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SUMMARY</a:t>
            </a:r>
            <a:endParaRPr lang="en-US" sz="1200" dirty="0"/>
          </a:p>
        </p:txBody>
      </p:sp>
      <p:sp>
        <p:nvSpPr>
          <p:cNvPr id="160" name="Text 158"/>
          <p:cNvSpPr txBox="1"/>
          <p:nvPr/>
        </p:nvSpPr>
        <p:spPr>
          <a:xfrm>
            <a:off x="8430768" y="2761488"/>
            <a:ext cx="3136392" cy="3493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3D8F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 </a:t>
            </a:r>
            <a:pPr indent="0" marL="0">
              <a:buNone/>
            </a:pPr>
            <a:r>
              <a:rPr lang="en-US" sz="90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Hardware added $12,048 — Bradford $10,265 of it. </a:t>
            </a:r>
            <a:pPr indent="0" marL="0">
              <a:spcAft>
                <a:spcPts val="800"/>
              </a:spcAft>
              <a:buNone/>
            </a:pPr>
            <a:r>
              <a:rPr lang="en-US" sz="900" dirty="0">
                <a:solidFill>
                  <a:srgbClr val="3A4B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Royal Hotel's server, screen and POS came to $8,500. Q4 to date is $111,021, 16% of the $715k OKR2 against a 27% pace mark.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B455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 </a:t>
            </a:r>
            <a:pPr indent="0" marL="0">
              <a:buNone/>
            </a:pPr>
            <a:r>
              <a:rPr lang="en-US" sz="90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MRR went backwards again, by $1,148. </a:t>
            </a:r>
            <a:pPr indent="0" marL="0">
              <a:spcAft>
                <a:spcPts val="800"/>
              </a:spcAft>
              <a:buNone/>
            </a:pPr>
            <a:r>
              <a:rPr lang="en-US" sz="900" dirty="0">
                <a:solidFill>
                  <a:srgbClr val="3A4B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new MRR was invoiced and three of Brett's accounts churned. Q4 stands at $3,817 — 14% of the $28k OKR2 — and 22 expansion rows worth $2,159 are already on the register, dated 1 Nov.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 </a:t>
            </a:r>
            <a:pPr indent="0" marL="0">
              <a:buNone/>
            </a:pPr>
            <a:r>
              <a:rPr lang="en-US" sz="90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Targets are still the Q3 numbers carried forward. </a:t>
            </a:r>
            <a:pPr indent="0" marL="0">
              <a:spcAft>
                <a:spcPts val="800"/>
              </a:spcAft>
              <a:buNone/>
            </a:pPr>
            <a:r>
              <a:rPr lang="en-US" sz="900" dirty="0">
                <a:solidFill>
                  <a:srgbClr val="3A4B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Q4 OKR2 or team target has been set, so every attainment percentage on this slide is measured against last quarter's bar.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 </a:t>
            </a:r>
            <a:pPr indent="0" marL="0">
              <a:spcAft>
                <a:spcPts val="800"/>
              </a:spcAft>
              <a:buNone/>
            </a:pPr>
            <a:r>
              <a:rPr lang="en-US" sz="90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HW = commissionable only, gross of discounts · attainment = invoiced, never closed-won · pace = Q4 (Oct–Dec) · 25 of 92 days elapsed.</a:t>
            </a:r>
            <a:endParaRPr lang="en-US" sz="900" dirty="0"/>
          </a:p>
        </p:txBody>
      </p:sp>
      <p:sp>
        <p:nvSpPr>
          <p:cNvPr id="161" name="Shape 159"/>
          <p:cNvSpPr/>
          <p:nvPr/>
        </p:nvSpPr>
        <p:spPr>
          <a:xfrm>
            <a:off x="7088429" y="6510528"/>
            <a:ext cx="4689043" cy="256032"/>
          </a:xfrm>
          <a:prstGeom prst="roundRect">
            <a:avLst>
              <a:gd name="adj" fmla="val 46429"/>
            </a:avLst>
          </a:prstGeom>
          <a:solidFill>
            <a:srgbClr val="12293A"/>
          </a:solidFill>
          <a:ln/>
        </p:spPr>
      </p:sp>
      <p:sp>
        <p:nvSpPr>
          <p:cNvPr id="162" name="Text 160"/>
          <p:cNvSpPr txBox="1"/>
          <p:nvPr/>
        </p:nvSpPr>
        <p:spPr>
          <a:xfrm>
            <a:off x="7088429" y="6510528"/>
            <a:ext cx="468904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Source: Sysnet extract 19–25 Oct + MRR movement register (live, 26 Oct)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12293A"/>
          </a:solidFill>
          <a:ln/>
        </p:spPr>
      </p:sp>
      <p:sp>
        <p:nvSpPr>
          <p:cNvPr id="3" name="Shape 1"/>
          <p:cNvSpPr/>
          <p:nvPr/>
        </p:nvSpPr>
        <p:spPr>
          <a:xfrm>
            <a:off x="384048" y="155448"/>
            <a:ext cx="731520" cy="530352"/>
          </a:xfrm>
          <a:prstGeom prst="roundRect">
            <a:avLst>
              <a:gd name="adj" fmla="val 15517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84048" y="155448"/>
            <a:ext cx="731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H&amp;L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298448" y="54864"/>
            <a:ext cx="7223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AI-Infused Products — Pipeline</a:t>
            </a:r>
            <a:endParaRPr lang="en-US" sz="2300" dirty="0"/>
          </a:p>
        </p:txBody>
      </p:sp>
      <p:sp>
        <p:nvSpPr>
          <p:cNvPr id="6" name="Text 4"/>
          <p:cNvSpPr txBox="1"/>
          <p:nvPr/>
        </p:nvSpPr>
        <p:spPr>
          <a:xfrm>
            <a:off x="1316736" y="512064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FAEB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Sales &amp; Product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8686800" y="82296"/>
            <a:ext cx="1965960" cy="347472"/>
          </a:xfrm>
          <a:prstGeom prst="roundRect">
            <a:avLst>
              <a:gd name="adj" fmla="val 50000"/>
            </a:avLst>
          </a:prstGeom>
          <a:solidFill>
            <a:srgbClr val="2C8394"/>
          </a:solidFill>
          <a:ln w="9525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0" y="82296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  ·  DID WE SELL?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686800" y="484632"/>
            <a:ext cx="1965960" cy="310896"/>
          </a:xfrm>
          <a:prstGeom prst="roundRect">
            <a:avLst>
              <a:gd name="adj" fmla="val 50000"/>
            </a:avLst>
          </a:prstGeom>
          <a:solidFill>
            <a:srgbClr val="B4552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0" y="484632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CUTOVER · NOW HUBSPOT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10872216" y="0"/>
            <a:ext cx="841248" cy="841248"/>
          </a:xfrm>
          <a:prstGeom prst="ellipse">
            <a:avLst/>
          </a:prstGeom>
          <a:solidFill>
            <a:srgbClr val="1C5765"/>
          </a:solidFill>
          <a:ln/>
        </p:spPr>
      </p:sp>
      <p:sp>
        <p:nvSpPr>
          <p:cNvPr id="12" name="Shape 10"/>
          <p:cNvSpPr/>
          <p:nvPr/>
        </p:nvSpPr>
        <p:spPr>
          <a:xfrm>
            <a:off x="10968228" y="96012"/>
            <a:ext cx="649224" cy="649224"/>
          </a:xfrm>
          <a:prstGeom prst="ellipse">
            <a:avLst/>
          </a:prstGeom>
          <a:solidFill>
            <a:srgbClr val="2C8394"/>
          </a:solidFill>
          <a:ln/>
        </p:spPr>
      </p:sp>
      <p:sp>
        <p:nvSpPr>
          <p:cNvPr id="13" name="Shape 11"/>
          <p:cNvSpPr/>
          <p:nvPr/>
        </p:nvSpPr>
        <p:spPr>
          <a:xfrm>
            <a:off x="11064240" y="192024"/>
            <a:ext cx="457200" cy="457200"/>
          </a:xfrm>
          <a:prstGeom prst="ellipse">
            <a:avLst/>
          </a:prstGeom>
          <a:solidFill>
            <a:srgbClr val="6FAEBB"/>
          </a:solidFill>
          <a:ln/>
        </p:spPr>
      </p:sp>
      <p:sp>
        <p:nvSpPr>
          <p:cNvPr id="14" name="Shape 12"/>
          <p:cNvSpPr/>
          <p:nvPr/>
        </p:nvSpPr>
        <p:spPr>
          <a:xfrm>
            <a:off x="11160252" y="288036"/>
            <a:ext cx="265176" cy="265176"/>
          </a:xfrm>
          <a:prstGeom prst="ellipse">
            <a:avLst/>
          </a:prstGeom>
          <a:solidFill>
            <a:srgbClr val="E4F1F4"/>
          </a:solidFill>
          <a:ln/>
        </p:spPr>
      </p:sp>
      <p:sp>
        <p:nvSpPr>
          <p:cNvPr id="15" name="Shape 13"/>
          <p:cNvSpPr/>
          <p:nvPr/>
        </p:nvSpPr>
        <p:spPr>
          <a:xfrm>
            <a:off x="411480" y="987552"/>
            <a:ext cx="2697480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576072" y="1078992"/>
            <a:ext cx="2368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OPEN PIPELINE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557784" y="1261872"/>
            <a:ext cx="2404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US$2,081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576072" y="1609344"/>
            <a:ext cx="23682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A$2,922 · 32 deals not yet ordered</a:t>
            </a:r>
            <a:endParaRPr lang="en-US" sz="780" dirty="0"/>
          </a:p>
        </p:txBody>
      </p:sp>
      <p:sp>
        <p:nvSpPr>
          <p:cNvPr id="19" name="Shape 17"/>
          <p:cNvSpPr/>
          <p:nvPr/>
        </p:nvSpPr>
        <p:spPr>
          <a:xfrm>
            <a:off x="3291840" y="987552"/>
            <a:ext cx="2697480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3456432" y="1078992"/>
            <a:ext cx="2368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ORDER PLACED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3438144" y="1261872"/>
            <a:ext cx="2404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D8F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US$552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3456432" y="1609344"/>
            <a:ext cx="23682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A$775 · 11 deals since 1 Jul</a:t>
            </a:r>
            <a:endParaRPr lang="en-US" sz="780" dirty="0"/>
          </a:p>
        </p:txBody>
      </p:sp>
      <p:sp>
        <p:nvSpPr>
          <p:cNvPr id="23" name="Shape 21"/>
          <p:cNvSpPr/>
          <p:nvPr/>
        </p:nvSpPr>
        <p:spPr>
          <a:xfrm>
            <a:off x="6172200" y="987552"/>
            <a:ext cx="2697480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6336792" y="1078992"/>
            <a:ext cx="2368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CLOSED LOST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6318504" y="1261872"/>
            <a:ext cx="2404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455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US$360</a:t>
            </a:r>
            <a:endParaRPr lang="en-US" sz="2400" dirty="0"/>
          </a:p>
        </p:txBody>
      </p:sp>
      <p:sp>
        <p:nvSpPr>
          <p:cNvPr id="26" name="Text 24"/>
          <p:cNvSpPr txBox="1"/>
          <p:nvPr/>
        </p:nvSpPr>
        <p:spPr>
          <a:xfrm>
            <a:off x="6336792" y="1609344"/>
            <a:ext cx="23682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A$506 · 7 deals since 1 Jul</a:t>
            </a:r>
            <a:endParaRPr lang="en-US" sz="780" dirty="0"/>
          </a:p>
        </p:txBody>
      </p:sp>
      <p:sp>
        <p:nvSpPr>
          <p:cNvPr id="27" name="Shape 25"/>
          <p:cNvSpPr/>
          <p:nvPr/>
        </p:nvSpPr>
        <p:spPr>
          <a:xfrm>
            <a:off x="9052560" y="987552"/>
            <a:ext cx="2724912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9217152" y="1078992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CONVERSION — OF CLOSED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9198864" y="1261872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61%</a:t>
            </a:r>
            <a:endParaRPr lang="en-US" sz="2400" dirty="0"/>
          </a:p>
        </p:txBody>
      </p:sp>
      <p:sp>
        <p:nvSpPr>
          <p:cNvPr id="30" name="Text 28"/>
          <p:cNvSpPr txBox="1"/>
          <p:nvPr/>
        </p:nvSpPr>
        <p:spPr>
          <a:xfrm>
            <a:off x="9217152" y="1609344"/>
            <a:ext cx="2395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11 placed / 7 lost by count · 60% by value</a:t>
            </a:r>
            <a:endParaRPr lang="en-US" sz="780" dirty="0"/>
          </a:p>
        </p:txBody>
      </p:sp>
      <p:sp>
        <p:nvSpPr>
          <p:cNvPr id="31" name="Shape 29"/>
          <p:cNvSpPr/>
          <p:nvPr/>
        </p:nvSpPr>
        <p:spPr>
          <a:xfrm>
            <a:off x="411480" y="2212848"/>
            <a:ext cx="6858000" cy="32004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612648" y="2304288"/>
            <a:ext cx="6455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PIPELINE BY STAGE   </a:t>
            </a:r>
            <a:pPr indent="0" marL="0">
              <a:buNone/>
            </a:pPr>
            <a:r>
              <a:rPr lang="en-US" sz="68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converted at 0.7122 AUD→USD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667512" y="2633472"/>
            <a:ext cx="109728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Discovery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1828800" y="2734056"/>
            <a:ext cx="134308" cy="182880"/>
          </a:xfrm>
          <a:prstGeom prst="roundRect">
            <a:avLst>
              <a:gd name="adj" fmla="val 54466"/>
            </a:avLst>
          </a:prstGeom>
          <a:solidFill>
            <a:srgbClr val="2C8394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5669280" y="2633472"/>
            <a:ext cx="86868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US$41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6583680" y="2633472"/>
            <a:ext cx="658368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 deals</a:t>
            </a:r>
            <a:endParaRPr lang="en-US" sz="750" dirty="0"/>
          </a:p>
        </p:txBody>
      </p:sp>
      <p:sp>
        <p:nvSpPr>
          <p:cNvPr id="37" name="Text 35"/>
          <p:cNvSpPr txBox="1"/>
          <p:nvPr/>
        </p:nvSpPr>
        <p:spPr>
          <a:xfrm>
            <a:off x="667512" y="2923032"/>
            <a:ext cx="109728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Quote Sent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828800" y="3023616"/>
            <a:ext cx="3749040" cy="182880"/>
          </a:xfrm>
          <a:prstGeom prst="roundRect">
            <a:avLst>
              <a:gd name="adj" fmla="val 40000"/>
            </a:avLst>
          </a:prstGeom>
          <a:solidFill>
            <a:srgbClr val="2C8394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5669280" y="2923032"/>
            <a:ext cx="86868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US$1,153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6583680" y="2923032"/>
            <a:ext cx="658368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18 deals</a:t>
            </a:r>
            <a:endParaRPr lang="en-US" sz="750" dirty="0"/>
          </a:p>
        </p:txBody>
      </p:sp>
      <p:sp>
        <p:nvSpPr>
          <p:cNvPr id="41" name="Text 39"/>
          <p:cNvSpPr txBox="1"/>
          <p:nvPr/>
        </p:nvSpPr>
        <p:spPr>
          <a:xfrm>
            <a:off x="667512" y="3212592"/>
            <a:ext cx="109728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Negotiation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1828800" y="3313176"/>
            <a:ext cx="2811201" cy="182880"/>
          </a:xfrm>
          <a:prstGeom prst="roundRect">
            <a:avLst>
              <a:gd name="adj" fmla="val 40000"/>
            </a:avLst>
          </a:prstGeom>
          <a:solidFill>
            <a:srgbClr val="2C8394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5669280" y="3212592"/>
            <a:ext cx="86868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US$865</a:t>
            </a:r>
            <a:endParaRPr lang="en-US" sz="900" dirty="0"/>
          </a:p>
        </p:txBody>
      </p:sp>
      <p:sp>
        <p:nvSpPr>
          <p:cNvPr id="44" name="Text 42"/>
          <p:cNvSpPr txBox="1"/>
          <p:nvPr/>
        </p:nvSpPr>
        <p:spPr>
          <a:xfrm>
            <a:off x="6583680" y="3212592"/>
            <a:ext cx="658368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 deals</a:t>
            </a:r>
            <a:endParaRPr lang="en-US" sz="750" dirty="0"/>
          </a:p>
        </p:txBody>
      </p:sp>
      <p:sp>
        <p:nvSpPr>
          <p:cNvPr id="45" name="Text 43"/>
          <p:cNvSpPr txBox="1"/>
          <p:nvPr/>
        </p:nvSpPr>
        <p:spPr>
          <a:xfrm>
            <a:off x="667512" y="3502152"/>
            <a:ext cx="109728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Pending Finance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1828800" y="3602736"/>
            <a:ext cx="71785" cy="182880"/>
          </a:xfrm>
          <a:prstGeom prst="roundRect">
            <a:avLst>
              <a:gd name="adj" fmla="val 101904"/>
            </a:avLst>
          </a:prstGeom>
          <a:solidFill>
            <a:srgbClr val="2C8394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5669280" y="3502152"/>
            <a:ext cx="86868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US$22</a:t>
            </a:r>
            <a:endParaRPr lang="en-US" sz="900" dirty="0"/>
          </a:p>
        </p:txBody>
      </p:sp>
      <p:sp>
        <p:nvSpPr>
          <p:cNvPr id="48" name="Text 46"/>
          <p:cNvSpPr txBox="1"/>
          <p:nvPr/>
        </p:nvSpPr>
        <p:spPr>
          <a:xfrm>
            <a:off x="6583680" y="3502152"/>
            <a:ext cx="658368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 deal</a:t>
            </a:r>
            <a:endParaRPr lang="en-US" sz="750" dirty="0"/>
          </a:p>
        </p:txBody>
      </p:sp>
      <p:sp>
        <p:nvSpPr>
          <p:cNvPr id="49" name="Text 47"/>
          <p:cNvSpPr txBox="1"/>
          <p:nvPr/>
        </p:nvSpPr>
        <p:spPr>
          <a:xfrm>
            <a:off x="667512" y="3791712"/>
            <a:ext cx="109728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Order Placed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1828800" y="3892296"/>
            <a:ext cx="1794630" cy="182880"/>
          </a:xfrm>
          <a:prstGeom prst="roundRect">
            <a:avLst>
              <a:gd name="adj" fmla="val 40000"/>
            </a:avLst>
          </a:prstGeom>
          <a:solidFill>
            <a:srgbClr val="3D8F5F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5669280" y="3791712"/>
            <a:ext cx="86868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D8F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US$552</a:t>
            </a:r>
            <a:endParaRPr lang="en-US" sz="900" dirty="0"/>
          </a:p>
        </p:txBody>
      </p:sp>
      <p:sp>
        <p:nvSpPr>
          <p:cNvPr id="52" name="Text 50"/>
          <p:cNvSpPr txBox="1"/>
          <p:nvPr/>
        </p:nvSpPr>
        <p:spPr>
          <a:xfrm>
            <a:off x="6583680" y="3791712"/>
            <a:ext cx="658368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11 deals</a:t>
            </a:r>
            <a:endParaRPr lang="en-US" sz="750" dirty="0"/>
          </a:p>
        </p:txBody>
      </p:sp>
      <p:sp>
        <p:nvSpPr>
          <p:cNvPr id="53" name="Text 51"/>
          <p:cNvSpPr txBox="1"/>
          <p:nvPr/>
        </p:nvSpPr>
        <p:spPr>
          <a:xfrm>
            <a:off x="667512" y="4081272"/>
            <a:ext cx="109728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Closed Lost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1828800" y="4181856"/>
            <a:ext cx="1171720" cy="182880"/>
          </a:xfrm>
          <a:prstGeom prst="roundRect">
            <a:avLst>
              <a:gd name="adj" fmla="val 40000"/>
            </a:avLst>
          </a:prstGeom>
          <a:solidFill>
            <a:srgbClr val="B4552D"/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5669280" y="4081272"/>
            <a:ext cx="86868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455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US$360</a:t>
            </a:r>
            <a:endParaRPr lang="en-US" sz="900" dirty="0"/>
          </a:p>
        </p:txBody>
      </p:sp>
      <p:sp>
        <p:nvSpPr>
          <p:cNvPr id="56" name="Text 54"/>
          <p:cNvSpPr txBox="1"/>
          <p:nvPr/>
        </p:nvSpPr>
        <p:spPr>
          <a:xfrm>
            <a:off x="6583680" y="4081272"/>
            <a:ext cx="658368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 deals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667512" y="3768852"/>
            <a:ext cx="6345936" cy="12802"/>
          </a:xfrm>
          <a:prstGeom prst="rect">
            <a:avLst/>
          </a:prstGeom>
          <a:solidFill>
            <a:srgbClr val="3D8F5F"/>
          </a:solidFill>
          <a:ln/>
        </p:spPr>
      </p:sp>
      <p:sp>
        <p:nvSpPr>
          <p:cNvPr id="58" name="Text 56"/>
          <p:cNvSpPr txBox="1"/>
          <p:nvPr/>
        </p:nvSpPr>
        <p:spPr>
          <a:xfrm>
            <a:off x="3977640" y="3608832"/>
            <a:ext cx="1600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▲  NOT ORDER PLACED</a:t>
            </a:r>
            <a:endParaRPr lang="en-US" sz="600" dirty="0"/>
          </a:p>
        </p:txBody>
      </p:sp>
      <p:sp>
        <p:nvSpPr>
          <p:cNvPr id="59" name="Text 57"/>
          <p:cNvSpPr txBox="1"/>
          <p:nvPr/>
        </p:nvSpPr>
        <p:spPr>
          <a:xfrm>
            <a:off x="3977640" y="3819144"/>
            <a:ext cx="1600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b="1" dirty="0">
                <a:solidFill>
                  <a:srgbClr val="3D8F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▼  ORDER PLACED</a:t>
            </a:r>
            <a:endParaRPr lang="en-US" sz="600" dirty="0"/>
          </a:p>
        </p:txBody>
      </p:sp>
      <p:sp>
        <p:nvSpPr>
          <p:cNvPr id="60" name="Text 58"/>
          <p:cNvSpPr txBox="1"/>
          <p:nvPr/>
        </p:nvSpPr>
        <p:spPr>
          <a:xfrm>
            <a:off x="667512" y="451713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ORDER PLACED VS NOT — SHARE</a:t>
            </a:r>
            <a:endParaRPr lang="en-US" sz="800" dirty="0"/>
          </a:p>
        </p:txBody>
      </p:sp>
      <p:sp>
        <p:nvSpPr>
          <p:cNvPr id="61" name="Text 59"/>
          <p:cNvSpPr txBox="1"/>
          <p:nvPr/>
        </p:nvSpPr>
        <p:spPr>
          <a:xfrm>
            <a:off x="667512" y="475488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BY VALUE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1828800" y="4800600"/>
            <a:ext cx="876762" cy="164592"/>
          </a:xfrm>
          <a:prstGeom prst="rect">
            <a:avLst/>
          </a:prstGeom>
          <a:solidFill>
            <a:srgbClr val="3D8F5F"/>
          </a:solidFill>
          <a:ln/>
        </p:spPr>
      </p:sp>
      <p:sp>
        <p:nvSpPr>
          <p:cNvPr id="63" name="Text 61"/>
          <p:cNvSpPr txBox="1"/>
          <p:nvPr/>
        </p:nvSpPr>
        <p:spPr>
          <a:xfrm>
            <a:off x="1828800" y="4782312"/>
            <a:ext cx="87676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18%</a:t>
            </a:r>
            <a:endParaRPr lang="en-US" sz="650" dirty="0"/>
          </a:p>
        </p:txBody>
      </p:sp>
      <p:sp>
        <p:nvSpPr>
          <p:cNvPr id="64" name="Shape 62"/>
          <p:cNvSpPr/>
          <p:nvPr/>
        </p:nvSpPr>
        <p:spPr>
          <a:xfrm>
            <a:off x="2723850" y="4800600"/>
            <a:ext cx="3305677" cy="164592"/>
          </a:xfrm>
          <a:prstGeom prst="rect">
            <a:avLst/>
          </a:prstGeom>
          <a:solidFill>
            <a:srgbClr val="2C8394"/>
          </a:solidFill>
          <a:ln/>
        </p:spPr>
      </p:sp>
      <p:sp>
        <p:nvSpPr>
          <p:cNvPr id="65" name="Text 63"/>
          <p:cNvSpPr txBox="1"/>
          <p:nvPr/>
        </p:nvSpPr>
        <p:spPr>
          <a:xfrm>
            <a:off x="2723850" y="4782312"/>
            <a:ext cx="330567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70%</a:t>
            </a:r>
            <a:endParaRPr lang="en-US" sz="650" dirty="0"/>
          </a:p>
        </p:txBody>
      </p:sp>
      <p:sp>
        <p:nvSpPr>
          <p:cNvPr id="66" name="Shape 64"/>
          <p:cNvSpPr/>
          <p:nvPr/>
        </p:nvSpPr>
        <p:spPr>
          <a:xfrm>
            <a:off x="6047815" y="4800600"/>
            <a:ext cx="572441" cy="164592"/>
          </a:xfrm>
          <a:prstGeom prst="rect">
            <a:avLst/>
          </a:prstGeom>
          <a:solidFill>
            <a:srgbClr val="B4552D"/>
          </a:solidFill>
          <a:ln/>
        </p:spPr>
      </p:sp>
      <p:sp>
        <p:nvSpPr>
          <p:cNvPr id="67" name="Text 65"/>
          <p:cNvSpPr txBox="1"/>
          <p:nvPr/>
        </p:nvSpPr>
        <p:spPr>
          <a:xfrm>
            <a:off x="6047815" y="4782312"/>
            <a:ext cx="57244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12%</a:t>
            </a:r>
            <a:endParaRPr lang="en-US" sz="650" dirty="0"/>
          </a:p>
        </p:txBody>
      </p:sp>
      <p:sp>
        <p:nvSpPr>
          <p:cNvPr id="68" name="Text 66"/>
          <p:cNvSpPr txBox="1"/>
          <p:nvPr/>
        </p:nvSpPr>
        <p:spPr>
          <a:xfrm>
            <a:off x="667512" y="506577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BY DEALS</a:t>
            </a:r>
            <a:endParaRPr lang="en-US" sz="700" dirty="0"/>
          </a:p>
        </p:txBody>
      </p:sp>
      <p:sp>
        <p:nvSpPr>
          <p:cNvPr id="69" name="Shape 67"/>
          <p:cNvSpPr/>
          <p:nvPr/>
        </p:nvSpPr>
        <p:spPr>
          <a:xfrm>
            <a:off x="1828800" y="5111496"/>
            <a:ext cx="1046074" cy="164592"/>
          </a:xfrm>
          <a:prstGeom prst="rect">
            <a:avLst/>
          </a:prstGeom>
          <a:solidFill>
            <a:srgbClr val="3D8F5F"/>
          </a:solidFill>
          <a:ln/>
        </p:spPr>
      </p:sp>
      <p:sp>
        <p:nvSpPr>
          <p:cNvPr id="70" name="Text 68"/>
          <p:cNvSpPr txBox="1"/>
          <p:nvPr/>
        </p:nvSpPr>
        <p:spPr>
          <a:xfrm>
            <a:off x="1828800" y="5093208"/>
            <a:ext cx="104607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22%</a:t>
            </a:r>
            <a:endParaRPr lang="en-US" sz="650" dirty="0"/>
          </a:p>
        </p:txBody>
      </p:sp>
      <p:sp>
        <p:nvSpPr>
          <p:cNvPr id="71" name="Shape 69"/>
          <p:cNvSpPr/>
          <p:nvPr/>
        </p:nvSpPr>
        <p:spPr>
          <a:xfrm>
            <a:off x="2893162" y="5111496"/>
            <a:ext cx="3043123" cy="164592"/>
          </a:xfrm>
          <a:prstGeom prst="rect">
            <a:avLst/>
          </a:prstGeom>
          <a:solidFill>
            <a:srgbClr val="2C8394"/>
          </a:solidFill>
          <a:ln/>
        </p:spPr>
      </p:sp>
      <p:sp>
        <p:nvSpPr>
          <p:cNvPr id="72" name="Text 70"/>
          <p:cNvSpPr txBox="1"/>
          <p:nvPr/>
        </p:nvSpPr>
        <p:spPr>
          <a:xfrm>
            <a:off x="2893162" y="5093208"/>
            <a:ext cx="304312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64%</a:t>
            </a:r>
            <a:endParaRPr lang="en-US" sz="650" dirty="0"/>
          </a:p>
        </p:txBody>
      </p:sp>
      <p:sp>
        <p:nvSpPr>
          <p:cNvPr id="73" name="Shape 71"/>
          <p:cNvSpPr/>
          <p:nvPr/>
        </p:nvSpPr>
        <p:spPr>
          <a:xfrm>
            <a:off x="5954573" y="5111496"/>
            <a:ext cx="665683" cy="164592"/>
          </a:xfrm>
          <a:prstGeom prst="rect">
            <a:avLst/>
          </a:prstGeom>
          <a:solidFill>
            <a:srgbClr val="B4552D"/>
          </a:solidFill>
          <a:ln/>
        </p:spPr>
      </p:sp>
      <p:sp>
        <p:nvSpPr>
          <p:cNvPr id="74" name="Text 72"/>
          <p:cNvSpPr txBox="1"/>
          <p:nvPr/>
        </p:nvSpPr>
        <p:spPr>
          <a:xfrm>
            <a:off x="5954573" y="5093208"/>
            <a:ext cx="66568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14%</a:t>
            </a:r>
            <a:endParaRPr lang="en-US" sz="650" dirty="0"/>
          </a:p>
        </p:txBody>
      </p:sp>
      <p:sp>
        <p:nvSpPr>
          <p:cNvPr id="75" name="Shape 73"/>
          <p:cNvSpPr/>
          <p:nvPr/>
        </p:nvSpPr>
        <p:spPr>
          <a:xfrm>
            <a:off x="3657600" y="4562856"/>
            <a:ext cx="91440" cy="91440"/>
          </a:xfrm>
          <a:prstGeom prst="rect">
            <a:avLst/>
          </a:prstGeom>
          <a:solidFill>
            <a:srgbClr val="3D8F5F"/>
          </a:solidFill>
          <a:ln/>
        </p:spPr>
      </p:sp>
      <p:sp>
        <p:nvSpPr>
          <p:cNvPr id="76" name="Text 74"/>
          <p:cNvSpPr txBox="1"/>
          <p:nvPr/>
        </p:nvSpPr>
        <p:spPr>
          <a:xfrm>
            <a:off x="3785616" y="451713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Order placed</a:t>
            </a:r>
            <a:endParaRPr lang="en-US" sz="630" dirty="0"/>
          </a:p>
        </p:txBody>
      </p:sp>
      <p:sp>
        <p:nvSpPr>
          <p:cNvPr id="77" name="Shape 75"/>
          <p:cNvSpPr/>
          <p:nvPr/>
        </p:nvSpPr>
        <p:spPr>
          <a:xfrm>
            <a:off x="4754880" y="4562856"/>
            <a:ext cx="91440" cy="91440"/>
          </a:xfrm>
          <a:prstGeom prst="rect">
            <a:avLst/>
          </a:prstGeom>
          <a:solidFill>
            <a:srgbClr val="2C8394"/>
          </a:solidFill>
          <a:ln/>
        </p:spPr>
      </p:sp>
      <p:sp>
        <p:nvSpPr>
          <p:cNvPr id="78" name="Text 76"/>
          <p:cNvSpPr txBox="1"/>
          <p:nvPr/>
        </p:nvSpPr>
        <p:spPr>
          <a:xfrm>
            <a:off x="4882896" y="451713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Still open</a:t>
            </a:r>
            <a:endParaRPr lang="en-US" sz="630" dirty="0"/>
          </a:p>
        </p:txBody>
      </p:sp>
      <p:sp>
        <p:nvSpPr>
          <p:cNvPr id="79" name="Shape 77"/>
          <p:cNvSpPr/>
          <p:nvPr/>
        </p:nvSpPr>
        <p:spPr>
          <a:xfrm>
            <a:off x="5852160" y="4562856"/>
            <a:ext cx="91440" cy="91440"/>
          </a:xfrm>
          <a:prstGeom prst="rect">
            <a:avLst/>
          </a:prstGeom>
          <a:solidFill>
            <a:srgbClr val="B4552D"/>
          </a:solidFill>
          <a:ln/>
        </p:spPr>
      </p:sp>
      <p:sp>
        <p:nvSpPr>
          <p:cNvPr id="80" name="Text 78"/>
          <p:cNvSpPr txBox="1"/>
          <p:nvPr/>
        </p:nvSpPr>
        <p:spPr>
          <a:xfrm>
            <a:off x="5980176" y="451713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Closed lost</a:t>
            </a:r>
            <a:endParaRPr lang="en-US" sz="630" dirty="0"/>
          </a:p>
        </p:txBody>
      </p:sp>
      <p:sp>
        <p:nvSpPr>
          <p:cNvPr id="81" name="Shape 79"/>
          <p:cNvSpPr/>
          <p:nvPr/>
        </p:nvSpPr>
        <p:spPr>
          <a:xfrm>
            <a:off x="7452360" y="2212848"/>
            <a:ext cx="4325112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82" name="Text 80"/>
          <p:cNvSpPr txBox="1"/>
          <p:nvPr/>
        </p:nvSpPr>
        <p:spPr>
          <a:xfrm>
            <a:off x="7653528" y="232257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BY PRODUCT</a:t>
            </a:r>
            <a:endParaRPr lang="en-US" sz="1200" dirty="0"/>
          </a:p>
        </p:txBody>
      </p:sp>
      <p:sp>
        <p:nvSpPr>
          <p:cNvPr id="83" name="Text 81"/>
          <p:cNvSpPr txBox="1"/>
          <p:nvPr/>
        </p:nvSpPr>
        <p:spPr>
          <a:xfrm>
            <a:off x="7653528" y="2596896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PRODUCT</a:t>
            </a:r>
            <a:endParaRPr lang="en-US" sz="650" dirty="0"/>
          </a:p>
        </p:txBody>
      </p:sp>
      <p:sp>
        <p:nvSpPr>
          <p:cNvPr id="84" name="Text 82"/>
          <p:cNvSpPr txBox="1"/>
          <p:nvPr/>
        </p:nvSpPr>
        <p:spPr>
          <a:xfrm>
            <a:off x="9601200" y="2596896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OPEN</a:t>
            </a:r>
            <a:endParaRPr lang="en-US" sz="650" dirty="0"/>
          </a:p>
        </p:txBody>
      </p:sp>
      <p:sp>
        <p:nvSpPr>
          <p:cNvPr id="85" name="Text 83"/>
          <p:cNvSpPr txBox="1"/>
          <p:nvPr/>
        </p:nvSpPr>
        <p:spPr>
          <a:xfrm>
            <a:off x="10332720" y="2596896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PLACED</a:t>
            </a:r>
            <a:endParaRPr lang="en-US" sz="650" dirty="0"/>
          </a:p>
        </p:txBody>
      </p:sp>
      <p:sp>
        <p:nvSpPr>
          <p:cNvPr id="86" name="Text 84"/>
          <p:cNvSpPr txBox="1"/>
          <p:nvPr/>
        </p:nvSpPr>
        <p:spPr>
          <a:xfrm>
            <a:off x="11064240" y="2596896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LOST</a:t>
            </a:r>
            <a:endParaRPr lang="en-US" sz="650" dirty="0"/>
          </a:p>
        </p:txBody>
      </p:sp>
      <p:sp>
        <p:nvSpPr>
          <p:cNvPr id="87" name="Text 85"/>
          <p:cNvSpPr txBox="1"/>
          <p:nvPr/>
        </p:nvSpPr>
        <p:spPr>
          <a:xfrm>
            <a:off x="7653528" y="2798064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H&amp;L ROAM Monthly</a:t>
            </a:r>
            <a:endParaRPr lang="en-US" sz="750" dirty="0"/>
          </a:p>
        </p:txBody>
      </p:sp>
      <p:sp>
        <p:nvSpPr>
          <p:cNvPr id="88" name="Text 86"/>
          <p:cNvSpPr txBox="1"/>
          <p:nvPr/>
        </p:nvSpPr>
        <p:spPr>
          <a:xfrm>
            <a:off x="7653528" y="2935224"/>
            <a:ext cx="1920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3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$29–31/unit/mo · all the order volume</a:t>
            </a:r>
            <a:endParaRPr lang="en-US" sz="530" dirty="0"/>
          </a:p>
        </p:txBody>
      </p:sp>
      <p:sp>
        <p:nvSpPr>
          <p:cNvPr id="89" name="Text 87"/>
          <p:cNvSpPr txBox="1"/>
          <p:nvPr/>
        </p:nvSpPr>
        <p:spPr>
          <a:xfrm>
            <a:off x="9601200" y="279806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US$1,229</a:t>
            </a:r>
            <a:endParaRPr lang="en-US" sz="750" dirty="0"/>
          </a:p>
        </p:txBody>
      </p:sp>
      <p:sp>
        <p:nvSpPr>
          <p:cNvPr id="90" name="Text 88"/>
          <p:cNvSpPr txBox="1"/>
          <p:nvPr/>
        </p:nvSpPr>
        <p:spPr>
          <a:xfrm>
            <a:off x="10332720" y="279806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3D8F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US$552</a:t>
            </a:r>
            <a:endParaRPr lang="en-US" sz="750" dirty="0"/>
          </a:p>
        </p:txBody>
      </p:sp>
      <p:sp>
        <p:nvSpPr>
          <p:cNvPr id="91" name="Text 89"/>
          <p:cNvSpPr txBox="1"/>
          <p:nvPr/>
        </p:nvSpPr>
        <p:spPr>
          <a:xfrm>
            <a:off x="11064240" y="279806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B455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US$147</a:t>
            </a:r>
            <a:endParaRPr lang="en-US" sz="750" dirty="0"/>
          </a:p>
        </p:txBody>
      </p:sp>
      <p:sp>
        <p:nvSpPr>
          <p:cNvPr id="92" name="Text 90"/>
          <p:cNvSpPr txBox="1"/>
          <p:nvPr/>
        </p:nvSpPr>
        <p:spPr>
          <a:xfrm>
            <a:off x="7653528" y="3099816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Sentinel Reporting</a:t>
            </a:r>
            <a:endParaRPr lang="en-US" sz="750" dirty="0"/>
          </a:p>
        </p:txBody>
      </p:sp>
      <p:sp>
        <p:nvSpPr>
          <p:cNvPr id="93" name="Text 91"/>
          <p:cNvSpPr txBox="1"/>
          <p:nvPr/>
        </p:nvSpPr>
        <p:spPr>
          <a:xfrm>
            <a:off x="7653528" y="3236976"/>
            <a:ext cx="1920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3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$299/unit licence · still no orders</a:t>
            </a:r>
            <a:endParaRPr lang="en-US" sz="530" dirty="0"/>
          </a:p>
        </p:txBody>
      </p:sp>
      <p:sp>
        <p:nvSpPr>
          <p:cNvPr id="94" name="Text 92"/>
          <p:cNvSpPr txBox="1"/>
          <p:nvPr/>
        </p:nvSpPr>
        <p:spPr>
          <a:xfrm>
            <a:off x="9601200" y="3099816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US$852</a:t>
            </a:r>
            <a:endParaRPr lang="en-US" sz="750" dirty="0"/>
          </a:p>
        </p:txBody>
      </p:sp>
      <p:sp>
        <p:nvSpPr>
          <p:cNvPr id="95" name="Text 93"/>
          <p:cNvSpPr txBox="1"/>
          <p:nvPr/>
        </p:nvSpPr>
        <p:spPr>
          <a:xfrm>
            <a:off x="10332720" y="3099816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—</a:t>
            </a:r>
            <a:endParaRPr lang="en-US" sz="750" dirty="0"/>
          </a:p>
        </p:txBody>
      </p:sp>
      <p:sp>
        <p:nvSpPr>
          <p:cNvPr id="96" name="Text 94"/>
          <p:cNvSpPr txBox="1"/>
          <p:nvPr/>
        </p:nvSpPr>
        <p:spPr>
          <a:xfrm>
            <a:off x="11064240" y="309981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B455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US$213</a:t>
            </a:r>
            <a:endParaRPr lang="en-US" sz="750" dirty="0"/>
          </a:p>
        </p:txBody>
      </p:sp>
      <p:sp>
        <p:nvSpPr>
          <p:cNvPr id="97" name="Text 95"/>
          <p:cNvSpPr txBox="1"/>
          <p:nvPr/>
        </p:nvSpPr>
        <p:spPr>
          <a:xfrm>
            <a:off x="7653528" y="3401568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QR Ordering (OrderNow)</a:t>
            </a:r>
            <a:endParaRPr lang="en-US" sz="750" dirty="0"/>
          </a:p>
        </p:txBody>
      </p:sp>
      <p:sp>
        <p:nvSpPr>
          <p:cNvPr id="98" name="Text 96"/>
          <p:cNvSpPr txBox="1"/>
          <p:nvPr/>
        </p:nvSpPr>
        <p:spPr>
          <a:xfrm>
            <a:off x="7653528" y="3538728"/>
            <a:ext cx="1920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3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 lines on deals, every one priced $0</a:t>
            </a:r>
            <a:endParaRPr lang="en-US" sz="530" dirty="0"/>
          </a:p>
        </p:txBody>
      </p:sp>
      <p:sp>
        <p:nvSpPr>
          <p:cNvPr id="99" name="Text 97"/>
          <p:cNvSpPr txBox="1"/>
          <p:nvPr/>
        </p:nvSpPr>
        <p:spPr>
          <a:xfrm>
            <a:off x="9601200" y="340156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—</a:t>
            </a:r>
            <a:endParaRPr lang="en-US" sz="750" dirty="0"/>
          </a:p>
        </p:txBody>
      </p:sp>
      <p:sp>
        <p:nvSpPr>
          <p:cNvPr id="100" name="Text 98"/>
          <p:cNvSpPr txBox="1"/>
          <p:nvPr/>
        </p:nvSpPr>
        <p:spPr>
          <a:xfrm>
            <a:off x="10332720" y="340156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—</a:t>
            </a:r>
            <a:endParaRPr lang="en-US" sz="750" dirty="0"/>
          </a:p>
        </p:txBody>
      </p:sp>
      <p:sp>
        <p:nvSpPr>
          <p:cNvPr id="101" name="Text 99"/>
          <p:cNvSpPr txBox="1"/>
          <p:nvPr/>
        </p:nvSpPr>
        <p:spPr>
          <a:xfrm>
            <a:off x="11064240" y="340156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—</a:t>
            </a:r>
            <a:endParaRPr lang="en-US" sz="750" dirty="0"/>
          </a:p>
        </p:txBody>
      </p:sp>
      <p:sp>
        <p:nvSpPr>
          <p:cNvPr id="102" name="Text 100"/>
          <p:cNvSpPr txBox="1"/>
          <p:nvPr/>
        </p:nvSpPr>
        <p:spPr>
          <a:xfrm>
            <a:off x="7653528" y="370332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H&amp;L ROAM Annual</a:t>
            </a:r>
            <a:endParaRPr lang="en-US" sz="750" dirty="0"/>
          </a:p>
        </p:txBody>
      </p:sp>
      <p:sp>
        <p:nvSpPr>
          <p:cNvPr id="103" name="Text 101"/>
          <p:cNvSpPr txBox="1"/>
          <p:nvPr/>
        </p:nvSpPr>
        <p:spPr>
          <a:xfrm>
            <a:off x="7653528" y="3840480"/>
            <a:ext cx="1920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3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flagged but no line items anywhere</a:t>
            </a:r>
            <a:endParaRPr lang="en-US" sz="530" dirty="0"/>
          </a:p>
        </p:txBody>
      </p:sp>
      <p:sp>
        <p:nvSpPr>
          <p:cNvPr id="104" name="Text 102"/>
          <p:cNvSpPr txBox="1"/>
          <p:nvPr/>
        </p:nvSpPr>
        <p:spPr>
          <a:xfrm>
            <a:off x="9601200" y="3703320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—</a:t>
            </a:r>
            <a:endParaRPr lang="en-US" sz="750" dirty="0"/>
          </a:p>
        </p:txBody>
      </p:sp>
      <p:sp>
        <p:nvSpPr>
          <p:cNvPr id="105" name="Text 103"/>
          <p:cNvSpPr txBox="1"/>
          <p:nvPr/>
        </p:nvSpPr>
        <p:spPr>
          <a:xfrm>
            <a:off x="10332720" y="3703320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—</a:t>
            </a:r>
            <a:endParaRPr lang="en-US" sz="750" dirty="0"/>
          </a:p>
        </p:txBody>
      </p:sp>
      <p:sp>
        <p:nvSpPr>
          <p:cNvPr id="106" name="Text 104"/>
          <p:cNvSpPr txBox="1"/>
          <p:nvPr/>
        </p:nvSpPr>
        <p:spPr>
          <a:xfrm>
            <a:off x="11064240" y="37033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—</a:t>
            </a:r>
            <a:endParaRPr lang="en-US" sz="750" dirty="0"/>
          </a:p>
        </p:txBody>
      </p:sp>
      <p:sp>
        <p:nvSpPr>
          <p:cNvPr id="107" name="Shape 105"/>
          <p:cNvSpPr/>
          <p:nvPr/>
        </p:nvSpPr>
        <p:spPr>
          <a:xfrm>
            <a:off x="7452360" y="4169664"/>
            <a:ext cx="4325112" cy="1078992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108" name="Text 106"/>
          <p:cNvSpPr txBox="1"/>
          <p:nvPr/>
        </p:nvSpPr>
        <p:spPr>
          <a:xfrm>
            <a:off x="7653528" y="4242816"/>
            <a:ext cx="3922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ANNUALISED VIEW</a:t>
            </a:r>
            <a:endParaRPr lang="en-US" sz="900" dirty="0"/>
          </a:p>
        </p:txBody>
      </p:sp>
      <p:sp>
        <p:nvSpPr>
          <p:cNvPr id="109" name="Text 107"/>
          <p:cNvSpPr txBox="1"/>
          <p:nvPr/>
        </p:nvSpPr>
        <p:spPr>
          <a:xfrm>
            <a:off x="7653528" y="4462272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US$14,751</a:t>
            </a:r>
            <a:endParaRPr lang="en-US" sz="1800" dirty="0"/>
          </a:p>
        </p:txBody>
      </p:sp>
      <p:sp>
        <p:nvSpPr>
          <p:cNvPr id="110" name="Text 108"/>
          <p:cNvSpPr txBox="1"/>
          <p:nvPr/>
        </p:nvSpPr>
        <p:spPr>
          <a:xfrm>
            <a:off x="9326880" y="4443984"/>
            <a:ext cx="2221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open ROAM pipeline at ×12 (A$20,712) — the contract value behind the US$2,081 of monthly lines</a:t>
            </a:r>
            <a:endParaRPr lang="en-US" sz="700" dirty="0"/>
          </a:p>
        </p:txBody>
      </p:sp>
      <p:sp>
        <p:nvSpPr>
          <p:cNvPr id="111" name="Text 109"/>
          <p:cNvSpPr txBox="1"/>
          <p:nvPr/>
        </p:nvSpPr>
        <p:spPr>
          <a:xfrm>
            <a:off x="7653528" y="4901184"/>
            <a:ext cx="3922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8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AUD→USD 0.7122 (mid-market close 20 Sep 2026) — rate five weeks stale; HubSpot holds no USD field</a:t>
            </a:r>
            <a:endParaRPr lang="en-US" sz="580" dirty="0"/>
          </a:p>
        </p:txBody>
      </p:sp>
      <p:sp>
        <p:nvSpPr>
          <p:cNvPr id="112" name="Shape 110"/>
          <p:cNvSpPr/>
          <p:nvPr/>
        </p:nvSpPr>
        <p:spPr>
          <a:xfrm>
            <a:off x="411480" y="5413248"/>
            <a:ext cx="11365992" cy="1042416"/>
          </a:xfrm>
          <a:prstGeom prst="roundRect">
            <a:avLst>
              <a:gd name="adj" fmla="val 614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113" name="Text 111"/>
          <p:cNvSpPr txBox="1"/>
          <p:nvPr/>
        </p:nvSpPr>
        <p:spPr>
          <a:xfrm>
            <a:off x="612648" y="5522976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SUMMARY</a:t>
            </a:r>
            <a:endParaRPr lang="en-US" sz="1200" dirty="0"/>
          </a:p>
        </p:txBody>
      </p:sp>
      <p:sp>
        <p:nvSpPr>
          <p:cNvPr id="114" name="Text 112"/>
          <p:cNvSpPr txBox="1"/>
          <p:nvPr/>
        </p:nvSpPr>
        <p:spPr>
          <a:xfrm>
            <a:off x="612648" y="5833872"/>
            <a:ext cx="10954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3D8F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 </a:t>
            </a:r>
            <a:pPr indent="0" marL="0">
              <a:buNone/>
            </a:pPr>
            <a:r>
              <a:rPr lang="en-US" sz="90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Conversion is real but tiny. </a:t>
            </a:r>
            <a:pPr indent="0" marL="0">
              <a:spcAft>
                <a:spcPts val="800"/>
              </a:spcAft>
              <a:buNone/>
            </a:pPr>
            <a:r>
              <a:rPr lang="en-US" sz="900" dirty="0">
                <a:solidFill>
                  <a:srgbClr val="3A4B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11 orders placed since 1 Jul (US$552) against 7 lost — 61% by count, 60% by value. All of it is ROAM; Sentinel has US$852 in play and no order yet.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 </a:t>
            </a:r>
            <a:pPr indent="0" marL="0">
              <a:buNone/>
            </a:pPr>
            <a:r>
              <a:rPr lang="en-US" sz="90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book is stuck mid-funnel: </a:t>
            </a:r>
            <a:pPr indent="0" marL="0">
              <a:spcAft>
                <a:spcPts val="800"/>
              </a:spcAft>
              <a:buNone/>
            </a:pPr>
            <a:r>
              <a:rPr lang="en-US" sz="900" dirty="0">
                <a:solidFill>
                  <a:srgbClr val="3A4B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US$2,018 of the US$2,081 open sits in Quote Sent and Negotiation across 25 deals — the movement to chase is quote-to-order, not top-of-funnel.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 </a:t>
            </a:r>
            <a:pPr indent="0" marL="0">
              <a:spcAft>
                <a:spcPts val="800"/>
              </a:spcAft>
              <a:buNone/>
            </a:pPr>
            <a:r>
              <a:rPr lang="en-US" sz="90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Two ROAM orders placed this week (Dave &amp; Busters Perth, Prendiville Norfolk — A$124) · QR Ordering lines still all $0 · 28 ROAM lines (A$2,170) on no deal are excluded.</a:t>
            </a:r>
            <a:endParaRPr lang="en-US" sz="900" dirty="0"/>
          </a:p>
        </p:txBody>
      </p:sp>
      <p:sp>
        <p:nvSpPr>
          <p:cNvPr id="115" name="Shape 113"/>
          <p:cNvSpPr/>
          <p:nvPr/>
        </p:nvSpPr>
        <p:spPr>
          <a:xfrm>
            <a:off x="7585862" y="6510528"/>
            <a:ext cx="4191610" cy="256032"/>
          </a:xfrm>
          <a:prstGeom prst="roundRect">
            <a:avLst>
              <a:gd name="adj" fmla="val 46429"/>
            </a:avLst>
          </a:prstGeom>
          <a:solidFill>
            <a:srgbClr val="12293A"/>
          </a:solidFill>
          <a:ln/>
        </p:spPr>
      </p:sp>
      <p:sp>
        <p:nvSpPr>
          <p:cNvPr id="116" name="Text 114"/>
          <p:cNvSpPr txBox="1"/>
          <p:nvPr/>
        </p:nvSpPr>
        <p:spPr>
          <a:xfrm>
            <a:off x="7585862" y="6510528"/>
            <a:ext cx="419161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Source: HubSpot line items · products flagged ai_infused (live)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12293A"/>
          </a:solidFill>
          <a:ln/>
        </p:spPr>
      </p:sp>
      <p:sp>
        <p:nvSpPr>
          <p:cNvPr id="3" name="Shape 1"/>
          <p:cNvSpPr/>
          <p:nvPr/>
        </p:nvSpPr>
        <p:spPr>
          <a:xfrm>
            <a:off x="384048" y="155448"/>
            <a:ext cx="731520" cy="530352"/>
          </a:xfrm>
          <a:prstGeom prst="roundRect">
            <a:avLst>
              <a:gd name="adj" fmla="val 15517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84048" y="155448"/>
            <a:ext cx="731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H&amp;L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298448" y="54864"/>
            <a:ext cx="7223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H&amp;L Pay</a:t>
            </a:r>
            <a:endParaRPr lang="en-US" sz="2300" dirty="0"/>
          </a:p>
        </p:txBody>
      </p:sp>
      <p:sp>
        <p:nvSpPr>
          <p:cNvPr id="6" name="Text 4"/>
          <p:cNvSpPr txBox="1"/>
          <p:nvPr/>
        </p:nvSpPr>
        <p:spPr>
          <a:xfrm>
            <a:off x="1316736" y="512064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FAEB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Sales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8686800" y="246888"/>
            <a:ext cx="1965960" cy="347472"/>
          </a:xfrm>
          <a:prstGeom prst="roundRect">
            <a:avLst>
              <a:gd name="adj" fmla="val 50000"/>
            </a:avLst>
          </a:prstGeom>
          <a:solidFill>
            <a:srgbClr val="2C8394"/>
          </a:solidFill>
          <a:ln w="9525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0" y="24688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  ·  DID WE SELL?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0872216" y="0"/>
            <a:ext cx="841248" cy="841248"/>
          </a:xfrm>
          <a:prstGeom prst="ellipse">
            <a:avLst/>
          </a:prstGeom>
          <a:solidFill>
            <a:srgbClr val="1C5765"/>
          </a:solidFill>
          <a:ln/>
        </p:spPr>
      </p:sp>
      <p:sp>
        <p:nvSpPr>
          <p:cNvPr id="10" name="Shape 8"/>
          <p:cNvSpPr/>
          <p:nvPr/>
        </p:nvSpPr>
        <p:spPr>
          <a:xfrm>
            <a:off x="10968228" y="96012"/>
            <a:ext cx="649224" cy="649224"/>
          </a:xfrm>
          <a:prstGeom prst="ellipse">
            <a:avLst/>
          </a:prstGeom>
          <a:solidFill>
            <a:srgbClr val="2C8394"/>
          </a:solidFill>
          <a:ln/>
        </p:spPr>
      </p:sp>
      <p:sp>
        <p:nvSpPr>
          <p:cNvPr id="11" name="Shape 9"/>
          <p:cNvSpPr/>
          <p:nvPr/>
        </p:nvSpPr>
        <p:spPr>
          <a:xfrm>
            <a:off x="11064240" y="192024"/>
            <a:ext cx="457200" cy="457200"/>
          </a:xfrm>
          <a:prstGeom prst="ellipse">
            <a:avLst/>
          </a:prstGeom>
          <a:solidFill>
            <a:srgbClr val="6FAEBB"/>
          </a:solidFill>
          <a:ln/>
        </p:spPr>
      </p:sp>
      <p:sp>
        <p:nvSpPr>
          <p:cNvPr id="12" name="Shape 10"/>
          <p:cNvSpPr/>
          <p:nvPr/>
        </p:nvSpPr>
        <p:spPr>
          <a:xfrm>
            <a:off x="11160252" y="288036"/>
            <a:ext cx="265176" cy="265176"/>
          </a:xfrm>
          <a:prstGeom prst="ellipse">
            <a:avLst/>
          </a:prstGeom>
          <a:solidFill>
            <a:srgbClr val="E4F1F4"/>
          </a:solidFill>
          <a:ln/>
        </p:spPr>
      </p:sp>
      <p:sp>
        <p:nvSpPr>
          <p:cNvPr id="13" name="Shape 11"/>
          <p:cNvSpPr/>
          <p:nvPr/>
        </p:nvSpPr>
        <p:spPr>
          <a:xfrm>
            <a:off x="411480" y="969264"/>
            <a:ext cx="3749040" cy="102412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576072" y="1060704"/>
            <a:ext cx="3419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REFERRALS GIVEN — ALL-TIME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557784" y="1243584"/>
            <a:ext cx="3456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34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576072" y="1572768"/>
            <a:ext cx="3419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tagged referred deals in the partner pipeline</a:t>
            </a:r>
            <a:endParaRPr lang="en-US" sz="780" dirty="0"/>
          </a:p>
        </p:txBody>
      </p:sp>
      <p:sp>
        <p:nvSpPr>
          <p:cNvPr id="17" name="Text 15"/>
          <p:cNvSpPr txBox="1"/>
          <p:nvPr/>
        </p:nvSpPr>
        <p:spPr>
          <a:xfrm>
            <a:off x="2377440" y="1042416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C88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 this qtr · 11 last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4297680" y="969264"/>
            <a:ext cx="3749040" cy="102412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4462272" y="1060704"/>
            <a:ext cx="3419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REFERRED GMV — SIGNED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4443984" y="1243584"/>
            <a:ext cx="3456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$38M</a:t>
            </a:r>
            <a:endParaRPr lang="en-US" sz="2600" dirty="0"/>
          </a:p>
        </p:txBody>
      </p:sp>
      <p:sp>
        <p:nvSpPr>
          <p:cNvPr id="21" name="Text 19"/>
          <p:cNvSpPr txBox="1"/>
          <p:nvPr/>
        </p:nvSpPr>
        <p:spPr>
          <a:xfrm>
            <a:off x="4462272" y="1572768"/>
            <a:ext cx="3419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14 deals won · 2 venues live &amp; billing</a:t>
            </a:r>
            <a:endParaRPr lang="en-US" sz="780" dirty="0"/>
          </a:p>
        </p:txBody>
      </p:sp>
      <p:sp>
        <p:nvSpPr>
          <p:cNvPr id="22" name="Text 20"/>
          <p:cNvSpPr txBox="1"/>
          <p:nvPr/>
        </p:nvSpPr>
        <p:spPr>
          <a:xfrm>
            <a:off x="6263640" y="1042416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3D8F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39% of all wins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8183880" y="969264"/>
            <a:ext cx="3593592" cy="102412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8348472" y="1060704"/>
            <a:ext cx="3264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REFERRED — OPEN PIPELINE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8330184" y="1243584"/>
            <a:ext cx="3300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$245M</a:t>
            </a:r>
            <a:endParaRPr lang="en-US" sz="2600" dirty="0"/>
          </a:p>
        </p:txBody>
      </p:sp>
      <p:sp>
        <p:nvSpPr>
          <p:cNvPr id="26" name="Text 24"/>
          <p:cNvSpPr txBox="1"/>
          <p:nvPr/>
        </p:nvSpPr>
        <p:spPr>
          <a:xfrm>
            <a:off x="8348472" y="1572768"/>
            <a:ext cx="3264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19 referred deals in negotiation</a:t>
            </a:r>
            <a:endParaRPr lang="en-US" sz="780" dirty="0"/>
          </a:p>
        </p:txBody>
      </p:sp>
      <p:sp>
        <p:nvSpPr>
          <p:cNvPr id="27" name="Shape 25"/>
          <p:cNvSpPr/>
          <p:nvPr/>
        </p:nvSpPr>
        <p:spPr>
          <a:xfrm>
            <a:off x="411480" y="2139696"/>
            <a:ext cx="6949440" cy="3054096"/>
          </a:xfrm>
          <a:prstGeom prst="roundRect">
            <a:avLst>
              <a:gd name="adj" fmla="val 20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612648" y="2249424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IDENTIFIED BY H&amp;L → REFERRED → SIGNED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12648" y="2542032"/>
            <a:ext cx="1371600" cy="566928"/>
          </a:xfrm>
          <a:prstGeom prst="homePlate">
            <a:avLst/>
          </a:prstGeom>
          <a:solidFill>
            <a:srgbClr val="24435C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22376" y="2587752"/>
            <a:ext cx="9875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IDENTIFIED</a:t>
            </a:r>
            <a:endParaRPr lang="en-US" sz="550" dirty="0"/>
          </a:p>
        </p:txBody>
      </p:sp>
      <p:sp>
        <p:nvSpPr>
          <p:cNvPr id="31" name="Text 29"/>
          <p:cNvSpPr txBox="1"/>
          <p:nvPr/>
        </p:nvSpPr>
        <p:spPr>
          <a:xfrm>
            <a:off x="722376" y="2724912"/>
            <a:ext cx="987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34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649224" y="312724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5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32 unique venues · register</a:t>
            </a:r>
            <a:endParaRPr lang="en-US" sz="550" dirty="0"/>
          </a:p>
        </p:txBody>
      </p:sp>
      <p:sp>
        <p:nvSpPr>
          <p:cNvPr id="33" name="Shape 31"/>
          <p:cNvSpPr/>
          <p:nvPr/>
        </p:nvSpPr>
        <p:spPr>
          <a:xfrm>
            <a:off x="1874520" y="2542032"/>
            <a:ext cx="1371600" cy="566928"/>
          </a:xfrm>
          <a:prstGeom prst="chevron">
            <a:avLst/>
          </a:prstGeom>
          <a:solidFill>
            <a:srgbClr val="3A6472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2112264" y="2587752"/>
            <a:ext cx="9875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REFERRED</a:t>
            </a:r>
            <a:endParaRPr lang="en-US" sz="550" dirty="0"/>
          </a:p>
        </p:txBody>
      </p:sp>
      <p:sp>
        <p:nvSpPr>
          <p:cNvPr id="35" name="Text 33"/>
          <p:cNvSpPr txBox="1"/>
          <p:nvPr/>
        </p:nvSpPr>
        <p:spPr>
          <a:xfrm>
            <a:off x="2112264" y="2724912"/>
            <a:ext cx="987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34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2039112" y="312724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5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$285M GMV tagged</a:t>
            </a:r>
            <a:endParaRPr lang="en-US" sz="550" dirty="0"/>
          </a:p>
        </p:txBody>
      </p:sp>
      <p:sp>
        <p:nvSpPr>
          <p:cNvPr id="37" name="Shape 35"/>
          <p:cNvSpPr/>
          <p:nvPr/>
        </p:nvSpPr>
        <p:spPr>
          <a:xfrm>
            <a:off x="3136392" y="2542032"/>
            <a:ext cx="1371600" cy="566928"/>
          </a:xfrm>
          <a:prstGeom prst="chevron">
            <a:avLst/>
          </a:prstGeom>
          <a:solidFill>
            <a:srgbClr val="2C8394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3374136" y="2587752"/>
            <a:ext cx="9875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OPEN</a:t>
            </a:r>
            <a:endParaRPr lang="en-US" sz="550" dirty="0"/>
          </a:p>
        </p:txBody>
      </p:sp>
      <p:sp>
        <p:nvSpPr>
          <p:cNvPr id="39" name="Text 37"/>
          <p:cNvSpPr txBox="1"/>
          <p:nvPr/>
        </p:nvSpPr>
        <p:spPr>
          <a:xfrm>
            <a:off x="3374136" y="2724912"/>
            <a:ext cx="987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19</a:t>
            </a:r>
            <a:endParaRPr lang="en-US" sz="1600" dirty="0"/>
          </a:p>
        </p:txBody>
      </p:sp>
      <p:sp>
        <p:nvSpPr>
          <p:cNvPr id="40" name="Text 38"/>
          <p:cNvSpPr txBox="1"/>
          <p:nvPr/>
        </p:nvSpPr>
        <p:spPr>
          <a:xfrm>
            <a:off x="3300984" y="312724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5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$245M negotiating</a:t>
            </a:r>
            <a:endParaRPr lang="en-US" sz="550" dirty="0"/>
          </a:p>
        </p:txBody>
      </p:sp>
      <p:sp>
        <p:nvSpPr>
          <p:cNvPr id="41" name="Shape 39"/>
          <p:cNvSpPr/>
          <p:nvPr/>
        </p:nvSpPr>
        <p:spPr>
          <a:xfrm>
            <a:off x="4398264" y="2542032"/>
            <a:ext cx="1371600" cy="566928"/>
          </a:xfrm>
          <a:prstGeom prst="chevron">
            <a:avLst/>
          </a:prstGeom>
          <a:solidFill>
            <a:srgbClr val="3D8F5F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4636008" y="2587752"/>
            <a:ext cx="9875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WON</a:t>
            </a:r>
            <a:endParaRPr lang="en-US" sz="550" dirty="0"/>
          </a:p>
        </p:txBody>
      </p:sp>
      <p:sp>
        <p:nvSpPr>
          <p:cNvPr id="43" name="Text 41"/>
          <p:cNvSpPr txBox="1"/>
          <p:nvPr/>
        </p:nvSpPr>
        <p:spPr>
          <a:xfrm>
            <a:off x="4636008" y="2724912"/>
            <a:ext cx="987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14</a:t>
            </a:r>
            <a:endParaRPr lang="en-US" sz="1600" dirty="0"/>
          </a:p>
        </p:txBody>
      </p:sp>
      <p:sp>
        <p:nvSpPr>
          <p:cNvPr id="44" name="Text 42"/>
          <p:cNvSpPr txBox="1"/>
          <p:nvPr/>
        </p:nvSpPr>
        <p:spPr>
          <a:xfrm>
            <a:off x="4562856" y="312724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5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$38M signed</a:t>
            </a:r>
            <a:endParaRPr lang="en-US" sz="550" dirty="0"/>
          </a:p>
        </p:txBody>
      </p:sp>
      <p:sp>
        <p:nvSpPr>
          <p:cNvPr id="45" name="Shape 43"/>
          <p:cNvSpPr/>
          <p:nvPr/>
        </p:nvSpPr>
        <p:spPr>
          <a:xfrm>
            <a:off x="5660136" y="2542032"/>
            <a:ext cx="1371600" cy="566928"/>
          </a:xfrm>
          <a:prstGeom prst="chevron">
            <a:avLst/>
          </a:prstGeom>
          <a:solidFill>
            <a:srgbClr val="5B7C8A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5897880" y="2587752"/>
            <a:ext cx="9875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SHARE OF WINS</a:t>
            </a:r>
            <a:endParaRPr lang="en-US" sz="550" dirty="0"/>
          </a:p>
        </p:txBody>
      </p:sp>
      <p:sp>
        <p:nvSpPr>
          <p:cNvPr id="47" name="Text 45"/>
          <p:cNvSpPr txBox="1"/>
          <p:nvPr/>
        </p:nvSpPr>
        <p:spPr>
          <a:xfrm>
            <a:off x="5897880" y="2724912"/>
            <a:ext cx="987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39%</a:t>
            </a:r>
            <a:endParaRPr lang="en-US" sz="1600" dirty="0"/>
          </a:p>
        </p:txBody>
      </p:sp>
      <p:sp>
        <p:nvSpPr>
          <p:cNvPr id="48" name="Text 46"/>
          <p:cNvSpPr txBox="1"/>
          <p:nvPr/>
        </p:nvSpPr>
        <p:spPr>
          <a:xfrm>
            <a:off x="5824728" y="312724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5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of $98M signed</a:t>
            </a:r>
            <a:endParaRPr lang="en-US" sz="550" dirty="0"/>
          </a:p>
        </p:txBody>
      </p:sp>
      <p:sp>
        <p:nvSpPr>
          <p:cNvPr id="49" name="Text 47"/>
          <p:cNvSpPr txBox="1"/>
          <p:nvPr/>
        </p:nvSpPr>
        <p:spPr>
          <a:xfrm>
            <a:off x="612648" y="338328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REFERRAL FLOW — WHEN REFERRALS WERE GIVEN</a:t>
            </a:r>
            <a:endParaRPr lang="en-US" sz="850" dirty="0"/>
          </a:p>
        </p:txBody>
      </p:sp>
      <p:sp>
        <p:nvSpPr>
          <p:cNvPr id="50" name="Text 48"/>
          <p:cNvSpPr txBox="1"/>
          <p:nvPr/>
        </p:nvSpPr>
        <p:spPr>
          <a:xfrm>
            <a:off x="3886200" y="338328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bars = identified / referred per month · line = cumulative referred → 27 YTD</a:t>
            </a:r>
            <a:endParaRPr lang="en-US" sz="580" dirty="0"/>
          </a:p>
        </p:txBody>
      </p:sp>
      <p:graphicFrame>
        <p:nvGraphicFramePr>
          <p:cNvPr id="51" name="Chart 0" descr=""/>
          <p:cNvGraphicFramePr/>
          <p:nvPr/>
        </p:nvGraphicFramePr>
        <p:xfrm>
          <a:off x="576072" y="3584448"/>
          <a:ext cx="6565392" cy="138988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2" name="Shape 49"/>
          <p:cNvSpPr/>
          <p:nvPr/>
        </p:nvSpPr>
        <p:spPr>
          <a:xfrm>
            <a:off x="7498080" y="2139696"/>
            <a:ext cx="4279392" cy="3054096"/>
          </a:xfrm>
          <a:prstGeom prst="roundRect">
            <a:avLst>
              <a:gd name="adj" fmla="val 20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53" name="Text 50"/>
          <p:cNvSpPr txBox="1"/>
          <p:nvPr/>
        </p:nvSpPr>
        <p:spPr>
          <a:xfrm>
            <a:off x="7699248" y="224942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WHO IS GIVING THE REFERRALS</a:t>
            </a:r>
            <a:endParaRPr lang="en-US" sz="1200" dirty="0"/>
          </a:p>
        </p:txBody>
      </p:sp>
      <p:sp>
        <p:nvSpPr>
          <p:cNvPr id="54" name="Text 51"/>
          <p:cNvSpPr txBox="1"/>
          <p:nvPr/>
        </p:nvSpPr>
        <p:spPr>
          <a:xfrm>
            <a:off x="7699248" y="2542032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REFERRER</a:t>
            </a:r>
            <a:endParaRPr lang="en-US" sz="650" dirty="0"/>
          </a:p>
        </p:txBody>
      </p:sp>
      <p:sp>
        <p:nvSpPr>
          <p:cNvPr id="55" name="Text 52"/>
          <p:cNvSpPr txBox="1"/>
          <p:nvPr/>
        </p:nvSpPr>
        <p:spPr>
          <a:xfrm>
            <a:off x="9921240" y="254203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GIVEN</a:t>
            </a:r>
            <a:endParaRPr lang="en-US" sz="650" dirty="0"/>
          </a:p>
        </p:txBody>
      </p:sp>
      <p:sp>
        <p:nvSpPr>
          <p:cNvPr id="56" name="Text 53"/>
          <p:cNvSpPr txBox="1"/>
          <p:nvPr/>
        </p:nvSpPr>
        <p:spPr>
          <a:xfrm>
            <a:off x="10561320" y="254203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WON</a:t>
            </a:r>
            <a:endParaRPr lang="en-US" sz="650" dirty="0"/>
          </a:p>
        </p:txBody>
      </p:sp>
      <p:sp>
        <p:nvSpPr>
          <p:cNvPr id="57" name="Text 54"/>
          <p:cNvSpPr txBox="1"/>
          <p:nvPr/>
        </p:nvSpPr>
        <p:spPr>
          <a:xfrm>
            <a:off x="11155680" y="254203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GMV</a:t>
            </a:r>
            <a:endParaRPr lang="en-US" sz="650" dirty="0"/>
          </a:p>
        </p:txBody>
      </p:sp>
      <p:sp>
        <p:nvSpPr>
          <p:cNvPr id="58" name="Text 55"/>
          <p:cNvSpPr txBox="1"/>
          <p:nvPr/>
        </p:nvSpPr>
        <p:spPr>
          <a:xfrm>
            <a:off x="7699248" y="274320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Bjorn Magabo</a:t>
            </a:r>
            <a:endParaRPr lang="en-US" sz="850" dirty="0"/>
          </a:p>
        </p:txBody>
      </p:sp>
      <p:sp>
        <p:nvSpPr>
          <p:cNvPr id="59" name="Shape 56"/>
          <p:cNvSpPr/>
          <p:nvPr/>
        </p:nvSpPr>
        <p:spPr>
          <a:xfrm>
            <a:off x="7699248" y="2971800"/>
            <a:ext cx="2011680" cy="41148"/>
          </a:xfrm>
          <a:prstGeom prst="rect">
            <a:avLst/>
          </a:prstGeom>
          <a:solidFill>
            <a:srgbClr val="2C8394"/>
          </a:solidFill>
          <a:ln/>
        </p:spPr>
      </p:sp>
      <p:sp>
        <p:nvSpPr>
          <p:cNvPr id="60" name="Text 57"/>
          <p:cNvSpPr txBox="1"/>
          <p:nvPr/>
        </p:nvSpPr>
        <p:spPr>
          <a:xfrm>
            <a:off x="9921240" y="274320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11</a:t>
            </a:r>
            <a:endParaRPr lang="en-US" sz="850" dirty="0"/>
          </a:p>
        </p:txBody>
      </p:sp>
      <p:sp>
        <p:nvSpPr>
          <p:cNvPr id="61" name="Text 58"/>
          <p:cNvSpPr txBox="1"/>
          <p:nvPr/>
        </p:nvSpPr>
        <p:spPr>
          <a:xfrm>
            <a:off x="10561320" y="2743200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3D8F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</a:t>
            </a:r>
            <a:endParaRPr lang="en-US" sz="850" dirty="0"/>
          </a:p>
        </p:txBody>
      </p:sp>
      <p:sp>
        <p:nvSpPr>
          <p:cNvPr id="62" name="Text 59"/>
          <p:cNvSpPr txBox="1"/>
          <p:nvPr/>
        </p:nvSpPr>
        <p:spPr>
          <a:xfrm>
            <a:off x="11155680" y="274320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$65M</a:t>
            </a:r>
            <a:endParaRPr lang="en-US" sz="850" dirty="0"/>
          </a:p>
        </p:txBody>
      </p:sp>
      <p:sp>
        <p:nvSpPr>
          <p:cNvPr id="63" name="Text 60"/>
          <p:cNvSpPr txBox="1"/>
          <p:nvPr/>
        </p:nvSpPr>
        <p:spPr>
          <a:xfrm>
            <a:off x="7699248" y="310896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Bradford Young</a:t>
            </a:r>
            <a:endParaRPr lang="en-US" sz="850" dirty="0"/>
          </a:p>
        </p:txBody>
      </p:sp>
      <p:sp>
        <p:nvSpPr>
          <p:cNvPr id="64" name="Shape 61"/>
          <p:cNvSpPr/>
          <p:nvPr/>
        </p:nvSpPr>
        <p:spPr>
          <a:xfrm>
            <a:off x="7699248" y="3337560"/>
            <a:ext cx="1645920" cy="41148"/>
          </a:xfrm>
          <a:prstGeom prst="rect">
            <a:avLst/>
          </a:prstGeom>
          <a:solidFill>
            <a:srgbClr val="2C8394"/>
          </a:solidFill>
          <a:ln/>
        </p:spPr>
      </p:sp>
      <p:sp>
        <p:nvSpPr>
          <p:cNvPr id="65" name="Text 62"/>
          <p:cNvSpPr txBox="1"/>
          <p:nvPr/>
        </p:nvSpPr>
        <p:spPr>
          <a:xfrm>
            <a:off x="9921240" y="310896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</a:t>
            </a:r>
            <a:endParaRPr lang="en-US" sz="850" dirty="0"/>
          </a:p>
        </p:txBody>
      </p:sp>
      <p:sp>
        <p:nvSpPr>
          <p:cNvPr id="66" name="Text 63"/>
          <p:cNvSpPr txBox="1"/>
          <p:nvPr/>
        </p:nvSpPr>
        <p:spPr>
          <a:xfrm>
            <a:off x="10561320" y="3108960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3D8F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850" dirty="0"/>
          </a:p>
        </p:txBody>
      </p:sp>
      <p:sp>
        <p:nvSpPr>
          <p:cNvPr id="67" name="Text 64"/>
          <p:cNvSpPr txBox="1"/>
          <p:nvPr/>
        </p:nvSpPr>
        <p:spPr>
          <a:xfrm>
            <a:off x="11155680" y="310896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$31M</a:t>
            </a:r>
            <a:endParaRPr lang="en-US" sz="850" dirty="0"/>
          </a:p>
        </p:txBody>
      </p:sp>
      <p:sp>
        <p:nvSpPr>
          <p:cNvPr id="68" name="Text 65"/>
          <p:cNvSpPr txBox="1"/>
          <p:nvPr/>
        </p:nvSpPr>
        <p:spPr>
          <a:xfrm>
            <a:off x="7699248" y="347472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Brett Gorman</a:t>
            </a:r>
            <a:endParaRPr lang="en-US" sz="850" dirty="0"/>
          </a:p>
        </p:txBody>
      </p:sp>
      <p:sp>
        <p:nvSpPr>
          <p:cNvPr id="69" name="Shape 66"/>
          <p:cNvSpPr/>
          <p:nvPr/>
        </p:nvSpPr>
        <p:spPr>
          <a:xfrm>
            <a:off x="7699248" y="3703320"/>
            <a:ext cx="1097280" cy="41148"/>
          </a:xfrm>
          <a:prstGeom prst="rect">
            <a:avLst/>
          </a:prstGeom>
          <a:solidFill>
            <a:srgbClr val="2C8394"/>
          </a:solidFill>
          <a:ln/>
        </p:spPr>
      </p:sp>
      <p:sp>
        <p:nvSpPr>
          <p:cNvPr id="70" name="Text 67"/>
          <p:cNvSpPr txBox="1"/>
          <p:nvPr/>
        </p:nvSpPr>
        <p:spPr>
          <a:xfrm>
            <a:off x="9921240" y="347472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</a:t>
            </a:r>
            <a:endParaRPr lang="en-US" sz="850" dirty="0"/>
          </a:p>
        </p:txBody>
      </p:sp>
      <p:sp>
        <p:nvSpPr>
          <p:cNvPr id="71" name="Text 68"/>
          <p:cNvSpPr txBox="1"/>
          <p:nvPr/>
        </p:nvSpPr>
        <p:spPr>
          <a:xfrm>
            <a:off x="10561320" y="3474720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</a:t>
            </a:r>
            <a:endParaRPr lang="en-US" sz="850" dirty="0"/>
          </a:p>
        </p:txBody>
      </p:sp>
      <p:sp>
        <p:nvSpPr>
          <p:cNvPr id="72" name="Text 69"/>
          <p:cNvSpPr txBox="1"/>
          <p:nvPr/>
        </p:nvSpPr>
        <p:spPr>
          <a:xfrm>
            <a:off x="11155680" y="347472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$146M</a:t>
            </a:r>
            <a:endParaRPr lang="en-US" sz="850" dirty="0"/>
          </a:p>
        </p:txBody>
      </p:sp>
      <p:sp>
        <p:nvSpPr>
          <p:cNvPr id="73" name="Text 70"/>
          <p:cNvSpPr txBox="1"/>
          <p:nvPr/>
        </p:nvSpPr>
        <p:spPr>
          <a:xfrm>
            <a:off x="7699248" y="384048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Mick Teasdale</a:t>
            </a:r>
            <a:endParaRPr lang="en-US" sz="850" dirty="0"/>
          </a:p>
        </p:txBody>
      </p:sp>
      <p:sp>
        <p:nvSpPr>
          <p:cNvPr id="74" name="Shape 71"/>
          <p:cNvSpPr/>
          <p:nvPr/>
        </p:nvSpPr>
        <p:spPr>
          <a:xfrm>
            <a:off x="7699248" y="4069080"/>
            <a:ext cx="731520" cy="41148"/>
          </a:xfrm>
          <a:prstGeom prst="rect">
            <a:avLst/>
          </a:prstGeom>
          <a:solidFill>
            <a:srgbClr val="2C8394"/>
          </a:solidFill>
          <a:ln/>
        </p:spPr>
      </p:sp>
      <p:sp>
        <p:nvSpPr>
          <p:cNvPr id="75" name="Text 72"/>
          <p:cNvSpPr txBox="1"/>
          <p:nvPr/>
        </p:nvSpPr>
        <p:spPr>
          <a:xfrm>
            <a:off x="9921240" y="384048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850" dirty="0"/>
          </a:p>
        </p:txBody>
      </p:sp>
      <p:sp>
        <p:nvSpPr>
          <p:cNvPr id="76" name="Text 73"/>
          <p:cNvSpPr txBox="1"/>
          <p:nvPr/>
        </p:nvSpPr>
        <p:spPr>
          <a:xfrm>
            <a:off x="10561320" y="3840480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3D8F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850" dirty="0"/>
          </a:p>
        </p:txBody>
      </p:sp>
      <p:sp>
        <p:nvSpPr>
          <p:cNvPr id="77" name="Text 74"/>
          <p:cNvSpPr txBox="1"/>
          <p:nvPr/>
        </p:nvSpPr>
        <p:spPr>
          <a:xfrm>
            <a:off x="11155680" y="384048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$5M</a:t>
            </a:r>
            <a:endParaRPr lang="en-US" sz="850" dirty="0"/>
          </a:p>
        </p:txBody>
      </p:sp>
      <p:sp>
        <p:nvSpPr>
          <p:cNvPr id="78" name="Text 75"/>
          <p:cNvSpPr txBox="1"/>
          <p:nvPr/>
        </p:nvSpPr>
        <p:spPr>
          <a:xfrm>
            <a:off x="7699248" y="420624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Phuong Ho</a:t>
            </a:r>
            <a:endParaRPr lang="en-US" sz="850" dirty="0"/>
          </a:p>
        </p:txBody>
      </p:sp>
      <p:sp>
        <p:nvSpPr>
          <p:cNvPr id="79" name="Shape 76"/>
          <p:cNvSpPr/>
          <p:nvPr/>
        </p:nvSpPr>
        <p:spPr>
          <a:xfrm>
            <a:off x="7699248" y="4434840"/>
            <a:ext cx="548640" cy="41148"/>
          </a:xfrm>
          <a:prstGeom prst="rect">
            <a:avLst/>
          </a:prstGeom>
          <a:solidFill>
            <a:srgbClr val="2C8394"/>
          </a:solidFill>
          <a:ln/>
        </p:spPr>
      </p:sp>
      <p:sp>
        <p:nvSpPr>
          <p:cNvPr id="80" name="Text 77"/>
          <p:cNvSpPr txBox="1"/>
          <p:nvPr/>
        </p:nvSpPr>
        <p:spPr>
          <a:xfrm>
            <a:off x="9921240" y="42062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850" dirty="0"/>
          </a:p>
        </p:txBody>
      </p:sp>
      <p:sp>
        <p:nvSpPr>
          <p:cNvPr id="81" name="Text 78"/>
          <p:cNvSpPr txBox="1"/>
          <p:nvPr/>
        </p:nvSpPr>
        <p:spPr>
          <a:xfrm>
            <a:off x="10561320" y="4206240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3D8F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850" dirty="0"/>
          </a:p>
        </p:txBody>
      </p:sp>
      <p:sp>
        <p:nvSpPr>
          <p:cNvPr id="82" name="Text 79"/>
          <p:cNvSpPr txBox="1"/>
          <p:nvPr/>
        </p:nvSpPr>
        <p:spPr>
          <a:xfrm>
            <a:off x="11155680" y="420624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$23M</a:t>
            </a:r>
            <a:endParaRPr lang="en-US" sz="850" dirty="0"/>
          </a:p>
        </p:txBody>
      </p:sp>
      <p:sp>
        <p:nvSpPr>
          <p:cNvPr id="83" name="Text 80"/>
          <p:cNvSpPr txBox="1"/>
          <p:nvPr/>
        </p:nvSpPr>
        <p:spPr>
          <a:xfrm>
            <a:off x="7699248" y="457200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Unattributed</a:t>
            </a:r>
            <a:endParaRPr lang="en-US" sz="850" dirty="0"/>
          </a:p>
        </p:txBody>
      </p:sp>
      <p:sp>
        <p:nvSpPr>
          <p:cNvPr id="84" name="Shape 81"/>
          <p:cNvSpPr/>
          <p:nvPr/>
        </p:nvSpPr>
        <p:spPr>
          <a:xfrm>
            <a:off x="7699248" y="4800600"/>
            <a:ext cx="182880" cy="41148"/>
          </a:xfrm>
          <a:prstGeom prst="rect">
            <a:avLst/>
          </a:prstGeom>
          <a:solidFill>
            <a:srgbClr val="2C8394"/>
          </a:solidFill>
          <a:ln/>
        </p:spPr>
      </p:sp>
      <p:sp>
        <p:nvSpPr>
          <p:cNvPr id="85" name="Text 82"/>
          <p:cNvSpPr txBox="1"/>
          <p:nvPr/>
        </p:nvSpPr>
        <p:spPr>
          <a:xfrm>
            <a:off x="9921240" y="457200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850" dirty="0"/>
          </a:p>
        </p:txBody>
      </p:sp>
      <p:sp>
        <p:nvSpPr>
          <p:cNvPr id="86" name="Text 83"/>
          <p:cNvSpPr txBox="1"/>
          <p:nvPr/>
        </p:nvSpPr>
        <p:spPr>
          <a:xfrm>
            <a:off x="10561320" y="4572000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</a:t>
            </a:r>
            <a:endParaRPr lang="en-US" sz="850" dirty="0"/>
          </a:p>
        </p:txBody>
      </p:sp>
      <p:sp>
        <p:nvSpPr>
          <p:cNvPr id="87" name="Text 84"/>
          <p:cNvSpPr txBox="1"/>
          <p:nvPr/>
        </p:nvSpPr>
        <p:spPr>
          <a:xfrm>
            <a:off x="11155680" y="457200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$15M</a:t>
            </a:r>
            <a:endParaRPr lang="en-US" sz="850" dirty="0"/>
          </a:p>
        </p:txBody>
      </p:sp>
      <p:sp>
        <p:nvSpPr>
          <p:cNvPr id="88" name="Text 85"/>
          <p:cNvSpPr txBox="1"/>
          <p:nvPr/>
        </p:nvSpPr>
        <p:spPr>
          <a:xfrm>
            <a:off x="7699248" y="4956048"/>
            <a:ext cx="3877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8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 deals untagged — referral figures are a floor. Referrer = Account Manager on the deal. The 26 Oct identification register is unchanged — 34 identified, 10 referred; won and GMV figures are held at the 19 Oct ValPay export.</a:t>
            </a:r>
            <a:endParaRPr lang="en-US" sz="580" dirty="0"/>
          </a:p>
        </p:txBody>
      </p:sp>
      <p:sp>
        <p:nvSpPr>
          <p:cNvPr id="89" name="Shape 86"/>
          <p:cNvSpPr/>
          <p:nvPr/>
        </p:nvSpPr>
        <p:spPr>
          <a:xfrm>
            <a:off x="411480" y="5285232"/>
            <a:ext cx="11365992" cy="1133856"/>
          </a:xfrm>
          <a:prstGeom prst="roundRect">
            <a:avLst>
              <a:gd name="adj" fmla="val 56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90" name="Text 87"/>
          <p:cNvSpPr txBox="1"/>
          <p:nvPr/>
        </p:nvSpPr>
        <p:spPr>
          <a:xfrm>
            <a:off x="612648" y="5394960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SUMMARY</a:t>
            </a:r>
            <a:endParaRPr lang="en-US" sz="1200" dirty="0"/>
          </a:p>
        </p:txBody>
      </p:sp>
      <p:sp>
        <p:nvSpPr>
          <p:cNvPr id="91" name="Text 88"/>
          <p:cNvSpPr txBox="1"/>
          <p:nvPr/>
        </p:nvSpPr>
        <p:spPr>
          <a:xfrm>
            <a:off x="612648" y="5705856"/>
            <a:ext cx="1095451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B455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 </a:t>
            </a:r>
            <a:pPr indent="0" marL="0">
              <a:buNone/>
            </a:pPr>
            <a:r>
              <a:rPr lang="en-US" sz="90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Our referrals convert: </a:t>
            </a:r>
            <a:pPr indent="0" marL="0">
              <a:spcAft>
                <a:spcPts val="800"/>
              </a:spcAft>
              <a:buNone/>
            </a:pPr>
            <a:r>
              <a:rPr lang="en-US" sz="900" dirty="0">
                <a:solidFill>
                  <a:srgbClr val="3A4B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34 referred deals have produced 14 wins worth $38M GMV — 39% of everything H&amp;L Pay has signed — with $245M more in negotiation. Flow: 6 (Jun) → 2 (Jul) → 5 (Aug), 27 YTD.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 </a:t>
            </a:r>
            <a:pPr indent="0" marL="0">
              <a:buNone/>
            </a:pPr>
            <a:r>
              <a:rPr lang="en-US" sz="90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Identification is now tracked ahead of referral: </a:t>
            </a:r>
            <a:pPr indent="0" marL="0">
              <a:spcAft>
                <a:spcPts val="800"/>
              </a:spcAft>
              <a:buNone/>
            </a:pPr>
            <a:r>
              <a:rPr lang="en-US" sz="900" dirty="0">
                <a:solidFill>
                  <a:srgbClr val="3A4B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34 accounts flagged (32 unique venues) but only 10 carry a referral date — converting identified into referred is the gap. Ho (13) and Bradford (11) identify; Bjorn has flagged 4 and referred none.</a:t>
            </a:r>
            <a:endParaRPr lang="en-US" sz="900" dirty="0"/>
          </a:p>
        </p:txBody>
      </p:sp>
      <p:sp>
        <p:nvSpPr>
          <p:cNvPr id="92" name="Shape 89"/>
          <p:cNvSpPr/>
          <p:nvPr/>
        </p:nvSpPr>
        <p:spPr>
          <a:xfrm>
            <a:off x="7461504" y="6510528"/>
            <a:ext cx="4315968" cy="256032"/>
          </a:xfrm>
          <a:prstGeom prst="roundRect">
            <a:avLst>
              <a:gd name="adj" fmla="val 46429"/>
            </a:avLst>
          </a:prstGeom>
          <a:solidFill>
            <a:srgbClr val="12293A"/>
          </a:solidFill>
          <a:ln/>
        </p:spPr>
      </p:sp>
      <p:sp>
        <p:nvSpPr>
          <p:cNvPr id="93" name="Text 90"/>
          <p:cNvSpPr txBox="1"/>
          <p:nvPr/>
        </p:nvSpPr>
        <p:spPr>
          <a:xfrm>
            <a:off x="7461504" y="6510528"/>
            <a:ext cx="4315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Source: Identification register (26 Oct) + ValPay export (19 Oct)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12293A"/>
          </a:solidFill>
          <a:ln/>
        </p:spPr>
      </p:sp>
      <p:sp>
        <p:nvSpPr>
          <p:cNvPr id="3" name="Shape 1"/>
          <p:cNvSpPr/>
          <p:nvPr/>
        </p:nvSpPr>
        <p:spPr>
          <a:xfrm>
            <a:off x="384048" y="155448"/>
            <a:ext cx="731520" cy="530352"/>
          </a:xfrm>
          <a:prstGeom prst="roundRect">
            <a:avLst>
              <a:gd name="adj" fmla="val 15517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84048" y="155448"/>
            <a:ext cx="731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H&amp;L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298448" y="54864"/>
            <a:ext cx="7223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Utilisation &amp; Delivery Hours</a:t>
            </a:r>
            <a:endParaRPr lang="en-US" sz="2300" dirty="0"/>
          </a:p>
        </p:txBody>
      </p:sp>
      <p:sp>
        <p:nvSpPr>
          <p:cNvPr id="6" name="Text 4"/>
          <p:cNvSpPr txBox="1"/>
          <p:nvPr/>
        </p:nvSpPr>
        <p:spPr>
          <a:xfrm>
            <a:off x="1316736" y="512064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FAEB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Professional Services &amp; Finance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8686800" y="246888"/>
            <a:ext cx="1965960" cy="347472"/>
          </a:xfrm>
          <a:prstGeom prst="roundRect">
            <a:avLst>
              <a:gd name="adj" fmla="val 50000"/>
            </a:avLst>
          </a:prstGeom>
          <a:solidFill>
            <a:srgbClr val="3D8F5F"/>
          </a:solidFill>
          <a:ln w="9525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0" y="24688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 ·  DID WE DELIVER?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0872216" y="0"/>
            <a:ext cx="841248" cy="841248"/>
          </a:xfrm>
          <a:prstGeom prst="ellipse">
            <a:avLst/>
          </a:prstGeom>
          <a:solidFill>
            <a:srgbClr val="1C5765"/>
          </a:solidFill>
          <a:ln/>
        </p:spPr>
      </p:sp>
      <p:sp>
        <p:nvSpPr>
          <p:cNvPr id="10" name="Shape 8"/>
          <p:cNvSpPr/>
          <p:nvPr/>
        </p:nvSpPr>
        <p:spPr>
          <a:xfrm>
            <a:off x="10968228" y="96012"/>
            <a:ext cx="649224" cy="649224"/>
          </a:xfrm>
          <a:prstGeom prst="ellipse">
            <a:avLst/>
          </a:prstGeom>
          <a:solidFill>
            <a:srgbClr val="2C8394"/>
          </a:solidFill>
          <a:ln/>
        </p:spPr>
      </p:sp>
      <p:sp>
        <p:nvSpPr>
          <p:cNvPr id="11" name="Shape 9"/>
          <p:cNvSpPr/>
          <p:nvPr/>
        </p:nvSpPr>
        <p:spPr>
          <a:xfrm>
            <a:off x="11064240" y="192024"/>
            <a:ext cx="457200" cy="457200"/>
          </a:xfrm>
          <a:prstGeom prst="ellipse">
            <a:avLst/>
          </a:prstGeom>
          <a:solidFill>
            <a:srgbClr val="6FAEBB"/>
          </a:solidFill>
          <a:ln/>
        </p:spPr>
      </p:sp>
      <p:sp>
        <p:nvSpPr>
          <p:cNvPr id="12" name="Shape 10"/>
          <p:cNvSpPr/>
          <p:nvPr/>
        </p:nvSpPr>
        <p:spPr>
          <a:xfrm>
            <a:off x="11160252" y="288036"/>
            <a:ext cx="265176" cy="265176"/>
          </a:xfrm>
          <a:prstGeom prst="ellipse">
            <a:avLst/>
          </a:prstGeom>
          <a:solidFill>
            <a:srgbClr val="E4F1F4"/>
          </a:solidFill>
          <a:ln/>
        </p:spPr>
      </p:sp>
      <p:sp>
        <p:nvSpPr>
          <p:cNvPr id="13" name="Shape 11"/>
          <p:cNvSpPr/>
          <p:nvPr/>
        </p:nvSpPr>
        <p:spPr>
          <a:xfrm>
            <a:off x="2282952" y="941832"/>
            <a:ext cx="5705856" cy="1005840"/>
          </a:xfrm>
          <a:prstGeom prst="roundRect">
            <a:avLst>
              <a:gd name="adj" fmla="val 8182"/>
            </a:avLst>
          </a:prstGeom>
          <a:solidFill>
            <a:srgbClr val="E4F1F4"/>
          </a:solidFill>
          <a:ln w="9525">
            <a:solidFill>
              <a:srgbClr val="6FAEB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987552"/>
            <a:ext cx="1780032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1097280"/>
            <a:ext cx="274320" cy="41148"/>
          </a:xfrm>
          <a:prstGeom prst="rect">
            <a:avLst/>
          </a:prstGeom>
          <a:solidFill>
            <a:srgbClr val="1B8DA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1152144"/>
            <a:ext cx="1551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TOTAL HOURS LOGGED</a:t>
            </a:r>
            <a:endParaRPr lang="en-US" sz="700" dirty="0"/>
          </a:p>
        </p:txBody>
      </p:sp>
      <p:sp>
        <p:nvSpPr>
          <p:cNvPr id="17" name="Text 15"/>
          <p:cNvSpPr txBox="1"/>
          <p:nvPr/>
        </p:nvSpPr>
        <p:spPr>
          <a:xfrm>
            <a:off x="530352" y="1353312"/>
            <a:ext cx="15788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11.5h</a:t>
            </a:r>
            <a:pPr indent="0" marL="0">
              <a:buNone/>
            </a:pPr>
            <a:r>
              <a:rPr lang="en-US" sz="900" b="1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of 311.6h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1682496"/>
            <a:ext cx="1551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B455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▼ from 51.0h last week</a:t>
            </a:r>
            <a:endParaRPr lang="en-US" sz="650" dirty="0"/>
          </a:p>
        </p:txBody>
      </p:sp>
      <p:sp>
        <p:nvSpPr>
          <p:cNvPr id="19" name="Shape 17"/>
          <p:cNvSpPr/>
          <p:nvPr/>
        </p:nvSpPr>
        <p:spPr>
          <a:xfrm>
            <a:off x="2328672" y="987552"/>
            <a:ext cx="1780032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465832" y="1097280"/>
            <a:ext cx="274320" cy="41148"/>
          </a:xfrm>
          <a:prstGeom prst="rect">
            <a:avLst/>
          </a:prstGeom>
          <a:solidFill>
            <a:srgbClr val="1B8DA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2465832" y="1152144"/>
            <a:ext cx="1551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BILLABLE UTILISATION</a:t>
            </a:r>
            <a:endParaRPr lang="en-US" sz="700" dirty="0"/>
          </a:p>
        </p:txBody>
      </p:sp>
      <p:sp>
        <p:nvSpPr>
          <p:cNvPr id="22" name="Text 20"/>
          <p:cNvSpPr txBox="1"/>
          <p:nvPr/>
        </p:nvSpPr>
        <p:spPr>
          <a:xfrm>
            <a:off x="2447544" y="1353312"/>
            <a:ext cx="15788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3.7%</a:t>
            </a:r>
            <a:pPr indent="0" marL="0">
              <a:buNone/>
            </a:pPr>
            <a:r>
              <a:rPr lang="en-US" sz="900" b="1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target 50%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2465832" y="1682496"/>
            <a:ext cx="1551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B455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▼ from 16.8% last week</a:t>
            </a:r>
            <a:endParaRPr lang="en-US" sz="650" dirty="0"/>
          </a:p>
        </p:txBody>
      </p:sp>
      <p:sp>
        <p:nvSpPr>
          <p:cNvPr id="24" name="Shape 22"/>
          <p:cNvSpPr/>
          <p:nvPr/>
        </p:nvSpPr>
        <p:spPr>
          <a:xfrm>
            <a:off x="4245864" y="987552"/>
            <a:ext cx="1780032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383024" y="1097280"/>
            <a:ext cx="274320" cy="41148"/>
          </a:xfrm>
          <a:prstGeom prst="rect">
            <a:avLst/>
          </a:prstGeom>
          <a:solidFill>
            <a:srgbClr val="6FAEBB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383024" y="1152144"/>
            <a:ext cx="1551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BILLABLE · CHARGEABLE</a:t>
            </a:r>
            <a:endParaRPr lang="en-US" sz="700" dirty="0"/>
          </a:p>
        </p:txBody>
      </p:sp>
      <p:sp>
        <p:nvSpPr>
          <p:cNvPr id="27" name="Text 25"/>
          <p:cNvSpPr txBox="1"/>
          <p:nvPr/>
        </p:nvSpPr>
        <p:spPr>
          <a:xfrm>
            <a:off x="4364736" y="1353312"/>
            <a:ext cx="15788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10.5h</a:t>
            </a:r>
            <a:pPr indent="0" marL="0">
              <a:buNone/>
            </a:pPr>
            <a:r>
              <a:rPr lang="en-US" sz="700" b="1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91% of billable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4383024" y="1682496"/>
            <a:ext cx="1551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B455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▼ from 50.0h (98%) last week</a:t>
            </a:r>
            <a:endParaRPr lang="en-US" sz="650" dirty="0"/>
          </a:p>
        </p:txBody>
      </p:sp>
      <p:sp>
        <p:nvSpPr>
          <p:cNvPr id="29" name="Shape 27"/>
          <p:cNvSpPr/>
          <p:nvPr/>
        </p:nvSpPr>
        <p:spPr>
          <a:xfrm>
            <a:off x="6163056" y="987552"/>
            <a:ext cx="1780032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300216" y="1097280"/>
            <a:ext cx="274320" cy="41148"/>
          </a:xfrm>
          <a:prstGeom prst="rect">
            <a:avLst/>
          </a:prstGeom>
          <a:solidFill>
            <a:srgbClr val="6FAEBB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300216" y="1152144"/>
            <a:ext cx="1551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BILLABLE · NON-CHARGEABLE</a:t>
            </a:r>
            <a:endParaRPr lang="en-US" sz="700" dirty="0"/>
          </a:p>
        </p:txBody>
      </p:sp>
      <p:sp>
        <p:nvSpPr>
          <p:cNvPr id="32" name="Text 30"/>
          <p:cNvSpPr txBox="1"/>
          <p:nvPr/>
        </p:nvSpPr>
        <p:spPr>
          <a:xfrm>
            <a:off x="6281928" y="1353312"/>
            <a:ext cx="15788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1.0h</a:t>
            </a:r>
            <a:pPr indent="0" marL="0">
              <a:buNone/>
            </a:pPr>
            <a:r>
              <a:rPr lang="en-US" sz="700" b="1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9% of billable</a:t>
            </a:r>
            <a:endParaRPr lang="en-US" sz="2000" dirty="0"/>
          </a:p>
        </p:txBody>
      </p:sp>
      <p:sp>
        <p:nvSpPr>
          <p:cNvPr id="33" name="Text 31"/>
          <p:cNvSpPr txBox="1"/>
          <p:nvPr/>
        </p:nvSpPr>
        <p:spPr>
          <a:xfrm>
            <a:off x="6300216" y="1682496"/>
            <a:ext cx="1551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— from 1.0h (2%) last week</a:t>
            </a:r>
            <a:endParaRPr lang="en-US" sz="650" dirty="0"/>
          </a:p>
        </p:txBody>
      </p:sp>
      <p:sp>
        <p:nvSpPr>
          <p:cNvPr id="34" name="Shape 32"/>
          <p:cNvSpPr/>
          <p:nvPr/>
        </p:nvSpPr>
        <p:spPr>
          <a:xfrm>
            <a:off x="8080248" y="987552"/>
            <a:ext cx="1780032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8217408" y="1097280"/>
            <a:ext cx="274320" cy="41148"/>
          </a:xfrm>
          <a:prstGeom prst="rect">
            <a:avLst/>
          </a:prstGeom>
          <a:solidFill>
            <a:srgbClr val="C7D3DA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8217408" y="1152144"/>
            <a:ext cx="1551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UTILISED · NON-BILLABLE</a:t>
            </a:r>
            <a:endParaRPr lang="en-US" sz="700" dirty="0"/>
          </a:p>
        </p:txBody>
      </p:sp>
      <p:sp>
        <p:nvSpPr>
          <p:cNvPr id="37" name="Text 35"/>
          <p:cNvSpPr txBox="1"/>
          <p:nvPr/>
        </p:nvSpPr>
        <p:spPr>
          <a:xfrm>
            <a:off x="8199120" y="1353312"/>
            <a:ext cx="15788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Not set up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8217408" y="1682496"/>
            <a:ext cx="1551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non-billable records yet</a:t>
            </a:r>
            <a:endParaRPr lang="en-US" sz="650" dirty="0"/>
          </a:p>
        </p:txBody>
      </p:sp>
      <p:sp>
        <p:nvSpPr>
          <p:cNvPr id="39" name="Shape 37"/>
          <p:cNvSpPr/>
          <p:nvPr/>
        </p:nvSpPr>
        <p:spPr>
          <a:xfrm>
            <a:off x="9997440" y="987552"/>
            <a:ext cx="1780032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10134600" y="1097280"/>
            <a:ext cx="274320" cy="41148"/>
          </a:xfrm>
          <a:prstGeom prst="rect">
            <a:avLst/>
          </a:prstGeom>
          <a:solidFill>
            <a:srgbClr val="C7D3DA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10134600" y="1152144"/>
            <a:ext cx="1551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NON-UTILISED</a:t>
            </a:r>
            <a:endParaRPr lang="en-US" sz="700" dirty="0"/>
          </a:p>
        </p:txBody>
      </p:sp>
      <p:sp>
        <p:nvSpPr>
          <p:cNvPr id="42" name="Text 40"/>
          <p:cNvSpPr txBox="1"/>
          <p:nvPr/>
        </p:nvSpPr>
        <p:spPr>
          <a:xfrm>
            <a:off x="10116312" y="1353312"/>
            <a:ext cx="15788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Not set up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10134600" y="1682496"/>
            <a:ext cx="1551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admin, meetings, leave not logged</a:t>
            </a:r>
            <a:endParaRPr lang="en-US" sz="650" dirty="0"/>
          </a:p>
        </p:txBody>
      </p:sp>
      <p:sp>
        <p:nvSpPr>
          <p:cNvPr id="44" name="Shape 42"/>
          <p:cNvSpPr/>
          <p:nvPr/>
        </p:nvSpPr>
        <p:spPr>
          <a:xfrm>
            <a:off x="411480" y="2011680"/>
            <a:ext cx="5120640" cy="288036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45" name="Text 43"/>
          <p:cNvSpPr txBox="1"/>
          <p:nvPr/>
        </p:nvSpPr>
        <p:spPr>
          <a:xfrm>
            <a:off x="612648" y="212140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PS P&amp;L BY MONTH — 2026</a:t>
            </a:r>
            <a:endParaRPr lang="en-US" sz="1200" dirty="0"/>
          </a:p>
        </p:txBody>
      </p:sp>
      <p:graphicFrame>
        <p:nvGraphicFramePr>
          <p:cNvPr id="46" name="Chart 0" descr=""/>
          <p:cNvGraphicFramePr/>
          <p:nvPr/>
        </p:nvGraphicFramePr>
        <p:xfrm>
          <a:off x="521208" y="2359152"/>
          <a:ext cx="4901184" cy="245973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7" name="Shape 44"/>
          <p:cNvSpPr/>
          <p:nvPr/>
        </p:nvSpPr>
        <p:spPr>
          <a:xfrm>
            <a:off x="411480" y="5001768"/>
            <a:ext cx="512064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48" name="Text 45"/>
          <p:cNvSpPr txBox="1"/>
          <p:nvPr/>
        </p:nvSpPr>
        <p:spPr>
          <a:xfrm>
            <a:off x="594360" y="5056632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WEEK ON WEEK  </a:t>
            </a:r>
            <a:pPr indent="0" marL="0">
              <a:buNone/>
            </a:pPr>
            <a:r>
              <a:rPr lang="en-US" sz="65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billable hours as the weeks stand today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594360" y="5294376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80" b="1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WEEK</a:t>
            </a:r>
            <a:endParaRPr lang="en-US" sz="580" dirty="0"/>
          </a:p>
        </p:txBody>
      </p:sp>
      <p:sp>
        <p:nvSpPr>
          <p:cNvPr id="50" name="Text 47"/>
          <p:cNvSpPr txBox="1"/>
          <p:nvPr/>
        </p:nvSpPr>
        <p:spPr>
          <a:xfrm>
            <a:off x="1463040" y="5294376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b="1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BILLABLE</a:t>
            </a:r>
            <a:endParaRPr lang="en-US" sz="580" dirty="0"/>
          </a:p>
        </p:txBody>
      </p:sp>
      <p:sp>
        <p:nvSpPr>
          <p:cNvPr id="51" name="Text 48"/>
          <p:cNvSpPr txBox="1"/>
          <p:nvPr/>
        </p:nvSpPr>
        <p:spPr>
          <a:xfrm>
            <a:off x="2194560" y="5294376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b="1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CHARGEABLE</a:t>
            </a:r>
            <a:endParaRPr lang="en-US" sz="580" dirty="0"/>
          </a:p>
        </p:txBody>
      </p:sp>
      <p:sp>
        <p:nvSpPr>
          <p:cNvPr id="52" name="Text 49"/>
          <p:cNvSpPr txBox="1"/>
          <p:nvPr/>
        </p:nvSpPr>
        <p:spPr>
          <a:xfrm>
            <a:off x="3017520" y="5294376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b="1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NON-CHARGEABLE</a:t>
            </a:r>
            <a:endParaRPr lang="en-US" sz="580" dirty="0"/>
          </a:p>
        </p:txBody>
      </p:sp>
      <p:sp>
        <p:nvSpPr>
          <p:cNvPr id="53" name="Text 50"/>
          <p:cNvSpPr txBox="1"/>
          <p:nvPr/>
        </p:nvSpPr>
        <p:spPr>
          <a:xfrm>
            <a:off x="3931920" y="5294376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b="1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UTIL</a:t>
            </a:r>
            <a:endParaRPr lang="en-US" sz="580" dirty="0"/>
          </a:p>
        </p:txBody>
      </p:sp>
      <p:sp>
        <p:nvSpPr>
          <p:cNvPr id="54" name="Text 51"/>
          <p:cNvSpPr txBox="1"/>
          <p:nvPr/>
        </p:nvSpPr>
        <p:spPr>
          <a:xfrm>
            <a:off x="4434840" y="5294376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b="1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FIRST REPORTED</a:t>
            </a:r>
            <a:endParaRPr lang="en-US" sz="580" dirty="0"/>
          </a:p>
        </p:txBody>
      </p:sp>
      <p:sp>
        <p:nvSpPr>
          <p:cNvPr id="55" name="Text 52"/>
          <p:cNvSpPr txBox="1"/>
          <p:nvPr/>
        </p:nvSpPr>
        <p:spPr>
          <a:xfrm>
            <a:off x="594360" y="545896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5–11 Oct</a:t>
            </a:r>
            <a:endParaRPr lang="en-US" sz="780" dirty="0"/>
          </a:p>
        </p:txBody>
      </p:sp>
      <p:sp>
        <p:nvSpPr>
          <p:cNvPr id="56" name="Text 53"/>
          <p:cNvSpPr txBox="1"/>
          <p:nvPr/>
        </p:nvSpPr>
        <p:spPr>
          <a:xfrm>
            <a:off x="1463040" y="5458968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35.3h</a:t>
            </a:r>
            <a:endParaRPr lang="en-US" sz="780" dirty="0"/>
          </a:p>
        </p:txBody>
      </p:sp>
      <p:sp>
        <p:nvSpPr>
          <p:cNvPr id="57" name="Text 54"/>
          <p:cNvSpPr txBox="1"/>
          <p:nvPr/>
        </p:nvSpPr>
        <p:spPr>
          <a:xfrm>
            <a:off x="2194560" y="545896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17.3h</a:t>
            </a:r>
            <a:endParaRPr lang="en-US" sz="780" dirty="0"/>
          </a:p>
        </p:txBody>
      </p:sp>
      <p:sp>
        <p:nvSpPr>
          <p:cNvPr id="58" name="Text 55"/>
          <p:cNvSpPr txBox="1"/>
          <p:nvPr/>
        </p:nvSpPr>
        <p:spPr>
          <a:xfrm>
            <a:off x="3017520" y="5458968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B455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18.0h</a:t>
            </a:r>
            <a:endParaRPr lang="en-US" sz="780" dirty="0"/>
          </a:p>
        </p:txBody>
      </p:sp>
      <p:sp>
        <p:nvSpPr>
          <p:cNvPr id="59" name="Text 56"/>
          <p:cNvSpPr txBox="1"/>
          <p:nvPr/>
        </p:nvSpPr>
        <p:spPr>
          <a:xfrm>
            <a:off x="3931920" y="545896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C88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10.3%</a:t>
            </a:r>
            <a:endParaRPr lang="en-US" sz="780" dirty="0"/>
          </a:p>
        </p:txBody>
      </p:sp>
      <p:sp>
        <p:nvSpPr>
          <p:cNvPr id="60" name="Text 57"/>
          <p:cNvSpPr txBox="1"/>
          <p:nvPr/>
        </p:nvSpPr>
        <p:spPr>
          <a:xfrm>
            <a:off x="4434840" y="545896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B455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21.3h  ▲ +14.0h</a:t>
            </a:r>
            <a:endParaRPr lang="en-US" sz="680" dirty="0"/>
          </a:p>
        </p:txBody>
      </p:sp>
      <p:sp>
        <p:nvSpPr>
          <p:cNvPr id="61" name="Shape 58"/>
          <p:cNvSpPr/>
          <p:nvPr/>
        </p:nvSpPr>
        <p:spPr>
          <a:xfrm>
            <a:off x="594360" y="5696712"/>
            <a:ext cx="4754880" cy="5486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62" name="Text 59"/>
          <p:cNvSpPr txBox="1"/>
          <p:nvPr/>
        </p:nvSpPr>
        <p:spPr>
          <a:xfrm>
            <a:off x="594360" y="569671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12–18 Oct</a:t>
            </a:r>
            <a:endParaRPr lang="en-US" sz="780" dirty="0"/>
          </a:p>
        </p:txBody>
      </p:sp>
      <p:sp>
        <p:nvSpPr>
          <p:cNvPr id="63" name="Text 60"/>
          <p:cNvSpPr txBox="1"/>
          <p:nvPr/>
        </p:nvSpPr>
        <p:spPr>
          <a:xfrm>
            <a:off x="1463040" y="5696712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51.0h</a:t>
            </a:r>
            <a:endParaRPr lang="en-US" sz="780" dirty="0"/>
          </a:p>
        </p:txBody>
      </p:sp>
      <p:sp>
        <p:nvSpPr>
          <p:cNvPr id="64" name="Text 61"/>
          <p:cNvSpPr txBox="1"/>
          <p:nvPr/>
        </p:nvSpPr>
        <p:spPr>
          <a:xfrm>
            <a:off x="2194560" y="569671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50.0h</a:t>
            </a:r>
            <a:endParaRPr lang="en-US" sz="780" dirty="0"/>
          </a:p>
        </p:txBody>
      </p:sp>
      <p:sp>
        <p:nvSpPr>
          <p:cNvPr id="65" name="Text 62"/>
          <p:cNvSpPr txBox="1"/>
          <p:nvPr/>
        </p:nvSpPr>
        <p:spPr>
          <a:xfrm>
            <a:off x="3017520" y="569671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B455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1.0h</a:t>
            </a:r>
            <a:endParaRPr lang="en-US" sz="780" dirty="0"/>
          </a:p>
        </p:txBody>
      </p:sp>
      <p:sp>
        <p:nvSpPr>
          <p:cNvPr id="66" name="Text 63"/>
          <p:cNvSpPr txBox="1"/>
          <p:nvPr/>
        </p:nvSpPr>
        <p:spPr>
          <a:xfrm>
            <a:off x="3931920" y="569671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C88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16.8%</a:t>
            </a:r>
            <a:endParaRPr lang="en-US" sz="780" dirty="0"/>
          </a:p>
        </p:txBody>
      </p:sp>
      <p:sp>
        <p:nvSpPr>
          <p:cNvPr id="67" name="Text 64"/>
          <p:cNvSpPr txBox="1"/>
          <p:nvPr/>
        </p:nvSpPr>
        <p:spPr>
          <a:xfrm>
            <a:off x="4434840" y="569671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B455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39.5h  ▲ +11.6h</a:t>
            </a:r>
            <a:endParaRPr lang="en-US" sz="680" dirty="0"/>
          </a:p>
        </p:txBody>
      </p:sp>
      <p:sp>
        <p:nvSpPr>
          <p:cNvPr id="68" name="Shape 65"/>
          <p:cNvSpPr/>
          <p:nvPr/>
        </p:nvSpPr>
        <p:spPr>
          <a:xfrm>
            <a:off x="594360" y="5934456"/>
            <a:ext cx="4754880" cy="5486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69" name="Text 66"/>
          <p:cNvSpPr txBox="1"/>
          <p:nvPr/>
        </p:nvSpPr>
        <p:spPr>
          <a:xfrm>
            <a:off x="594360" y="5934456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19–25 Oct ●</a:t>
            </a:r>
            <a:endParaRPr lang="en-US" sz="780" dirty="0"/>
          </a:p>
        </p:txBody>
      </p:sp>
      <p:sp>
        <p:nvSpPr>
          <p:cNvPr id="70" name="Text 67"/>
          <p:cNvSpPr txBox="1"/>
          <p:nvPr/>
        </p:nvSpPr>
        <p:spPr>
          <a:xfrm>
            <a:off x="1463040" y="5934456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11.5h</a:t>
            </a:r>
            <a:endParaRPr lang="en-US" sz="780" dirty="0"/>
          </a:p>
        </p:txBody>
      </p:sp>
      <p:sp>
        <p:nvSpPr>
          <p:cNvPr id="71" name="Text 68"/>
          <p:cNvSpPr txBox="1"/>
          <p:nvPr/>
        </p:nvSpPr>
        <p:spPr>
          <a:xfrm>
            <a:off x="2194560" y="5934456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10.5h</a:t>
            </a:r>
            <a:endParaRPr lang="en-US" sz="780" dirty="0"/>
          </a:p>
        </p:txBody>
      </p:sp>
      <p:sp>
        <p:nvSpPr>
          <p:cNvPr id="72" name="Text 69"/>
          <p:cNvSpPr txBox="1"/>
          <p:nvPr/>
        </p:nvSpPr>
        <p:spPr>
          <a:xfrm>
            <a:off x="3017520" y="5934456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B455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1.0h</a:t>
            </a:r>
            <a:endParaRPr lang="en-US" sz="780" dirty="0"/>
          </a:p>
        </p:txBody>
      </p:sp>
      <p:sp>
        <p:nvSpPr>
          <p:cNvPr id="73" name="Text 70"/>
          <p:cNvSpPr txBox="1"/>
          <p:nvPr/>
        </p:nvSpPr>
        <p:spPr>
          <a:xfrm>
            <a:off x="3931920" y="593445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C88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3.7%</a:t>
            </a:r>
            <a:endParaRPr lang="en-US" sz="780" dirty="0"/>
          </a:p>
        </p:txBody>
      </p:sp>
      <p:sp>
        <p:nvSpPr>
          <p:cNvPr id="74" name="Text 71"/>
          <p:cNvSpPr txBox="1"/>
          <p:nvPr/>
        </p:nvSpPr>
        <p:spPr>
          <a:xfrm>
            <a:off x="4434840" y="593445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first report</a:t>
            </a:r>
            <a:endParaRPr lang="en-US" sz="680" dirty="0"/>
          </a:p>
        </p:txBody>
      </p:sp>
      <p:sp>
        <p:nvSpPr>
          <p:cNvPr id="75" name="Shape 72"/>
          <p:cNvSpPr/>
          <p:nvPr/>
        </p:nvSpPr>
        <p:spPr>
          <a:xfrm>
            <a:off x="5715000" y="2011680"/>
            <a:ext cx="2976372" cy="2606040"/>
          </a:xfrm>
          <a:prstGeom prst="roundRect">
            <a:avLst>
              <a:gd name="adj" fmla="val 24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76" name="Text 73"/>
          <p:cNvSpPr txBox="1"/>
          <p:nvPr/>
        </p:nvSpPr>
        <p:spPr>
          <a:xfrm>
            <a:off x="5879592" y="2103120"/>
            <a:ext cx="26471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PARTNERS — COMMISSION vs PS WORK</a:t>
            </a:r>
            <a:endParaRPr lang="en-US" sz="950" dirty="0"/>
          </a:p>
        </p:txBody>
      </p:sp>
      <p:sp>
        <p:nvSpPr>
          <p:cNvPr id="77" name="Text 74"/>
          <p:cNvSpPr txBox="1"/>
          <p:nvPr/>
        </p:nvSpPr>
        <p:spPr>
          <a:xfrm>
            <a:off x="5879592" y="2395728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" b="1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PARTNER</a:t>
            </a:r>
            <a:endParaRPr lang="en-US" sz="560" dirty="0"/>
          </a:p>
        </p:txBody>
      </p:sp>
      <p:sp>
        <p:nvSpPr>
          <p:cNvPr id="78" name="Text 75"/>
          <p:cNvSpPr txBox="1"/>
          <p:nvPr/>
        </p:nvSpPr>
        <p:spPr>
          <a:xfrm>
            <a:off x="6858000" y="2395728"/>
            <a:ext cx="7132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60" b="1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COMM. JAN–SEP</a:t>
            </a:r>
            <a:endParaRPr lang="en-US" sz="560" dirty="0"/>
          </a:p>
        </p:txBody>
      </p:sp>
      <p:sp>
        <p:nvSpPr>
          <p:cNvPr id="79" name="Text 76"/>
          <p:cNvSpPr txBox="1"/>
          <p:nvPr/>
        </p:nvSpPr>
        <p:spPr>
          <a:xfrm>
            <a:off x="7589520" y="2395728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60" b="1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HRS Q4</a:t>
            </a:r>
            <a:endParaRPr lang="en-US" sz="560" dirty="0"/>
          </a:p>
        </p:txBody>
      </p:sp>
      <p:sp>
        <p:nvSpPr>
          <p:cNvPr id="80" name="Text 77"/>
          <p:cNvSpPr txBox="1"/>
          <p:nvPr/>
        </p:nvSpPr>
        <p:spPr>
          <a:xfrm>
            <a:off x="7955280" y="2395728"/>
            <a:ext cx="566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60" b="1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UNREC. REV</a:t>
            </a:r>
            <a:endParaRPr lang="en-US" sz="560" dirty="0"/>
          </a:p>
        </p:txBody>
      </p:sp>
      <p:sp>
        <p:nvSpPr>
          <p:cNvPr id="81" name="Text 78"/>
          <p:cNvSpPr txBox="1"/>
          <p:nvPr/>
        </p:nvSpPr>
        <p:spPr>
          <a:xfrm>
            <a:off x="5879592" y="2560320"/>
            <a:ext cx="10058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Mr Yum</a:t>
            </a:r>
            <a:endParaRPr lang="en-US" sz="680" dirty="0"/>
          </a:p>
        </p:txBody>
      </p:sp>
      <p:sp>
        <p:nvSpPr>
          <p:cNvPr id="82" name="Text 79"/>
          <p:cNvSpPr txBox="1"/>
          <p:nvPr/>
        </p:nvSpPr>
        <p:spPr>
          <a:xfrm>
            <a:off x="6858000" y="2560320"/>
            <a:ext cx="713232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$488k</a:t>
            </a:r>
            <a:endParaRPr lang="en-US" sz="680" dirty="0"/>
          </a:p>
        </p:txBody>
      </p:sp>
      <p:sp>
        <p:nvSpPr>
          <p:cNvPr id="83" name="Text 80"/>
          <p:cNvSpPr txBox="1"/>
          <p:nvPr/>
        </p:nvSpPr>
        <p:spPr>
          <a:xfrm>
            <a:off x="7589520" y="2560320"/>
            <a:ext cx="36576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—</a:t>
            </a:r>
            <a:endParaRPr lang="en-US" sz="680" dirty="0"/>
          </a:p>
        </p:txBody>
      </p:sp>
      <p:sp>
        <p:nvSpPr>
          <p:cNvPr id="84" name="Text 81"/>
          <p:cNvSpPr txBox="1"/>
          <p:nvPr/>
        </p:nvSpPr>
        <p:spPr>
          <a:xfrm>
            <a:off x="7955280" y="2560320"/>
            <a:ext cx="56692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—</a:t>
            </a:r>
            <a:endParaRPr lang="en-US" sz="680" dirty="0"/>
          </a:p>
        </p:txBody>
      </p:sp>
      <p:sp>
        <p:nvSpPr>
          <p:cNvPr id="85" name="Shape 82"/>
          <p:cNvSpPr/>
          <p:nvPr/>
        </p:nvSpPr>
        <p:spPr>
          <a:xfrm>
            <a:off x="5806440" y="2711196"/>
            <a:ext cx="2793492" cy="150876"/>
          </a:xfrm>
          <a:prstGeom prst="rect">
            <a:avLst/>
          </a:prstGeom>
          <a:solidFill>
            <a:srgbClr val="F2F6F8"/>
          </a:solidFill>
          <a:ln/>
        </p:spPr>
      </p:sp>
      <p:sp>
        <p:nvSpPr>
          <p:cNvPr id="86" name="Text 83"/>
          <p:cNvSpPr txBox="1"/>
          <p:nvPr/>
        </p:nvSpPr>
        <p:spPr>
          <a:xfrm>
            <a:off x="5879592" y="2711196"/>
            <a:ext cx="10058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Tyro</a:t>
            </a:r>
            <a:endParaRPr lang="en-US" sz="680" dirty="0"/>
          </a:p>
        </p:txBody>
      </p:sp>
      <p:sp>
        <p:nvSpPr>
          <p:cNvPr id="87" name="Text 84"/>
          <p:cNvSpPr txBox="1"/>
          <p:nvPr/>
        </p:nvSpPr>
        <p:spPr>
          <a:xfrm>
            <a:off x="6858000" y="2711196"/>
            <a:ext cx="713232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$266k</a:t>
            </a:r>
            <a:endParaRPr lang="en-US" sz="680" dirty="0"/>
          </a:p>
        </p:txBody>
      </p:sp>
      <p:sp>
        <p:nvSpPr>
          <p:cNvPr id="88" name="Text 85"/>
          <p:cNvSpPr txBox="1"/>
          <p:nvPr/>
        </p:nvSpPr>
        <p:spPr>
          <a:xfrm>
            <a:off x="7589520" y="2711196"/>
            <a:ext cx="36576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—</a:t>
            </a:r>
            <a:endParaRPr lang="en-US" sz="680" dirty="0"/>
          </a:p>
        </p:txBody>
      </p:sp>
      <p:sp>
        <p:nvSpPr>
          <p:cNvPr id="89" name="Text 86"/>
          <p:cNvSpPr txBox="1"/>
          <p:nvPr/>
        </p:nvSpPr>
        <p:spPr>
          <a:xfrm>
            <a:off x="7955280" y="2711196"/>
            <a:ext cx="56692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—</a:t>
            </a:r>
            <a:endParaRPr lang="en-US" sz="680" dirty="0"/>
          </a:p>
        </p:txBody>
      </p:sp>
      <p:sp>
        <p:nvSpPr>
          <p:cNvPr id="90" name="Text 87"/>
          <p:cNvSpPr txBox="1"/>
          <p:nvPr/>
        </p:nvSpPr>
        <p:spPr>
          <a:xfrm>
            <a:off x="5879592" y="2862072"/>
            <a:ext cx="10058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Me&amp;U</a:t>
            </a:r>
            <a:endParaRPr lang="en-US" sz="680" dirty="0"/>
          </a:p>
        </p:txBody>
      </p:sp>
      <p:sp>
        <p:nvSpPr>
          <p:cNvPr id="91" name="Text 88"/>
          <p:cNvSpPr txBox="1"/>
          <p:nvPr/>
        </p:nvSpPr>
        <p:spPr>
          <a:xfrm>
            <a:off x="6858000" y="2862072"/>
            <a:ext cx="713232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$126k</a:t>
            </a:r>
            <a:endParaRPr lang="en-US" sz="680" dirty="0"/>
          </a:p>
        </p:txBody>
      </p:sp>
      <p:sp>
        <p:nvSpPr>
          <p:cNvPr id="92" name="Text 89"/>
          <p:cNvSpPr txBox="1"/>
          <p:nvPr/>
        </p:nvSpPr>
        <p:spPr>
          <a:xfrm>
            <a:off x="7589520" y="2862072"/>
            <a:ext cx="36576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—</a:t>
            </a:r>
            <a:endParaRPr lang="en-US" sz="680" dirty="0"/>
          </a:p>
        </p:txBody>
      </p:sp>
      <p:sp>
        <p:nvSpPr>
          <p:cNvPr id="93" name="Text 90"/>
          <p:cNvSpPr txBox="1"/>
          <p:nvPr/>
        </p:nvSpPr>
        <p:spPr>
          <a:xfrm>
            <a:off x="7955280" y="2862072"/>
            <a:ext cx="56692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—</a:t>
            </a:r>
            <a:endParaRPr lang="en-US" sz="680" dirty="0"/>
          </a:p>
        </p:txBody>
      </p:sp>
      <p:sp>
        <p:nvSpPr>
          <p:cNvPr id="94" name="Shape 91"/>
          <p:cNvSpPr/>
          <p:nvPr/>
        </p:nvSpPr>
        <p:spPr>
          <a:xfrm>
            <a:off x="5806440" y="3012948"/>
            <a:ext cx="2793492" cy="150876"/>
          </a:xfrm>
          <a:prstGeom prst="rect">
            <a:avLst/>
          </a:prstGeom>
          <a:solidFill>
            <a:srgbClr val="F2F6F8"/>
          </a:solidFill>
          <a:ln/>
        </p:spPr>
      </p:sp>
      <p:sp>
        <p:nvSpPr>
          <p:cNvPr id="95" name="Text 92"/>
          <p:cNvSpPr txBox="1"/>
          <p:nvPr/>
        </p:nvSpPr>
        <p:spPr>
          <a:xfrm>
            <a:off x="5879592" y="3012948"/>
            <a:ext cx="10058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7Rs (SevenRooms)</a:t>
            </a:r>
            <a:endParaRPr lang="en-US" sz="680" dirty="0"/>
          </a:p>
        </p:txBody>
      </p:sp>
      <p:sp>
        <p:nvSpPr>
          <p:cNvPr id="96" name="Text 93"/>
          <p:cNvSpPr txBox="1"/>
          <p:nvPr/>
        </p:nvSpPr>
        <p:spPr>
          <a:xfrm>
            <a:off x="6858000" y="3012948"/>
            <a:ext cx="713232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$112k</a:t>
            </a:r>
            <a:endParaRPr lang="en-US" sz="680" dirty="0"/>
          </a:p>
        </p:txBody>
      </p:sp>
      <p:sp>
        <p:nvSpPr>
          <p:cNvPr id="97" name="Text 94"/>
          <p:cNvSpPr txBox="1"/>
          <p:nvPr/>
        </p:nvSpPr>
        <p:spPr>
          <a:xfrm>
            <a:off x="7589520" y="3012948"/>
            <a:ext cx="36576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1.0h</a:t>
            </a:r>
            <a:endParaRPr lang="en-US" sz="680" dirty="0"/>
          </a:p>
        </p:txBody>
      </p:sp>
      <p:sp>
        <p:nvSpPr>
          <p:cNvPr id="98" name="Text 95"/>
          <p:cNvSpPr txBox="1"/>
          <p:nvPr/>
        </p:nvSpPr>
        <p:spPr>
          <a:xfrm>
            <a:off x="7955280" y="3012948"/>
            <a:ext cx="56692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—</a:t>
            </a:r>
            <a:endParaRPr lang="en-US" sz="680" dirty="0"/>
          </a:p>
        </p:txBody>
      </p:sp>
      <p:sp>
        <p:nvSpPr>
          <p:cNvPr id="99" name="Text 96"/>
          <p:cNvSpPr txBox="1"/>
          <p:nvPr/>
        </p:nvSpPr>
        <p:spPr>
          <a:xfrm>
            <a:off x="5879592" y="3163824"/>
            <a:ext cx="10058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Zeller</a:t>
            </a:r>
            <a:endParaRPr lang="en-US" sz="680" dirty="0"/>
          </a:p>
        </p:txBody>
      </p:sp>
      <p:sp>
        <p:nvSpPr>
          <p:cNvPr id="100" name="Text 97"/>
          <p:cNvSpPr txBox="1"/>
          <p:nvPr/>
        </p:nvSpPr>
        <p:spPr>
          <a:xfrm>
            <a:off x="6858000" y="3163824"/>
            <a:ext cx="713232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$79k</a:t>
            </a:r>
            <a:endParaRPr lang="en-US" sz="680" dirty="0"/>
          </a:p>
        </p:txBody>
      </p:sp>
      <p:sp>
        <p:nvSpPr>
          <p:cNvPr id="101" name="Text 98"/>
          <p:cNvSpPr txBox="1"/>
          <p:nvPr/>
        </p:nvSpPr>
        <p:spPr>
          <a:xfrm>
            <a:off x="7589520" y="3163824"/>
            <a:ext cx="36576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1.0h</a:t>
            </a:r>
            <a:endParaRPr lang="en-US" sz="680" dirty="0"/>
          </a:p>
        </p:txBody>
      </p:sp>
      <p:sp>
        <p:nvSpPr>
          <p:cNvPr id="102" name="Text 99"/>
          <p:cNvSpPr txBox="1"/>
          <p:nvPr/>
        </p:nvSpPr>
        <p:spPr>
          <a:xfrm>
            <a:off x="7955280" y="3163824"/>
            <a:ext cx="56692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—</a:t>
            </a:r>
            <a:endParaRPr lang="en-US" sz="680" dirty="0"/>
          </a:p>
        </p:txBody>
      </p:sp>
      <p:sp>
        <p:nvSpPr>
          <p:cNvPr id="103" name="Shape 100"/>
          <p:cNvSpPr/>
          <p:nvPr/>
        </p:nvSpPr>
        <p:spPr>
          <a:xfrm>
            <a:off x="5806440" y="3314700"/>
            <a:ext cx="2793492" cy="150876"/>
          </a:xfrm>
          <a:prstGeom prst="rect">
            <a:avLst/>
          </a:prstGeom>
          <a:solidFill>
            <a:srgbClr val="F2F6F8"/>
          </a:solidFill>
          <a:ln/>
        </p:spPr>
      </p:sp>
      <p:sp>
        <p:nvSpPr>
          <p:cNvPr id="104" name="Text 101"/>
          <p:cNvSpPr txBox="1"/>
          <p:nvPr/>
        </p:nvSpPr>
        <p:spPr>
          <a:xfrm>
            <a:off x="5879592" y="3314700"/>
            <a:ext cx="10058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Zen</a:t>
            </a:r>
            <a:endParaRPr lang="en-US" sz="680" dirty="0"/>
          </a:p>
        </p:txBody>
      </p:sp>
      <p:sp>
        <p:nvSpPr>
          <p:cNvPr id="105" name="Text 102"/>
          <p:cNvSpPr txBox="1"/>
          <p:nvPr/>
        </p:nvSpPr>
        <p:spPr>
          <a:xfrm>
            <a:off x="6858000" y="3314700"/>
            <a:ext cx="713232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$61k</a:t>
            </a:r>
            <a:endParaRPr lang="en-US" sz="680" dirty="0"/>
          </a:p>
        </p:txBody>
      </p:sp>
      <p:sp>
        <p:nvSpPr>
          <p:cNvPr id="106" name="Text 103"/>
          <p:cNvSpPr txBox="1"/>
          <p:nvPr/>
        </p:nvSpPr>
        <p:spPr>
          <a:xfrm>
            <a:off x="7589520" y="3314700"/>
            <a:ext cx="36576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—</a:t>
            </a:r>
            <a:endParaRPr lang="en-US" sz="680" dirty="0"/>
          </a:p>
        </p:txBody>
      </p:sp>
      <p:sp>
        <p:nvSpPr>
          <p:cNvPr id="107" name="Text 104"/>
          <p:cNvSpPr txBox="1"/>
          <p:nvPr/>
        </p:nvSpPr>
        <p:spPr>
          <a:xfrm>
            <a:off x="7955280" y="3314700"/>
            <a:ext cx="56692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—</a:t>
            </a:r>
            <a:endParaRPr lang="en-US" sz="680" dirty="0"/>
          </a:p>
        </p:txBody>
      </p:sp>
      <p:sp>
        <p:nvSpPr>
          <p:cNvPr id="108" name="Text 105"/>
          <p:cNvSpPr txBox="1"/>
          <p:nvPr/>
        </p:nvSpPr>
        <p:spPr>
          <a:xfrm>
            <a:off x="5879592" y="3465576"/>
            <a:ext cx="10058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Chewzie</a:t>
            </a:r>
            <a:endParaRPr lang="en-US" sz="680" dirty="0"/>
          </a:p>
        </p:txBody>
      </p:sp>
      <p:sp>
        <p:nvSpPr>
          <p:cNvPr id="109" name="Text 106"/>
          <p:cNvSpPr txBox="1"/>
          <p:nvPr/>
        </p:nvSpPr>
        <p:spPr>
          <a:xfrm>
            <a:off x="6858000" y="3465576"/>
            <a:ext cx="713232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$45k</a:t>
            </a:r>
            <a:endParaRPr lang="en-US" sz="680" dirty="0"/>
          </a:p>
        </p:txBody>
      </p:sp>
      <p:sp>
        <p:nvSpPr>
          <p:cNvPr id="110" name="Text 107"/>
          <p:cNvSpPr txBox="1"/>
          <p:nvPr/>
        </p:nvSpPr>
        <p:spPr>
          <a:xfrm>
            <a:off x="7589520" y="3465576"/>
            <a:ext cx="36576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—</a:t>
            </a:r>
            <a:endParaRPr lang="en-US" sz="680" dirty="0"/>
          </a:p>
        </p:txBody>
      </p:sp>
      <p:sp>
        <p:nvSpPr>
          <p:cNvPr id="111" name="Text 108"/>
          <p:cNvSpPr txBox="1"/>
          <p:nvPr/>
        </p:nvSpPr>
        <p:spPr>
          <a:xfrm>
            <a:off x="7955280" y="3465576"/>
            <a:ext cx="56692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—</a:t>
            </a:r>
            <a:endParaRPr lang="en-US" sz="680" dirty="0"/>
          </a:p>
        </p:txBody>
      </p:sp>
      <p:sp>
        <p:nvSpPr>
          <p:cNvPr id="112" name="Shape 109"/>
          <p:cNvSpPr/>
          <p:nvPr/>
        </p:nvSpPr>
        <p:spPr>
          <a:xfrm>
            <a:off x="5806440" y="3616452"/>
            <a:ext cx="2793492" cy="150876"/>
          </a:xfrm>
          <a:prstGeom prst="rect">
            <a:avLst/>
          </a:prstGeom>
          <a:solidFill>
            <a:srgbClr val="F2F6F8"/>
          </a:solidFill>
          <a:ln/>
        </p:spPr>
      </p:sp>
      <p:sp>
        <p:nvSpPr>
          <p:cNvPr id="113" name="Text 110"/>
          <p:cNvSpPr txBox="1"/>
          <p:nvPr/>
        </p:nvSpPr>
        <p:spPr>
          <a:xfrm>
            <a:off x="5879592" y="3616452"/>
            <a:ext cx="10058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HungryHungry</a:t>
            </a:r>
            <a:endParaRPr lang="en-US" sz="680" dirty="0"/>
          </a:p>
        </p:txBody>
      </p:sp>
      <p:sp>
        <p:nvSpPr>
          <p:cNvPr id="114" name="Text 111"/>
          <p:cNvSpPr txBox="1"/>
          <p:nvPr/>
        </p:nvSpPr>
        <p:spPr>
          <a:xfrm>
            <a:off x="6858000" y="3616452"/>
            <a:ext cx="713232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$16k</a:t>
            </a:r>
            <a:endParaRPr lang="en-US" sz="680" dirty="0"/>
          </a:p>
        </p:txBody>
      </p:sp>
      <p:sp>
        <p:nvSpPr>
          <p:cNvPr id="115" name="Text 112"/>
          <p:cNvSpPr txBox="1"/>
          <p:nvPr/>
        </p:nvSpPr>
        <p:spPr>
          <a:xfrm>
            <a:off x="7589520" y="3616452"/>
            <a:ext cx="36576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1.5h</a:t>
            </a:r>
            <a:endParaRPr lang="en-US" sz="680" dirty="0"/>
          </a:p>
        </p:txBody>
      </p:sp>
      <p:sp>
        <p:nvSpPr>
          <p:cNvPr id="116" name="Text 113"/>
          <p:cNvSpPr txBox="1"/>
          <p:nvPr/>
        </p:nvSpPr>
        <p:spPr>
          <a:xfrm>
            <a:off x="7955280" y="3616452"/>
            <a:ext cx="56692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—</a:t>
            </a:r>
            <a:endParaRPr lang="en-US" sz="680" dirty="0"/>
          </a:p>
        </p:txBody>
      </p:sp>
      <p:sp>
        <p:nvSpPr>
          <p:cNvPr id="117" name="Text 114"/>
          <p:cNvSpPr txBox="1"/>
          <p:nvPr/>
        </p:nvSpPr>
        <p:spPr>
          <a:xfrm>
            <a:off x="5879592" y="3767328"/>
            <a:ext cx="10058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EatClub</a:t>
            </a:r>
            <a:endParaRPr lang="en-US" sz="680" dirty="0"/>
          </a:p>
        </p:txBody>
      </p:sp>
      <p:sp>
        <p:nvSpPr>
          <p:cNvPr id="118" name="Text 115"/>
          <p:cNvSpPr txBox="1"/>
          <p:nvPr/>
        </p:nvSpPr>
        <p:spPr>
          <a:xfrm>
            <a:off x="6858000" y="3767328"/>
            <a:ext cx="713232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$2k</a:t>
            </a:r>
            <a:endParaRPr lang="en-US" sz="680" dirty="0"/>
          </a:p>
        </p:txBody>
      </p:sp>
      <p:sp>
        <p:nvSpPr>
          <p:cNvPr id="119" name="Text 116"/>
          <p:cNvSpPr txBox="1"/>
          <p:nvPr/>
        </p:nvSpPr>
        <p:spPr>
          <a:xfrm>
            <a:off x="7589520" y="3767328"/>
            <a:ext cx="36576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1.1h</a:t>
            </a:r>
            <a:endParaRPr lang="en-US" sz="680" dirty="0"/>
          </a:p>
        </p:txBody>
      </p:sp>
      <p:sp>
        <p:nvSpPr>
          <p:cNvPr id="120" name="Text 117"/>
          <p:cNvSpPr txBox="1"/>
          <p:nvPr/>
        </p:nvSpPr>
        <p:spPr>
          <a:xfrm>
            <a:off x="7955280" y="3767328"/>
            <a:ext cx="56692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—</a:t>
            </a:r>
            <a:endParaRPr lang="en-US" sz="680" dirty="0"/>
          </a:p>
        </p:txBody>
      </p:sp>
      <p:sp>
        <p:nvSpPr>
          <p:cNvPr id="121" name="Shape 118"/>
          <p:cNvSpPr/>
          <p:nvPr/>
        </p:nvSpPr>
        <p:spPr>
          <a:xfrm>
            <a:off x="5806440" y="3918204"/>
            <a:ext cx="2793492" cy="150876"/>
          </a:xfrm>
          <a:prstGeom prst="rect">
            <a:avLst/>
          </a:prstGeom>
          <a:solidFill>
            <a:srgbClr val="F2F6F8"/>
          </a:solidFill>
          <a:ln/>
        </p:spPr>
      </p:sp>
      <p:sp>
        <p:nvSpPr>
          <p:cNvPr id="122" name="Text 119"/>
          <p:cNvSpPr txBox="1"/>
          <p:nvPr/>
        </p:nvSpPr>
        <p:spPr>
          <a:xfrm>
            <a:off x="5879592" y="3918204"/>
            <a:ext cx="10058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B455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H&amp;L Pay</a:t>
            </a:r>
            <a:endParaRPr lang="en-US" sz="680" dirty="0"/>
          </a:p>
        </p:txBody>
      </p:sp>
      <p:sp>
        <p:nvSpPr>
          <p:cNvPr id="123" name="Text 120"/>
          <p:cNvSpPr txBox="1"/>
          <p:nvPr/>
        </p:nvSpPr>
        <p:spPr>
          <a:xfrm>
            <a:off x="6858000" y="3918204"/>
            <a:ext cx="713232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$0</a:t>
            </a:r>
            <a:endParaRPr lang="en-US" sz="680" dirty="0"/>
          </a:p>
        </p:txBody>
      </p:sp>
      <p:sp>
        <p:nvSpPr>
          <p:cNvPr id="124" name="Text 121"/>
          <p:cNvSpPr txBox="1"/>
          <p:nvPr/>
        </p:nvSpPr>
        <p:spPr>
          <a:xfrm>
            <a:off x="7589520" y="3918204"/>
            <a:ext cx="36576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2.0h</a:t>
            </a:r>
            <a:endParaRPr lang="en-US" sz="680" dirty="0"/>
          </a:p>
        </p:txBody>
      </p:sp>
      <p:sp>
        <p:nvSpPr>
          <p:cNvPr id="125" name="Text 122"/>
          <p:cNvSpPr txBox="1"/>
          <p:nvPr/>
        </p:nvSpPr>
        <p:spPr>
          <a:xfrm>
            <a:off x="7955280" y="3918204"/>
            <a:ext cx="56692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B455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$300</a:t>
            </a:r>
            <a:endParaRPr lang="en-US" sz="680" dirty="0"/>
          </a:p>
        </p:txBody>
      </p:sp>
      <p:sp>
        <p:nvSpPr>
          <p:cNvPr id="126" name="Text 123"/>
          <p:cNvSpPr txBox="1"/>
          <p:nvPr/>
        </p:nvSpPr>
        <p:spPr>
          <a:xfrm>
            <a:off x="5879592" y="4069080"/>
            <a:ext cx="10058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B455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NowBookIt</a:t>
            </a:r>
            <a:endParaRPr lang="en-US" sz="680" dirty="0"/>
          </a:p>
        </p:txBody>
      </p:sp>
      <p:sp>
        <p:nvSpPr>
          <p:cNvPr id="127" name="Text 124"/>
          <p:cNvSpPr txBox="1"/>
          <p:nvPr/>
        </p:nvSpPr>
        <p:spPr>
          <a:xfrm>
            <a:off x="6858000" y="4069080"/>
            <a:ext cx="713232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$0</a:t>
            </a:r>
            <a:endParaRPr lang="en-US" sz="680" dirty="0"/>
          </a:p>
        </p:txBody>
      </p:sp>
      <p:sp>
        <p:nvSpPr>
          <p:cNvPr id="128" name="Text 125"/>
          <p:cNvSpPr txBox="1"/>
          <p:nvPr/>
        </p:nvSpPr>
        <p:spPr>
          <a:xfrm>
            <a:off x="7589520" y="4069080"/>
            <a:ext cx="36576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2.0h</a:t>
            </a:r>
            <a:endParaRPr lang="en-US" sz="680" dirty="0"/>
          </a:p>
        </p:txBody>
      </p:sp>
      <p:sp>
        <p:nvSpPr>
          <p:cNvPr id="129" name="Text 126"/>
          <p:cNvSpPr txBox="1"/>
          <p:nvPr/>
        </p:nvSpPr>
        <p:spPr>
          <a:xfrm>
            <a:off x="7955280" y="4069080"/>
            <a:ext cx="56692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—</a:t>
            </a:r>
            <a:endParaRPr lang="en-US" sz="680" dirty="0"/>
          </a:p>
        </p:txBody>
      </p:sp>
      <p:sp>
        <p:nvSpPr>
          <p:cNvPr id="130" name="Shape 127"/>
          <p:cNvSpPr/>
          <p:nvPr/>
        </p:nvSpPr>
        <p:spPr>
          <a:xfrm>
            <a:off x="5806440" y="4219956"/>
            <a:ext cx="2793492" cy="150876"/>
          </a:xfrm>
          <a:prstGeom prst="rect">
            <a:avLst/>
          </a:prstGeom>
          <a:solidFill>
            <a:srgbClr val="F2F6F8"/>
          </a:solidFill>
          <a:ln/>
        </p:spPr>
      </p:sp>
      <p:sp>
        <p:nvSpPr>
          <p:cNvPr id="131" name="Text 128"/>
          <p:cNvSpPr txBox="1"/>
          <p:nvPr/>
        </p:nvSpPr>
        <p:spPr>
          <a:xfrm>
            <a:off x="5879592" y="4219956"/>
            <a:ext cx="10058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B455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Uber Eats</a:t>
            </a:r>
            <a:endParaRPr lang="en-US" sz="680" dirty="0"/>
          </a:p>
        </p:txBody>
      </p:sp>
      <p:sp>
        <p:nvSpPr>
          <p:cNvPr id="132" name="Text 129"/>
          <p:cNvSpPr txBox="1"/>
          <p:nvPr/>
        </p:nvSpPr>
        <p:spPr>
          <a:xfrm>
            <a:off x="6858000" y="4219956"/>
            <a:ext cx="713232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$0</a:t>
            </a:r>
            <a:endParaRPr lang="en-US" sz="680" dirty="0"/>
          </a:p>
        </p:txBody>
      </p:sp>
      <p:sp>
        <p:nvSpPr>
          <p:cNvPr id="133" name="Text 130"/>
          <p:cNvSpPr txBox="1"/>
          <p:nvPr/>
        </p:nvSpPr>
        <p:spPr>
          <a:xfrm>
            <a:off x="7589520" y="4219956"/>
            <a:ext cx="36576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6.3h</a:t>
            </a:r>
            <a:endParaRPr lang="en-US" sz="680" dirty="0"/>
          </a:p>
        </p:txBody>
      </p:sp>
      <p:sp>
        <p:nvSpPr>
          <p:cNvPr id="134" name="Text 131"/>
          <p:cNvSpPr txBox="1"/>
          <p:nvPr/>
        </p:nvSpPr>
        <p:spPr>
          <a:xfrm>
            <a:off x="7955280" y="4219956"/>
            <a:ext cx="56692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—</a:t>
            </a:r>
            <a:endParaRPr lang="en-US" sz="680" dirty="0"/>
          </a:p>
        </p:txBody>
      </p:sp>
      <p:sp>
        <p:nvSpPr>
          <p:cNvPr id="135" name="Shape 132"/>
          <p:cNvSpPr/>
          <p:nvPr/>
        </p:nvSpPr>
        <p:spPr>
          <a:xfrm>
            <a:off x="8801100" y="2011680"/>
            <a:ext cx="2976372" cy="2606040"/>
          </a:xfrm>
          <a:prstGeom prst="roundRect">
            <a:avLst>
              <a:gd name="adj" fmla="val 24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136" name="Text 133"/>
          <p:cNvSpPr txBox="1"/>
          <p:nvPr/>
        </p:nvSpPr>
        <p:spPr>
          <a:xfrm>
            <a:off x="8965692" y="2103120"/>
            <a:ext cx="26471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ACCOUNTS — PS WORK BUILT IN</a:t>
            </a:r>
            <a:endParaRPr lang="en-US" sz="950" dirty="0"/>
          </a:p>
        </p:txBody>
      </p:sp>
      <p:sp>
        <p:nvSpPr>
          <p:cNvPr id="137" name="Text 134"/>
          <p:cNvSpPr txBox="1"/>
          <p:nvPr/>
        </p:nvSpPr>
        <p:spPr>
          <a:xfrm>
            <a:off x="8965692" y="2395728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" b="1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ACCOUNT</a:t>
            </a:r>
            <a:endParaRPr lang="en-US" sz="560" dirty="0"/>
          </a:p>
        </p:txBody>
      </p:sp>
      <p:sp>
        <p:nvSpPr>
          <p:cNvPr id="138" name="Text 135"/>
          <p:cNvSpPr txBox="1"/>
          <p:nvPr/>
        </p:nvSpPr>
        <p:spPr>
          <a:xfrm>
            <a:off x="9852660" y="2395728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60" b="1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HRS Q4</a:t>
            </a:r>
            <a:endParaRPr lang="en-US" sz="560" dirty="0"/>
          </a:p>
        </p:txBody>
      </p:sp>
      <p:sp>
        <p:nvSpPr>
          <p:cNvPr id="139" name="Text 136"/>
          <p:cNvSpPr txBox="1"/>
          <p:nvPr/>
        </p:nvSpPr>
        <p:spPr>
          <a:xfrm>
            <a:off x="10264140" y="2395728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60" b="1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CHG.</a:t>
            </a:r>
            <a:endParaRPr lang="en-US" sz="560" dirty="0"/>
          </a:p>
        </p:txBody>
      </p:sp>
      <p:sp>
        <p:nvSpPr>
          <p:cNvPr id="140" name="Text 137"/>
          <p:cNvSpPr txBox="1"/>
          <p:nvPr/>
        </p:nvSpPr>
        <p:spPr>
          <a:xfrm>
            <a:off x="10721340" y="2395728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60" b="1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NON-CHG.</a:t>
            </a:r>
            <a:endParaRPr lang="en-US" sz="560" dirty="0"/>
          </a:p>
        </p:txBody>
      </p:sp>
      <p:sp>
        <p:nvSpPr>
          <p:cNvPr id="141" name="Text 138"/>
          <p:cNvSpPr txBox="1"/>
          <p:nvPr/>
        </p:nvSpPr>
        <p:spPr>
          <a:xfrm>
            <a:off x="11087100" y="2395728"/>
            <a:ext cx="5303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60" b="1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UNREC. REV</a:t>
            </a:r>
            <a:endParaRPr lang="en-US" sz="560" dirty="0"/>
          </a:p>
        </p:txBody>
      </p:sp>
      <p:sp>
        <p:nvSpPr>
          <p:cNvPr id="142" name="Text 139"/>
          <p:cNvSpPr txBox="1"/>
          <p:nvPr/>
        </p:nvSpPr>
        <p:spPr>
          <a:xfrm>
            <a:off x="8965692" y="2560320"/>
            <a:ext cx="9144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AVC</a:t>
            </a:r>
            <a:endParaRPr lang="en-US" sz="680" dirty="0"/>
          </a:p>
        </p:txBody>
      </p:sp>
      <p:sp>
        <p:nvSpPr>
          <p:cNvPr id="143" name="Text 140"/>
          <p:cNvSpPr txBox="1"/>
          <p:nvPr/>
        </p:nvSpPr>
        <p:spPr>
          <a:xfrm>
            <a:off x="9852660" y="2560320"/>
            <a:ext cx="41148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21.5h</a:t>
            </a:r>
            <a:endParaRPr lang="en-US" sz="680" dirty="0"/>
          </a:p>
        </p:txBody>
      </p:sp>
      <p:sp>
        <p:nvSpPr>
          <p:cNvPr id="144" name="Text 141"/>
          <p:cNvSpPr txBox="1"/>
          <p:nvPr/>
        </p:nvSpPr>
        <p:spPr>
          <a:xfrm>
            <a:off x="10264140" y="2560320"/>
            <a:ext cx="4572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3.5h</a:t>
            </a:r>
            <a:endParaRPr lang="en-US" sz="680" dirty="0"/>
          </a:p>
        </p:txBody>
      </p:sp>
      <p:sp>
        <p:nvSpPr>
          <p:cNvPr id="145" name="Text 142"/>
          <p:cNvSpPr txBox="1"/>
          <p:nvPr/>
        </p:nvSpPr>
        <p:spPr>
          <a:xfrm>
            <a:off x="10721340" y="2560320"/>
            <a:ext cx="38404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B455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18.0h</a:t>
            </a:r>
            <a:endParaRPr lang="en-US" sz="680" dirty="0"/>
          </a:p>
        </p:txBody>
      </p:sp>
      <p:sp>
        <p:nvSpPr>
          <p:cNvPr id="146" name="Text 143"/>
          <p:cNvSpPr txBox="1"/>
          <p:nvPr/>
        </p:nvSpPr>
        <p:spPr>
          <a:xfrm>
            <a:off x="11087100" y="2560320"/>
            <a:ext cx="530352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B455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$2,700</a:t>
            </a:r>
            <a:endParaRPr lang="en-US" sz="680" dirty="0"/>
          </a:p>
        </p:txBody>
      </p:sp>
      <p:sp>
        <p:nvSpPr>
          <p:cNvPr id="147" name="Shape 144"/>
          <p:cNvSpPr/>
          <p:nvPr/>
        </p:nvSpPr>
        <p:spPr>
          <a:xfrm>
            <a:off x="8892540" y="2711196"/>
            <a:ext cx="2793492" cy="150876"/>
          </a:xfrm>
          <a:prstGeom prst="rect">
            <a:avLst/>
          </a:prstGeom>
          <a:solidFill>
            <a:srgbClr val="F2F6F8"/>
          </a:solidFill>
          <a:ln/>
        </p:spPr>
      </p:sp>
      <p:sp>
        <p:nvSpPr>
          <p:cNvPr id="148" name="Text 145"/>
          <p:cNvSpPr txBox="1"/>
          <p:nvPr/>
        </p:nvSpPr>
        <p:spPr>
          <a:xfrm>
            <a:off x="8965692" y="2711196"/>
            <a:ext cx="9144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Solotel</a:t>
            </a:r>
            <a:endParaRPr lang="en-US" sz="680" dirty="0"/>
          </a:p>
        </p:txBody>
      </p:sp>
      <p:sp>
        <p:nvSpPr>
          <p:cNvPr id="149" name="Text 146"/>
          <p:cNvSpPr txBox="1"/>
          <p:nvPr/>
        </p:nvSpPr>
        <p:spPr>
          <a:xfrm>
            <a:off x="9852660" y="2711196"/>
            <a:ext cx="41148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7.0h</a:t>
            </a:r>
            <a:endParaRPr lang="en-US" sz="680" dirty="0"/>
          </a:p>
        </p:txBody>
      </p:sp>
      <p:sp>
        <p:nvSpPr>
          <p:cNvPr id="150" name="Text 147"/>
          <p:cNvSpPr txBox="1"/>
          <p:nvPr/>
        </p:nvSpPr>
        <p:spPr>
          <a:xfrm>
            <a:off x="10264140" y="2711196"/>
            <a:ext cx="4572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7.0h</a:t>
            </a:r>
            <a:endParaRPr lang="en-US" sz="680" dirty="0"/>
          </a:p>
        </p:txBody>
      </p:sp>
      <p:sp>
        <p:nvSpPr>
          <p:cNvPr id="151" name="Text 148"/>
          <p:cNvSpPr txBox="1"/>
          <p:nvPr/>
        </p:nvSpPr>
        <p:spPr>
          <a:xfrm>
            <a:off x="10721340" y="2711196"/>
            <a:ext cx="38404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—</a:t>
            </a:r>
            <a:endParaRPr lang="en-US" sz="680" dirty="0"/>
          </a:p>
        </p:txBody>
      </p:sp>
      <p:sp>
        <p:nvSpPr>
          <p:cNvPr id="152" name="Text 149"/>
          <p:cNvSpPr txBox="1"/>
          <p:nvPr/>
        </p:nvSpPr>
        <p:spPr>
          <a:xfrm>
            <a:off x="11087100" y="2711196"/>
            <a:ext cx="530352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—</a:t>
            </a:r>
            <a:endParaRPr lang="en-US" sz="680" dirty="0"/>
          </a:p>
        </p:txBody>
      </p:sp>
      <p:sp>
        <p:nvSpPr>
          <p:cNvPr id="153" name="Text 150"/>
          <p:cNvSpPr txBox="1"/>
          <p:nvPr/>
        </p:nvSpPr>
        <p:spPr>
          <a:xfrm>
            <a:off x="8965692" y="2862072"/>
            <a:ext cx="9144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Trader House</a:t>
            </a:r>
            <a:endParaRPr lang="en-US" sz="680" dirty="0"/>
          </a:p>
        </p:txBody>
      </p:sp>
      <p:sp>
        <p:nvSpPr>
          <p:cNvPr id="154" name="Text 151"/>
          <p:cNvSpPr txBox="1"/>
          <p:nvPr/>
        </p:nvSpPr>
        <p:spPr>
          <a:xfrm>
            <a:off x="9852660" y="2862072"/>
            <a:ext cx="41148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3.5h</a:t>
            </a:r>
            <a:endParaRPr lang="en-US" sz="680" dirty="0"/>
          </a:p>
        </p:txBody>
      </p:sp>
      <p:sp>
        <p:nvSpPr>
          <p:cNvPr id="155" name="Text 152"/>
          <p:cNvSpPr txBox="1"/>
          <p:nvPr/>
        </p:nvSpPr>
        <p:spPr>
          <a:xfrm>
            <a:off x="10264140" y="2862072"/>
            <a:ext cx="4572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3.5h</a:t>
            </a:r>
            <a:endParaRPr lang="en-US" sz="680" dirty="0"/>
          </a:p>
        </p:txBody>
      </p:sp>
      <p:sp>
        <p:nvSpPr>
          <p:cNvPr id="156" name="Text 153"/>
          <p:cNvSpPr txBox="1"/>
          <p:nvPr/>
        </p:nvSpPr>
        <p:spPr>
          <a:xfrm>
            <a:off x="10721340" y="2862072"/>
            <a:ext cx="38404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—</a:t>
            </a:r>
            <a:endParaRPr lang="en-US" sz="680" dirty="0"/>
          </a:p>
        </p:txBody>
      </p:sp>
      <p:sp>
        <p:nvSpPr>
          <p:cNvPr id="157" name="Text 154"/>
          <p:cNvSpPr txBox="1"/>
          <p:nvPr/>
        </p:nvSpPr>
        <p:spPr>
          <a:xfrm>
            <a:off x="11087100" y="2862072"/>
            <a:ext cx="530352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—</a:t>
            </a:r>
            <a:endParaRPr lang="en-US" sz="680" dirty="0"/>
          </a:p>
        </p:txBody>
      </p:sp>
      <p:sp>
        <p:nvSpPr>
          <p:cNvPr id="158" name="Shape 155"/>
          <p:cNvSpPr/>
          <p:nvPr/>
        </p:nvSpPr>
        <p:spPr>
          <a:xfrm>
            <a:off x="8892540" y="3012948"/>
            <a:ext cx="2793492" cy="150876"/>
          </a:xfrm>
          <a:prstGeom prst="rect">
            <a:avLst/>
          </a:prstGeom>
          <a:solidFill>
            <a:srgbClr val="F2F6F8"/>
          </a:solidFill>
          <a:ln/>
        </p:spPr>
      </p:sp>
      <p:sp>
        <p:nvSpPr>
          <p:cNvPr id="159" name="Text 156"/>
          <p:cNvSpPr txBox="1"/>
          <p:nvPr/>
        </p:nvSpPr>
        <p:spPr>
          <a:xfrm>
            <a:off x="8965692" y="3012948"/>
            <a:ext cx="9144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Locals Co</a:t>
            </a:r>
            <a:endParaRPr lang="en-US" sz="680" dirty="0"/>
          </a:p>
        </p:txBody>
      </p:sp>
      <p:sp>
        <p:nvSpPr>
          <p:cNvPr id="160" name="Text 157"/>
          <p:cNvSpPr txBox="1"/>
          <p:nvPr/>
        </p:nvSpPr>
        <p:spPr>
          <a:xfrm>
            <a:off x="9852660" y="3012948"/>
            <a:ext cx="41148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3.5h</a:t>
            </a:r>
            <a:endParaRPr lang="en-US" sz="680" dirty="0"/>
          </a:p>
        </p:txBody>
      </p:sp>
      <p:sp>
        <p:nvSpPr>
          <p:cNvPr id="161" name="Text 158"/>
          <p:cNvSpPr txBox="1"/>
          <p:nvPr/>
        </p:nvSpPr>
        <p:spPr>
          <a:xfrm>
            <a:off x="10264140" y="3012948"/>
            <a:ext cx="4572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3.5h</a:t>
            </a:r>
            <a:endParaRPr lang="en-US" sz="680" dirty="0"/>
          </a:p>
        </p:txBody>
      </p:sp>
      <p:sp>
        <p:nvSpPr>
          <p:cNvPr id="162" name="Text 159"/>
          <p:cNvSpPr txBox="1"/>
          <p:nvPr/>
        </p:nvSpPr>
        <p:spPr>
          <a:xfrm>
            <a:off x="10721340" y="3012948"/>
            <a:ext cx="38404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—</a:t>
            </a:r>
            <a:endParaRPr lang="en-US" sz="680" dirty="0"/>
          </a:p>
        </p:txBody>
      </p:sp>
      <p:sp>
        <p:nvSpPr>
          <p:cNvPr id="163" name="Text 160"/>
          <p:cNvSpPr txBox="1"/>
          <p:nvPr/>
        </p:nvSpPr>
        <p:spPr>
          <a:xfrm>
            <a:off x="11087100" y="3012948"/>
            <a:ext cx="530352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—</a:t>
            </a:r>
            <a:endParaRPr lang="en-US" sz="680" dirty="0"/>
          </a:p>
        </p:txBody>
      </p:sp>
      <p:sp>
        <p:nvSpPr>
          <p:cNvPr id="164" name="Text 161"/>
          <p:cNvSpPr txBox="1"/>
          <p:nvPr/>
        </p:nvSpPr>
        <p:spPr>
          <a:xfrm>
            <a:off x="8965692" y="3163824"/>
            <a:ext cx="9144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HHG</a:t>
            </a:r>
            <a:endParaRPr lang="en-US" sz="680" dirty="0"/>
          </a:p>
        </p:txBody>
      </p:sp>
      <p:sp>
        <p:nvSpPr>
          <p:cNvPr id="165" name="Text 162"/>
          <p:cNvSpPr txBox="1"/>
          <p:nvPr/>
        </p:nvSpPr>
        <p:spPr>
          <a:xfrm>
            <a:off x="9852660" y="3163824"/>
            <a:ext cx="41148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3.5h</a:t>
            </a:r>
            <a:endParaRPr lang="en-US" sz="680" dirty="0"/>
          </a:p>
        </p:txBody>
      </p:sp>
      <p:sp>
        <p:nvSpPr>
          <p:cNvPr id="166" name="Text 163"/>
          <p:cNvSpPr txBox="1"/>
          <p:nvPr/>
        </p:nvSpPr>
        <p:spPr>
          <a:xfrm>
            <a:off x="10264140" y="3163824"/>
            <a:ext cx="4572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3.5h</a:t>
            </a:r>
            <a:endParaRPr lang="en-US" sz="680" dirty="0"/>
          </a:p>
        </p:txBody>
      </p:sp>
      <p:sp>
        <p:nvSpPr>
          <p:cNvPr id="167" name="Text 164"/>
          <p:cNvSpPr txBox="1"/>
          <p:nvPr/>
        </p:nvSpPr>
        <p:spPr>
          <a:xfrm>
            <a:off x="10721340" y="3163824"/>
            <a:ext cx="38404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—</a:t>
            </a:r>
            <a:endParaRPr lang="en-US" sz="680" dirty="0"/>
          </a:p>
        </p:txBody>
      </p:sp>
      <p:sp>
        <p:nvSpPr>
          <p:cNvPr id="168" name="Text 165"/>
          <p:cNvSpPr txBox="1"/>
          <p:nvPr/>
        </p:nvSpPr>
        <p:spPr>
          <a:xfrm>
            <a:off x="11087100" y="3163824"/>
            <a:ext cx="530352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—</a:t>
            </a:r>
            <a:endParaRPr lang="en-US" sz="680" dirty="0"/>
          </a:p>
        </p:txBody>
      </p:sp>
      <p:sp>
        <p:nvSpPr>
          <p:cNvPr id="169" name="Shape 166"/>
          <p:cNvSpPr/>
          <p:nvPr/>
        </p:nvSpPr>
        <p:spPr>
          <a:xfrm>
            <a:off x="8892540" y="3314700"/>
            <a:ext cx="2793492" cy="150876"/>
          </a:xfrm>
          <a:prstGeom prst="rect">
            <a:avLst/>
          </a:prstGeom>
          <a:solidFill>
            <a:srgbClr val="F2F6F8"/>
          </a:solidFill>
          <a:ln/>
        </p:spPr>
      </p:sp>
      <p:sp>
        <p:nvSpPr>
          <p:cNvPr id="170" name="Text 167"/>
          <p:cNvSpPr txBox="1"/>
          <p:nvPr/>
        </p:nvSpPr>
        <p:spPr>
          <a:xfrm>
            <a:off x="8965692" y="3314700"/>
            <a:ext cx="9144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Lucas Collective</a:t>
            </a:r>
            <a:endParaRPr lang="en-US" sz="680" dirty="0"/>
          </a:p>
        </p:txBody>
      </p:sp>
      <p:sp>
        <p:nvSpPr>
          <p:cNvPr id="171" name="Text 168"/>
          <p:cNvSpPr txBox="1"/>
          <p:nvPr/>
        </p:nvSpPr>
        <p:spPr>
          <a:xfrm>
            <a:off x="9852660" y="3314700"/>
            <a:ext cx="41148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3.0h</a:t>
            </a:r>
            <a:endParaRPr lang="en-US" sz="680" dirty="0"/>
          </a:p>
        </p:txBody>
      </p:sp>
      <p:sp>
        <p:nvSpPr>
          <p:cNvPr id="172" name="Text 169"/>
          <p:cNvSpPr txBox="1"/>
          <p:nvPr/>
        </p:nvSpPr>
        <p:spPr>
          <a:xfrm>
            <a:off x="10264140" y="3314700"/>
            <a:ext cx="4572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3.0h</a:t>
            </a:r>
            <a:endParaRPr lang="en-US" sz="680" dirty="0"/>
          </a:p>
        </p:txBody>
      </p:sp>
      <p:sp>
        <p:nvSpPr>
          <p:cNvPr id="173" name="Text 170"/>
          <p:cNvSpPr txBox="1"/>
          <p:nvPr/>
        </p:nvSpPr>
        <p:spPr>
          <a:xfrm>
            <a:off x="10721340" y="3314700"/>
            <a:ext cx="38404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—</a:t>
            </a:r>
            <a:endParaRPr lang="en-US" sz="680" dirty="0"/>
          </a:p>
        </p:txBody>
      </p:sp>
      <p:sp>
        <p:nvSpPr>
          <p:cNvPr id="174" name="Text 171"/>
          <p:cNvSpPr txBox="1"/>
          <p:nvPr/>
        </p:nvSpPr>
        <p:spPr>
          <a:xfrm>
            <a:off x="11087100" y="3314700"/>
            <a:ext cx="530352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—</a:t>
            </a:r>
            <a:endParaRPr lang="en-US" sz="680" dirty="0"/>
          </a:p>
        </p:txBody>
      </p:sp>
      <p:sp>
        <p:nvSpPr>
          <p:cNvPr id="175" name="Text 172"/>
          <p:cNvSpPr txBox="1"/>
          <p:nvPr/>
        </p:nvSpPr>
        <p:spPr>
          <a:xfrm>
            <a:off x="8965692" y="3465576"/>
            <a:ext cx="9144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Liquor Barons</a:t>
            </a:r>
            <a:endParaRPr lang="en-US" sz="680" dirty="0"/>
          </a:p>
        </p:txBody>
      </p:sp>
      <p:sp>
        <p:nvSpPr>
          <p:cNvPr id="176" name="Text 173"/>
          <p:cNvSpPr txBox="1"/>
          <p:nvPr/>
        </p:nvSpPr>
        <p:spPr>
          <a:xfrm>
            <a:off x="9852660" y="3465576"/>
            <a:ext cx="41148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2.5h</a:t>
            </a:r>
            <a:endParaRPr lang="en-US" sz="680" dirty="0"/>
          </a:p>
        </p:txBody>
      </p:sp>
      <p:sp>
        <p:nvSpPr>
          <p:cNvPr id="177" name="Text 174"/>
          <p:cNvSpPr txBox="1"/>
          <p:nvPr/>
        </p:nvSpPr>
        <p:spPr>
          <a:xfrm>
            <a:off x="10264140" y="3465576"/>
            <a:ext cx="4572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2.5h</a:t>
            </a:r>
            <a:endParaRPr lang="en-US" sz="680" dirty="0"/>
          </a:p>
        </p:txBody>
      </p:sp>
      <p:sp>
        <p:nvSpPr>
          <p:cNvPr id="178" name="Text 175"/>
          <p:cNvSpPr txBox="1"/>
          <p:nvPr/>
        </p:nvSpPr>
        <p:spPr>
          <a:xfrm>
            <a:off x="10721340" y="3465576"/>
            <a:ext cx="38404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—</a:t>
            </a:r>
            <a:endParaRPr lang="en-US" sz="680" dirty="0"/>
          </a:p>
        </p:txBody>
      </p:sp>
      <p:sp>
        <p:nvSpPr>
          <p:cNvPr id="179" name="Text 176"/>
          <p:cNvSpPr txBox="1"/>
          <p:nvPr/>
        </p:nvSpPr>
        <p:spPr>
          <a:xfrm>
            <a:off x="11087100" y="3465576"/>
            <a:ext cx="530352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—</a:t>
            </a:r>
            <a:endParaRPr lang="en-US" sz="680" dirty="0"/>
          </a:p>
        </p:txBody>
      </p:sp>
      <p:sp>
        <p:nvSpPr>
          <p:cNvPr id="180" name="Shape 177"/>
          <p:cNvSpPr/>
          <p:nvPr/>
        </p:nvSpPr>
        <p:spPr>
          <a:xfrm>
            <a:off x="8892540" y="3616452"/>
            <a:ext cx="2793492" cy="150876"/>
          </a:xfrm>
          <a:prstGeom prst="rect">
            <a:avLst/>
          </a:prstGeom>
          <a:solidFill>
            <a:srgbClr val="F2F6F8"/>
          </a:solidFill>
          <a:ln/>
        </p:spPr>
      </p:sp>
      <p:sp>
        <p:nvSpPr>
          <p:cNvPr id="181" name="Text 178"/>
          <p:cNvSpPr txBox="1"/>
          <p:nvPr/>
        </p:nvSpPr>
        <p:spPr>
          <a:xfrm>
            <a:off x="8965692" y="3616452"/>
            <a:ext cx="9144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BRG</a:t>
            </a:r>
            <a:endParaRPr lang="en-US" sz="680" dirty="0"/>
          </a:p>
        </p:txBody>
      </p:sp>
      <p:sp>
        <p:nvSpPr>
          <p:cNvPr id="182" name="Text 179"/>
          <p:cNvSpPr txBox="1"/>
          <p:nvPr/>
        </p:nvSpPr>
        <p:spPr>
          <a:xfrm>
            <a:off x="9852660" y="3616452"/>
            <a:ext cx="41148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2.1h</a:t>
            </a:r>
            <a:endParaRPr lang="en-US" sz="680" dirty="0"/>
          </a:p>
        </p:txBody>
      </p:sp>
      <p:sp>
        <p:nvSpPr>
          <p:cNvPr id="183" name="Text 180"/>
          <p:cNvSpPr txBox="1"/>
          <p:nvPr/>
        </p:nvSpPr>
        <p:spPr>
          <a:xfrm>
            <a:off x="10264140" y="3616452"/>
            <a:ext cx="4572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2.1h</a:t>
            </a:r>
            <a:endParaRPr lang="en-US" sz="680" dirty="0"/>
          </a:p>
        </p:txBody>
      </p:sp>
      <p:sp>
        <p:nvSpPr>
          <p:cNvPr id="184" name="Text 181"/>
          <p:cNvSpPr txBox="1"/>
          <p:nvPr/>
        </p:nvSpPr>
        <p:spPr>
          <a:xfrm>
            <a:off x="10721340" y="3616452"/>
            <a:ext cx="38404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—</a:t>
            </a:r>
            <a:endParaRPr lang="en-US" sz="680" dirty="0"/>
          </a:p>
        </p:txBody>
      </p:sp>
      <p:sp>
        <p:nvSpPr>
          <p:cNvPr id="185" name="Text 182"/>
          <p:cNvSpPr txBox="1"/>
          <p:nvPr/>
        </p:nvSpPr>
        <p:spPr>
          <a:xfrm>
            <a:off x="11087100" y="3616452"/>
            <a:ext cx="530352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—</a:t>
            </a:r>
            <a:endParaRPr lang="en-US" sz="680" dirty="0"/>
          </a:p>
        </p:txBody>
      </p:sp>
      <p:sp>
        <p:nvSpPr>
          <p:cNvPr id="186" name="Text 183"/>
          <p:cNvSpPr txBox="1"/>
          <p:nvPr/>
        </p:nvSpPr>
        <p:spPr>
          <a:xfrm>
            <a:off x="8965692" y="3767328"/>
            <a:ext cx="9144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Perks Hospitality</a:t>
            </a:r>
            <a:endParaRPr lang="en-US" sz="680" dirty="0"/>
          </a:p>
        </p:txBody>
      </p:sp>
      <p:sp>
        <p:nvSpPr>
          <p:cNvPr id="187" name="Text 184"/>
          <p:cNvSpPr txBox="1"/>
          <p:nvPr/>
        </p:nvSpPr>
        <p:spPr>
          <a:xfrm>
            <a:off x="9852660" y="3767328"/>
            <a:ext cx="41148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2.0h</a:t>
            </a:r>
            <a:endParaRPr lang="en-US" sz="680" dirty="0"/>
          </a:p>
        </p:txBody>
      </p:sp>
      <p:sp>
        <p:nvSpPr>
          <p:cNvPr id="188" name="Text 185"/>
          <p:cNvSpPr txBox="1"/>
          <p:nvPr/>
        </p:nvSpPr>
        <p:spPr>
          <a:xfrm>
            <a:off x="10264140" y="3767328"/>
            <a:ext cx="4572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2.0h</a:t>
            </a:r>
            <a:endParaRPr lang="en-US" sz="680" dirty="0"/>
          </a:p>
        </p:txBody>
      </p:sp>
      <p:sp>
        <p:nvSpPr>
          <p:cNvPr id="189" name="Text 186"/>
          <p:cNvSpPr txBox="1"/>
          <p:nvPr/>
        </p:nvSpPr>
        <p:spPr>
          <a:xfrm>
            <a:off x="10721340" y="3767328"/>
            <a:ext cx="38404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—</a:t>
            </a:r>
            <a:endParaRPr lang="en-US" sz="680" dirty="0"/>
          </a:p>
        </p:txBody>
      </p:sp>
      <p:sp>
        <p:nvSpPr>
          <p:cNvPr id="190" name="Text 187"/>
          <p:cNvSpPr txBox="1"/>
          <p:nvPr/>
        </p:nvSpPr>
        <p:spPr>
          <a:xfrm>
            <a:off x="11087100" y="3767328"/>
            <a:ext cx="530352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—</a:t>
            </a:r>
            <a:endParaRPr lang="en-US" sz="680" dirty="0"/>
          </a:p>
        </p:txBody>
      </p:sp>
      <p:sp>
        <p:nvSpPr>
          <p:cNvPr id="191" name="Shape 188"/>
          <p:cNvSpPr/>
          <p:nvPr/>
        </p:nvSpPr>
        <p:spPr>
          <a:xfrm>
            <a:off x="5715000" y="4727448"/>
            <a:ext cx="6062472" cy="169164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192" name="Text 189"/>
          <p:cNvSpPr txBox="1"/>
          <p:nvPr/>
        </p:nvSpPr>
        <p:spPr>
          <a:xfrm>
            <a:off x="5916168" y="4837176"/>
            <a:ext cx="5696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SUMMARY</a:t>
            </a:r>
            <a:endParaRPr lang="en-US" sz="1200" dirty="0"/>
          </a:p>
        </p:txBody>
      </p:sp>
      <p:sp>
        <p:nvSpPr>
          <p:cNvPr id="193" name="Text 190"/>
          <p:cNvSpPr txBox="1"/>
          <p:nvPr/>
        </p:nvSpPr>
        <p:spPr>
          <a:xfrm>
            <a:off x="5916168" y="5148072"/>
            <a:ext cx="565099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B455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 </a:t>
            </a:r>
            <a:pPr indent="0" marL="0">
              <a:buNone/>
            </a:pPr>
            <a:r>
              <a:rPr lang="en-US" sz="90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PS is $268k short on its P&amp;L, but partners paid H&amp;L $1.29M. </a:t>
            </a:r>
            <a:pPr indent="0" marL="0">
              <a:spcAft>
                <a:spcPts val="800"/>
              </a:spcAft>
              <a:buNone/>
            </a:pPr>
            <a:r>
              <a:rPr lang="en-US" sz="900" dirty="0">
                <a:solidFill>
                  <a:srgbClr val="3A4B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Part of the shortfall is partner and key-account work we don't charge for — the billable, non-chargeable hours.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C88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 </a:t>
            </a:r>
            <a:pPr indent="0" marL="0">
              <a:buNone/>
            </a:pPr>
            <a:r>
              <a:rPr lang="en-US" sz="90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Q4's hidden work so far: 20h, $3,000 of unrecognised PS revenue. </a:t>
            </a:r>
            <a:pPr indent="0" marL="0">
              <a:spcAft>
                <a:spcPts val="800"/>
              </a:spcAft>
              <a:buNone/>
            </a:pPr>
            <a:r>
              <a:rPr lang="en-US" sz="900" dirty="0">
                <a:solidFill>
                  <a:srgbClr val="3A4B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AVC's 9.2 upgrades (18h, $2,700) and H&amp;L Pay activations (2h, $300). 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 </a:t>
            </a:r>
            <a:pPr indent="0" marL="0">
              <a:buNone/>
            </a:pPr>
            <a:r>
              <a:rPr lang="en-US" sz="90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 renegotiate, every non-chargeable hour needs its partner or account, </a:t>
            </a:r>
            <a:pPr indent="0" marL="0">
              <a:spcAft>
                <a:spcPts val="800"/>
              </a:spcAft>
              <a:buNone/>
            </a:pPr>
            <a:r>
              <a:rPr lang="en-US" sz="900" dirty="0">
                <a:solidFill>
                  <a:srgbClr val="3A4B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 these tables total the revenue PS gives away against what each relationship pays.</a:t>
            </a:r>
            <a:endParaRPr lang="en-US" sz="900" dirty="0"/>
          </a:p>
        </p:txBody>
      </p:sp>
      <p:sp>
        <p:nvSpPr>
          <p:cNvPr id="194" name="Shape 191"/>
          <p:cNvSpPr/>
          <p:nvPr/>
        </p:nvSpPr>
        <p:spPr>
          <a:xfrm>
            <a:off x="5925312" y="6510528"/>
            <a:ext cx="5852160" cy="256032"/>
          </a:xfrm>
          <a:prstGeom prst="roundRect">
            <a:avLst>
              <a:gd name="adj" fmla="val 46429"/>
            </a:avLst>
          </a:prstGeom>
          <a:solidFill>
            <a:srgbClr val="12293A"/>
          </a:solidFill>
          <a:ln/>
        </p:spPr>
      </p:sp>
      <p:sp>
        <p:nvSpPr>
          <p:cNvPr id="195" name="Text 192"/>
          <p:cNvSpPr txBox="1"/>
          <p:nvPr/>
        </p:nvSpPr>
        <p:spPr>
          <a:xfrm>
            <a:off x="5925312" y="6510528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Source: PS P&amp;L Jan–Sep 2026 (Finance) · Premium Partner Commissions 2026 · HubSpot PS tickets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12293A"/>
          </a:solidFill>
          <a:ln/>
        </p:spPr>
      </p:sp>
      <p:sp>
        <p:nvSpPr>
          <p:cNvPr id="3" name="Shape 1"/>
          <p:cNvSpPr/>
          <p:nvPr/>
        </p:nvSpPr>
        <p:spPr>
          <a:xfrm>
            <a:off x="384048" y="155448"/>
            <a:ext cx="731520" cy="530352"/>
          </a:xfrm>
          <a:prstGeom prst="roundRect">
            <a:avLst>
              <a:gd name="adj" fmla="val 15517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84048" y="155448"/>
            <a:ext cx="731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H&amp;L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298448" y="54864"/>
            <a:ext cx="7223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Won vs Invoiced &amp; Retention</a:t>
            </a:r>
            <a:endParaRPr lang="en-US" sz="2300" dirty="0"/>
          </a:p>
        </p:txBody>
      </p:sp>
      <p:sp>
        <p:nvSpPr>
          <p:cNvPr id="6" name="Text 4"/>
          <p:cNvSpPr txBox="1"/>
          <p:nvPr/>
        </p:nvSpPr>
        <p:spPr>
          <a:xfrm>
            <a:off x="1316736" y="512064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FAEB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Sales, Professional Services &amp; Finance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8686800" y="246888"/>
            <a:ext cx="1965960" cy="347472"/>
          </a:xfrm>
          <a:prstGeom prst="roundRect">
            <a:avLst>
              <a:gd name="adj" fmla="val 50000"/>
            </a:avLst>
          </a:prstGeom>
          <a:solidFill>
            <a:srgbClr val="3D8F5F"/>
          </a:solidFill>
          <a:ln w="9525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0" y="24688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 ·  DID WE DELIVER?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0872216" y="0"/>
            <a:ext cx="841248" cy="841248"/>
          </a:xfrm>
          <a:prstGeom prst="ellipse">
            <a:avLst/>
          </a:prstGeom>
          <a:solidFill>
            <a:srgbClr val="1C5765"/>
          </a:solidFill>
          <a:ln/>
        </p:spPr>
      </p:sp>
      <p:sp>
        <p:nvSpPr>
          <p:cNvPr id="10" name="Shape 8"/>
          <p:cNvSpPr/>
          <p:nvPr/>
        </p:nvSpPr>
        <p:spPr>
          <a:xfrm>
            <a:off x="10968228" y="96012"/>
            <a:ext cx="649224" cy="649224"/>
          </a:xfrm>
          <a:prstGeom prst="ellipse">
            <a:avLst/>
          </a:prstGeom>
          <a:solidFill>
            <a:srgbClr val="2C8394"/>
          </a:solidFill>
          <a:ln/>
        </p:spPr>
      </p:sp>
      <p:sp>
        <p:nvSpPr>
          <p:cNvPr id="11" name="Shape 9"/>
          <p:cNvSpPr/>
          <p:nvPr/>
        </p:nvSpPr>
        <p:spPr>
          <a:xfrm>
            <a:off x="11064240" y="192024"/>
            <a:ext cx="457200" cy="457200"/>
          </a:xfrm>
          <a:prstGeom prst="ellipse">
            <a:avLst/>
          </a:prstGeom>
          <a:solidFill>
            <a:srgbClr val="6FAEBB"/>
          </a:solidFill>
          <a:ln/>
        </p:spPr>
      </p:sp>
      <p:sp>
        <p:nvSpPr>
          <p:cNvPr id="12" name="Shape 10"/>
          <p:cNvSpPr/>
          <p:nvPr/>
        </p:nvSpPr>
        <p:spPr>
          <a:xfrm>
            <a:off x="11160252" y="288036"/>
            <a:ext cx="265176" cy="265176"/>
          </a:xfrm>
          <a:prstGeom prst="ellipse">
            <a:avLst/>
          </a:prstGeom>
          <a:solidFill>
            <a:srgbClr val="E4F1F4"/>
          </a:solidFill>
          <a:ln/>
        </p:spPr>
      </p:sp>
      <p:sp>
        <p:nvSpPr>
          <p:cNvPr id="13" name="Shape 11"/>
          <p:cNvSpPr/>
          <p:nvPr/>
        </p:nvSpPr>
        <p:spPr>
          <a:xfrm>
            <a:off x="411480" y="1005840"/>
            <a:ext cx="6720840" cy="288036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12648" y="1097280"/>
            <a:ext cx="6318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NEW MRR — WON VS INVOICED BY MONTH · 2026   </a:t>
            </a:r>
            <a:pPr indent="0" marL="0">
              <a:buNone/>
            </a:pPr>
            <a:r>
              <a:rPr lang="en-US" sz="680" dirty="0">
                <a:solidFill>
                  <a:srgbClr val="3D8F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both series live</a:t>
            </a:r>
            <a:endParaRPr lang="en-US" sz="115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594360" y="1335024"/>
          <a:ext cx="6318504" cy="216712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6" name="Text 13"/>
          <p:cNvSpPr txBox="1"/>
          <p:nvPr/>
        </p:nvSpPr>
        <p:spPr>
          <a:xfrm>
            <a:off x="612648" y="3538728"/>
            <a:ext cx="6318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620" dirty="0"/>
          </a:p>
        </p:txBody>
      </p:sp>
      <p:sp>
        <p:nvSpPr>
          <p:cNvPr id="17" name="Shape 14"/>
          <p:cNvSpPr/>
          <p:nvPr/>
        </p:nvSpPr>
        <p:spPr>
          <a:xfrm>
            <a:off x="7269480" y="1005840"/>
            <a:ext cx="4507992" cy="89611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7434072" y="1097280"/>
            <a:ext cx="4178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AWAITING INVOICE — ARR</a:t>
            </a:r>
            <a:endParaRPr lang="en-US" sz="950" dirty="0"/>
          </a:p>
        </p:txBody>
      </p:sp>
      <p:sp>
        <p:nvSpPr>
          <p:cNvPr id="19" name="Text 16"/>
          <p:cNvSpPr txBox="1"/>
          <p:nvPr/>
        </p:nvSpPr>
        <p:spPr>
          <a:xfrm>
            <a:off x="7415784" y="1280160"/>
            <a:ext cx="4215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8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$241k</a:t>
            </a:r>
            <a:endParaRPr lang="en-US" sz="2000" dirty="0"/>
          </a:p>
        </p:txBody>
      </p:sp>
      <p:sp>
        <p:nvSpPr>
          <p:cNvPr id="20" name="Text 17"/>
          <p:cNvSpPr txBox="1"/>
          <p:nvPr/>
        </p:nvSpPr>
        <p:spPr>
          <a:xfrm>
            <a:off x="7434072" y="1609344"/>
            <a:ext cx="4178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24 of the 86 deals won with software MRR in 2026 have no row on the register · Oscars Group is $155k of it</a:t>
            </a:r>
            <a:endParaRPr lang="en-US" sz="780" dirty="0"/>
          </a:p>
        </p:txBody>
      </p:sp>
      <p:sp>
        <p:nvSpPr>
          <p:cNvPr id="21" name="Shape 18"/>
          <p:cNvSpPr/>
          <p:nvPr/>
        </p:nvSpPr>
        <p:spPr>
          <a:xfrm>
            <a:off x="7269480" y="1993392"/>
            <a:ext cx="4507992" cy="89611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7434072" y="2084832"/>
            <a:ext cx="4178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CHURNED ARR · 2025→</a:t>
            </a:r>
            <a:endParaRPr lang="en-US" sz="950" dirty="0"/>
          </a:p>
        </p:txBody>
      </p:sp>
      <p:sp>
        <p:nvSpPr>
          <p:cNvPr id="23" name="Text 20"/>
          <p:cNvSpPr txBox="1"/>
          <p:nvPr/>
        </p:nvSpPr>
        <p:spPr>
          <a:xfrm>
            <a:off x="7415784" y="2267712"/>
            <a:ext cx="4215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455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$1.31M</a:t>
            </a:r>
            <a:endParaRPr lang="en-US" sz="2000" dirty="0"/>
          </a:p>
        </p:txBody>
      </p:sp>
      <p:sp>
        <p:nvSpPr>
          <p:cNvPr id="24" name="Text 21"/>
          <p:cNvSpPr txBox="1"/>
          <p:nvPr/>
        </p:nvSpPr>
        <p:spPr>
          <a:xfrm>
            <a:off x="7434072" y="2596896"/>
            <a:ext cx="4178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276 logos · MRR movement register, 26 Oct · HubSpot churn object stopped being maintained after February</a:t>
            </a:r>
            <a:endParaRPr lang="en-US" sz="780" dirty="0"/>
          </a:p>
        </p:txBody>
      </p:sp>
      <p:sp>
        <p:nvSpPr>
          <p:cNvPr id="25" name="Shape 22"/>
          <p:cNvSpPr/>
          <p:nvPr/>
        </p:nvSpPr>
        <p:spPr>
          <a:xfrm>
            <a:off x="7269480" y="2980944"/>
            <a:ext cx="4507992" cy="905256"/>
          </a:xfrm>
          <a:prstGeom prst="roundRect">
            <a:avLst>
              <a:gd name="adj" fmla="val 70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26" name="Text 23"/>
          <p:cNvSpPr txBox="1"/>
          <p:nvPr/>
        </p:nvSpPr>
        <p:spPr>
          <a:xfrm>
            <a:off x="7434072" y="3072384"/>
            <a:ext cx="4178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NET MRR MOVEMENT · Q4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7415784" y="3255264"/>
            <a:ext cx="4215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455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-$8.9k</a:t>
            </a:r>
            <a:endParaRPr lang="en-US" sz="2000" dirty="0"/>
          </a:p>
        </p:txBody>
      </p:sp>
      <p:sp>
        <p:nvSpPr>
          <p:cNvPr id="28" name="Text 25"/>
          <p:cNvSpPr txBox="1"/>
          <p:nvPr/>
        </p:nvSpPr>
        <p:spPr>
          <a:xfrm>
            <a:off x="7434072" y="3584448"/>
            <a:ext cx="41788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Q4 to 25 Oct · new $3.8k − churn $10.5k − contraction $2.2k − credits $0</a:t>
            </a:r>
            <a:endParaRPr lang="en-US" sz="780" dirty="0"/>
          </a:p>
        </p:txBody>
      </p:sp>
      <p:sp>
        <p:nvSpPr>
          <p:cNvPr id="29" name="Shape 26"/>
          <p:cNvSpPr/>
          <p:nvPr/>
        </p:nvSpPr>
        <p:spPr>
          <a:xfrm>
            <a:off x="6309360" y="4023360"/>
            <a:ext cx="5468112" cy="2340864"/>
          </a:xfrm>
          <a:prstGeom prst="roundRect">
            <a:avLst>
              <a:gd name="adj" fmla="val 273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6510528" y="4105656"/>
            <a:ext cx="5065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TOP 10 NOT INVOICED   </a:t>
            </a:r>
            <a:pPr indent="0" marL="0">
              <a:buNone/>
            </a:pPr>
            <a:r>
              <a:rPr lang="en-US" sz="65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ARR — sums to the awaiting figure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6748272" y="4352544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CLIENT</a:t>
            </a:r>
            <a:endParaRPr lang="en-US" sz="700" dirty="0"/>
          </a:p>
        </p:txBody>
      </p:sp>
      <p:sp>
        <p:nvSpPr>
          <p:cNvPr id="32" name="Text 29"/>
          <p:cNvSpPr txBox="1"/>
          <p:nvPr/>
        </p:nvSpPr>
        <p:spPr>
          <a:xfrm>
            <a:off x="9052560" y="4352544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ARR</a:t>
            </a:r>
            <a:endParaRPr lang="en-US" sz="700" dirty="0"/>
          </a:p>
        </p:txBody>
      </p:sp>
      <p:sp>
        <p:nvSpPr>
          <p:cNvPr id="33" name="Text 30"/>
          <p:cNvSpPr txBox="1"/>
          <p:nvPr/>
        </p:nvSpPr>
        <p:spPr>
          <a:xfrm>
            <a:off x="9921240" y="4352544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MRR/mo</a:t>
            </a:r>
            <a:endParaRPr lang="en-US" sz="700" dirty="0"/>
          </a:p>
        </p:txBody>
      </p:sp>
      <p:sp>
        <p:nvSpPr>
          <p:cNvPr id="34" name="Text 31"/>
          <p:cNvSpPr txBox="1"/>
          <p:nvPr/>
        </p:nvSpPr>
        <p:spPr>
          <a:xfrm>
            <a:off x="10652760" y="4352544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WON</a:t>
            </a:r>
            <a:endParaRPr lang="en-US" sz="700" dirty="0"/>
          </a:p>
        </p:txBody>
      </p:sp>
      <p:sp>
        <p:nvSpPr>
          <p:cNvPr id="35" name="Text 32"/>
          <p:cNvSpPr txBox="1"/>
          <p:nvPr/>
        </p:nvSpPr>
        <p:spPr>
          <a:xfrm>
            <a:off x="11155680" y="435254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700" dirty="0"/>
          </a:p>
        </p:txBody>
      </p:sp>
      <p:sp>
        <p:nvSpPr>
          <p:cNvPr id="36" name="Text 33"/>
          <p:cNvSpPr txBox="1"/>
          <p:nvPr/>
        </p:nvSpPr>
        <p:spPr>
          <a:xfrm>
            <a:off x="6510528" y="4535424"/>
            <a:ext cx="2011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700" dirty="0"/>
          </a:p>
        </p:txBody>
      </p:sp>
      <p:sp>
        <p:nvSpPr>
          <p:cNvPr id="37" name="Text 34"/>
          <p:cNvSpPr txBox="1"/>
          <p:nvPr/>
        </p:nvSpPr>
        <p:spPr>
          <a:xfrm>
            <a:off x="6748272" y="4535424"/>
            <a:ext cx="2286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Oscars Hotels</a:t>
            </a:r>
            <a:endParaRPr lang="en-US" sz="750" dirty="0"/>
          </a:p>
        </p:txBody>
      </p:sp>
      <p:sp>
        <p:nvSpPr>
          <p:cNvPr id="38" name="Text 35"/>
          <p:cNvSpPr txBox="1"/>
          <p:nvPr/>
        </p:nvSpPr>
        <p:spPr>
          <a:xfrm>
            <a:off x="9052560" y="4535424"/>
            <a:ext cx="8229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B455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$155k</a:t>
            </a:r>
            <a:endParaRPr lang="en-US" sz="750" dirty="0"/>
          </a:p>
        </p:txBody>
      </p:sp>
      <p:sp>
        <p:nvSpPr>
          <p:cNvPr id="39" name="Text 36"/>
          <p:cNvSpPr txBox="1"/>
          <p:nvPr/>
        </p:nvSpPr>
        <p:spPr>
          <a:xfrm>
            <a:off x="9921240" y="4535424"/>
            <a:ext cx="6858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$12,880</a:t>
            </a:r>
            <a:endParaRPr lang="en-US" sz="750" dirty="0"/>
          </a:p>
        </p:txBody>
      </p:sp>
      <p:sp>
        <p:nvSpPr>
          <p:cNvPr id="40" name="Text 37"/>
          <p:cNvSpPr txBox="1"/>
          <p:nvPr/>
        </p:nvSpPr>
        <p:spPr>
          <a:xfrm>
            <a:off x="10652760" y="4535424"/>
            <a:ext cx="457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Mar</a:t>
            </a:r>
            <a:endParaRPr lang="en-US" sz="750" dirty="0"/>
          </a:p>
        </p:txBody>
      </p:sp>
      <p:sp>
        <p:nvSpPr>
          <p:cNvPr id="41" name="Text 38"/>
          <p:cNvSpPr txBox="1"/>
          <p:nvPr/>
        </p:nvSpPr>
        <p:spPr>
          <a:xfrm>
            <a:off x="11155680" y="4535424"/>
            <a:ext cx="3840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C88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◆</a:t>
            </a:r>
            <a:endParaRPr lang="en-US" sz="750" dirty="0"/>
          </a:p>
        </p:txBody>
      </p:sp>
      <p:sp>
        <p:nvSpPr>
          <p:cNvPr id="42" name="Text 39"/>
          <p:cNvSpPr txBox="1"/>
          <p:nvPr/>
        </p:nvSpPr>
        <p:spPr>
          <a:xfrm>
            <a:off x="6510528" y="4710989"/>
            <a:ext cx="2011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700" dirty="0"/>
          </a:p>
        </p:txBody>
      </p:sp>
      <p:sp>
        <p:nvSpPr>
          <p:cNvPr id="43" name="Text 40"/>
          <p:cNvSpPr txBox="1"/>
          <p:nvPr/>
        </p:nvSpPr>
        <p:spPr>
          <a:xfrm>
            <a:off x="6748272" y="4710989"/>
            <a:ext cx="2286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Mt Henry Tavern</a:t>
            </a:r>
            <a:endParaRPr lang="en-US" sz="750" dirty="0"/>
          </a:p>
        </p:txBody>
      </p:sp>
      <p:sp>
        <p:nvSpPr>
          <p:cNvPr id="44" name="Text 41"/>
          <p:cNvSpPr txBox="1"/>
          <p:nvPr/>
        </p:nvSpPr>
        <p:spPr>
          <a:xfrm>
            <a:off x="9052560" y="4710989"/>
            <a:ext cx="8229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B455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$11k</a:t>
            </a:r>
            <a:endParaRPr lang="en-US" sz="750" dirty="0"/>
          </a:p>
        </p:txBody>
      </p:sp>
      <p:sp>
        <p:nvSpPr>
          <p:cNvPr id="45" name="Text 42"/>
          <p:cNvSpPr txBox="1"/>
          <p:nvPr/>
        </p:nvSpPr>
        <p:spPr>
          <a:xfrm>
            <a:off x="9921240" y="4710989"/>
            <a:ext cx="6858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$905</a:t>
            </a:r>
            <a:endParaRPr lang="en-US" sz="750" dirty="0"/>
          </a:p>
        </p:txBody>
      </p:sp>
      <p:sp>
        <p:nvSpPr>
          <p:cNvPr id="46" name="Text 43"/>
          <p:cNvSpPr txBox="1"/>
          <p:nvPr/>
        </p:nvSpPr>
        <p:spPr>
          <a:xfrm>
            <a:off x="10652760" y="4710989"/>
            <a:ext cx="457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Oct</a:t>
            </a:r>
            <a:endParaRPr lang="en-US" sz="750" dirty="0"/>
          </a:p>
        </p:txBody>
      </p:sp>
      <p:sp>
        <p:nvSpPr>
          <p:cNvPr id="47" name="Text 44"/>
          <p:cNvSpPr txBox="1"/>
          <p:nvPr/>
        </p:nvSpPr>
        <p:spPr>
          <a:xfrm>
            <a:off x="11155680" y="4710989"/>
            <a:ext cx="3840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750" dirty="0"/>
          </a:p>
        </p:txBody>
      </p:sp>
      <p:sp>
        <p:nvSpPr>
          <p:cNvPr id="48" name="Text 45"/>
          <p:cNvSpPr txBox="1"/>
          <p:nvPr/>
        </p:nvSpPr>
        <p:spPr>
          <a:xfrm>
            <a:off x="6510528" y="4886554"/>
            <a:ext cx="2011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700" dirty="0"/>
          </a:p>
        </p:txBody>
      </p:sp>
      <p:sp>
        <p:nvSpPr>
          <p:cNvPr id="49" name="Text 46"/>
          <p:cNvSpPr txBox="1"/>
          <p:nvPr/>
        </p:nvSpPr>
        <p:spPr>
          <a:xfrm>
            <a:off x="6748272" y="4886554"/>
            <a:ext cx="2286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Caves House Hotel</a:t>
            </a:r>
            <a:endParaRPr lang="en-US" sz="750" dirty="0"/>
          </a:p>
        </p:txBody>
      </p:sp>
      <p:sp>
        <p:nvSpPr>
          <p:cNvPr id="50" name="Text 47"/>
          <p:cNvSpPr txBox="1"/>
          <p:nvPr/>
        </p:nvSpPr>
        <p:spPr>
          <a:xfrm>
            <a:off x="9052560" y="4886554"/>
            <a:ext cx="8229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B455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$8k</a:t>
            </a:r>
            <a:endParaRPr lang="en-US" sz="750" dirty="0"/>
          </a:p>
        </p:txBody>
      </p:sp>
      <p:sp>
        <p:nvSpPr>
          <p:cNvPr id="51" name="Text 48"/>
          <p:cNvSpPr txBox="1"/>
          <p:nvPr/>
        </p:nvSpPr>
        <p:spPr>
          <a:xfrm>
            <a:off x="9921240" y="4886554"/>
            <a:ext cx="6858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$669</a:t>
            </a:r>
            <a:endParaRPr lang="en-US" sz="750" dirty="0"/>
          </a:p>
        </p:txBody>
      </p:sp>
      <p:sp>
        <p:nvSpPr>
          <p:cNvPr id="52" name="Text 49"/>
          <p:cNvSpPr txBox="1"/>
          <p:nvPr/>
        </p:nvSpPr>
        <p:spPr>
          <a:xfrm>
            <a:off x="10652760" y="4886554"/>
            <a:ext cx="457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Aug</a:t>
            </a:r>
            <a:endParaRPr lang="en-US" sz="750" dirty="0"/>
          </a:p>
        </p:txBody>
      </p:sp>
      <p:sp>
        <p:nvSpPr>
          <p:cNvPr id="53" name="Text 50"/>
          <p:cNvSpPr txBox="1"/>
          <p:nvPr/>
        </p:nvSpPr>
        <p:spPr>
          <a:xfrm>
            <a:off x="11155680" y="4886554"/>
            <a:ext cx="3840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750" dirty="0"/>
          </a:p>
        </p:txBody>
      </p:sp>
      <p:sp>
        <p:nvSpPr>
          <p:cNvPr id="54" name="Text 51"/>
          <p:cNvSpPr txBox="1"/>
          <p:nvPr/>
        </p:nvSpPr>
        <p:spPr>
          <a:xfrm>
            <a:off x="6510528" y="5062118"/>
            <a:ext cx="2011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700" dirty="0"/>
          </a:p>
        </p:txBody>
      </p:sp>
      <p:sp>
        <p:nvSpPr>
          <p:cNvPr id="55" name="Text 52"/>
          <p:cNvSpPr txBox="1"/>
          <p:nvPr/>
        </p:nvSpPr>
        <p:spPr>
          <a:xfrm>
            <a:off x="6748272" y="5062118"/>
            <a:ext cx="2286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Pier Hotel - Pt Lincoln</a:t>
            </a:r>
            <a:endParaRPr lang="en-US" sz="750" dirty="0"/>
          </a:p>
        </p:txBody>
      </p:sp>
      <p:sp>
        <p:nvSpPr>
          <p:cNvPr id="56" name="Text 53"/>
          <p:cNvSpPr txBox="1"/>
          <p:nvPr/>
        </p:nvSpPr>
        <p:spPr>
          <a:xfrm>
            <a:off x="9052560" y="5062118"/>
            <a:ext cx="8229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B455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$8k</a:t>
            </a:r>
            <a:endParaRPr lang="en-US" sz="750" dirty="0"/>
          </a:p>
        </p:txBody>
      </p:sp>
      <p:sp>
        <p:nvSpPr>
          <p:cNvPr id="57" name="Text 54"/>
          <p:cNvSpPr txBox="1"/>
          <p:nvPr/>
        </p:nvSpPr>
        <p:spPr>
          <a:xfrm>
            <a:off x="9921240" y="5062118"/>
            <a:ext cx="6858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$648</a:t>
            </a:r>
            <a:endParaRPr lang="en-US" sz="750" dirty="0"/>
          </a:p>
        </p:txBody>
      </p:sp>
      <p:sp>
        <p:nvSpPr>
          <p:cNvPr id="58" name="Text 55"/>
          <p:cNvSpPr txBox="1"/>
          <p:nvPr/>
        </p:nvSpPr>
        <p:spPr>
          <a:xfrm>
            <a:off x="10652760" y="5062118"/>
            <a:ext cx="457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Oct</a:t>
            </a:r>
            <a:endParaRPr lang="en-US" sz="750" dirty="0"/>
          </a:p>
        </p:txBody>
      </p:sp>
      <p:sp>
        <p:nvSpPr>
          <p:cNvPr id="59" name="Text 56"/>
          <p:cNvSpPr txBox="1"/>
          <p:nvPr/>
        </p:nvSpPr>
        <p:spPr>
          <a:xfrm>
            <a:off x="11155680" y="5062118"/>
            <a:ext cx="3840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750" dirty="0"/>
          </a:p>
        </p:txBody>
      </p:sp>
      <p:sp>
        <p:nvSpPr>
          <p:cNvPr id="60" name="Text 57"/>
          <p:cNvSpPr txBox="1"/>
          <p:nvPr/>
        </p:nvSpPr>
        <p:spPr>
          <a:xfrm>
            <a:off x="6510528" y="5237683"/>
            <a:ext cx="2011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700" dirty="0"/>
          </a:p>
        </p:txBody>
      </p:sp>
      <p:sp>
        <p:nvSpPr>
          <p:cNvPr id="61" name="Text 58"/>
          <p:cNvSpPr txBox="1"/>
          <p:nvPr/>
        </p:nvSpPr>
        <p:spPr>
          <a:xfrm>
            <a:off x="6748272" y="5237683"/>
            <a:ext cx="2286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Iris Pavilion</a:t>
            </a:r>
            <a:endParaRPr lang="en-US" sz="750" dirty="0"/>
          </a:p>
        </p:txBody>
      </p:sp>
      <p:sp>
        <p:nvSpPr>
          <p:cNvPr id="62" name="Text 59"/>
          <p:cNvSpPr txBox="1"/>
          <p:nvPr/>
        </p:nvSpPr>
        <p:spPr>
          <a:xfrm>
            <a:off x="9052560" y="5237683"/>
            <a:ext cx="8229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B455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$7k</a:t>
            </a:r>
            <a:endParaRPr lang="en-US" sz="750" dirty="0"/>
          </a:p>
        </p:txBody>
      </p:sp>
      <p:sp>
        <p:nvSpPr>
          <p:cNvPr id="63" name="Text 60"/>
          <p:cNvSpPr txBox="1"/>
          <p:nvPr/>
        </p:nvSpPr>
        <p:spPr>
          <a:xfrm>
            <a:off x="9921240" y="5237683"/>
            <a:ext cx="6858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$623</a:t>
            </a:r>
            <a:endParaRPr lang="en-US" sz="750" dirty="0"/>
          </a:p>
        </p:txBody>
      </p:sp>
      <p:sp>
        <p:nvSpPr>
          <p:cNvPr id="64" name="Text 61"/>
          <p:cNvSpPr txBox="1"/>
          <p:nvPr/>
        </p:nvSpPr>
        <p:spPr>
          <a:xfrm>
            <a:off x="10652760" y="5237683"/>
            <a:ext cx="457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Sep</a:t>
            </a:r>
            <a:endParaRPr lang="en-US" sz="750" dirty="0"/>
          </a:p>
        </p:txBody>
      </p:sp>
      <p:sp>
        <p:nvSpPr>
          <p:cNvPr id="65" name="Text 62"/>
          <p:cNvSpPr txBox="1"/>
          <p:nvPr/>
        </p:nvSpPr>
        <p:spPr>
          <a:xfrm>
            <a:off x="11155680" y="5237683"/>
            <a:ext cx="3840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750" dirty="0"/>
          </a:p>
        </p:txBody>
      </p:sp>
      <p:sp>
        <p:nvSpPr>
          <p:cNvPr id="66" name="Text 63"/>
          <p:cNvSpPr txBox="1"/>
          <p:nvPr/>
        </p:nvSpPr>
        <p:spPr>
          <a:xfrm>
            <a:off x="6510528" y="5413248"/>
            <a:ext cx="2011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</a:t>
            </a:r>
            <a:endParaRPr lang="en-US" sz="700" dirty="0"/>
          </a:p>
        </p:txBody>
      </p:sp>
      <p:sp>
        <p:nvSpPr>
          <p:cNvPr id="67" name="Text 64"/>
          <p:cNvSpPr txBox="1"/>
          <p:nvPr/>
        </p:nvSpPr>
        <p:spPr>
          <a:xfrm>
            <a:off x="6748272" y="5413248"/>
            <a:ext cx="2286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Berrigan</a:t>
            </a:r>
            <a:endParaRPr lang="en-US" sz="750" dirty="0"/>
          </a:p>
        </p:txBody>
      </p:sp>
      <p:sp>
        <p:nvSpPr>
          <p:cNvPr id="68" name="Text 65"/>
          <p:cNvSpPr txBox="1"/>
          <p:nvPr/>
        </p:nvSpPr>
        <p:spPr>
          <a:xfrm>
            <a:off x="9052560" y="5413248"/>
            <a:ext cx="8229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B455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$6k</a:t>
            </a:r>
            <a:endParaRPr lang="en-US" sz="750" dirty="0"/>
          </a:p>
        </p:txBody>
      </p:sp>
      <p:sp>
        <p:nvSpPr>
          <p:cNvPr id="69" name="Text 66"/>
          <p:cNvSpPr txBox="1"/>
          <p:nvPr/>
        </p:nvSpPr>
        <p:spPr>
          <a:xfrm>
            <a:off x="9921240" y="5413248"/>
            <a:ext cx="6858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$475</a:t>
            </a:r>
            <a:endParaRPr lang="en-US" sz="750" dirty="0"/>
          </a:p>
        </p:txBody>
      </p:sp>
      <p:sp>
        <p:nvSpPr>
          <p:cNvPr id="70" name="Text 67"/>
          <p:cNvSpPr txBox="1"/>
          <p:nvPr/>
        </p:nvSpPr>
        <p:spPr>
          <a:xfrm>
            <a:off x="10652760" y="5413248"/>
            <a:ext cx="457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Mar</a:t>
            </a:r>
            <a:endParaRPr lang="en-US" sz="750" dirty="0"/>
          </a:p>
        </p:txBody>
      </p:sp>
      <p:sp>
        <p:nvSpPr>
          <p:cNvPr id="71" name="Text 68"/>
          <p:cNvSpPr txBox="1"/>
          <p:nvPr/>
        </p:nvSpPr>
        <p:spPr>
          <a:xfrm>
            <a:off x="11155680" y="5413248"/>
            <a:ext cx="3840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750" dirty="0"/>
          </a:p>
        </p:txBody>
      </p:sp>
      <p:sp>
        <p:nvSpPr>
          <p:cNvPr id="72" name="Text 69"/>
          <p:cNvSpPr txBox="1"/>
          <p:nvPr/>
        </p:nvSpPr>
        <p:spPr>
          <a:xfrm>
            <a:off x="6510528" y="5588813"/>
            <a:ext cx="2011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</a:t>
            </a:r>
            <a:endParaRPr lang="en-US" sz="700" dirty="0"/>
          </a:p>
        </p:txBody>
      </p:sp>
      <p:sp>
        <p:nvSpPr>
          <p:cNvPr id="73" name="Text 70"/>
          <p:cNvSpPr txBox="1"/>
          <p:nvPr/>
        </p:nvSpPr>
        <p:spPr>
          <a:xfrm>
            <a:off x="6748272" y="5588813"/>
            <a:ext cx="2286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Bar Carolina</a:t>
            </a:r>
            <a:endParaRPr lang="en-US" sz="750" dirty="0"/>
          </a:p>
        </p:txBody>
      </p:sp>
      <p:sp>
        <p:nvSpPr>
          <p:cNvPr id="74" name="Text 71"/>
          <p:cNvSpPr txBox="1"/>
          <p:nvPr/>
        </p:nvSpPr>
        <p:spPr>
          <a:xfrm>
            <a:off x="9052560" y="5588813"/>
            <a:ext cx="8229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B455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$6k</a:t>
            </a:r>
            <a:endParaRPr lang="en-US" sz="750" dirty="0"/>
          </a:p>
        </p:txBody>
      </p:sp>
      <p:sp>
        <p:nvSpPr>
          <p:cNvPr id="75" name="Text 72"/>
          <p:cNvSpPr txBox="1"/>
          <p:nvPr/>
        </p:nvSpPr>
        <p:spPr>
          <a:xfrm>
            <a:off x="9921240" y="5588813"/>
            <a:ext cx="6858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$474</a:t>
            </a:r>
            <a:endParaRPr lang="en-US" sz="750" dirty="0"/>
          </a:p>
        </p:txBody>
      </p:sp>
      <p:sp>
        <p:nvSpPr>
          <p:cNvPr id="76" name="Text 73"/>
          <p:cNvSpPr txBox="1"/>
          <p:nvPr/>
        </p:nvSpPr>
        <p:spPr>
          <a:xfrm>
            <a:off x="10652760" y="5588813"/>
            <a:ext cx="457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Oct</a:t>
            </a:r>
            <a:endParaRPr lang="en-US" sz="750" dirty="0"/>
          </a:p>
        </p:txBody>
      </p:sp>
      <p:sp>
        <p:nvSpPr>
          <p:cNvPr id="77" name="Text 74"/>
          <p:cNvSpPr txBox="1"/>
          <p:nvPr/>
        </p:nvSpPr>
        <p:spPr>
          <a:xfrm>
            <a:off x="11155680" y="5588813"/>
            <a:ext cx="3840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750" dirty="0"/>
          </a:p>
        </p:txBody>
      </p:sp>
      <p:sp>
        <p:nvSpPr>
          <p:cNvPr id="78" name="Text 75"/>
          <p:cNvSpPr txBox="1"/>
          <p:nvPr/>
        </p:nvSpPr>
        <p:spPr>
          <a:xfrm>
            <a:off x="6510528" y="5764378"/>
            <a:ext cx="2011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</a:t>
            </a:r>
            <a:endParaRPr lang="en-US" sz="700" dirty="0"/>
          </a:p>
        </p:txBody>
      </p:sp>
      <p:sp>
        <p:nvSpPr>
          <p:cNvPr id="79" name="Text 76"/>
          <p:cNvSpPr txBox="1"/>
          <p:nvPr/>
        </p:nvSpPr>
        <p:spPr>
          <a:xfrm>
            <a:off x="6748272" y="5764378"/>
            <a:ext cx="2286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Hotel Augusta</a:t>
            </a:r>
            <a:endParaRPr lang="en-US" sz="750" dirty="0"/>
          </a:p>
        </p:txBody>
      </p:sp>
      <p:sp>
        <p:nvSpPr>
          <p:cNvPr id="80" name="Text 77"/>
          <p:cNvSpPr txBox="1"/>
          <p:nvPr/>
        </p:nvSpPr>
        <p:spPr>
          <a:xfrm>
            <a:off x="9052560" y="5764378"/>
            <a:ext cx="8229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B455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$5k</a:t>
            </a:r>
            <a:endParaRPr lang="en-US" sz="750" dirty="0"/>
          </a:p>
        </p:txBody>
      </p:sp>
      <p:sp>
        <p:nvSpPr>
          <p:cNvPr id="81" name="Text 78"/>
          <p:cNvSpPr txBox="1"/>
          <p:nvPr/>
        </p:nvSpPr>
        <p:spPr>
          <a:xfrm>
            <a:off x="9921240" y="5764378"/>
            <a:ext cx="6858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$410</a:t>
            </a:r>
            <a:endParaRPr lang="en-US" sz="750" dirty="0"/>
          </a:p>
        </p:txBody>
      </p:sp>
      <p:sp>
        <p:nvSpPr>
          <p:cNvPr id="82" name="Text 79"/>
          <p:cNvSpPr txBox="1"/>
          <p:nvPr/>
        </p:nvSpPr>
        <p:spPr>
          <a:xfrm>
            <a:off x="10652760" y="5764378"/>
            <a:ext cx="457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Jun</a:t>
            </a:r>
            <a:endParaRPr lang="en-US" sz="750" dirty="0"/>
          </a:p>
        </p:txBody>
      </p:sp>
      <p:sp>
        <p:nvSpPr>
          <p:cNvPr id="83" name="Text 80"/>
          <p:cNvSpPr txBox="1"/>
          <p:nvPr/>
        </p:nvSpPr>
        <p:spPr>
          <a:xfrm>
            <a:off x="11155680" y="5764378"/>
            <a:ext cx="3840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750" dirty="0"/>
          </a:p>
        </p:txBody>
      </p:sp>
      <p:sp>
        <p:nvSpPr>
          <p:cNvPr id="84" name="Text 81"/>
          <p:cNvSpPr txBox="1"/>
          <p:nvPr/>
        </p:nvSpPr>
        <p:spPr>
          <a:xfrm>
            <a:off x="6510528" y="5939942"/>
            <a:ext cx="2011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</a:t>
            </a:r>
            <a:endParaRPr lang="en-US" sz="700" dirty="0"/>
          </a:p>
        </p:txBody>
      </p:sp>
      <p:sp>
        <p:nvSpPr>
          <p:cNvPr id="85" name="Text 82"/>
          <p:cNvSpPr txBox="1"/>
          <p:nvPr/>
        </p:nvSpPr>
        <p:spPr>
          <a:xfrm>
            <a:off x="6748272" y="5939942"/>
            <a:ext cx="2286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Star Hotel (Milton)</a:t>
            </a:r>
            <a:endParaRPr lang="en-US" sz="750" dirty="0"/>
          </a:p>
        </p:txBody>
      </p:sp>
      <p:sp>
        <p:nvSpPr>
          <p:cNvPr id="86" name="Text 83"/>
          <p:cNvSpPr txBox="1"/>
          <p:nvPr/>
        </p:nvSpPr>
        <p:spPr>
          <a:xfrm>
            <a:off x="9052560" y="5939942"/>
            <a:ext cx="8229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B455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$5k</a:t>
            </a:r>
            <a:endParaRPr lang="en-US" sz="750" dirty="0"/>
          </a:p>
        </p:txBody>
      </p:sp>
      <p:sp>
        <p:nvSpPr>
          <p:cNvPr id="87" name="Text 84"/>
          <p:cNvSpPr txBox="1"/>
          <p:nvPr/>
        </p:nvSpPr>
        <p:spPr>
          <a:xfrm>
            <a:off x="9921240" y="5939942"/>
            <a:ext cx="6858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$392</a:t>
            </a:r>
            <a:endParaRPr lang="en-US" sz="750" dirty="0"/>
          </a:p>
        </p:txBody>
      </p:sp>
      <p:sp>
        <p:nvSpPr>
          <p:cNvPr id="88" name="Text 85"/>
          <p:cNvSpPr txBox="1"/>
          <p:nvPr/>
        </p:nvSpPr>
        <p:spPr>
          <a:xfrm>
            <a:off x="10652760" y="5939942"/>
            <a:ext cx="457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Oct</a:t>
            </a:r>
            <a:endParaRPr lang="en-US" sz="750" dirty="0"/>
          </a:p>
        </p:txBody>
      </p:sp>
      <p:sp>
        <p:nvSpPr>
          <p:cNvPr id="89" name="Text 86"/>
          <p:cNvSpPr txBox="1"/>
          <p:nvPr/>
        </p:nvSpPr>
        <p:spPr>
          <a:xfrm>
            <a:off x="11155680" y="5939942"/>
            <a:ext cx="3840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750" dirty="0"/>
          </a:p>
        </p:txBody>
      </p:sp>
      <p:sp>
        <p:nvSpPr>
          <p:cNvPr id="90" name="Text 87"/>
          <p:cNvSpPr txBox="1"/>
          <p:nvPr/>
        </p:nvSpPr>
        <p:spPr>
          <a:xfrm>
            <a:off x="6510528" y="6115507"/>
            <a:ext cx="2011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</a:t>
            </a:r>
            <a:endParaRPr lang="en-US" sz="700" dirty="0"/>
          </a:p>
        </p:txBody>
      </p:sp>
      <p:sp>
        <p:nvSpPr>
          <p:cNvPr id="91" name="Text 88"/>
          <p:cNvSpPr txBox="1"/>
          <p:nvPr/>
        </p:nvSpPr>
        <p:spPr>
          <a:xfrm>
            <a:off x="6748272" y="6115507"/>
            <a:ext cx="2286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Bar Orient</a:t>
            </a:r>
            <a:endParaRPr lang="en-US" sz="750" dirty="0"/>
          </a:p>
        </p:txBody>
      </p:sp>
      <p:sp>
        <p:nvSpPr>
          <p:cNvPr id="92" name="Text 89"/>
          <p:cNvSpPr txBox="1"/>
          <p:nvPr/>
        </p:nvSpPr>
        <p:spPr>
          <a:xfrm>
            <a:off x="9052560" y="6115507"/>
            <a:ext cx="8229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B455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$5k</a:t>
            </a:r>
            <a:endParaRPr lang="en-US" sz="750" dirty="0"/>
          </a:p>
        </p:txBody>
      </p:sp>
      <p:sp>
        <p:nvSpPr>
          <p:cNvPr id="93" name="Text 90"/>
          <p:cNvSpPr txBox="1"/>
          <p:nvPr/>
        </p:nvSpPr>
        <p:spPr>
          <a:xfrm>
            <a:off x="9921240" y="6115507"/>
            <a:ext cx="6858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$377</a:t>
            </a:r>
            <a:endParaRPr lang="en-US" sz="750" dirty="0"/>
          </a:p>
        </p:txBody>
      </p:sp>
      <p:sp>
        <p:nvSpPr>
          <p:cNvPr id="94" name="Text 91"/>
          <p:cNvSpPr txBox="1"/>
          <p:nvPr/>
        </p:nvSpPr>
        <p:spPr>
          <a:xfrm>
            <a:off x="10652760" y="6115507"/>
            <a:ext cx="457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Sep</a:t>
            </a:r>
            <a:endParaRPr lang="en-US" sz="750" dirty="0"/>
          </a:p>
        </p:txBody>
      </p:sp>
      <p:sp>
        <p:nvSpPr>
          <p:cNvPr id="95" name="Text 92"/>
          <p:cNvSpPr txBox="1"/>
          <p:nvPr/>
        </p:nvSpPr>
        <p:spPr>
          <a:xfrm>
            <a:off x="11155680" y="6115507"/>
            <a:ext cx="3840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750" dirty="0"/>
          </a:p>
        </p:txBody>
      </p:sp>
      <p:sp>
        <p:nvSpPr>
          <p:cNvPr id="96" name="Shape 93"/>
          <p:cNvSpPr/>
          <p:nvPr/>
        </p:nvSpPr>
        <p:spPr>
          <a:xfrm>
            <a:off x="411480" y="4023360"/>
            <a:ext cx="5760720" cy="2340864"/>
          </a:xfrm>
          <a:prstGeom prst="roundRect">
            <a:avLst>
              <a:gd name="adj" fmla="val 273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97" name="Text 94"/>
          <p:cNvSpPr txBox="1"/>
          <p:nvPr/>
        </p:nvSpPr>
        <p:spPr>
          <a:xfrm>
            <a:off x="612648" y="413308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SUMMARY</a:t>
            </a:r>
            <a:endParaRPr lang="en-US" sz="1200" dirty="0"/>
          </a:p>
        </p:txBody>
      </p:sp>
      <p:sp>
        <p:nvSpPr>
          <p:cNvPr id="98" name="Text 95"/>
          <p:cNvSpPr txBox="1"/>
          <p:nvPr/>
        </p:nvSpPr>
        <p:spPr>
          <a:xfrm>
            <a:off x="612648" y="4425696"/>
            <a:ext cx="5349240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B455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 </a:t>
            </a:r>
            <a:pPr indent="0" marL="0">
              <a:buNone/>
            </a:pPr>
            <a:r>
              <a:rPr lang="en-US" sz="85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October has won $6,441 and invoiced $3,817. </a:t>
            </a:r>
            <a:pPr indent="0" marL="0">
              <a:spcAft>
                <a:spcPts val="600"/>
              </a:spcAft>
              <a:buNone/>
            </a:pPr>
            <a:r>
              <a:rPr lang="en-US" sz="850" dirty="0">
                <a:solidFill>
                  <a:srgbClr val="3A4B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new MRR was invoiced 19–25 Oct. 22 expansion rows worth $2,159 sit on the register dated 1 Nov — Lucas Collective's 13 sites, Warooka, Stokehouse, the Royal Hotel — so November opens with them.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C88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 </a:t>
            </a:r>
            <a:pPr indent="0" marL="0">
              <a:buNone/>
            </a:pPr>
            <a:r>
              <a:rPr lang="en-US" sz="85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Churn: three more logos, Q4 now −$8.9k net. </a:t>
            </a:r>
            <a:pPr indent="0" marL="0">
              <a:spcAft>
                <a:spcPts val="600"/>
              </a:spcAft>
              <a:buNone/>
            </a:pPr>
            <a:r>
              <a:rPr lang="en-US" sz="850" dirty="0">
                <a:solidFill>
                  <a:srgbClr val="3A4B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At The Jetty Bribie ($345), Riverview Smithtown ($412) and Tattersalls ($332). Re-read on 26 Oct, the register's churn since Jan 2025 is $1.31M across 276 logos.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 </a:t>
            </a:r>
            <a:pPr indent="0" marL="0">
              <a:buNone/>
            </a:pPr>
            <a:r>
              <a:rPr lang="en-US" sz="85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$241k of ARR is won with no row on the register. </a:t>
            </a:r>
            <a:pPr indent="0" marL="0">
              <a:spcAft>
                <a:spcPts val="600"/>
              </a:spcAft>
              <a:buNone/>
            </a:pPr>
            <a:r>
              <a:rPr lang="en-US" sz="850" dirty="0">
                <a:solidFill>
                  <a:srgbClr val="3A4B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24 of the 86 deals that carried software MRR in 2026 — six of this week's wins have no row yet. Oscars Group is $155k of it.</a:t>
            </a:r>
            <a:endParaRPr lang="en-US" sz="850" dirty="0"/>
          </a:p>
          <a:p>
            <a:pPr indent="0" marL="0">
              <a:buNone/>
            </a:pPr>
            <a:r>
              <a:rPr lang="en-US" sz="70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◆ Oscars Group — signed, ~1.5x rollout, held by the old provider's contract terms. AVC new sites are excluded throughout — 17 deals worth $8,759 of 2026 software MRR, parked licences that are not counted in MRR or ARR. Eight more sit below the cut, worth $1.6k/mo.</a:t>
            </a:r>
            <a:endParaRPr lang="en-US" sz="850" dirty="0"/>
          </a:p>
        </p:txBody>
      </p:sp>
      <p:sp>
        <p:nvSpPr>
          <p:cNvPr id="99" name="Text 96"/>
          <p:cNvSpPr txBox="1"/>
          <p:nvPr/>
        </p:nvSpPr>
        <p:spPr>
          <a:xfrm>
            <a:off x="411480" y="6455664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ARR = monthly MRR × 12 · matched on debtor ID and venue name</a:t>
            </a:r>
            <a:endParaRPr lang="en-US" sz="750" dirty="0"/>
          </a:p>
        </p:txBody>
      </p:sp>
      <p:sp>
        <p:nvSpPr>
          <p:cNvPr id="100" name="Shape 97"/>
          <p:cNvSpPr/>
          <p:nvPr/>
        </p:nvSpPr>
        <p:spPr>
          <a:xfrm>
            <a:off x="5925312" y="6510528"/>
            <a:ext cx="5852160" cy="256032"/>
          </a:xfrm>
          <a:prstGeom prst="roundRect">
            <a:avLst>
              <a:gd name="adj" fmla="val 46429"/>
            </a:avLst>
          </a:prstGeom>
          <a:solidFill>
            <a:srgbClr val="12293A"/>
          </a:solidFill>
          <a:ln/>
        </p:spPr>
      </p:sp>
      <p:sp>
        <p:nvSpPr>
          <p:cNvPr id="101" name="Text 98"/>
          <p:cNvSpPr txBox="1"/>
          <p:nvPr/>
        </p:nvSpPr>
        <p:spPr>
          <a:xfrm>
            <a:off x="5925312" y="6510528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Source: HubSpot closed-won deals (total_software_cost, AVC excluded) + MRR movement register (live, 26 Oct)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12293A"/>
          </a:solidFill>
          <a:ln/>
        </p:spPr>
      </p:sp>
      <p:sp>
        <p:nvSpPr>
          <p:cNvPr id="3" name="Shape 1"/>
          <p:cNvSpPr/>
          <p:nvPr/>
        </p:nvSpPr>
        <p:spPr>
          <a:xfrm>
            <a:off x="384048" y="155448"/>
            <a:ext cx="731520" cy="530352"/>
          </a:xfrm>
          <a:prstGeom prst="roundRect">
            <a:avLst>
              <a:gd name="adj" fmla="val 15517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84048" y="155448"/>
            <a:ext cx="731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H&amp;L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298448" y="54864"/>
            <a:ext cx="7223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Backlog</a:t>
            </a:r>
            <a:endParaRPr lang="en-US" sz="2300" dirty="0"/>
          </a:p>
        </p:txBody>
      </p:sp>
      <p:sp>
        <p:nvSpPr>
          <p:cNvPr id="6" name="Text 4"/>
          <p:cNvSpPr txBox="1"/>
          <p:nvPr/>
        </p:nvSpPr>
        <p:spPr>
          <a:xfrm>
            <a:off x="1316736" y="512064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FAEB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Support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8686800" y="246888"/>
            <a:ext cx="1965960" cy="347472"/>
          </a:xfrm>
          <a:prstGeom prst="roundRect">
            <a:avLst>
              <a:gd name="adj" fmla="val 50000"/>
            </a:avLst>
          </a:prstGeom>
          <a:solidFill>
            <a:srgbClr val="C88A2E"/>
          </a:solidFill>
          <a:ln w="9525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0" y="24688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 ·  DID WE KEEP THEM?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0872216" y="0"/>
            <a:ext cx="841248" cy="841248"/>
          </a:xfrm>
          <a:prstGeom prst="ellipse">
            <a:avLst/>
          </a:prstGeom>
          <a:solidFill>
            <a:srgbClr val="1C5765"/>
          </a:solidFill>
          <a:ln/>
        </p:spPr>
      </p:sp>
      <p:sp>
        <p:nvSpPr>
          <p:cNvPr id="10" name="Shape 8"/>
          <p:cNvSpPr/>
          <p:nvPr/>
        </p:nvSpPr>
        <p:spPr>
          <a:xfrm>
            <a:off x="10968228" y="96012"/>
            <a:ext cx="649224" cy="649224"/>
          </a:xfrm>
          <a:prstGeom prst="ellipse">
            <a:avLst/>
          </a:prstGeom>
          <a:solidFill>
            <a:srgbClr val="2C8394"/>
          </a:solidFill>
          <a:ln/>
        </p:spPr>
      </p:sp>
      <p:sp>
        <p:nvSpPr>
          <p:cNvPr id="11" name="Shape 9"/>
          <p:cNvSpPr/>
          <p:nvPr/>
        </p:nvSpPr>
        <p:spPr>
          <a:xfrm>
            <a:off x="11064240" y="192024"/>
            <a:ext cx="457200" cy="457200"/>
          </a:xfrm>
          <a:prstGeom prst="ellipse">
            <a:avLst/>
          </a:prstGeom>
          <a:solidFill>
            <a:srgbClr val="6FAEBB"/>
          </a:solidFill>
          <a:ln/>
        </p:spPr>
      </p:sp>
      <p:sp>
        <p:nvSpPr>
          <p:cNvPr id="12" name="Shape 10"/>
          <p:cNvSpPr/>
          <p:nvPr/>
        </p:nvSpPr>
        <p:spPr>
          <a:xfrm>
            <a:off x="11160252" y="288036"/>
            <a:ext cx="265176" cy="265176"/>
          </a:xfrm>
          <a:prstGeom prst="ellipse">
            <a:avLst/>
          </a:prstGeom>
          <a:solidFill>
            <a:srgbClr val="E4F1F4"/>
          </a:solidFill>
          <a:ln/>
        </p:spPr>
      </p:sp>
      <p:sp>
        <p:nvSpPr>
          <p:cNvPr id="13" name="Shape 11"/>
          <p:cNvSpPr/>
          <p:nvPr/>
        </p:nvSpPr>
        <p:spPr>
          <a:xfrm>
            <a:off x="411480" y="1024128"/>
            <a:ext cx="2126894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76072" y="1152144"/>
            <a:ext cx="292608" cy="41148"/>
          </a:xfrm>
          <a:prstGeom prst="rect">
            <a:avLst/>
          </a:prstGeom>
          <a:solidFill>
            <a:srgbClr val="1B8DA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76072" y="1225296"/>
            <a:ext cx="185257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OPEN BACKLOG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557784" y="1444752"/>
            <a:ext cx="185257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389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576072" y="1810512"/>
            <a:ext cx="185257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D8F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▼ from 588 last week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2721254" y="1024128"/>
            <a:ext cx="2126894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885846" y="1152144"/>
            <a:ext cx="292608" cy="41148"/>
          </a:xfrm>
          <a:prstGeom prst="rect">
            <a:avLst/>
          </a:prstGeom>
          <a:solidFill>
            <a:srgbClr val="1B8DA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2885846" y="1225296"/>
            <a:ext cx="185257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VOICE : EMAIL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2867558" y="1444752"/>
            <a:ext cx="185257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2.2 : 1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2885846" y="1810512"/>
            <a:ext cx="185257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▼ from 3.2 : 1 last week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5031029" y="1024128"/>
            <a:ext cx="2126894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195621" y="1152144"/>
            <a:ext cx="292608" cy="41148"/>
          </a:xfrm>
          <a:prstGeom prst="rect">
            <a:avLst/>
          </a:prstGeom>
          <a:solidFill>
            <a:srgbClr val="1B8DA6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195621" y="1225296"/>
            <a:ext cx="185257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MEDIAN TICKET AGE</a:t>
            </a:r>
            <a:endParaRPr lang="en-US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5177333" y="1444752"/>
            <a:ext cx="185257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31 Days</a:t>
            </a:r>
            <a:endParaRPr lang="en-US" sz="2400" dirty="0"/>
          </a:p>
        </p:txBody>
      </p:sp>
      <p:sp>
        <p:nvSpPr>
          <p:cNvPr id="27" name="Text 25"/>
          <p:cNvSpPr txBox="1"/>
          <p:nvPr/>
        </p:nvSpPr>
        <p:spPr>
          <a:xfrm>
            <a:off x="5195621" y="1810512"/>
            <a:ext cx="185257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B455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▲ from 27 days last week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7340803" y="1024128"/>
            <a:ext cx="2126894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505395" y="1152144"/>
            <a:ext cx="292608" cy="41148"/>
          </a:xfrm>
          <a:prstGeom prst="rect">
            <a:avLst/>
          </a:prstGeom>
          <a:solidFill>
            <a:srgbClr val="1B8DA6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505395" y="1225296"/>
            <a:ext cx="185257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AVG FIRST RESPONSE</a:t>
            </a:r>
            <a:endParaRPr lang="en-US" sz="850" dirty="0"/>
          </a:p>
        </p:txBody>
      </p:sp>
      <p:sp>
        <p:nvSpPr>
          <p:cNvPr id="31" name="Text 29"/>
          <p:cNvSpPr txBox="1"/>
          <p:nvPr/>
        </p:nvSpPr>
        <p:spPr>
          <a:xfrm>
            <a:off x="7487107" y="1444752"/>
            <a:ext cx="185257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14.7 Hrs</a:t>
            </a:r>
            <a:endParaRPr lang="en-US" sz="2400" dirty="0"/>
          </a:p>
        </p:txBody>
      </p:sp>
      <p:sp>
        <p:nvSpPr>
          <p:cNvPr id="32" name="Text 30"/>
          <p:cNvSpPr txBox="1"/>
          <p:nvPr/>
        </p:nvSpPr>
        <p:spPr>
          <a:xfrm>
            <a:off x="7505395" y="1810512"/>
            <a:ext cx="185257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D8F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▼ from 46.8 hrs last week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9650578" y="1024128"/>
            <a:ext cx="2126894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9815170" y="1152144"/>
            <a:ext cx="292608" cy="41148"/>
          </a:xfrm>
          <a:prstGeom prst="rect">
            <a:avLst/>
          </a:prstGeom>
          <a:solidFill>
            <a:srgbClr val="1B8DA6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9815170" y="1225296"/>
            <a:ext cx="185257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AVG TIME TO CLOSE</a:t>
            </a:r>
            <a:endParaRPr lang="en-US" sz="850" dirty="0"/>
          </a:p>
        </p:txBody>
      </p:sp>
      <p:sp>
        <p:nvSpPr>
          <p:cNvPr id="36" name="Text 34"/>
          <p:cNvSpPr txBox="1"/>
          <p:nvPr/>
        </p:nvSpPr>
        <p:spPr>
          <a:xfrm>
            <a:off x="9796882" y="1444752"/>
            <a:ext cx="185257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14.0 Days</a:t>
            </a:r>
            <a:endParaRPr lang="en-US" sz="2400" dirty="0"/>
          </a:p>
        </p:txBody>
      </p:sp>
      <p:sp>
        <p:nvSpPr>
          <p:cNvPr id="37" name="Text 35"/>
          <p:cNvSpPr txBox="1"/>
          <p:nvPr/>
        </p:nvSpPr>
        <p:spPr>
          <a:xfrm>
            <a:off x="9815170" y="1810512"/>
            <a:ext cx="185257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B455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▲ from 8.6 days last week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411480" y="2240280"/>
            <a:ext cx="6583680" cy="4114800"/>
          </a:xfrm>
          <a:prstGeom prst="roundRect">
            <a:avLst>
              <a:gd name="adj" fmla="val 1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39" name="Text 37"/>
          <p:cNvSpPr txBox="1"/>
          <p:nvPr/>
        </p:nvSpPr>
        <p:spPr>
          <a:xfrm>
            <a:off x="612648" y="2350008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NEW vs CLOSED — WEEKLY, WITH NET MOVEMENT</a:t>
            </a:r>
            <a:endParaRPr lang="en-US" sz="1200" dirty="0"/>
          </a:p>
        </p:txBody>
      </p:sp>
      <p:graphicFrame>
        <p:nvGraphicFramePr>
          <p:cNvPr id="40" name="Chart 0" descr=""/>
          <p:cNvGraphicFramePr/>
          <p:nvPr/>
        </p:nvGraphicFramePr>
        <p:xfrm>
          <a:off x="548640" y="2624328"/>
          <a:ext cx="6309360" cy="336499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1" name="Shape 38"/>
          <p:cNvSpPr/>
          <p:nvPr/>
        </p:nvSpPr>
        <p:spPr>
          <a:xfrm>
            <a:off x="7178040" y="2240280"/>
            <a:ext cx="4599432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42" name="Text 39"/>
          <p:cNvSpPr txBox="1"/>
          <p:nvPr/>
        </p:nvSpPr>
        <p:spPr>
          <a:xfrm>
            <a:off x="7379208" y="2331720"/>
            <a:ext cx="4197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WHERE THE 389 OPEN SIT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7379208" y="2624328"/>
            <a:ext cx="3002758" cy="109728"/>
          </a:xfrm>
          <a:prstGeom prst="rect">
            <a:avLst/>
          </a:prstGeom>
          <a:solidFill>
            <a:srgbClr val="1B8DA6"/>
          </a:solidFill>
          <a:ln/>
        </p:spPr>
      </p:sp>
      <p:sp>
        <p:nvSpPr>
          <p:cNvPr id="44" name="Shape 41"/>
          <p:cNvSpPr/>
          <p:nvPr/>
        </p:nvSpPr>
        <p:spPr>
          <a:xfrm>
            <a:off x="10400254" y="2624328"/>
            <a:ext cx="629079" cy="109728"/>
          </a:xfrm>
          <a:prstGeom prst="rect">
            <a:avLst/>
          </a:prstGeom>
          <a:solidFill>
            <a:srgbClr val="5B7C8A"/>
          </a:solidFill>
          <a:ln/>
        </p:spPr>
      </p:sp>
      <p:sp>
        <p:nvSpPr>
          <p:cNvPr id="45" name="Shape 42"/>
          <p:cNvSpPr/>
          <p:nvPr/>
        </p:nvSpPr>
        <p:spPr>
          <a:xfrm>
            <a:off x="11047621" y="2624328"/>
            <a:ext cx="89606" cy="109728"/>
          </a:xfrm>
          <a:prstGeom prst="rect">
            <a:avLst/>
          </a:prstGeom>
          <a:solidFill>
            <a:srgbClr val="E0A458"/>
          </a:solidFill>
          <a:ln/>
        </p:spPr>
      </p:sp>
      <p:sp>
        <p:nvSpPr>
          <p:cNvPr id="46" name="Shape 43"/>
          <p:cNvSpPr/>
          <p:nvPr/>
        </p:nvSpPr>
        <p:spPr>
          <a:xfrm>
            <a:off x="11155515" y="2624328"/>
            <a:ext cx="402501" cy="109728"/>
          </a:xfrm>
          <a:prstGeom prst="rect">
            <a:avLst/>
          </a:prstGeom>
          <a:solidFill>
            <a:srgbClr val="C2562A"/>
          </a:solidFill>
          <a:ln/>
        </p:spPr>
      </p:sp>
      <p:sp>
        <p:nvSpPr>
          <p:cNvPr id="47" name="Shape 44"/>
          <p:cNvSpPr/>
          <p:nvPr/>
        </p:nvSpPr>
        <p:spPr>
          <a:xfrm>
            <a:off x="7379208" y="2843784"/>
            <a:ext cx="994410" cy="676656"/>
          </a:xfrm>
          <a:prstGeom prst="rect">
            <a:avLst/>
          </a:prstGeom>
          <a:solidFill>
            <a:srgbClr val="F2F6F8"/>
          </a:solidFill>
          <a:ln/>
        </p:spPr>
      </p:sp>
      <p:sp>
        <p:nvSpPr>
          <p:cNvPr id="48" name="Shape 45"/>
          <p:cNvSpPr/>
          <p:nvPr/>
        </p:nvSpPr>
        <p:spPr>
          <a:xfrm>
            <a:off x="7379208" y="2843784"/>
            <a:ext cx="994410" cy="45720"/>
          </a:xfrm>
          <a:prstGeom prst="rect">
            <a:avLst/>
          </a:prstGeom>
          <a:solidFill>
            <a:srgbClr val="1B8DA6"/>
          </a:solidFill>
          <a:ln/>
        </p:spPr>
      </p:sp>
      <p:sp>
        <p:nvSpPr>
          <p:cNvPr id="49" name="Text 46"/>
          <p:cNvSpPr txBox="1"/>
          <p:nvPr/>
        </p:nvSpPr>
        <p:spPr>
          <a:xfrm>
            <a:off x="7379208" y="2935224"/>
            <a:ext cx="9944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280</a:t>
            </a:r>
            <a:endParaRPr lang="en-US" sz="1600" dirty="0"/>
          </a:p>
        </p:txBody>
      </p:sp>
      <p:sp>
        <p:nvSpPr>
          <p:cNvPr id="50" name="Text 47"/>
          <p:cNvSpPr txBox="1"/>
          <p:nvPr/>
        </p:nvSpPr>
        <p:spPr>
          <a:xfrm>
            <a:off x="7406640" y="3227832"/>
            <a:ext cx="93954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NEW</a:t>
            </a:r>
            <a:endParaRPr lang="en-US" sz="580" dirty="0"/>
          </a:p>
          <a:p>
            <a:pPr algn="ctr" indent="0" marL="0">
              <a:buNone/>
            </a:pPr>
            <a:r>
              <a:rPr lang="en-US" sz="58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72%</a:t>
            </a:r>
            <a:endParaRPr lang="en-US" sz="580" dirty="0"/>
          </a:p>
        </p:txBody>
      </p:sp>
      <p:sp>
        <p:nvSpPr>
          <p:cNvPr id="51" name="Shape 48"/>
          <p:cNvSpPr/>
          <p:nvPr/>
        </p:nvSpPr>
        <p:spPr>
          <a:xfrm>
            <a:off x="8446770" y="2843784"/>
            <a:ext cx="994410" cy="676656"/>
          </a:xfrm>
          <a:prstGeom prst="rect">
            <a:avLst/>
          </a:prstGeom>
          <a:solidFill>
            <a:srgbClr val="F2F6F8"/>
          </a:solidFill>
          <a:ln/>
        </p:spPr>
      </p:sp>
      <p:sp>
        <p:nvSpPr>
          <p:cNvPr id="52" name="Shape 49"/>
          <p:cNvSpPr/>
          <p:nvPr/>
        </p:nvSpPr>
        <p:spPr>
          <a:xfrm>
            <a:off x="8446770" y="2843784"/>
            <a:ext cx="994410" cy="45720"/>
          </a:xfrm>
          <a:prstGeom prst="rect">
            <a:avLst/>
          </a:prstGeom>
          <a:solidFill>
            <a:srgbClr val="5B7C8A"/>
          </a:solidFill>
          <a:ln/>
        </p:spPr>
      </p:sp>
      <p:sp>
        <p:nvSpPr>
          <p:cNvPr id="53" name="Text 50"/>
          <p:cNvSpPr txBox="1"/>
          <p:nvPr/>
        </p:nvSpPr>
        <p:spPr>
          <a:xfrm>
            <a:off x="8446770" y="2935224"/>
            <a:ext cx="9944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60</a:t>
            </a:r>
            <a:endParaRPr lang="en-US" sz="1600" dirty="0"/>
          </a:p>
        </p:txBody>
      </p:sp>
      <p:sp>
        <p:nvSpPr>
          <p:cNvPr id="54" name="Text 51"/>
          <p:cNvSpPr txBox="1"/>
          <p:nvPr/>
        </p:nvSpPr>
        <p:spPr>
          <a:xfrm>
            <a:off x="8474202" y="3227832"/>
            <a:ext cx="93954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 PROGRESS</a:t>
            </a:r>
            <a:endParaRPr lang="en-US" sz="580" dirty="0"/>
          </a:p>
          <a:p>
            <a:pPr algn="ctr" indent="0" marL="0">
              <a:buNone/>
            </a:pPr>
            <a:r>
              <a:rPr lang="en-US" sz="58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15%</a:t>
            </a:r>
            <a:endParaRPr lang="en-US" sz="580" dirty="0"/>
          </a:p>
        </p:txBody>
      </p:sp>
      <p:sp>
        <p:nvSpPr>
          <p:cNvPr id="55" name="Shape 52"/>
          <p:cNvSpPr/>
          <p:nvPr/>
        </p:nvSpPr>
        <p:spPr>
          <a:xfrm>
            <a:off x="9514332" y="2843784"/>
            <a:ext cx="994410" cy="676656"/>
          </a:xfrm>
          <a:prstGeom prst="rect">
            <a:avLst/>
          </a:prstGeom>
          <a:solidFill>
            <a:srgbClr val="F2F6F8"/>
          </a:solidFill>
          <a:ln/>
        </p:spPr>
      </p:sp>
      <p:sp>
        <p:nvSpPr>
          <p:cNvPr id="56" name="Shape 53"/>
          <p:cNvSpPr/>
          <p:nvPr/>
        </p:nvSpPr>
        <p:spPr>
          <a:xfrm>
            <a:off x="9514332" y="2843784"/>
            <a:ext cx="994410" cy="45720"/>
          </a:xfrm>
          <a:prstGeom prst="rect">
            <a:avLst/>
          </a:prstGeom>
          <a:solidFill>
            <a:srgbClr val="E0A458"/>
          </a:solidFill>
          <a:ln/>
        </p:spPr>
      </p:sp>
      <p:sp>
        <p:nvSpPr>
          <p:cNvPr id="57" name="Text 54"/>
          <p:cNvSpPr txBox="1"/>
          <p:nvPr/>
        </p:nvSpPr>
        <p:spPr>
          <a:xfrm>
            <a:off x="9514332" y="2935224"/>
            <a:ext cx="9944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</a:t>
            </a:r>
            <a:endParaRPr lang="en-US" sz="1600" dirty="0"/>
          </a:p>
        </p:txBody>
      </p:sp>
      <p:sp>
        <p:nvSpPr>
          <p:cNvPr id="58" name="Text 55"/>
          <p:cNvSpPr txBox="1"/>
          <p:nvPr/>
        </p:nvSpPr>
        <p:spPr>
          <a:xfrm>
            <a:off x="9541764" y="3227832"/>
            <a:ext cx="93954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PENDING INTERNAL</a:t>
            </a:r>
            <a:endParaRPr lang="en-US" sz="580" dirty="0"/>
          </a:p>
          <a:p>
            <a:pPr algn="ctr" indent="0" marL="0">
              <a:buNone/>
            </a:pPr>
            <a:r>
              <a:rPr lang="en-US" sz="58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3%</a:t>
            </a:r>
            <a:endParaRPr lang="en-US" sz="580" dirty="0"/>
          </a:p>
        </p:txBody>
      </p:sp>
      <p:sp>
        <p:nvSpPr>
          <p:cNvPr id="59" name="Shape 56"/>
          <p:cNvSpPr/>
          <p:nvPr/>
        </p:nvSpPr>
        <p:spPr>
          <a:xfrm>
            <a:off x="10581894" y="2843784"/>
            <a:ext cx="994410" cy="676656"/>
          </a:xfrm>
          <a:prstGeom prst="rect">
            <a:avLst/>
          </a:prstGeom>
          <a:solidFill>
            <a:srgbClr val="F2F6F8"/>
          </a:solidFill>
          <a:ln/>
        </p:spPr>
      </p:sp>
      <p:sp>
        <p:nvSpPr>
          <p:cNvPr id="60" name="Shape 57"/>
          <p:cNvSpPr/>
          <p:nvPr/>
        </p:nvSpPr>
        <p:spPr>
          <a:xfrm>
            <a:off x="10581894" y="2843784"/>
            <a:ext cx="994410" cy="45720"/>
          </a:xfrm>
          <a:prstGeom prst="rect">
            <a:avLst/>
          </a:prstGeom>
          <a:solidFill>
            <a:srgbClr val="C2562A"/>
          </a:solidFill>
          <a:ln/>
        </p:spPr>
      </p:sp>
      <p:sp>
        <p:nvSpPr>
          <p:cNvPr id="61" name="Text 58"/>
          <p:cNvSpPr txBox="1"/>
          <p:nvPr/>
        </p:nvSpPr>
        <p:spPr>
          <a:xfrm>
            <a:off x="10581894" y="2935224"/>
            <a:ext cx="9944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39</a:t>
            </a:r>
            <a:endParaRPr lang="en-US" sz="1600" dirty="0"/>
          </a:p>
        </p:txBody>
      </p:sp>
      <p:sp>
        <p:nvSpPr>
          <p:cNvPr id="62" name="Text 59"/>
          <p:cNvSpPr txBox="1"/>
          <p:nvPr/>
        </p:nvSpPr>
        <p:spPr>
          <a:xfrm>
            <a:off x="10609326" y="3227832"/>
            <a:ext cx="93954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PENDING EXTERNAL</a:t>
            </a:r>
            <a:endParaRPr lang="en-US" sz="580" dirty="0"/>
          </a:p>
          <a:p>
            <a:pPr algn="ctr" indent="0" marL="0">
              <a:buNone/>
            </a:pPr>
            <a:r>
              <a:rPr lang="en-US" sz="58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10%</a:t>
            </a:r>
            <a:endParaRPr lang="en-US" sz="580" dirty="0"/>
          </a:p>
        </p:txBody>
      </p:sp>
      <p:sp>
        <p:nvSpPr>
          <p:cNvPr id="63" name="Shape 60"/>
          <p:cNvSpPr/>
          <p:nvPr/>
        </p:nvSpPr>
        <p:spPr>
          <a:xfrm>
            <a:off x="7178040" y="3776472"/>
            <a:ext cx="4599432" cy="2578608"/>
          </a:xfrm>
          <a:prstGeom prst="roundRect">
            <a:avLst>
              <a:gd name="adj" fmla="val 24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64" name="Text 61"/>
          <p:cNvSpPr txBox="1"/>
          <p:nvPr/>
        </p:nvSpPr>
        <p:spPr>
          <a:xfrm>
            <a:off x="7379208" y="3886200"/>
            <a:ext cx="4233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SUMMARY</a:t>
            </a:r>
            <a:endParaRPr lang="en-US" sz="1200" dirty="0"/>
          </a:p>
        </p:txBody>
      </p:sp>
      <p:sp>
        <p:nvSpPr>
          <p:cNvPr id="65" name="Text 62"/>
          <p:cNvSpPr txBox="1"/>
          <p:nvPr/>
        </p:nvSpPr>
        <p:spPr>
          <a:xfrm>
            <a:off x="7379208" y="4197096"/>
            <a:ext cx="4187952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B8DA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 </a:t>
            </a:r>
            <a:pPr indent="0" marL="0">
              <a:buNone/>
            </a:pPr>
            <a:r>
              <a:rPr lang="en-US" sz="90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Closed has beaten new three weeks running. </a:t>
            </a:r>
            <a:pPr indent="0" marL="0">
              <a:spcAft>
                <a:spcPts val="800"/>
              </a:spcAft>
              <a:buNone/>
            </a:pPr>
            <a:r>
              <a:rPr lang="en-US" sz="900" dirty="0">
                <a:solidFill>
                  <a:srgbClr val="3A4B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597 closed against 396 new this week — net −201, the biggest weekly fall in six months. Open is 389, down from 588.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C256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 </a:t>
            </a:r>
            <a:pPr indent="0" marL="0">
              <a:buNone/>
            </a:pPr>
            <a:r>
              <a:rPr lang="en-US" sz="90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Clearing old tickets pushed the averages up. </a:t>
            </a:r>
            <a:pPr indent="0" marL="0">
              <a:spcAft>
                <a:spcPts val="800"/>
              </a:spcAft>
              <a:buNone/>
            </a:pPr>
            <a:r>
              <a:rPr lang="en-US" sz="900" dirty="0">
                <a:solidFill>
                  <a:srgbClr val="3A4B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54 old voice tickets were bulk-closed on Monday, so average time to close rose from 8.6 to 14.0 days. What's left open is older too: median age 27 → 31 days.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 </a:t>
            </a:r>
            <a:pPr indent="0" marL="0">
              <a:buNone/>
            </a:pPr>
            <a:r>
              <a:rPr lang="en-US" sz="90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First response looks faster, on a thin base. </a:t>
            </a:r>
            <a:pPr indent="0" marL="0">
              <a:spcAft>
                <a:spcPts val="800"/>
              </a:spcAft>
              <a:buNone/>
            </a:pPr>
            <a:r>
              <a:rPr lang="en-US" sz="900" dirty="0">
                <a:solidFill>
                  <a:srgbClr val="3A4B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14.7 hrs against 46.8 hrs last week — but only email-answered tickets carry a response time (14% of new tickets), and ones still waiting aren't counted yet.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 </a:t>
            </a:r>
            <a:pPr indent="0" marL="0">
              <a:spcAft>
                <a:spcPts val="800"/>
              </a:spcAft>
              <a:buNone/>
            </a:pPr>
            <a:r>
              <a:rPr lang="en-US" sz="90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Voice : email = new tickets by Source, phone vs email. First response = time to first agent email reply; phone and AI-agent tickets have none.</a:t>
            </a:r>
            <a:endParaRPr lang="en-US" sz="900" dirty="0"/>
          </a:p>
        </p:txBody>
      </p:sp>
      <p:sp>
        <p:nvSpPr>
          <p:cNvPr id="66" name="Shape 63"/>
          <p:cNvSpPr/>
          <p:nvPr/>
        </p:nvSpPr>
        <p:spPr>
          <a:xfrm>
            <a:off x="9202522" y="6510528"/>
            <a:ext cx="2574950" cy="256032"/>
          </a:xfrm>
          <a:prstGeom prst="roundRect">
            <a:avLst>
              <a:gd name="adj" fmla="val 46429"/>
            </a:avLst>
          </a:prstGeom>
          <a:solidFill>
            <a:srgbClr val="12293A"/>
          </a:solidFill>
          <a:ln/>
        </p:spPr>
      </p:sp>
      <p:sp>
        <p:nvSpPr>
          <p:cNvPr id="67" name="Text 64"/>
          <p:cNvSpPr txBox="1"/>
          <p:nvPr/>
        </p:nvSpPr>
        <p:spPr>
          <a:xfrm>
            <a:off x="9202522" y="6510528"/>
            <a:ext cx="25749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Source: HubSpot Support pipeline only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12293A"/>
          </a:solidFill>
          <a:ln/>
        </p:spPr>
      </p:sp>
      <p:sp>
        <p:nvSpPr>
          <p:cNvPr id="3" name="Shape 1"/>
          <p:cNvSpPr/>
          <p:nvPr/>
        </p:nvSpPr>
        <p:spPr>
          <a:xfrm>
            <a:off x="384048" y="155448"/>
            <a:ext cx="731520" cy="530352"/>
          </a:xfrm>
          <a:prstGeom prst="roundRect">
            <a:avLst>
              <a:gd name="adj" fmla="val 15517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84048" y="155448"/>
            <a:ext cx="731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H&amp;L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298448" y="54864"/>
            <a:ext cx="7223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Q3 Roadmap</a:t>
            </a:r>
            <a:endParaRPr lang="en-US" sz="2300" dirty="0"/>
          </a:p>
        </p:txBody>
      </p:sp>
      <p:sp>
        <p:nvSpPr>
          <p:cNvPr id="6" name="Text 4"/>
          <p:cNvSpPr txBox="1"/>
          <p:nvPr/>
        </p:nvSpPr>
        <p:spPr>
          <a:xfrm>
            <a:off x="1316736" y="512064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FAEB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Product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8686800" y="246888"/>
            <a:ext cx="1965960" cy="347472"/>
          </a:xfrm>
          <a:prstGeom prst="roundRect">
            <a:avLst>
              <a:gd name="adj" fmla="val 50000"/>
            </a:avLst>
          </a:prstGeom>
          <a:solidFill>
            <a:srgbClr val="24435C"/>
          </a:solidFill>
          <a:ln w="9525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0" y="24688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 ·  BUILDING THE FUTURE?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0872216" y="0"/>
            <a:ext cx="841248" cy="841248"/>
          </a:xfrm>
          <a:prstGeom prst="ellipse">
            <a:avLst/>
          </a:prstGeom>
          <a:solidFill>
            <a:srgbClr val="1C5765"/>
          </a:solidFill>
          <a:ln/>
        </p:spPr>
      </p:sp>
      <p:sp>
        <p:nvSpPr>
          <p:cNvPr id="10" name="Shape 8"/>
          <p:cNvSpPr/>
          <p:nvPr/>
        </p:nvSpPr>
        <p:spPr>
          <a:xfrm>
            <a:off x="10968228" y="96012"/>
            <a:ext cx="649224" cy="649224"/>
          </a:xfrm>
          <a:prstGeom prst="ellipse">
            <a:avLst/>
          </a:prstGeom>
          <a:solidFill>
            <a:srgbClr val="2C8394"/>
          </a:solidFill>
          <a:ln/>
        </p:spPr>
      </p:sp>
      <p:sp>
        <p:nvSpPr>
          <p:cNvPr id="11" name="Shape 9"/>
          <p:cNvSpPr/>
          <p:nvPr/>
        </p:nvSpPr>
        <p:spPr>
          <a:xfrm>
            <a:off x="11064240" y="192024"/>
            <a:ext cx="457200" cy="457200"/>
          </a:xfrm>
          <a:prstGeom prst="ellipse">
            <a:avLst/>
          </a:prstGeom>
          <a:solidFill>
            <a:srgbClr val="6FAEBB"/>
          </a:solidFill>
          <a:ln/>
        </p:spPr>
      </p:sp>
      <p:sp>
        <p:nvSpPr>
          <p:cNvPr id="12" name="Shape 10"/>
          <p:cNvSpPr/>
          <p:nvPr/>
        </p:nvSpPr>
        <p:spPr>
          <a:xfrm>
            <a:off x="11160252" y="288036"/>
            <a:ext cx="265176" cy="265176"/>
          </a:xfrm>
          <a:prstGeom prst="ellipse">
            <a:avLst/>
          </a:prstGeom>
          <a:solidFill>
            <a:srgbClr val="E4F1F4"/>
          </a:solidFill>
          <a:ln/>
        </p:spPr>
      </p:sp>
      <p:sp>
        <p:nvSpPr>
          <p:cNvPr id="13" name="Shape 11"/>
          <p:cNvSpPr/>
          <p:nvPr/>
        </p:nvSpPr>
        <p:spPr>
          <a:xfrm>
            <a:off x="411480" y="987552"/>
            <a:ext cx="164592" cy="164592"/>
          </a:xfrm>
          <a:prstGeom prst="ellipse">
            <a:avLst/>
          </a:prstGeom>
          <a:solidFill>
            <a:srgbClr val="3D8F5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30936" y="9144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 Done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595628" y="987552"/>
            <a:ext cx="164592" cy="164592"/>
          </a:xfrm>
          <a:prstGeom prst="ellipse">
            <a:avLst/>
          </a:prstGeom>
          <a:solidFill>
            <a:srgbClr val="C88A2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815084" y="9144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12 On Track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090672" y="987552"/>
            <a:ext cx="164592" cy="164592"/>
          </a:xfrm>
          <a:prstGeom prst="ellipse">
            <a:avLst/>
          </a:prstGeom>
          <a:solidFill>
            <a:srgbClr val="C7D3D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3310128" y="9144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Not Started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41164" y="987552"/>
            <a:ext cx="164592" cy="164592"/>
          </a:xfrm>
          <a:prstGeom prst="ellipse">
            <a:avLst/>
          </a:prstGeom>
          <a:solidFill>
            <a:srgbClr val="B4552D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960620" y="9144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At risk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080760" y="9144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· 27 items across 6 sprints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3794760" y="1261872"/>
            <a:ext cx="13304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Jul wk1-2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5125212" y="1261872"/>
            <a:ext cx="13304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Jul wk3-4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6455664" y="1261872"/>
            <a:ext cx="13304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Aug wk1-2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7786116" y="1261872"/>
            <a:ext cx="13304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Aug wk3-4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9116568" y="1261872"/>
            <a:ext cx="13304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Sep wk1-2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0447020" y="1261872"/>
            <a:ext cx="13304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Sep wk3-4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11480" y="1572768"/>
            <a:ext cx="11365992" cy="17556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457200" y="1572768"/>
            <a:ext cx="3291840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Metcash Phase 1B</a:t>
            </a:r>
            <a:endParaRPr lang="en-US" sz="730" dirty="0"/>
          </a:p>
        </p:txBody>
      </p:sp>
      <p:sp>
        <p:nvSpPr>
          <p:cNvPr id="30" name="Shape 28"/>
          <p:cNvSpPr/>
          <p:nvPr/>
        </p:nvSpPr>
        <p:spPr>
          <a:xfrm>
            <a:off x="3794760" y="1591056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31" name="Shape 29"/>
          <p:cNvSpPr/>
          <p:nvPr/>
        </p:nvSpPr>
        <p:spPr>
          <a:xfrm>
            <a:off x="5125212" y="1591056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32" name="Shape 30"/>
          <p:cNvSpPr/>
          <p:nvPr/>
        </p:nvSpPr>
        <p:spPr>
          <a:xfrm>
            <a:off x="6455664" y="1591056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33" name="Shape 31"/>
          <p:cNvSpPr/>
          <p:nvPr/>
        </p:nvSpPr>
        <p:spPr>
          <a:xfrm>
            <a:off x="7786116" y="1591056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34" name="Shape 32"/>
          <p:cNvSpPr/>
          <p:nvPr/>
        </p:nvSpPr>
        <p:spPr>
          <a:xfrm>
            <a:off x="9116568" y="1591056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35" name="Shape 33"/>
          <p:cNvSpPr/>
          <p:nvPr/>
        </p:nvSpPr>
        <p:spPr>
          <a:xfrm>
            <a:off x="10447020" y="1591056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36" name="Shape 34"/>
          <p:cNvSpPr/>
          <p:nvPr/>
        </p:nvSpPr>
        <p:spPr>
          <a:xfrm>
            <a:off x="3822192" y="1592885"/>
            <a:ext cx="1275588" cy="129845"/>
          </a:xfrm>
          <a:prstGeom prst="roundRect">
            <a:avLst>
              <a:gd name="adj" fmla="val 45775"/>
            </a:avLst>
          </a:prstGeom>
          <a:solidFill>
            <a:srgbClr val="3D8F5F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3895344" y="1580083"/>
            <a:ext cx="1165860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Ciaran</a:t>
            </a:r>
            <a:endParaRPr lang="en-US" sz="650" dirty="0"/>
          </a:p>
        </p:txBody>
      </p:sp>
      <p:sp>
        <p:nvSpPr>
          <p:cNvPr id="38" name="Text 36"/>
          <p:cNvSpPr txBox="1"/>
          <p:nvPr/>
        </p:nvSpPr>
        <p:spPr>
          <a:xfrm>
            <a:off x="457200" y="1748333"/>
            <a:ext cx="3291840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EonX Order at Bar</a:t>
            </a:r>
            <a:endParaRPr lang="en-US" sz="730" dirty="0"/>
          </a:p>
        </p:txBody>
      </p:sp>
      <p:sp>
        <p:nvSpPr>
          <p:cNvPr id="39" name="Shape 37"/>
          <p:cNvSpPr/>
          <p:nvPr/>
        </p:nvSpPr>
        <p:spPr>
          <a:xfrm>
            <a:off x="3794760" y="1766621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40" name="Shape 38"/>
          <p:cNvSpPr/>
          <p:nvPr/>
        </p:nvSpPr>
        <p:spPr>
          <a:xfrm>
            <a:off x="5125212" y="1766621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41" name="Shape 39"/>
          <p:cNvSpPr/>
          <p:nvPr/>
        </p:nvSpPr>
        <p:spPr>
          <a:xfrm>
            <a:off x="6455664" y="1766621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42" name="Shape 40"/>
          <p:cNvSpPr/>
          <p:nvPr/>
        </p:nvSpPr>
        <p:spPr>
          <a:xfrm>
            <a:off x="7786116" y="1766621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43" name="Shape 41"/>
          <p:cNvSpPr/>
          <p:nvPr/>
        </p:nvSpPr>
        <p:spPr>
          <a:xfrm>
            <a:off x="9116568" y="1766621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44" name="Shape 42"/>
          <p:cNvSpPr/>
          <p:nvPr/>
        </p:nvSpPr>
        <p:spPr>
          <a:xfrm>
            <a:off x="10447020" y="1766621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45" name="Shape 43"/>
          <p:cNvSpPr/>
          <p:nvPr/>
        </p:nvSpPr>
        <p:spPr>
          <a:xfrm>
            <a:off x="3822192" y="1768450"/>
            <a:ext cx="1275588" cy="129845"/>
          </a:xfrm>
          <a:prstGeom prst="roundRect">
            <a:avLst>
              <a:gd name="adj" fmla="val 45775"/>
            </a:avLst>
          </a:prstGeom>
          <a:solidFill>
            <a:srgbClr val="3D8F5F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3895344" y="1755648"/>
            <a:ext cx="1165860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Ciaran</a:t>
            </a:r>
            <a:endParaRPr lang="en-US" sz="650" dirty="0"/>
          </a:p>
        </p:txBody>
      </p:sp>
      <p:sp>
        <p:nvSpPr>
          <p:cNvPr id="47" name="Shape 45"/>
          <p:cNvSpPr/>
          <p:nvPr/>
        </p:nvSpPr>
        <p:spPr>
          <a:xfrm>
            <a:off x="411480" y="1923898"/>
            <a:ext cx="11365992" cy="17556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457200" y="1923898"/>
            <a:ext cx="3291840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WebOrders Reference/BatchID Capture</a:t>
            </a:r>
            <a:endParaRPr lang="en-US" sz="730" dirty="0"/>
          </a:p>
        </p:txBody>
      </p:sp>
      <p:sp>
        <p:nvSpPr>
          <p:cNvPr id="49" name="Shape 47"/>
          <p:cNvSpPr/>
          <p:nvPr/>
        </p:nvSpPr>
        <p:spPr>
          <a:xfrm>
            <a:off x="3794760" y="1942186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50" name="Shape 48"/>
          <p:cNvSpPr/>
          <p:nvPr/>
        </p:nvSpPr>
        <p:spPr>
          <a:xfrm>
            <a:off x="5125212" y="1942186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51" name="Shape 49"/>
          <p:cNvSpPr/>
          <p:nvPr/>
        </p:nvSpPr>
        <p:spPr>
          <a:xfrm>
            <a:off x="6455664" y="1942186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52" name="Shape 50"/>
          <p:cNvSpPr/>
          <p:nvPr/>
        </p:nvSpPr>
        <p:spPr>
          <a:xfrm>
            <a:off x="7786116" y="1942186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53" name="Shape 51"/>
          <p:cNvSpPr/>
          <p:nvPr/>
        </p:nvSpPr>
        <p:spPr>
          <a:xfrm>
            <a:off x="9116568" y="1942186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54" name="Shape 52"/>
          <p:cNvSpPr/>
          <p:nvPr/>
        </p:nvSpPr>
        <p:spPr>
          <a:xfrm>
            <a:off x="10447020" y="1942186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55" name="Shape 53"/>
          <p:cNvSpPr/>
          <p:nvPr/>
        </p:nvSpPr>
        <p:spPr>
          <a:xfrm>
            <a:off x="5152644" y="1944014"/>
            <a:ext cx="1275588" cy="129845"/>
          </a:xfrm>
          <a:prstGeom prst="roundRect">
            <a:avLst>
              <a:gd name="adj" fmla="val 45775"/>
            </a:avLst>
          </a:prstGeom>
          <a:solidFill>
            <a:srgbClr val="3D8F5F"/>
          </a:solidFill>
          <a:ln/>
        </p:spPr>
      </p:sp>
      <p:sp>
        <p:nvSpPr>
          <p:cNvPr id="56" name="Text 54"/>
          <p:cNvSpPr txBox="1"/>
          <p:nvPr/>
        </p:nvSpPr>
        <p:spPr>
          <a:xfrm>
            <a:off x="5225796" y="1931213"/>
            <a:ext cx="1165860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Ciaran</a:t>
            </a:r>
            <a:endParaRPr lang="en-US" sz="650" dirty="0"/>
          </a:p>
        </p:txBody>
      </p:sp>
      <p:sp>
        <p:nvSpPr>
          <p:cNvPr id="57" name="Text 55"/>
          <p:cNvSpPr txBox="1"/>
          <p:nvPr/>
        </p:nvSpPr>
        <p:spPr>
          <a:xfrm>
            <a:off x="457200" y="2099462"/>
            <a:ext cx="3291840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Eonx API Uplift</a:t>
            </a:r>
            <a:endParaRPr lang="en-US" sz="730" dirty="0"/>
          </a:p>
        </p:txBody>
      </p:sp>
      <p:sp>
        <p:nvSpPr>
          <p:cNvPr id="58" name="Shape 56"/>
          <p:cNvSpPr/>
          <p:nvPr/>
        </p:nvSpPr>
        <p:spPr>
          <a:xfrm>
            <a:off x="3794760" y="2117750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59" name="Shape 57"/>
          <p:cNvSpPr/>
          <p:nvPr/>
        </p:nvSpPr>
        <p:spPr>
          <a:xfrm>
            <a:off x="5125212" y="2117750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60" name="Shape 58"/>
          <p:cNvSpPr/>
          <p:nvPr/>
        </p:nvSpPr>
        <p:spPr>
          <a:xfrm>
            <a:off x="6455664" y="2117750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61" name="Shape 59"/>
          <p:cNvSpPr/>
          <p:nvPr/>
        </p:nvSpPr>
        <p:spPr>
          <a:xfrm>
            <a:off x="7786116" y="2117750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62" name="Shape 60"/>
          <p:cNvSpPr/>
          <p:nvPr/>
        </p:nvSpPr>
        <p:spPr>
          <a:xfrm>
            <a:off x="9116568" y="2117750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63" name="Shape 61"/>
          <p:cNvSpPr/>
          <p:nvPr/>
        </p:nvSpPr>
        <p:spPr>
          <a:xfrm>
            <a:off x="10447020" y="2117750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64" name="Shape 62"/>
          <p:cNvSpPr/>
          <p:nvPr/>
        </p:nvSpPr>
        <p:spPr>
          <a:xfrm>
            <a:off x="6483096" y="2119579"/>
            <a:ext cx="2606040" cy="129845"/>
          </a:xfrm>
          <a:prstGeom prst="roundRect">
            <a:avLst>
              <a:gd name="adj" fmla="val 45775"/>
            </a:avLst>
          </a:prstGeom>
          <a:solidFill>
            <a:srgbClr val="C88A2E"/>
          </a:solidFill>
          <a:ln/>
        </p:spPr>
      </p:sp>
      <p:sp>
        <p:nvSpPr>
          <p:cNvPr id="65" name="Text 63"/>
          <p:cNvSpPr txBox="1"/>
          <p:nvPr/>
        </p:nvSpPr>
        <p:spPr>
          <a:xfrm>
            <a:off x="6556248" y="2106778"/>
            <a:ext cx="2496312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Ciaran</a:t>
            </a:r>
            <a:endParaRPr lang="en-US" sz="650" dirty="0"/>
          </a:p>
        </p:txBody>
      </p:sp>
      <p:sp>
        <p:nvSpPr>
          <p:cNvPr id="66" name="Shape 64"/>
          <p:cNvSpPr/>
          <p:nvPr/>
        </p:nvSpPr>
        <p:spPr>
          <a:xfrm>
            <a:off x="411480" y="2275027"/>
            <a:ext cx="11365992" cy="17556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7" name="Text 65"/>
          <p:cNvSpPr txBox="1"/>
          <p:nvPr/>
        </p:nvSpPr>
        <p:spPr>
          <a:xfrm>
            <a:off x="457200" y="2275027"/>
            <a:ext cx="3291840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Onxy Gaming</a:t>
            </a:r>
            <a:endParaRPr lang="en-US" sz="730" dirty="0"/>
          </a:p>
        </p:txBody>
      </p:sp>
      <p:sp>
        <p:nvSpPr>
          <p:cNvPr id="68" name="Shape 66"/>
          <p:cNvSpPr/>
          <p:nvPr/>
        </p:nvSpPr>
        <p:spPr>
          <a:xfrm>
            <a:off x="3794760" y="2293315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69" name="Shape 67"/>
          <p:cNvSpPr/>
          <p:nvPr/>
        </p:nvSpPr>
        <p:spPr>
          <a:xfrm>
            <a:off x="5125212" y="2293315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70" name="Shape 68"/>
          <p:cNvSpPr/>
          <p:nvPr/>
        </p:nvSpPr>
        <p:spPr>
          <a:xfrm>
            <a:off x="6455664" y="2293315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71" name="Shape 69"/>
          <p:cNvSpPr/>
          <p:nvPr/>
        </p:nvSpPr>
        <p:spPr>
          <a:xfrm>
            <a:off x="7786116" y="2293315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72" name="Shape 70"/>
          <p:cNvSpPr/>
          <p:nvPr/>
        </p:nvSpPr>
        <p:spPr>
          <a:xfrm>
            <a:off x="9116568" y="2293315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73" name="Shape 71"/>
          <p:cNvSpPr/>
          <p:nvPr/>
        </p:nvSpPr>
        <p:spPr>
          <a:xfrm>
            <a:off x="10447020" y="2293315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74" name="Shape 72"/>
          <p:cNvSpPr/>
          <p:nvPr/>
        </p:nvSpPr>
        <p:spPr>
          <a:xfrm>
            <a:off x="3822192" y="2295144"/>
            <a:ext cx="1275588" cy="129845"/>
          </a:xfrm>
          <a:prstGeom prst="roundRect">
            <a:avLst>
              <a:gd name="adj" fmla="val 45775"/>
            </a:avLst>
          </a:prstGeom>
          <a:solidFill>
            <a:srgbClr val="3D8F5F"/>
          </a:solidFill>
          <a:ln/>
        </p:spPr>
      </p:sp>
      <p:sp>
        <p:nvSpPr>
          <p:cNvPr id="75" name="Text 73"/>
          <p:cNvSpPr txBox="1"/>
          <p:nvPr/>
        </p:nvSpPr>
        <p:spPr>
          <a:xfrm>
            <a:off x="3895344" y="2282342"/>
            <a:ext cx="1165860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Hawraa</a:t>
            </a:r>
            <a:endParaRPr lang="en-US" sz="650" dirty="0"/>
          </a:p>
        </p:txBody>
      </p:sp>
      <p:sp>
        <p:nvSpPr>
          <p:cNvPr id="76" name="Text 74"/>
          <p:cNvSpPr txBox="1"/>
          <p:nvPr/>
        </p:nvSpPr>
        <p:spPr>
          <a:xfrm>
            <a:off x="457200" y="2450592"/>
            <a:ext cx="3291840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SCIS Stock Movement</a:t>
            </a:r>
            <a:endParaRPr lang="en-US" sz="730" dirty="0"/>
          </a:p>
        </p:txBody>
      </p:sp>
      <p:sp>
        <p:nvSpPr>
          <p:cNvPr id="77" name="Shape 75"/>
          <p:cNvSpPr/>
          <p:nvPr/>
        </p:nvSpPr>
        <p:spPr>
          <a:xfrm>
            <a:off x="3794760" y="2468880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78" name="Shape 76"/>
          <p:cNvSpPr/>
          <p:nvPr/>
        </p:nvSpPr>
        <p:spPr>
          <a:xfrm>
            <a:off x="5125212" y="2468880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79" name="Shape 77"/>
          <p:cNvSpPr/>
          <p:nvPr/>
        </p:nvSpPr>
        <p:spPr>
          <a:xfrm>
            <a:off x="6455664" y="2468880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80" name="Shape 78"/>
          <p:cNvSpPr/>
          <p:nvPr/>
        </p:nvSpPr>
        <p:spPr>
          <a:xfrm>
            <a:off x="7786116" y="2468880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81" name="Shape 79"/>
          <p:cNvSpPr/>
          <p:nvPr/>
        </p:nvSpPr>
        <p:spPr>
          <a:xfrm>
            <a:off x="9116568" y="2468880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82" name="Shape 80"/>
          <p:cNvSpPr/>
          <p:nvPr/>
        </p:nvSpPr>
        <p:spPr>
          <a:xfrm>
            <a:off x="10447020" y="2468880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83" name="Shape 81"/>
          <p:cNvSpPr/>
          <p:nvPr/>
        </p:nvSpPr>
        <p:spPr>
          <a:xfrm>
            <a:off x="3822192" y="2470709"/>
            <a:ext cx="2606040" cy="129845"/>
          </a:xfrm>
          <a:prstGeom prst="roundRect">
            <a:avLst>
              <a:gd name="adj" fmla="val 45775"/>
            </a:avLst>
          </a:prstGeom>
          <a:solidFill>
            <a:srgbClr val="3D8F5F"/>
          </a:solidFill>
          <a:ln/>
        </p:spPr>
      </p:sp>
      <p:sp>
        <p:nvSpPr>
          <p:cNvPr id="84" name="Text 82"/>
          <p:cNvSpPr txBox="1"/>
          <p:nvPr/>
        </p:nvSpPr>
        <p:spPr>
          <a:xfrm>
            <a:off x="3895344" y="2457907"/>
            <a:ext cx="2496312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Brad</a:t>
            </a:r>
            <a:endParaRPr lang="en-US" sz="650" dirty="0"/>
          </a:p>
        </p:txBody>
      </p:sp>
      <p:sp>
        <p:nvSpPr>
          <p:cNvPr id="85" name="Shape 83"/>
          <p:cNvSpPr/>
          <p:nvPr/>
        </p:nvSpPr>
        <p:spPr>
          <a:xfrm>
            <a:off x="411480" y="2626157"/>
            <a:ext cx="11365992" cy="17556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6" name="Text 84"/>
          <p:cNvSpPr txBox="1"/>
          <p:nvPr/>
        </p:nvSpPr>
        <p:spPr>
          <a:xfrm>
            <a:off x="457200" y="2626157"/>
            <a:ext cx="3291840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EDR Auth</a:t>
            </a:r>
            <a:endParaRPr lang="en-US" sz="730" dirty="0"/>
          </a:p>
        </p:txBody>
      </p:sp>
      <p:sp>
        <p:nvSpPr>
          <p:cNvPr id="87" name="Shape 85"/>
          <p:cNvSpPr/>
          <p:nvPr/>
        </p:nvSpPr>
        <p:spPr>
          <a:xfrm>
            <a:off x="3794760" y="2644445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88" name="Shape 86"/>
          <p:cNvSpPr/>
          <p:nvPr/>
        </p:nvSpPr>
        <p:spPr>
          <a:xfrm>
            <a:off x="5125212" y="2644445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89" name="Shape 87"/>
          <p:cNvSpPr/>
          <p:nvPr/>
        </p:nvSpPr>
        <p:spPr>
          <a:xfrm>
            <a:off x="6455664" y="2644445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90" name="Shape 88"/>
          <p:cNvSpPr/>
          <p:nvPr/>
        </p:nvSpPr>
        <p:spPr>
          <a:xfrm>
            <a:off x="7786116" y="2644445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91" name="Shape 89"/>
          <p:cNvSpPr/>
          <p:nvPr/>
        </p:nvSpPr>
        <p:spPr>
          <a:xfrm>
            <a:off x="9116568" y="2644445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92" name="Shape 90"/>
          <p:cNvSpPr/>
          <p:nvPr/>
        </p:nvSpPr>
        <p:spPr>
          <a:xfrm>
            <a:off x="10447020" y="2644445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93" name="Shape 91"/>
          <p:cNvSpPr/>
          <p:nvPr/>
        </p:nvSpPr>
        <p:spPr>
          <a:xfrm>
            <a:off x="5152644" y="2646274"/>
            <a:ext cx="1275588" cy="129845"/>
          </a:xfrm>
          <a:prstGeom prst="roundRect">
            <a:avLst>
              <a:gd name="adj" fmla="val 45775"/>
            </a:avLst>
          </a:prstGeom>
          <a:solidFill>
            <a:srgbClr val="3D8F5F"/>
          </a:solidFill>
          <a:ln/>
        </p:spPr>
      </p:sp>
      <p:sp>
        <p:nvSpPr>
          <p:cNvPr id="94" name="Text 92"/>
          <p:cNvSpPr txBox="1"/>
          <p:nvPr/>
        </p:nvSpPr>
        <p:spPr>
          <a:xfrm>
            <a:off x="5225796" y="2633472"/>
            <a:ext cx="1165860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Ciaran</a:t>
            </a:r>
            <a:endParaRPr lang="en-US" sz="650" dirty="0"/>
          </a:p>
        </p:txBody>
      </p:sp>
      <p:sp>
        <p:nvSpPr>
          <p:cNvPr id="95" name="Text 93"/>
          <p:cNvSpPr txBox="1"/>
          <p:nvPr/>
        </p:nvSpPr>
        <p:spPr>
          <a:xfrm>
            <a:off x="457200" y="2801722"/>
            <a:ext cx="3291840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Accounts Flow Auto Promo File Delivery</a:t>
            </a:r>
            <a:endParaRPr lang="en-US" sz="730" dirty="0"/>
          </a:p>
        </p:txBody>
      </p:sp>
      <p:sp>
        <p:nvSpPr>
          <p:cNvPr id="96" name="Shape 94"/>
          <p:cNvSpPr/>
          <p:nvPr/>
        </p:nvSpPr>
        <p:spPr>
          <a:xfrm>
            <a:off x="3794760" y="2820010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97" name="Shape 95"/>
          <p:cNvSpPr/>
          <p:nvPr/>
        </p:nvSpPr>
        <p:spPr>
          <a:xfrm>
            <a:off x="5125212" y="2820010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98" name="Shape 96"/>
          <p:cNvSpPr/>
          <p:nvPr/>
        </p:nvSpPr>
        <p:spPr>
          <a:xfrm>
            <a:off x="6455664" y="2820010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99" name="Shape 97"/>
          <p:cNvSpPr/>
          <p:nvPr/>
        </p:nvSpPr>
        <p:spPr>
          <a:xfrm>
            <a:off x="7786116" y="2820010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100" name="Shape 98"/>
          <p:cNvSpPr/>
          <p:nvPr/>
        </p:nvSpPr>
        <p:spPr>
          <a:xfrm>
            <a:off x="9116568" y="2820010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101" name="Shape 99"/>
          <p:cNvSpPr/>
          <p:nvPr/>
        </p:nvSpPr>
        <p:spPr>
          <a:xfrm>
            <a:off x="10447020" y="2820010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102" name="Shape 100"/>
          <p:cNvSpPr/>
          <p:nvPr/>
        </p:nvSpPr>
        <p:spPr>
          <a:xfrm>
            <a:off x="5152644" y="2821838"/>
            <a:ext cx="1275588" cy="129845"/>
          </a:xfrm>
          <a:prstGeom prst="roundRect">
            <a:avLst>
              <a:gd name="adj" fmla="val 45775"/>
            </a:avLst>
          </a:prstGeom>
          <a:solidFill>
            <a:srgbClr val="3D8F5F"/>
          </a:solidFill>
          <a:ln/>
        </p:spPr>
      </p:sp>
      <p:sp>
        <p:nvSpPr>
          <p:cNvPr id="103" name="Text 101"/>
          <p:cNvSpPr txBox="1"/>
          <p:nvPr/>
        </p:nvSpPr>
        <p:spPr>
          <a:xfrm>
            <a:off x="5225796" y="2809037"/>
            <a:ext cx="1165860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Ciaran</a:t>
            </a:r>
            <a:endParaRPr lang="en-US" sz="650" dirty="0"/>
          </a:p>
        </p:txBody>
      </p:sp>
      <p:sp>
        <p:nvSpPr>
          <p:cNvPr id="104" name="Shape 102"/>
          <p:cNvSpPr/>
          <p:nvPr/>
        </p:nvSpPr>
        <p:spPr>
          <a:xfrm>
            <a:off x="411480" y="2977286"/>
            <a:ext cx="11365992" cy="17556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5" name="Text 103"/>
          <p:cNvSpPr txBox="1"/>
          <p:nvPr/>
        </p:nvSpPr>
        <p:spPr>
          <a:xfrm>
            <a:off x="457200" y="2977286"/>
            <a:ext cx="3291840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Create Stripe Terminal Simulator</a:t>
            </a:r>
            <a:endParaRPr lang="en-US" sz="730" dirty="0"/>
          </a:p>
        </p:txBody>
      </p:sp>
      <p:sp>
        <p:nvSpPr>
          <p:cNvPr id="106" name="Shape 104"/>
          <p:cNvSpPr/>
          <p:nvPr/>
        </p:nvSpPr>
        <p:spPr>
          <a:xfrm>
            <a:off x="3794760" y="2995574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107" name="Shape 105"/>
          <p:cNvSpPr/>
          <p:nvPr/>
        </p:nvSpPr>
        <p:spPr>
          <a:xfrm>
            <a:off x="5125212" y="2995574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108" name="Shape 106"/>
          <p:cNvSpPr/>
          <p:nvPr/>
        </p:nvSpPr>
        <p:spPr>
          <a:xfrm>
            <a:off x="6455664" y="2995574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109" name="Shape 107"/>
          <p:cNvSpPr/>
          <p:nvPr/>
        </p:nvSpPr>
        <p:spPr>
          <a:xfrm>
            <a:off x="7786116" y="2995574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110" name="Shape 108"/>
          <p:cNvSpPr/>
          <p:nvPr/>
        </p:nvSpPr>
        <p:spPr>
          <a:xfrm>
            <a:off x="9116568" y="2995574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111" name="Shape 109"/>
          <p:cNvSpPr/>
          <p:nvPr/>
        </p:nvSpPr>
        <p:spPr>
          <a:xfrm>
            <a:off x="10447020" y="2995574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112" name="Shape 110"/>
          <p:cNvSpPr/>
          <p:nvPr/>
        </p:nvSpPr>
        <p:spPr>
          <a:xfrm>
            <a:off x="5152644" y="2997403"/>
            <a:ext cx="1275588" cy="129845"/>
          </a:xfrm>
          <a:prstGeom prst="roundRect">
            <a:avLst>
              <a:gd name="adj" fmla="val 45775"/>
            </a:avLst>
          </a:prstGeom>
          <a:solidFill>
            <a:srgbClr val="3D8F5F"/>
          </a:solidFill>
          <a:ln/>
        </p:spPr>
      </p:sp>
      <p:sp>
        <p:nvSpPr>
          <p:cNvPr id="113" name="Text 111"/>
          <p:cNvSpPr txBox="1"/>
          <p:nvPr/>
        </p:nvSpPr>
        <p:spPr>
          <a:xfrm>
            <a:off x="5225796" y="2984602"/>
            <a:ext cx="1165860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Dave</a:t>
            </a:r>
            <a:endParaRPr lang="en-US" sz="650" dirty="0"/>
          </a:p>
        </p:txBody>
      </p:sp>
      <p:sp>
        <p:nvSpPr>
          <p:cNvPr id="114" name="Text 112"/>
          <p:cNvSpPr txBox="1"/>
          <p:nvPr/>
        </p:nvSpPr>
        <p:spPr>
          <a:xfrm>
            <a:off x="457200" y="3152851"/>
            <a:ext cx="3291840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ALH Bug Fixes</a:t>
            </a:r>
            <a:endParaRPr lang="en-US" sz="730" dirty="0"/>
          </a:p>
        </p:txBody>
      </p:sp>
      <p:sp>
        <p:nvSpPr>
          <p:cNvPr id="115" name="Shape 113"/>
          <p:cNvSpPr/>
          <p:nvPr/>
        </p:nvSpPr>
        <p:spPr>
          <a:xfrm>
            <a:off x="3794760" y="3171139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116" name="Shape 114"/>
          <p:cNvSpPr/>
          <p:nvPr/>
        </p:nvSpPr>
        <p:spPr>
          <a:xfrm>
            <a:off x="5125212" y="3171139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117" name="Shape 115"/>
          <p:cNvSpPr/>
          <p:nvPr/>
        </p:nvSpPr>
        <p:spPr>
          <a:xfrm>
            <a:off x="6455664" y="3171139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118" name="Shape 116"/>
          <p:cNvSpPr/>
          <p:nvPr/>
        </p:nvSpPr>
        <p:spPr>
          <a:xfrm>
            <a:off x="7786116" y="3171139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119" name="Shape 117"/>
          <p:cNvSpPr/>
          <p:nvPr/>
        </p:nvSpPr>
        <p:spPr>
          <a:xfrm>
            <a:off x="9116568" y="3171139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120" name="Shape 118"/>
          <p:cNvSpPr/>
          <p:nvPr/>
        </p:nvSpPr>
        <p:spPr>
          <a:xfrm>
            <a:off x="10447020" y="3171139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121" name="Shape 119"/>
          <p:cNvSpPr/>
          <p:nvPr/>
        </p:nvSpPr>
        <p:spPr>
          <a:xfrm>
            <a:off x="3822192" y="3172968"/>
            <a:ext cx="1275588" cy="129845"/>
          </a:xfrm>
          <a:prstGeom prst="roundRect">
            <a:avLst>
              <a:gd name="adj" fmla="val 45775"/>
            </a:avLst>
          </a:prstGeom>
          <a:solidFill>
            <a:srgbClr val="3D8F5F"/>
          </a:solidFill>
          <a:ln/>
        </p:spPr>
      </p:sp>
      <p:sp>
        <p:nvSpPr>
          <p:cNvPr id="122" name="Text 120"/>
          <p:cNvSpPr txBox="1"/>
          <p:nvPr/>
        </p:nvSpPr>
        <p:spPr>
          <a:xfrm>
            <a:off x="3895344" y="3160166"/>
            <a:ext cx="1165860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Ciaran</a:t>
            </a:r>
            <a:endParaRPr lang="en-US" sz="650" dirty="0"/>
          </a:p>
        </p:txBody>
      </p:sp>
      <p:sp>
        <p:nvSpPr>
          <p:cNvPr id="123" name="Shape 121"/>
          <p:cNvSpPr/>
          <p:nvPr/>
        </p:nvSpPr>
        <p:spPr>
          <a:xfrm>
            <a:off x="411480" y="3328416"/>
            <a:ext cx="11365992" cy="17556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4" name="Text 122"/>
          <p:cNvSpPr txBox="1"/>
          <p:nvPr/>
        </p:nvSpPr>
        <p:spPr>
          <a:xfrm>
            <a:off x="457200" y="3328416"/>
            <a:ext cx="3291840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ALH Food Pricing - PLU Visibility Filter</a:t>
            </a:r>
            <a:endParaRPr lang="en-US" sz="730" dirty="0"/>
          </a:p>
        </p:txBody>
      </p:sp>
      <p:sp>
        <p:nvSpPr>
          <p:cNvPr id="125" name="Shape 123"/>
          <p:cNvSpPr/>
          <p:nvPr/>
        </p:nvSpPr>
        <p:spPr>
          <a:xfrm>
            <a:off x="3794760" y="3346704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126" name="Shape 124"/>
          <p:cNvSpPr/>
          <p:nvPr/>
        </p:nvSpPr>
        <p:spPr>
          <a:xfrm>
            <a:off x="5125212" y="3346704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127" name="Shape 125"/>
          <p:cNvSpPr/>
          <p:nvPr/>
        </p:nvSpPr>
        <p:spPr>
          <a:xfrm>
            <a:off x="6455664" y="3346704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128" name="Shape 126"/>
          <p:cNvSpPr/>
          <p:nvPr/>
        </p:nvSpPr>
        <p:spPr>
          <a:xfrm>
            <a:off x="7786116" y="3346704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129" name="Shape 127"/>
          <p:cNvSpPr/>
          <p:nvPr/>
        </p:nvSpPr>
        <p:spPr>
          <a:xfrm>
            <a:off x="9116568" y="3346704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130" name="Shape 128"/>
          <p:cNvSpPr/>
          <p:nvPr/>
        </p:nvSpPr>
        <p:spPr>
          <a:xfrm>
            <a:off x="10447020" y="3346704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131" name="Shape 129"/>
          <p:cNvSpPr/>
          <p:nvPr/>
        </p:nvSpPr>
        <p:spPr>
          <a:xfrm>
            <a:off x="5152644" y="3348533"/>
            <a:ext cx="1275588" cy="129845"/>
          </a:xfrm>
          <a:prstGeom prst="roundRect">
            <a:avLst>
              <a:gd name="adj" fmla="val 45775"/>
            </a:avLst>
          </a:prstGeom>
          <a:solidFill>
            <a:srgbClr val="C88A2E"/>
          </a:solidFill>
          <a:ln/>
        </p:spPr>
      </p:sp>
      <p:sp>
        <p:nvSpPr>
          <p:cNvPr id="132" name="Text 130"/>
          <p:cNvSpPr txBox="1"/>
          <p:nvPr/>
        </p:nvSpPr>
        <p:spPr>
          <a:xfrm>
            <a:off x="5225796" y="3335731"/>
            <a:ext cx="1165860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Ciaran</a:t>
            </a:r>
            <a:endParaRPr lang="en-US" sz="650" dirty="0"/>
          </a:p>
        </p:txBody>
      </p:sp>
      <p:sp>
        <p:nvSpPr>
          <p:cNvPr id="133" name="Text 131"/>
          <p:cNvSpPr txBox="1"/>
          <p:nvPr/>
        </p:nvSpPr>
        <p:spPr>
          <a:xfrm>
            <a:off x="457200" y="3503981"/>
            <a:ext cx="3291840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ALH RMS</a:t>
            </a:r>
            <a:endParaRPr lang="en-US" sz="730" dirty="0"/>
          </a:p>
        </p:txBody>
      </p:sp>
      <p:sp>
        <p:nvSpPr>
          <p:cNvPr id="134" name="Shape 132"/>
          <p:cNvSpPr/>
          <p:nvPr/>
        </p:nvSpPr>
        <p:spPr>
          <a:xfrm>
            <a:off x="3794760" y="3522269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135" name="Shape 133"/>
          <p:cNvSpPr/>
          <p:nvPr/>
        </p:nvSpPr>
        <p:spPr>
          <a:xfrm>
            <a:off x="5125212" y="3522269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136" name="Shape 134"/>
          <p:cNvSpPr/>
          <p:nvPr/>
        </p:nvSpPr>
        <p:spPr>
          <a:xfrm>
            <a:off x="6455664" y="3522269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137" name="Shape 135"/>
          <p:cNvSpPr/>
          <p:nvPr/>
        </p:nvSpPr>
        <p:spPr>
          <a:xfrm>
            <a:off x="7786116" y="3522269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138" name="Shape 136"/>
          <p:cNvSpPr/>
          <p:nvPr/>
        </p:nvSpPr>
        <p:spPr>
          <a:xfrm>
            <a:off x="9116568" y="3522269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139" name="Shape 137"/>
          <p:cNvSpPr/>
          <p:nvPr/>
        </p:nvSpPr>
        <p:spPr>
          <a:xfrm>
            <a:off x="10447020" y="3522269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140" name="Shape 138"/>
          <p:cNvSpPr/>
          <p:nvPr/>
        </p:nvSpPr>
        <p:spPr>
          <a:xfrm>
            <a:off x="6483096" y="3524098"/>
            <a:ext cx="1275588" cy="129845"/>
          </a:xfrm>
          <a:prstGeom prst="roundRect">
            <a:avLst>
              <a:gd name="adj" fmla="val 45775"/>
            </a:avLst>
          </a:prstGeom>
          <a:solidFill>
            <a:srgbClr val="C88A2E"/>
          </a:solidFill>
          <a:ln/>
        </p:spPr>
      </p:sp>
      <p:sp>
        <p:nvSpPr>
          <p:cNvPr id="141" name="Text 139"/>
          <p:cNvSpPr txBox="1"/>
          <p:nvPr/>
        </p:nvSpPr>
        <p:spPr>
          <a:xfrm>
            <a:off x="6556248" y="3511296"/>
            <a:ext cx="1165860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Brad</a:t>
            </a:r>
            <a:endParaRPr lang="en-US" sz="650" dirty="0"/>
          </a:p>
        </p:txBody>
      </p:sp>
      <p:sp>
        <p:nvSpPr>
          <p:cNvPr id="142" name="Shape 140"/>
          <p:cNvSpPr/>
          <p:nvPr/>
        </p:nvSpPr>
        <p:spPr>
          <a:xfrm>
            <a:off x="411480" y="3679546"/>
            <a:ext cx="11365992" cy="17556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3" name="Text 141"/>
          <p:cNvSpPr txBox="1"/>
          <p:nvPr/>
        </p:nvSpPr>
        <p:spPr>
          <a:xfrm>
            <a:off x="457200" y="3679546"/>
            <a:ext cx="3291840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LMG - various enhancemens</a:t>
            </a:r>
            <a:endParaRPr lang="en-US" sz="730" dirty="0"/>
          </a:p>
        </p:txBody>
      </p:sp>
      <p:sp>
        <p:nvSpPr>
          <p:cNvPr id="144" name="Shape 142"/>
          <p:cNvSpPr/>
          <p:nvPr/>
        </p:nvSpPr>
        <p:spPr>
          <a:xfrm>
            <a:off x="3794760" y="3697834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145" name="Shape 143"/>
          <p:cNvSpPr/>
          <p:nvPr/>
        </p:nvSpPr>
        <p:spPr>
          <a:xfrm>
            <a:off x="5125212" y="3697834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146" name="Shape 144"/>
          <p:cNvSpPr/>
          <p:nvPr/>
        </p:nvSpPr>
        <p:spPr>
          <a:xfrm>
            <a:off x="6455664" y="3697834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147" name="Shape 145"/>
          <p:cNvSpPr/>
          <p:nvPr/>
        </p:nvSpPr>
        <p:spPr>
          <a:xfrm>
            <a:off x="7786116" y="3697834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148" name="Shape 146"/>
          <p:cNvSpPr/>
          <p:nvPr/>
        </p:nvSpPr>
        <p:spPr>
          <a:xfrm>
            <a:off x="9116568" y="3697834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149" name="Shape 147"/>
          <p:cNvSpPr/>
          <p:nvPr/>
        </p:nvSpPr>
        <p:spPr>
          <a:xfrm>
            <a:off x="10447020" y="3697834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150" name="Shape 148"/>
          <p:cNvSpPr/>
          <p:nvPr/>
        </p:nvSpPr>
        <p:spPr>
          <a:xfrm>
            <a:off x="7813548" y="3699662"/>
            <a:ext cx="2606040" cy="129845"/>
          </a:xfrm>
          <a:prstGeom prst="roundRect">
            <a:avLst>
              <a:gd name="adj" fmla="val 45775"/>
            </a:avLst>
          </a:prstGeom>
          <a:solidFill>
            <a:srgbClr val="C7D3DA">
              <a:alpha val="75000"/>
            </a:srgbClr>
          </a:solidFill>
          <a:ln/>
        </p:spPr>
      </p:sp>
      <p:sp>
        <p:nvSpPr>
          <p:cNvPr id="151" name="Text 149"/>
          <p:cNvSpPr txBox="1"/>
          <p:nvPr/>
        </p:nvSpPr>
        <p:spPr>
          <a:xfrm>
            <a:off x="7886700" y="3686861"/>
            <a:ext cx="2496312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Brad</a:t>
            </a:r>
            <a:endParaRPr lang="en-US" sz="650" dirty="0"/>
          </a:p>
        </p:txBody>
      </p:sp>
      <p:sp>
        <p:nvSpPr>
          <p:cNvPr id="152" name="Text 150"/>
          <p:cNvSpPr txBox="1"/>
          <p:nvPr/>
        </p:nvSpPr>
        <p:spPr>
          <a:xfrm>
            <a:off x="457200" y="3855110"/>
            <a:ext cx="3291840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Bug Run 9.3</a:t>
            </a:r>
            <a:endParaRPr lang="en-US" sz="730" dirty="0"/>
          </a:p>
        </p:txBody>
      </p:sp>
      <p:sp>
        <p:nvSpPr>
          <p:cNvPr id="153" name="Shape 151"/>
          <p:cNvSpPr/>
          <p:nvPr/>
        </p:nvSpPr>
        <p:spPr>
          <a:xfrm>
            <a:off x="3794760" y="3873398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154" name="Shape 152"/>
          <p:cNvSpPr/>
          <p:nvPr/>
        </p:nvSpPr>
        <p:spPr>
          <a:xfrm>
            <a:off x="5125212" y="3873398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155" name="Shape 153"/>
          <p:cNvSpPr/>
          <p:nvPr/>
        </p:nvSpPr>
        <p:spPr>
          <a:xfrm>
            <a:off x="6455664" y="3873398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156" name="Shape 154"/>
          <p:cNvSpPr/>
          <p:nvPr/>
        </p:nvSpPr>
        <p:spPr>
          <a:xfrm>
            <a:off x="7786116" y="3873398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157" name="Shape 155"/>
          <p:cNvSpPr/>
          <p:nvPr/>
        </p:nvSpPr>
        <p:spPr>
          <a:xfrm>
            <a:off x="9116568" y="3873398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158" name="Shape 156"/>
          <p:cNvSpPr/>
          <p:nvPr/>
        </p:nvSpPr>
        <p:spPr>
          <a:xfrm>
            <a:off x="10447020" y="3873398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159" name="Shape 157"/>
          <p:cNvSpPr/>
          <p:nvPr/>
        </p:nvSpPr>
        <p:spPr>
          <a:xfrm>
            <a:off x="10474452" y="3875227"/>
            <a:ext cx="1275588" cy="129845"/>
          </a:xfrm>
          <a:prstGeom prst="roundRect">
            <a:avLst>
              <a:gd name="adj" fmla="val 45775"/>
            </a:avLst>
          </a:prstGeom>
          <a:solidFill>
            <a:srgbClr val="C7D3DA">
              <a:alpha val="75000"/>
            </a:srgbClr>
          </a:solidFill>
          <a:ln/>
        </p:spPr>
      </p:sp>
      <p:sp>
        <p:nvSpPr>
          <p:cNvPr id="160" name="Text 158"/>
          <p:cNvSpPr txBox="1"/>
          <p:nvPr/>
        </p:nvSpPr>
        <p:spPr>
          <a:xfrm>
            <a:off x="10547604" y="3862426"/>
            <a:ext cx="1165860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Brad</a:t>
            </a:r>
            <a:endParaRPr lang="en-US" sz="650" dirty="0"/>
          </a:p>
        </p:txBody>
      </p:sp>
      <p:sp>
        <p:nvSpPr>
          <p:cNvPr id="161" name="Shape 159"/>
          <p:cNvSpPr/>
          <p:nvPr/>
        </p:nvSpPr>
        <p:spPr>
          <a:xfrm>
            <a:off x="411480" y="4030675"/>
            <a:ext cx="11365992" cy="17556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2" name="Text 160"/>
          <p:cNvSpPr txBox="1"/>
          <p:nvPr/>
        </p:nvSpPr>
        <p:spPr>
          <a:xfrm>
            <a:off x="457200" y="4030675"/>
            <a:ext cx="3291840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OpenTable</a:t>
            </a:r>
            <a:endParaRPr lang="en-US" sz="730" dirty="0"/>
          </a:p>
        </p:txBody>
      </p:sp>
      <p:sp>
        <p:nvSpPr>
          <p:cNvPr id="163" name="Shape 161"/>
          <p:cNvSpPr/>
          <p:nvPr/>
        </p:nvSpPr>
        <p:spPr>
          <a:xfrm>
            <a:off x="3794760" y="4048963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164" name="Shape 162"/>
          <p:cNvSpPr/>
          <p:nvPr/>
        </p:nvSpPr>
        <p:spPr>
          <a:xfrm>
            <a:off x="5125212" y="4048963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165" name="Shape 163"/>
          <p:cNvSpPr/>
          <p:nvPr/>
        </p:nvSpPr>
        <p:spPr>
          <a:xfrm>
            <a:off x="6455664" y="4048963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166" name="Shape 164"/>
          <p:cNvSpPr/>
          <p:nvPr/>
        </p:nvSpPr>
        <p:spPr>
          <a:xfrm>
            <a:off x="7786116" y="4048963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167" name="Shape 165"/>
          <p:cNvSpPr/>
          <p:nvPr/>
        </p:nvSpPr>
        <p:spPr>
          <a:xfrm>
            <a:off x="9116568" y="4048963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168" name="Shape 166"/>
          <p:cNvSpPr/>
          <p:nvPr/>
        </p:nvSpPr>
        <p:spPr>
          <a:xfrm>
            <a:off x="10447020" y="4048963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169" name="Shape 167"/>
          <p:cNvSpPr/>
          <p:nvPr/>
        </p:nvSpPr>
        <p:spPr>
          <a:xfrm>
            <a:off x="3822192" y="4050792"/>
            <a:ext cx="2606040" cy="129845"/>
          </a:xfrm>
          <a:prstGeom prst="roundRect">
            <a:avLst>
              <a:gd name="adj" fmla="val 45775"/>
            </a:avLst>
          </a:prstGeom>
          <a:solidFill>
            <a:srgbClr val="3D8F5F"/>
          </a:solidFill>
          <a:ln/>
        </p:spPr>
      </p:sp>
      <p:sp>
        <p:nvSpPr>
          <p:cNvPr id="170" name="Text 168"/>
          <p:cNvSpPr txBox="1"/>
          <p:nvPr/>
        </p:nvSpPr>
        <p:spPr>
          <a:xfrm>
            <a:off x="3895344" y="4037990"/>
            <a:ext cx="2496312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Hawraa</a:t>
            </a:r>
            <a:endParaRPr lang="en-US" sz="650" dirty="0"/>
          </a:p>
        </p:txBody>
      </p:sp>
      <p:sp>
        <p:nvSpPr>
          <p:cNvPr id="171" name="Text 169"/>
          <p:cNvSpPr txBox="1"/>
          <p:nvPr/>
        </p:nvSpPr>
        <p:spPr>
          <a:xfrm>
            <a:off x="457200" y="4206240"/>
            <a:ext cx="3291840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Metcash Scan Work (SM-6423,SM-6478)</a:t>
            </a:r>
            <a:endParaRPr lang="en-US" sz="730" dirty="0"/>
          </a:p>
        </p:txBody>
      </p:sp>
      <p:sp>
        <p:nvSpPr>
          <p:cNvPr id="172" name="Shape 170"/>
          <p:cNvSpPr/>
          <p:nvPr/>
        </p:nvSpPr>
        <p:spPr>
          <a:xfrm>
            <a:off x="3794760" y="4224528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173" name="Shape 171"/>
          <p:cNvSpPr/>
          <p:nvPr/>
        </p:nvSpPr>
        <p:spPr>
          <a:xfrm>
            <a:off x="5125212" y="4224528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174" name="Shape 172"/>
          <p:cNvSpPr/>
          <p:nvPr/>
        </p:nvSpPr>
        <p:spPr>
          <a:xfrm>
            <a:off x="6455664" y="4224528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175" name="Shape 173"/>
          <p:cNvSpPr/>
          <p:nvPr/>
        </p:nvSpPr>
        <p:spPr>
          <a:xfrm>
            <a:off x="7786116" y="4224528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176" name="Shape 174"/>
          <p:cNvSpPr/>
          <p:nvPr/>
        </p:nvSpPr>
        <p:spPr>
          <a:xfrm>
            <a:off x="9116568" y="4224528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177" name="Shape 175"/>
          <p:cNvSpPr/>
          <p:nvPr/>
        </p:nvSpPr>
        <p:spPr>
          <a:xfrm>
            <a:off x="10447020" y="4224528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178" name="Shape 176"/>
          <p:cNvSpPr/>
          <p:nvPr/>
        </p:nvSpPr>
        <p:spPr>
          <a:xfrm>
            <a:off x="9144000" y="4226357"/>
            <a:ext cx="1275588" cy="129845"/>
          </a:xfrm>
          <a:prstGeom prst="roundRect">
            <a:avLst>
              <a:gd name="adj" fmla="val 45775"/>
            </a:avLst>
          </a:prstGeom>
          <a:solidFill>
            <a:srgbClr val="C7D3DA">
              <a:alpha val="75000"/>
            </a:srgbClr>
          </a:solidFill>
          <a:ln/>
        </p:spPr>
      </p:sp>
      <p:sp>
        <p:nvSpPr>
          <p:cNvPr id="179" name="Text 177"/>
          <p:cNvSpPr txBox="1"/>
          <p:nvPr/>
        </p:nvSpPr>
        <p:spPr>
          <a:xfrm>
            <a:off x="9217152" y="4213555"/>
            <a:ext cx="1165860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Ciaran</a:t>
            </a:r>
            <a:endParaRPr lang="en-US" sz="650" dirty="0"/>
          </a:p>
        </p:txBody>
      </p:sp>
      <p:sp>
        <p:nvSpPr>
          <p:cNvPr id="180" name="Shape 178"/>
          <p:cNvSpPr/>
          <p:nvPr/>
        </p:nvSpPr>
        <p:spPr>
          <a:xfrm>
            <a:off x="411480" y="4381805"/>
            <a:ext cx="11365992" cy="17556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1" name="Text 179"/>
          <p:cNvSpPr txBox="1"/>
          <p:nvPr/>
        </p:nvSpPr>
        <p:spPr>
          <a:xfrm>
            <a:off x="457200" y="4381805"/>
            <a:ext cx="3291840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Unattended Upgrades (released deployment)</a:t>
            </a:r>
            <a:endParaRPr lang="en-US" sz="730" dirty="0"/>
          </a:p>
        </p:txBody>
      </p:sp>
      <p:sp>
        <p:nvSpPr>
          <p:cNvPr id="182" name="Shape 180"/>
          <p:cNvSpPr/>
          <p:nvPr/>
        </p:nvSpPr>
        <p:spPr>
          <a:xfrm>
            <a:off x="3794760" y="4400093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183" name="Shape 181"/>
          <p:cNvSpPr/>
          <p:nvPr/>
        </p:nvSpPr>
        <p:spPr>
          <a:xfrm>
            <a:off x="5125212" y="4400093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184" name="Shape 182"/>
          <p:cNvSpPr/>
          <p:nvPr/>
        </p:nvSpPr>
        <p:spPr>
          <a:xfrm>
            <a:off x="6455664" y="4400093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185" name="Shape 183"/>
          <p:cNvSpPr/>
          <p:nvPr/>
        </p:nvSpPr>
        <p:spPr>
          <a:xfrm>
            <a:off x="7786116" y="4400093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186" name="Shape 184"/>
          <p:cNvSpPr/>
          <p:nvPr/>
        </p:nvSpPr>
        <p:spPr>
          <a:xfrm>
            <a:off x="9116568" y="4400093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187" name="Shape 185"/>
          <p:cNvSpPr/>
          <p:nvPr/>
        </p:nvSpPr>
        <p:spPr>
          <a:xfrm>
            <a:off x="10447020" y="4400093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188" name="Shape 186"/>
          <p:cNvSpPr/>
          <p:nvPr/>
        </p:nvSpPr>
        <p:spPr>
          <a:xfrm>
            <a:off x="3822192" y="4401922"/>
            <a:ext cx="3936492" cy="129845"/>
          </a:xfrm>
          <a:prstGeom prst="roundRect">
            <a:avLst>
              <a:gd name="adj" fmla="val 45775"/>
            </a:avLst>
          </a:prstGeom>
          <a:solidFill>
            <a:srgbClr val="C88A2E"/>
          </a:solidFill>
          <a:ln/>
        </p:spPr>
      </p:sp>
      <p:sp>
        <p:nvSpPr>
          <p:cNvPr id="189" name="Text 187"/>
          <p:cNvSpPr txBox="1"/>
          <p:nvPr/>
        </p:nvSpPr>
        <p:spPr>
          <a:xfrm>
            <a:off x="3895344" y="4389120"/>
            <a:ext cx="3826764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Dave</a:t>
            </a:r>
            <a:endParaRPr lang="en-US" sz="650" dirty="0"/>
          </a:p>
        </p:txBody>
      </p:sp>
      <p:sp>
        <p:nvSpPr>
          <p:cNvPr id="190" name="Text 188"/>
          <p:cNvSpPr txBox="1"/>
          <p:nvPr/>
        </p:nvSpPr>
        <p:spPr>
          <a:xfrm>
            <a:off x="457200" y="4557370"/>
            <a:ext cx="3291840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H&amp;L Pay - Tyro Parity</a:t>
            </a:r>
            <a:endParaRPr lang="en-US" sz="730" dirty="0"/>
          </a:p>
        </p:txBody>
      </p:sp>
      <p:sp>
        <p:nvSpPr>
          <p:cNvPr id="191" name="Shape 189"/>
          <p:cNvSpPr/>
          <p:nvPr/>
        </p:nvSpPr>
        <p:spPr>
          <a:xfrm>
            <a:off x="3794760" y="4575658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192" name="Shape 190"/>
          <p:cNvSpPr/>
          <p:nvPr/>
        </p:nvSpPr>
        <p:spPr>
          <a:xfrm>
            <a:off x="5125212" y="4575658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193" name="Shape 191"/>
          <p:cNvSpPr/>
          <p:nvPr/>
        </p:nvSpPr>
        <p:spPr>
          <a:xfrm>
            <a:off x="6455664" y="4575658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194" name="Shape 192"/>
          <p:cNvSpPr/>
          <p:nvPr/>
        </p:nvSpPr>
        <p:spPr>
          <a:xfrm>
            <a:off x="7786116" y="4575658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195" name="Shape 193"/>
          <p:cNvSpPr/>
          <p:nvPr/>
        </p:nvSpPr>
        <p:spPr>
          <a:xfrm>
            <a:off x="9116568" y="4575658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196" name="Shape 194"/>
          <p:cNvSpPr/>
          <p:nvPr/>
        </p:nvSpPr>
        <p:spPr>
          <a:xfrm>
            <a:off x="10447020" y="4575658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197" name="Shape 195"/>
          <p:cNvSpPr/>
          <p:nvPr/>
        </p:nvSpPr>
        <p:spPr>
          <a:xfrm>
            <a:off x="5152644" y="4577486"/>
            <a:ext cx="6597396" cy="129845"/>
          </a:xfrm>
          <a:prstGeom prst="roundRect">
            <a:avLst>
              <a:gd name="adj" fmla="val 45775"/>
            </a:avLst>
          </a:prstGeom>
          <a:solidFill>
            <a:srgbClr val="B4552D"/>
          </a:solidFill>
          <a:ln/>
        </p:spPr>
      </p:sp>
      <p:sp>
        <p:nvSpPr>
          <p:cNvPr id="198" name="Text 196"/>
          <p:cNvSpPr txBox="1"/>
          <p:nvPr/>
        </p:nvSpPr>
        <p:spPr>
          <a:xfrm>
            <a:off x="5225796" y="4564685"/>
            <a:ext cx="6487668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Valpay</a:t>
            </a:r>
            <a:endParaRPr lang="en-US" sz="650" dirty="0"/>
          </a:p>
        </p:txBody>
      </p:sp>
      <p:sp>
        <p:nvSpPr>
          <p:cNvPr id="199" name="Shape 197"/>
          <p:cNvSpPr/>
          <p:nvPr/>
        </p:nvSpPr>
        <p:spPr>
          <a:xfrm>
            <a:off x="411480" y="4732934"/>
            <a:ext cx="11365992" cy="17556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0" name="Text 198"/>
          <p:cNvSpPr txBox="1"/>
          <p:nvPr/>
        </p:nvSpPr>
        <p:spPr>
          <a:xfrm>
            <a:off x="457200" y="4732934"/>
            <a:ext cx="3291840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QR Code Ordering</a:t>
            </a:r>
            <a:endParaRPr lang="en-US" sz="730" dirty="0"/>
          </a:p>
        </p:txBody>
      </p:sp>
      <p:sp>
        <p:nvSpPr>
          <p:cNvPr id="201" name="Shape 199"/>
          <p:cNvSpPr/>
          <p:nvPr/>
        </p:nvSpPr>
        <p:spPr>
          <a:xfrm>
            <a:off x="3794760" y="4751222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202" name="Shape 200"/>
          <p:cNvSpPr/>
          <p:nvPr/>
        </p:nvSpPr>
        <p:spPr>
          <a:xfrm>
            <a:off x="5125212" y="4751222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203" name="Shape 201"/>
          <p:cNvSpPr/>
          <p:nvPr/>
        </p:nvSpPr>
        <p:spPr>
          <a:xfrm>
            <a:off x="6455664" y="4751222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204" name="Shape 202"/>
          <p:cNvSpPr/>
          <p:nvPr/>
        </p:nvSpPr>
        <p:spPr>
          <a:xfrm>
            <a:off x="7786116" y="4751222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205" name="Shape 203"/>
          <p:cNvSpPr/>
          <p:nvPr/>
        </p:nvSpPr>
        <p:spPr>
          <a:xfrm>
            <a:off x="9116568" y="4751222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206" name="Shape 204"/>
          <p:cNvSpPr/>
          <p:nvPr/>
        </p:nvSpPr>
        <p:spPr>
          <a:xfrm>
            <a:off x="10447020" y="4751222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207" name="Shape 205"/>
          <p:cNvSpPr/>
          <p:nvPr/>
        </p:nvSpPr>
        <p:spPr>
          <a:xfrm>
            <a:off x="3822192" y="4753051"/>
            <a:ext cx="7927848" cy="129845"/>
          </a:xfrm>
          <a:prstGeom prst="roundRect">
            <a:avLst>
              <a:gd name="adj" fmla="val 45775"/>
            </a:avLst>
          </a:prstGeom>
          <a:solidFill>
            <a:srgbClr val="C88A2E"/>
          </a:solidFill>
          <a:ln/>
        </p:spPr>
      </p:sp>
      <p:sp>
        <p:nvSpPr>
          <p:cNvPr id="208" name="Text 206"/>
          <p:cNvSpPr txBox="1"/>
          <p:nvPr/>
        </p:nvSpPr>
        <p:spPr>
          <a:xfrm>
            <a:off x="3895344" y="4740250"/>
            <a:ext cx="7818120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Tony</a:t>
            </a:r>
            <a:endParaRPr lang="en-US" sz="650" dirty="0"/>
          </a:p>
        </p:txBody>
      </p:sp>
      <p:sp>
        <p:nvSpPr>
          <p:cNvPr id="209" name="Text 207"/>
          <p:cNvSpPr txBox="1"/>
          <p:nvPr/>
        </p:nvSpPr>
        <p:spPr>
          <a:xfrm>
            <a:off x="457200" y="4908499"/>
            <a:ext cx="3291840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Mobile POS - Native Apps</a:t>
            </a:r>
            <a:endParaRPr lang="en-US" sz="730" dirty="0"/>
          </a:p>
        </p:txBody>
      </p:sp>
      <p:sp>
        <p:nvSpPr>
          <p:cNvPr id="210" name="Shape 208"/>
          <p:cNvSpPr/>
          <p:nvPr/>
        </p:nvSpPr>
        <p:spPr>
          <a:xfrm>
            <a:off x="3794760" y="4926787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211" name="Shape 209"/>
          <p:cNvSpPr/>
          <p:nvPr/>
        </p:nvSpPr>
        <p:spPr>
          <a:xfrm>
            <a:off x="5125212" y="4926787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212" name="Shape 210"/>
          <p:cNvSpPr/>
          <p:nvPr/>
        </p:nvSpPr>
        <p:spPr>
          <a:xfrm>
            <a:off x="6455664" y="4926787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213" name="Shape 211"/>
          <p:cNvSpPr/>
          <p:nvPr/>
        </p:nvSpPr>
        <p:spPr>
          <a:xfrm>
            <a:off x="7786116" y="4926787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214" name="Shape 212"/>
          <p:cNvSpPr/>
          <p:nvPr/>
        </p:nvSpPr>
        <p:spPr>
          <a:xfrm>
            <a:off x="9116568" y="4926787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215" name="Shape 213"/>
          <p:cNvSpPr/>
          <p:nvPr/>
        </p:nvSpPr>
        <p:spPr>
          <a:xfrm>
            <a:off x="10447020" y="4926787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216" name="Shape 214"/>
          <p:cNvSpPr/>
          <p:nvPr/>
        </p:nvSpPr>
        <p:spPr>
          <a:xfrm>
            <a:off x="3822192" y="4928616"/>
            <a:ext cx="3936492" cy="129845"/>
          </a:xfrm>
          <a:prstGeom prst="roundRect">
            <a:avLst>
              <a:gd name="adj" fmla="val 45775"/>
            </a:avLst>
          </a:prstGeom>
          <a:solidFill>
            <a:srgbClr val="C88A2E"/>
          </a:solidFill>
          <a:ln/>
        </p:spPr>
      </p:sp>
      <p:sp>
        <p:nvSpPr>
          <p:cNvPr id="217" name="Text 215"/>
          <p:cNvSpPr txBox="1"/>
          <p:nvPr/>
        </p:nvSpPr>
        <p:spPr>
          <a:xfrm>
            <a:off x="3895344" y="4915814"/>
            <a:ext cx="3826764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Nidhi, Eric</a:t>
            </a:r>
            <a:endParaRPr lang="en-US" sz="650" dirty="0"/>
          </a:p>
        </p:txBody>
      </p:sp>
      <p:sp>
        <p:nvSpPr>
          <p:cNvPr id="218" name="Shape 216"/>
          <p:cNvSpPr/>
          <p:nvPr/>
        </p:nvSpPr>
        <p:spPr>
          <a:xfrm>
            <a:off x="411480" y="5084064"/>
            <a:ext cx="11365992" cy="17556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9" name="Text 217"/>
          <p:cNvSpPr txBox="1"/>
          <p:nvPr/>
        </p:nvSpPr>
        <p:spPr>
          <a:xfrm>
            <a:off x="457200" y="5084064"/>
            <a:ext cx="3291840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Mobile POS - Adyen Native SDK</a:t>
            </a:r>
            <a:endParaRPr lang="en-US" sz="730" dirty="0"/>
          </a:p>
        </p:txBody>
      </p:sp>
      <p:sp>
        <p:nvSpPr>
          <p:cNvPr id="220" name="Shape 218"/>
          <p:cNvSpPr/>
          <p:nvPr/>
        </p:nvSpPr>
        <p:spPr>
          <a:xfrm>
            <a:off x="3794760" y="5102352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221" name="Shape 219"/>
          <p:cNvSpPr/>
          <p:nvPr/>
        </p:nvSpPr>
        <p:spPr>
          <a:xfrm>
            <a:off x="5125212" y="5102352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222" name="Shape 220"/>
          <p:cNvSpPr/>
          <p:nvPr/>
        </p:nvSpPr>
        <p:spPr>
          <a:xfrm>
            <a:off x="6455664" y="5102352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223" name="Shape 221"/>
          <p:cNvSpPr/>
          <p:nvPr/>
        </p:nvSpPr>
        <p:spPr>
          <a:xfrm>
            <a:off x="7786116" y="5102352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224" name="Shape 222"/>
          <p:cNvSpPr/>
          <p:nvPr/>
        </p:nvSpPr>
        <p:spPr>
          <a:xfrm>
            <a:off x="9116568" y="5102352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225" name="Shape 223"/>
          <p:cNvSpPr/>
          <p:nvPr/>
        </p:nvSpPr>
        <p:spPr>
          <a:xfrm>
            <a:off x="10447020" y="5102352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226" name="Shape 224"/>
          <p:cNvSpPr/>
          <p:nvPr/>
        </p:nvSpPr>
        <p:spPr>
          <a:xfrm>
            <a:off x="3822192" y="5104181"/>
            <a:ext cx="3936492" cy="129845"/>
          </a:xfrm>
          <a:prstGeom prst="roundRect">
            <a:avLst>
              <a:gd name="adj" fmla="val 45775"/>
            </a:avLst>
          </a:prstGeom>
          <a:solidFill>
            <a:srgbClr val="C88A2E"/>
          </a:solidFill>
          <a:ln/>
        </p:spPr>
      </p:sp>
      <p:sp>
        <p:nvSpPr>
          <p:cNvPr id="227" name="Text 225"/>
          <p:cNvSpPr txBox="1"/>
          <p:nvPr/>
        </p:nvSpPr>
        <p:spPr>
          <a:xfrm>
            <a:off x="3895344" y="5091379"/>
            <a:ext cx="3826764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Nidhi, Eric</a:t>
            </a:r>
            <a:endParaRPr lang="en-US" sz="650" dirty="0"/>
          </a:p>
        </p:txBody>
      </p:sp>
      <p:sp>
        <p:nvSpPr>
          <p:cNvPr id="228" name="Text 226"/>
          <p:cNvSpPr txBox="1"/>
          <p:nvPr/>
        </p:nvSpPr>
        <p:spPr>
          <a:xfrm>
            <a:off x="457200" y="5259629"/>
            <a:ext cx="3291840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Mobile POS - Tyro Tap to Pay</a:t>
            </a:r>
            <a:endParaRPr lang="en-US" sz="730" dirty="0"/>
          </a:p>
        </p:txBody>
      </p:sp>
      <p:sp>
        <p:nvSpPr>
          <p:cNvPr id="229" name="Shape 227"/>
          <p:cNvSpPr/>
          <p:nvPr/>
        </p:nvSpPr>
        <p:spPr>
          <a:xfrm>
            <a:off x="3794760" y="5277917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230" name="Shape 228"/>
          <p:cNvSpPr/>
          <p:nvPr/>
        </p:nvSpPr>
        <p:spPr>
          <a:xfrm>
            <a:off x="5125212" y="5277917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231" name="Shape 229"/>
          <p:cNvSpPr/>
          <p:nvPr/>
        </p:nvSpPr>
        <p:spPr>
          <a:xfrm>
            <a:off x="6455664" y="5277917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232" name="Shape 230"/>
          <p:cNvSpPr/>
          <p:nvPr/>
        </p:nvSpPr>
        <p:spPr>
          <a:xfrm>
            <a:off x="7786116" y="5277917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233" name="Shape 231"/>
          <p:cNvSpPr/>
          <p:nvPr/>
        </p:nvSpPr>
        <p:spPr>
          <a:xfrm>
            <a:off x="9116568" y="5277917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234" name="Shape 232"/>
          <p:cNvSpPr/>
          <p:nvPr/>
        </p:nvSpPr>
        <p:spPr>
          <a:xfrm>
            <a:off x="10447020" y="5277917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235" name="Shape 233"/>
          <p:cNvSpPr/>
          <p:nvPr/>
        </p:nvSpPr>
        <p:spPr>
          <a:xfrm>
            <a:off x="3822192" y="5279746"/>
            <a:ext cx="3936492" cy="129845"/>
          </a:xfrm>
          <a:prstGeom prst="roundRect">
            <a:avLst>
              <a:gd name="adj" fmla="val 45775"/>
            </a:avLst>
          </a:prstGeom>
          <a:solidFill>
            <a:srgbClr val="C88A2E"/>
          </a:solidFill>
          <a:ln/>
        </p:spPr>
      </p:sp>
      <p:sp>
        <p:nvSpPr>
          <p:cNvPr id="236" name="Text 234"/>
          <p:cNvSpPr txBox="1"/>
          <p:nvPr/>
        </p:nvSpPr>
        <p:spPr>
          <a:xfrm>
            <a:off x="3895344" y="5266944"/>
            <a:ext cx="3826764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Nidhi, Eric</a:t>
            </a:r>
            <a:endParaRPr lang="en-US" sz="650" dirty="0"/>
          </a:p>
        </p:txBody>
      </p:sp>
      <p:sp>
        <p:nvSpPr>
          <p:cNvPr id="237" name="Shape 235"/>
          <p:cNvSpPr/>
          <p:nvPr/>
        </p:nvSpPr>
        <p:spPr>
          <a:xfrm>
            <a:off x="411480" y="5435194"/>
            <a:ext cx="11365992" cy="17556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8" name="Text 236"/>
          <p:cNvSpPr txBox="1"/>
          <p:nvPr/>
        </p:nvSpPr>
        <p:spPr>
          <a:xfrm>
            <a:off x="457200" y="5435194"/>
            <a:ext cx="3291840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Mobile POS - Floorplan</a:t>
            </a:r>
            <a:endParaRPr lang="en-US" sz="730" dirty="0"/>
          </a:p>
        </p:txBody>
      </p:sp>
      <p:sp>
        <p:nvSpPr>
          <p:cNvPr id="239" name="Shape 237"/>
          <p:cNvSpPr/>
          <p:nvPr/>
        </p:nvSpPr>
        <p:spPr>
          <a:xfrm>
            <a:off x="3794760" y="5453482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240" name="Shape 238"/>
          <p:cNvSpPr/>
          <p:nvPr/>
        </p:nvSpPr>
        <p:spPr>
          <a:xfrm>
            <a:off x="5125212" y="5453482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241" name="Shape 239"/>
          <p:cNvSpPr/>
          <p:nvPr/>
        </p:nvSpPr>
        <p:spPr>
          <a:xfrm>
            <a:off x="6455664" y="5453482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242" name="Shape 240"/>
          <p:cNvSpPr/>
          <p:nvPr/>
        </p:nvSpPr>
        <p:spPr>
          <a:xfrm>
            <a:off x="7786116" y="5453482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243" name="Shape 241"/>
          <p:cNvSpPr/>
          <p:nvPr/>
        </p:nvSpPr>
        <p:spPr>
          <a:xfrm>
            <a:off x="9116568" y="5453482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244" name="Shape 242"/>
          <p:cNvSpPr/>
          <p:nvPr/>
        </p:nvSpPr>
        <p:spPr>
          <a:xfrm>
            <a:off x="10447020" y="5453482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245" name="Shape 243"/>
          <p:cNvSpPr/>
          <p:nvPr/>
        </p:nvSpPr>
        <p:spPr>
          <a:xfrm>
            <a:off x="3822192" y="5455310"/>
            <a:ext cx="1275588" cy="129845"/>
          </a:xfrm>
          <a:prstGeom prst="roundRect">
            <a:avLst>
              <a:gd name="adj" fmla="val 45775"/>
            </a:avLst>
          </a:prstGeom>
          <a:solidFill>
            <a:srgbClr val="C88A2E"/>
          </a:solidFill>
          <a:ln/>
        </p:spPr>
      </p:sp>
      <p:sp>
        <p:nvSpPr>
          <p:cNvPr id="246" name="Text 244"/>
          <p:cNvSpPr txBox="1"/>
          <p:nvPr/>
        </p:nvSpPr>
        <p:spPr>
          <a:xfrm>
            <a:off x="3895344" y="5442509"/>
            <a:ext cx="1165860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Nidhi</a:t>
            </a:r>
            <a:endParaRPr lang="en-US" sz="650" dirty="0"/>
          </a:p>
        </p:txBody>
      </p:sp>
      <p:sp>
        <p:nvSpPr>
          <p:cNvPr id="247" name="Text 245"/>
          <p:cNvSpPr txBox="1"/>
          <p:nvPr/>
        </p:nvSpPr>
        <p:spPr>
          <a:xfrm>
            <a:off x="457200" y="5610758"/>
            <a:ext cx="3291840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Mobile POS - The Pass Integration</a:t>
            </a:r>
            <a:endParaRPr lang="en-US" sz="730" dirty="0"/>
          </a:p>
        </p:txBody>
      </p:sp>
      <p:sp>
        <p:nvSpPr>
          <p:cNvPr id="248" name="Shape 246"/>
          <p:cNvSpPr/>
          <p:nvPr/>
        </p:nvSpPr>
        <p:spPr>
          <a:xfrm>
            <a:off x="3794760" y="5629046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249" name="Shape 247"/>
          <p:cNvSpPr/>
          <p:nvPr/>
        </p:nvSpPr>
        <p:spPr>
          <a:xfrm>
            <a:off x="5125212" y="5629046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250" name="Shape 248"/>
          <p:cNvSpPr/>
          <p:nvPr/>
        </p:nvSpPr>
        <p:spPr>
          <a:xfrm>
            <a:off x="6455664" y="5629046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251" name="Shape 249"/>
          <p:cNvSpPr/>
          <p:nvPr/>
        </p:nvSpPr>
        <p:spPr>
          <a:xfrm>
            <a:off x="7786116" y="5629046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252" name="Shape 250"/>
          <p:cNvSpPr/>
          <p:nvPr/>
        </p:nvSpPr>
        <p:spPr>
          <a:xfrm>
            <a:off x="9116568" y="5629046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253" name="Shape 251"/>
          <p:cNvSpPr/>
          <p:nvPr/>
        </p:nvSpPr>
        <p:spPr>
          <a:xfrm>
            <a:off x="10447020" y="5629046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254" name="Shape 252"/>
          <p:cNvSpPr/>
          <p:nvPr/>
        </p:nvSpPr>
        <p:spPr>
          <a:xfrm>
            <a:off x="6483096" y="5630875"/>
            <a:ext cx="5266944" cy="129845"/>
          </a:xfrm>
          <a:prstGeom prst="roundRect">
            <a:avLst>
              <a:gd name="adj" fmla="val 45775"/>
            </a:avLst>
          </a:prstGeom>
          <a:solidFill>
            <a:srgbClr val="B4552D"/>
          </a:solidFill>
          <a:ln/>
        </p:spPr>
      </p:sp>
      <p:sp>
        <p:nvSpPr>
          <p:cNvPr id="255" name="Text 253"/>
          <p:cNvSpPr txBox="1"/>
          <p:nvPr/>
        </p:nvSpPr>
        <p:spPr>
          <a:xfrm>
            <a:off x="6556248" y="5618074"/>
            <a:ext cx="5157216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Nidhi</a:t>
            </a:r>
            <a:endParaRPr lang="en-US" sz="650" dirty="0"/>
          </a:p>
        </p:txBody>
      </p:sp>
      <p:sp>
        <p:nvSpPr>
          <p:cNvPr id="256" name="Shape 254"/>
          <p:cNvSpPr/>
          <p:nvPr/>
        </p:nvSpPr>
        <p:spPr>
          <a:xfrm>
            <a:off x="411480" y="5786323"/>
            <a:ext cx="11365992" cy="17556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7" name="Text 255"/>
          <p:cNvSpPr txBox="1"/>
          <p:nvPr/>
        </p:nvSpPr>
        <p:spPr>
          <a:xfrm>
            <a:off x="457200" y="5786323"/>
            <a:ext cx="3291840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Mobile POS - Quick Sale for Events</a:t>
            </a:r>
            <a:endParaRPr lang="en-US" sz="730" dirty="0"/>
          </a:p>
        </p:txBody>
      </p:sp>
      <p:sp>
        <p:nvSpPr>
          <p:cNvPr id="258" name="Shape 256"/>
          <p:cNvSpPr/>
          <p:nvPr/>
        </p:nvSpPr>
        <p:spPr>
          <a:xfrm>
            <a:off x="3794760" y="5804611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259" name="Shape 257"/>
          <p:cNvSpPr/>
          <p:nvPr/>
        </p:nvSpPr>
        <p:spPr>
          <a:xfrm>
            <a:off x="5125212" y="5804611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260" name="Shape 258"/>
          <p:cNvSpPr/>
          <p:nvPr/>
        </p:nvSpPr>
        <p:spPr>
          <a:xfrm>
            <a:off x="6455664" y="5804611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261" name="Shape 259"/>
          <p:cNvSpPr/>
          <p:nvPr/>
        </p:nvSpPr>
        <p:spPr>
          <a:xfrm>
            <a:off x="7786116" y="5804611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262" name="Shape 260"/>
          <p:cNvSpPr/>
          <p:nvPr/>
        </p:nvSpPr>
        <p:spPr>
          <a:xfrm>
            <a:off x="9116568" y="5804611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263" name="Shape 261"/>
          <p:cNvSpPr/>
          <p:nvPr/>
        </p:nvSpPr>
        <p:spPr>
          <a:xfrm>
            <a:off x="10447020" y="5804611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264" name="Shape 262"/>
          <p:cNvSpPr/>
          <p:nvPr/>
        </p:nvSpPr>
        <p:spPr>
          <a:xfrm>
            <a:off x="6483096" y="5806440"/>
            <a:ext cx="2606040" cy="129845"/>
          </a:xfrm>
          <a:prstGeom prst="roundRect">
            <a:avLst>
              <a:gd name="adj" fmla="val 45775"/>
            </a:avLst>
          </a:prstGeom>
          <a:solidFill>
            <a:srgbClr val="C88A2E"/>
          </a:solidFill>
          <a:ln/>
        </p:spPr>
      </p:sp>
      <p:sp>
        <p:nvSpPr>
          <p:cNvPr id="265" name="Text 263"/>
          <p:cNvSpPr txBox="1"/>
          <p:nvPr/>
        </p:nvSpPr>
        <p:spPr>
          <a:xfrm>
            <a:off x="6556248" y="5793638"/>
            <a:ext cx="2496312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Eric</a:t>
            </a:r>
            <a:endParaRPr lang="en-US" sz="650" dirty="0"/>
          </a:p>
        </p:txBody>
      </p:sp>
      <p:sp>
        <p:nvSpPr>
          <p:cNvPr id="266" name="Text 264"/>
          <p:cNvSpPr txBox="1"/>
          <p:nvPr/>
        </p:nvSpPr>
        <p:spPr>
          <a:xfrm>
            <a:off x="457200" y="5961888"/>
            <a:ext cx="3291840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Mobile POS - Happy Hour</a:t>
            </a:r>
            <a:endParaRPr lang="en-US" sz="730" dirty="0"/>
          </a:p>
        </p:txBody>
      </p:sp>
      <p:sp>
        <p:nvSpPr>
          <p:cNvPr id="267" name="Shape 265"/>
          <p:cNvSpPr/>
          <p:nvPr/>
        </p:nvSpPr>
        <p:spPr>
          <a:xfrm>
            <a:off x="3794760" y="5980176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268" name="Shape 266"/>
          <p:cNvSpPr/>
          <p:nvPr/>
        </p:nvSpPr>
        <p:spPr>
          <a:xfrm>
            <a:off x="5125212" y="5980176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269" name="Shape 267"/>
          <p:cNvSpPr/>
          <p:nvPr/>
        </p:nvSpPr>
        <p:spPr>
          <a:xfrm>
            <a:off x="6455664" y="5980176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270" name="Shape 268"/>
          <p:cNvSpPr/>
          <p:nvPr/>
        </p:nvSpPr>
        <p:spPr>
          <a:xfrm>
            <a:off x="7786116" y="5980176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271" name="Shape 269"/>
          <p:cNvSpPr/>
          <p:nvPr/>
        </p:nvSpPr>
        <p:spPr>
          <a:xfrm>
            <a:off x="9116568" y="5980176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272" name="Shape 270"/>
          <p:cNvSpPr/>
          <p:nvPr/>
        </p:nvSpPr>
        <p:spPr>
          <a:xfrm>
            <a:off x="10447020" y="5980176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273" name="Shape 271"/>
          <p:cNvSpPr/>
          <p:nvPr/>
        </p:nvSpPr>
        <p:spPr>
          <a:xfrm>
            <a:off x="9144000" y="5982005"/>
            <a:ext cx="2606040" cy="129845"/>
          </a:xfrm>
          <a:prstGeom prst="roundRect">
            <a:avLst>
              <a:gd name="adj" fmla="val 45775"/>
            </a:avLst>
          </a:prstGeom>
          <a:solidFill>
            <a:srgbClr val="C88A2E"/>
          </a:solidFill>
          <a:ln/>
        </p:spPr>
      </p:sp>
      <p:sp>
        <p:nvSpPr>
          <p:cNvPr id="274" name="Text 272"/>
          <p:cNvSpPr txBox="1"/>
          <p:nvPr/>
        </p:nvSpPr>
        <p:spPr>
          <a:xfrm>
            <a:off x="9217152" y="5969203"/>
            <a:ext cx="2496312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Eric</a:t>
            </a:r>
            <a:endParaRPr lang="en-US" sz="650" dirty="0"/>
          </a:p>
        </p:txBody>
      </p:sp>
      <p:sp>
        <p:nvSpPr>
          <p:cNvPr id="275" name="Shape 273"/>
          <p:cNvSpPr/>
          <p:nvPr/>
        </p:nvSpPr>
        <p:spPr>
          <a:xfrm>
            <a:off x="411480" y="6137453"/>
            <a:ext cx="11365992" cy="17556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6" name="Text 274"/>
          <p:cNvSpPr txBox="1"/>
          <p:nvPr/>
        </p:nvSpPr>
        <p:spPr>
          <a:xfrm>
            <a:off x="457200" y="6137453"/>
            <a:ext cx="3291840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 Product #1 - Margin Capture (Lucas)</a:t>
            </a:r>
            <a:endParaRPr lang="en-US" sz="730" dirty="0"/>
          </a:p>
        </p:txBody>
      </p:sp>
      <p:sp>
        <p:nvSpPr>
          <p:cNvPr id="277" name="Shape 275"/>
          <p:cNvSpPr/>
          <p:nvPr/>
        </p:nvSpPr>
        <p:spPr>
          <a:xfrm>
            <a:off x="3794760" y="6155741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278" name="Shape 276"/>
          <p:cNvSpPr/>
          <p:nvPr/>
        </p:nvSpPr>
        <p:spPr>
          <a:xfrm>
            <a:off x="5125212" y="6155741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279" name="Shape 277"/>
          <p:cNvSpPr/>
          <p:nvPr/>
        </p:nvSpPr>
        <p:spPr>
          <a:xfrm>
            <a:off x="6455664" y="6155741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280" name="Shape 278"/>
          <p:cNvSpPr/>
          <p:nvPr/>
        </p:nvSpPr>
        <p:spPr>
          <a:xfrm>
            <a:off x="7786116" y="6155741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281" name="Shape 279"/>
          <p:cNvSpPr/>
          <p:nvPr/>
        </p:nvSpPr>
        <p:spPr>
          <a:xfrm>
            <a:off x="9116568" y="6155741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282" name="Shape 280"/>
          <p:cNvSpPr/>
          <p:nvPr/>
        </p:nvSpPr>
        <p:spPr>
          <a:xfrm>
            <a:off x="10447020" y="6155741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283" name="Shape 281"/>
          <p:cNvSpPr/>
          <p:nvPr/>
        </p:nvSpPr>
        <p:spPr>
          <a:xfrm>
            <a:off x="3822192" y="6157570"/>
            <a:ext cx="7927848" cy="129845"/>
          </a:xfrm>
          <a:prstGeom prst="roundRect">
            <a:avLst>
              <a:gd name="adj" fmla="val 45775"/>
            </a:avLst>
          </a:prstGeom>
          <a:solidFill>
            <a:srgbClr val="C88A2E"/>
          </a:solidFill>
          <a:ln/>
        </p:spPr>
      </p:sp>
      <p:sp>
        <p:nvSpPr>
          <p:cNvPr id="284" name="Text 282"/>
          <p:cNvSpPr txBox="1"/>
          <p:nvPr/>
        </p:nvSpPr>
        <p:spPr>
          <a:xfrm>
            <a:off x="3895344" y="6144768"/>
            <a:ext cx="7818120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Ammar</a:t>
            </a:r>
            <a:endParaRPr lang="en-US" sz="650" dirty="0"/>
          </a:p>
        </p:txBody>
      </p:sp>
      <p:sp>
        <p:nvSpPr>
          <p:cNvPr id="285" name="Shape 283"/>
          <p:cNvSpPr/>
          <p:nvPr/>
        </p:nvSpPr>
        <p:spPr>
          <a:xfrm>
            <a:off x="6342278" y="6510528"/>
            <a:ext cx="5435194" cy="256032"/>
          </a:xfrm>
          <a:prstGeom prst="roundRect">
            <a:avLst>
              <a:gd name="adj" fmla="val 46429"/>
            </a:avLst>
          </a:prstGeom>
          <a:solidFill>
            <a:srgbClr val="12293A"/>
          </a:solidFill>
          <a:ln/>
        </p:spPr>
      </p:sp>
      <p:sp>
        <p:nvSpPr>
          <p:cNvPr id="286" name="Text 284"/>
          <p:cNvSpPr txBox="1"/>
          <p:nvPr/>
        </p:nvSpPr>
        <p:spPr>
          <a:xfrm>
            <a:off x="6342278" y="6510528"/>
            <a:ext cx="543519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Source: GTM Tracker (product team) — as at 19 Sep, refresh pending for a sixth week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12293A"/>
          </a:solidFill>
          <a:ln/>
        </p:spPr>
      </p:sp>
      <p:sp>
        <p:nvSpPr>
          <p:cNvPr id="3" name="Shape 1"/>
          <p:cNvSpPr/>
          <p:nvPr/>
        </p:nvSpPr>
        <p:spPr>
          <a:xfrm>
            <a:off x="384048" y="155448"/>
            <a:ext cx="731520" cy="530352"/>
          </a:xfrm>
          <a:prstGeom prst="roundRect">
            <a:avLst>
              <a:gd name="adj" fmla="val 15517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84048" y="155448"/>
            <a:ext cx="731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H&amp;L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298448" y="54864"/>
            <a:ext cx="7223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GTM Readiness</a:t>
            </a:r>
            <a:endParaRPr lang="en-US" sz="2300" dirty="0"/>
          </a:p>
        </p:txBody>
      </p:sp>
      <p:sp>
        <p:nvSpPr>
          <p:cNvPr id="6" name="Text 4"/>
          <p:cNvSpPr txBox="1"/>
          <p:nvPr/>
        </p:nvSpPr>
        <p:spPr>
          <a:xfrm>
            <a:off x="1316736" y="512064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FAEB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Product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8686800" y="246888"/>
            <a:ext cx="1965960" cy="347472"/>
          </a:xfrm>
          <a:prstGeom prst="roundRect">
            <a:avLst>
              <a:gd name="adj" fmla="val 50000"/>
            </a:avLst>
          </a:prstGeom>
          <a:solidFill>
            <a:srgbClr val="24435C"/>
          </a:solidFill>
          <a:ln w="9525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0" y="24688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 ·  BUILDING THE FUTURE?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0872216" y="0"/>
            <a:ext cx="841248" cy="841248"/>
          </a:xfrm>
          <a:prstGeom prst="ellipse">
            <a:avLst/>
          </a:prstGeom>
          <a:solidFill>
            <a:srgbClr val="1C5765"/>
          </a:solidFill>
          <a:ln/>
        </p:spPr>
      </p:sp>
      <p:sp>
        <p:nvSpPr>
          <p:cNvPr id="10" name="Shape 8"/>
          <p:cNvSpPr/>
          <p:nvPr/>
        </p:nvSpPr>
        <p:spPr>
          <a:xfrm>
            <a:off x="10968228" y="96012"/>
            <a:ext cx="649224" cy="649224"/>
          </a:xfrm>
          <a:prstGeom prst="ellipse">
            <a:avLst/>
          </a:prstGeom>
          <a:solidFill>
            <a:srgbClr val="2C8394"/>
          </a:solidFill>
          <a:ln/>
        </p:spPr>
      </p:sp>
      <p:sp>
        <p:nvSpPr>
          <p:cNvPr id="11" name="Shape 9"/>
          <p:cNvSpPr/>
          <p:nvPr/>
        </p:nvSpPr>
        <p:spPr>
          <a:xfrm>
            <a:off x="11064240" y="192024"/>
            <a:ext cx="457200" cy="457200"/>
          </a:xfrm>
          <a:prstGeom prst="ellipse">
            <a:avLst/>
          </a:prstGeom>
          <a:solidFill>
            <a:srgbClr val="6FAEBB"/>
          </a:solidFill>
          <a:ln/>
        </p:spPr>
      </p:sp>
      <p:sp>
        <p:nvSpPr>
          <p:cNvPr id="12" name="Shape 10"/>
          <p:cNvSpPr/>
          <p:nvPr/>
        </p:nvSpPr>
        <p:spPr>
          <a:xfrm>
            <a:off x="11160252" y="288036"/>
            <a:ext cx="265176" cy="265176"/>
          </a:xfrm>
          <a:prstGeom prst="ellipse">
            <a:avLst/>
          </a:prstGeom>
          <a:solidFill>
            <a:srgbClr val="E4F1F4"/>
          </a:solidFill>
          <a:ln/>
        </p:spPr>
      </p:sp>
      <p:sp>
        <p:nvSpPr>
          <p:cNvPr id="13" name="Shape 11"/>
          <p:cNvSpPr/>
          <p:nvPr/>
        </p:nvSpPr>
        <p:spPr>
          <a:xfrm>
            <a:off x="411480" y="1005840"/>
            <a:ext cx="11365992" cy="457200"/>
          </a:xfrm>
          <a:prstGeom prst="roundRect">
            <a:avLst>
              <a:gd name="adj" fmla="val 12000"/>
            </a:avLst>
          </a:prstGeom>
          <a:solidFill>
            <a:srgbClr val="12293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94360" y="10058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PRODUCT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2514600" y="1042416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MESSAGING &amp; COLLATERAL</a:t>
            </a:r>
            <a:endParaRPr lang="en-US" sz="580" dirty="0"/>
          </a:p>
        </p:txBody>
      </p:sp>
      <p:sp>
        <p:nvSpPr>
          <p:cNvPr id="16" name="Text 14"/>
          <p:cNvSpPr txBox="1"/>
          <p:nvPr/>
        </p:nvSpPr>
        <p:spPr>
          <a:xfrm>
            <a:off x="3547872" y="1042416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VALUE CASE $ PROVEN</a:t>
            </a:r>
            <a:endParaRPr lang="en-US" sz="580" dirty="0"/>
          </a:p>
        </p:txBody>
      </p:sp>
      <p:sp>
        <p:nvSpPr>
          <p:cNvPr id="17" name="Text 15"/>
          <p:cNvSpPr txBox="1"/>
          <p:nvPr/>
        </p:nvSpPr>
        <p:spPr>
          <a:xfrm>
            <a:off x="4581144" y="1042416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PRICING &amp; PACKAGING</a:t>
            </a:r>
            <a:endParaRPr lang="en-US" sz="580" dirty="0"/>
          </a:p>
        </p:txBody>
      </p:sp>
      <p:sp>
        <p:nvSpPr>
          <p:cNvPr id="18" name="Text 16"/>
          <p:cNvSpPr txBox="1"/>
          <p:nvPr/>
        </p:nvSpPr>
        <p:spPr>
          <a:xfrm>
            <a:off x="5614416" y="1042416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CONTRACT &amp; DATA TERMS</a:t>
            </a:r>
            <a:endParaRPr lang="en-US" sz="580" dirty="0"/>
          </a:p>
        </p:txBody>
      </p:sp>
      <p:sp>
        <p:nvSpPr>
          <p:cNvPr id="19" name="Text 17"/>
          <p:cNvSpPr txBox="1"/>
          <p:nvPr/>
        </p:nvSpPr>
        <p:spPr>
          <a:xfrm>
            <a:off x="6647688" y="1042416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BILLING &amp; METERING</a:t>
            </a:r>
            <a:endParaRPr lang="en-US" sz="580" dirty="0"/>
          </a:p>
        </p:txBody>
      </p:sp>
      <p:sp>
        <p:nvSpPr>
          <p:cNvPr id="20" name="Text 18"/>
          <p:cNvSpPr txBox="1"/>
          <p:nvPr/>
        </p:nvSpPr>
        <p:spPr>
          <a:xfrm>
            <a:off x="7680960" y="1042416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REFERENCE PILOT</a:t>
            </a:r>
            <a:endParaRPr lang="en-US" sz="580" dirty="0"/>
          </a:p>
        </p:txBody>
      </p:sp>
      <p:sp>
        <p:nvSpPr>
          <p:cNvPr id="21" name="Text 19"/>
          <p:cNvSpPr txBox="1"/>
          <p:nvPr/>
        </p:nvSpPr>
        <p:spPr>
          <a:xfrm>
            <a:off x="8714232" y="1042416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SALES ENABLED</a:t>
            </a:r>
            <a:endParaRPr lang="en-US" sz="580" dirty="0"/>
          </a:p>
        </p:txBody>
      </p:sp>
      <p:sp>
        <p:nvSpPr>
          <p:cNvPr id="22" name="Text 20"/>
          <p:cNvSpPr txBox="1"/>
          <p:nvPr/>
        </p:nvSpPr>
        <p:spPr>
          <a:xfrm>
            <a:off x="9747504" y="1042416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SUPPORT &amp; REMI</a:t>
            </a:r>
            <a:endParaRPr lang="en-US" sz="580" dirty="0"/>
          </a:p>
        </p:txBody>
      </p:sp>
      <p:sp>
        <p:nvSpPr>
          <p:cNvPr id="23" name="Text 21"/>
          <p:cNvSpPr txBox="1"/>
          <p:nvPr/>
        </p:nvSpPr>
        <p:spPr>
          <a:xfrm>
            <a:off x="10780776" y="1042416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ACCURACY &amp; FALLBACK</a:t>
            </a:r>
            <a:endParaRPr lang="en-US" sz="580" dirty="0"/>
          </a:p>
        </p:txBody>
      </p:sp>
      <p:sp>
        <p:nvSpPr>
          <p:cNvPr id="24" name="Shape 22"/>
          <p:cNvSpPr/>
          <p:nvPr/>
        </p:nvSpPr>
        <p:spPr>
          <a:xfrm>
            <a:off x="411480" y="1627632"/>
            <a:ext cx="11365992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594360" y="1627632"/>
            <a:ext cx="1828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QR Ordering (OrderNow)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514600" y="1783080"/>
            <a:ext cx="969264" cy="292608"/>
          </a:xfrm>
          <a:prstGeom prst="roundRect">
            <a:avLst>
              <a:gd name="adj" fmla="val 50000"/>
            </a:avLst>
          </a:prstGeom>
          <a:solidFill>
            <a:srgbClr val="B4552D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2514600" y="1783080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Jasmine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547872" y="1783080"/>
            <a:ext cx="969264" cy="292608"/>
          </a:xfrm>
          <a:prstGeom prst="roundRect">
            <a:avLst>
              <a:gd name="adj" fmla="val 50000"/>
            </a:avLst>
          </a:prstGeom>
          <a:solidFill>
            <a:srgbClr val="C88A2E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3547872" y="1783080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—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581144" y="1783080"/>
            <a:ext cx="969264" cy="292608"/>
          </a:xfrm>
          <a:prstGeom prst="roundRect">
            <a:avLst>
              <a:gd name="adj" fmla="val 50000"/>
            </a:avLst>
          </a:prstGeom>
          <a:solidFill>
            <a:srgbClr val="C88A2E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4581144" y="1783080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Luke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614416" y="1783080"/>
            <a:ext cx="969264" cy="292608"/>
          </a:xfrm>
          <a:prstGeom prst="roundRect">
            <a:avLst>
              <a:gd name="adj" fmla="val 50000"/>
            </a:avLst>
          </a:prstGeom>
          <a:solidFill>
            <a:srgbClr val="C88A2E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33" name="Text 31"/>
          <p:cNvSpPr txBox="1"/>
          <p:nvPr/>
        </p:nvSpPr>
        <p:spPr>
          <a:xfrm>
            <a:off x="5614416" y="1783080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Luke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647688" y="1783080"/>
            <a:ext cx="969264" cy="292608"/>
          </a:xfrm>
          <a:prstGeom prst="roundRect">
            <a:avLst>
              <a:gd name="adj" fmla="val 50000"/>
            </a:avLst>
          </a:prstGeom>
          <a:solidFill>
            <a:srgbClr val="C88A2E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35" name="Text 33"/>
          <p:cNvSpPr txBox="1"/>
          <p:nvPr/>
        </p:nvSpPr>
        <p:spPr>
          <a:xfrm>
            <a:off x="6647688" y="1783080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Janice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7680960" y="1783080"/>
            <a:ext cx="969264" cy="292608"/>
          </a:xfrm>
          <a:prstGeom prst="roundRect">
            <a:avLst>
              <a:gd name="adj" fmla="val 50000"/>
            </a:avLst>
          </a:prstGeom>
          <a:solidFill>
            <a:srgbClr val="C88A2E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37" name="Text 35"/>
          <p:cNvSpPr txBox="1"/>
          <p:nvPr/>
        </p:nvSpPr>
        <p:spPr>
          <a:xfrm>
            <a:off x="7680960" y="1783080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Matt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8714232" y="1783080"/>
            <a:ext cx="969264" cy="292608"/>
          </a:xfrm>
          <a:prstGeom prst="roundRect">
            <a:avLst>
              <a:gd name="adj" fmla="val 50000"/>
            </a:avLst>
          </a:prstGeom>
          <a:solidFill>
            <a:srgbClr val="B4552D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39" name="Text 37"/>
          <p:cNvSpPr txBox="1"/>
          <p:nvPr/>
        </p:nvSpPr>
        <p:spPr>
          <a:xfrm>
            <a:off x="8714232" y="1783080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Matt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9747504" y="1783080"/>
            <a:ext cx="969264" cy="292608"/>
          </a:xfrm>
          <a:prstGeom prst="roundRect">
            <a:avLst>
              <a:gd name="adj" fmla="val 50000"/>
            </a:avLst>
          </a:prstGeom>
          <a:solidFill>
            <a:srgbClr val="B4552D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41" name="Text 39"/>
          <p:cNvSpPr txBox="1"/>
          <p:nvPr/>
        </p:nvSpPr>
        <p:spPr>
          <a:xfrm>
            <a:off x="9747504" y="1783080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Matt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10780776" y="1783080"/>
            <a:ext cx="969264" cy="292608"/>
          </a:xfrm>
          <a:prstGeom prst="roundRect">
            <a:avLst>
              <a:gd name="adj" fmla="val 50000"/>
            </a:avLst>
          </a:prstGeom>
          <a:solidFill>
            <a:srgbClr val="C88A2E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43" name="Text 41"/>
          <p:cNvSpPr txBox="1"/>
          <p:nvPr/>
        </p:nvSpPr>
        <p:spPr>
          <a:xfrm>
            <a:off x="10780776" y="1783080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Eric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11480" y="2340864"/>
            <a:ext cx="11365992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45" name="Text 43"/>
          <p:cNvSpPr txBox="1"/>
          <p:nvPr/>
        </p:nvSpPr>
        <p:spPr>
          <a:xfrm>
            <a:off x="594360" y="2340864"/>
            <a:ext cx="1828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Roam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2514600" y="2496312"/>
            <a:ext cx="969264" cy="292608"/>
          </a:xfrm>
          <a:prstGeom prst="roundRect">
            <a:avLst>
              <a:gd name="adj" fmla="val 50000"/>
            </a:avLst>
          </a:prstGeom>
          <a:solidFill>
            <a:srgbClr val="C88A2E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47" name="Text 45"/>
          <p:cNvSpPr txBox="1"/>
          <p:nvPr/>
        </p:nvSpPr>
        <p:spPr>
          <a:xfrm>
            <a:off x="2514600" y="2496312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Bjorn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3547872" y="2496312"/>
            <a:ext cx="969264" cy="292608"/>
          </a:xfrm>
          <a:prstGeom prst="roundRect">
            <a:avLst>
              <a:gd name="adj" fmla="val 50000"/>
            </a:avLst>
          </a:prstGeom>
          <a:solidFill>
            <a:srgbClr val="3D8F5F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49" name="Text 47"/>
          <p:cNvSpPr txBox="1"/>
          <p:nvPr/>
        </p:nvSpPr>
        <p:spPr>
          <a:xfrm>
            <a:off x="3547872" y="2496312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—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4581144" y="2496312"/>
            <a:ext cx="969264" cy="292608"/>
          </a:xfrm>
          <a:prstGeom prst="roundRect">
            <a:avLst>
              <a:gd name="adj" fmla="val 50000"/>
            </a:avLst>
          </a:prstGeom>
          <a:solidFill>
            <a:srgbClr val="3D8F5F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51" name="Text 49"/>
          <p:cNvSpPr txBox="1"/>
          <p:nvPr/>
        </p:nvSpPr>
        <p:spPr>
          <a:xfrm>
            <a:off x="4581144" y="2496312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Luke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5614416" y="2496312"/>
            <a:ext cx="969264" cy="292608"/>
          </a:xfrm>
          <a:prstGeom prst="roundRect">
            <a:avLst>
              <a:gd name="adj" fmla="val 50000"/>
            </a:avLst>
          </a:prstGeom>
          <a:solidFill>
            <a:srgbClr val="3D8F5F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53" name="Text 51"/>
          <p:cNvSpPr txBox="1"/>
          <p:nvPr/>
        </p:nvSpPr>
        <p:spPr>
          <a:xfrm>
            <a:off x="5614416" y="2496312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Luke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6647688" y="2496312"/>
            <a:ext cx="969264" cy="292608"/>
          </a:xfrm>
          <a:prstGeom prst="roundRect">
            <a:avLst>
              <a:gd name="adj" fmla="val 50000"/>
            </a:avLst>
          </a:prstGeom>
          <a:solidFill>
            <a:srgbClr val="3D8F5F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55" name="Text 53"/>
          <p:cNvSpPr txBox="1"/>
          <p:nvPr/>
        </p:nvSpPr>
        <p:spPr>
          <a:xfrm>
            <a:off x="6647688" y="2496312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Janice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7680960" y="2496312"/>
            <a:ext cx="969264" cy="292608"/>
          </a:xfrm>
          <a:prstGeom prst="roundRect">
            <a:avLst>
              <a:gd name="adj" fmla="val 50000"/>
            </a:avLst>
          </a:prstGeom>
          <a:solidFill>
            <a:srgbClr val="3D8F5F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57" name="Text 55"/>
          <p:cNvSpPr txBox="1"/>
          <p:nvPr/>
        </p:nvSpPr>
        <p:spPr>
          <a:xfrm>
            <a:off x="7680960" y="2496312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Matt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8714232" y="2496312"/>
            <a:ext cx="969264" cy="292608"/>
          </a:xfrm>
          <a:prstGeom prst="roundRect">
            <a:avLst>
              <a:gd name="adj" fmla="val 50000"/>
            </a:avLst>
          </a:prstGeom>
          <a:solidFill>
            <a:srgbClr val="C88A2E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59" name="Text 57"/>
          <p:cNvSpPr txBox="1"/>
          <p:nvPr/>
        </p:nvSpPr>
        <p:spPr>
          <a:xfrm>
            <a:off x="8714232" y="2496312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Matt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9747504" y="2496312"/>
            <a:ext cx="969264" cy="292608"/>
          </a:xfrm>
          <a:prstGeom prst="roundRect">
            <a:avLst>
              <a:gd name="adj" fmla="val 50000"/>
            </a:avLst>
          </a:prstGeom>
          <a:solidFill>
            <a:srgbClr val="3D8F5F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61" name="Text 59"/>
          <p:cNvSpPr txBox="1"/>
          <p:nvPr/>
        </p:nvSpPr>
        <p:spPr>
          <a:xfrm>
            <a:off x="9747504" y="2496312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Matt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10780776" y="2496312"/>
            <a:ext cx="969264" cy="292608"/>
          </a:xfrm>
          <a:prstGeom prst="roundRect">
            <a:avLst>
              <a:gd name="adj" fmla="val 50000"/>
            </a:avLst>
          </a:prstGeom>
          <a:solidFill>
            <a:srgbClr val="C7D3DA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63" name="Text 61"/>
          <p:cNvSpPr txBox="1"/>
          <p:nvPr/>
        </p:nvSpPr>
        <p:spPr>
          <a:xfrm>
            <a:off x="10780776" y="2496312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N/A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411480" y="3054096"/>
            <a:ext cx="11365992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65" name="Text 63"/>
          <p:cNvSpPr txBox="1"/>
          <p:nvPr/>
        </p:nvSpPr>
        <p:spPr>
          <a:xfrm>
            <a:off x="594360" y="3054096"/>
            <a:ext cx="1828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Sentinel AI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2514600" y="3209544"/>
            <a:ext cx="969264" cy="292608"/>
          </a:xfrm>
          <a:prstGeom prst="roundRect">
            <a:avLst>
              <a:gd name="adj" fmla="val 50000"/>
            </a:avLst>
          </a:prstGeom>
          <a:solidFill>
            <a:srgbClr val="B4552D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67" name="Text 65"/>
          <p:cNvSpPr txBox="1"/>
          <p:nvPr/>
        </p:nvSpPr>
        <p:spPr>
          <a:xfrm>
            <a:off x="2514600" y="3209544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Bradford *1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3547872" y="3209544"/>
            <a:ext cx="969264" cy="292608"/>
          </a:xfrm>
          <a:prstGeom prst="roundRect">
            <a:avLst>
              <a:gd name="adj" fmla="val 50000"/>
            </a:avLst>
          </a:prstGeom>
          <a:solidFill>
            <a:srgbClr val="C88A2E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69" name="Text 67"/>
          <p:cNvSpPr txBox="1"/>
          <p:nvPr/>
        </p:nvSpPr>
        <p:spPr>
          <a:xfrm>
            <a:off x="3547872" y="3209544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—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4581144" y="3209544"/>
            <a:ext cx="969264" cy="292608"/>
          </a:xfrm>
          <a:prstGeom prst="roundRect">
            <a:avLst>
              <a:gd name="adj" fmla="val 50000"/>
            </a:avLst>
          </a:prstGeom>
          <a:solidFill>
            <a:srgbClr val="B4552D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71" name="Text 69"/>
          <p:cNvSpPr txBox="1"/>
          <p:nvPr/>
        </p:nvSpPr>
        <p:spPr>
          <a:xfrm>
            <a:off x="4581144" y="3209544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Luke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5614416" y="3209544"/>
            <a:ext cx="969264" cy="292608"/>
          </a:xfrm>
          <a:prstGeom prst="roundRect">
            <a:avLst>
              <a:gd name="adj" fmla="val 50000"/>
            </a:avLst>
          </a:prstGeom>
          <a:solidFill>
            <a:srgbClr val="B4552D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73" name="Text 71"/>
          <p:cNvSpPr txBox="1"/>
          <p:nvPr/>
        </p:nvSpPr>
        <p:spPr>
          <a:xfrm>
            <a:off x="5614416" y="3209544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Luke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6647688" y="3209544"/>
            <a:ext cx="969264" cy="292608"/>
          </a:xfrm>
          <a:prstGeom prst="roundRect">
            <a:avLst>
              <a:gd name="adj" fmla="val 50000"/>
            </a:avLst>
          </a:prstGeom>
          <a:solidFill>
            <a:srgbClr val="B4552D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75" name="Text 73"/>
          <p:cNvSpPr txBox="1"/>
          <p:nvPr/>
        </p:nvSpPr>
        <p:spPr>
          <a:xfrm>
            <a:off x="6647688" y="3209544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Janice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7680960" y="3209544"/>
            <a:ext cx="969264" cy="292608"/>
          </a:xfrm>
          <a:prstGeom prst="roundRect">
            <a:avLst>
              <a:gd name="adj" fmla="val 50000"/>
            </a:avLst>
          </a:prstGeom>
          <a:solidFill>
            <a:srgbClr val="C88A2E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77" name="Text 75"/>
          <p:cNvSpPr txBox="1"/>
          <p:nvPr/>
        </p:nvSpPr>
        <p:spPr>
          <a:xfrm>
            <a:off x="7680960" y="3209544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Matt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8714232" y="3209544"/>
            <a:ext cx="969264" cy="292608"/>
          </a:xfrm>
          <a:prstGeom prst="roundRect">
            <a:avLst>
              <a:gd name="adj" fmla="val 50000"/>
            </a:avLst>
          </a:prstGeom>
          <a:solidFill>
            <a:srgbClr val="B4552D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79" name="Text 77"/>
          <p:cNvSpPr txBox="1"/>
          <p:nvPr/>
        </p:nvSpPr>
        <p:spPr>
          <a:xfrm>
            <a:off x="8714232" y="3209544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Matt</a:t>
            </a:r>
            <a:endParaRPr lang="en-US" sz="850" dirty="0"/>
          </a:p>
        </p:txBody>
      </p:sp>
      <p:sp>
        <p:nvSpPr>
          <p:cNvPr id="80" name="Shape 78"/>
          <p:cNvSpPr/>
          <p:nvPr/>
        </p:nvSpPr>
        <p:spPr>
          <a:xfrm>
            <a:off x="9747504" y="3209544"/>
            <a:ext cx="969264" cy="292608"/>
          </a:xfrm>
          <a:prstGeom prst="roundRect">
            <a:avLst>
              <a:gd name="adj" fmla="val 50000"/>
            </a:avLst>
          </a:prstGeom>
          <a:solidFill>
            <a:srgbClr val="B4552D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81" name="Text 79"/>
          <p:cNvSpPr txBox="1"/>
          <p:nvPr/>
        </p:nvSpPr>
        <p:spPr>
          <a:xfrm>
            <a:off x="9747504" y="3209544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Matt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10780776" y="3209544"/>
            <a:ext cx="969264" cy="292608"/>
          </a:xfrm>
          <a:prstGeom prst="roundRect">
            <a:avLst>
              <a:gd name="adj" fmla="val 50000"/>
            </a:avLst>
          </a:prstGeom>
          <a:solidFill>
            <a:srgbClr val="B4552D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83" name="Text 81"/>
          <p:cNvSpPr txBox="1"/>
          <p:nvPr/>
        </p:nvSpPr>
        <p:spPr>
          <a:xfrm>
            <a:off x="10780776" y="3209544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Ammar</a:t>
            </a:r>
            <a:endParaRPr lang="en-US" sz="850" dirty="0"/>
          </a:p>
        </p:txBody>
      </p:sp>
      <p:sp>
        <p:nvSpPr>
          <p:cNvPr id="84" name="Shape 82"/>
          <p:cNvSpPr/>
          <p:nvPr/>
        </p:nvSpPr>
        <p:spPr>
          <a:xfrm>
            <a:off x="411480" y="3931920"/>
            <a:ext cx="6035040" cy="2395728"/>
          </a:xfrm>
          <a:prstGeom prst="roundRect">
            <a:avLst>
              <a:gd name="adj" fmla="val 267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85" name="Text 83"/>
          <p:cNvSpPr txBox="1"/>
          <p:nvPr/>
        </p:nvSpPr>
        <p:spPr>
          <a:xfrm>
            <a:off x="612648" y="404164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GTM READINESS — AI SUMMARY</a:t>
            </a:r>
            <a:endParaRPr lang="en-US" sz="1200" dirty="0"/>
          </a:p>
        </p:txBody>
      </p:sp>
      <p:sp>
        <p:nvSpPr>
          <p:cNvPr id="86" name="Text 84"/>
          <p:cNvSpPr txBox="1"/>
          <p:nvPr/>
        </p:nvSpPr>
        <p:spPr>
          <a:xfrm>
            <a:off x="612648" y="4352544"/>
            <a:ext cx="5623560" cy="1847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 </a:t>
            </a:r>
            <a:pPr indent="0" marL="0">
              <a:buNone/>
            </a:pPr>
            <a:r>
              <a:rPr lang="en-US" sz="90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Launch scoreboard — </a:t>
            </a:r>
            <a:pPr indent="0" marL="0">
              <a:spcAft>
                <a:spcPts val="800"/>
              </a:spcAft>
              <a:buNone/>
            </a:pPr>
            <a:r>
              <a:rPr lang="en-US" sz="900" dirty="0">
                <a:solidFill>
                  <a:srgbClr val="3A4B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Roam 78% · QR Ordering (OrderNow) 33% · Sentinel AI 11% (green = done, amber = half-credit)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B455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 </a:t>
            </a:r>
            <a:pPr indent="0" marL="0">
              <a:buNone/>
            </a:pPr>
            <a:r>
              <a:rPr lang="en-US" sz="90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Red gates — </a:t>
            </a:r>
            <a:pPr indent="0" marL="0">
              <a:spcAft>
                <a:spcPts val="800"/>
              </a:spcAft>
              <a:buNone/>
            </a:pPr>
            <a:r>
              <a:rPr lang="en-US" sz="900" dirty="0">
                <a:solidFill>
                  <a:srgbClr val="3A4B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QR Ordering (OrderNow) is blocked on Messaging &amp; collateral, Sales enabled, Support &amp; Remi; Sentinel AI is blocked on Messaging &amp; collateral, Pricing &amp; packaging, Contract &amp; data terms, Billing &amp; metering, Sales enabled, Support &amp; Remi, AI accuracy &amp; fallback. Nothing else stops a launch.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 </a:t>
            </a:r>
            <a:pPr indent="0" marL="0">
              <a:buNone/>
            </a:pPr>
            <a:r>
              <a:rPr lang="en-US" sz="90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Who owns it — </a:t>
            </a:r>
            <a:pPr indent="0" marL="0">
              <a:spcAft>
                <a:spcPts val="800"/>
              </a:spcAft>
              <a:buNone/>
            </a:pPr>
            <a:r>
              <a:rPr lang="en-US" sz="900" dirty="0">
                <a:solidFill>
                  <a:srgbClr val="3A4B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24 of 27 dimensions have a named owner on the pill; 1 carries a note. An unowned red is a stalled red.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 </a:t>
            </a:r>
            <a:pPr indent="0" marL="0">
              <a:spcAft>
                <a:spcPts val="800"/>
              </a:spcAft>
              <a:buNone/>
            </a:pPr>
            <a:r>
              <a:rPr lang="en-US" sz="90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*1 Sentinel AI · Messaging &amp; collateral: MF to give BY prototype to produce a 1pgr pitch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6629400" y="3931920"/>
            <a:ext cx="5148072" cy="2395728"/>
          </a:xfrm>
          <a:prstGeom prst="roundRect">
            <a:avLst>
              <a:gd name="adj" fmla="val 267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88" name="Text 86"/>
          <p:cNvSpPr txBox="1"/>
          <p:nvPr/>
        </p:nvSpPr>
        <p:spPr>
          <a:xfrm>
            <a:off x="6830568" y="4041648"/>
            <a:ext cx="4782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ROADMAP — AI SUMMARY</a:t>
            </a:r>
            <a:endParaRPr lang="en-US" sz="1200" dirty="0"/>
          </a:p>
        </p:txBody>
      </p:sp>
      <p:sp>
        <p:nvSpPr>
          <p:cNvPr id="89" name="Text 87"/>
          <p:cNvSpPr txBox="1"/>
          <p:nvPr/>
        </p:nvSpPr>
        <p:spPr>
          <a:xfrm>
            <a:off x="6830568" y="4352544"/>
            <a:ext cx="4736592" cy="1847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C88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 </a:t>
            </a:r>
            <a:pPr indent="0" marL="0">
              <a:buNone/>
            </a:pPr>
            <a:r>
              <a:rPr lang="en-US" sz="90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ALH Food Pricing - PLU Visibility Filter (On Track): </a:t>
            </a:r>
            <a:pPr indent="0" marL="0">
              <a:spcAft>
                <a:spcPts val="800"/>
              </a:spcAft>
              <a:buNone/>
            </a:pPr>
            <a:r>
              <a:rPr lang="en-US" sz="900" dirty="0">
                <a:solidFill>
                  <a:srgbClr val="3A4B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Requirements gathered - behind schedule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C88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 </a:t>
            </a:r>
            <a:pPr indent="0" marL="0">
              <a:buNone/>
            </a:pPr>
            <a:r>
              <a:rPr lang="en-US" sz="90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H&amp;L Pay - Tyro Parity (At risk): </a:t>
            </a:r>
            <a:pPr indent="0" marL="0">
              <a:spcAft>
                <a:spcPts val="800"/>
              </a:spcAft>
              <a:buNone/>
            </a:pPr>
            <a:r>
              <a:rPr lang="en-US" sz="900" dirty="0">
                <a:solidFill>
                  <a:srgbClr val="3A4B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Tarek interviewing next week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C88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 </a:t>
            </a:r>
            <a:pPr indent="0" marL="0">
              <a:buNone/>
            </a:pPr>
            <a:r>
              <a:rPr lang="en-US" sz="90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Mobile POS - The Pass Integration (At risk): </a:t>
            </a:r>
            <a:pPr indent="0" marL="0">
              <a:spcAft>
                <a:spcPts val="800"/>
              </a:spcAft>
              <a:buNone/>
            </a:pPr>
            <a:r>
              <a:rPr lang="en-US" sz="900" dirty="0">
                <a:solidFill>
                  <a:srgbClr val="3A4B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Needs validation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C88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 </a:t>
            </a:r>
            <a:pPr indent="0" marL="0">
              <a:buNone/>
            </a:pPr>
            <a:r>
              <a:rPr lang="en-US" sz="90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Mobile POS - Tyro Tap to Pay (On Track): </a:t>
            </a:r>
            <a:pPr indent="0" marL="0">
              <a:spcAft>
                <a:spcPts val="800"/>
              </a:spcAft>
              <a:buNone/>
            </a:pPr>
            <a:r>
              <a:rPr lang="en-US" sz="900" dirty="0">
                <a:solidFill>
                  <a:srgbClr val="3A4B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Awaiting certification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6342278" y="6510528"/>
            <a:ext cx="5435194" cy="256032"/>
          </a:xfrm>
          <a:prstGeom prst="roundRect">
            <a:avLst>
              <a:gd name="adj" fmla="val 46429"/>
            </a:avLst>
          </a:prstGeom>
          <a:solidFill>
            <a:srgbClr val="12293A"/>
          </a:solidFill>
          <a:ln/>
        </p:spPr>
      </p:sp>
      <p:sp>
        <p:nvSpPr>
          <p:cNvPr id="91" name="Text 89"/>
          <p:cNvSpPr txBox="1"/>
          <p:nvPr/>
        </p:nvSpPr>
        <p:spPr>
          <a:xfrm>
            <a:off x="6342278" y="6510528"/>
            <a:ext cx="543519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Source: GTM Tracker (product team) — as at 19 Sep, refresh pending for a sixth week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12293A"/>
          </a:solidFill>
          <a:ln/>
        </p:spPr>
      </p:sp>
      <p:sp>
        <p:nvSpPr>
          <p:cNvPr id="3" name="Shape 1"/>
          <p:cNvSpPr/>
          <p:nvPr/>
        </p:nvSpPr>
        <p:spPr>
          <a:xfrm>
            <a:off x="384048" y="155448"/>
            <a:ext cx="731520" cy="530352"/>
          </a:xfrm>
          <a:prstGeom prst="roundRect">
            <a:avLst>
              <a:gd name="adj" fmla="val 15517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84048" y="155448"/>
            <a:ext cx="731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H&amp;L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298448" y="54864"/>
            <a:ext cx="7223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Usage — Adoption &amp; Activity</a:t>
            </a:r>
            <a:endParaRPr lang="en-US" sz="2300" dirty="0"/>
          </a:p>
        </p:txBody>
      </p:sp>
      <p:sp>
        <p:nvSpPr>
          <p:cNvPr id="6" name="Text 4"/>
          <p:cNvSpPr txBox="1"/>
          <p:nvPr/>
        </p:nvSpPr>
        <p:spPr>
          <a:xfrm>
            <a:off x="1316736" y="512064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FAEB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IT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8686800" y="246888"/>
            <a:ext cx="1965960" cy="347472"/>
          </a:xfrm>
          <a:prstGeom prst="roundRect">
            <a:avLst>
              <a:gd name="adj" fmla="val 50000"/>
            </a:avLst>
          </a:prstGeom>
          <a:solidFill>
            <a:srgbClr val="24435C"/>
          </a:solidFill>
          <a:ln w="9525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0" y="24688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 ·  BUILDING THE FUTURE?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0872216" y="0"/>
            <a:ext cx="841248" cy="841248"/>
          </a:xfrm>
          <a:prstGeom prst="ellipse">
            <a:avLst/>
          </a:prstGeom>
          <a:solidFill>
            <a:srgbClr val="1C5765"/>
          </a:solidFill>
          <a:ln/>
        </p:spPr>
      </p:sp>
      <p:sp>
        <p:nvSpPr>
          <p:cNvPr id="10" name="Shape 8"/>
          <p:cNvSpPr/>
          <p:nvPr/>
        </p:nvSpPr>
        <p:spPr>
          <a:xfrm>
            <a:off x="10968228" y="96012"/>
            <a:ext cx="649224" cy="649224"/>
          </a:xfrm>
          <a:prstGeom prst="ellipse">
            <a:avLst/>
          </a:prstGeom>
          <a:solidFill>
            <a:srgbClr val="2C8394"/>
          </a:solidFill>
          <a:ln/>
        </p:spPr>
      </p:sp>
      <p:sp>
        <p:nvSpPr>
          <p:cNvPr id="11" name="Shape 9"/>
          <p:cNvSpPr/>
          <p:nvPr/>
        </p:nvSpPr>
        <p:spPr>
          <a:xfrm>
            <a:off x="11064240" y="192024"/>
            <a:ext cx="457200" cy="457200"/>
          </a:xfrm>
          <a:prstGeom prst="ellipse">
            <a:avLst/>
          </a:prstGeom>
          <a:solidFill>
            <a:srgbClr val="6FAEBB"/>
          </a:solidFill>
          <a:ln/>
        </p:spPr>
      </p:sp>
      <p:sp>
        <p:nvSpPr>
          <p:cNvPr id="12" name="Shape 10"/>
          <p:cNvSpPr/>
          <p:nvPr/>
        </p:nvSpPr>
        <p:spPr>
          <a:xfrm>
            <a:off x="11160252" y="288036"/>
            <a:ext cx="265176" cy="265176"/>
          </a:xfrm>
          <a:prstGeom prst="ellipse">
            <a:avLst/>
          </a:prstGeom>
          <a:solidFill>
            <a:srgbClr val="E4F1F4"/>
          </a:solidFill>
          <a:ln/>
        </p:spPr>
      </p:sp>
      <p:sp>
        <p:nvSpPr>
          <p:cNvPr id="13" name="Shape 11"/>
          <p:cNvSpPr/>
          <p:nvPr/>
        </p:nvSpPr>
        <p:spPr>
          <a:xfrm>
            <a:off x="411480" y="987552"/>
            <a:ext cx="2697480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576072" y="1078992"/>
            <a:ext cx="2368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ACTIVE MEMBERS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557784" y="1261872"/>
            <a:ext cx="2404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43 of 49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576072" y="1609344"/>
            <a:ext cx="23682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weekly active (▲7.5% WoW) · 193 PRs in Code · $657 spend, 30d</a:t>
            </a:r>
            <a:endParaRPr lang="en-US" sz="780" dirty="0"/>
          </a:p>
        </p:txBody>
      </p:sp>
      <p:sp>
        <p:nvSpPr>
          <p:cNvPr id="17" name="Shape 15"/>
          <p:cNvSpPr/>
          <p:nvPr/>
        </p:nvSpPr>
        <p:spPr>
          <a:xfrm>
            <a:off x="3291840" y="987552"/>
            <a:ext cx="2697480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3456432" y="1078992"/>
            <a:ext cx="2368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LINES OF CODE — OCT MTD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3438144" y="1261872"/>
            <a:ext cx="2404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1,234,279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3456432" y="1609344"/>
            <a:ext cx="23682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1–26 Oct · October to 26 Oct, up from 329,436 at the 19 Oct capture; month totals only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6172200" y="987552"/>
            <a:ext cx="5605272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6336792" y="1060704"/>
            <a:ext cx="5276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PLATFORM STICKINESS — SHARE OF MONTHLY USERS ACTIVE DAILY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6336792" y="129844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Claude Code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7498080" y="1335024"/>
            <a:ext cx="3291840" cy="91440"/>
          </a:xfrm>
          <a:prstGeom prst="roundRect">
            <a:avLst>
              <a:gd name="adj" fmla="val 40000"/>
            </a:avLst>
          </a:prstGeom>
          <a:solidFill>
            <a:srgbClr val="E2EAEE"/>
          </a:solidFill>
          <a:ln/>
        </p:spPr>
      </p:sp>
      <p:sp>
        <p:nvSpPr>
          <p:cNvPr id="25" name="Shape 23"/>
          <p:cNvSpPr/>
          <p:nvPr/>
        </p:nvSpPr>
        <p:spPr>
          <a:xfrm>
            <a:off x="7498080" y="1335024"/>
            <a:ext cx="921715" cy="91440"/>
          </a:xfrm>
          <a:prstGeom prst="roundRect">
            <a:avLst>
              <a:gd name="adj" fmla="val 40000"/>
            </a:avLst>
          </a:prstGeom>
          <a:solidFill>
            <a:srgbClr val="2C8394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0881360" y="1298448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28%</a:t>
            </a:r>
            <a:endParaRPr lang="en-US" sz="800" dirty="0"/>
          </a:p>
        </p:txBody>
      </p:sp>
      <p:sp>
        <p:nvSpPr>
          <p:cNvPr id="27" name="Text 25"/>
          <p:cNvSpPr txBox="1"/>
          <p:nvPr/>
        </p:nvSpPr>
        <p:spPr>
          <a:xfrm>
            <a:off x="6336792" y="148132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Cowork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7498080" y="1517904"/>
            <a:ext cx="3291840" cy="91440"/>
          </a:xfrm>
          <a:prstGeom prst="roundRect">
            <a:avLst>
              <a:gd name="adj" fmla="val 40000"/>
            </a:avLst>
          </a:prstGeom>
          <a:solidFill>
            <a:srgbClr val="E2EAEE"/>
          </a:solidFill>
          <a:ln/>
        </p:spPr>
      </p:sp>
      <p:sp>
        <p:nvSpPr>
          <p:cNvPr id="29" name="Shape 27"/>
          <p:cNvSpPr/>
          <p:nvPr/>
        </p:nvSpPr>
        <p:spPr>
          <a:xfrm>
            <a:off x="7498080" y="1517904"/>
            <a:ext cx="757123" cy="91440"/>
          </a:xfrm>
          <a:prstGeom prst="roundRect">
            <a:avLst>
              <a:gd name="adj" fmla="val 40000"/>
            </a:avLst>
          </a:prstGeom>
          <a:solidFill>
            <a:srgbClr val="2C8394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10881360" y="1481328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23%</a:t>
            </a:r>
            <a:endParaRPr lang="en-US" sz="800" dirty="0"/>
          </a:p>
        </p:txBody>
      </p:sp>
      <p:sp>
        <p:nvSpPr>
          <p:cNvPr id="31" name="Text 29"/>
          <p:cNvSpPr txBox="1"/>
          <p:nvPr/>
        </p:nvSpPr>
        <p:spPr>
          <a:xfrm>
            <a:off x="6336792" y="166420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Claude.ai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7498080" y="1700784"/>
            <a:ext cx="3291840" cy="91440"/>
          </a:xfrm>
          <a:prstGeom prst="roundRect">
            <a:avLst>
              <a:gd name="adj" fmla="val 40000"/>
            </a:avLst>
          </a:prstGeom>
          <a:solidFill>
            <a:srgbClr val="E2EAEE"/>
          </a:solidFill>
          <a:ln/>
        </p:spPr>
      </p:sp>
      <p:sp>
        <p:nvSpPr>
          <p:cNvPr id="33" name="Shape 31"/>
          <p:cNvSpPr/>
          <p:nvPr/>
        </p:nvSpPr>
        <p:spPr>
          <a:xfrm>
            <a:off x="7498080" y="1700784"/>
            <a:ext cx="559613" cy="91440"/>
          </a:xfrm>
          <a:prstGeom prst="roundRect">
            <a:avLst>
              <a:gd name="adj" fmla="val 40000"/>
            </a:avLst>
          </a:prstGeom>
          <a:solidFill>
            <a:srgbClr val="2C8394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10881360" y="1664208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17%</a:t>
            </a:r>
            <a:endParaRPr lang="en-US" sz="800" dirty="0"/>
          </a:p>
        </p:txBody>
      </p:sp>
      <p:sp>
        <p:nvSpPr>
          <p:cNvPr id="35" name="Text 33"/>
          <p:cNvSpPr txBox="1"/>
          <p:nvPr/>
        </p:nvSpPr>
        <p:spPr>
          <a:xfrm>
            <a:off x="6336792" y="184708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Office Agents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7498080" y="1883664"/>
            <a:ext cx="3291840" cy="91440"/>
          </a:xfrm>
          <a:prstGeom prst="roundRect">
            <a:avLst>
              <a:gd name="adj" fmla="val 40000"/>
            </a:avLst>
          </a:prstGeom>
          <a:solidFill>
            <a:srgbClr val="E2EAEE"/>
          </a:solidFill>
          <a:ln/>
        </p:spPr>
      </p:sp>
      <p:sp>
        <p:nvSpPr>
          <p:cNvPr id="37" name="Shape 35"/>
          <p:cNvSpPr/>
          <p:nvPr/>
        </p:nvSpPr>
        <p:spPr>
          <a:xfrm>
            <a:off x="7498080" y="1883664"/>
            <a:ext cx="45720" cy="91440"/>
          </a:xfrm>
          <a:prstGeom prst="roundRect">
            <a:avLst>
              <a:gd name="adj" fmla="val 80000"/>
            </a:avLst>
          </a:prstGeom>
          <a:solidFill>
            <a:srgbClr val="2C8394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10881360" y="1847088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0%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11480" y="2212848"/>
            <a:ext cx="7498080" cy="3383280"/>
          </a:xfrm>
          <a:prstGeom prst="roundRect">
            <a:avLst>
              <a:gd name="adj" fmla="val 18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40" name="Text 38"/>
          <p:cNvSpPr txBox="1"/>
          <p:nvPr/>
        </p:nvSpPr>
        <p:spPr>
          <a:xfrm>
            <a:off x="612648" y="2322576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CODE PICTURE — WHO, BY MONTH · AND THE WEEKLY RHYTHM BENEATH IT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2057400" y="2596896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Jul</a:t>
            </a:r>
            <a:endParaRPr lang="en-US" sz="800" dirty="0"/>
          </a:p>
        </p:txBody>
      </p:sp>
      <p:sp>
        <p:nvSpPr>
          <p:cNvPr id="42" name="Text 40"/>
          <p:cNvSpPr txBox="1"/>
          <p:nvPr/>
        </p:nvSpPr>
        <p:spPr>
          <a:xfrm>
            <a:off x="3136392" y="2596896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Aug</a:t>
            </a:r>
            <a:endParaRPr lang="en-US" sz="800" dirty="0"/>
          </a:p>
        </p:txBody>
      </p:sp>
      <p:sp>
        <p:nvSpPr>
          <p:cNvPr id="43" name="Text 41"/>
          <p:cNvSpPr txBox="1"/>
          <p:nvPr/>
        </p:nvSpPr>
        <p:spPr>
          <a:xfrm>
            <a:off x="4215384" y="2596896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Sep</a:t>
            </a:r>
            <a:endParaRPr lang="en-US" sz="800" dirty="0"/>
          </a:p>
        </p:txBody>
      </p:sp>
      <p:sp>
        <p:nvSpPr>
          <p:cNvPr id="44" name="Text 42"/>
          <p:cNvSpPr txBox="1"/>
          <p:nvPr/>
        </p:nvSpPr>
        <p:spPr>
          <a:xfrm>
            <a:off x="5294376" y="2596896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Oct</a:t>
            </a:r>
            <a:endParaRPr lang="en-US" sz="800" dirty="0"/>
          </a:p>
        </p:txBody>
      </p:sp>
      <p:sp>
        <p:nvSpPr>
          <p:cNvPr id="45" name="Text 43"/>
          <p:cNvSpPr txBox="1"/>
          <p:nvPr/>
        </p:nvSpPr>
        <p:spPr>
          <a:xfrm>
            <a:off x="6400800" y="2596896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TOTAL</a:t>
            </a:r>
            <a:endParaRPr lang="en-US" sz="800" dirty="0"/>
          </a:p>
        </p:txBody>
      </p:sp>
      <p:sp>
        <p:nvSpPr>
          <p:cNvPr id="46" name="Text 44"/>
          <p:cNvSpPr txBox="1"/>
          <p:nvPr/>
        </p:nvSpPr>
        <p:spPr>
          <a:xfrm>
            <a:off x="594360" y="2816352"/>
            <a:ext cx="1417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Brad Smith</a:t>
            </a:r>
            <a:endParaRPr lang="en-US" sz="720" dirty="0"/>
          </a:p>
        </p:txBody>
      </p:sp>
      <p:sp>
        <p:nvSpPr>
          <p:cNvPr id="47" name="Shape 45"/>
          <p:cNvSpPr/>
          <p:nvPr/>
        </p:nvSpPr>
        <p:spPr>
          <a:xfrm>
            <a:off x="2084832" y="2823667"/>
            <a:ext cx="996696" cy="123444"/>
          </a:xfrm>
          <a:prstGeom prst="rect">
            <a:avLst/>
          </a:prstGeom>
          <a:solidFill>
            <a:srgbClr val="EDF5F7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2057400" y="2816352"/>
            <a:ext cx="1051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39,579</a:t>
            </a:r>
            <a:endParaRPr lang="en-US" sz="680" dirty="0"/>
          </a:p>
        </p:txBody>
      </p:sp>
      <p:sp>
        <p:nvSpPr>
          <p:cNvPr id="49" name="Shape 47"/>
          <p:cNvSpPr/>
          <p:nvPr/>
        </p:nvSpPr>
        <p:spPr>
          <a:xfrm>
            <a:off x="3163824" y="2823667"/>
            <a:ext cx="996696" cy="123444"/>
          </a:xfrm>
          <a:prstGeom prst="rect">
            <a:avLst/>
          </a:prstGeom>
          <a:solidFill>
            <a:srgbClr val="EDF5F7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3136392" y="2816352"/>
            <a:ext cx="1051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41,244</a:t>
            </a:r>
            <a:endParaRPr lang="en-US" sz="680" dirty="0"/>
          </a:p>
        </p:txBody>
      </p:sp>
      <p:sp>
        <p:nvSpPr>
          <p:cNvPr id="51" name="Shape 49"/>
          <p:cNvSpPr/>
          <p:nvPr/>
        </p:nvSpPr>
        <p:spPr>
          <a:xfrm>
            <a:off x="4242816" y="2823667"/>
            <a:ext cx="996696" cy="123444"/>
          </a:xfrm>
          <a:prstGeom prst="rect">
            <a:avLst/>
          </a:prstGeom>
          <a:solidFill>
            <a:srgbClr val="EDF5F7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4215384" y="2816352"/>
            <a:ext cx="1051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15,821</a:t>
            </a:r>
            <a:endParaRPr lang="en-US" sz="680" dirty="0"/>
          </a:p>
        </p:txBody>
      </p:sp>
      <p:sp>
        <p:nvSpPr>
          <p:cNvPr id="53" name="Text 51"/>
          <p:cNvSpPr txBox="1"/>
          <p:nvPr/>
        </p:nvSpPr>
        <p:spPr>
          <a:xfrm>
            <a:off x="5294376" y="2816352"/>
            <a:ext cx="1051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—</a:t>
            </a:r>
            <a:endParaRPr lang="en-US" sz="680" dirty="0"/>
          </a:p>
        </p:txBody>
      </p:sp>
      <p:sp>
        <p:nvSpPr>
          <p:cNvPr id="54" name="Text 52"/>
          <p:cNvSpPr txBox="1"/>
          <p:nvPr/>
        </p:nvSpPr>
        <p:spPr>
          <a:xfrm>
            <a:off x="6400800" y="2816352"/>
            <a:ext cx="1280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96,644</a:t>
            </a:r>
            <a:endParaRPr lang="en-US" sz="700" dirty="0"/>
          </a:p>
        </p:txBody>
      </p:sp>
      <p:sp>
        <p:nvSpPr>
          <p:cNvPr id="55" name="Text 53"/>
          <p:cNvSpPr txBox="1"/>
          <p:nvPr/>
        </p:nvSpPr>
        <p:spPr>
          <a:xfrm>
            <a:off x="594360" y="2962656"/>
            <a:ext cx="1417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Nicolas Ibrahim</a:t>
            </a:r>
            <a:endParaRPr lang="en-US" sz="720" dirty="0"/>
          </a:p>
        </p:txBody>
      </p:sp>
      <p:sp>
        <p:nvSpPr>
          <p:cNvPr id="56" name="Shape 54"/>
          <p:cNvSpPr/>
          <p:nvPr/>
        </p:nvSpPr>
        <p:spPr>
          <a:xfrm>
            <a:off x="2084832" y="2969971"/>
            <a:ext cx="996696" cy="123444"/>
          </a:xfrm>
          <a:prstGeom prst="rect">
            <a:avLst/>
          </a:prstGeom>
          <a:solidFill>
            <a:srgbClr val="EDF5F7"/>
          </a:solidFill>
          <a:ln/>
        </p:spPr>
      </p:sp>
      <p:sp>
        <p:nvSpPr>
          <p:cNvPr id="57" name="Text 55"/>
          <p:cNvSpPr txBox="1"/>
          <p:nvPr/>
        </p:nvSpPr>
        <p:spPr>
          <a:xfrm>
            <a:off x="2057400" y="2962656"/>
            <a:ext cx="1051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15,834</a:t>
            </a:r>
            <a:endParaRPr lang="en-US" sz="680" dirty="0"/>
          </a:p>
        </p:txBody>
      </p:sp>
      <p:sp>
        <p:nvSpPr>
          <p:cNvPr id="58" name="Shape 56"/>
          <p:cNvSpPr/>
          <p:nvPr/>
        </p:nvSpPr>
        <p:spPr>
          <a:xfrm>
            <a:off x="3163824" y="2969971"/>
            <a:ext cx="996696" cy="123444"/>
          </a:xfrm>
          <a:prstGeom prst="rect">
            <a:avLst/>
          </a:prstGeom>
          <a:solidFill>
            <a:srgbClr val="EDF5F7"/>
          </a:solidFill>
          <a:ln/>
        </p:spPr>
      </p:sp>
      <p:sp>
        <p:nvSpPr>
          <p:cNvPr id="59" name="Text 57"/>
          <p:cNvSpPr txBox="1"/>
          <p:nvPr/>
        </p:nvSpPr>
        <p:spPr>
          <a:xfrm>
            <a:off x="3136392" y="2962656"/>
            <a:ext cx="1051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38,142</a:t>
            </a:r>
            <a:endParaRPr lang="en-US" sz="680" dirty="0"/>
          </a:p>
        </p:txBody>
      </p:sp>
      <p:sp>
        <p:nvSpPr>
          <p:cNvPr id="60" name="Shape 58"/>
          <p:cNvSpPr/>
          <p:nvPr/>
        </p:nvSpPr>
        <p:spPr>
          <a:xfrm>
            <a:off x="4242816" y="2969971"/>
            <a:ext cx="996696" cy="123444"/>
          </a:xfrm>
          <a:prstGeom prst="rect">
            <a:avLst/>
          </a:prstGeom>
          <a:solidFill>
            <a:srgbClr val="EDF5F7"/>
          </a:solidFill>
          <a:ln/>
        </p:spPr>
      </p:sp>
      <p:sp>
        <p:nvSpPr>
          <p:cNvPr id="61" name="Text 59"/>
          <p:cNvSpPr txBox="1"/>
          <p:nvPr/>
        </p:nvSpPr>
        <p:spPr>
          <a:xfrm>
            <a:off x="4215384" y="2962656"/>
            <a:ext cx="1051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99,693</a:t>
            </a:r>
            <a:endParaRPr lang="en-US" sz="680" dirty="0"/>
          </a:p>
        </p:txBody>
      </p:sp>
      <p:sp>
        <p:nvSpPr>
          <p:cNvPr id="62" name="Shape 60"/>
          <p:cNvSpPr/>
          <p:nvPr/>
        </p:nvSpPr>
        <p:spPr>
          <a:xfrm>
            <a:off x="5321808" y="2969971"/>
            <a:ext cx="996696" cy="123444"/>
          </a:xfrm>
          <a:prstGeom prst="rect">
            <a:avLst/>
          </a:prstGeom>
          <a:solidFill>
            <a:srgbClr val="D4E9ED"/>
          </a:solidFill>
          <a:ln/>
        </p:spPr>
      </p:sp>
      <p:sp>
        <p:nvSpPr>
          <p:cNvPr id="63" name="Text 61"/>
          <p:cNvSpPr txBox="1"/>
          <p:nvPr/>
        </p:nvSpPr>
        <p:spPr>
          <a:xfrm>
            <a:off x="5294376" y="2962656"/>
            <a:ext cx="1051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255,985</a:t>
            </a:r>
            <a:endParaRPr lang="en-US" sz="680" dirty="0"/>
          </a:p>
        </p:txBody>
      </p:sp>
      <p:sp>
        <p:nvSpPr>
          <p:cNvPr id="64" name="Text 62"/>
          <p:cNvSpPr txBox="1"/>
          <p:nvPr/>
        </p:nvSpPr>
        <p:spPr>
          <a:xfrm>
            <a:off x="6400800" y="2962656"/>
            <a:ext cx="1280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409,654</a:t>
            </a:r>
            <a:endParaRPr lang="en-US" sz="700" dirty="0"/>
          </a:p>
        </p:txBody>
      </p:sp>
      <p:sp>
        <p:nvSpPr>
          <p:cNvPr id="65" name="Text 63"/>
          <p:cNvSpPr txBox="1"/>
          <p:nvPr/>
        </p:nvSpPr>
        <p:spPr>
          <a:xfrm>
            <a:off x="594360" y="3108960"/>
            <a:ext cx="1417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Daniel Maddern</a:t>
            </a:r>
            <a:endParaRPr lang="en-US" sz="720" dirty="0"/>
          </a:p>
        </p:txBody>
      </p:sp>
      <p:sp>
        <p:nvSpPr>
          <p:cNvPr id="66" name="Text 64"/>
          <p:cNvSpPr txBox="1"/>
          <p:nvPr/>
        </p:nvSpPr>
        <p:spPr>
          <a:xfrm>
            <a:off x="2057400" y="3108960"/>
            <a:ext cx="1051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—</a:t>
            </a:r>
            <a:endParaRPr lang="en-US" sz="680" dirty="0"/>
          </a:p>
        </p:txBody>
      </p:sp>
      <p:sp>
        <p:nvSpPr>
          <p:cNvPr id="67" name="Text 65"/>
          <p:cNvSpPr txBox="1"/>
          <p:nvPr/>
        </p:nvSpPr>
        <p:spPr>
          <a:xfrm>
            <a:off x="3136392" y="3108960"/>
            <a:ext cx="1051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—</a:t>
            </a:r>
            <a:endParaRPr lang="en-US" sz="680" dirty="0"/>
          </a:p>
        </p:txBody>
      </p:sp>
      <p:sp>
        <p:nvSpPr>
          <p:cNvPr id="68" name="Text 66"/>
          <p:cNvSpPr txBox="1"/>
          <p:nvPr/>
        </p:nvSpPr>
        <p:spPr>
          <a:xfrm>
            <a:off x="4215384" y="3108960"/>
            <a:ext cx="1051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—</a:t>
            </a:r>
            <a:endParaRPr lang="en-US" sz="680" dirty="0"/>
          </a:p>
        </p:txBody>
      </p:sp>
      <p:sp>
        <p:nvSpPr>
          <p:cNvPr id="69" name="Shape 67"/>
          <p:cNvSpPr/>
          <p:nvPr/>
        </p:nvSpPr>
        <p:spPr>
          <a:xfrm>
            <a:off x="5321808" y="3116275"/>
            <a:ext cx="996696" cy="123444"/>
          </a:xfrm>
          <a:prstGeom prst="rect">
            <a:avLst/>
          </a:prstGeom>
          <a:solidFill>
            <a:srgbClr val="8FC3CC"/>
          </a:solidFill>
          <a:ln/>
        </p:spPr>
      </p:sp>
      <p:sp>
        <p:nvSpPr>
          <p:cNvPr id="70" name="Text 68"/>
          <p:cNvSpPr txBox="1"/>
          <p:nvPr/>
        </p:nvSpPr>
        <p:spPr>
          <a:xfrm>
            <a:off x="5294376" y="3108960"/>
            <a:ext cx="1051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723,999</a:t>
            </a:r>
            <a:endParaRPr lang="en-US" sz="680" dirty="0"/>
          </a:p>
        </p:txBody>
      </p:sp>
      <p:sp>
        <p:nvSpPr>
          <p:cNvPr id="71" name="Text 69"/>
          <p:cNvSpPr txBox="1"/>
          <p:nvPr/>
        </p:nvSpPr>
        <p:spPr>
          <a:xfrm>
            <a:off x="6400800" y="3108960"/>
            <a:ext cx="1280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723,999</a:t>
            </a:r>
            <a:endParaRPr lang="en-US" sz="700" dirty="0"/>
          </a:p>
        </p:txBody>
      </p:sp>
      <p:sp>
        <p:nvSpPr>
          <p:cNvPr id="72" name="Text 70"/>
          <p:cNvSpPr txBox="1"/>
          <p:nvPr/>
        </p:nvSpPr>
        <p:spPr>
          <a:xfrm>
            <a:off x="594360" y="3255264"/>
            <a:ext cx="1417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Mostafa Essa</a:t>
            </a:r>
            <a:endParaRPr lang="en-US" sz="720" dirty="0"/>
          </a:p>
        </p:txBody>
      </p:sp>
      <p:sp>
        <p:nvSpPr>
          <p:cNvPr id="73" name="Text 71"/>
          <p:cNvSpPr txBox="1"/>
          <p:nvPr/>
        </p:nvSpPr>
        <p:spPr>
          <a:xfrm>
            <a:off x="2057400" y="3255264"/>
            <a:ext cx="1051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—</a:t>
            </a:r>
            <a:endParaRPr lang="en-US" sz="680" dirty="0"/>
          </a:p>
        </p:txBody>
      </p:sp>
      <p:sp>
        <p:nvSpPr>
          <p:cNvPr id="74" name="Text 72"/>
          <p:cNvSpPr txBox="1"/>
          <p:nvPr/>
        </p:nvSpPr>
        <p:spPr>
          <a:xfrm>
            <a:off x="3136392" y="3255264"/>
            <a:ext cx="1051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—</a:t>
            </a:r>
            <a:endParaRPr lang="en-US" sz="680" dirty="0"/>
          </a:p>
        </p:txBody>
      </p:sp>
      <p:sp>
        <p:nvSpPr>
          <p:cNvPr id="75" name="Text 73"/>
          <p:cNvSpPr txBox="1"/>
          <p:nvPr/>
        </p:nvSpPr>
        <p:spPr>
          <a:xfrm>
            <a:off x="4215384" y="3255264"/>
            <a:ext cx="1051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—</a:t>
            </a:r>
            <a:endParaRPr lang="en-US" sz="680" dirty="0"/>
          </a:p>
        </p:txBody>
      </p:sp>
      <p:sp>
        <p:nvSpPr>
          <p:cNvPr id="76" name="Shape 74"/>
          <p:cNvSpPr/>
          <p:nvPr/>
        </p:nvSpPr>
        <p:spPr>
          <a:xfrm>
            <a:off x="5321808" y="3262579"/>
            <a:ext cx="996696" cy="123444"/>
          </a:xfrm>
          <a:prstGeom prst="rect">
            <a:avLst/>
          </a:prstGeom>
          <a:solidFill>
            <a:srgbClr val="EDF5F7"/>
          </a:solidFill>
          <a:ln/>
        </p:spPr>
      </p:sp>
      <p:sp>
        <p:nvSpPr>
          <p:cNvPr id="77" name="Text 75"/>
          <p:cNvSpPr txBox="1"/>
          <p:nvPr/>
        </p:nvSpPr>
        <p:spPr>
          <a:xfrm>
            <a:off x="5294376" y="3255264"/>
            <a:ext cx="1051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100,487</a:t>
            </a:r>
            <a:endParaRPr lang="en-US" sz="680" dirty="0"/>
          </a:p>
        </p:txBody>
      </p:sp>
      <p:sp>
        <p:nvSpPr>
          <p:cNvPr id="78" name="Text 76"/>
          <p:cNvSpPr txBox="1"/>
          <p:nvPr/>
        </p:nvSpPr>
        <p:spPr>
          <a:xfrm>
            <a:off x="6400800" y="3255264"/>
            <a:ext cx="1280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100,487</a:t>
            </a:r>
            <a:endParaRPr lang="en-US" sz="700" dirty="0"/>
          </a:p>
        </p:txBody>
      </p:sp>
      <p:sp>
        <p:nvSpPr>
          <p:cNvPr id="79" name="Text 77"/>
          <p:cNvSpPr txBox="1"/>
          <p:nvPr/>
        </p:nvSpPr>
        <p:spPr>
          <a:xfrm>
            <a:off x="594360" y="3401568"/>
            <a:ext cx="1417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Hawraa Khalil</a:t>
            </a:r>
            <a:endParaRPr lang="en-US" sz="720" dirty="0"/>
          </a:p>
        </p:txBody>
      </p:sp>
      <p:sp>
        <p:nvSpPr>
          <p:cNvPr id="80" name="Shape 78"/>
          <p:cNvSpPr/>
          <p:nvPr/>
        </p:nvSpPr>
        <p:spPr>
          <a:xfrm>
            <a:off x="2084832" y="3408883"/>
            <a:ext cx="996696" cy="123444"/>
          </a:xfrm>
          <a:prstGeom prst="rect">
            <a:avLst/>
          </a:prstGeom>
          <a:solidFill>
            <a:srgbClr val="EDF5F7"/>
          </a:solidFill>
          <a:ln/>
        </p:spPr>
      </p:sp>
      <p:sp>
        <p:nvSpPr>
          <p:cNvPr id="81" name="Text 79"/>
          <p:cNvSpPr txBox="1"/>
          <p:nvPr/>
        </p:nvSpPr>
        <p:spPr>
          <a:xfrm>
            <a:off x="2057400" y="3401568"/>
            <a:ext cx="1051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28,536</a:t>
            </a:r>
            <a:endParaRPr lang="en-US" sz="680" dirty="0"/>
          </a:p>
        </p:txBody>
      </p:sp>
      <p:sp>
        <p:nvSpPr>
          <p:cNvPr id="82" name="Shape 80"/>
          <p:cNvSpPr/>
          <p:nvPr/>
        </p:nvSpPr>
        <p:spPr>
          <a:xfrm>
            <a:off x="3163824" y="3408883"/>
            <a:ext cx="996696" cy="123444"/>
          </a:xfrm>
          <a:prstGeom prst="rect">
            <a:avLst/>
          </a:prstGeom>
          <a:solidFill>
            <a:srgbClr val="EDF5F7"/>
          </a:solidFill>
          <a:ln/>
        </p:spPr>
      </p:sp>
      <p:sp>
        <p:nvSpPr>
          <p:cNvPr id="83" name="Text 81"/>
          <p:cNvSpPr txBox="1"/>
          <p:nvPr/>
        </p:nvSpPr>
        <p:spPr>
          <a:xfrm>
            <a:off x="3136392" y="3401568"/>
            <a:ext cx="1051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23,285</a:t>
            </a:r>
            <a:endParaRPr lang="en-US" sz="680" dirty="0"/>
          </a:p>
        </p:txBody>
      </p:sp>
      <p:sp>
        <p:nvSpPr>
          <p:cNvPr id="84" name="Shape 82"/>
          <p:cNvSpPr/>
          <p:nvPr/>
        </p:nvSpPr>
        <p:spPr>
          <a:xfrm>
            <a:off x="4242816" y="3408883"/>
            <a:ext cx="996696" cy="123444"/>
          </a:xfrm>
          <a:prstGeom prst="rect">
            <a:avLst/>
          </a:prstGeom>
          <a:solidFill>
            <a:srgbClr val="EDF5F7"/>
          </a:solidFill>
          <a:ln/>
        </p:spPr>
      </p:sp>
      <p:sp>
        <p:nvSpPr>
          <p:cNvPr id="85" name="Text 83"/>
          <p:cNvSpPr txBox="1"/>
          <p:nvPr/>
        </p:nvSpPr>
        <p:spPr>
          <a:xfrm>
            <a:off x="4215384" y="3401568"/>
            <a:ext cx="1051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19,047</a:t>
            </a:r>
            <a:endParaRPr lang="en-US" sz="680" dirty="0"/>
          </a:p>
        </p:txBody>
      </p:sp>
      <p:sp>
        <p:nvSpPr>
          <p:cNvPr id="86" name="Text 84"/>
          <p:cNvSpPr txBox="1"/>
          <p:nvPr/>
        </p:nvSpPr>
        <p:spPr>
          <a:xfrm>
            <a:off x="5294376" y="3401568"/>
            <a:ext cx="1051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—</a:t>
            </a:r>
            <a:endParaRPr lang="en-US" sz="680" dirty="0"/>
          </a:p>
        </p:txBody>
      </p:sp>
      <p:sp>
        <p:nvSpPr>
          <p:cNvPr id="87" name="Text 85"/>
          <p:cNvSpPr txBox="1"/>
          <p:nvPr/>
        </p:nvSpPr>
        <p:spPr>
          <a:xfrm>
            <a:off x="6400800" y="3401568"/>
            <a:ext cx="1280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70,868</a:t>
            </a:r>
            <a:endParaRPr lang="en-US" sz="700" dirty="0"/>
          </a:p>
        </p:txBody>
      </p:sp>
      <p:sp>
        <p:nvSpPr>
          <p:cNvPr id="88" name="Text 86"/>
          <p:cNvSpPr txBox="1"/>
          <p:nvPr/>
        </p:nvSpPr>
        <p:spPr>
          <a:xfrm>
            <a:off x="594360" y="3547872"/>
            <a:ext cx="1417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Ciaran Dempsey</a:t>
            </a:r>
            <a:endParaRPr lang="en-US" sz="720" dirty="0"/>
          </a:p>
        </p:txBody>
      </p:sp>
      <p:sp>
        <p:nvSpPr>
          <p:cNvPr id="89" name="Shape 87"/>
          <p:cNvSpPr/>
          <p:nvPr/>
        </p:nvSpPr>
        <p:spPr>
          <a:xfrm>
            <a:off x="2084832" y="3555187"/>
            <a:ext cx="996696" cy="123444"/>
          </a:xfrm>
          <a:prstGeom prst="rect">
            <a:avLst/>
          </a:prstGeom>
          <a:solidFill>
            <a:srgbClr val="EDF5F7"/>
          </a:solidFill>
          <a:ln/>
        </p:spPr>
      </p:sp>
      <p:sp>
        <p:nvSpPr>
          <p:cNvPr id="90" name="Text 88"/>
          <p:cNvSpPr txBox="1"/>
          <p:nvPr/>
        </p:nvSpPr>
        <p:spPr>
          <a:xfrm>
            <a:off x="2057400" y="3547872"/>
            <a:ext cx="1051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18,918</a:t>
            </a:r>
            <a:endParaRPr lang="en-US" sz="680" dirty="0"/>
          </a:p>
        </p:txBody>
      </p:sp>
      <p:sp>
        <p:nvSpPr>
          <p:cNvPr id="91" name="Shape 89"/>
          <p:cNvSpPr/>
          <p:nvPr/>
        </p:nvSpPr>
        <p:spPr>
          <a:xfrm>
            <a:off x="3163824" y="3555187"/>
            <a:ext cx="996696" cy="123444"/>
          </a:xfrm>
          <a:prstGeom prst="rect">
            <a:avLst/>
          </a:prstGeom>
          <a:solidFill>
            <a:srgbClr val="EDF5F7"/>
          </a:solidFill>
          <a:ln/>
        </p:spPr>
      </p:sp>
      <p:sp>
        <p:nvSpPr>
          <p:cNvPr id="92" name="Text 90"/>
          <p:cNvSpPr txBox="1"/>
          <p:nvPr/>
        </p:nvSpPr>
        <p:spPr>
          <a:xfrm>
            <a:off x="3136392" y="3547872"/>
            <a:ext cx="1051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23,650</a:t>
            </a:r>
            <a:endParaRPr lang="en-US" sz="680" dirty="0"/>
          </a:p>
        </p:txBody>
      </p:sp>
      <p:sp>
        <p:nvSpPr>
          <p:cNvPr id="93" name="Shape 91"/>
          <p:cNvSpPr/>
          <p:nvPr/>
        </p:nvSpPr>
        <p:spPr>
          <a:xfrm>
            <a:off x="4242816" y="3555187"/>
            <a:ext cx="996696" cy="123444"/>
          </a:xfrm>
          <a:prstGeom prst="rect">
            <a:avLst/>
          </a:prstGeom>
          <a:solidFill>
            <a:srgbClr val="EDF5F7"/>
          </a:solidFill>
          <a:ln/>
        </p:spPr>
      </p:sp>
      <p:sp>
        <p:nvSpPr>
          <p:cNvPr id="94" name="Text 92"/>
          <p:cNvSpPr txBox="1"/>
          <p:nvPr/>
        </p:nvSpPr>
        <p:spPr>
          <a:xfrm>
            <a:off x="4215384" y="3547872"/>
            <a:ext cx="1051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24,443</a:t>
            </a:r>
            <a:endParaRPr lang="en-US" sz="680" dirty="0"/>
          </a:p>
        </p:txBody>
      </p:sp>
      <p:sp>
        <p:nvSpPr>
          <p:cNvPr id="95" name="Shape 93"/>
          <p:cNvSpPr/>
          <p:nvPr/>
        </p:nvSpPr>
        <p:spPr>
          <a:xfrm>
            <a:off x="5321808" y="3555187"/>
            <a:ext cx="996696" cy="123444"/>
          </a:xfrm>
          <a:prstGeom prst="rect">
            <a:avLst/>
          </a:prstGeom>
          <a:solidFill>
            <a:srgbClr val="EDF5F7"/>
          </a:solidFill>
          <a:ln/>
        </p:spPr>
      </p:sp>
      <p:sp>
        <p:nvSpPr>
          <p:cNvPr id="96" name="Text 94"/>
          <p:cNvSpPr txBox="1"/>
          <p:nvPr/>
        </p:nvSpPr>
        <p:spPr>
          <a:xfrm>
            <a:off x="5294376" y="3547872"/>
            <a:ext cx="1051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5,382</a:t>
            </a:r>
            <a:endParaRPr lang="en-US" sz="680" dirty="0"/>
          </a:p>
        </p:txBody>
      </p:sp>
      <p:sp>
        <p:nvSpPr>
          <p:cNvPr id="97" name="Text 95"/>
          <p:cNvSpPr txBox="1"/>
          <p:nvPr/>
        </p:nvSpPr>
        <p:spPr>
          <a:xfrm>
            <a:off x="6400800" y="3547872"/>
            <a:ext cx="1280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72,393</a:t>
            </a:r>
            <a:endParaRPr lang="en-US" sz="700" dirty="0"/>
          </a:p>
        </p:txBody>
      </p:sp>
      <p:sp>
        <p:nvSpPr>
          <p:cNvPr id="98" name="Text 96"/>
          <p:cNvSpPr txBox="1"/>
          <p:nvPr/>
        </p:nvSpPr>
        <p:spPr>
          <a:xfrm>
            <a:off x="594360" y="3694176"/>
            <a:ext cx="1417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David Corbett</a:t>
            </a:r>
            <a:endParaRPr lang="en-US" sz="720" dirty="0"/>
          </a:p>
        </p:txBody>
      </p:sp>
      <p:sp>
        <p:nvSpPr>
          <p:cNvPr id="99" name="Shape 97"/>
          <p:cNvSpPr/>
          <p:nvPr/>
        </p:nvSpPr>
        <p:spPr>
          <a:xfrm>
            <a:off x="2084832" y="3701491"/>
            <a:ext cx="996696" cy="123444"/>
          </a:xfrm>
          <a:prstGeom prst="rect">
            <a:avLst/>
          </a:prstGeom>
          <a:solidFill>
            <a:srgbClr val="EDF5F7"/>
          </a:solidFill>
          <a:ln/>
        </p:spPr>
      </p:sp>
      <p:sp>
        <p:nvSpPr>
          <p:cNvPr id="100" name="Text 98"/>
          <p:cNvSpPr txBox="1"/>
          <p:nvPr/>
        </p:nvSpPr>
        <p:spPr>
          <a:xfrm>
            <a:off x="2057400" y="3694176"/>
            <a:ext cx="1051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27,031</a:t>
            </a:r>
            <a:endParaRPr lang="en-US" sz="680" dirty="0"/>
          </a:p>
        </p:txBody>
      </p:sp>
      <p:sp>
        <p:nvSpPr>
          <p:cNvPr id="101" name="Shape 99"/>
          <p:cNvSpPr/>
          <p:nvPr/>
        </p:nvSpPr>
        <p:spPr>
          <a:xfrm>
            <a:off x="3163824" y="3701491"/>
            <a:ext cx="996696" cy="123444"/>
          </a:xfrm>
          <a:prstGeom prst="rect">
            <a:avLst/>
          </a:prstGeom>
          <a:solidFill>
            <a:srgbClr val="EDF5F7"/>
          </a:solidFill>
          <a:ln/>
        </p:spPr>
      </p:sp>
      <p:sp>
        <p:nvSpPr>
          <p:cNvPr id="102" name="Text 100"/>
          <p:cNvSpPr txBox="1"/>
          <p:nvPr/>
        </p:nvSpPr>
        <p:spPr>
          <a:xfrm>
            <a:off x="3136392" y="3694176"/>
            <a:ext cx="1051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10,145</a:t>
            </a:r>
            <a:endParaRPr lang="en-US" sz="680" dirty="0"/>
          </a:p>
        </p:txBody>
      </p:sp>
      <p:sp>
        <p:nvSpPr>
          <p:cNvPr id="103" name="Shape 101"/>
          <p:cNvSpPr/>
          <p:nvPr/>
        </p:nvSpPr>
        <p:spPr>
          <a:xfrm>
            <a:off x="4242816" y="3701491"/>
            <a:ext cx="996696" cy="123444"/>
          </a:xfrm>
          <a:prstGeom prst="rect">
            <a:avLst/>
          </a:prstGeom>
          <a:solidFill>
            <a:srgbClr val="EDF5F7"/>
          </a:solidFill>
          <a:ln/>
        </p:spPr>
      </p:sp>
      <p:sp>
        <p:nvSpPr>
          <p:cNvPr id="104" name="Text 102"/>
          <p:cNvSpPr txBox="1"/>
          <p:nvPr/>
        </p:nvSpPr>
        <p:spPr>
          <a:xfrm>
            <a:off x="4215384" y="3694176"/>
            <a:ext cx="1051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30,828</a:t>
            </a:r>
            <a:endParaRPr lang="en-US" sz="680" dirty="0"/>
          </a:p>
        </p:txBody>
      </p:sp>
      <p:sp>
        <p:nvSpPr>
          <p:cNvPr id="105" name="Shape 103"/>
          <p:cNvSpPr/>
          <p:nvPr/>
        </p:nvSpPr>
        <p:spPr>
          <a:xfrm>
            <a:off x="5321808" y="3701491"/>
            <a:ext cx="996696" cy="123444"/>
          </a:xfrm>
          <a:prstGeom prst="rect">
            <a:avLst/>
          </a:prstGeom>
          <a:solidFill>
            <a:srgbClr val="EDF5F7"/>
          </a:solidFill>
          <a:ln/>
        </p:spPr>
      </p:sp>
      <p:sp>
        <p:nvSpPr>
          <p:cNvPr id="106" name="Text 104"/>
          <p:cNvSpPr txBox="1"/>
          <p:nvPr/>
        </p:nvSpPr>
        <p:spPr>
          <a:xfrm>
            <a:off x="5294376" y="3694176"/>
            <a:ext cx="1051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43,988</a:t>
            </a:r>
            <a:endParaRPr lang="en-US" sz="680" dirty="0"/>
          </a:p>
        </p:txBody>
      </p:sp>
      <p:sp>
        <p:nvSpPr>
          <p:cNvPr id="107" name="Text 105"/>
          <p:cNvSpPr txBox="1"/>
          <p:nvPr/>
        </p:nvSpPr>
        <p:spPr>
          <a:xfrm>
            <a:off x="6400800" y="3694176"/>
            <a:ext cx="1280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111,992</a:t>
            </a:r>
            <a:endParaRPr lang="en-US" sz="700" dirty="0"/>
          </a:p>
        </p:txBody>
      </p:sp>
      <p:sp>
        <p:nvSpPr>
          <p:cNvPr id="108" name="Text 106"/>
          <p:cNvSpPr txBox="1"/>
          <p:nvPr/>
        </p:nvSpPr>
        <p:spPr>
          <a:xfrm>
            <a:off x="594360" y="3840480"/>
            <a:ext cx="1417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Chris Huang</a:t>
            </a:r>
            <a:endParaRPr lang="en-US" sz="720" dirty="0"/>
          </a:p>
        </p:txBody>
      </p:sp>
      <p:sp>
        <p:nvSpPr>
          <p:cNvPr id="109" name="Shape 107"/>
          <p:cNvSpPr/>
          <p:nvPr/>
        </p:nvSpPr>
        <p:spPr>
          <a:xfrm>
            <a:off x="2084832" y="3847795"/>
            <a:ext cx="996696" cy="123444"/>
          </a:xfrm>
          <a:prstGeom prst="rect">
            <a:avLst/>
          </a:prstGeom>
          <a:solidFill>
            <a:srgbClr val="EDF5F7"/>
          </a:solidFill>
          <a:ln/>
        </p:spPr>
      </p:sp>
      <p:sp>
        <p:nvSpPr>
          <p:cNvPr id="110" name="Text 108"/>
          <p:cNvSpPr txBox="1"/>
          <p:nvPr/>
        </p:nvSpPr>
        <p:spPr>
          <a:xfrm>
            <a:off x="2057400" y="3840480"/>
            <a:ext cx="1051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19,535</a:t>
            </a:r>
            <a:endParaRPr lang="en-US" sz="680" dirty="0"/>
          </a:p>
        </p:txBody>
      </p:sp>
      <p:sp>
        <p:nvSpPr>
          <p:cNvPr id="111" name="Shape 109"/>
          <p:cNvSpPr/>
          <p:nvPr/>
        </p:nvSpPr>
        <p:spPr>
          <a:xfrm>
            <a:off x="3163824" y="3847795"/>
            <a:ext cx="996696" cy="123444"/>
          </a:xfrm>
          <a:prstGeom prst="rect">
            <a:avLst/>
          </a:prstGeom>
          <a:solidFill>
            <a:srgbClr val="EDF5F7"/>
          </a:solidFill>
          <a:ln/>
        </p:spPr>
      </p:sp>
      <p:sp>
        <p:nvSpPr>
          <p:cNvPr id="112" name="Text 110"/>
          <p:cNvSpPr txBox="1"/>
          <p:nvPr/>
        </p:nvSpPr>
        <p:spPr>
          <a:xfrm>
            <a:off x="3136392" y="3840480"/>
            <a:ext cx="1051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12,856</a:t>
            </a:r>
            <a:endParaRPr lang="en-US" sz="680" dirty="0"/>
          </a:p>
        </p:txBody>
      </p:sp>
      <p:sp>
        <p:nvSpPr>
          <p:cNvPr id="113" name="Shape 111"/>
          <p:cNvSpPr/>
          <p:nvPr/>
        </p:nvSpPr>
        <p:spPr>
          <a:xfrm>
            <a:off x="4242816" y="3847795"/>
            <a:ext cx="996696" cy="123444"/>
          </a:xfrm>
          <a:prstGeom prst="rect">
            <a:avLst/>
          </a:prstGeom>
          <a:solidFill>
            <a:srgbClr val="EDF5F7"/>
          </a:solidFill>
          <a:ln/>
        </p:spPr>
      </p:sp>
      <p:sp>
        <p:nvSpPr>
          <p:cNvPr id="114" name="Text 112"/>
          <p:cNvSpPr txBox="1"/>
          <p:nvPr/>
        </p:nvSpPr>
        <p:spPr>
          <a:xfrm>
            <a:off x="4215384" y="3840480"/>
            <a:ext cx="1051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17,516</a:t>
            </a:r>
            <a:endParaRPr lang="en-US" sz="680" dirty="0"/>
          </a:p>
        </p:txBody>
      </p:sp>
      <p:sp>
        <p:nvSpPr>
          <p:cNvPr id="115" name="Shape 113"/>
          <p:cNvSpPr/>
          <p:nvPr/>
        </p:nvSpPr>
        <p:spPr>
          <a:xfrm>
            <a:off x="5321808" y="3847795"/>
            <a:ext cx="996696" cy="123444"/>
          </a:xfrm>
          <a:prstGeom prst="rect">
            <a:avLst/>
          </a:prstGeom>
          <a:solidFill>
            <a:srgbClr val="EDF5F7"/>
          </a:solidFill>
          <a:ln/>
        </p:spPr>
      </p:sp>
      <p:sp>
        <p:nvSpPr>
          <p:cNvPr id="116" name="Text 114"/>
          <p:cNvSpPr txBox="1"/>
          <p:nvPr/>
        </p:nvSpPr>
        <p:spPr>
          <a:xfrm>
            <a:off x="5294376" y="3840480"/>
            <a:ext cx="1051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8,154</a:t>
            </a:r>
            <a:endParaRPr lang="en-US" sz="680" dirty="0"/>
          </a:p>
        </p:txBody>
      </p:sp>
      <p:sp>
        <p:nvSpPr>
          <p:cNvPr id="117" name="Text 115"/>
          <p:cNvSpPr txBox="1"/>
          <p:nvPr/>
        </p:nvSpPr>
        <p:spPr>
          <a:xfrm>
            <a:off x="6400800" y="3840480"/>
            <a:ext cx="1280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58,061</a:t>
            </a:r>
            <a:endParaRPr lang="en-US" sz="700" dirty="0"/>
          </a:p>
        </p:txBody>
      </p:sp>
      <p:sp>
        <p:nvSpPr>
          <p:cNvPr id="118" name="Text 116"/>
          <p:cNvSpPr txBox="1"/>
          <p:nvPr/>
        </p:nvSpPr>
        <p:spPr>
          <a:xfrm>
            <a:off x="594360" y="3986784"/>
            <a:ext cx="1417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Rahul Kumar</a:t>
            </a:r>
            <a:endParaRPr lang="en-US" sz="720" dirty="0"/>
          </a:p>
        </p:txBody>
      </p:sp>
      <p:sp>
        <p:nvSpPr>
          <p:cNvPr id="119" name="Text 117"/>
          <p:cNvSpPr txBox="1"/>
          <p:nvPr/>
        </p:nvSpPr>
        <p:spPr>
          <a:xfrm>
            <a:off x="2057400" y="3986784"/>
            <a:ext cx="1051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—</a:t>
            </a:r>
            <a:endParaRPr lang="en-US" sz="680" dirty="0"/>
          </a:p>
        </p:txBody>
      </p:sp>
      <p:sp>
        <p:nvSpPr>
          <p:cNvPr id="120" name="Shape 118"/>
          <p:cNvSpPr/>
          <p:nvPr/>
        </p:nvSpPr>
        <p:spPr>
          <a:xfrm>
            <a:off x="3163824" y="3994099"/>
            <a:ext cx="996696" cy="123444"/>
          </a:xfrm>
          <a:prstGeom prst="rect">
            <a:avLst/>
          </a:prstGeom>
          <a:solidFill>
            <a:srgbClr val="EDF5F7"/>
          </a:solidFill>
          <a:ln/>
        </p:spPr>
      </p:sp>
      <p:sp>
        <p:nvSpPr>
          <p:cNvPr id="121" name="Text 119"/>
          <p:cNvSpPr txBox="1"/>
          <p:nvPr/>
        </p:nvSpPr>
        <p:spPr>
          <a:xfrm>
            <a:off x="3136392" y="3986784"/>
            <a:ext cx="1051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42,859</a:t>
            </a:r>
            <a:endParaRPr lang="en-US" sz="680" dirty="0"/>
          </a:p>
        </p:txBody>
      </p:sp>
      <p:sp>
        <p:nvSpPr>
          <p:cNvPr id="122" name="Shape 120"/>
          <p:cNvSpPr/>
          <p:nvPr/>
        </p:nvSpPr>
        <p:spPr>
          <a:xfrm>
            <a:off x="4242816" y="3994099"/>
            <a:ext cx="996696" cy="123444"/>
          </a:xfrm>
          <a:prstGeom prst="rect">
            <a:avLst/>
          </a:prstGeom>
          <a:solidFill>
            <a:srgbClr val="EDF5F7"/>
          </a:solidFill>
          <a:ln/>
        </p:spPr>
      </p:sp>
      <p:sp>
        <p:nvSpPr>
          <p:cNvPr id="123" name="Text 121"/>
          <p:cNvSpPr txBox="1"/>
          <p:nvPr/>
        </p:nvSpPr>
        <p:spPr>
          <a:xfrm>
            <a:off x="4215384" y="3986784"/>
            <a:ext cx="1051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23,286</a:t>
            </a:r>
            <a:endParaRPr lang="en-US" sz="680" dirty="0"/>
          </a:p>
        </p:txBody>
      </p:sp>
      <p:sp>
        <p:nvSpPr>
          <p:cNvPr id="124" name="Shape 122"/>
          <p:cNvSpPr/>
          <p:nvPr/>
        </p:nvSpPr>
        <p:spPr>
          <a:xfrm>
            <a:off x="5321808" y="3994099"/>
            <a:ext cx="996696" cy="123444"/>
          </a:xfrm>
          <a:prstGeom prst="rect">
            <a:avLst/>
          </a:prstGeom>
          <a:solidFill>
            <a:srgbClr val="EDF5F7"/>
          </a:solidFill>
          <a:ln/>
        </p:spPr>
      </p:sp>
      <p:sp>
        <p:nvSpPr>
          <p:cNvPr id="125" name="Text 123"/>
          <p:cNvSpPr txBox="1"/>
          <p:nvPr/>
        </p:nvSpPr>
        <p:spPr>
          <a:xfrm>
            <a:off x="5294376" y="3986784"/>
            <a:ext cx="1051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17,747</a:t>
            </a:r>
            <a:endParaRPr lang="en-US" sz="680" dirty="0"/>
          </a:p>
        </p:txBody>
      </p:sp>
      <p:sp>
        <p:nvSpPr>
          <p:cNvPr id="126" name="Text 124"/>
          <p:cNvSpPr txBox="1"/>
          <p:nvPr/>
        </p:nvSpPr>
        <p:spPr>
          <a:xfrm>
            <a:off x="6400800" y="3986784"/>
            <a:ext cx="1280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83,892</a:t>
            </a:r>
            <a:endParaRPr lang="en-US" sz="700" dirty="0"/>
          </a:p>
        </p:txBody>
      </p:sp>
      <p:sp>
        <p:nvSpPr>
          <p:cNvPr id="127" name="Text 125"/>
          <p:cNvSpPr txBox="1"/>
          <p:nvPr/>
        </p:nvSpPr>
        <p:spPr>
          <a:xfrm>
            <a:off x="594360" y="4133088"/>
            <a:ext cx="1417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Mohamed Ammar</a:t>
            </a:r>
            <a:endParaRPr lang="en-US" sz="720" dirty="0"/>
          </a:p>
        </p:txBody>
      </p:sp>
      <p:sp>
        <p:nvSpPr>
          <p:cNvPr id="128" name="Shape 126"/>
          <p:cNvSpPr/>
          <p:nvPr/>
        </p:nvSpPr>
        <p:spPr>
          <a:xfrm>
            <a:off x="2084832" y="4140403"/>
            <a:ext cx="996696" cy="123444"/>
          </a:xfrm>
          <a:prstGeom prst="rect">
            <a:avLst/>
          </a:prstGeom>
          <a:solidFill>
            <a:srgbClr val="EDF5F7"/>
          </a:solidFill>
          <a:ln/>
        </p:spPr>
      </p:sp>
      <p:sp>
        <p:nvSpPr>
          <p:cNvPr id="129" name="Text 127"/>
          <p:cNvSpPr txBox="1"/>
          <p:nvPr/>
        </p:nvSpPr>
        <p:spPr>
          <a:xfrm>
            <a:off x="2057400" y="4133088"/>
            <a:ext cx="1051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6,582</a:t>
            </a:r>
            <a:endParaRPr lang="en-US" sz="680" dirty="0"/>
          </a:p>
        </p:txBody>
      </p:sp>
      <p:sp>
        <p:nvSpPr>
          <p:cNvPr id="130" name="Shape 128"/>
          <p:cNvSpPr/>
          <p:nvPr/>
        </p:nvSpPr>
        <p:spPr>
          <a:xfrm>
            <a:off x="3163824" y="4140403"/>
            <a:ext cx="996696" cy="123444"/>
          </a:xfrm>
          <a:prstGeom prst="rect">
            <a:avLst/>
          </a:prstGeom>
          <a:solidFill>
            <a:srgbClr val="EDF5F7"/>
          </a:solidFill>
          <a:ln/>
        </p:spPr>
      </p:sp>
      <p:sp>
        <p:nvSpPr>
          <p:cNvPr id="131" name="Text 129"/>
          <p:cNvSpPr txBox="1"/>
          <p:nvPr/>
        </p:nvSpPr>
        <p:spPr>
          <a:xfrm>
            <a:off x="3136392" y="4133088"/>
            <a:ext cx="1051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23,266</a:t>
            </a:r>
            <a:endParaRPr lang="en-US" sz="680" dirty="0"/>
          </a:p>
        </p:txBody>
      </p:sp>
      <p:sp>
        <p:nvSpPr>
          <p:cNvPr id="132" name="Shape 130"/>
          <p:cNvSpPr/>
          <p:nvPr/>
        </p:nvSpPr>
        <p:spPr>
          <a:xfrm>
            <a:off x="4242816" y="4140403"/>
            <a:ext cx="996696" cy="123444"/>
          </a:xfrm>
          <a:prstGeom prst="rect">
            <a:avLst/>
          </a:prstGeom>
          <a:solidFill>
            <a:srgbClr val="EDF5F7"/>
          </a:solidFill>
          <a:ln/>
        </p:spPr>
      </p:sp>
      <p:sp>
        <p:nvSpPr>
          <p:cNvPr id="133" name="Text 131"/>
          <p:cNvSpPr txBox="1"/>
          <p:nvPr/>
        </p:nvSpPr>
        <p:spPr>
          <a:xfrm>
            <a:off x="4215384" y="4133088"/>
            <a:ext cx="1051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4,322</a:t>
            </a:r>
            <a:endParaRPr lang="en-US" sz="680" dirty="0"/>
          </a:p>
        </p:txBody>
      </p:sp>
      <p:sp>
        <p:nvSpPr>
          <p:cNvPr id="134" name="Shape 132"/>
          <p:cNvSpPr/>
          <p:nvPr/>
        </p:nvSpPr>
        <p:spPr>
          <a:xfrm>
            <a:off x="5321808" y="4140403"/>
            <a:ext cx="996696" cy="123444"/>
          </a:xfrm>
          <a:prstGeom prst="rect">
            <a:avLst/>
          </a:prstGeom>
          <a:solidFill>
            <a:srgbClr val="EDF5F7"/>
          </a:solidFill>
          <a:ln/>
        </p:spPr>
      </p:sp>
      <p:sp>
        <p:nvSpPr>
          <p:cNvPr id="135" name="Text 133"/>
          <p:cNvSpPr txBox="1"/>
          <p:nvPr/>
        </p:nvSpPr>
        <p:spPr>
          <a:xfrm>
            <a:off x="5294376" y="4133088"/>
            <a:ext cx="1051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8,922</a:t>
            </a:r>
            <a:endParaRPr lang="en-US" sz="680" dirty="0"/>
          </a:p>
        </p:txBody>
      </p:sp>
      <p:sp>
        <p:nvSpPr>
          <p:cNvPr id="136" name="Text 134"/>
          <p:cNvSpPr txBox="1"/>
          <p:nvPr/>
        </p:nvSpPr>
        <p:spPr>
          <a:xfrm>
            <a:off x="6400800" y="4133088"/>
            <a:ext cx="1280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43,092</a:t>
            </a:r>
            <a:endParaRPr lang="en-US" sz="700" dirty="0"/>
          </a:p>
        </p:txBody>
      </p:sp>
      <p:sp>
        <p:nvSpPr>
          <p:cNvPr id="137" name="Text 135"/>
          <p:cNvSpPr txBox="1"/>
          <p:nvPr/>
        </p:nvSpPr>
        <p:spPr>
          <a:xfrm>
            <a:off x="594360" y="4279392"/>
            <a:ext cx="1417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Tony Ghoussein</a:t>
            </a:r>
            <a:endParaRPr lang="en-US" sz="720" dirty="0"/>
          </a:p>
        </p:txBody>
      </p:sp>
      <p:sp>
        <p:nvSpPr>
          <p:cNvPr id="138" name="Shape 136"/>
          <p:cNvSpPr/>
          <p:nvPr/>
        </p:nvSpPr>
        <p:spPr>
          <a:xfrm>
            <a:off x="2084832" y="4286707"/>
            <a:ext cx="996696" cy="123444"/>
          </a:xfrm>
          <a:prstGeom prst="rect">
            <a:avLst/>
          </a:prstGeom>
          <a:solidFill>
            <a:srgbClr val="EDF5F7"/>
          </a:solidFill>
          <a:ln/>
        </p:spPr>
      </p:sp>
      <p:sp>
        <p:nvSpPr>
          <p:cNvPr id="139" name="Text 137"/>
          <p:cNvSpPr txBox="1"/>
          <p:nvPr/>
        </p:nvSpPr>
        <p:spPr>
          <a:xfrm>
            <a:off x="2057400" y="4279392"/>
            <a:ext cx="1051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6,208</a:t>
            </a:r>
            <a:endParaRPr lang="en-US" sz="680" dirty="0"/>
          </a:p>
        </p:txBody>
      </p:sp>
      <p:sp>
        <p:nvSpPr>
          <p:cNvPr id="140" name="Shape 138"/>
          <p:cNvSpPr/>
          <p:nvPr/>
        </p:nvSpPr>
        <p:spPr>
          <a:xfrm>
            <a:off x="3163824" y="4286707"/>
            <a:ext cx="996696" cy="123444"/>
          </a:xfrm>
          <a:prstGeom prst="rect">
            <a:avLst/>
          </a:prstGeom>
          <a:solidFill>
            <a:srgbClr val="EDF5F7"/>
          </a:solidFill>
          <a:ln/>
        </p:spPr>
      </p:sp>
      <p:sp>
        <p:nvSpPr>
          <p:cNvPr id="141" name="Text 139"/>
          <p:cNvSpPr txBox="1"/>
          <p:nvPr/>
        </p:nvSpPr>
        <p:spPr>
          <a:xfrm>
            <a:off x="3136392" y="4279392"/>
            <a:ext cx="1051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10,369</a:t>
            </a:r>
            <a:endParaRPr lang="en-US" sz="680" dirty="0"/>
          </a:p>
        </p:txBody>
      </p:sp>
      <p:sp>
        <p:nvSpPr>
          <p:cNvPr id="142" name="Shape 140"/>
          <p:cNvSpPr/>
          <p:nvPr/>
        </p:nvSpPr>
        <p:spPr>
          <a:xfrm>
            <a:off x="4242816" y="4286707"/>
            <a:ext cx="996696" cy="123444"/>
          </a:xfrm>
          <a:prstGeom prst="rect">
            <a:avLst/>
          </a:prstGeom>
          <a:solidFill>
            <a:srgbClr val="EDF5F7"/>
          </a:solidFill>
          <a:ln/>
        </p:spPr>
      </p:sp>
      <p:sp>
        <p:nvSpPr>
          <p:cNvPr id="143" name="Text 141"/>
          <p:cNvSpPr txBox="1"/>
          <p:nvPr/>
        </p:nvSpPr>
        <p:spPr>
          <a:xfrm>
            <a:off x="4215384" y="4279392"/>
            <a:ext cx="1051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11,891</a:t>
            </a:r>
            <a:endParaRPr lang="en-US" sz="680" dirty="0"/>
          </a:p>
        </p:txBody>
      </p:sp>
      <p:sp>
        <p:nvSpPr>
          <p:cNvPr id="144" name="Shape 142"/>
          <p:cNvSpPr/>
          <p:nvPr/>
        </p:nvSpPr>
        <p:spPr>
          <a:xfrm>
            <a:off x="5321808" y="4286707"/>
            <a:ext cx="996696" cy="123444"/>
          </a:xfrm>
          <a:prstGeom prst="rect">
            <a:avLst/>
          </a:prstGeom>
          <a:solidFill>
            <a:srgbClr val="EDF5F7"/>
          </a:solidFill>
          <a:ln/>
        </p:spPr>
      </p:sp>
      <p:sp>
        <p:nvSpPr>
          <p:cNvPr id="145" name="Text 143"/>
          <p:cNvSpPr txBox="1"/>
          <p:nvPr/>
        </p:nvSpPr>
        <p:spPr>
          <a:xfrm>
            <a:off x="5294376" y="4279392"/>
            <a:ext cx="1051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30,083</a:t>
            </a:r>
            <a:endParaRPr lang="en-US" sz="680" dirty="0"/>
          </a:p>
        </p:txBody>
      </p:sp>
      <p:sp>
        <p:nvSpPr>
          <p:cNvPr id="146" name="Text 144"/>
          <p:cNvSpPr txBox="1"/>
          <p:nvPr/>
        </p:nvSpPr>
        <p:spPr>
          <a:xfrm>
            <a:off x="6400800" y="4279392"/>
            <a:ext cx="1280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58,551</a:t>
            </a:r>
            <a:endParaRPr lang="en-US" sz="700" dirty="0"/>
          </a:p>
        </p:txBody>
      </p:sp>
      <p:sp>
        <p:nvSpPr>
          <p:cNvPr id="147" name="Text 145"/>
          <p:cNvSpPr txBox="1"/>
          <p:nvPr/>
        </p:nvSpPr>
        <p:spPr>
          <a:xfrm>
            <a:off x="594360" y="4425696"/>
            <a:ext cx="1417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Eric Cruz</a:t>
            </a:r>
            <a:endParaRPr lang="en-US" sz="720" dirty="0"/>
          </a:p>
        </p:txBody>
      </p:sp>
      <p:sp>
        <p:nvSpPr>
          <p:cNvPr id="148" name="Shape 146"/>
          <p:cNvSpPr/>
          <p:nvPr/>
        </p:nvSpPr>
        <p:spPr>
          <a:xfrm>
            <a:off x="2084832" y="4433011"/>
            <a:ext cx="996696" cy="123444"/>
          </a:xfrm>
          <a:prstGeom prst="rect">
            <a:avLst/>
          </a:prstGeom>
          <a:solidFill>
            <a:srgbClr val="EDF5F7"/>
          </a:solidFill>
          <a:ln/>
        </p:spPr>
      </p:sp>
      <p:sp>
        <p:nvSpPr>
          <p:cNvPr id="149" name="Text 147"/>
          <p:cNvSpPr txBox="1"/>
          <p:nvPr/>
        </p:nvSpPr>
        <p:spPr>
          <a:xfrm>
            <a:off x="2057400" y="4425696"/>
            <a:ext cx="1051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2,970</a:t>
            </a:r>
            <a:endParaRPr lang="en-US" sz="680" dirty="0"/>
          </a:p>
        </p:txBody>
      </p:sp>
      <p:sp>
        <p:nvSpPr>
          <p:cNvPr id="150" name="Shape 148"/>
          <p:cNvSpPr/>
          <p:nvPr/>
        </p:nvSpPr>
        <p:spPr>
          <a:xfrm>
            <a:off x="3163824" y="4433011"/>
            <a:ext cx="996696" cy="123444"/>
          </a:xfrm>
          <a:prstGeom prst="rect">
            <a:avLst/>
          </a:prstGeom>
          <a:solidFill>
            <a:srgbClr val="EDF5F7"/>
          </a:solidFill>
          <a:ln/>
        </p:spPr>
      </p:sp>
      <p:sp>
        <p:nvSpPr>
          <p:cNvPr id="151" name="Text 149"/>
          <p:cNvSpPr txBox="1"/>
          <p:nvPr/>
        </p:nvSpPr>
        <p:spPr>
          <a:xfrm>
            <a:off x="3136392" y="4425696"/>
            <a:ext cx="1051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7,237</a:t>
            </a:r>
            <a:endParaRPr lang="en-US" sz="680" dirty="0"/>
          </a:p>
        </p:txBody>
      </p:sp>
      <p:sp>
        <p:nvSpPr>
          <p:cNvPr id="152" name="Shape 150"/>
          <p:cNvSpPr/>
          <p:nvPr/>
        </p:nvSpPr>
        <p:spPr>
          <a:xfrm>
            <a:off x="4242816" y="4433011"/>
            <a:ext cx="996696" cy="123444"/>
          </a:xfrm>
          <a:prstGeom prst="rect">
            <a:avLst/>
          </a:prstGeom>
          <a:solidFill>
            <a:srgbClr val="EDF5F7"/>
          </a:solidFill>
          <a:ln/>
        </p:spPr>
      </p:sp>
      <p:sp>
        <p:nvSpPr>
          <p:cNvPr id="153" name="Text 151"/>
          <p:cNvSpPr txBox="1"/>
          <p:nvPr/>
        </p:nvSpPr>
        <p:spPr>
          <a:xfrm>
            <a:off x="4215384" y="4425696"/>
            <a:ext cx="1051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19,289</a:t>
            </a:r>
            <a:endParaRPr lang="en-US" sz="680" dirty="0"/>
          </a:p>
        </p:txBody>
      </p:sp>
      <p:sp>
        <p:nvSpPr>
          <p:cNvPr id="154" name="Shape 152"/>
          <p:cNvSpPr/>
          <p:nvPr/>
        </p:nvSpPr>
        <p:spPr>
          <a:xfrm>
            <a:off x="5321808" y="4433011"/>
            <a:ext cx="996696" cy="123444"/>
          </a:xfrm>
          <a:prstGeom prst="rect">
            <a:avLst/>
          </a:prstGeom>
          <a:solidFill>
            <a:srgbClr val="EDF5F7"/>
          </a:solidFill>
          <a:ln/>
        </p:spPr>
      </p:sp>
      <p:sp>
        <p:nvSpPr>
          <p:cNvPr id="155" name="Text 153"/>
          <p:cNvSpPr txBox="1"/>
          <p:nvPr/>
        </p:nvSpPr>
        <p:spPr>
          <a:xfrm>
            <a:off x="5294376" y="4425696"/>
            <a:ext cx="1051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6,155</a:t>
            </a:r>
            <a:endParaRPr lang="en-US" sz="680" dirty="0"/>
          </a:p>
        </p:txBody>
      </p:sp>
      <p:sp>
        <p:nvSpPr>
          <p:cNvPr id="156" name="Text 154"/>
          <p:cNvSpPr txBox="1"/>
          <p:nvPr/>
        </p:nvSpPr>
        <p:spPr>
          <a:xfrm>
            <a:off x="6400800" y="4425696"/>
            <a:ext cx="1280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35,651</a:t>
            </a:r>
            <a:endParaRPr lang="en-US" sz="700" dirty="0"/>
          </a:p>
        </p:txBody>
      </p:sp>
      <p:sp>
        <p:nvSpPr>
          <p:cNvPr id="157" name="Shape 155"/>
          <p:cNvSpPr/>
          <p:nvPr/>
        </p:nvSpPr>
        <p:spPr>
          <a:xfrm>
            <a:off x="594360" y="4572000"/>
            <a:ext cx="7132320" cy="10973"/>
          </a:xfrm>
          <a:prstGeom prst="rect">
            <a:avLst/>
          </a:prstGeom>
          <a:solidFill>
            <a:srgbClr val="12293A"/>
          </a:solidFill>
          <a:ln/>
        </p:spPr>
      </p:sp>
      <p:sp>
        <p:nvSpPr>
          <p:cNvPr id="158" name="Text 156"/>
          <p:cNvSpPr txBox="1"/>
          <p:nvPr/>
        </p:nvSpPr>
        <p:spPr>
          <a:xfrm>
            <a:off x="594360" y="459943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ALL DEVELOPERS</a:t>
            </a:r>
            <a:endParaRPr lang="en-US" sz="750" dirty="0"/>
          </a:p>
        </p:txBody>
      </p:sp>
      <p:sp>
        <p:nvSpPr>
          <p:cNvPr id="159" name="Text 157"/>
          <p:cNvSpPr txBox="1"/>
          <p:nvPr/>
        </p:nvSpPr>
        <p:spPr>
          <a:xfrm>
            <a:off x="2057400" y="4599432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228,132</a:t>
            </a:r>
            <a:endParaRPr lang="en-US" sz="750" dirty="0"/>
          </a:p>
        </p:txBody>
      </p:sp>
      <p:sp>
        <p:nvSpPr>
          <p:cNvPr id="160" name="Text 158"/>
          <p:cNvSpPr txBox="1"/>
          <p:nvPr/>
        </p:nvSpPr>
        <p:spPr>
          <a:xfrm>
            <a:off x="3136392" y="4599432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293,419</a:t>
            </a:r>
            <a:endParaRPr lang="en-US" sz="750" dirty="0"/>
          </a:p>
        </p:txBody>
      </p:sp>
      <p:sp>
        <p:nvSpPr>
          <p:cNvPr id="161" name="Text 159"/>
          <p:cNvSpPr txBox="1"/>
          <p:nvPr/>
        </p:nvSpPr>
        <p:spPr>
          <a:xfrm>
            <a:off x="4215384" y="4599432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277,261</a:t>
            </a:r>
            <a:endParaRPr lang="en-US" sz="750" dirty="0"/>
          </a:p>
        </p:txBody>
      </p:sp>
      <p:sp>
        <p:nvSpPr>
          <p:cNvPr id="162" name="Text 160"/>
          <p:cNvSpPr txBox="1"/>
          <p:nvPr/>
        </p:nvSpPr>
        <p:spPr>
          <a:xfrm>
            <a:off x="5294376" y="4599432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1,234,279</a:t>
            </a:r>
            <a:endParaRPr lang="en-US" sz="750" dirty="0"/>
          </a:p>
        </p:txBody>
      </p:sp>
      <p:sp>
        <p:nvSpPr>
          <p:cNvPr id="163" name="Text 161"/>
          <p:cNvSpPr txBox="1"/>
          <p:nvPr/>
        </p:nvSpPr>
        <p:spPr>
          <a:xfrm>
            <a:off x="6400800" y="459943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2,033,091</a:t>
            </a:r>
            <a:endParaRPr lang="en-US" sz="750" dirty="0"/>
          </a:p>
        </p:txBody>
      </p:sp>
      <p:sp>
        <p:nvSpPr>
          <p:cNvPr id="164" name="Text 162"/>
          <p:cNvSpPr txBox="1"/>
          <p:nvPr/>
        </p:nvSpPr>
        <p:spPr>
          <a:xfrm>
            <a:off x="594360" y="491032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BY WEEK  </a:t>
            </a:r>
            <a:pPr indent="0" marL="0">
              <a:buNone/>
            </a:pPr>
            <a:r>
              <a:rPr lang="en-US" sz="60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cell = one week</a:t>
            </a:r>
            <a:endParaRPr lang="en-US" sz="750" dirty="0"/>
          </a:p>
        </p:txBody>
      </p:sp>
      <p:sp>
        <p:nvSpPr>
          <p:cNvPr id="165" name="Shape 163"/>
          <p:cNvSpPr/>
          <p:nvPr/>
        </p:nvSpPr>
        <p:spPr>
          <a:xfrm>
            <a:off x="2075688" y="4910328"/>
            <a:ext cx="365107" cy="219456"/>
          </a:xfrm>
          <a:prstGeom prst="rect">
            <a:avLst/>
          </a:prstGeom>
          <a:solidFill>
            <a:srgbClr val="D4E9ED"/>
          </a:solidFill>
          <a:ln/>
        </p:spPr>
      </p:sp>
      <p:sp>
        <p:nvSpPr>
          <p:cNvPr id="166" name="Text 164"/>
          <p:cNvSpPr txBox="1"/>
          <p:nvPr/>
        </p:nvSpPr>
        <p:spPr>
          <a:xfrm>
            <a:off x="2057400" y="4910328"/>
            <a:ext cx="40168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28k</a:t>
            </a:r>
            <a:endParaRPr lang="en-US" sz="620" dirty="0"/>
          </a:p>
        </p:txBody>
      </p:sp>
      <p:sp>
        <p:nvSpPr>
          <p:cNvPr id="167" name="Text 165"/>
          <p:cNvSpPr txBox="1"/>
          <p:nvPr/>
        </p:nvSpPr>
        <p:spPr>
          <a:xfrm>
            <a:off x="2057400" y="5138928"/>
            <a:ext cx="40168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07</a:t>
            </a:r>
            <a:endParaRPr lang="en-US" sz="550" dirty="0"/>
          </a:p>
        </p:txBody>
      </p:sp>
      <p:sp>
        <p:nvSpPr>
          <p:cNvPr id="168" name="Shape 166"/>
          <p:cNvSpPr/>
          <p:nvPr/>
        </p:nvSpPr>
        <p:spPr>
          <a:xfrm>
            <a:off x="2477371" y="4910328"/>
            <a:ext cx="365107" cy="219456"/>
          </a:xfrm>
          <a:prstGeom prst="rect">
            <a:avLst/>
          </a:prstGeom>
          <a:solidFill>
            <a:srgbClr val="D4E9ED"/>
          </a:solidFill>
          <a:ln/>
        </p:spPr>
      </p:sp>
      <p:sp>
        <p:nvSpPr>
          <p:cNvPr id="169" name="Text 167"/>
          <p:cNvSpPr txBox="1"/>
          <p:nvPr/>
        </p:nvSpPr>
        <p:spPr>
          <a:xfrm>
            <a:off x="2459083" y="4910328"/>
            <a:ext cx="40168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28k</a:t>
            </a:r>
            <a:endParaRPr lang="en-US" sz="620" dirty="0"/>
          </a:p>
        </p:txBody>
      </p:sp>
      <p:sp>
        <p:nvSpPr>
          <p:cNvPr id="170" name="Text 168"/>
          <p:cNvSpPr txBox="1"/>
          <p:nvPr/>
        </p:nvSpPr>
        <p:spPr>
          <a:xfrm>
            <a:off x="2459083" y="5138928"/>
            <a:ext cx="40168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14</a:t>
            </a:r>
            <a:endParaRPr lang="en-US" sz="550" dirty="0"/>
          </a:p>
        </p:txBody>
      </p:sp>
      <p:sp>
        <p:nvSpPr>
          <p:cNvPr id="171" name="Shape 169"/>
          <p:cNvSpPr/>
          <p:nvPr/>
        </p:nvSpPr>
        <p:spPr>
          <a:xfrm>
            <a:off x="2879054" y="4910328"/>
            <a:ext cx="365107" cy="219456"/>
          </a:xfrm>
          <a:prstGeom prst="rect">
            <a:avLst/>
          </a:prstGeom>
          <a:solidFill>
            <a:srgbClr val="D4E9ED"/>
          </a:solidFill>
          <a:ln/>
        </p:spPr>
      </p:sp>
      <p:sp>
        <p:nvSpPr>
          <p:cNvPr id="172" name="Text 170"/>
          <p:cNvSpPr txBox="1"/>
          <p:nvPr/>
        </p:nvSpPr>
        <p:spPr>
          <a:xfrm>
            <a:off x="2860766" y="4910328"/>
            <a:ext cx="40168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28k</a:t>
            </a:r>
            <a:endParaRPr lang="en-US" sz="620" dirty="0"/>
          </a:p>
        </p:txBody>
      </p:sp>
      <p:sp>
        <p:nvSpPr>
          <p:cNvPr id="173" name="Text 171"/>
          <p:cNvSpPr txBox="1"/>
          <p:nvPr/>
        </p:nvSpPr>
        <p:spPr>
          <a:xfrm>
            <a:off x="2860766" y="5138928"/>
            <a:ext cx="40168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21</a:t>
            </a:r>
            <a:endParaRPr lang="en-US" sz="550" dirty="0"/>
          </a:p>
        </p:txBody>
      </p:sp>
      <p:sp>
        <p:nvSpPr>
          <p:cNvPr id="174" name="Shape 172"/>
          <p:cNvSpPr/>
          <p:nvPr/>
        </p:nvSpPr>
        <p:spPr>
          <a:xfrm>
            <a:off x="3280737" y="4910328"/>
            <a:ext cx="365107" cy="219456"/>
          </a:xfrm>
          <a:prstGeom prst="rect">
            <a:avLst/>
          </a:prstGeom>
          <a:solidFill>
            <a:srgbClr val="B5D9E0"/>
          </a:solidFill>
          <a:ln/>
        </p:spPr>
      </p:sp>
      <p:sp>
        <p:nvSpPr>
          <p:cNvPr id="175" name="Text 173"/>
          <p:cNvSpPr txBox="1"/>
          <p:nvPr/>
        </p:nvSpPr>
        <p:spPr>
          <a:xfrm>
            <a:off x="3262449" y="4910328"/>
            <a:ext cx="40168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41k</a:t>
            </a:r>
            <a:endParaRPr lang="en-US" sz="620" dirty="0"/>
          </a:p>
        </p:txBody>
      </p:sp>
      <p:sp>
        <p:nvSpPr>
          <p:cNvPr id="176" name="Text 174"/>
          <p:cNvSpPr txBox="1"/>
          <p:nvPr/>
        </p:nvSpPr>
        <p:spPr>
          <a:xfrm>
            <a:off x="3262449" y="5138928"/>
            <a:ext cx="40168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28</a:t>
            </a:r>
            <a:endParaRPr lang="en-US" sz="550" dirty="0"/>
          </a:p>
        </p:txBody>
      </p:sp>
      <p:sp>
        <p:nvSpPr>
          <p:cNvPr id="177" name="Shape 175"/>
          <p:cNvSpPr/>
          <p:nvPr/>
        </p:nvSpPr>
        <p:spPr>
          <a:xfrm>
            <a:off x="3682419" y="4910328"/>
            <a:ext cx="365107" cy="219456"/>
          </a:xfrm>
          <a:prstGeom prst="rect">
            <a:avLst/>
          </a:prstGeom>
          <a:solidFill>
            <a:srgbClr val="B5D9E0"/>
          </a:solidFill>
          <a:ln/>
        </p:spPr>
      </p:sp>
      <p:sp>
        <p:nvSpPr>
          <p:cNvPr id="178" name="Text 176"/>
          <p:cNvSpPr txBox="1"/>
          <p:nvPr/>
        </p:nvSpPr>
        <p:spPr>
          <a:xfrm>
            <a:off x="3664131" y="4910328"/>
            <a:ext cx="40168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52k</a:t>
            </a:r>
            <a:endParaRPr lang="en-US" sz="620" dirty="0"/>
          </a:p>
        </p:txBody>
      </p:sp>
      <p:sp>
        <p:nvSpPr>
          <p:cNvPr id="179" name="Text 177"/>
          <p:cNvSpPr txBox="1"/>
          <p:nvPr/>
        </p:nvSpPr>
        <p:spPr>
          <a:xfrm>
            <a:off x="3664131" y="5138928"/>
            <a:ext cx="40168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05</a:t>
            </a:r>
            <a:endParaRPr lang="en-US" sz="550" dirty="0"/>
          </a:p>
        </p:txBody>
      </p:sp>
      <p:sp>
        <p:nvSpPr>
          <p:cNvPr id="180" name="Shape 178"/>
          <p:cNvSpPr/>
          <p:nvPr/>
        </p:nvSpPr>
        <p:spPr>
          <a:xfrm>
            <a:off x="4084102" y="4910328"/>
            <a:ext cx="365107" cy="219456"/>
          </a:xfrm>
          <a:prstGeom prst="rect">
            <a:avLst/>
          </a:prstGeom>
          <a:solidFill>
            <a:srgbClr val="B5D9E0"/>
          </a:solidFill>
          <a:ln/>
        </p:spPr>
      </p:sp>
      <p:sp>
        <p:nvSpPr>
          <p:cNvPr id="181" name="Text 179"/>
          <p:cNvSpPr txBox="1"/>
          <p:nvPr/>
        </p:nvSpPr>
        <p:spPr>
          <a:xfrm>
            <a:off x="4065814" y="4910328"/>
            <a:ext cx="40168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52k</a:t>
            </a:r>
            <a:endParaRPr lang="en-US" sz="620" dirty="0"/>
          </a:p>
        </p:txBody>
      </p:sp>
      <p:sp>
        <p:nvSpPr>
          <p:cNvPr id="182" name="Text 180"/>
          <p:cNvSpPr txBox="1"/>
          <p:nvPr/>
        </p:nvSpPr>
        <p:spPr>
          <a:xfrm>
            <a:off x="4065814" y="5138928"/>
            <a:ext cx="40168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12</a:t>
            </a:r>
            <a:endParaRPr lang="en-US" sz="550" dirty="0"/>
          </a:p>
        </p:txBody>
      </p:sp>
      <p:sp>
        <p:nvSpPr>
          <p:cNvPr id="183" name="Shape 181"/>
          <p:cNvSpPr/>
          <p:nvPr/>
        </p:nvSpPr>
        <p:spPr>
          <a:xfrm>
            <a:off x="4485785" y="4910328"/>
            <a:ext cx="365107" cy="219456"/>
          </a:xfrm>
          <a:prstGeom prst="rect">
            <a:avLst/>
          </a:prstGeom>
          <a:solidFill>
            <a:srgbClr val="B5D9E0"/>
          </a:solidFill>
          <a:ln/>
        </p:spPr>
      </p:sp>
      <p:sp>
        <p:nvSpPr>
          <p:cNvPr id="184" name="Text 182"/>
          <p:cNvSpPr txBox="1"/>
          <p:nvPr/>
        </p:nvSpPr>
        <p:spPr>
          <a:xfrm>
            <a:off x="4467497" y="4910328"/>
            <a:ext cx="40168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52k</a:t>
            </a:r>
            <a:endParaRPr lang="en-US" sz="620" dirty="0"/>
          </a:p>
        </p:txBody>
      </p:sp>
      <p:sp>
        <p:nvSpPr>
          <p:cNvPr id="185" name="Text 183"/>
          <p:cNvSpPr txBox="1"/>
          <p:nvPr/>
        </p:nvSpPr>
        <p:spPr>
          <a:xfrm>
            <a:off x="4467497" y="5138928"/>
            <a:ext cx="40168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19</a:t>
            </a:r>
            <a:endParaRPr lang="en-US" sz="550" dirty="0"/>
          </a:p>
        </p:txBody>
      </p:sp>
      <p:sp>
        <p:nvSpPr>
          <p:cNvPr id="186" name="Shape 184"/>
          <p:cNvSpPr/>
          <p:nvPr/>
        </p:nvSpPr>
        <p:spPr>
          <a:xfrm>
            <a:off x="4887468" y="4910328"/>
            <a:ext cx="365107" cy="219456"/>
          </a:xfrm>
          <a:prstGeom prst="rect">
            <a:avLst/>
          </a:prstGeom>
          <a:solidFill>
            <a:srgbClr val="B5D9E0"/>
          </a:solidFill>
          <a:ln/>
        </p:spPr>
      </p:sp>
      <p:sp>
        <p:nvSpPr>
          <p:cNvPr id="187" name="Text 185"/>
          <p:cNvSpPr txBox="1"/>
          <p:nvPr/>
        </p:nvSpPr>
        <p:spPr>
          <a:xfrm>
            <a:off x="4869180" y="4910328"/>
            <a:ext cx="40168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48k</a:t>
            </a:r>
            <a:endParaRPr lang="en-US" sz="620" dirty="0"/>
          </a:p>
        </p:txBody>
      </p:sp>
      <p:sp>
        <p:nvSpPr>
          <p:cNvPr id="188" name="Text 186"/>
          <p:cNvSpPr txBox="1"/>
          <p:nvPr/>
        </p:nvSpPr>
        <p:spPr>
          <a:xfrm>
            <a:off x="4869180" y="5138928"/>
            <a:ext cx="40168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26</a:t>
            </a:r>
            <a:endParaRPr lang="en-US" sz="550" dirty="0"/>
          </a:p>
        </p:txBody>
      </p:sp>
      <p:sp>
        <p:nvSpPr>
          <p:cNvPr id="189" name="Shape 187"/>
          <p:cNvSpPr/>
          <p:nvPr/>
        </p:nvSpPr>
        <p:spPr>
          <a:xfrm>
            <a:off x="5289151" y="4910328"/>
            <a:ext cx="365107" cy="219456"/>
          </a:xfrm>
          <a:prstGeom prst="rect">
            <a:avLst/>
          </a:prstGeom>
          <a:solidFill>
            <a:srgbClr val="D4E9ED"/>
          </a:solidFill>
          <a:ln/>
        </p:spPr>
      </p:sp>
      <p:sp>
        <p:nvSpPr>
          <p:cNvPr id="190" name="Text 188"/>
          <p:cNvSpPr txBox="1"/>
          <p:nvPr/>
        </p:nvSpPr>
        <p:spPr>
          <a:xfrm>
            <a:off x="5270863" y="4910328"/>
            <a:ext cx="40168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28k</a:t>
            </a:r>
            <a:endParaRPr lang="en-US" sz="620" dirty="0"/>
          </a:p>
        </p:txBody>
      </p:sp>
      <p:sp>
        <p:nvSpPr>
          <p:cNvPr id="191" name="Text 189"/>
          <p:cNvSpPr txBox="1"/>
          <p:nvPr/>
        </p:nvSpPr>
        <p:spPr>
          <a:xfrm>
            <a:off x="5270863" y="5138928"/>
            <a:ext cx="40168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</a:t>
            </a:r>
            <a:endParaRPr lang="en-US" sz="550" dirty="0"/>
          </a:p>
        </p:txBody>
      </p:sp>
      <p:sp>
        <p:nvSpPr>
          <p:cNvPr id="192" name="Shape 190"/>
          <p:cNvSpPr/>
          <p:nvPr/>
        </p:nvSpPr>
        <p:spPr>
          <a:xfrm>
            <a:off x="5690834" y="4910328"/>
            <a:ext cx="365107" cy="219456"/>
          </a:xfrm>
          <a:prstGeom prst="rect">
            <a:avLst/>
          </a:prstGeom>
          <a:solidFill>
            <a:srgbClr val="2C8394"/>
          </a:solidFill>
          <a:ln/>
        </p:spPr>
      </p:sp>
      <p:sp>
        <p:nvSpPr>
          <p:cNvPr id="193" name="Text 191"/>
          <p:cNvSpPr txBox="1"/>
          <p:nvPr/>
        </p:nvSpPr>
        <p:spPr>
          <a:xfrm>
            <a:off x="5672546" y="4910328"/>
            <a:ext cx="40168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78k</a:t>
            </a:r>
            <a:endParaRPr lang="en-US" sz="620" dirty="0"/>
          </a:p>
        </p:txBody>
      </p:sp>
      <p:sp>
        <p:nvSpPr>
          <p:cNvPr id="194" name="Text 192"/>
          <p:cNvSpPr txBox="1"/>
          <p:nvPr/>
        </p:nvSpPr>
        <p:spPr>
          <a:xfrm>
            <a:off x="5672546" y="5138928"/>
            <a:ext cx="40168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09</a:t>
            </a:r>
            <a:endParaRPr lang="en-US" sz="550" dirty="0"/>
          </a:p>
        </p:txBody>
      </p:sp>
      <p:sp>
        <p:nvSpPr>
          <p:cNvPr id="195" name="Shape 193"/>
          <p:cNvSpPr/>
          <p:nvPr/>
        </p:nvSpPr>
        <p:spPr>
          <a:xfrm>
            <a:off x="6092517" y="4910328"/>
            <a:ext cx="365107" cy="219456"/>
          </a:xfrm>
          <a:prstGeom prst="rect">
            <a:avLst/>
          </a:prstGeom>
          <a:solidFill>
            <a:srgbClr val="2C8394"/>
          </a:solidFill>
          <a:ln/>
        </p:spPr>
      </p:sp>
      <p:sp>
        <p:nvSpPr>
          <p:cNvPr id="196" name="Text 194"/>
          <p:cNvSpPr txBox="1"/>
          <p:nvPr/>
        </p:nvSpPr>
        <p:spPr>
          <a:xfrm>
            <a:off x="6074229" y="4910328"/>
            <a:ext cx="40168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87k</a:t>
            </a:r>
            <a:endParaRPr lang="en-US" sz="620" dirty="0"/>
          </a:p>
        </p:txBody>
      </p:sp>
      <p:sp>
        <p:nvSpPr>
          <p:cNvPr id="197" name="Text 195"/>
          <p:cNvSpPr txBox="1"/>
          <p:nvPr/>
        </p:nvSpPr>
        <p:spPr>
          <a:xfrm>
            <a:off x="6074229" y="5138928"/>
            <a:ext cx="40168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16</a:t>
            </a:r>
            <a:endParaRPr lang="en-US" sz="550" dirty="0"/>
          </a:p>
        </p:txBody>
      </p:sp>
      <p:sp>
        <p:nvSpPr>
          <p:cNvPr id="198" name="Shape 196"/>
          <p:cNvSpPr/>
          <p:nvPr/>
        </p:nvSpPr>
        <p:spPr>
          <a:xfrm>
            <a:off x="6494199" y="4910328"/>
            <a:ext cx="365107" cy="219456"/>
          </a:xfrm>
          <a:prstGeom prst="rect">
            <a:avLst/>
          </a:prstGeom>
          <a:solidFill>
            <a:srgbClr val="8FC3CC"/>
          </a:solidFill>
          <a:ln/>
        </p:spPr>
      </p:sp>
      <p:sp>
        <p:nvSpPr>
          <p:cNvPr id="199" name="Text 197"/>
          <p:cNvSpPr txBox="1"/>
          <p:nvPr/>
        </p:nvSpPr>
        <p:spPr>
          <a:xfrm>
            <a:off x="6475911" y="4910328"/>
            <a:ext cx="40168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68k</a:t>
            </a:r>
            <a:endParaRPr lang="en-US" sz="620" dirty="0"/>
          </a:p>
        </p:txBody>
      </p:sp>
      <p:sp>
        <p:nvSpPr>
          <p:cNvPr id="200" name="Text 198"/>
          <p:cNvSpPr txBox="1"/>
          <p:nvPr/>
        </p:nvSpPr>
        <p:spPr>
          <a:xfrm>
            <a:off x="6475911" y="5138928"/>
            <a:ext cx="40168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23</a:t>
            </a:r>
            <a:endParaRPr lang="en-US" sz="550" dirty="0"/>
          </a:p>
        </p:txBody>
      </p:sp>
      <p:sp>
        <p:nvSpPr>
          <p:cNvPr id="201" name="Shape 199"/>
          <p:cNvSpPr/>
          <p:nvPr/>
        </p:nvSpPr>
        <p:spPr>
          <a:xfrm>
            <a:off x="6895882" y="4910328"/>
            <a:ext cx="365107" cy="219456"/>
          </a:xfrm>
          <a:prstGeom prst="rect">
            <a:avLst/>
          </a:prstGeom>
          <a:solidFill>
            <a:srgbClr val="8FC3CC"/>
          </a:solidFill>
          <a:ln/>
        </p:spPr>
      </p:sp>
      <p:sp>
        <p:nvSpPr>
          <p:cNvPr id="202" name="Text 200"/>
          <p:cNvSpPr txBox="1"/>
          <p:nvPr/>
        </p:nvSpPr>
        <p:spPr>
          <a:xfrm>
            <a:off x="6877594" y="4910328"/>
            <a:ext cx="40168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60k</a:t>
            </a:r>
            <a:endParaRPr lang="en-US" sz="620" dirty="0"/>
          </a:p>
        </p:txBody>
      </p:sp>
      <p:sp>
        <p:nvSpPr>
          <p:cNvPr id="203" name="Text 201"/>
          <p:cNvSpPr txBox="1"/>
          <p:nvPr/>
        </p:nvSpPr>
        <p:spPr>
          <a:xfrm>
            <a:off x="6877594" y="5138928"/>
            <a:ext cx="40168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30</a:t>
            </a:r>
            <a:endParaRPr lang="en-US" sz="550" dirty="0"/>
          </a:p>
        </p:txBody>
      </p:sp>
      <p:sp>
        <p:nvSpPr>
          <p:cNvPr id="204" name="Shape 202"/>
          <p:cNvSpPr/>
          <p:nvPr/>
        </p:nvSpPr>
        <p:spPr>
          <a:xfrm>
            <a:off x="7297565" y="4910328"/>
            <a:ext cx="365107" cy="219456"/>
          </a:xfrm>
          <a:prstGeom prst="rect">
            <a:avLst/>
          </a:prstGeom>
          <a:solidFill>
            <a:srgbClr val="8FC3CC"/>
          </a:solidFill>
          <a:ln/>
        </p:spPr>
      </p:sp>
      <p:sp>
        <p:nvSpPr>
          <p:cNvPr id="205" name="Text 203"/>
          <p:cNvSpPr txBox="1"/>
          <p:nvPr/>
        </p:nvSpPr>
        <p:spPr>
          <a:xfrm>
            <a:off x="7279277" y="4910328"/>
            <a:ext cx="40168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66k</a:t>
            </a:r>
            <a:endParaRPr lang="en-US" sz="620" dirty="0"/>
          </a:p>
        </p:txBody>
      </p:sp>
      <p:sp>
        <p:nvSpPr>
          <p:cNvPr id="206" name="Text 204"/>
          <p:cNvSpPr txBox="1"/>
          <p:nvPr/>
        </p:nvSpPr>
        <p:spPr>
          <a:xfrm>
            <a:off x="7279277" y="5138928"/>
            <a:ext cx="40168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06</a:t>
            </a:r>
            <a:endParaRPr lang="en-US" sz="550" dirty="0"/>
          </a:p>
        </p:txBody>
      </p:sp>
      <p:sp>
        <p:nvSpPr>
          <p:cNvPr id="207" name="Text 205"/>
          <p:cNvSpPr txBox="1"/>
          <p:nvPr/>
        </p:nvSpPr>
        <p:spPr>
          <a:xfrm>
            <a:off x="594360" y="5340096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cell = one week · series ends w/c 06 Sep — later captures give month-to-date only · Nicolas Ibrahim (two accounts) and Daniel Maddern (four accounts) are combined here; Daniel Maddern is new to the capture, so Jul–Sep are unavailable for him, not zero</a:t>
            </a:r>
            <a:endParaRPr lang="en-US" sz="600" dirty="0"/>
          </a:p>
        </p:txBody>
      </p:sp>
      <p:sp>
        <p:nvSpPr>
          <p:cNvPr id="208" name="Shape 206"/>
          <p:cNvSpPr/>
          <p:nvPr/>
        </p:nvSpPr>
        <p:spPr>
          <a:xfrm>
            <a:off x="8092440" y="2212848"/>
            <a:ext cx="3685032" cy="3383280"/>
          </a:xfrm>
          <a:prstGeom prst="roundRect">
            <a:avLst>
              <a:gd name="adj" fmla="val 18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209" name="Text 207"/>
          <p:cNvSpPr txBox="1"/>
          <p:nvPr/>
        </p:nvSpPr>
        <p:spPr>
          <a:xfrm>
            <a:off x="8293608" y="232257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COWORK — SESSIONS PER WEEK</a:t>
            </a:r>
            <a:endParaRPr lang="en-US" sz="1200" dirty="0"/>
          </a:p>
        </p:txBody>
      </p:sp>
      <p:sp>
        <p:nvSpPr>
          <p:cNvPr id="210" name="Text 208"/>
          <p:cNvSpPr txBox="1"/>
          <p:nvPr/>
        </p:nvSpPr>
        <p:spPr>
          <a:xfrm>
            <a:off x="8275320" y="2596896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~1140</a:t>
            </a:r>
            <a:endParaRPr lang="en-US" sz="2600" dirty="0"/>
          </a:p>
        </p:txBody>
      </p:sp>
      <p:sp>
        <p:nvSpPr>
          <p:cNvPr id="211" name="Text 209"/>
          <p:cNvSpPr txBox="1"/>
          <p:nvPr/>
        </p:nvSpPr>
        <p:spPr>
          <a:xfrm>
            <a:off x="9811512" y="2624328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team total / wk
</a:t>
            </a:r>
            <a:pPr indent="0" marL="0">
              <a:buNone/>
            </a:pPr>
            <a:r>
              <a:rPr lang="en-US" sz="70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~1012 baseline</a:t>
            </a:r>
            <a:endParaRPr lang="en-US" sz="750" dirty="0"/>
          </a:p>
        </p:txBody>
      </p:sp>
      <p:sp>
        <p:nvSpPr>
          <p:cNvPr id="212" name="Text 210"/>
          <p:cNvSpPr txBox="1"/>
          <p:nvPr/>
        </p:nvSpPr>
        <p:spPr>
          <a:xfrm>
            <a:off x="8275320" y="323697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Bjorn Magabo</a:t>
            </a:r>
            <a:endParaRPr lang="en-US" sz="750" dirty="0"/>
          </a:p>
        </p:txBody>
      </p:sp>
      <p:sp>
        <p:nvSpPr>
          <p:cNvPr id="213" name="Text 211"/>
          <p:cNvSpPr txBox="1"/>
          <p:nvPr/>
        </p:nvSpPr>
        <p:spPr>
          <a:xfrm>
            <a:off x="10058400" y="3236976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3D8F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▲ +65</a:t>
            </a:r>
            <a:endParaRPr lang="en-US" sz="680" dirty="0"/>
          </a:p>
        </p:txBody>
      </p:sp>
      <p:sp>
        <p:nvSpPr>
          <p:cNvPr id="214" name="Text 212"/>
          <p:cNvSpPr txBox="1"/>
          <p:nvPr/>
        </p:nvSpPr>
        <p:spPr>
          <a:xfrm>
            <a:off x="10835640" y="3236976"/>
            <a:ext cx="758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~830/wk</a:t>
            </a:r>
            <a:endParaRPr lang="en-US" sz="750" dirty="0"/>
          </a:p>
        </p:txBody>
      </p:sp>
      <p:sp>
        <p:nvSpPr>
          <p:cNvPr id="215" name="Text 213"/>
          <p:cNvSpPr txBox="1"/>
          <p:nvPr/>
        </p:nvSpPr>
        <p:spPr>
          <a:xfrm>
            <a:off x="8275320" y="342900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Phuong Ho</a:t>
            </a:r>
            <a:endParaRPr lang="en-US" sz="750" dirty="0"/>
          </a:p>
        </p:txBody>
      </p:sp>
      <p:sp>
        <p:nvSpPr>
          <p:cNvPr id="216" name="Text 214"/>
          <p:cNvSpPr txBox="1"/>
          <p:nvPr/>
        </p:nvSpPr>
        <p:spPr>
          <a:xfrm>
            <a:off x="10058400" y="3429000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3D8F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▲ +5</a:t>
            </a:r>
            <a:endParaRPr lang="en-US" sz="680" dirty="0"/>
          </a:p>
        </p:txBody>
      </p:sp>
      <p:sp>
        <p:nvSpPr>
          <p:cNvPr id="217" name="Text 215"/>
          <p:cNvSpPr txBox="1"/>
          <p:nvPr/>
        </p:nvSpPr>
        <p:spPr>
          <a:xfrm>
            <a:off x="10835640" y="3429000"/>
            <a:ext cx="758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~168/wk</a:t>
            </a:r>
            <a:endParaRPr lang="en-US" sz="750" dirty="0"/>
          </a:p>
        </p:txBody>
      </p:sp>
      <p:sp>
        <p:nvSpPr>
          <p:cNvPr id="218" name="Text 216"/>
          <p:cNvSpPr txBox="1"/>
          <p:nvPr/>
        </p:nvSpPr>
        <p:spPr>
          <a:xfrm>
            <a:off x="8275320" y="362102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Dave Corbett</a:t>
            </a:r>
            <a:endParaRPr lang="en-US" sz="750" dirty="0"/>
          </a:p>
        </p:txBody>
      </p:sp>
      <p:sp>
        <p:nvSpPr>
          <p:cNvPr id="219" name="Text 217"/>
          <p:cNvSpPr txBox="1"/>
          <p:nvPr/>
        </p:nvSpPr>
        <p:spPr>
          <a:xfrm>
            <a:off x="10058400" y="3621024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—</a:t>
            </a:r>
            <a:endParaRPr lang="en-US" sz="680" dirty="0"/>
          </a:p>
        </p:txBody>
      </p:sp>
      <p:sp>
        <p:nvSpPr>
          <p:cNvPr id="220" name="Text 218"/>
          <p:cNvSpPr txBox="1"/>
          <p:nvPr/>
        </p:nvSpPr>
        <p:spPr>
          <a:xfrm>
            <a:off x="10835640" y="3621024"/>
            <a:ext cx="758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~23/wk</a:t>
            </a:r>
            <a:endParaRPr lang="en-US" sz="750" dirty="0"/>
          </a:p>
        </p:txBody>
      </p:sp>
      <p:sp>
        <p:nvSpPr>
          <p:cNvPr id="221" name="Text 219"/>
          <p:cNvSpPr txBox="1"/>
          <p:nvPr/>
        </p:nvSpPr>
        <p:spPr>
          <a:xfrm>
            <a:off x="8275320" y="381304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Bradford Young</a:t>
            </a:r>
            <a:endParaRPr lang="en-US" sz="750" dirty="0"/>
          </a:p>
        </p:txBody>
      </p:sp>
      <p:sp>
        <p:nvSpPr>
          <p:cNvPr id="222" name="Text 220"/>
          <p:cNvSpPr txBox="1"/>
          <p:nvPr/>
        </p:nvSpPr>
        <p:spPr>
          <a:xfrm>
            <a:off x="10058400" y="381304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—</a:t>
            </a:r>
            <a:endParaRPr lang="en-US" sz="680" dirty="0"/>
          </a:p>
        </p:txBody>
      </p:sp>
      <p:sp>
        <p:nvSpPr>
          <p:cNvPr id="223" name="Text 221"/>
          <p:cNvSpPr txBox="1"/>
          <p:nvPr/>
        </p:nvSpPr>
        <p:spPr>
          <a:xfrm>
            <a:off x="10835640" y="3813048"/>
            <a:ext cx="758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~22/wk</a:t>
            </a:r>
            <a:endParaRPr lang="en-US" sz="750" dirty="0"/>
          </a:p>
        </p:txBody>
      </p:sp>
      <p:sp>
        <p:nvSpPr>
          <p:cNvPr id="224" name="Text 222"/>
          <p:cNvSpPr txBox="1"/>
          <p:nvPr/>
        </p:nvSpPr>
        <p:spPr>
          <a:xfrm>
            <a:off x="8275320" y="400507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Matt Freeman</a:t>
            </a:r>
            <a:endParaRPr lang="en-US" sz="750" dirty="0"/>
          </a:p>
        </p:txBody>
      </p:sp>
      <p:sp>
        <p:nvSpPr>
          <p:cNvPr id="225" name="Text 223"/>
          <p:cNvSpPr txBox="1"/>
          <p:nvPr/>
        </p:nvSpPr>
        <p:spPr>
          <a:xfrm>
            <a:off x="10058400" y="400507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3D8F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▲ +2</a:t>
            </a:r>
            <a:endParaRPr lang="en-US" sz="680" dirty="0"/>
          </a:p>
        </p:txBody>
      </p:sp>
      <p:sp>
        <p:nvSpPr>
          <p:cNvPr id="226" name="Text 224"/>
          <p:cNvSpPr txBox="1"/>
          <p:nvPr/>
        </p:nvSpPr>
        <p:spPr>
          <a:xfrm>
            <a:off x="10835640" y="4005072"/>
            <a:ext cx="758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~18/wk</a:t>
            </a:r>
            <a:endParaRPr lang="en-US" sz="750" dirty="0"/>
          </a:p>
        </p:txBody>
      </p:sp>
      <p:sp>
        <p:nvSpPr>
          <p:cNvPr id="227" name="Text 225"/>
          <p:cNvSpPr txBox="1"/>
          <p:nvPr/>
        </p:nvSpPr>
        <p:spPr>
          <a:xfrm>
            <a:off x="8275320" y="419709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Harjeet Sammi</a:t>
            </a:r>
            <a:endParaRPr lang="en-US" sz="750" dirty="0"/>
          </a:p>
        </p:txBody>
      </p:sp>
      <p:sp>
        <p:nvSpPr>
          <p:cNvPr id="228" name="Text 226"/>
          <p:cNvSpPr txBox="1"/>
          <p:nvPr/>
        </p:nvSpPr>
        <p:spPr>
          <a:xfrm>
            <a:off x="10058400" y="4197096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—</a:t>
            </a:r>
            <a:endParaRPr lang="en-US" sz="680" dirty="0"/>
          </a:p>
        </p:txBody>
      </p:sp>
      <p:sp>
        <p:nvSpPr>
          <p:cNvPr id="229" name="Text 227"/>
          <p:cNvSpPr txBox="1"/>
          <p:nvPr/>
        </p:nvSpPr>
        <p:spPr>
          <a:xfrm>
            <a:off x="10835640" y="4197096"/>
            <a:ext cx="758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~13/wk</a:t>
            </a:r>
            <a:endParaRPr lang="en-US" sz="750" dirty="0"/>
          </a:p>
        </p:txBody>
      </p:sp>
      <p:sp>
        <p:nvSpPr>
          <p:cNvPr id="230" name="Text 228"/>
          <p:cNvSpPr txBox="1"/>
          <p:nvPr/>
        </p:nvSpPr>
        <p:spPr>
          <a:xfrm>
            <a:off x="8275320" y="438912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Katherine Fenwick</a:t>
            </a:r>
            <a:endParaRPr lang="en-US" sz="750" dirty="0"/>
          </a:p>
        </p:txBody>
      </p:sp>
      <p:sp>
        <p:nvSpPr>
          <p:cNvPr id="231" name="Text 229"/>
          <p:cNvSpPr txBox="1"/>
          <p:nvPr/>
        </p:nvSpPr>
        <p:spPr>
          <a:xfrm>
            <a:off x="10058400" y="4389120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B455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▼ -1</a:t>
            </a:r>
            <a:endParaRPr lang="en-US" sz="680" dirty="0"/>
          </a:p>
        </p:txBody>
      </p:sp>
      <p:sp>
        <p:nvSpPr>
          <p:cNvPr id="232" name="Text 230"/>
          <p:cNvSpPr txBox="1"/>
          <p:nvPr/>
        </p:nvSpPr>
        <p:spPr>
          <a:xfrm>
            <a:off x="10835640" y="4389120"/>
            <a:ext cx="758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~10/wk</a:t>
            </a:r>
            <a:endParaRPr lang="en-US" sz="750" dirty="0"/>
          </a:p>
        </p:txBody>
      </p:sp>
      <p:sp>
        <p:nvSpPr>
          <p:cNvPr id="233" name="Text 231"/>
          <p:cNvSpPr txBox="1"/>
          <p:nvPr/>
        </p:nvSpPr>
        <p:spPr>
          <a:xfrm>
            <a:off x="8275320" y="458114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Youssef Medhat</a:t>
            </a:r>
            <a:endParaRPr lang="en-US" sz="750" dirty="0"/>
          </a:p>
        </p:txBody>
      </p:sp>
      <p:sp>
        <p:nvSpPr>
          <p:cNvPr id="234" name="Text 232"/>
          <p:cNvSpPr txBox="1"/>
          <p:nvPr/>
        </p:nvSpPr>
        <p:spPr>
          <a:xfrm>
            <a:off x="10058400" y="4581144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new</a:t>
            </a:r>
            <a:endParaRPr lang="en-US" sz="680" dirty="0"/>
          </a:p>
        </p:txBody>
      </p:sp>
      <p:sp>
        <p:nvSpPr>
          <p:cNvPr id="235" name="Text 233"/>
          <p:cNvSpPr txBox="1"/>
          <p:nvPr/>
        </p:nvSpPr>
        <p:spPr>
          <a:xfrm>
            <a:off x="10835640" y="4581144"/>
            <a:ext cx="758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~8/wk</a:t>
            </a:r>
            <a:endParaRPr lang="en-US" sz="750" dirty="0"/>
          </a:p>
        </p:txBody>
      </p:sp>
      <p:sp>
        <p:nvSpPr>
          <p:cNvPr id="236" name="Text 234"/>
          <p:cNvSpPr txBox="1"/>
          <p:nvPr/>
        </p:nvSpPr>
        <p:spPr>
          <a:xfrm>
            <a:off x="8275320" y="477316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Rhys Woolcock</a:t>
            </a:r>
            <a:endParaRPr lang="en-US" sz="750" dirty="0"/>
          </a:p>
        </p:txBody>
      </p:sp>
      <p:sp>
        <p:nvSpPr>
          <p:cNvPr id="237" name="Text 235"/>
          <p:cNvSpPr txBox="1"/>
          <p:nvPr/>
        </p:nvSpPr>
        <p:spPr>
          <a:xfrm>
            <a:off x="10058400" y="477316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3D8F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▲ +1</a:t>
            </a:r>
            <a:endParaRPr lang="en-US" sz="680" dirty="0"/>
          </a:p>
        </p:txBody>
      </p:sp>
      <p:sp>
        <p:nvSpPr>
          <p:cNvPr id="238" name="Text 236"/>
          <p:cNvSpPr txBox="1"/>
          <p:nvPr/>
        </p:nvSpPr>
        <p:spPr>
          <a:xfrm>
            <a:off x="10835640" y="4773168"/>
            <a:ext cx="758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~8/wk</a:t>
            </a:r>
            <a:endParaRPr lang="en-US" sz="750" dirty="0"/>
          </a:p>
        </p:txBody>
      </p:sp>
      <p:sp>
        <p:nvSpPr>
          <p:cNvPr id="239" name="Text 237"/>
          <p:cNvSpPr txBox="1"/>
          <p:nvPr/>
        </p:nvSpPr>
        <p:spPr>
          <a:xfrm>
            <a:off x="8275320" y="496519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Mostafa Essa</a:t>
            </a:r>
            <a:endParaRPr lang="en-US" sz="750" dirty="0"/>
          </a:p>
        </p:txBody>
      </p:sp>
      <p:sp>
        <p:nvSpPr>
          <p:cNvPr id="240" name="Text 238"/>
          <p:cNvSpPr txBox="1"/>
          <p:nvPr/>
        </p:nvSpPr>
        <p:spPr>
          <a:xfrm>
            <a:off x="10058400" y="496519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new</a:t>
            </a:r>
            <a:endParaRPr lang="en-US" sz="680" dirty="0"/>
          </a:p>
        </p:txBody>
      </p:sp>
      <p:sp>
        <p:nvSpPr>
          <p:cNvPr id="241" name="Text 239"/>
          <p:cNvSpPr txBox="1"/>
          <p:nvPr/>
        </p:nvSpPr>
        <p:spPr>
          <a:xfrm>
            <a:off x="10835640" y="4965192"/>
            <a:ext cx="758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~7/wk</a:t>
            </a:r>
            <a:endParaRPr lang="en-US" sz="750" dirty="0"/>
          </a:p>
        </p:txBody>
      </p:sp>
      <p:sp>
        <p:nvSpPr>
          <p:cNvPr id="242" name="Text 240"/>
          <p:cNvSpPr txBox="1"/>
          <p:nvPr/>
        </p:nvSpPr>
        <p:spPr>
          <a:xfrm>
            <a:off x="8275320" y="5321808"/>
            <a:ext cx="3319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rate = 30-day sessions ÷ 4.3 · arrow = change vs the 19 Oct capture · 4.9K sessions in 30 days, ▲149%</a:t>
            </a:r>
            <a:endParaRPr lang="en-US" sz="600" dirty="0"/>
          </a:p>
        </p:txBody>
      </p:sp>
      <p:sp>
        <p:nvSpPr>
          <p:cNvPr id="243" name="Shape 241"/>
          <p:cNvSpPr/>
          <p:nvPr/>
        </p:nvSpPr>
        <p:spPr>
          <a:xfrm>
            <a:off x="411480" y="5669280"/>
            <a:ext cx="11365992" cy="786384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244" name="Text 242"/>
          <p:cNvSpPr txBox="1"/>
          <p:nvPr/>
        </p:nvSpPr>
        <p:spPr>
          <a:xfrm>
            <a:off x="612648" y="5779008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SUMMARY</a:t>
            </a:r>
            <a:endParaRPr lang="en-US" sz="1200" dirty="0"/>
          </a:p>
        </p:txBody>
      </p:sp>
      <p:sp>
        <p:nvSpPr>
          <p:cNvPr id="245" name="Text 243"/>
          <p:cNvSpPr txBox="1"/>
          <p:nvPr/>
        </p:nvSpPr>
        <p:spPr>
          <a:xfrm>
            <a:off x="612648" y="6089904"/>
            <a:ext cx="10954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 </a:t>
            </a:r>
            <a:pPr indent="0" marL="0">
              <a:buNone/>
            </a:pPr>
            <a:r>
              <a:rPr lang="en-US" sz="90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43 of 49 active weekly — up 7.5% on last week </a:t>
            </a:r>
            <a:pPr indent="0" marL="0">
              <a:spcAft>
                <a:spcPts val="800"/>
              </a:spcAft>
              <a:buNone/>
            </a:pPr>
            <a:r>
              <a:rPr lang="en-US" sz="900" dirty="0">
                <a:solidFill>
                  <a:srgbClr val="3A4B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October code output has reached 1,234,279 lines to 26 Oct, nearly four times last week's 329,436 capture. Daniel Maddern's four accounts are 723,999 of it (59%) and Nicolas Ibrahim's two 255,985. Mostafa Essa enters at 100,487. 193 PRs in Code over 30 days, ▲60%; spend $657, ▼37%.</a:t>
            </a:r>
            <a:endParaRPr lang="en-US" sz="900" dirty="0"/>
          </a:p>
        </p:txBody>
      </p:sp>
      <p:sp>
        <p:nvSpPr>
          <p:cNvPr id="246" name="Shape 244"/>
          <p:cNvSpPr/>
          <p:nvPr/>
        </p:nvSpPr>
        <p:spPr>
          <a:xfrm>
            <a:off x="5925312" y="6510528"/>
            <a:ext cx="5852160" cy="256032"/>
          </a:xfrm>
          <a:prstGeom prst="roundRect">
            <a:avLst>
              <a:gd name="adj" fmla="val 46429"/>
            </a:avLst>
          </a:prstGeom>
          <a:solidFill>
            <a:srgbClr val="12293A"/>
          </a:solidFill>
          <a:ln/>
        </p:spPr>
      </p:sp>
      <p:sp>
        <p:nvSpPr>
          <p:cNvPr id="247" name="Text 245"/>
          <p:cNvSpPr txBox="1"/>
          <p:nvPr/>
        </p:nvSpPr>
        <p:spPr>
          <a:xfrm>
            <a:off x="5925312" y="6510528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Source: Claude Admin console, 30d to 26 Oct (shared by Glynn Johnson) · daily/monthly actives and stickiness held at 19 Oct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oppi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oppi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2026-10-26T07:13:10Z</dcterms:created>
  <dcterms:modified xsi:type="dcterms:W3CDTF">2026-10-26T07:13:10Z</dcterms:modified>
</cp:coreProperties>
</file>