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Won (HubSpot)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4077</c:v>
                </c:pt>
                <c:pt idx="1">
                  <c:v>7481</c:v>
                </c:pt>
                <c:pt idx="2">
                  <c:v>16726</c:v>
                </c:pt>
                <c:pt idx="3">
                  <c:v>3839</c:v>
                </c:pt>
                <c:pt idx="4">
                  <c:v>1967</c:v>
                </c:pt>
                <c:pt idx="5">
                  <c:v>12943</c:v>
                </c:pt>
                <c:pt idx="6">
                  <c:v>969</c:v>
                </c:pt>
                <c:pt idx="7">
                  <c:v>1935</c:v>
                </c:pt>
                <c:pt idx="8">
                  <c:v>8130</c:v>
                </c:pt>
                <c:pt idx="9">
                  <c:v>6441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(register)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2829</c:v>
                </c:pt>
                <c:pt idx="1">
                  <c:v>5205</c:v>
                </c:pt>
                <c:pt idx="2">
                  <c:v>5883</c:v>
                </c:pt>
                <c:pt idx="3">
                  <c:v>3463</c:v>
                </c:pt>
                <c:pt idx="4">
                  <c:v>5482</c:v>
                </c:pt>
                <c:pt idx="5">
                  <c:v>7087</c:v>
                </c:pt>
                <c:pt idx="6">
                  <c:v>4860</c:v>
                </c:pt>
                <c:pt idx="7">
                  <c:v>3700</c:v>
                </c:pt>
                <c:pt idx="8">
                  <c:v>6853</c:v>
                </c:pt>
                <c:pt idx="9">
                  <c:v>3817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329</c:v>
                </c:pt>
                <c:pt idx="1">
                  <c:v>332</c:v>
                </c:pt>
                <c:pt idx="2">
                  <c:v>391</c:v>
                </c:pt>
                <c:pt idx="3">
                  <c:v>362</c:v>
                </c:pt>
                <c:pt idx="4">
                  <c:v>322</c:v>
                </c:pt>
                <c:pt idx="5">
                  <c:v>325</c:v>
                </c:pt>
                <c:pt idx="6">
                  <c:v>355</c:v>
                </c:pt>
                <c:pt idx="7">
                  <c:v>384</c:v>
                </c:pt>
                <c:pt idx="8">
                  <c:v>324</c:v>
                </c:pt>
                <c:pt idx="9">
                  <c:v>372</c:v>
                </c:pt>
                <c:pt idx="10">
                  <c:v>331</c:v>
                </c:pt>
                <c:pt idx="11">
                  <c:v>333</c:v>
                </c:pt>
                <c:pt idx="12">
                  <c:v>306</c:v>
                </c:pt>
                <c:pt idx="13">
                  <c:v>425</c:v>
                </c:pt>
                <c:pt idx="14">
                  <c:v>432</c:v>
                </c:pt>
                <c:pt idx="15">
                  <c:v>644</c:v>
                </c:pt>
                <c:pt idx="16">
                  <c:v>466</c:v>
                </c:pt>
                <c:pt idx="17">
                  <c:v>412</c:v>
                </c:pt>
                <c:pt idx="18">
                  <c:v>451</c:v>
                </c:pt>
                <c:pt idx="19">
                  <c:v>492</c:v>
                </c:pt>
                <c:pt idx="20">
                  <c:v>490</c:v>
                </c:pt>
                <c:pt idx="21">
                  <c:v>450</c:v>
                </c:pt>
                <c:pt idx="22">
                  <c:v>417</c:v>
                </c:pt>
                <c:pt idx="23">
                  <c:v>561</c:v>
                </c:pt>
                <c:pt idx="24">
                  <c:v>396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281</c:v>
                </c:pt>
                <c:pt idx="1">
                  <c:v>298</c:v>
                </c:pt>
                <c:pt idx="2">
                  <c:v>319</c:v>
                </c:pt>
                <c:pt idx="3">
                  <c:v>287</c:v>
                </c:pt>
                <c:pt idx="4">
                  <c:v>406</c:v>
                </c:pt>
                <c:pt idx="5">
                  <c:v>292</c:v>
                </c:pt>
                <c:pt idx="6">
                  <c:v>371</c:v>
                </c:pt>
                <c:pt idx="7">
                  <c:v>402</c:v>
                </c:pt>
                <c:pt idx="8">
                  <c:v>266</c:v>
                </c:pt>
                <c:pt idx="9">
                  <c:v>315</c:v>
                </c:pt>
                <c:pt idx="10">
                  <c:v>487</c:v>
                </c:pt>
                <c:pt idx="11">
                  <c:v>524</c:v>
                </c:pt>
                <c:pt idx="12">
                  <c:v>329</c:v>
                </c:pt>
                <c:pt idx="13">
                  <c:v>359</c:v>
                </c:pt>
                <c:pt idx="14">
                  <c:v>292</c:v>
                </c:pt>
                <c:pt idx="15">
                  <c:v>465</c:v>
                </c:pt>
                <c:pt idx="16">
                  <c:v>454</c:v>
                </c:pt>
                <c:pt idx="17">
                  <c:v>343</c:v>
                </c:pt>
                <c:pt idx="18">
                  <c:v>347</c:v>
                </c:pt>
                <c:pt idx="19">
                  <c:v>607</c:v>
                </c:pt>
                <c:pt idx="20">
                  <c:v>419</c:v>
                </c:pt>
                <c:pt idx="21">
                  <c:v>431</c:v>
                </c:pt>
                <c:pt idx="22">
                  <c:v>426</c:v>
                </c:pt>
                <c:pt idx="23">
                  <c:v>608</c:v>
                </c:pt>
                <c:pt idx="24">
                  <c:v>597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Net movement (new − closed)</c:v>
                </c:pt>
              </c:strCache>
            </c:strRef>
          </c:tx>
          <c:spPr>
            <a:solidFill>
              <a:srgbClr val="C2562A"/>
            </a:solidFill>
            <a:ln w="31750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48</c:v>
                </c:pt>
                <c:pt idx="1">
                  <c:v>34</c:v>
                </c:pt>
                <c:pt idx="2">
                  <c:v>72</c:v>
                </c:pt>
                <c:pt idx="3">
                  <c:v>75</c:v>
                </c:pt>
                <c:pt idx="4">
                  <c:v>-84</c:v>
                </c:pt>
                <c:pt idx="5">
                  <c:v>33</c:v>
                </c:pt>
                <c:pt idx="6">
                  <c:v>-16</c:v>
                </c:pt>
                <c:pt idx="7">
                  <c:v>-18</c:v>
                </c:pt>
                <c:pt idx="8">
                  <c:v>58</c:v>
                </c:pt>
                <c:pt idx="9">
                  <c:v>57</c:v>
                </c:pt>
                <c:pt idx="10">
                  <c:v>-156</c:v>
                </c:pt>
                <c:pt idx="11">
                  <c:v>-191</c:v>
                </c:pt>
                <c:pt idx="12">
                  <c:v>-23</c:v>
                </c:pt>
                <c:pt idx="13">
                  <c:v>66</c:v>
                </c:pt>
                <c:pt idx="14">
                  <c:v>140</c:v>
                </c:pt>
                <c:pt idx="15">
                  <c:v>179</c:v>
                </c:pt>
                <c:pt idx="16">
                  <c:v>12</c:v>
                </c:pt>
                <c:pt idx="17">
                  <c:v>69</c:v>
                </c:pt>
                <c:pt idx="18">
                  <c:v>104</c:v>
                </c:pt>
                <c:pt idx="19">
                  <c:v>-115</c:v>
                </c:pt>
                <c:pt idx="20">
                  <c:v>71</c:v>
                </c:pt>
                <c:pt idx="21">
                  <c:v>19</c:v>
                </c:pt>
                <c:pt idx="22">
                  <c:v>-9</c:v>
                </c:pt>
                <c:pt idx="23">
                  <c:v>-47</c:v>
                </c:pt>
                <c:pt idx="24">
                  <c:v>-201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800"/>
          <c:min val="-3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19 October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26 Oct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— TARGETS CARRIED FORWARD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hardware $111k = 16% of the $715k OKR2 against a 27% pace mark — $12.0k this week, Bradford $10.3k of 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new MRR $3.8k = 14% of OKR2 with nothing invoiced this week; three churned logos net the week −$1,148 and Q4 −$8.9k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 3.7% — 11.5h of 311.6h; 10.5h chargeable, 1.0h non-chargeable; Q4 hidden work 20h = $3,000 unrecognised PS revenue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 396 vs resolved 597 — backlog 588 → 389, third straight fall; 54 of the closes were one bulk close of September voice tickets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as at 19 Sep: 10 done · 12 on track · 3 not started · 2 at risk — tracker refresh now six weeks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49 active weekly (▲7.5% WoW); October code output 1.23M lines to 26 Oct, 193 PRs in Code over 30 days; daily actives held at 19 Oct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Q4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137160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−$1,148 net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58887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171998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27%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Q4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$111k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+$12k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67299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7553858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(27%)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002536" y="2724912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599432" y="272491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25 Oct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002536" y="29443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514600" y="29443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044952" y="294436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3904488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Δ WK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99432" y="29443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5184648" y="2944368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5843016" y="294436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2944368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3182112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002536" y="318211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2514600" y="318211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081528" y="3294126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7" name="Shape 45"/>
          <p:cNvSpPr/>
          <p:nvPr/>
        </p:nvSpPr>
        <p:spPr>
          <a:xfrm>
            <a:off x="3081528" y="329412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48" name="Shape 46"/>
          <p:cNvSpPr/>
          <p:nvPr/>
        </p:nvSpPr>
        <p:spPr>
          <a:xfrm>
            <a:off x="3219602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30168" y="318211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8%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3904488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599432" y="3182112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184648" y="3182112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879592" y="3294126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5879592" y="329412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55" name="Shape 53"/>
          <p:cNvSpPr/>
          <p:nvPr/>
        </p:nvSpPr>
        <p:spPr>
          <a:xfrm>
            <a:off x="6022604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64808" y="318211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4%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830568" y="3182112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12648" y="3497580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2002536" y="349758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2514600" y="349758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$658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081528" y="3609594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3081528" y="3609594"/>
            <a:ext cx="71323" cy="100584"/>
          </a:xfrm>
          <a:prstGeom prst="roundRect">
            <a:avLst>
              <a:gd name="adj" fmla="val 64103"/>
            </a:avLst>
          </a:prstGeom>
          <a:solidFill>
            <a:srgbClr val="B4552D"/>
          </a:solidFill>
          <a:ln/>
        </p:spPr>
      </p:sp>
      <p:sp>
        <p:nvSpPr>
          <p:cNvPr id="64" name="Shape 62"/>
          <p:cNvSpPr/>
          <p:nvPr/>
        </p:nvSpPr>
        <p:spPr>
          <a:xfrm>
            <a:off x="3219602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630168" y="349758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3904488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−1,148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4599432" y="3497580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5184648" y="3497580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879592" y="3609594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5879592" y="3609594"/>
            <a:ext cx="68031" cy="100584"/>
          </a:xfrm>
          <a:prstGeom prst="roundRect">
            <a:avLst>
              <a:gd name="adj" fmla="val 67205"/>
            </a:avLst>
          </a:prstGeom>
          <a:solidFill>
            <a:srgbClr val="B4552D"/>
          </a:solidFill>
          <a:ln/>
        </p:spPr>
      </p:sp>
      <p:sp>
        <p:nvSpPr>
          <p:cNvPr id="71" name="Shape 69"/>
          <p:cNvSpPr/>
          <p:nvPr/>
        </p:nvSpPr>
        <p:spPr>
          <a:xfrm>
            <a:off x="6022604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64808" y="349758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12%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6830568" y="3497580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+160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12648" y="3813048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2002536" y="3813048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7" name="Text 75"/>
          <p:cNvSpPr txBox="1"/>
          <p:nvPr/>
        </p:nvSpPr>
        <p:spPr>
          <a:xfrm>
            <a:off x="2514600" y="3813048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$177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081528" y="3925062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3081528" y="392506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80" name="Shape 78"/>
          <p:cNvSpPr/>
          <p:nvPr/>
        </p:nvSpPr>
        <p:spPr>
          <a:xfrm>
            <a:off x="3219602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630168" y="3813048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4%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904488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4599432" y="3813048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5184648" y="3813048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$18k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5879592" y="3925062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6" name="Shape 84"/>
          <p:cNvSpPr/>
          <p:nvPr/>
        </p:nvSpPr>
        <p:spPr>
          <a:xfrm>
            <a:off x="5879592" y="3925062"/>
            <a:ext cx="62362" cy="100584"/>
          </a:xfrm>
          <a:prstGeom prst="roundRect">
            <a:avLst>
              <a:gd name="adj" fmla="val 73314"/>
            </a:avLst>
          </a:prstGeom>
          <a:solidFill>
            <a:srgbClr val="B4552D"/>
          </a:solidFill>
          <a:ln/>
        </p:spPr>
      </p:sp>
      <p:sp>
        <p:nvSpPr>
          <p:cNvPr id="87" name="Shape 85"/>
          <p:cNvSpPr/>
          <p:nvPr/>
        </p:nvSpPr>
        <p:spPr>
          <a:xfrm>
            <a:off x="6022604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464808" y="3813048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11%</a:t>
            </a:r>
            <a:endParaRPr lang="en-US" sz="8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3813048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12648" y="4128516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2002536" y="4128516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93" name="Text 91"/>
          <p:cNvSpPr txBox="1"/>
          <p:nvPr/>
        </p:nvSpPr>
        <p:spPr>
          <a:xfrm>
            <a:off x="2514600" y="4128516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3081528" y="4240530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5" name="Shape 93"/>
          <p:cNvSpPr/>
          <p:nvPr/>
        </p:nvSpPr>
        <p:spPr>
          <a:xfrm>
            <a:off x="3081528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6" name="Shape 94"/>
          <p:cNvSpPr/>
          <p:nvPr/>
        </p:nvSpPr>
        <p:spPr>
          <a:xfrm>
            <a:off x="3219602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30168" y="4128516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36%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3904488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4599432" y="4128516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100" name="Text 98"/>
          <p:cNvSpPr txBox="1"/>
          <p:nvPr/>
        </p:nvSpPr>
        <p:spPr>
          <a:xfrm>
            <a:off x="5184648" y="4128516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879592" y="4240530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879592" y="4240530"/>
            <a:ext cx="85039" cy="100584"/>
          </a:xfrm>
          <a:prstGeom prst="roundRect">
            <a:avLst>
              <a:gd name="adj" fmla="val 53764"/>
            </a:avLst>
          </a:prstGeom>
          <a:solidFill>
            <a:srgbClr val="B4552D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022604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464808" y="4128516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800" dirty="0"/>
          </a:p>
        </p:txBody>
      </p:sp>
      <p:sp>
        <p:nvSpPr>
          <p:cNvPr id="105" name="Text 103"/>
          <p:cNvSpPr txBox="1"/>
          <p:nvPr/>
        </p:nvSpPr>
        <p:spPr>
          <a:xfrm>
            <a:off x="6830568" y="4128516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+918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12648" y="4443984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8" name="Text 106"/>
          <p:cNvSpPr txBox="1"/>
          <p:nvPr/>
        </p:nvSpPr>
        <p:spPr>
          <a:xfrm>
            <a:off x="2002536" y="4443984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2514600" y="4443984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$98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3081528" y="4555998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81528" y="4555998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219602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3630168" y="4443984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</a:t>
            </a:r>
            <a:endParaRPr lang="en-US" sz="800" dirty="0"/>
          </a:p>
        </p:txBody>
      </p:sp>
      <p:sp>
        <p:nvSpPr>
          <p:cNvPr id="114" name="Text 112"/>
          <p:cNvSpPr txBox="1"/>
          <p:nvPr/>
        </p:nvSpPr>
        <p:spPr>
          <a:xfrm>
            <a:off x="3904488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15" name="Text 113"/>
          <p:cNvSpPr txBox="1"/>
          <p:nvPr/>
        </p:nvSpPr>
        <p:spPr>
          <a:xfrm>
            <a:off x="4599432" y="4443984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184648" y="4443984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$38k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879592" y="4555998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879592" y="4555998"/>
            <a:ext cx="39118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022604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464808" y="4443984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69%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6830568" y="4443984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+705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12648" y="4759452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2002536" y="475945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2514600" y="475945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3081528" y="4871466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81528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219602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3630168" y="475945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30" name="Text 128"/>
          <p:cNvSpPr txBox="1"/>
          <p:nvPr/>
        </p:nvSpPr>
        <p:spPr>
          <a:xfrm>
            <a:off x="3904488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4599432" y="4759452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32" name="Text 130"/>
          <p:cNvSpPr txBox="1"/>
          <p:nvPr/>
        </p:nvSpPr>
        <p:spPr>
          <a:xfrm>
            <a:off x="5184648" y="4759452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3" name="Text 131"/>
          <p:cNvSpPr txBox="1"/>
          <p:nvPr/>
        </p:nvSpPr>
        <p:spPr>
          <a:xfrm>
            <a:off x="5843016" y="4759452"/>
            <a:ext cx="9326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4" name="Text 132"/>
          <p:cNvSpPr txBox="1"/>
          <p:nvPr/>
        </p:nvSpPr>
        <p:spPr>
          <a:xfrm>
            <a:off x="6830568" y="4759452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612648" y="5074920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7" name="Text 135"/>
          <p:cNvSpPr txBox="1"/>
          <p:nvPr/>
        </p:nvSpPr>
        <p:spPr>
          <a:xfrm>
            <a:off x="2002536" y="507492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2514600" y="507492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3081528" y="5186934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081528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219602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3630168" y="507492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7%</a:t>
            </a:r>
            <a:endParaRPr lang="en-US" sz="800" dirty="0"/>
          </a:p>
        </p:txBody>
      </p:sp>
      <p:sp>
        <p:nvSpPr>
          <p:cNvPr id="143" name="Text 141"/>
          <p:cNvSpPr txBox="1"/>
          <p:nvPr/>
        </p:nvSpPr>
        <p:spPr>
          <a:xfrm>
            <a:off x="3904488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599432" y="5074920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184648" y="5074920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5843016" y="5074920"/>
            <a:ext cx="9326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47" name="Text 145"/>
          <p:cNvSpPr txBox="1"/>
          <p:nvPr/>
        </p:nvSpPr>
        <p:spPr>
          <a:xfrm>
            <a:off x="6830568" y="5074920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8" name="Shape 146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612648" y="54269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50" name="Text 148"/>
          <p:cNvSpPr txBox="1"/>
          <p:nvPr/>
        </p:nvSpPr>
        <p:spPr>
          <a:xfrm>
            <a:off x="2002536" y="54269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51" name="Text 149"/>
          <p:cNvSpPr txBox="1"/>
          <p:nvPr/>
        </p:nvSpPr>
        <p:spPr>
          <a:xfrm>
            <a:off x="2514600" y="54269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52" name="Text 150"/>
          <p:cNvSpPr txBox="1"/>
          <p:nvPr/>
        </p:nvSpPr>
        <p:spPr>
          <a:xfrm>
            <a:off x="3904488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−1,148</a:t>
            </a:r>
            <a:endParaRPr lang="en-US" sz="850" dirty="0"/>
          </a:p>
        </p:txBody>
      </p:sp>
      <p:sp>
        <p:nvSpPr>
          <p:cNvPr id="153" name="Text 151"/>
          <p:cNvSpPr txBox="1"/>
          <p:nvPr/>
        </p:nvSpPr>
        <p:spPr>
          <a:xfrm>
            <a:off x="4599432" y="54269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54" name="Text 152"/>
          <p:cNvSpPr txBox="1"/>
          <p:nvPr/>
        </p:nvSpPr>
        <p:spPr>
          <a:xfrm>
            <a:off x="5184648" y="5426964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$111k</a:t>
            </a:r>
            <a:endParaRPr lang="en-US" sz="850" dirty="0"/>
          </a:p>
        </p:txBody>
      </p:sp>
      <p:sp>
        <p:nvSpPr>
          <p:cNvPr id="155" name="Text 153"/>
          <p:cNvSpPr txBox="1"/>
          <p:nvPr/>
        </p:nvSpPr>
        <p:spPr>
          <a:xfrm>
            <a:off x="5843016" y="542696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850" dirty="0"/>
          </a:p>
        </p:txBody>
      </p:sp>
      <p:sp>
        <p:nvSpPr>
          <p:cNvPr id="156" name="Text 154"/>
          <p:cNvSpPr txBox="1"/>
          <p:nvPr/>
        </p:nvSpPr>
        <p:spPr>
          <a:xfrm>
            <a:off x="6830568" y="5426964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+12k</a:t>
            </a:r>
            <a:endParaRPr lang="en-US" sz="850" dirty="0"/>
          </a:p>
        </p:txBody>
      </p:sp>
      <p:sp>
        <p:nvSpPr>
          <p:cNvPr id="157" name="Text 155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Q4 (movement register, live 25 Oct) · H&amp;L Pay net new $0/mo is tracked separately and never sits inside core MRR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9" name="Text 157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added $12,048 — Bradford $10,265 of it.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Royal Hotel's server, screen and POS came to $8,500. Q4 to date is $111,021, 16% of the $715k OKR2 against a 27% pace mark.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went backwards again, by $1,148.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MRR was invoiced and three of Brett's accounts churned. Q4 stands at $3,817 — 14% of the $28k OKR2 — and 22 expansion rows worth $2,159 are already on the register, dated 1 Nov.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Targets are still the Q3 numbers carried forward.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Q4 OKR2 or team target has been set, so every attainment percentage on this slide is measured against last quarter's bar.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Q4 (Oct–Dec) · 25 of 92 days elapsed.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7088429" y="6510528"/>
            <a:ext cx="468904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7088429" y="6510528"/>
            <a:ext cx="46890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 19–25 Oct + MRR movement register (live, 26 Oct)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US$2,081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A$2,922 · 32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A$775 · 11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US$360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A$506 · 7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placed / 7 lost by count · 60%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34308" cy="182880"/>
          </a:xfrm>
          <a:prstGeom prst="roundRect">
            <a:avLst>
              <a:gd name="adj" fmla="val 54466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2303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23616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2303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US$1,153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2303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21259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313176"/>
            <a:ext cx="281120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21259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21259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50215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Finance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602736"/>
            <a:ext cx="71785" cy="182880"/>
          </a:xfrm>
          <a:prstGeom prst="roundRect">
            <a:avLst>
              <a:gd name="adj" fmla="val 101904"/>
            </a:avLst>
          </a:prstGeom>
          <a:solidFill>
            <a:srgbClr val="2C839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50215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US$22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50215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379171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3892296"/>
            <a:ext cx="1794630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379171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379171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deals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667512" y="408127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828800" y="4181856"/>
            <a:ext cx="11717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69280" y="408127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US$360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0" y="408127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deals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67512" y="3768852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77640" y="3608832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9" name="Text 57"/>
          <p:cNvSpPr txBox="1"/>
          <p:nvPr/>
        </p:nvSpPr>
        <p:spPr>
          <a:xfrm>
            <a:off x="3977640" y="3819144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60" name="Text 58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828800" y="4800600"/>
            <a:ext cx="876762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828800" y="4782312"/>
            <a:ext cx="8767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18%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2723850" y="4800600"/>
            <a:ext cx="3305677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723850" y="4782312"/>
            <a:ext cx="33056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6047815" y="4800600"/>
            <a:ext cx="572441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047815" y="4782312"/>
            <a:ext cx="57244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12%</a:t>
            </a:r>
            <a:endParaRPr lang="en-US" sz="650" dirty="0"/>
          </a:p>
        </p:txBody>
      </p:sp>
      <p:sp>
        <p:nvSpPr>
          <p:cNvPr id="68" name="Text 66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828800" y="5111496"/>
            <a:ext cx="104607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828800" y="5093208"/>
            <a:ext cx="10460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22%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2893162" y="5111496"/>
            <a:ext cx="3043123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2893162" y="5093208"/>
            <a:ext cx="30431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5954573" y="5111496"/>
            <a:ext cx="665683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54573" y="5093208"/>
            <a:ext cx="66568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7" name="Shape 75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9" name="Shape 77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81" name="Shape 79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2" name="Text 80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84" name="Text 82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85" name="Text 83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6" name="Text 84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all the order volume</a:t>
            </a:r>
            <a:endParaRPr lang="en-US" sz="530" dirty="0"/>
          </a:p>
        </p:txBody>
      </p:sp>
      <p:sp>
        <p:nvSpPr>
          <p:cNvPr id="89" name="Text 87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US$1,229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US$147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still no orders</a:t>
            </a:r>
            <a:endParaRPr lang="en-US" sz="530" dirty="0"/>
          </a:p>
        </p:txBody>
      </p:sp>
      <p:sp>
        <p:nvSpPr>
          <p:cNvPr id="94" name="Text 92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lines on deals, every one priced $0</a:t>
            </a:r>
            <a:endParaRPr lang="en-US" sz="530" dirty="0"/>
          </a:p>
        </p:txBody>
      </p:sp>
      <p:sp>
        <p:nvSpPr>
          <p:cNvPr id="99" name="Text 97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104" name="Text 102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8" name="Text 106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</a:t>
            </a:r>
            <a:endParaRPr lang="en-US" sz="900" dirty="0"/>
          </a:p>
        </p:txBody>
      </p:sp>
      <p:sp>
        <p:nvSpPr>
          <p:cNvPr id="109" name="Text 107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US$14,751</a:t>
            </a:r>
            <a:endParaRPr lang="en-US" sz="1800" dirty="0"/>
          </a:p>
        </p:txBody>
      </p:sp>
      <p:sp>
        <p:nvSpPr>
          <p:cNvPr id="110" name="Text 108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(A$20,712) — the contract value behind the US$2,081 of monthly lines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rate five weeks stale; HubSpot holds no USD field</a:t>
            </a:r>
            <a:endParaRPr lang="en-US" sz="580" dirty="0"/>
          </a:p>
        </p:txBody>
      </p:sp>
      <p:sp>
        <p:nvSpPr>
          <p:cNvPr id="112" name="Shape 110"/>
          <p:cNvSpPr/>
          <p:nvPr/>
        </p:nvSpPr>
        <p:spPr>
          <a:xfrm>
            <a:off x="411480" y="5413248"/>
            <a:ext cx="11365992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3" name="Text 111"/>
          <p:cNvSpPr txBox="1"/>
          <p:nvPr/>
        </p:nvSpPr>
        <p:spPr>
          <a:xfrm>
            <a:off x="612648" y="552297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612648" y="5833872"/>
            <a:ext cx="10954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orders placed since 1 Jul (US$552) against 7 lost — 61% by count, 60%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US$2,018 of the US$2,081 open sits in Quote Sent and Negotiation across 25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ROAM orders placed this week (Dave &amp; Busters Perth, Prendiville Norfolk — A$124) · QR Ordering lines still all $0 · 28 ROAM lines (A$2,170) on no deal are excluded.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 The 26 Oct identification register is unchanged — 34 identified, 10 referred; won and GMV figures are held at the 19 Oct ValPay export.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461504" y="6510528"/>
            <a:ext cx="4315968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461504" y="6510528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Identification register (26 Oct) + ValPay export (19 Oct)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2282952" y="941832"/>
            <a:ext cx="5705856" cy="1005840"/>
          </a:xfrm>
          <a:prstGeom prst="roundRect">
            <a:avLst>
              <a:gd name="adj" fmla="val 8182"/>
            </a:avLst>
          </a:prstGeom>
          <a:solidFill>
            <a:srgbClr val="E4F1F4"/>
          </a:solidFill>
          <a:ln w="9525">
            <a:solidFill>
              <a:srgbClr val="6FA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HOURS LOGGED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311.6h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51.0h last week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328672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65832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65832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2447544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target 50%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465832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16.8% last week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245864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3024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83024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CHARGEABLE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364736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91% of billable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383024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50.0h (98%) last week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6163056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0216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00216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NON-CHARGEABLE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9% of billable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6300216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from 1.0h (2%) last week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8080248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7408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7408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· NON-BILLABLE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8199120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217408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non-billable records yet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999744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134600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3460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NON-UTILISED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1011631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13460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admin, meetings, leave not logged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411480" y="2011680"/>
            <a:ext cx="51206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521208" y="2359152"/>
          <a:ext cx="4901184" cy="24597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Shape 44"/>
          <p:cNvSpPr/>
          <p:nvPr/>
        </p:nvSpPr>
        <p:spPr>
          <a:xfrm>
            <a:off x="411480" y="5001768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94360" y="5056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ON WEEK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hours as the weeks stand today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594360" y="52943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endParaRPr lang="en-US" sz="580" dirty="0"/>
          </a:p>
        </p:txBody>
      </p:sp>
      <p:sp>
        <p:nvSpPr>
          <p:cNvPr id="50" name="Text 47"/>
          <p:cNvSpPr txBox="1"/>
          <p:nvPr/>
        </p:nvSpPr>
        <p:spPr>
          <a:xfrm>
            <a:off x="1463040" y="5294376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</a:t>
            </a:r>
            <a:endParaRPr lang="en-US" sz="580" dirty="0"/>
          </a:p>
        </p:txBody>
      </p:sp>
      <p:sp>
        <p:nvSpPr>
          <p:cNvPr id="51" name="Text 48"/>
          <p:cNvSpPr txBox="1"/>
          <p:nvPr/>
        </p:nvSpPr>
        <p:spPr>
          <a:xfrm>
            <a:off x="2194560" y="529437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580" dirty="0"/>
          </a:p>
        </p:txBody>
      </p:sp>
      <p:sp>
        <p:nvSpPr>
          <p:cNvPr id="52" name="Text 49"/>
          <p:cNvSpPr txBox="1"/>
          <p:nvPr/>
        </p:nvSpPr>
        <p:spPr>
          <a:xfrm>
            <a:off x="3017520" y="529437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NON-CHARGEABLE</a:t>
            </a:r>
            <a:endParaRPr lang="en-US" sz="580" dirty="0"/>
          </a:p>
        </p:txBody>
      </p:sp>
      <p:sp>
        <p:nvSpPr>
          <p:cNvPr id="53" name="Text 50"/>
          <p:cNvSpPr txBox="1"/>
          <p:nvPr/>
        </p:nvSpPr>
        <p:spPr>
          <a:xfrm>
            <a:off x="3931920" y="52943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</a:t>
            </a:r>
            <a:endParaRPr lang="en-US" sz="580" dirty="0"/>
          </a:p>
        </p:txBody>
      </p:sp>
      <p:sp>
        <p:nvSpPr>
          <p:cNvPr id="54" name="Text 51"/>
          <p:cNvSpPr txBox="1"/>
          <p:nvPr/>
        </p:nvSpPr>
        <p:spPr>
          <a:xfrm>
            <a:off x="4434840" y="52943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REPORTED</a:t>
            </a:r>
            <a:endParaRPr lang="en-US" sz="580" dirty="0"/>
          </a:p>
        </p:txBody>
      </p:sp>
      <p:sp>
        <p:nvSpPr>
          <p:cNvPr id="55" name="Text 52"/>
          <p:cNvSpPr txBox="1"/>
          <p:nvPr/>
        </p:nvSpPr>
        <p:spPr>
          <a:xfrm>
            <a:off x="594360" y="54589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5–11 Oct</a:t>
            </a:r>
            <a:endParaRPr lang="en-US" sz="780" dirty="0"/>
          </a:p>
        </p:txBody>
      </p:sp>
      <p:sp>
        <p:nvSpPr>
          <p:cNvPr id="56" name="Text 53"/>
          <p:cNvSpPr txBox="1"/>
          <p:nvPr/>
        </p:nvSpPr>
        <p:spPr>
          <a:xfrm>
            <a:off x="1463040" y="5458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35.3h</a:t>
            </a:r>
            <a:endParaRPr lang="en-US" sz="780" dirty="0"/>
          </a:p>
        </p:txBody>
      </p:sp>
      <p:sp>
        <p:nvSpPr>
          <p:cNvPr id="57" name="Text 54"/>
          <p:cNvSpPr txBox="1"/>
          <p:nvPr/>
        </p:nvSpPr>
        <p:spPr>
          <a:xfrm>
            <a:off x="2194560" y="54589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17.3h</a:t>
            </a:r>
            <a:endParaRPr lang="en-US" sz="780" dirty="0"/>
          </a:p>
        </p:txBody>
      </p:sp>
      <p:sp>
        <p:nvSpPr>
          <p:cNvPr id="58" name="Text 55"/>
          <p:cNvSpPr txBox="1"/>
          <p:nvPr/>
        </p:nvSpPr>
        <p:spPr>
          <a:xfrm>
            <a:off x="3017520" y="54589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780" dirty="0"/>
          </a:p>
        </p:txBody>
      </p:sp>
      <p:sp>
        <p:nvSpPr>
          <p:cNvPr id="59" name="Text 56"/>
          <p:cNvSpPr txBox="1"/>
          <p:nvPr/>
        </p:nvSpPr>
        <p:spPr>
          <a:xfrm>
            <a:off x="3931920" y="5458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10.3%</a:t>
            </a:r>
            <a:endParaRPr lang="en-US" sz="780" dirty="0"/>
          </a:p>
        </p:txBody>
      </p:sp>
      <p:sp>
        <p:nvSpPr>
          <p:cNvPr id="60" name="Text 57"/>
          <p:cNvSpPr txBox="1"/>
          <p:nvPr/>
        </p:nvSpPr>
        <p:spPr>
          <a:xfrm>
            <a:off x="4434840" y="5458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21.3h  ▲ +14.0h</a:t>
            </a:r>
            <a:endParaRPr lang="en-US" sz="680" dirty="0"/>
          </a:p>
        </p:txBody>
      </p:sp>
      <p:sp>
        <p:nvSpPr>
          <p:cNvPr id="61" name="Shape 58"/>
          <p:cNvSpPr/>
          <p:nvPr/>
        </p:nvSpPr>
        <p:spPr>
          <a:xfrm>
            <a:off x="594360" y="5696712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94360" y="569671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12–18 Oct</a:t>
            </a:r>
            <a:endParaRPr lang="en-US" sz="780" dirty="0"/>
          </a:p>
        </p:txBody>
      </p:sp>
      <p:sp>
        <p:nvSpPr>
          <p:cNvPr id="63" name="Text 60"/>
          <p:cNvSpPr txBox="1"/>
          <p:nvPr/>
        </p:nvSpPr>
        <p:spPr>
          <a:xfrm>
            <a:off x="1463040" y="56967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51.0h</a:t>
            </a:r>
            <a:endParaRPr lang="en-US" sz="780" dirty="0"/>
          </a:p>
        </p:txBody>
      </p:sp>
      <p:sp>
        <p:nvSpPr>
          <p:cNvPr id="64" name="Text 61"/>
          <p:cNvSpPr txBox="1"/>
          <p:nvPr/>
        </p:nvSpPr>
        <p:spPr>
          <a:xfrm>
            <a:off x="2194560" y="56967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50.0h</a:t>
            </a:r>
            <a:endParaRPr lang="en-US" sz="780" dirty="0"/>
          </a:p>
        </p:txBody>
      </p:sp>
      <p:sp>
        <p:nvSpPr>
          <p:cNvPr id="65" name="Text 62"/>
          <p:cNvSpPr txBox="1"/>
          <p:nvPr/>
        </p:nvSpPr>
        <p:spPr>
          <a:xfrm>
            <a:off x="3017520" y="56967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66" name="Text 63"/>
          <p:cNvSpPr txBox="1"/>
          <p:nvPr/>
        </p:nvSpPr>
        <p:spPr>
          <a:xfrm>
            <a:off x="3931920" y="5696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16.8%</a:t>
            </a:r>
            <a:endParaRPr lang="en-US" sz="780" dirty="0"/>
          </a:p>
        </p:txBody>
      </p:sp>
      <p:sp>
        <p:nvSpPr>
          <p:cNvPr id="67" name="Text 64"/>
          <p:cNvSpPr txBox="1"/>
          <p:nvPr/>
        </p:nvSpPr>
        <p:spPr>
          <a:xfrm>
            <a:off x="4434840" y="56967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39.5h  ▲ +11.6h</a:t>
            </a:r>
            <a:endParaRPr lang="en-US" sz="680" dirty="0"/>
          </a:p>
        </p:txBody>
      </p:sp>
      <p:sp>
        <p:nvSpPr>
          <p:cNvPr id="68" name="Shape 65"/>
          <p:cNvSpPr/>
          <p:nvPr/>
        </p:nvSpPr>
        <p:spPr>
          <a:xfrm>
            <a:off x="594360" y="5934456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94360" y="593445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19–25 Oct ●</a:t>
            </a:r>
            <a:endParaRPr lang="en-US" sz="780" dirty="0"/>
          </a:p>
        </p:txBody>
      </p:sp>
      <p:sp>
        <p:nvSpPr>
          <p:cNvPr id="70" name="Text 67"/>
          <p:cNvSpPr txBox="1"/>
          <p:nvPr/>
        </p:nvSpPr>
        <p:spPr>
          <a:xfrm>
            <a:off x="1463040" y="59344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endParaRPr lang="en-US" sz="780" dirty="0"/>
          </a:p>
        </p:txBody>
      </p:sp>
      <p:sp>
        <p:nvSpPr>
          <p:cNvPr id="71" name="Text 68"/>
          <p:cNvSpPr txBox="1"/>
          <p:nvPr/>
        </p:nvSpPr>
        <p:spPr>
          <a:xfrm>
            <a:off x="2194560" y="59344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endParaRPr lang="en-US" sz="780" dirty="0"/>
          </a:p>
        </p:txBody>
      </p:sp>
      <p:sp>
        <p:nvSpPr>
          <p:cNvPr id="72" name="Text 69"/>
          <p:cNvSpPr txBox="1"/>
          <p:nvPr/>
        </p:nvSpPr>
        <p:spPr>
          <a:xfrm>
            <a:off x="3017520" y="5934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73" name="Text 70"/>
          <p:cNvSpPr txBox="1"/>
          <p:nvPr/>
        </p:nvSpPr>
        <p:spPr>
          <a:xfrm>
            <a:off x="3931920" y="59344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endParaRPr lang="en-US" sz="780" dirty="0"/>
          </a:p>
        </p:txBody>
      </p:sp>
      <p:sp>
        <p:nvSpPr>
          <p:cNvPr id="74" name="Text 71"/>
          <p:cNvSpPr txBox="1"/>
          <p:nvPr/>
        </p:nvSpPr>
        <p:spPr>
          <a:xfrm>
            <a:off x="4434840" y="59344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</a:t>
            </a:r>
            <a:endParaRPr lang="en-US" sz="680" dirty="0"/>
          </a:p>
        </p:txBody>
      </p:sp>
      <p:sp>
        <p:nvSpPr>
          <p:cNvPr id="75" name="Shape 72"/>
          <p:cNvSpPr/>
          <p:nvPr/>
        </p:nvSpPr>
        <p:spPr>
          <a:xfrm>
            <a:off x="57150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3"/>
          <p:cNvSpPr txBox="1"/>
          <p:nvPr/>
        </p:nvSpPr>
        <p:spPr>
          <a:xfrm>
            <a:off x="58795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 — COMMISSION vs PS WORK</a:t>
            </a:r>
            <a:endParaRPr lang="en-US" sz="950" dirty="0"/>
          </a:p>
        </p:txBody>
      </p:sp>
      <p:sp>
        <p:nvSpPr>
          <p:cNvPr id="77" name="Text 74"/>
          <p:cNvSpPr txBox="1"/>
          <p:nvPr/>
        </p:nvSpPr>
        <p:spPr>
          <a:xfrm>
            <a:off x="5879592" y="2395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560" dirty="0"/>
          </a:p>
        </p:txBody>
      </p:sp>
      <p:sp>
        <p:nvSpPr>
          <p:cNvPr id="78" name="Text 75"/>
          <p:cNvSpPr txBox="1"/>
          <p:nvPr/>
        </p:nvSpPr>
        <p:spPr>
          <a:xfrm>
            <a:off x="6858000" y="239572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COMM. JAN–SEP</a:t>
            </a:r>
            <a:endParaRPr lang="en-US" sz="560" dirty="0"/>
          </a:p>
        </p:txBody>
      </p:sp>
      <p:sp>
        <p:nvSpPr>
          <p:cNvPr id="79" name="Text 76"/>
          <p:cNvSpPr txBox="1"/>
          <p:nvPr/>
        </p:nvSpPr>
        <p:spPr>
          <a:xfrm>
            <a:off x="7589520" y="239572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80" name="Text 77"/>
          <p:cNvSpPr txBox="1"/>
          <p:nvPr/>
        </p:nvSpPr>
        <p:spPr>
          <a:xfrm>
            <a:off x="7955280" y="23957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81" name="Text 78"/>
          <p:cNvSpPr txBox="1"/>
          <p:nvPr/>
        </p:nvSpPr>
        <p:spPr>
          <a:xfrm>
            <a:off x="5879592" y="256032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680" dirty="0"/>
          </a:p>
        </p:txBody>
      </p:sp>
      <p:sp>
        <p:nvSpPr>
          <p:cNvPr id="82" name="Text 79"/>
          <p:cNvSpPr txBox="1"/>
          <p:nvPr/>
        </p:nvSpPr>
        <p:spPr>
          <a:xfrm>
            <a:off x="6858000" y="256032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680" dirty="0"/>
          </a:p>
        </p:txBody>
      </p:sp>
      <p:sp>
        <p:nvSpPr>
          <p:cNvPr id="83" name="Text 80"/>
          <p:cNvSpPr txBox="1"/>
          <p:nvPr/>
        </p:nvSpPr>
        <p:spPr>
          <a:xfrm>
            <a:off x="7589520" y="256032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4" name="Text 81"/>
          <p:cNvSpPr txBox="1"/>
          <p:nvPr/>
        </p:nvSpPr>
        <p:spPr>
          <a:xfrm>
            <a:off x="7955280" y="256032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5" name="Shape 82"/>
          <p:cNvSpPr/>
          <p:nvPr/>
        </p:nvSpPr>
        <p:spPr>
          <a:xfrm>
            <a:off x="58064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5879592" y="271119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680" dirty="0"/>
          </a:p>
        </p:txBody>
      </p:sp>
      <p:sp>
        <p:nvSpPr>
          <p:cNvPr id="87" name="Text 84"/>
          <p:cNvSpPr txBox="1"/>
          <p:nvPr/>
        </p:nvSpPr>
        <p:spPr>
          <a:xfrm>
            <a:off x="6858000" y="271119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680" dirty="0"/>
          </a:p>
        </p:txBody>
      </p:sp>
      <p:sp>
        <p:nvSpPr>
          <p:cNvPr id="88" name="Text 85"/>
          <p:cNvSpPr txBox="1"/>
          <p:nvPr/>
        </p:nvSpPr>
        <p:spPr>
          <a:xfrm>
            <a:off x="7589520" y="271119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9" name="Text 86"/>
          <p:cNvSpPr txBox="1"/>
          <p:nvPr/>
        </p:nvSpPr>
        <p:spPr>
          <a:xfrm>
            <a:off x="7955280" y="271119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0" name="Text 87"/>
          <p:cNvSpPr txBox="1"/>
          <p:nvPr/>
        </p:nvSpPr>
        <p:spPr>
          <a:xfrm>
            <a:off x="5879592" y="286207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680" dirty="0"/>
          </a:p>
        </p:txBody>
      </p:sp>
      <p:sp>
        <p:nvSpPr>
          <p:cNvPr id="91" name="Text 88"/>
          <p:cNvSpPr txBox="1"/>
          <p:nvPr/>
        </p:nvSpPr>
        <p:spPr>
          <a:xfrm>
            <a:off x="6858000" y="286207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7589520" y="286207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3" name="Text 90"/>
          <p:cNvSpPr txBox="1"/>
          <p:nvPr/>
        </p:nvSpPr>
        <p:spPr>
          <a:xfrm>
            <a:off x="7955280" y="286207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4" name="Shape 91"/>
          <p:cNvSpPr/>
          <p:nvPr/>
        </p:nvSpPr>
        <p:spPr>
          <a:xfrm>
            <a:off x="58064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5879592" y="301294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680" dirty="0"/>
          </a:p>
        </p:txBody>
      </p:sp>
      <p:sp>
        <p:nvSpPr>
          <p:cNvPr id="96" name="Text 93"/>
          <p:cNvSpPr txBox="1"/>
          <p:nvPr/>
        </p:nvSpPr>
        <p:spPr>
          <a:xfrm>
            <a:off x="6858000" y="301294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680" dirty="0"/>
          </a:p>
        </p:txBody>
      </p:sp>
      <p:sp>
        <p:nvSpPr>
          <p:cNvPr id="97" name="Text 94"/>
          <p:cNvSpPr txBox="1"/>
          <p:nvPr/>
        </p:nvSpPr>
        <p:spPr>
          <a:xfrm>
            <a:off x="7589520" y="301294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98" name="Text 95"/>
          <p:cNvSpPr txBox="1"/>
          <p:nvPr/>
        </p:nvSpPr>
        <p:spPr>
          <a:xfrm>
            <a:off x="7955280" y="301294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9" name="Text 96"/>
          <p:cNvSpPr txBox="1"/>
          <p:nvPr/>
        </p:nvSpPr>
        <p:spPr>
          <a:xfrm>
            <a:off x="5879592" y="316382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680" dirty="0"/>
          </a:p>
        </p:txBody>
      </p:sp>
      <p:sp>
        <p:nvSpPr>
          <p:cNvPr id="100" name="Text 97"/>
          <p:cNvSpPr txBox="1"/>
          <p:nvPr/>
        </p:nvSpPr>
        <p:spPr>
          <a:xfrm>
            <a:off x="6858000" y="316382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680" dirty="0"/>
          </a:p>
        </p:txBody>
      </p:sp>
      <p:sp>
        <p:nvSpPr>
          <p:cNvPr id="101" name="Text 98"/>
          <p:cNvSpPr txBox="1"/>
          <p:nvPr/>
        </p:nvSpPr>
        <p:spPr>
          <a:xfrm>
            <a:off x="7589520" y="316382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2" name="Text 99"/>
          <p:cNvSpPr txBox="1"/>
          <p:nvPr/>
        </p:nvSpPr>
        <p:spPr>
          <a:xfrm>
            <a:off x="7955280" y="316382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3" name="Shape 100"/>
          <p:cNvSpPr/>
          <p:nvPr/>
        </p:nvSpPr>
        <p:spPr>
          <a:xfrm>
            <a:off x="58064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5879592" y="331470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680" dirty="0"/>
          </a:p>
        </p:txBody>
      </p:sp>
      <p:sp>
        <p:nvSpPr>
          <p:cNvPr id="105" name="Text 102"/>
          <p:cNvSpPr txBox="1"/>
          <p:nvPr/>
        </p:nvSpPr>
        <p:spPr>
          <a:xfrm>
            <a:off x="6858000" y="331470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680" dirty="0"/>
          </a:p>
        </p:txBody>
      </p:sp>
      <p:sp>
        <p:nvSpPr>
          <p:cNvPr id="106" name="Text 103"/>
          <p:cNvSpPr txBox="1"/>
          <p:nvPr/>
        </p:nvSpPr>
        <p:spPr>
          <a:xfrm>
            <a:off x="7589520" y="331470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7" name="Text 104"/>
          <p:cNvSpPr txBox="1"/>
          <p:nvPr/>
        </p:nvSpPr>
        <p:spPr>
          <a:xfrm>
            <a:off x="7955280" y="331470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5"/>
          <p:cNvSpPr txBox="1"/>
          <p:nvPr/>
        </p:nvSpPr>
        <p:spPr>
          <a:xfrm>
            <a:off x="5879592" y="346557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680" dirty="0"/>
          </a:p>
        </p:txBody>
      </p:sp>
      <p:sp>
        <p:nvSpPr>
          <p:cNvPr id="109" name="Text 106"/>
          <p:cNvSpPr txBox="1"/>
          <p:nvPr/>
        </p:nvSpPr>
        <p:spPr>
          <a:xfrm>
            <a:off x="6858000" y="346557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680" dirty="0"/>
          </a:p>
        </p:txBody>
      </p:sp>
      <p:sp>
        <p:nvSpPr>
          <p:cNvPr id="110" name="Text 107"/>
          <p:cNvSpPr txBox="1"/>
          <p:nvPr/>
        </p:nvSpPr>
        <p:spPr>
          <a:xfrm>
            <a:off x="7589520" y="346557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1" name="Text 108"/>
          <p:cNvSpPr txBox="1"/>
          <p:nvPr/>
        </p:nvSpPr>
        <p:spPr>
          <a:xfrm>
            <a:off x="7955280" y="346557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2" name="Shape 109"/>
          <p:cNvSpPr/>
          <p:nvPr/>
        </p:nvSpPr>
        <p:spPr>
          <a:xfrm>
            <a:off x="58064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5879592" y="361645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680" dirty="0"/>
          </a:p>
        </p:txBody>
      </p:sp>
      <p:sp>
        <p:nvSpPr>
          <p:cNvPr id="114" name="Text 111"/>
          <p:cNvSpPr txBox="1"/>
          <p:nvPr/>
        </p:nvSpPr>
        <p:spPr>
          <a:xfrm>
            <a:off x="6858000" y="361645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680" dirty="0"/>
          </a:p>
        </p:txBody>
      </p:sp>
      <p:sp>
        <p:nvSpPr>
          <p:cNvPr id="115" name="Text 112"/>
          <p:cNvSpPr txBox="1"/>
          <p:nvPr/>
        </p:nvSpPr>
        <p:spPr>
          <a:xfrm>
            <a:off x="7589520" y="361645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680" dirty="0"/>
          </a:p>
        </p:txBody>
      </p:sp>
      <p:sp>
        <p:nvSpPr>
          <p:cNvPr id="116" name="Text 113"/>
          <p:cNvSpPr txBox="1"/>
          <p:nvPr/>
        </p:nvSpPr>
        <p:spPr>
          <a:xfrm>
            <a:off x="7955280" y="361645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7" name="Text 114"/>
          <p:cNvSpPr txBox="1"/>
          <p:nvPr/>
        </p:nvSpPr>
        <p:spPr>
          <a:xfrm>
            <a:off x="5879592" y="376732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680" dirty="0"/>
          </a:p>
        </p:txBody>
      </p:sp>
      <p:sp>
        <p:nvSpPr>
          <p:cNvPr id="118" name="Text 115"/>
          <p:cNvSpPr txBox="1"/>
          <p:nvPr/>
        </p:nvSpPr>
        <p:spPr>
          <a:xfrm>
            <a:off x="6858000" y="376732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680" dirty="0"/>
          </a:p>
        </p:txBody>
      </p:sp>
      <p:sp>
        <p:nvSpPr>
          <p:cNvPr id="119" name="Text 116"/>
          <p:cNvSpPr txBox="1"/>
          <p:nvPr/>
        </p:nvSpPr>
        <p:spPr>
          <a:xfrm>
            <a:off x="7589520" y="376732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680" dirty="0"/>
          </a:p>
        </p:txBody>
      </p:sp>
      <p:sp>
        <p:nvSpPr>
          <p:cNvPr id="120" name="Text 117"/>
          <p:cNvSpPr txBox="1"/>
          <p:nvPr/>
        </p:nvSpPr>
        <p:spPr>
          <a:xfrm>
            <a:off x="7955280" y="376732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21" name="Shape 118"/>
          <p:cNvSpPr/>
          <p:nvPr/>
        </p:nvSpPr>
        <p:spPr>
          <a:xfrm>
            <a:off x="5806440" y="3918204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5879592" y="391820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680" dirty="0"/>
          </a:p>
        </p:txBody>
      </p:sp>
      <p:sp>
        <p:nvSpPr>
          <p:cNvPr id="123" name="Text 120"/>
          <p:cNvSpPr txBox="1"/>
          <p:nvPr/>
        </p:nvSpPr>
        <p:spPr>
          <a:xfrm>
            <a:off x="6858000" y="391820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4" name="Text 121"/>
          <p:cNvSpPr txBox="1"/>
          <p:nvPr/>
        </p:nvSpPr>
        <p:spPr>
          <a:xfrm>
            <a:off x="7589520" y="391820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5" name="Text 122"/>
          <p:cNvSpPr txBox="1"/>
          <p:nvPr/>
        </p:nvSpPr>
        <p:spPr>
          <a:xfrm>
            <a:off x="7955280" y="391820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</a:t>
            </a:r>
            <a:endParaRPr lang="en-US" sz="680" dirty="0"/>
          </a:p>
        </p:txBody>
      </p:sp>
      <p:sp>
        <p:nvSpPr>
          <p:cNvPr id="126" name="Text 123"/>
          <p:cNvSpPr txBox="1"/>
          <p:nvPr/>
        </p:nvSpPr>
        <p:spPr>
          <a:xfrm>
            <a:off x="5879592" y="406908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NowBookIt</a:t>
            </a:r>
            <a:endParaRPr lang="en-US" sz="680" dirty="0"/>
          </a:p>
        </p:txBody>
      </p:sp>
      <p:sp>
        <p:nvSpPr>
          <p:cNvPr id="127" name="Text 124"/>
          <p:cNvSpPr txBox="1"/>
          <p:nvPr/>
        </p:nvSpPr>
        <p:spPr>
          <a:xfrm>
            <a:off x="6858000" y="406908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8" name="Text 125"/>
          <p:cNvSpPr txBox="1"/>
          <p:nvPr/>
        </p:nvSpPr>
        <p:spPr>
          <a:xfrm>
            <a:off x="7589520" y="406908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9" name="Text 126"/>
          <p:cNvSpPr txBox="1"/>
          <p:nvPr/>
        </p:nvSpPr>
        <p:spPr>
          <a:xfrm>
            <a:off x="7955280" y="406908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0" name="Shape 127"/>
          <p:cNvSpPr/>
          <p:nvPr/>
        </p:nvSpPr>
        <p:spPr>
          <a:xfrm>
            <a:off x="5806440" y="421995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5879592" y="421995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</a:t>
            </a:r>
            <a:endParaRPr lang="en-US" sz="680" dirty="0"/>
          </a:p>
        </p:txBody>
      </p:sp>
      <p:sp>
        <p:nvSpPr>
          <p:cNvPr id="132" name="Text 129"/>
          <p:cNvSpPr txBox="1"/>
          <p:nvPr/>
        </p:nvSpPr>
        <p:spPr>
          <a:xfrm>
            <a:off x="6858000" y="421995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3" name="Text 130"/>
          <p:cNvSpPr txBox="1"/>
          <p:nvPr/>
        </p:nvSpPr>
        <p:spPr>
          <a:xfrm>
            <a:off x="7589520" y="421995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680" dirty="0"/>
          </a:p>
        </p:txBody>
      </p:sp>
      <p:sp>
        <p:nvSpPr>
          <p:cNvPr id="134" name="Text 131"/>
          <p:cNvSpPr txBox="1"/>
          <p:nvPr/>
        </p:nvSpPr>
        <p:spPr>
          <a:xfrm>
            <a:off x="7955280" y="421995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5" name="Shape 132"/>
          <p:cNvSpPr/>
          <p:nvPr/>
        </p:nvSpPr>
        <p:spPr>
          <a:xfrm>
            <a:off x="88011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6" name="Text 133"/>
          <p:cNvSpPr txBox="1"/>
          <p:nvPr/>
        </p:nvSpPr>
        <p:spPr>
          <a:xfrm>
            <a:off x="89656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ACCOUNTS — PS WORK BUILT IN</a:t>
            </a:r>
            <a:endParaRPr lang="en-US" sz="950" dirty="0"/>
          </a:p>
        </p:txBody>
      </p:sp>
      <p:sp>
        <p:nvSpPr>
          <p:cNvPr id="137" name="Text 134"/>
          <p:cNvSpPr txBox="1"/>
          <p:nvPr/>
        </p:nvSpPr>
        <p:spPr>
          <a:xfrm>
            <a:off x="8965692" y="239572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endParaRPr lang="en-US" sz="560" dirty="0"/>
          </a:p>
        </p:txBody>
      </p:sp>
      <p:sp>
        <p:nvSpPr>
          <p:cNvPr id="138" name="Text 135"/>
          <p:cNvSpPr txBox="1"/>
          <p:nvPr/>
        </p:nvSpPr>
        <p:spPr>
          <a:xfrm>
            <a:off x="9852660" y="239572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139" name="Text 136"/>
          <p:cNvSpPr txBox="1"/>
          <p:nvPr/>
        </p:nvSpPr>
        <p:spPr>
          <a:xfrm>
            <a:off x="10264140" y="23957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CHG.</a:t>
            </a:r>
            <a:endParaRPr lang="en-US" sz="560" dirty="0"/>
          </a:p>
        </p:txBody>
      </p:sp>
      <p:sp>
        <p:nvSpPr>
          <p:cNvPr id="140" name="Text 137"/>
          <p:cNvSpPr txBox="1"/>
          <p:nvPr/>
        </p:nvSpPr>
        <p:spPr>
          <a:xfrm>
            <a:off x="10721340" y="23957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NON-CHG.</a:t>
            </a:r>
            <a:endParaRPr lang="en-US" sz="560" dirty="0"/>
          </a:p>
        </p:txBody>
      </p:sp>
      <p:sp>
        <p:nvSpPr>
          <p:cNvPr id="141" name="Text 138"/>
          <p:cNvSpPr txBox="1"/>
          <p:nvPr/>
        </p:nvSpPr>
        <p:spPr>
          <a:xfrm>
            <a:off x="11087100" y="2395728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142" name="Text 139"/>
          <p:cNvSpPr txBox="1"/>
          <p:nvPr/>
        </p:nvSpPr>
        <p:spPr>
          <a:xfrm>
            <a:off x="8965692" y="256032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</a:t>
            </a:r>
            <a:endParaRPr lang="en-US" sz="680" dirty="0"/>
          </a:p>
        </p:txBody>
      </p:sp>
      <p:sp>
        <p:nvSpPr>
          <p:cNvPr id="143" name="Text 140"/>
          <p:cNvSpPr txBox="1"/>
          <p:nvPr/>
        </p:nvSpPr>
        <p:spPr>
          <a:xfrm>
            <a:off x="9852660" y="256032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21.5h</a:t>
            </a:r>
            <a:endParaRPr lang="en-US" sz="680" dirty="0"/>
          </a:p>
        </p:txBody>
      </p:sp>
      <p:sp>
        <p:nvSpPr>
          <p:cNvPr id="144" name="Text 141"/>
          <p:cNvSpPr txBox="1"/>
          <p:nvPr/>
        </p:nvSpPr>
        <p:spPr>
          <a:xfrm>
            <a:off x="10264140" y="256032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45" name="Text 142"/>
          <p:cNvSpPr txBox="1"/>
          <p:nvPr/>
        </p:nvSpPr>
        <p:spPr>
          <a:xfrm>
            <a:off x="10721340" y="256032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680" dirty="0"/>
          </a:p>
        </p:txBody>
      </p:sp>
      <p:sp>
        <p:nvSpPr>
          <p:cNvPr id="146" name="Text 143"/>
          <p:cNvSpPr txBox="1"/>
          <p:nvPr/>
        </p:nvSpPr>
        <p:spPr>
          <a:xfrm>
            <a:off x="11087100" y="256032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$2,700</a:t>
            </a:r>
            <a:endParaRPr lang="en-US" sz="680" dirty="0"/>
          </a:p>
        </p:txBody>
      </p:sp>
      <p:sp>
        <p:nvSpPr>
          <p:cNvPr id="147" name="Shape 144"/>
          <p:cNvSpPr/>
          <p:nvPr/>
        </p:nvSpPr>
        <p:spPr>
          <a:xfrm>
            <a:off x="88925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8965692" y="271119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Solotel</a:t>
            </a:r>
            <a:endParaRPr lang="en-US" sz="680" dirty="0"/>
          </a:p>
        </p:txBody>
      </p:sp>
      <p:sp>
        <p:nvSpPr>
          <p:cNvPr id="149" name="Text 146"/>
          <p:cNvSpPr txBox="1"/>
          <p:nvPr/>
        </p:nvSpPr>
        <p:spPr>
          <a:xfrm>
            <a:off x="9852660" y="271119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0" name="Text 147"/>
          <p:cNvSpPr txBox="1"/>
          <p:nvPr/>
        </p:nvSpPr>
        <p:spPr>
          <a:xfrm>
            <a:off x="10264140" y="271119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1" name="Text 148"/>
          <p:cNvSpPr txBox="1"/>
          <p:nvPr/>
        </p:nvSpPr>
        <p:spPr>
          <a:xfrm>
            <a:off x="10721340" y="271119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2" name="Text 149"/>
          <p:cNvSpPr txBox="1"/>
          <p:nvPr/>
        </p:nvSpPr>
        <p:spPr>
          <a:xfrm>
            <a:off x="11087100" y="271119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3" name="Text 150"/>
          <p:cNvSpPr txBox="1"/>
          <p:nvPr/>
        </p:nvSpPr>
        <p:spPr>
          <a:xfrm>
            <a:off x="8965692" y="286207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Trader House</a:t>
            </a:r>
            <a:endParaRPr lang="en-US" sz="680" dirty="0"/>
          </a:p>
        </p:txBody>
      </p:sp>
      <p:sp>
        <p:nvSpPr>
          <p:cNvPr id="154" name="Text 151"/>
          <p:cNvSpPr txBox="1"/>
          <p:nvPr/>
        </p:nvSpPr>
        <p:spPr>
          <a:xfrm>
            <a:off x="9852660" y="286207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5" name="Text 152"/>
          <p:cNvSpPr txBox="1"/>
          <p:nvPr/>
        </p:nvSpPr>
        <p:spPr>
          <a:xfrm>
            <a:off x="10264140" y="286207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6" name="Text 153"/>
          <p:cNvSpPr txBox="1"/>
          <p:nvPr/>
        </p:nvSpPr>
        <p:spPr>
          <a:xfrm>
            <a:off x="10721340" y="286207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7" name="Text 154"/>
          <p:cNvSpPr txBox="1"/>
          <p:nvPr/>
        </p:nvSpPr>
        <p:spPr>
          <a:xfrm>
            <a:off x="11087100" y="286207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8" name="Shape 155"/>
          <p:cNvSpPr/>
          <p:nvPr/>
        </p:nvSpPr>
        <p:spPr>
          <a:xfrm>
            <a:off x="88925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8965692" y="301294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Locals Co</a:t>
            </a:r>
            <a:endParaRPr lang="en-US" sz="680" dirty="0"/>
          </a:p>
        </p:txBody>
      </p:sp>
      <p:sp>
        <p:nvSpPr>
          <p:cNvPr id="160" name="Text 157"/>
          <p:cNvSpPr txBox="1"/>
          <p:nvPr/>
        </p:nvSpPr>
        <p:spPr>
          <a:xfrm>
            <a:off x="9852660" y="301294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1" name="Text 158"/>
          <p:cNvSpPr txBox="1"/>
          <p:nvPr/>
        </p:nvSpPr>
        <p:spPr>
          <a:xfrm>
            <a:off x="10264140" y="301294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2" name="Text 159"/>
          <p:cNvSpPr txBox="1"/>
          <p:nvPr/>
        </p:nvSpPr>
        <p:spPr>
          <a:xfrm>
            <a:off x="10721340" y="301294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3" name="Text 160"/>
          <p:cNvSpPr txBox="1"/>
          <p:nvPr/>
        </p:nvSpPr>
        <p:spPr>
          <a:xfrm>
            <a:off x="11087100" y="301294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4" name="Text 161"/>
          <p:cNvSpPr txBox="1"/>
          <p:nvPr/>
        </p:nvSpPr>
        <p:spPr>
          <a:xfrm>
            <a:off x="8965692" y="3163824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HHG</a:t>
            </a:r>
            <a:endParaRPr lang="en-US" sz="680" dirty="0"/>
          </a:p>
        </p:txBody>
      </p:sp>
      <p:sp>
        <p:nvSpPr>
          <p:cNvPr id="165" name="Text 162"/>
          <p:cNvSpPr txBox="1"/>
          <p:nvPr/>
        </p:nvSpPr>
        <p:spPr>
          <a:xfrm>
            <a:off x="9852660" y="316382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6" name="Text 163"/>
          <p:cNvSpPr txBox="1"/>
          <p:nvPr/>
        </p:nvSpPr>
        <p:spPr>
          <a:xfrm>
            <a:off x="10264140" y="3163824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7" name="Text 164"/>
          <p:cNvSpPr txBox="1"/>
          <p:nvPr/>
        </p:nvSpPr>
        <p:spPr>
          <a:xfrm>
            <a:off x="10721340" y="3163824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8" name="Text 165"/>
          <p:cNvSpPr txBox="1"/>
          <p:nvPr/>
        </p:nvSpPr>
        <p:spPr>
          <a:xfrm>
            <a:off x="11087100" y="3163824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9" name="Shape 166"/>
          <p:cNvSpPr/>
          <p:nvPr/>
        </p:nvSpPr>
        <p:spPr>
          <a:xfrm>
            <a:off x="88925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8965692" y="331470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Lucas Collective</a:t>
            </a:r>
            <a:endParaRPr lang="en-US" sz="680" dirty="0"/>
          </a:p>
        </p:txBody>
      </p:sp>
      <p:sp>
        <p:nvSpPr>
          <p:cNvPr id="171" name="Text 168"/>
          <p:cNvSpPr txBox="1"/>
          <p:nvPr/>
        </p:nvSpPr>
        <p:spPr>
          <a:xfrm>
            <a:off x="9852660" y="331470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2" name="Text 169"/>
          <p:cNvSpPr txBox="1"/>
          <p:nvPr/>
        </p:nvSpPr>
        <p:spPr>
          <a:xfrm>
            <a:off x="10264140" y="331470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3" name="Text 170"/>
          <p:cNvSpPr txBox="1"/>
          <p:nvPr/>
        </p:nvSpPr>
        <p:spPr>
          <a:xfrm>
            <a:off x="10721340" y="331470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4" name="Text 171"/>
          <p:cNvSpPr txBox="1"/>
          <p:nvPr/>
        </p:nvSpPr>
        <p:spPr>
          <a:xfrm>
            <a:off x="11087100" y="331470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5" name="Text 172"/>
          <p:cNvSpPr txBox="1"/>
          <p:nvPr/>
        </p:nvSpPr>
        <p:spPr>
          <a:xfrm>
            <a:off x="8965692" y="346557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Liquor Barons</a:t>
            </a:r>
            <a:endParaRPr lang="en-US" sz="680" dirty="0"/>
          </a:p>
        </p:txBody>
      </p:sp>
      <p:sp>
        <p:nvSpPr>
          <p:cNvPr id="176" name="Text 173"/>
          <p:cNvSpPr txBox="1"/>
          <p:nvPr/>
        </p:nvSpPr>
        <p:spPr>
          <a:xfrm>
            <a:off x="9852660" y="346557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7" name="Text 174"/>
          <p:cNvSpPr txBox="1"/>
          <p:nvPr/>
        </p:nvSpPr>
        <p:spPr>
          <a:xfrm>
            <a:off x="10264140" y="346557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8" name="Text 175"/>
          <p:cNvSpPr txBox="1"/>
          <p:nvPr/>
        </p:nvSpPr>
        <p:spPr>
          <a:xfrm>
            <a:off x="10721340" y="346557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9" name="Text 176"/>
          <p:cNvSpPr txBox="1"/>
          <p:nvPr/>
        </p:nvSpPr>
        <p:spPr>
          <a:xfrm>
            <a:off x="11087100" y="346557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0" name="Shape 177"/>
          <p:cNvSpPr/>
          <p:nvPr/>
        </p:nvSpPr>
        <p:spPr>
          <a:xfrm>
            <a:off x="88925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81" name="Text 178"/>
          <p:cNvSpPr txBox="1"/>
          <p:nvPr/>
        </p:nvSpPr>
        <p:spPr>
          <a:xfrm>
            <a:off x="8965692" y="361645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</a:t>
            </a:r>
            <a:endParaRPr lang="en-US" sz="680" dirty="0"/>
          </a:p>
        </p:txBody>
      </p:sp>
      <p:sp>
        <p:nvSpPr>
          <p:cNvPr id="182" name="Text 179"/>
          <p:cNvSpPr txBox="1"/>
          <p:nvPr/>
        </p:nvSpPr>
        <p:spPr>
          <a:xfrm>
            <a:off x="9852660" y="361645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3" name="Text 180"/>
          <p:cNvSpPr txBox="1"/>
          <p:nvPr/>
        </p:nvSpPr>
        <p:spPr>
          <a:xfrm>
            <a:off x="10264140" y="361645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4" name="Text 181"/>
          <p:cNvSpPr txBox="1"/>
          <p:nvPr/>
        </p:nvSpPr>
        <p:spPr>
          <a:xfrm>
            <a:off x="10721340" y="361645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5" name="Text 182"/>
          <p:cNvSpPr txBox="1"/>
          <p:nvPr/>
        </p:nvSpPr>
        <p:spPr>
          <a:xfrm>
            <a:off x="11087100" y="361645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6" name="Text 183"/>
          <p:cNvSpPr txBox="1"/>
          <p:nvPr/>
        </p:nvSpPr>
        <p:spPr>
          <a:xfrm>
            <a:off x="8965692" y="376732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Perks Hospitality</a:t>
            </a:r>
            <a:endParaRPr lang="en-US" sz="680" dirty="0"/>
          </a:p>
        </p:txBody>
      </p:sp>
      <p:sp>
        <p:nvSpPr>
          <p:cNvPr id="187" name="Text 184"/>
          <p:cNvSpPr txBox="1"/>
          <p:nvPr/>
        </p:nvSpPr>
        <p:spPr>
          <a:xfrm>
            <a:off x="9852660" y="376732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8" name="Text 185"/>
          <p:cNvSpPr txBox="1"/>
          <p:nvPr/>
        </p:nvSpPr>
        <p:spPr>
          <a:xfrm>
            <a:off x="10264140" y="376732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9" name="Text 186"/>
          <p:cNvSpPr txBox="1"/>
          <p:nvPr/>
        </p:nvSpPr>
        <p:spPr>
          <a:xfrm>
            <a:off x="10721340" y="376732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0" name="Text 187"/>
          <p:cNvSpPr txBox="1"/>
          <p:nvPr/>
        </p:nvSpPr>
        <p:spPr>
          <a:xfrm>
            <a:off x="11087100" y="376732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1" name="Shape 188"/>
          <p:cNvSpPr/>
          <p:nvPr/>
        </p:nvSpPr>
        <p:spPr>
          <a:xfrm>
            <a:off x="5715000" y="4727448"/>
            <a:ext cx="606247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2" name="Text 189"/>
          <p:cNvSpPr txBox="1"/>
          <p:nvPr/>
        </p:nvSpPr>
        <p:spPr>
          <a:xfrm>
            <a:off x="5916168" y="4837176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93" name="Text 190"/>
          <p:cNvSpPr txBox="1"/>
          <p:nvPr/>
        </p:nvSpPr>
        <p:spPr>
          <a:xfrm>
            <a:off x="5916168" y="5148072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 on its P&amp;L,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the shortfall is partner and key-account work we don't charge for — the billable, non-chargeable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Q4's hidden work so far: 20h, $3,000 of unrecognised PS revenue.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AVC's 9.2 upgrades (18h, $2,700) and H&amp;L Pay activations (2h, $300). 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renegotiate, every non-chargeable hour needs its partner or account,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these tables total the revenue PS gives away against what each relationship pays.</a:t>
            </a:r>
            <a:endParaRPr lang="en-US" sz="900" dirty="0"/>
          </a:p>
        </p:txBody>
      </p:sp>
      <p:sp>
        <p:nvSpPr>
          <p:cNvPr id="194" name="Shape 191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95" name="Text 192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WON VS INVOICED BY MONTH · 2026   </a:t>
            </a:r>
            <a:pPr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series live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INVOICE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$241k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the 86 deals won with software MRR in 2026 have no row on the register · Oscars Group is $155k of it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$1.31M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276 logos · MRR movement register, 26 Oct · HubSpot churn object stopped being maintained after February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 · Q4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-$8.9k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to 25 Oct · new $3.8k − churn $10.5k − contraction $2.2k − credits $0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9765792" y="4352544"/>
            <a:ext cx="1664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STATUS · 26 OCT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6748272" y="43525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8138160" y="435254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8705088" y="435254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435254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11448288" y="4352544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6748272" y="453542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Hotels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8138160" y="4535424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8705088" y="4535424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9281160" y="453542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9765792" y="4535424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· 49 sites · live mid-Jan</a:t>
            </a:r>
            <a:endParaRPr lang="en-US" sz="680" dirty="0"/>
          </a:p>
        </p:txBody>
      </p:sp>
      <p:sp>
        <p:nvSpPr>
          <p:cNvPr id="43" name="Text 40"/>
          <p:cNvSpPr txBox="1"/>
          <p:nvPr/>
        </p:nvSpPr>
        <p:spPr>
          <a:xfrm>
            <a:off x="11448288" y="45354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5" name="Text 42"/>
          <p:cNvSpPr txBox="1"/>
          <p:nvPr/>
        </p:nvSpPr>
        <p:spPr>
          <a:xfrm>
            <a:off x="6748272" y="4710989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Mt Henry Tavern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8138160" y="4710989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8705088" y="4710989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$905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9281160" y="4710989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9765792" y="4710989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Registration changeover</a:t>
            </a:r>
            <a:endParaRPr lang="en-US" sz="680" dirty="0"/>
          </a:p>
        </p:txBody>
      </p:sp>
      <p:sp>
        <p:nvSpPr>
          <p:cNvPr id="50" name="Text 47"/>
          <p:cNvSpPr txBox="1"/>
          <p:nvPr/>
        </p:nvSpPr>
        <p:spPr>
          <a:xfrm>
            <a:off x="11448288" y="4710989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52" name="Text 49"/>
          <p:cNvSpPr txBox="1"/>
          <p:nvPr/>
        </p:nvSpPr>
        <p:spPr>
          <a:xfrm>
            <a:off x="6748272" y="488655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Caves House Hotel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8138160" y="4886554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8705088" y="4886554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$669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9281160" y="488655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765792" y="4886554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 last qtr · to close out</a:t>
            </a:r>
            <a:endParaRPr lang="en-US" sz="680" dirty="0"/>
          </a:p>
        </p:txBody>
      </p:sp>
      <p:sp>
        <p:nvSpPr>
          <p:cNvPr id="57" name="Text 54"/>
          <p:cNvSpPr txBox="1"/>
          <p:nvPr/>
        </p:nvSpPr>
        <p:spPr>
          <a:xfrm>
            <a:off x="11448288" y="488655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748272" y="506211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Pier Hotel - Pt Lincoln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8138160" y="506211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8705088" y="506211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$648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281160" y="506211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765792" y="5062118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late Nov · live ~23 Nov</a:t>
            </a:r>
            <a:endParaRPr lang="en-US" sz="680" dirty="0"/>
          </a:p>
        </p:txBody>
      </p:sp>
      <p:sp>
        <p:nvSpPr>
          <p:cNvPr id="64" name="Text 61"/>
          <p:cNvSpPr txBox="1"/>
          <p:nvPr/>
        </p:nvSpPr>
        <p:spPr>
          <a:xfrm>
            <a:off x="11448288" y="506211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6" name="Text 63"/>
          <p:cNvSpPr txBox="1"/>
          <p:nvPr/>
        </p:nvSpPr>
        <p:spPr>
          <a:xfrm>
            <a:off x="6748272" y="5237683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Iris Pavilion</a:t>
            </a:r>
            <a:endParaRPr lang="en-US" sz="750" dirty="0"/>
          </a:p>
        </p:txBody>
      </p:sp>
      <p:sp>
        <p:nvSpPr>
          <p:cNvPr id="67" name="Text 64"/>
          <p:cNvSpPr txBox="1"/>
          <p:nvPr/>
        </p:nvSpPr>
        <p:spPr>
          <a:xfrm>
            <a:off x="8138160" y="5237683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$7k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705088" y="5237683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$623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281160" y="5237683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9765792" y="5237683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Venue still building · ~Dec</a:t>
            </a:r>
            <a:endParaRPr lang="en-US" sz="680" dirty="0"/>
          </a:p>
        </p:txBody>
      </p:sp>
      <p:sp>
        <p:nvSpPr>
          <p:cNvPr id="71" name="Text 68"/>
          <p:cNvSpPr txBox="1"/>
          <p:nvPr/>
        </p:nvSpPr>
        <p:spPr>
          <a:xfrm>
            <a:off x="11448288" y="5237683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41324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138160" y="541324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8705088" y="541324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$475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9281160" y="541324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9765792" y="5413248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8" name="Text 75"/>
          <p:cNvSpPr txBox="1"/>
          <p:nvPr/>
        </p:nvSpPr>
        <p:spPr>
          <a:xfrm>
            <a:off x="11448288" y="541324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79" name="Text 76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6748272" y="5588813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Carolina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8138160" y="5588813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8705088" y="5588813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$474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281160" y="5588813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9765792" y="5588813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5" name="Text 82"/>
          <p:cNvSpPr txBox="1"/>
          <p:nvPr/>
        </p:nvSpPr>
        <p:spPr>
          <a:xfrm>
            <a:off x="11448288" y="5588813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87" name="Text 84"/>
          <p:cNvSpPr txBox="1"/>
          <p:nvPr/>
        </p:nvSpPr>
        <p:spPr>
          <a:xfrm>
            <a:off x="6748272" y="576437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Hotel Augusta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8138160" y="576437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8705088" y="576437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9281160" y="576437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9765792" y="5764378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11448288" y="576437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94" name="Text 91"/>
          <p:cNvSpPr txBox="1"/>
          <p:nvPr/>
        </p:nvSpPr>
        <p:spPr>
          <a:xfrm>
            <a:off x="6748272" y="593994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Star Hotel (Milton)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8138160" y="5939942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96" name="Text 93"/>
          <p:cNvSpPr txBox="1"/>
          <p:nvPr/>
        </p:nvSpPr>
        <p:spPr>
          <a:xfrm>
            <a:off x="8705088" y="5939942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$392</a:t>
            </a:r>
            <a:endParaRPr lang="en-US" sz="750" dirty="0"/>
          </a:p>
        </p:txBody>
      </p:sp>
      <p:sp>
        <p:nvSpPr>
          <p:cNvPr id="97" name="Text 94"/>
          <p:cNvSpPr txBox="1"/>
          <p:nvPr/>
        </p:nvSpPr>
        <p:spPr>
          <a:xfrm>
            <a:off x="9281160" y="593994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9765792" y="5939942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9" name="Text 96"/>
          <p:cNvSpPr txBox="1"/>
          <p:nvPr/>
        </p:nvSpPr>
        <p:spPr>
          <a:xfrm>
            <a:off x="11448288" y="593994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100" name="Text 9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6748272" y="6115507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Orient</a:t>
            </a:r>
            <a:endParaRPr lang="en-US" sz="750" dirty="0"/>
          </a:p>
        </p:txBody>
      </p:sp>
      <p:sp>
        <p:nvSpPr>
          <p:cNvPr id="102" name="Text 99"/>
          <p:cNvSpPr txBox="1"/>
          <p:nvPr/>
        </p:nvSpPr>
        <p:spPr>
          <a:xfrm>
            <a:off x="8138160" y="6115507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103" name="Text 100"/>
          <p:cNvSpPr txBox="1"/>
          <p:nvPr/>
        </p:nvSpPr>
        <p:spPr>
          <a:xfrm>
            <a:off x="8705088" y="6115507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9281160" y="6115507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105" name="Text 102"/>
          <p:cNvSpPr txBox="1"/>
          <p:nvPr/>
        </p:nvSpPr>
        <p:spPr>
          <a:xfrm>
            <a:off x="9765792" y="6115507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6" name="Text 103"/>
          <p:cNvSpPr txBox="1"/>
          <p:nvPr/>
        </p:nvSpPr>
        <p:spPr>
          <a:xfrm>
            <a:off x="11448288" y="6115507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107" name="Shape 104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8" name="Text 105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9" name="Text 106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has won $6,441 and invoiced $3,817.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MRR was invoiced 19–25 Oct. 22 expansion rows worth $2,159 sit on the register dated 1 Nov — Lucas Collective's 13 sites, Warooka, Stokehouse, the Royal Hotel — so November opens with them.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Churn: three more logos, Q4 now −$8.9k net.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 The Jetty Bribie ($345), Riverview Smithtown ($412) and Tattersalls ($332). Re-read on 26 Oct, the register's churn since Jan 2025 is $1.31M across 276 logos.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$241k of ARR is won with no row on the register.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the 86 deals that carried software MRR in 2026. Oscars Group is $155k of it: 49 sites, build over Dec–Jan for a mid-January go-live. Pier Hotel follows Terminus Morgan (live 26 Oct) around 23 Nov; Iris Pavilion waits on its building.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Oscars Group — across the line per PS Weekly 26 Oct: 49 sites (the HubSpot deal reads 19), build Dec–Jan, go-live mid-January. AVC new sites are excluded throughout — 17 deals worth $8,759 of 2026 software MRR, parked licences that are not counted in MRR or ARR. Eight more sit below the cut, worth $1.6k/mo.</a:t>
            </a:r>
            <a:endParaRPr lang="en-US" sz="850" dirty="0"/>
          </a:p>
        </p:txBody>
      </p:sp>
      <p:sp>
        <p:nvSpPr>
          <p:cNvPr id="110" name="Text 107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= monthly MRR × 12 · matched on debtor ID and venue name</a:t>
            </a:r>
            <a:endParaRPr lang="en-US" sz="750" dirty="0"/>
          </a:p>
        </p:txBody>
      </p:sp>
      <p:sp>
        <p:nvSpPr>
          <p:cNvPr id="111" name="Shape 108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closed-won deals (total_software_cost, AVC excluded) + MRR movement register (live, 26 Oct)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389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588 last week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21254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885846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5846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 : EMAIL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867558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2.2 : 1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2885846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3.2 : 1 last week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031029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195621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95621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TICKET AGE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177333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5195621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27 days last week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340803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05395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05395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FIRST RESPONSE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7487107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505395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46.8 hrs last week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650578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815170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15170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TIME TO CLOSE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796882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14.0 Days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9815170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8.6 days last week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11480" y="2240280"/>
            <a:ext cx="6583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12648" y="23500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vs CLOSED — WEEKLY, WITH NET MOVEMENT</a:t>
            </a:r>
            <a:endParaRPr lang="en-US" sz="1200" dirty="0"/>
          </a:p>
        </p:txBody>
      </p:sp>
      <p:graphicFrame>
        <p:nvGraphicFramePr>
          <p:cNvPr id="40" name="Chart 0" descr=""/>
          <p:cNvGraphicFramePr/>
          <p:nvPr/>
        </p:nvGraphicFramePr>
        <p:xfrm>
          <a:off x="548640" y="2624328"/>
          <a:ext cx="6309360" cy="3364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Shape 38"/>
          <p:cNvSpPr/>
          <p:nvPr/>
        </p:nvSpPr>
        <p:spPr>
          <a:xfrm>
            <a:off x="7178040" y="2240280"/>
            <a:ext cx="459943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7379208" y="2331720"/>
            <a:ext cx="4197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389 OPEN SIT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379208" y="2624328"/>
            <a:ext cx="3002758" cy="10972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4" name="Shape 41"/>
          <p:cNvSpPr/>
          <p:nvPr/>
        </p:nvSpPr>
        <p:spPr>
          <a:xfrm>
            <a:off x="10400254" y="2624328"/>
            <a:ext cx="629079" cy="109728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45" name="Shape 42"/>
          <p:cNvSpPr/>
          <p:nvPr/>
        </p:nvSpPr>
        <p:spPr>
          <a:xfrm>
            <a:off x="11047621" y="2624328"/>
            <a:ext cx="89606" cy="109728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6" name="Shape 43"/>
          <p:cNvSpPr/>
          <p:nvPr/>
        </p:nvSpPr>
        <p:spPr>
          <a:xfrm>
            <a:off x="11155515" y="2624328"/>
            <a:ext cx="402501" cy="109728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47" name="Shape 44"/>
          <p:cNvSpPr/>
          <p:nvPr/>
        </p:nvSpPr>
        <p:spPr>
          <a:xfrm>
            <a:off x="7379208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8" name="Shape 45"/>
          <p:cNvSpPr/>
          <p:nvPr/>
        </p:nvSpPr>
        <p:spPr>
          <a:xfrm>
            <a:off x="7379208" y="2843784"/>
            <a:ext cx="994410" cy="45720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379208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7406640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72%</a:t>
            </a:r>
            <a:endParaRPr lang="en-US" sz="580" dirty="0"/>
          </a:p>
        </p:txBody>
      </p:sp>
      <p:sp>
        <p:nvSpPr>
          <p:cNvPr id="51" name="Shape 48"/>
          <p:cNvSpPr/>
          <p:nvPr/>
        </p:nvSpPr>
        <p:spPr>
          <a:xfrm>
            <a:off x="8446770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2" name="Shape 49"/>
          <p:cNvSpPr/>
          <p:nvPr/>
        </p:nvSpPr>
        <p:spPr>
          <a:xfrm>
            <a:off x="8446770" y="2843784"/>
            <a:ext cx="994410" cy="45720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8446770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8474202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580" dirty="0"/>
          </a:p>
        </p:txBody>
      </p:sp>
      <p:sp>
        <p:nvSpPr>
          <p:cNvPr id="55" name="Shape 52"/>
          <p:cNvSpPr/>
          <p:nvPr/>
        </p:nvSpPr>
        <p:spPr>
          <a:xfrm>
            <a:off x="9514332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6" name="Shape 53"/>
          <p:cNvSpPr/>
          <p:nvPr/>
        </p:nvSpPr>
        <p:spPr>
          <a:xfrm>
            <a:off x="9514332" y="2843784"/>
            <a:ext cx="994410" cy="4572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514332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9541764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INTERNAL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endParaRPr lang="en-US" sz="580" dirty="0"/>
          </a:p>
        </p:txBody>
      </p:sp>
      <p:sp>
        <p:nvSpPr>
          <p:cNvPr id="59" name="Shape 56"/>
          <p:cNvSpPr/>
          <p:nvPr/>
        </p:nvSpPr>
        <p:spPr>
          <a:xfrm>
            <a:off x="10581894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10581894" y="2843784"/>
            <a:ext cx="994410" cy="45720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10581894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</a:t>
            </a:r>
            <a:endParaRPr lang="en-US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10609326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EXTERNAL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580" dirty="0"/>
          </a:p>
        </p:txBody>
      </p:sp>
      <p:sp>
        <p:nvSpPr>
          <p:cNvPr id="63" name="Shape 60"/>
          <p:cNvSpPr/>
          <p:nvPr/>
        </p:nvSpPr>
        <p:spPr>
          <a:xfrm>
            <a:off x="7178040" y="3776472"/>
            <a:ext cx="4599432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4" name="Text 61"/>
          <p:cNvSpPr txBox="1"/>
          <p:nvPr/>
        </p:nvSpPr>
        <p:spPr>
          <a:xfrm>
            <a:off x="7379208" y="388620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7379208" y="4197096"/>
            <a:ext cx="418795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8D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has beaten new three weeks running.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597 closed against 396 new this week — net −201, the biggest weekly fall in six months. Open is 389, down from 588.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256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Clearing old tickets pushed the averages up.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old voice tickets were bulk-closed on Monday, so average time to close rose from 8.6 to 14.0 days. What's left open is older too: median age 27 → 31 days.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response looks faster, on a thin base.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 against 46.8 hrs last week — but only email-answered tickets carry a response time (14% of new tickets), and ones still waiting aren't counted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 : email = new tickets by Source, phone vs email. First response = time to first agent email reply; phone and AI-agent tickets have none.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Support pipeline only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6342278" y="6510528"/>
            <a:ext cx="543519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6342278" y="6510528"/>
            <a:ext cx="54351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 for a sixth week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342278" y="6510528"/>
            <a:ext cx="543519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342278" y="6510528"/>
            <a:ext cx="54351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 for a sixth week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49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(▲7.5% WoW) · 193 PRs in Code · $657 spend, 30d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OCT MTD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1,234,279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1–26 Oct · October to 26 Oct, up from 329,436 at the 19 Oct capture; month totals only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92171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757123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559613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45720" cy="91440"/>
          </a:xfrm>
          <a:prstGeom prst="roundRect">
            <a:avLst>
              <a:gd name="adj" fmla="val 8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15,821</a:t>
            </a:r>
            <a:endParaRPr lang="en-US" sz="680" dirty="0"/>
          </a:p>
        </p:txBody>
      </p:sp>
      <p:sp>
        <p:nvSpPr>
          <p:cNvPr id="53" name="Text 51"/>
          <p:cNvSpPr txBox="1"/>
          <p:nvPr/>
        </p:nvSpPr>
        <p:spPr>
          <a:xfrm>
            <a:off x="5294376" y="281635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2816352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96,644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594360" y="296265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2084832" y="296997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057400" y="296265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3163824" y="296997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136392" y="296265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0" name="Shape 58"/>
          <p:cNvSpPr/>
          <p:nvPr/>
        </p:nvSpPr>
        <p:spPr>
          <a:xfrm>
            <a:off x="4242816" y="296997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215384" y="296265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99,693</a:t>
            </a:r>
            <a:endParaRPr lang="en-US" sz="680" dirty="0"/>
          </a:p>
        </p:txBody>
      </p:sp>
      <p:sp>
        <p:nvSpPr>
          <p:cNvPr id="62" name="Shape 60"/>
          <p:cNvSpPr/>
          <p:nvPr/>
        </p:nvSpPr>
        <p:spPr>
          <a:xfrm>
            <a:off x="5321808" y="2969971"/>
            <a:ext cx="996696" cy="1234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294376" y="296265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255,985</a:t>
            </a:r>
            <a:endParaRPr lang="en-US" sz="680" dirty="0"/>
          </a:p>
        </p:txBody>
      </p:sp>
      <p:sp>
        <p:nvSpPr>
          <p:cNvPr id="64" name="Text 62"/>
          <p:cNvSpPr txBox="1"/>
          <p:nvPr/>
        </p:nvSpPr>
        <p:spPr>
          <a:xfrm>
            <a:off x="6400800" y="296265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409,654</a:t>
            </a:r>
            <a:endParaRPr lang="en-US" sz="700" dirty="0"/>
          </a:p>
        </p:txBody>
      </p:sp>
      <p:sp>
        <p:nvSpPr>
          <p:cNvPr id="65" name="Text 63"/>
          <p:cNvSpPr txBox="1"/>
          <p:nvPr/>
        </p:nvSpPr>
        <p:spPr>
          <a:xfrm>
            <a:off x="594360" y="3108960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Daniel Maddern</a:t>
            </a:r>
            <a:endParaRPr lang="en-US" sz="720" dirty="0"/>
          </a:p>
        </p:txBody>
      </p:sp>
      <p:sp>
        <p:nvSpPr>
          <p:cNvPr id="66" name="Text 64"/>
          <p:cNvSpPr txBox="1"/>
          <p:nvPr/>
        </p:nvSpPr>
        <p:spPr>
          <a:xfrm>
            <a:off x="2057400" y="310896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7" name="Text 65"/>
          <p:cNvSpPr txBox="1"/>
          <p:nvPr/>
        </p:nvSpPr>
        <p:spPr>
          <a:xfrm>
            <a:off x="3136392" y="310896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8" name="Text 66"/>
          <p:cNvSpPr txBox="1"/>
          <p:nvPr/>
        </p:nvSpPr>
        <p:spPr>
          <a:xfrm>
            <a:off x="4215384" y="310896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5321808" y="3116275"/>
            <a:ext cx="996696" cy="123444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294376" y="310896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723,999</a:t>
            </a:r>
            <a:endParaRPr lang="en-US" sz="680" dirty="0"/>
          </a:p>
        </p:txBody>
      </p:sp>
      <p:sp>
        <p:nvSpPr>
          <p:cNvPr id="71" name="Text 69"/>
          <p:cNvSpPr txBox="1"/>
          <p:nvPr/>
        </p:nvSpPr>
        <p:spPr>
          <a:xfrm>
            <a:off x="6400800" y="3108960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723,999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594360" y="3255264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Mostafa Essa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2057400" y="325526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4" name="Text 72"/>
          <p:cNvSpPr txBox="1"/>
          <p:nvPr/>
        </p:nvSpPr>
        <p:spPr>
          <a:xfrm>
            <a:off x="3136392" y="325526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4215384" y="325526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6" name="Shape 74"/>
          <p:cNvSpPr/>
          <p:nvPr/>
        </p:nvSpPr>
        <p:spPr>
          <a:xfrm>
            <a:off x="5321808" y="3262579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294376" y="325526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100,487</a:t>
            </a:r>
            <a:endParaRPr lang="en-US" sz="680" dirty="0"/>
          </a:p>
        </p:txBody>
      </p:sp>
      <p:sp>
        <p:nvSpPr>
          <p:cNvPr id="78" name="Text 76"/>
          <p:cNvSpPr txBox="1"/>
          <p:nvPr/>
        </p:nvSpPr>
        <p:spPr>
          <a:xfrm>
            <a:off x="6400800" y="3255264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100,487</a:t>
            </a:r>
            <a:endParaRPr lang="en-US" sz="700" dirty="0"/>
          </a:p>
        </p:txBody>
      </p:sp>
      <p:sp>
        <p:nvSpPr>
          <p:cNvPr id="79" name="Text 77"/>
          <p:cNvSpPr txBox="1"/>
          <p:nvPr/>
        </p:nvSpPr>
        <p:spPr>
          <a:xfrm>
            <a:off x="594360" y="3401568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80" name="Shape 78"/>
          <p:cNvSpPr/>
          <p:nvPr/>
        </p:nvSpPr>
        <p:spPr>
          <a:xfrm>
            <a:off x="2084832" y="340888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057400" y="340156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82" name="Shape 80"/>
          <p:cNvSpPr/>
          <p:nvPr/>
        </p:nvSpPr>
        <p:spPr>
          <a:xfrm>
            <a:off x="3163824" y="340888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136392" y="340156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84" name="Shape 82"/>
          <p:cNvSpPr/>
          <p:nvPr/>
        </p:nvSpPr>
        <p:spPr>
          <a:xfrm>
            <a:off x="4242816" y="340888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215384" y="340156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19,047</a:t>
            </a:r>
            <a:endParaRPr lang="en-US" sz="680" dirty="0"/>
          </a:p>
        </p:txBody>
      </p:sp>
      <p:sp>
        <p:nvSpPr>
          <p:cNvPr id="86" name="Text 84"/>
          <p:cNvSpPr txBox="1"/>
          <p:nvPr/>
        </p:nvSpPr>
        <p:spPr>
          <a:xfrm>
            <a:off x="5294376" y="340156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7" name="Text 85"/>
          <p:cNvSpPr txBox="1"/>
          <p:nvPr/>
        </p:nvSpPr>
        <p:spPr>
          <a:xfrm>
            <a:off x="6400800" y="3401568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70,868</a:t>
            </a:r>
            <a:endParaRPr lang="en-US" sz="700" dirty="0"/>
          </a:p>
        </p:txBody>
      </p:sp>
      <p:sp>
        <p:nvSpPr>
          <p:cNvPr id="88" name="Text 86"/>
          <p:cNvSpPr txBox="1"/>
          <p:nvPr/>
        </p:nvSpPr>
        <p:spPr>
          <a:xfrm>
            <a:off x="594360" y="3547872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89" name="Shape 87"/>
          <p:cNvSpPr/>
          <p:nvPr/>
        </p:nvSpPr>
        <p:spPr>
          <a:xfrm>
            <a:off x="2084832" y="355518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2057400" y="354787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3163824" y="355518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136392" y="354787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4242816" y="355518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4215384" y="354787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24,443</a:t>
            </a:r>
            <a:endParaRPr lang="en-US" sz="680" dirty="0"/>
          </a:p>
        </p:txBody>
      </p:sp>
      <p:sp>
        <p:nvSpPr>
          <p:cNvPr id="95" name="Shape 93"/>
          <p:cNvSpPr/>
          <p:nvPr/>
        </p:nvSpPr>
        <p:spPr>
          <a:xfrm>
            <a:off x="5321808" y="355518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5294376" y="354787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5,382</a:t>
            </a:r>
            <a:endParaRPr lang="en-US" sz="680" dirty="0"/>
          </a:p>
        </p:txBody>
      </p:sp>
      <p:sp>
        <p:nvSpPr>
          <p:cNvPr id="97" name="Text 95"/>
          <p:cNvSpPr txBox="1"/>
          <p:nvPr/>
        </p:nvSpPr>
        <p:spPr>
          <a:xfrm>
            <a:off x="6400800" y="3547872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72,393</a:t>
            </a:r>
            <a:endParaRPr lang="en-US" sz="700" dirty="0"/>
          </a:p>
        </p:txBody>
      </p:sp>
      <p:sp>
        <p:nvSpPr>
          <p:cNvPr id="98" name="Text 96"/>
          <p:cNvSpPr txBox="1"/>
          <p:nvPr/>
        </p:nvSpPr>
        <p:spPr>
          <a:xfrm>
            <a:off x="594360" y="369417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99" name="Shape 97"/>
          <p:cNvSpPr/>
          <p:nvPr/>
        </p:nvSpPr>
        <p:spPr>
          <a:xfrm>
            <a:off x="2084832" y="370149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2057400" y="369417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3163824" y="370149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3136392" y="369417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4242816" y="370149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5384" y="369417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30,828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5321808" y="370149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294376" y="369417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43,988</a:t>
            </a:r>
            <a:endParaRPr lang="en-US" sz="680" dirty="0"/>
          </a:p>
        </p:txBody>
      </p:sp>
      <p:sp>
        <p:nvSpPr>
          <p:cNvPr id="107" name="Text 105"/>
          <p:cNvSpPr txBox="1"/>
          <p:nvPr/>
        </p:nvSpPr>
        <p:spPr>
          <a:xfrm>
            <a:off x="6400800" y="369417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111,992</a:t>
            </a:r>
            <a:endParaRPr lang="en-US" sz="700" dirty="0"/>
          </a:p>
        </p:txBody>
      </p:sp>
      <p:sp>
        <p:nvSpPr>
          <p:cNvPr id="108" name="Text 106"/>
          <p:cNvSpPr txBox="1"/>
          <p:nvPr/>
        </p:nvSpPr>
        <p:spPr>
          <a:xfrm>
            <a:off x="594360" y="3840480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109" name="Shape 107"/>
          <p:cNvSpPr/>
          <p:nvPr/>
        </p:nvSpPr>
        <p:spPr>
          <a:xfrm>
            <a:off x="2084832" y="3847795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2057400" y="384048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3163824" y="3847795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136392" y="384048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13" name="Shape 111"/>
          <p:cNvSpPr/>
          <p:nvPr/>
        </p:nvSpPr>
        <p:spPr>
          <a:xfrm>
            <a:off x="4242816" y="3847795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4215384" y="384048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17,516</a:t>
            </a:r>
            <a:endParaRPr lang="en-US" sz="680" dirty="0"/>
          </a:p>
        </p:txBody>
      </p:sp>
      <p:sp>
        <p:nvSpPr>
          <p:cNvPr id="115" name="Shape 113"/>
          <p:cNvSpPr/>
          <p:nvPr/>
        </p:nvSpPr>
        <p:spPr>
          <a:xfrm>
            <a:off x="5321808" y="3847795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294376" y="384048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8,154</a:t>
            </a:r>
            <a:endParaRPr lang="en-US" sz="680" dirty="0"/>
          </a:p>
        </p:txBody>
      </p:sp>
      <p:sp>
        <p:nvSpPr>
          <p:cNvPr id="117" name="Text 115"/>
          <p:cNvSpPr txBox="1"/>
          <p:nvPr/>
        </p:nvSpPr>
        <p:spPr>
          <a:xfrm>
            <a:off x="6400800" y="3840480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58,061</a:t>
            </a:r>
            <a:endParaRPr lang="en-US" sz="700" dirty="0"/>
          </a:p>
        </p:txBody>
      </p:sp>
      <p:sp>
        <p:nvSpPr>
          <p:cNvPr id="118" name="Text 116"/>
          <p:cNvSpPr txBox="1"/>
          <p:nvPr/>
        </p:nvSpPr>
        <p:spPr>
          <a:xfrm>
            <a:off x="594360" y="3986784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19" name="Text 117"/>
          <p:cNvSpPr txBox="1"/>
          <p:nvPr/>
        </p:nvSpPr>
        <p:spPr>
          <a:xfrm>
            <a:off x="2057400" y="398678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20" name="Shape 118"/>
          <p:cNvSpPr/>
          <p:nvPr/>
        </p:nvSpPr>
        <p:spPr>
          <a:xfrm>
            <a:off x="3163824" y="3994099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3136392" y="398678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22" name="Shape 120"/>
          <p:cNvSpPr/>
          <p:nvPr/>
        </p:nvSpPr>
        <p:spPr>
          <a:xfrm>
            <a:off x="4242816" y="3994099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15384" y="398678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23,286</a:t>
            </a:r>
            <a:endParaRPr lang="en-US" sz="680" dirty="0"/>
          </a:p>
        </p:txBody>
      </p:sp>
      <p:sp>
        <p:nvSpPr>
          <p:cNvPr id="124" name="Shape 122"/>
          <p:cNvSpPr/>
          <p:nvPr/>
        </p:nvSpPr>
        <p:spPr>
          <a:xfrm>
            <a:off x="5321808" y="3994099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5294376" y="398678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17,747</a:t>
            </a:r>
            <a:endParaRPr lang="en-US" sz="680" dirty="0"/>
          </a:p>
        </p:txBody>
      </p:sp>
      <p:sp>
        <p:nvSpPr>
          <p:cNvPr id="126" name="Text 124"/>
          <p:cNvSpPr txBox="1"/>
          <p:nvPr/>
        </p:nvSpPr>
        <p:spPr>
          <a:xfrm>
            <a:off x="6400800" y="3986784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83,892</a:t>
            </a:r>
            <a:endParaRPr lang="en-US" sz="700" dirty="0"/>
          </a:p>
        </p:txBody>
      </p:sp>
      <p:sp>
        <p:nvSpPr>
          <p:cNvPr id="127" name="Text 125"/>
          <p:cNvSpPr txBox="1"/>
          <p:nvPr/>
        </p:nvSpPr>
        <p:spPr>
          <a:xfrm>
            <a:off x="594360" y="4133088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084832" y="414040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2057400" y="413308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30" name="Shape 128"/>
          <p:cNvSpPr/>
          <p:nvPr/>
        </p:nvSpPr>
        <p:spPr>
          <a:xfrm>
            <a:off x="3163824" y="414040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3136392" y="413308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32" name="Shape 130"/>
          <p:cNvSpPr/>
          <p:nvPr/>
        </p:nvSpPr>
        <p:spPr>
          <a:xfrm>
            <a:off x="4242816" y="414040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4215384" y="413308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4,322</a:t>
            </a:r>
            <a:endParaRPr lang="en-US" sz="680" dirty="0"/>
          </a:p>
        </p:txBody>
      </p:sp>
      <p:sp>
        <p:nvSpPr>
          <p:cNvPr id="134" name="Shape 132"/>
          <p:cNvSpPr/>
          <p:nvPr/>
        </p:nvSpPr>
        <p:spPr>
          <a:xfrm>
            <a:off x="5321808" y="414040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5294376" y="413308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8,922</a:t>
            </a:r>
            <a:endParaRPr lang="en-US" sz="680" dirty="0"/>
          </a:p>
        </p:txBody>
      </p:sp>
      <p:sp>
        <p:nvSpPr>
          <p:cNvPr id="136" name="Text 134"/>
          <p:cNvSpPr txBox="1"/>
          <p:nvPr/>
        </p:nvSpPr>
        <p:spPr>
          <a:xfrm>
            <a:off x="6400800" y="4133088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43,092</a:t>
            </a:r>
            <a:endParaRPr lang="en-US" sz="700" dirty="0"/>
          </a:p>
        </p:txBody>
      </p:sp>
      <p:sp>
        <p:nvSpPr>
          <p:cNvPr id="137" name="Text 135"/>
          <p:cNvSpPr txBox="1"/>
          <p:nvPr/>
        </p:nvSpPr>
        <p:spPr>
          <a:xfrm>
            <a:off x="594360" y="4279392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38" name="Shape 136"/>
          <p:cNvSpPr/>
          <p:nvPr/>
        </p:nvSpPr>
        <p:spPr>
          <a:xfrm>
            <a:off x="2084832" y="428670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2057400" y="427939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40" name="Shape 138"/>
          <p:cNvSpPr/>
          <p:nvPr/>
        </p:nvSpPr>
        <p:spPr>
          <a:xfrm>
            <a:off x="3163824" y="428670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136392" y="427939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42" name="Shape 140"/>
          <p:cNvSpPr/>
          <p:nvPr/>
        </p:nvSpPr>
        <p:spPr>
          <a:xfrm>
            <a:off x="4242816" y="428670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215384" y="427939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11,891</a:t>
            </a:r>
            <a:endParaRPr lang="en-US" sz="680" dirty="0"/>
          </a:p>
        </p:txBody>
      </p:sp>
      <p:sp>
        <p:nvSpPr>
          <p:cNvPr id="144" name="Shape 142"/>
          <p:cNvSpPr/>
          <p:nvPr/>
        </p:nvSpPr>
        <p:spPr>
          <a:xfrm>
            <a:off x="5321808" y="428670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294376" y="427939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30,083</a:t>
            </a:r>
            <a:endParaRPr lang="en-US" sz="680" dirty="0"/>
          </a:p>
        </p:txBody>
      </p:sp>
      <p:sp>
        <p:nvSpPr>
          <p:cNvPr id="146" name="Text 144"/>
          <p:cNvSpPr txBox="1"/>
          <p:nvPr/>
        </p:nvSpPr>
        <p:spPr>
          <a:xfrm>
            <a:off x="6400800" y="4279392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58,551</a:t>
            </a:r>
            <a:endParaRPr lang="en-US" sz="700" dirty="0"/>
          </a:p>
        </p:txBody>
      </p:sp>
      <p:sp>
        <p:nvSpPr>
          <p:cNvPr id="147" name="Text 145"/>
          <p:cNvSpPr txBox="1"/>
          <p:nvPr/>
        </p:nvSpPr>
        <p:spPr>
          <a:xfrm>
            <a:off x="594360" y="442569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48" name="Shape 146"/>
          <p:cNvSpPr/>
          <p:nvPr/>
        </p:nvSpPr>
        <p:spPr>
          <a:xfrm>
            <a:off x="2084832" y="443301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2057400" y="442569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50" name="Shape 148"/>
          <p:cNvSpPr/>
          <p:nvPr/>
        </p:nvSpPr>
        <p:spPr>
          <a:xfrm>
            <a:off x="3163824" y="443301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3136392" y="442569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52" name="Shape 150"/>
          <p:cNvSpPr/>
          <p:nvPr/>
        </p:nvSpPr>
        <p:spPr>
          <a:xfrm>
            <a:off x="4242816" y="443301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4215384" y="442569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19,289</a:t>
            </a:r>
            <a:endParaRPr lang="en-US" sz="680" dirty="0"/>
          </a:p>
        </p:txBody>
      </p:sp>
      <p:sp>
        <p:nvSpPr>
          <p:cNvPr id="154" name="Shape 152"/>
          <p:cNvSpPr/>
          <p:nvPr/>
        </p:nvSpPr>
        <p:spPr>
          <a:xfrm>
            <a:off x="5321808" y="443301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5294376" y="442569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6,155</a:t>
            </a:r>
            <a:endParaRPr lang="en-US" sz="680" dirty="0"/>
          </a:p>
        </p:txBody>
      </p:sp>
      <p:sp>
        <p:nvSpPr>
          <p:cNvPr id="156" name="Text 154"/>
          <p:cNvSpPr txBox="1"/>
          <p:nvPr/>
        </p:nvSpPr>
        <p:spPr>
          <a:xfrm>
            <a:off x="6400800" y="442569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35,651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594360" y="4572000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94360" y="459943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59" name="Text 157"/>
          <p:cNvSpPr txBox="1"/>
          <p:nvPr/>
        </p:nvSpPr>
        <p:spPr>
          <a:xfrm>
            <a:off x="2057400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60" name="Text 158"/>
          <p:cNvSpPr txBox="1"/>
          <p:nvPr/>
        </p:nvSpPr>
        <p:spPr>
          <a:xfrm>
            <a:off x="3136392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61" name="Text 159"/>
          <p:cNvSpPr txBox="1"/>
          <p:nvPr/>
        </p:nvSpPr>
        <p:spPr>
          <a:xfrm>
            <a:off x="4215384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277,261</a:t>
            </a:r>
            <a:endParaRPr lang="en-US" sz="750" dirty="0"/>
          </a:p>
        </p:txBody>
      </p:sp>
      <p:sp>
        <p:nvSpPr>
          <p:cNvPr id="162" name="Text 160"/>
          <p:cNvSpPr txBox="1"/>
          <p:nvPr/>
        </p:nvSpPr>
        <p:spPr>
          <a:xfrm>
            <a:off x="5294376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1,234,279</a:t>
            </a:r>
            <a:endParaRPr lang="en-US" sz="750" dirty="0"/>
          </a:p>
        </p:txBody>
      </p:sp>
      <p:sp>
        <p:nvSpPr>
          <p:cNvPr id="163" name="Text 161"/>
          <p:cNvSpPr txBox="1"/>
          <p:nvPr/>
        </p:nvSpPr>
        <p:spPr>
          <a:xfrm>
            <a:off x="6400800" y="45994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2,033,091</a:t>
            </a:r>
            <a:endParaRPr lang="en-US" sz="750" dirty="0"/>
          </a:p>
        </p:txBody>
      </p:sp>
      <p:sp>
        <p:nvSpPr>
          <p:cNvPr id="164" name="Text 162"/>
          <p:cNvSpPr txBox="1"/>
          <p:nvPr/>
        </p:nvSpPr>
        <p:spPr>
          <a:xfrm>
            <a:off x="59436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2075688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2057400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7" name="Text 165"/>
          <p:cNvSpPr txBox="1"/>
          <p:nvPr/>
        </p:nvSpPr>
        <p:spPr>
          <a:xfrm>
            <a:off x="2057400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68" name="Shape 166"/>
          <p:cNvSpPr/>
          <p:nvPr/>
        </p:nvSpPr>
        <p:spPr>
          <a:xfrm>
            <a:off x="2477371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2459083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0" name="Text 168"/>
          <p:cNvSpPr txBox="1"/>
          <p:nvPr/>
        </p:nvSpPr>
        <p:spPr>
          <a:xfrm>
            <a:off x="2459083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71" name="Shape 169"/>
          <p:cNvSpPr/>
          <p:nvPr/>
        </p:nvSpPr>
        <p:spPr>
          <a:xfrm>
            <a:off x="2879054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2860766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3" name="Text 171"/>
          <p:cNvSpPr txBox="1"/>
          <p:nvPr/>
        </p:nvSpPr>
        <p:spPr>
          <a:xfrm>
            <a:off x="2860766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74" name="Shape 172"/>
          <p:cNvSpPr/>
          <p:nvPr/>
        </p:nvSpPr>
        <p:spPr>
          <a:xfrm>
            <a:off x="3280737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3262449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76" name="Text 174"/>
          <p:cNvSpPr txBox="1"/>
          <p:nvPr/>
        </p:nvSpPr>
        <p:spPr>
          <a:xfrm>
            <a:off x="3262449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77" name="Shape 175"/>
          <p:cNvSpPr/>
          <p:nvPr/>
        </p:nvSpPr>
        <p:spPr>
          <a:xfrm>
            <a:off x="3682419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3664131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9" name="Text 177"/>
          <p:cNvSpPr txBox="1"/>
          <p:nvPr/>
        </p:nvSpPr>
        <p:spPr>
          <a:xfrm>
            <a:off x="3664131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80" name="Shape 178"/>
          <p:cNvSpPr/>
          <p:nvPr/>
        </p:nvSpPr>
        <p:spPr>
          <a:xfrm>
            <a:off x="4084102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065814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82" name="Text 180"/>
          <p:cNvSpPr txBox="1"/>
          <p:nvPr/>
        </p:nvSpPr>
        <p:spPr>
          <a:xfrm>
            <a:off x="4065814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83" name="Shape 181"/>
          <p:cNvSpPr/>
          <p:nvPr/>
        </p:nvSpPr>
        <p:spPr>
          <a:xfrm>
            <a:off x="4485785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4467497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85" name="Text 183"/>
          <p:cNvSpPr txBox="1"/>
          <p:nvPr/>
        </p:nvSpPr>
        <p:spPr>
          <a:xfrm>
            <a:off x="4467497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86" name="Shape 184"/>
          <p:cNvSpPr/>
          <p:nvPr/>
        </p:nvSpPr>
        <p:spPr>
          <a:xfrm>
            <a:off x="4887468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4869180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88" name="Text 186"/>
          <p:cNvSpPr txBox="1"/>
          <p:nvPr/>
        </p:nvSpPr>
        <p:spPr>
          <a:xfrm>
            <a:off x="4869180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89" name="Shape 187"/>
          <p:cNvSpPr/>
          <p:nvPr/>
        </p:nvSpPr>
        <p:spPr>
          <a:xfrm>
            <a:off x="5289151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5270863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91" name="Text 189"/>
          <p:cNvSpPr txBox="1"/>
          <p:nvPr/>
        </p:nvSpPr>
        <p:spPr>
          <a:xfrm>
            <a:off x="5270863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92" name="Shape 190"/>
          <p:cNvSpPr/>
          <p:nvPr/>
        </p:nvSpPr>
        <p:spPr>
          <a:xfrm>
            <a:off x="5690834" y="4910328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5672546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94" name="Text 192"/>
          <p:cNvSpPr txBox="1"/>
          <p:nvPr/>
        </p:nvSpPr>
        <p:spPr>
          <a:xfrm>
            <a:off x="5672546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95" name="Shape 193"/>
          <p:cNvSpPr/>
          <p:nvPr/>
        </p:nvSpPr>
        <p:spPr>
          <a:xfrm>
            <a:off x="6092517" y="4910328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074229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97" name="Text 195"/>
          <p:cNvSpPr txBox="1"/>
          <p:nvPr/>
        </p:nvSpPr>
        <p:spPr>
          <a:xfrm>
            <a:off x="6074229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98" name="Shape 196"/>
          <p:cNvSpPr/>
          <p:nvPr/>
        </p:nvSpPr>
        <p:spPr>
          <a:xfrm>
            <a:off x="6494199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6475911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200" name="Text 198"/>
          <p:cNvSpPr txBox="1"/>
          <p:nvPr/>
        </p:nvSpPr>
        <p:spPr>
          <a:xfrm>
            <a:off x="6475911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201" name="Shape 199"/>
          <p:cNvSpPr/>
          <p:nvPr/>
        </p:nvSpPr>
        <p:spPr>
          <a:xfrm>
            <a:off x="6895882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202" name="Text 200"/>
          <p:cNvSpPr txBox="1"/>
          <p:nvPr/>
        </p:nvSpPr>
        <p:spPr>
          <a:xfrm>
            <a:off x="6877594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203" name="Text 201"/>
          <p:cNvSpPr txBox="1"/>
          <p:nvPr/>
        </p:nvSpPr>
        <p:spPr>
          <a:xfrm>
            <a:off x="6877594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204" name="Shape 202"/>
          <p:cNvSpPr/>
          <p:nvPr/>
        </p:nvSpPr>
        <p:spPr>
          <a:xfrm>
            <a:off x="7297565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205" name="Text 203"/>
          <p:cNvSpPr txBox="1"/>
          <p:nvPr/>
        </p:nvSpPr>
        <p:spPr>
          <a:xfrm>
            <a:off x="7279277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206" name="Text 204"/>
          <p:cNvSpPr txBox="1"/>
          <p:nvPr/>
        </p:nvSpPr>
        <p:spPr>
          <a:xfrm>
            <a:off x="7279277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207" name="Text 205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series ends w/c 06 Sep — later captures give month-to-date only · Nicolas Ibrahim (two accounts) and Daniel Maddern (four accounts) are combined here; Daniel Maddern is new to the capture, so Jul–Sep are unavailable for him, not zero</a:t>
            </a:r>
            <a:endParaRPr lang="en-US" sz="600" dirty="0"/>
          </a:p>
        </p:txBody>
      </p:sp>
      <p:sp>
        <p:nvSpPr>
          <p:cNvPr id="208" name="Shape 206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9" name="Text 207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210" name="Text 208"/>
          <p:cNvSpPr txBox="1"/>
          <p:nvPr/>
        </p:nvSpPr>
        <p:spPr>
          <a:xfrm>
            <a:off x="8275320" y="259689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~1140</a:t>
            </a:r>
            <a:endParaRPr lang="en-US" sz="2600" dirty="0"/>
          </a:p>
        </p:txBody>
      </p:sp>
      <p:sp>
        <p:nvSpPr>
          <p:cNvPr id="211" name="Text 209"/>
          <p:cNvSpPr txBox="1"/>
          <p:nvPr/>
        </p:nvSpPr>
        <p:spPr>
          <a:xfrm>
            <a:off x="9811512" y="2624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~1012 baseline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50" dirty="0"/>
          </a:p>
        </p:txBody>
      </p:sp>
      <p:sp>
        <p:nvSpPr>
          <p:cNvPr id="213" name="Text 211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+65</a:t>
            </a:r>
            <a:endParaRPr lang="en-US" sz="680" dirty="0"/>
          </a:p>
        </p:txBody>
      </p:sp>
      <p:sp>
        <p:nvSpPr>
          <p:cNvPr id="214" name="Text 212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~830/wk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50" dirty="0"/>
          </a:p>
        </p:txBody>
      </p:sp>
      <p:sp>
        <p:nvSpPr>
          <p:cNvPr id="216" name="Text 214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+5</a:t>
            </a:r>
            <a:endParaRPr lang="en-US" sz="680" dirty="0"/>
          </a:p>
        </p:txBody>
      </p:sp>
      <p:sp>
        <p:nvSpPr>
          <p:cNvPr id="217" name="Text 215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~168/wk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19" name="Text 217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20" name="Text 218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~23/wk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22" name="Text 220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23" name="Text 221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~22/wk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25" name="Text 223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26" name="Text 224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~18/wk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28" name="Text 226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29" name="Text 227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30" name="Text 228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31" name="Text 229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32" name="Text 230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~10/wk</a:t>
            </a:r>
            <a:endParaRPr lang="en-US" sz="750" dirty="0"/>
          </a:p>
        </p:txBody>
      </p:sp>
      <p:sp>
        <p:nvSpPr>
          <p:cNvPr id="233" name="Text 231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34" name="Text 232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35" name="Text 233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36" name="Text 234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750" dirty="0"/>
          </a:p>
        </p:txBody>
      </p:sp>
      <p:sp>
        <p:nvSpPr>
          <p:cNvPr id="237" name="Text 235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38" name="Text 236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39" name="Text 237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Mostafa Essa</a:t>
            </a:r>
            <a:endParaRPr lang="en-US" sz="750" dirty="0"/>
          </a:p>
        </p:txBody>
      </p:sp>
      <p:sp>
        <p:nvSpPr>
          <p:cNvPr id="240" name="Text 238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41" name="Text 239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42" name="Text 240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the 19 Oct capture · 4.9K sessions in 30 days, ▲149%</a:t>
            </a:r>
            <a:endParaRPr lang="en-US" sz="600" dirty="0"/>
          </a:p>
        </p:txBody>
      </p:sp>
      <p:sp>
        <p:nvSpPr>
          <p:cNvPr id="243" name="Shape 241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4" name="Text 242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45" name="Text 243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49 active weekly — up 7.5% on last week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code output has reached 1,234,279 lines to 26 Oct, nearly four times last week's 329,436 capture. Daniel Maddern's four accounts are 723,999 of it (59%) and Nicolas Ibrahim's two 255,985. Mostafa Essa enters at 100,487. 193 PRs in Code over 30 days, ▲60%; spend $657, ▼37%.</a:t>
            </a:r>
            <a:endParaRPr lang="en-US" sz="900" dirty="0"/>
          </a:p>
        </p:txBody>
      </p:sp>
      <p:sp>
        <p:nvSpPr>
          <p:cNvPr id="246" name="Shape 244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47" name="Text 245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console, 30d to 26 Oct (shared by Glynn Johnson) · daily/monthly actives and stickiness held at 19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2026-10-26T07:19:20Z</dcterms:created>
  <dcterms:modified xsi:type="dcterms:W3CDTF">2026-10-26T07:19:20Z</dcterms:modified>
</cp:coreProperties>
</file>