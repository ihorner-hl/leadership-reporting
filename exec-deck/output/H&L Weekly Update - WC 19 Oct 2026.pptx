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Won (HubSpot)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4077</c:v>
                </c:pt>
                <c:pt idx="1">
                  <c:v>7481</c:v>
                </c:pt>
                <c:pt idx="2">
                  <c:v>16726</c:v>
                </c:pt>
                <c:pt idx="3">
                  <c:v>3839</c:v>
                </c:pt>
                <c:pt idx="4">
                  <c:v>1967</c:v>
                </c:pt>
                <c:pt idx="5">
                  <c:v>12943</c:v>
                </c:pt>
                <c:pt idx="6">
                  <c:v>969</c:v>
                </c:pt>
                <c:pt idx="7">
                  <c:v>1935</c:v>
                </c:pt>
                <c:pt idx="8">
                  <c:v>8130</c:v>
                </c:pt>
                <c:pt idx="9">
                  <c:v>6441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(register)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2829</c:v>
                </c:pt>
                <c:pt idx="1">
                  <c:v>5205</c:v>
                </c:pt>
                <c:pt idx="2">
                  <c:v>5883</c:v>
                </c:pt>
                <c:pt idx="3">
                  <c:v>3463</c:v>
                </c:pt>
                <c:pt idx="4">
                  <c:v>5482</c:v>
                </c:pt>
                <c:pt idx="5">
                  <c:v>7087</c:v>
                </c:pt>
                <c:pt idx="6">
                  <c:v>4860</c:v>
                </c:pt>
                <c:pt idx="7">
                  <c:v>3700</c:v>
                </c:pt>
                <c:pt idx="8">
                  <c:v>6853</c:v>
                </c:pt>
                <c:pt idx="9">
                  <c:v>3817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19 October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26 Oct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— TARGETS CARRIED FORWARD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hardware $111k = 16% of the $715k OKR2 against a 27% pace mark — $12.0k this week, Bradford $10.3k of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new MRR $3.8k = 14% of OKR2 with nothing invoiced this week; three churned logos net the week −$1,148 and Q4 −$8.9k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3.7% — 11.5h of 311.6h; 10.5h chargeable, 1.0h non-chargeable; Q4 hidden work 20h = $3,000 unrecognised PS revenue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396 vs resolved 597 — backlog 588 → 389, third straight fall; 54 of the closes were one bulk close of September voice tickets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now six weeks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19 Oct capture — 40 of 51 active weekly, 14 daily; October code output 329,436 lines to 19 Oct;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Q4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1371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−$1,148 net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71998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Q4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+$12k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67299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7553858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(27%)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002536" y="27249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599432" y="272491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25 Oct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002536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044952" y="29443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904488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 WK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99432" y="29443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84648" y="29443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843016" y="29443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2944368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8211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02536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81528" y="329412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081528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48" name="Shape 46"/>
          <p:cNvSpPr/>
          <p:nvPr/>
        </p:nvSpPr>
        <p:spPr>
          <a:xfrm>
            <a:off x="3219602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3016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3904488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99432" y="318211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84648" y="318211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79592" y="3294126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879592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55" name="Shape 53"/>
          <p:cNvSpPr/>
          <p:nvPr/>
        </p:nvSpPr>
        <p:spPr>
          <a:xfrm>
            <a:off x="6022604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6480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830568" y="318211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12648" y="349758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002536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514600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81528" y="360959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609594"/>
            <a:ext cx="71323" cy="100584"/>
          </a:xfrm>
          <a:prstGeom prst="roundRect">
            <a:avLst>
              <a:gd name="adj" fmla="val 64103"/>
            </a:avLst>
          </a:prstGeom>
          <a:solidFill>
            <a:srgbClr val="B4552D"/>
          </a:solidFill>
          <a:ln/>
        </p:spPr>
      </p:sp>
      <p:sp>
        <p:nvSpPr>
          <p:cNvPr id="64" name="Shape 62"/>
          <p:cNvSpPr/>
          <p:nvPr/>
        </p:nvSpPr>
        <p:spPr>
          <a:xfrm>
            <a:off x="3219602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63016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3904488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99432" y="349758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184648" y="349758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879592" y="3609594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5879592" y="3609594"/>
            <a:ext cx="68031" cy="100584"/>
          </a:xfrm>
          <a:prstGeom prst="roundRect">
            <a:avLst>
              <a:gd name="adj" fmla="val 67205"/>
            </a:avLst>
          </a:prstGeom>
          <a:solidFill>
            <a:srgbClr val="B4552D"/>
          </a:solidFill>
          <a:ln/>
        </p:spPr>
      </p:sp>
      <p:sp>
        <p:nvSpPr>
          <p:cNvPr id="71" name="Shape 69"/>
          <p:cNvSpPr/>
          <p:nvPr/>
        </p:nvSpPr>
        <p:spPr>
          <a:xfrm>
            <a:off x="6022604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6480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30568" y="349758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+160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813048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2002536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2514600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$177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81528" y="3925062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3081528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0" name="Shape 78"/>
          <p:cNvSpPr/>
          <p:nvPr/>
        </p:nvSpPr>
        <p:spPr>
          <a:xfrm>
            <a:off x="3219602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63016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904488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599432" y="3813048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184648" y="3813048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$18k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879592" y="3925062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6" name="Shape 84"/>
          <p:cNvSpPr/>
          <p:nvPr/>
        </p:nvSpPr>
        <p:spPr>
          <a:xfrm>
            <a:off x="5879592" y="3925062"/>
            <a:ext cx="62362" cy="100584"/>
          </a:xfrm>
          <a:prstGeom prst="roundRect">
            <a:avLst>
              <a:gd name="adj" fmla="val 73314"/>
            </a:avLst>
          </a:prstGeom>
          <a:solidFill>
            <a:srgbClr val="B4552D"/>
          </a:solidFill>
          <a:ln/>
        </p:spPr>
      </p:sp>
      <p:sp>
        <p:nvSpPr>
          <p:cNvPr id="87" name="Shape 85"/>
          <p:cNvSpPr/>
          <p:nvPr/>
        </p:nvSpPr>
        <p:spPr>
          <a:xfrm>
            <a:off x="6022604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6480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11%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3813048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2648" y="4128516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2002536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2514600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81528" y="4240530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5" name="Shape 93"/>
          <p:cNvSpPr/>
          <p:nvPr/>
        </p:nvSpPr>
        <p:spPr>
          <a:xfrm>
            <a:off x="3081528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6" name="Shape 94"/>
          <p:cNvSpPr/>
          <p:nvPr/>
        </p:nvSpPr>
        <p:spPr>
          <a:xfrm>
            <a:off x="3219602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3016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3904488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4599432" y="4128516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5184648" y="4128516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879592" y="4240530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79592" y="4240530"/>
            <a:ext cx="85039" cy="100584"/>
          </a:xfrm>
          <a:prstGeom prst="roundRect">
            <a:avLst>
              <a:gd name="adj" fmla="val 53764"/>
            </a:avLst>
          </a:prstGeom>
          <a:solidFill>
            <a:srgbClr val="B4552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22604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46480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830568" y="4128516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+918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12648" y="4443984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2002536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2514600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$98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3081528" y="4555998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81528" y="4555998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219602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63016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3904488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599432" y="4443984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184648" y="4443984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$38k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879592" y="4555998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879592" y="4555998"/>
            <a:ext cx="39118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22604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46480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830568" y="4443984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+705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2648" y="475945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002536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2514600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3081528" y="487146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81528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219602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630168" y="475945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30" name="Text 128"/>
          <p:cNvSpPr txBox="1"/>
          <p:nvPr/>
        </p:nvSpPr>
        <p:spPr>
          <a:xfrm>
            <a:off x="3904488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4599432" y="475945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32" name="Text 130"/>
          <p:cNvSpPr txBox="1"/>
          <p:nvPr/>
        </p:nvSpPr>
        <p:spPr>
          <a:xfrm>
            <a:off x="5184648" y="475945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5843016" y="4759452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4" name="Text 132"/>
          <p:cNvSpPr txBox="1"/>
          <p:nvPr/>
        </p:nvSpPr>
        <p:spPr>
          <a:xfrm>
            <a:off x="6830568" y="475945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07492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7" name="Text 135"/>
          <p:cNvSpPr txBox="1"/>
          <p:nvPr/>
        </p:nvSpPr>
        <p:spPr>
          <a:xfrm>
            <a:off x="2002536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2514600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081528" y="518693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081528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219602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630168" y="507492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800" dirty="0"/>
          </a:p>
        </p:txBody>
      </p:sp>
      <p:sp>
        <p:nvSpPr>
          <p:cNvPr id="143" name="Text 141"/>
          <p:cNvSpPr txBox="1"/>
          <p:nvPr/>
        </p:nvSpPr>
        <p:spPr>
          <a:xfrm>
            <a:off x="3904488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599432" y="507492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184648" y="507492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5843016" y="5074920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30568" y="507492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12648" y="54269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2002536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51" name="Text 149"/>
          <p:cNvSpPr txBox="1"/>
          <p:nvPr/>
        </p:nvSpPr>
        <p:spPr>
          <a:xfrm>
            <a:off x="2514600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3904488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4599432" y="54269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54" name="Text 152"/>
          <p:cNvSpPr txBox="1"/>
          <p:nvPr/>
        </p:nvSpPr>
        <p:spPr>
          <a:xfrm>
            <a:off x="5184648" y="542696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endParaRPr lang="en-US" sz="850" dirty="0"/>
          </a:p>
        </p:txBody>
      </p:sp>
      <p:sp>
        <p:nvSpPr>
          <p:cNvPr id="155" name="Text 153"/>
          <p:cNvSpPr txBox="1"/>
          <p:nvPr/>
        </p:nvSpPr>
        <p:spPr>
          <a:xfrm>
            <a:off x="5843016" y="54269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50" dirty="0"/>
          </a:p>
        </p:txBody>
      </p:sp>
      <p:sp>
        <p:nvSpPr>
          <p:cNvPr id="156" name="Text 154"/>
          <p:cNvSpPr txBox="1"/>
          <p:nvPr/>
        </p:nvSpPr>
        <p:spPr>
          <a:xfrm>
            <a:off x="6830568" y="542696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57" name="Text 155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Q4 (movement register, live 25 Oct) · H&amp;L Pay net new $0/mo is tracked separately and never sits inside core MRR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9" name="Text 157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added $12,048 — Bradford $10,265 of it.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Royal Hotel's server, screen and POS came to $8,500. Q4 to date is $111,021, 16% of the $715k OKR2 against a 27% pace mark.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went backwards again, by $1,148.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and three of Brett's accounts churned. Q4 stands at $3,817 — 14% of the $28k OKR2 — and 22 expansion rows worth $2,159 are already on the register, dated 1 Nov.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Targets are still the Q3 numbers carried forward.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Q4 OKR2 or team target has been set, so every attainment percentage on this slide is measured against last quarter's bar.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Q4 (Oct–Dec) · 25 of 92 days elapsed.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7088429" y="6510528"/>
            <a:ext cx="468904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088429" y="6510528"/>
            <a:ext cx="46890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19–25 Oct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US$2,081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A$2,922 · 32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A$775 · 11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A$506 · 7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placed / 7 lost by count · 60%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34308" cy="182880"/>
          </a:xfrm>
          <a:prstGeom prst="roundRect">
            <a:avLst>
              <a:gd name="adj" fmla="val 54466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2303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23616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2303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US$1,153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2303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21259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3176"/>
            <a:ext cx="281120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21259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21259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50215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Finance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602736"/>
            <a:ext cx="71785" cy="182880"/>
          </a:xfrm>
          <a:prstGeom prst="roundRect">
            <a:avLst>
              <a:gd name="adj" fmla="val 101904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50215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50215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379171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3892296"/>
            <a:ext cx="1794630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379171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379171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deals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667512" y="40812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0" y="4181856"/>
            <a:ext cx="11717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69280" y="40812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US$360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0812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deals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7512" y="3768852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77640" y="3608832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3977640" y="381914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0" y="4800600"/>
            <a:ext cx="876762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828800" y="4782312"/>
            <a:ext cx="8767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18%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2723850" y="4800600"/>
            <a:ext cx="3305677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23850" y="4782312"/>
            <a:ext cx="33056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047815" y="4800600"/>
            <a:ext cx="572441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047815" y="4782312"/>
            <a:ext cx="5724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828800" y="5111496"/>
            <a:ext cx="104607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828800" y="5093208"/>
            <a:ext cx="1046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2893162" y="5111496"/>
            <a:ext cx="3043123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893162" y="5093208"/>
            <a:ext cx="30431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5954573" y="5111496"/>
            <a:ext cx="665683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54573" y="5093208"/>
            <a:ext cx="6656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2" name="Text 80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all the order volume</a:t>
            </a:r>
            <a:endParaRPr lang="en-US" sz="530" dirty="0"/>
          </a:p>
        </p:txBody>
      </p:sp>
      <p:sp>
        <p:nvSpPr>
          <p:cNvPr id="89" name="Text 87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US$1,229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US$552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US$147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still no orders</a:t>
            </a:r>
            <a:endParaRPr lang="en-US" sz="530" dirty="0"/>
          </a:p>
        </p:txBody>
      </p:sp>
      <p:sp>
        <p:nvSpPr>
          <p:cNvPr id="94" name="Text 92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lines on deals, every one priced $0</a:t>
            </a:r>
            <a:endParaRPr lang="en-US" sz="530" dirty="0"/>
          </a:p>
        </p:txBody>
      </p:sp>
      <p:sp>
        <p:nvSpPr>
          <p:cNvPr id="99" name="Text 97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4" name="Text 102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6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US$14,751</a:t>
            </a:r>
            <a:endParaRPr lang="en-US" sz="1800" dirty="0"/>
          </a:p>
        </p:txBody>
      </p:sp>
      <p:sp>
        <p:nvSpPr>
          <p:cNvPr id="110" name="Text 108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(A$20,712) — the contract value behind the US$2,081 of monthly lines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five weeks stale; HubSpot holds no USD field</a:t>
            </a:r>
            <a:endParaRPr lang="en-US" sz="580" dirty="0"/>
          </a:p>
        </p:txBody>
      </p:sp>
      <p:sp>
        <p:nvSpPr>
          <p:cNvPr id="112" name="Shape 110"/>
          <p:cNvSpPr/>
          <p:nvPr/>
        </p:nvSpPr>
        <p:spPr>
          <a:xfrm>
            <a:off x="411480" y="5413248"/>
            <a:ext cx="11365992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3" name="Text 111"/>
          <p:cNvSpPr txBox="1"/>
          <p:nvPr/>
        </p:nvSpPr>
        <p:spPr>
          <a:xfrm>
            <a:off x="612648" y="552297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12648" y="5833872"/>
            <a:ext cx="10954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orders placed since 1 Jul (US$552) against 7 lost — 61% by count, 60%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US$2,018 of the US$2,081 open sits in Quote Sent and Negotiation across 25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ROAM orders placed this week (Dave &amp; Busters Perth, Prendiville Norfolk — A$124) · QR Ordering lines still all $0 · 28 ROAM lines (A$2,170) on no deal are excluded.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 The 26 Oct identification register is unchanged — 34 identified, 10 referred; won and GMV figures are held at the 19 Oct ValPay export.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461504" y="6510528"/>
            <a:ext cx="431596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461504" y="651052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Identification register (26 Oct) + ValPay export (19 Oct)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91%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50.0h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20h, $3,000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H&amp;L Pay activations (2h, $300).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WON VS INVOICED BY MONTH · 2026   </a:t>
            </a:r>
            <a:pPr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series live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INVOICE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won with software MRR in 2026 have no row on the register · Oscars Group is $155k of it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$1.31M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276 logos · MRR movement register, 26 Oct · HubSpot churn object stopped being maintained after February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· Q4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-$8.9k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to 25 Oct · new $3.8k − churn $10.5k − contraction $2.2k − credits $0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has won $6,441 and invoiced $3,817.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19–25 Oct. 22 expansion rows worth $2,159 sit on the register dated 1 Nov — Lucas Collective's 13 sites, Warooka, Stokehouse, the Royal Hotel — so November opens with them.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Churn: three more logos, Q4 now −$8.9k net.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The Jetty Bribie ($345), Riverview Smithtown ($412) and Tattersalls ($332). Re-read on 26 Oct, the register's churn since Jan 2025 is $1.31M across 276 logos.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 of ARR is won with no row on the register.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that carried software MRR in 2026 — six of this week's wins have no row yet. Oscars Group is $155k of it.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Oscars Group — signed, ~1.5x rollout, held by the old provider's contract terms. AVC new sites are excluded throughout — 17 deals worth $8,759 of 2026 software MRR, parked licences that are not counted in MRR or ARR. Eight more sit below the cut, worth $1.6k/mo.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= monthly MRR × 12 · matched on debtor ID and venue name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(total_software_cost, AVC excluded)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21254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8584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5846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867558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2.2 : 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2885846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3.2 : 1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31029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95621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95621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77333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195621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40803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05395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05395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87107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505395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50578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1517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15170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96882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815170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Shape 38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5" name="Shape 42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6" name="Shape 43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7" name="Shape 44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63" name="Shape 60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597 closed against 396 new this week — net −201,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 = new tickets by Source, phone vs email. 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of 51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14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OCT MTD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329,436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1–18 Oct · October month-to-date at the 19 Oct capture, up from 111,689 a week ago; the admin capture gives month totals only, so there is no weekly split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92171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75712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55961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45720" cy="91440"/>
          </a:xfrm>
          <a:prstGeom prst="roundRect">
            <a:avLst>
              <a:gd name="adj" fmla="val 8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15,821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5294376" y="2816352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2816352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96,644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2975956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084832" y="298327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057400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3163824" y="2983272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4242816" y="2983272"/>
            <a:ext cx="996696" cy="136744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215384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99,693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5321808" y="2983272"/>
            <a:ext cx="996696" cy="136744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294376" y="297595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170,962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75956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324,631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594360" y="3135561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Daniel Maddern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2057400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7" name="Text 65"/>
          <p:cNvSpPr txBox="1"/>
          <p:nvPr/>
        </p:nvSpPr>
        <p:spPr>
          <a:xfrm>
            <a:off x="3136392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8" name="Text 66"/>
          <p:cNvSpPr txBox="1"/>
          <p:nvPr/>
        </p:nvSpPr>
        <p:spPr>
          <a:xfrm>
            <a:off x="4215384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321808" y="3142876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294376" y="313556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43,288</a:t>
            </a:r>
            <a:endParaRPr lang="en-US" sz="680" dirty="0"/>
          </a:p>
        </p:txBody>
      </p:sp>
      <p:sp>
        <p:nvSpPr>
          <p:cNvPr id="71" name="Text 69"/>
          <p:cNvSpPr txBox="1"/>
          <p:nvPr/>
        </p:nvSpPr>
        <p:spPr>
          <a:xfrm>
            <a:off x="6400800" y="3135561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43,288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" y="3295165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73" name="Shape 71"/>
          <p:cNvSpPr/>
          <p:nvPr/>
        </p:nvSpPr>
        <p:spPr>
          <a:xfrm>
            <a:off x="2084832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057400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163824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136392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4242816" y="3302480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15384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19,047</a:t>
            </a:r>
            <a:endParaRPr lang="en-US" sz="680" dirty="0"/>
          </a:p>
        </p:txBody>
      </p:sp>
      <p:sp>
        <p:nvSpPr>
          <p:cNvPr id="79" name="Text 77"/>
          <p:cNvSpPr txBox="1"/>
          <p:nvPr/>
        </p:nvSpPr>
        <p:spPr>
          <a:xfrm>
            <a:off x="5294376" y="3295165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0" name="Text 78"/>
          <p:cNvSpPr txBox="1"/>
          <p:nvPr/>
        </p:nvSpPr>
        <p:spPr>
          <a:xfrm>
            <a:off x="6400800" y="3295165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70,868</a:t>
            </a:r>
            <a:endParaRPr lang="en-US" sz="700" dirty="0"/>
          </a:p>
        </p:txBody>
      </p:sp>
      <p:sp>
        <p:nvSpPr>
          <p:cNvPr id="81" name="Text 79"/>
          <p:cNvSpPr txBox="1"/>
          <p:nvPr/>
        </p:nvSpPr>
        <p:spPr>
          <a:xfrm>
            <a:off x="594360" y="3454769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2084832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057400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4" name="Shape 82"/>
          <p:cNvSpPr/>
          <p:nvPr/>
        </p:nvSpPr>
        <p:spPr>
          <a:xfrm>
            <a:off x="3163824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136392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6" name="Shape 84"/>
          <p:cNvSpPr/>
          <p:nvPr/>
        </p:nvSpPr>
        <p:spPr>
          <a:xfrm>
            <a:off x="4242816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215384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24,443</a:t>
            </a:r>
            <a:endParaRPr lang="en-US" sz="680" dirty="0"/>
          </a:p>
        </p:txBody>
      </p:sp>
      <p:sp>
        <p:nvSpPr>
          <p:cNvPr id="88" name="Shape 86"/>
          <p:cNvSpPr/>
          <p:nvPr/>
        </p:nvSpPr>
        <p:spPr>
          <a:xfrm>
            <a:off x="5321808" y="3462085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294376" y="3454769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2,971</a:t>
            </a:r>
            <a:endParaRPr lang="en-US" sz="680" dirty="0"/>
          </a:p>
        </p:txBody>
      </p:sp>
      <p:sp>
        <p:nvSpPr>
          <p:cNvPr id="90" name="Text 88"/>
          <p:cNvSpPr txBox="1"/>
          <p:nvPr/>
        </p:nvSpPr>
        <p:spPr>
          <a:xfrm>
            <a:off x="6400800" y="3454769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69,982</a:t>
            </a:r>
            <a:endParaRPr lang="en-US" sz="700" dirty="0"/>
          </a:p>
        </p:txBody>
      </p:sp>
      <p:sp>
        <p:nvSpPr>
          <p:cNvPr id="91" name="Text 89"/>
          <p:cNvSpPr txBox="1"/>
          <p:nvPr/>
        </p:nvSpPr>
        <p:spPr>
          <a:xfrm>
            <a:off x="594360" y="3614374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2084832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057400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163824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36392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6" name="Shape 94"/>
          <p:cNvSpPr/>
          <p:nvPr/>
        </p:nvSpPr>
        <p:spPr>
          <a:xfrm>
            <a:off x="4242816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4215384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30,828</a:t>
            </a:r>
            <a:endParaRPr lang="en-US" sz="680" dirty="0"/>
          </a:p>
        </p:txBody>
      </p:sp>
      <p:sp>
        <p:nvSpPr>
          <p:cNvPr id="98" name="Shape 96"/>
          <p:cNvSpPr/>
          <p:nvPr/>
        </p:nvSpPr>
        <p:spPr>
          <a:xfrm>
            <a:off x="5321808" y="3621689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294376" y="3614374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21,999</a:t>
            </a:r>
            <a:endParaRPr lang="en-US" sz="68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0" y="3614374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90,003</a:t>
            </a:r>
            <a:endParaRPr lang="en-US" sz="700" dirty="0"/>
          </a:p>
        </p:txBody>
      </p:sp>
      <p:sp>
        <p:nvSpPr>
          <p:cNvPr id="101" name="Text 99"/>
          <p:cNvSpPr txBox="1"/>
          <p:nvPr/>
        </p:nvSpPr>
        <p:spPr>
          <a:xfrm>
            <a:off x="594360" y="3773978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2084832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57400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4" name="Shape 102"/>
          <p:cNvSpPr/>
          <p:nvPr/>
        </p:nvSpPr>
        <p:spPr>
          <a:xfrm>
            <a:off x="3163824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136392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6" name="Shape 104"/>
          <p:cNvSpPr/>
          <p:nvPr/>
        </p:nvSpPr>
        <p:spPr>
          <a:xfrm>
            <a:off x="4242816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4215384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17,516</a:t>
            </a:r>
            <a:endParaRPr lang="en-US" sz="680" dirty="0"/>
          </a:p>
        </p:txBody>
      </p:sp>
      <p:sp>
        <p:nvSpPr>
          <p:cNvPr id="108" name="Shape 106"/>
          <p:cNvSpPr/>
          <p:nvPr/>
        </p:nvSpPr>
        <p:spPr>
          <a:xfrm>
            <a:off x="5321808" y="3781293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5294376" y="3773978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5,907</a:t>
            </a:r>
            <a:endParaRPr lang="en-US" sz="680" dirty="0"/>
          </a:p>
        </p:txBody>
      </p:sp>
      <p:sp>
        <p:nvSpPr>
          <p:cNvPr id="110" name="Text 108"/>
          <p:cNvSpPr txBox="1"/>
          <p:nvPr/>
        </p:nvSpPr>
        <p:spPr>
          <a:xfrm>
            <a:off x="6400800" y="3773978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55,814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94360" y="3933583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2057400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3" name="Shape 111"/>
          <p:cNvSpPr/>
          <p:nvPr/>
        </p:nvSpPr>
        <p:spPr>
          <a:xfrm>
            <a:off x="3163824" y="3940898"/>
            <a:ext cx="996696" cy="1367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3136392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4242816" y="3940898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4215384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5321808" y="3940898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5294376" y="3933583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17,140</a:t>
            </a:r>
            <a:endParaRPr lang="en-US" sz="680" dirty="0"/>
          </a:p>
        </p:txBody>
      </p:sp>
      <p:sp>
        <p:nvSpPr>
          <p:cNvPr id="119" name="Text 117"/>
          <p:cNvSpPr txBox="1"/>
          <p:nvPr/>
        </p:nvSpPr>
        <p:spPr>
          <a:xfrm>
            <a:off x="6400800" y="3933583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83,285</a:t>
            </a:r>
            <a:endParaRPr lang="en-US" sz="700" dirty="0"/>
          </a:p>
        </p:txBody>
      </p:sp>
      <p:sp>
        <p:nvSpPr>
          <p:cNvPr id="120" name="Text 118"/>
          <p:cNvSpPr txBox="1"/>
          <p:nvPr/>
        </p:nvSpPr>
        <p:spPr>
          <a:xfrm>
            <a:off x="594360" y="4093187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21" name="Shape 119"/>
          <p:cNvSpPr/>
          <p:nvPr/>
        </p:nvSpPr>
        <p:spPr>
          <a:xfrm>
            <a:off x="2084832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2057400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23" name="Shape 121"/>
          <p:cNvSpPr/>
          <p:nvPr/>
        </p:nvSpPr>
        <p:spPr>
          <a:xfrm>
            <a:off x="3163824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3136392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5" name="Shape 123"/>
          <p:cNvSpPr/>
          <p:nvPr/>
        </p:nvSpPr>
        <p:spPr>
          <a:xfrm>
            <a:off x="4242816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4215384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4,322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5321808" y="4100502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5294376" y="4093187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5,548</a:t>
            </a:r>
            <a:endParaRPr lang="en-US" sz="680" dirty="0"/>
          </a:p>
        </p:txBody>
      </p:sp>
      <p:sp>
        <p:nvSpPr>
          <p:cNvPr id="129" name="Text 127"/>
          <p:cNvSpPr txBox="1"/>
          <p:nvPr/>
        </p:nvSpPr>
        <p:spPr>
          <a:xfrm>
            <a:off x="6400800" y="4093187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39,718</a:t>
            </a:r>
            <a:endParaRPr lang="en-US" sz="700" dirty="0"/>
          </a:p>
        </p:txBody>
      </p:sp>
      <p:sp>
        <p:nvSpPr>
          <p:cNvPr id="130" name="Text 128"/>
          <p:cNvSpPr txBox="1"/>
          <p:nvPr/>
        </p:nvSpPr>
        <p:spPr>
          <a:xfrm>
            <a:off x="594360" y="4252791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31" name="Shape 129"/>
          <p:cNvSpPr/>
          <p:nvPr/>
        </p:nvSpPr>
        <p:spPr>
          <a:xfrm>
            <a:off x="2084832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2057400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33" name="Shape 131"/>
          <p:cNvSpPr/>
          <p:nvPr/>
        </p:nvSpPr>
        <p:spPr>
          <a:xfrm>
            <a:off x="3163824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136392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5" name="Shape 133"/>
          <p:cNvSpPr/>
          <p:nvPr/>
        </p:nvSpPr>
        <p:spPr>
          <a:xfrm>
            <a:off x="4242816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4215384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11,891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5321808" y="4260106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5294376" y="4252791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26,261</a:t>
            </a:r>
            <a:endParaRPr lang="en-US" sz="680" dirty="0"/>
          </a:p>
        </p:txBody>
      </p:sp>
      <p:sp>
        <p:nvSpPr>
          <p:cNvPr id="139" name="Text 137"/>
          <p:cNvSpPr txBox="1"/>
          <p:nvPr/>
        </p:nvSpPr>
        <p:spPr>
          <a:xfrm>
            <a:off x="6400800" y="4252791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54,729</a:t>
            </a:r>
            <a:endParaRPr lang="en-US" sz="700" dirty="0"/>
          </a:p>
        </p:txBody>
      </p:sp>
      <p:sp>
        <p:nvSpPr>
          <p:cNvPr id="140" name="Text 138"/>
          <p:cNvSpPr txBox="1"/>
          <p:nvPr/>
        </p:nvSpPr>
        <p:spPr>
          <a:xfrm>
            <a:off x="594360" y="4412396"/>
            <a:ext cx="141732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41" name="Shape 139"/>
          <p:cNvSpPr/>
          <p:nvPr/>
        </p:nvSpPr>
        <p:spPr>
          <a:xfrm>
            <a:off x="2084832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2057400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43" name="Shape 141"/>
          <p:cNvSpPr/>
          <p:nvPr/>
        </p:nvSpPr>
        <p:spPr>
          <a:xfrm>
            <a:off x="3163824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3136392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5" name="Shape 143"/>
          <p:cNvSpPr/>
          <p:nvPr/>
        </p:nvSpPr>
        <p:spPr>
          <a:xfrm>
            <a:off x="4242816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215384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19,289</a:t>
            </a:r>
            <a:endParaRPr lang="en-US" sz="680" dirty="0"/>
          </a:p>
        </p:txBody>
      </p:sp>
      <p:sp>
        <p:nvSpPr>
          <p:cNvPr id="147" name="Shape 145"/>
          <p:cNvSpPr/>
          <p:nvPr/>
        </p:nvSpPr>
        <p:spPr>
          <a:xfrm>
            <a:off x="5321808" y="4419711"/>
            <a:ext cx="996696" cy="1367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5294376" y="4412396"/>
            <a:ext cx="10515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3,890</a:t>
            </a:r>
            <a:endParaRPr lang="en-US" sz="680" dirty="0"/>
          </a:p>
        </p:txBody>
      </p:sp>
      <p:sp>
        <p:nvSpPr>
          <p:cNvPr id="149" name="Text 147"/>
          <p:cNvSpPr txBox="1"/>
          <p:nvPr/>
        </p:nvSpPr>
        <p:spPr>
          <a:xfrm>
            <a:off x="6400800" y="4412396"/>
            <a:ext cx="1280160" cy="150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33,386</a:t>
            </a:r>
            <a:endParaRPr lang="en-US" sz="700" dirty="0"/>
          </a:p>
        </p:txBody>
      </p:sp>
      <p:sp>
        <p:nvSpPr>
          <p:cNvPr id="150" name="Shape 148"/>
          <p:cNvSpPr/>
          <p:nvPr/>
        </p:nvSpPr>
        <p:spPr>
          <a:xfrm>
            <a:off x="594360" y="4572000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59436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52" name="Text 150"/>
          <p:cNvSpPr txBox="1"/>
          <p:nvPr/>
        </p:nvSpPr>
        <p:spPr>
          <a:xfrm>
            <a:off x="2057400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53" name="Text 151"/>
          <p:cNvSpPr txBox="1"/>
          <p:nvPr/>
        </p:nvSpPr>
        <p:spPr>
          <a:xfrm>
            <a:off x="3136392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4215384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277,261</a:t>
            </a:r>
            <a:endParaRPr lang="en-US" sz="750" dirty="0"/>
          </a:p>
        </p:txBody>
      </p:sp>
      <p:sp>
        <p:nvSpPr>
          <p:cNvPr id="155" name="Text 153"/>
          <p:cNvSpPr txBox="1"/>
          <p:nvPr/>
        </p:nvSpPr>
        <p:spPr>
          <a:xfrm>
            <a:off x="5294376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329,436</a:t>
            </a:r>
            <a:endParaRPr lang="en-US" sz="750" dirty="0"/>
          </a:p>
        </p:txBody>
      </p:sp>
      <p:sp>
        <p:nvSpPr>
          <p:cNvPr id="156" name="Text 154"/>
          <p:cNvSpPr txBox="1"/>
          <p:nvPr/>
        </p:nvSpPr>
        <p:spPr>
          <a:xfrm>
            <a:off x="6400800" y="4599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1,128,248</a:t>
            </a:r>
            <a:endParaRPr lang="en-US" sz="750" dirty="0"/>
          </a:p>
        </p:txBody>
      </p:sp>
      <p:sp>
        <p:nvSpPr>
          <p:cNvPr id="157" name="Text 155"/>
          <p:cNvSpPr txBox="1"/>
          <p:nvPr/>
        </p:nvSpPr>
        <p:spPr>
          <a:xfrm>
            <a:off x="59436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075688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05740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05740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247737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245908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245908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2879054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286076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286076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3280737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326244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326244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3682419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366413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366413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084102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06581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06581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4485785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446749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446749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4887468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486918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486918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528915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527086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527086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5690834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67254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567254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092517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07422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07422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6494199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47591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647591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6895882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687759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6" name="Text 194"/>
          <p:cNvSpPr txBox="1"/>
          <p:nvPr/>
        </p:nvSpPr>
        <p:spPr>
          <a:xfrm>
            <a:off x="687759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7" name="Shape 195"/>
          <p:cNvSpPr/>
          <p:nvPr/>
        </p:nvSpPr>
        <p:spPr>
          <a:xfrm>
            <a:off x="7297565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727927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9" name="Text 197"/>
          <p:cNvSpPr txBox="1"/>
          <p:nvPr/>
        </p:nvSpPr>
        <p:spPr>
          <a:xfrm>
            <a:off x="727927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200" name="Text 198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series ends w/c 06 Sep — later captures give month-to-date only · Nicolas Ibrahim and Daniel Maddern each have two accounts, combined here; Daniel Maddern is new to the capture, so Jul–Sep are unavailable for him, not zero</a:t>
            </a:r>
            <a:endParaRPr lang="en-US" sz="600" dirty="0"/>
          </a:p>
        </p:txBody>
      </p:sp>
      <p:sp>
        <p:nvSpPr>
          <p:cNvPr id="201" name="Shape 199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2" name="Text 200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25968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~1070</a:t>
            </a:r>
            <a:endParaRPr lang="en-US" sz="2600" dirty="0"/>
          </a:p>
        </p:txBody>
      </p:sp>
      <p:sp>
        <p:nvSpPr>
          <p:cNvPr id="204" name="Text 202"/>
          <p:cNvSpPr txBox="1"/>
          <p:nvPr/>
        </p:nvSpPr>
        <p:spPr>
          <a:xfrm>
            <a:off x="9811512" y="2624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~1012 baseline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+69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~765/wk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-5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~163/wk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~22/wk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-2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~11/wk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750" dirty="0"/>
          </a:p>
        </p:txBody>
      </p:sp>
      <p:sp>
        <p:nvSpPr>
          <p:cNvPr id="230" name="Text 228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1" name="Text 229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32" name="Text 230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750" dirty="0"/>
          </a:p>
        </p:txBody>
      </p:sp>
      <p:sp>
        <p:nvSpPr>
          <p:cNvPr id="233" name="Text 231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4" name="Text 232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35" name="Text 233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the 12 Oct capture</a:t>
            </a:r>
            <a:endParaRPr lang="en-US" sz="600" dirty="0"/>
          </a:p>
        </p:txBody>
      </p:sp>
      <p:sp>
        <p:nvSpPr>
          <p:cNvPr id="236" name="Shape 234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7" name="Text 235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8" name="Text 236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of 51 active weekly, 14 daily — breadth and depth both back up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last week's dip. Claude.ai stickiness recovered 7% → 17% DAU/MAU and Claude Code rose to 28%; Cowork eased 24% → 23% and Office Agents are still at nil. The code number is the headline: 329,436 lines in October to date against 111,689 a week ago, already above any full month this year. Nicolas Ibrahim is 170,962 of it — 52% — and Daniel Maddern enters at 43,288.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6653174" y="6510528"/>
            <a:ext cx="512429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40" name="Text 238"/>
          <p:cNvSpPr txBox="1"/>
          <p:nvPr/>
        </p:nvSpPr>
        <p:spPr>
          <a:xfrm>
            <a:off x="6653174" y="6510528"/>
            <a:ext cx="5124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capture (30d to 19 Oct) · held at 19 Oct, refresh pending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2026-10-26T03:02:20Z</dcterms:created>
  <dcterms:modified xsi:type="dcterms:W3CDTF">2026-10-26T03:02:20Z</dcterms:modified>
</cp:coreProperties>
</file>