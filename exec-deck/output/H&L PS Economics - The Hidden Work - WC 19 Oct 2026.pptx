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· THIS WEEK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 Hrs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 hrs last week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3298698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63290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63290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45002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63290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 · target 50%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6185916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0508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0508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 HOURS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 Hrs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50508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12.5 hrs last week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9073134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37726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7726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 (HIDDEN)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219438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 Hrs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7726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same as last week · ≈ $42 of cost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411480" y="2084832"/>
            <a:ext cx="512064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21208" y="2450592"/>
          <a:ext cx="490118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11480" y="493776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12648" y="5047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PS HOURS AVAILABLE — AND HOW THEY WERE LOGGED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2648" y="5376672"/>
            <a:ext cx="136919" cy="256032"/>
          </a:xfrm>
          <a:prstGeom prst="rect">
            <a:avLst/>
          </a:prstGeom>
          <a:solidFill>
            <a:srgbClr val="15233F"/>
          </a:solidFill>
          <a:ln/>
        </p:spPr>
      </p:sp>
      <p:sp>
        <p:nvSpPr>
          <p:cNvPr id="39" name="Shape 36"/>
          <p:cNvSpPr/>
          <p:nvPr/>
        </p:nvSpPr>
        <p:spPr>
          <a:xfrm>
            <a:off x="767855" y="5376672"/>
            <a:ext cx="27432" cy="256032"/>
          </a:xfrm>
          <a:prstGeom prst="rect">
            <a:avLst/>
          </a:prstGeom>
          <a:solidFill>
            <a:srgbClr val="2B4170"/>
          </a:solidFill>
          <a:ln/>
        </p:spPr>
      </p:sp>
      <p:sp>
        <p:nvSpPr>
          <p:cNvPr id="40" name="Shape 37"/>
          <p:cNvSpPr/>
          <p:nvPr/>
        </p:nvSpPr>
        <p:spPr>
          <a:xfrm>
            <a:off x="776724" y="5376672"/>
            <a:ext cx="328046" cy="256032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23059" y="5376672"/>
            <a:ext cx="4189605" cy="256032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2" name="Shape 39"/>
          <p:cNvSpPr/>
          <p:nvPr/>
        </p:nvSpPr>
        <p:spPr>
          <a:xfrm>
            <a:off x="612648" y="5760720"/>
            <a:ext cx="91440" cy="91440"/>
          </a:xfrm>
          <a:prstGeom prst="rect">
            <a:avLst/>
          </a:prstGeom>
          <a:solidFill>
            <a:srgbClr val="15233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0664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35.0h · 3%</a:t>
            </a:r>
            <a:endParaRPr lang="en-US" sz="650" dirty="0"/>
          </a:p>
        </p:txBody>
      </p:sp>
      <p:sp>
        <p:nvSpPr>
          <p:cNvPr id="44" name="Shape 41"/>
          <p:cNvSpPr/>
          <p:nvPr/>
        </p:nvSpPr>
        <p:spPr>
          <a:xfrm>
            <a:off x="1792224" y="5760720"/>
            <a:ext cx="91440" cy="91440"/>
          </a:xfrm>
          <a:prstGeom prst="rect">
            <a:avLst/>
          </a:prstGeom>
          <a:solidFill>
            <a:srgbClr val="2B417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920240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 · 0%</a:t>
            </a:r>
            <a:endParaRPr lang="en-US" sz="650" dirty="0"/>
          </a:p>
        </p:txBody>
      </p:sp>
      <p:sp>
        <p:nvSpPr>
          <p:cNvPr id="46" name="Shape 43"/>
          <p:cNvSpPr/>
          <p:nvPr/>
        </p:nvSpPr>
        <p:spPr>
          <a:xfrm>
            <a:off x="2971800" y="5760720"/>
            <a:ext cx="91440" cy="9144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099816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Chargeable? left blank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78.1h · 7%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151376" y="5760720"/>
            <a:ext cx="91440" cy="91440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279392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logged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948.9h · 89%</a:t>
            </a:r>
            <a:endParaRPr lang="en-US" sz="650" dirty="0"/>
          </a:p>
        </p:txBody>
      </p:sp>
      <p:sp>
        <p:nvSpPr>
          <p:cNvPr id="50" name="Text 47"/>
          <p:cNvSpPr txBox="1"/>
          <p:nvPr/>
        </p:nvSpPr>
        <p:spPr>
          <a:xfrm>
            <a:off x="612648" y="6080760"/>
            <a:ext cx="4718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= the 1,064h PS staff were available 1–25 Oct. "Left blank" = logged as billable but Is Chargeable not filled in (new this week). Not logged ≈ $40k of cost at ~$42/h.</a:t>
            </a:r>
            <a:endParaRPr lang="en-US" sz="600" dirty="0"/>
          </a:p>
        </p:txBody>
      </p:sp>
      <p:sp>
        <p:nvSpPr>
          <p:cNvPr id="51" name="Shape 48"/>
          <p:cNvSpPr/>
          <p:nvPr/>
        </p:nvSpPr>
        <p:spPr>
          <a:xfrm>
            <a:off x="5715000" y="2084832"/>
            <a:ext cx="6062472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5916168" y="2194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 COMMISSION vs THE PS WORK BEHIND IT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916168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8229600" y="2468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 JAN–SEP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9372600" y="246888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HOURS Q4</a:t>
            </a:r>
            <a:endParaRPr lang="en-US" sz="630" dirty="0"/>
          </a:p>
        </p:txBody>
      </p:sp>
      <p:sp>
        <p:nvSpPr>
          <p:cNvPr id="56" name="Text 53"/>
          <p:cNvSpPr txBox="1"/>
          <p:nvPr/>
        </p:nvSpPr>
        <p:spPr>
          <a:xfrm>
            <a:off x="10469880" y="2468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EST. PS COST</a:t>
            </a:r>
            <a:endParaRPr lang="en-US" sz="630" dirty="0"/>
          </a:p>
        </p:txBody>
      </p:sp>
      <p:sp>
        <p:nvSpPr>
          <p:cNvPr id="57" name="Text 54"/>
          <p:cNvSpPr txBox="1"/>
          <p:nvPr/>
        </p:nvSpPr>
        <p:spPr>
          <a:xfrm>
            <a:off x="5916168" y="265176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8229600" y="265176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9372600" y="265176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10469880" y="265176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5843016" y="2807208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16168" y="280720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8229600" y="280720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9372600" y="28072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0469880" y="280720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5916168" y="296265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8229600" y="29626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372600" y="2962656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0469880" y="29626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5843016" y="3118104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916168" y="3118104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8229600" y="311810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372600" y="3118104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469880" y="311810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$84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5916168" y="327355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8229600" y="327355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372600" y="327355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10469880" y="327355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5843016" y="3429000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5916168" y="342900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8229600" y="342900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9372600" y="342900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0469880" y="342900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5916168" y="358444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8229600" y="358444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372600" y="358444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0469880" y="358444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88" name="Shape 85"/>
          <p:cNvSpPr/>
          <p:nvPr/>
        </p:nvSpPr>
        <p:spPr>
          <a:xfrm>
            <a:off x="5843016" y="3739896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5916168" y="373989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8229600" y="373989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372600" y="3739896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0469880" y="373989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$63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5916168" y="3895344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822960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9372600" y="3895344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750" dirty="0"/>
          </a:p>
        </p:txBody>
      </p:sp>
      <p:sp>
        <p:nvSpPr>
          <p:cNvPr id="96" name="Text 93"/>
          <p:cNvSpPr txBox="1"/>
          <p:nvPr/>
        </p:nvSpPr>
        <p:spPr>
          <a:xfrm>
            <a:off x="1046988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</a:t>
            </a:r>
            <a:endParaRPr lang="en-US" sz="750" dirty="0"/>
          </a:p>
        </p:txBody>
      </p:sp>
      <p:sp>
        <p:nvSpPr>
          <p:cNvPr id="97" name="Shape 94"/>
          <p:cNvSpPr/>
          <p:nvPr/>
        </p:nvSpPr>
        <p:spPr>
          <a:xfrm>
            <a:off x="5843016" y="4050792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5916168" y="405079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(ValPay share)</a:t>
            </a:r>
            <a:endParaRPr lang="en-US" sz="750" dirty="0"/>
          </a:p>
        </p:txBody>
      </p:sp>
      <p:sp>
        <p:nvSpPr>
          <p:cNvPr id="99" name="Text 96"/>
          <p:cNvSpPr txBox="1"/>
          <p:nvPr/>
        </p:nvSpPr>
        <p:spPr>
          <a:xfrm>
            <a:off x="8229600" y="405079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</a:t>
            </a:r>
            <a:endParaRPr lang="en-US" sz="750" dirty="0"/>
          </a:p>
        </p:txBody>
      </p:sp>
      <p:sp>
        <p:nvSpPr>
          <p:cNvPr id="100" name="Text 97"/>
          <p:cNvSpPr txBox="1"/>
          <p:nvPr/>
        </p:nvSpPr>
        <p:spPr>
          <a:xfrm>
            <a:off x="9372600" y="405079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4.0h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10469880" y="405079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$168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5916168" y="420624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 — no commission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8229600" y="420624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9372600" y="420624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10469880" y="420624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$265</a:t>
            </a:r>
            <a:endParaRPr lang="en-US" sz="750" dirty="0"/>
          </a:p>
        </p:txBody>
      </p:sp>
      <p:sp>
        <p:nvSpPr>
          <p:cNvPr id="106" name="Text 103"/>
          <p:cNvSpPr txBox="1"/>
          <p:nvPr/>
        </p:nvSpPr>
        <p:spPr>
          <a:xfrm>
            <a:off x="5916168" y="4453128"/>
            <a:ext cx="5660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hours are matched on partner names in ticket subjects (estimate) — none carry a partner or non-chargeable reason yet. All are logged billable. Cost at ~$42/h: ≈ $62.4k a month of PS cost ÷ ≈1,480 available hours (9 PS staff × 38h) — estimate.</a:t>
            </a:r>
            <a:endParaRPr lang="en-US" sz="580" dirty="0"/>
          </a:p>
        </p:txBody>
      </p:sp>
      <p:sp>
        <p:nvSpPr>
          <p:cNvPr id="107" name="Shape 104"/>
          <p:cNvSpPr/>
          <p:nvPr/>
        </p:nvSpPr>
        <p:spPr>
          <a:xfrm>
            <a:off x="5715000" y="4892040"/>
            <a:ext cx="6062472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5"/>
          <p:cNvSpPr txBox="1"/>
          <p:nvPr/>
        </p:nvSpPr>
        <p:spPr>
          <a:xfrm>
            <a:off x="5916168" y="5001768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9" name="Text 106"/>
          <p:cNvSpPr txBox="1"/>
          <p:nvPr/>
        </p:nvSpPr>
        <p:spPr>
          <a:xfrm>
            <a:off x="5916168" y="5312664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PS's unrecovered cost is the integration work that keeps that commission flowing.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can't price that work yet.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16.9h in Q4 can be tied to a partner, from ticket subjects only, and none carry a non-chargeable reason. This week's 11.5h will restate up as late logging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Fix: two fields on every hidden hour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non-chargeable reason (partner integration · legacy key account) and who it was for.</a:t>
            </a:r>
            <a:endParaRPr lang="en-US" sz="900" dirty="0"/>
          </a:p>
        </p:txBody>
      </p:sp>
      <p:sp>
        <p:nvSpPr>
          <p:cNvPr id="110" name="Shape 107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2026-10-25T22:19:30Z</dcterms:created>
  <dcterms:modified xsi:type="dcterms:W3CDTF">2026-10-25T22:19:30Z</dcterms:modified>
</cp:coreProperties>
</file>