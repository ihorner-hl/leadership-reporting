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B8D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24452</c:v>
                </c:pt>
                <c:pt idx="1">
                  <c:v>27867</c:v>
                </c:pt>
                <c:pt idx="2">
                  <c:v>30164</c:v>
                </c:pt>
                <c:pt idx="3">
                  <c:v>23947</c:v>
                </c:pt>
                <c:pt idx="4">
                  <c:v>32107</c:v>
                </c:pt>
                <c:pt idx="5">
                  <c:v>32610</c:v>
                </c:pt>
                <c:pt idx="6">
                  <c:v>35340</c:v>
                </c:pt>
                <c:pt idx="7">
                  <c:v>66642</c:v>
                </c:pt>
                <c:pt idx="8">
                  <c:v>20359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spPr>
            <a:solidFill>
              <a:srgbClr val="E0A4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56087</c:v>
                </c:pt>
                <c:pt idx="1">
                  <c:v>63765</c:v>
                </c:pt>
                <c:pt idx="2">
                  <c:v>75839</c:v>
                </c:pt>
                <c:pt idx="3">
                  <c:v>69343</c:v>
                </c:pt>
                <c:pt idx="4">
                  <c:v>60274</c:v>
                </c:pt>
                <c:pt idx="5">
                  <c:v>60368</c:v>
                </c:pt>
                <c:pt idx="6">
                  <c:v>60240</c:v>
                </c:pt>
                <c:pt idx="7">
                  <c:v>50403</c:v>
                </c:pt>
                <c:pt idx="8">
                  <c:v>65362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Contribution</c:v>
                </c:pt>
              </c:strCache>
            </c:strRef>
          </c:tx>
          <c:spPr>
            <a:solidFill>
              <a:srgbClr val="C2562A"/>
            </a:solidFill>
            <a:ln w="28575" cap="flat">
              <a:solidFill>
                <a:srgbClr val="C2562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2562A"/>
              </a:solidFill>
              <a:ln w="9525" cap="flat">
                <a:solidFill>
                  <a:srgbClr val="C2562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-31635</c:v>
                </c:pt>
                <c:pt idx="1">
                  <c:v>-35898</c:v>
                </c:pt>
                <c:pt idx="2">
                  <c:v>-45675</c:v>
                </c:pt>
                <c:pt idx="3">
                  <c:v>-45396</c:v>
                </c:pt>
                <c:pt idx="4">
                  <c:v>-28167</c:v>
                </c:pt>
                <c:pt idx="5">
                  <c:v>-27758</c:v>
                </c:pt>
                <c:pt idx="6">
                  <c:v>-24900</c:v>
                </c:pt>
                <c:pt idx="7">
                  <c:v>16239</c:v>
                </c:pt>
                <c:pt idx="8">
                  <c:v>-45003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000"/>
          <c:min val="-60000"/>
        </c:scaling>
        <c:delete val="0"/>
        <c:axPos val="l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$#,##0,&quot;k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50" b="0" i="0" u="none" strike="noStrike">
                <a:solidFill>
                  <a:srgbClr val="8FA1AC"/>
                </a:solidFill>
                <a:latin typeface="Poppins"/>
              </a:defRPr>
            </a:pPr>
            <a:endParaRPr lang="en-US"/>
          </a:p>
        </c:txPr>
        <c:crossAx val="2094734554"/>
        <c:crosses val="autoZero"/>
        <c:crossBetween val="between"/>
        <c:majorUnit val="2000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750">
              <a:solidFill>
                <a:srgbClr val="3A4B57"/>
              </a:solidFill>
              <a:latin typeface="Poppins"/>
              <a:cs typeface="Poppi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 Economics — The Hidden Work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Professional Services &amp; Finance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 ·  DID WE DELIVER?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987552"/>
            <a:ext cx="2704338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76072" y="1106424"/>
            <a:ext cx="292608" cy="41148"/>
          </a:xfrm>
          <a:prstGeom prst="rect">
            <a:avLst/>
          </a:prstGeom>
          <a:solidFill>
            <a:srgbClr val="1B8DA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76072" y="1170432"/>
            <a:ext cx="24300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 REVENUE · JAN–SEP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557784" y="1371600"/>
            <a:ext cx="24300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$293k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576072" y="1719072"/>
            <a:ext cx="24300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billed to customers</a:t>
            </a:r>
            <a:endParaRPr lang="en-US" sz="730" dirty="0"/>
          </a:p>
        </p:txBody>
      </p:sp>
      <p:sp>
        <p:nvSpPr>
          <p:cNvPr id="18" name="Shape 16"/>
          <p:cNvSpPr/>
          <p:nvPr/>
        </p:nvSpPr>
        <p:spPr>
          <a:xfrm>
            <a:off x="3298698" y="987552"/>
            <a:ext cx="2704338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463290" y="1106424"/>
            <a:ext cx="292608" cy="41148"/>
          </a:xfrm>
          <a:prstGeom prst="rect">
            <a:avLst/>
          </a:prstGeom>
          <a:solidFill>
            <a:srgbClr val="1B8DA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463290" y="1170432"/>
            <a:ext cx="24300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 COST · JAN–SEP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3445002" y="1371600"/>
            <a:ext cx="24300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$562k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3463290" y="1719072"/>
            <a:ext cx="24300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$501k staff · $61k non-staff</a:t>
            </a:r>
            <a:endParaRPr lang="en-US" sz="730" dirty="0"/>
          </a:p>
        </p:txBody>
      </p:sp>
      <p:sp>
        <p:nvSpPr>
          <p:cNvPr id="23" name="Shape 21"/>
          <p:cNvSpPr/>
          <p:nvPr/>
        </p:nvSpPr>
        <p:spPr>
          <a:xfrm>
            <a:off x="6185916" y="987552"/>
            <a:ext cx="2704338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50508" y="1106424"/>
            <a:ext cx="292608" cy="41148"/>
          </a:xfrm>
          <a:prstGeom prst="rect">
            <a:avLst/>
          </a:prstGeom>
          <a:solidFill>
            <a:srgbClr val="1B8DA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350508" y="1170432"/>
            <a:ext cx="24300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SHORTFALL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6332220" y="1371600"/>
            <a:ext cx="24300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−$268k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6350508" y="1719072"/>
            <a:ext cx="24300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 recovers 52% of its cost</a:t>
            </a:r>
            <a:endParaRPr lang="en-US" sz="730" dirty="0"/>
          </a:p>
        </p:txBody>
      </p:sp>
      <p:sp>
        <p:nvSpPr>
          <p:cNvPr id="28" name="Shape 26"/>
          <p:cNvSpPr/>
          <p:nvPr/>
        </p:nvSpPr>
        <p:spPr>
          <a:xfrm>
            <a:off x="9073134" y="987552"/>
            <a:ext cx="2704338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9237726" y="1106424"/>
            <a:ext cx="292608" cy="41148"/>
          </a:xfrm>
          <a:prstGeom prst="rect">
            <a:avLst/>
          </a:prstGeom>
          <a:solidFill>
            <a:srgbClr val="1B8DA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237726" y="1170432"/>
            <a:ext cx="24300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PARTNER COMMISSION · JAN–SEP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9219438" y="1371600"/>
            <a:ext cx="24300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$1.29M</a:t>
            </a:r>
            <a:endParaRPr lang="en-US" sz="2200" dirty="0"/>
          </a:p>
        </p:txBody>
      </p:sp>
      <p:sp>
        <p:nvSpPr>
          <p:cNvPr id="32" name="Text 30"/>
          <p:cNvSpPr txBox="1"/>
          <p:nvPr/>
        </p:nvSpPr>
        <p:spPr>
          <a:xfrm>
            <a:off x="9237726" y="1719072"/>
            <a:ext cx="24300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paid to H&amp;L by premium partners</a:t>
            </a:r>
            <a:endParaRPr lang="en-US" sz="730" dirty="0"/>
          </a:p>
        </p:txBody>
      </p:sp>
      <p:sp>
        <p:nvSpPr>
          <p:cNvPr id="33" name="Shape 31"/>
          <p:cNvSpPr/>
          <p:nvPr/>
        </p:nvSpPr>
        <p:spPr>
          <a:xfrm>
            <a:off x="411480" y="2084832"/>
            <a:ext cx="512064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612648" y="21945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 P&amp;L BY MONTH — 2026</a:t>
            </a:r>
            <a:endParaRPr lang="en-US" sz="1200" dirty="0"/>
          </a:p>
        </p:txBody>
      </p:sp>
      <p:graphicFrame>
        <p:nvGraphicFramePr>
          <p:cNvPr id="35" name="Chart 0" descr=""/>
          <p:cNvGraphicFramePr/>
          <p:nvPr/>
        </p:nvGraphicFramePr>
        <p:xfrm>
          <a:off x="521208" y="2450592"/>
          <a:ext cx="4901184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6" name="Shape 33"/>
          <p:cNvSpPr/>
          <p:nvPr/>
        </p:nvSpPr>
        <p:spPr>
          <a:xfrm>
            <a:off x="411480" y="4937760"/>
            <a:ext cx="5120640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7" name="Text 34"/>
          <p:cNvSpPr txBox="1"/>
          <p:nvPr/>
        </p:nvSpPr>
        <p:spPr>
          <a:xfrm>
            <a:off x="612648" y="504748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WHERE Q4 PS CAPACITY WENT — 1–25 OCT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612648" y="5376672"/>
            <a:ext cx="136919" cy="256032"/>
          </a:xfrm>
          <a:prstGeom prst="rect">
            <a:avLst/>
          </a:prstGeom>
          <a:solidFill>
            <a:srgbClr val="15233F"/>
          </a:solidFill>
          <a:ln/>
        </p:spPr>
      </p:sp>
      <p:sp>
        <p:nvSpPr>
          <p:cNvPr id="39" name="Shape 36"/>
          <p:cNvSpPr/>
          <p:nvPr/>
        </p:nvSpPr>
        <p:spPr>
          <a:xfrm>
            <a:off x="767855" y="5376672"/>
            <a:ext cx="27432" cy="256032"/>
          </a:xfrm>
          <a:prstGeom prst="rect">
            <a:avLst/>
          </a:prstGeom>
          <a:solidFill>
            <a:srgbClr val="2B4170"/>
          </a:solidFill>
          <a:ln/>
        </p:spPr>
      </p:sp>
      <p:sp>
        <p:nvSpPr>
          <p:cNvPr id="40" name="Shape 37"/>
          <p:cNvSpPr/>
          <p:nvPr/>
        </p:nvSpPr>
        <p:spPr>
          <a:xfrm>
            <a:off x="776724" y="5376672"/>
            <a:ext cx="328046" cy="256032"/>
          </a:xfrm>
          <a:prstGeom prst="rect">
            <a:avLst/>
          </a:prstGeom>
          <a:solidFill>
            <a:srgbClr val="E0A458"/>
          </a:solidFill>
          <a:ln/>
        </p:spPr>
      </p:sp>
      <p:sp>
        <p:nvSpPr>
          <p:cNvPr id="41" name="Shape 38"/>
          <p:cNvSpPr/>
          <p:nvPr/>
        </p:nvSpPr>
        <p:spPr>
          <a:xfrm>
            <a:off x="1123059" y="5376672"/>
            <a:ext cx="4189605" cy="256032"/>
          </a:xfrm>
          <a:prstGeom prst="rect">
            <a:avLst/>
          </a:prstGeom>
          <a:solidFill>
            <a:srgbClr val="C7D3DA"/>
          </a:solidFill>
          <a:ln/>
        </p:spPr>
      </p:sp>
      <p:sp>
        <p:nvSpPr>
          <p:cNvPr id="42" name="Shape 39"/>
          <p:cNvSpPr/>
          <p:nvPr/>
        </p:nvSpPr>
        <p:spPr>
          <a:xfrm>
            <a:off x="612648" y="5760720"/>
            <a:ext cx="91440" cy="91440"/>
          </a:xfrm>
          <a:prstGeom prst="rect">
            <a:avLst/>
          </a:prstGeom>
          <a:solidFill>
            <a:srgbClr val="15233F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740664" y="5705856"/>
            <a:ext cx="1033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Chargeable</a:t>
            </a:r>
            <a:endParaRPr lang="en-US" sz="650" dirty="0"/>
          </a:p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35.0h · 3%</a:t>
            </a:r>
            <a:endParaRPr lang="en-US" sz="650" dirty="0"/>
          </a:p>
        </p:txBody>
      </p:sp>
      <p:sp>
        <p:nvSpPr>
          <p:cNvPr id="44" name="Shape 41"/>
          <p:cNvSpPr/>
          <p:nvPr/>
        </p:nvSpPr>
        <p:spPr>
          <a:xfrm>
            <a:off x="1792224" y="5760720"/>
            <a:ext cx="91440" cy="91440"/>
          </a:xfrm>
          <a:prstGeom prst="rect">
            <a:avLst/>
          </a:prstGeom>
          <a:solidFill>
            <a:srgbClr val="2B4170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1920240" y="5705856"/>
            <a:ext cx="1033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Non-chargeable</a:t>
            </a:r>
            <a:endParaRPr lang="en-US" sz="650" dirty="0"/>
          </a:p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2.0h · 0%</a:t>
            </a:r>
            <a:endParaRPr lang="en-US" sz="650" dirty="0"/>
          </a:p>
        </p:txBody>
      </p:sp>
      <p:sp>
        <p:nvSpPr>
          <p:cNvPr id="46" name="Shape 43"/>
          <p:cNvSpPr/>
          <p:nvPr/>
        </p:nvSpPr>
        <p:spPr>
          <a:xfrm>
            <a:off x="2971800" y="5760720"/>
            <a:ext cx="91440" cy="91440"/>
          </a:xfrm>
          <a:prstGeom prst="rect">
            <a:avLst/>
          </a:prstGeom>
          <a:solidFill>
            <a:srgbClr val="E0A458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3099816" y="5705856"/>
            <a:ext cx="1033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Billable, not flagged</a:t>
            </a:r>
            <a:endParaRPr lang="en-US" sz="650" dirty="0"/>
          </a:p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78.1h · 7%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151376" y="5760720"/>
            <a:ext cx="91440" cy="91440"/>
          </a:xfrm>
          <a:prstGeom prst="rect">
            <a:avLst/>
          </a:prstGeom>
          <a:solidFill>
            <a:srgbClr val="C7D3DA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4279392" y="5705856"/>
            <a:ext cx="1033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logged</a:t>
            </a:r>
            <a:endParaRPr lang="en-US" sz="650" dirty="0"/>
          </a:p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948.9h · 89%</a:t>
            </a:r>
            <a:endParaRPr lang="en-US" sz="650" dirty="0"/>
          </a:p>
        </p:txBody>
      </p:sp>
      <p:sp>
        <p:nvSpPr>
          <p:cNvPr id="50" name="Text 47"/>
          <p:cNvSpPr txBox="1"/>
          <p:nvPr/>
        </p:nvSpPr>
        <p:spPr>
          <a:xfrm>
            <a:off x="612648" y="6135624"/>
            <a:ext cx="47183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of 1,064h available · at ~$42/h, the unlogged hours alone are ≈ $40k of cost with no owner</a:t>
            </a:r>
            <a:endParaRPr lang="en-US" sz="630" dirty="0"/>
          </a:p>
        </p:txBody>
      </p:sp>
      <p:sp>
        <p:nvSpPr>
          <p:cNvPr id="51" name="Shape 48"/>
          <p:cNvSpPr/>
          <p:nvPr/>
        </p:nvSpPr>
        <p:spPr>
          <a:xfrm>
            <a:off x="5715000" y="2084832"/>
            <a:ext cx="6062472" cy="26974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2" name="Text 49"/>
          <p:cNvSpPr txBox="1"/>
          <p:nvPr/>
        </p:nvSpPr>
        <p:spPr>
          <a:xfrm>
            <a:off x="5916168" y="219456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PARTNER COMMISSION vs THE PS WORK BEHIND IT</a:t>
            </a:r>
            <a:endParaRPr lang="en-US" sz="1200" dirty="0"/>
          </a:p>
        </p:txBody>
      </p:sp>
      <p:sp>
        <p:nvSpPr>
          <p:cNvPr id="53" name="Text 50"/>
          <p:cNvSpPr txBox="1"/>
          <p:nvPr/>
        </p:nvSpPr>
        <p:spPr>
          <a:xfrm>
            <a:off x="5916168" y="246888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PARTNER</a:t>
            </a:r>
            <a:endParaRPr lang="en-US" sz="630" dirty="0"/>
          </a:p>
        </p:txBody>
      </p:sp>
      <p:sp>
        <p:nvSpPr>
          <p:cNvPr id="54" name="Text 51"/>
          <p:cNvSpPr txBox="1"/>
          <p:nvPr/>
        </p:nvSpPr>
        <p:spPr>
          <a:xfrm>
            <a:off x="8229600" y="246888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COMMISSION JAN–SEP</a:t>
            </a:r>
            <a:endParaRPr lang="en-US" sz="630" dirty="0"/>
          </a:p>
        </p:txBody>
      </p:sp>
      <p:sp>
        <p:nvSpPr>
          <p:cNvPr id="55" name="Text 52"/>
          <p:cNvSpPr txBox="1"/>
          <p:nvPr/>
        </p:nvSpPr>
        <p:spPr>
          <a:xfrm>
            <a:off x="9372600" y="246888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 HOURS Q4</a:t>
            </a:r>
            <a:endParaRPr lang="en-US" sz="630" dirty="0"/>
          </a:p>
        </p:txBody>
      </p:sp>
      <p:sp>
        <p:nvSpPr>
          <p:cNvPr id="56" name="Text 53"/>
          <p:cNvSpPr txBox="1"/>
          <p:nvPr/>
        </p:nvSpPr>
        <p:spPr>
          <a:xfrm>
            <a:off x="10469880" y="246888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EST. PS COST</a:t>
            </a:r>
            <a:endParaRPr lang="en-US" sz="630" dirty="0"/>
          </a:p>
        </p:txBody>
      </p:sp>
      <p:sp>
        <p:nvSpPr>
          <p:cNvPr id="57" name="Text 54"/>
          <p:cNvSpPr txBox="1"/>
          <p:nvPr/>
        </p:nvSpPr>
        <p:spPr>
          <a:xfrm>
            <a:off x="5916168" y="2651760"/>
            <a:ext cx="22860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Mr Yum</a:t>
            </a:r>
            <a:endParaRPr lang="en-US" sz="750" dirty="0"/>
          </a:p>
        </p:txBody>
      </p:sp>
      <p:sp>
        <p:nvSpPr>
          <p:cNvPr id="58" name="Text 55"/>
          <p:cNvSpPr txBox="1"/>
          <p:nvPr/>
        </p:nvSpPr>
        <p:spPr>
          <a:xfrm>
            <a:off x="8229600" y="2651760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$488k</a:t>
            </a:r>
            <a:endParaRPr lang="en-US" sz="750" dirty="0"/>
          </a:p>
        </p:txBody>
      </p:sp>
      <p:sp>
        <p:nvSpPr>
          <p:cNvPr id="59" name="Text 56"/>
          <p:cNvSpPr txBox="1"/>
          <p:nvPr/>
        </p:nvSpPr>
        <p:spPr>
          <a:xfrm>
            <a:off x="9372600" y="2651760"/>
            <a:ext cx="1051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seen</a:t>
            </a:r>
            <a:endParaRPr lang="en-US" sz="750" dirty="0"/>
          </a:p>
        </p:txBody>
      </p:sp>
      <p:sp>
        <p:nvSpPr>
          <p:cNvPr id="60" name="Text 57"/>
          <p:cNvSpPr txBox="1"/>
          <p:nvPr/>
        </p:nvSpPr>
        <p:spPr>
          <a:xfrm>
            <a:off x="10469880" y="2651760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61" name="Shape 58"/>
          <p:cNvSpPr/>
          <p:nvPr/>
        </p:nvSpPr>
        <p:spPr>
          <a:xfrm>
            <a:off x="5843016" y="2807208"/>
            <a:ext cx="5806440" cy="155448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62" name="Text 59"/>
          <p:cNvSpPr txBox="1"/>
          <p:nvPr/>
        </p:nvSpPr>
        <p:spPr>
          <a:xfrm>
            <a:off x="5916168" y="2807208"/>
            <a:ext cx="22860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Tyro</a:t>
            </a:r>
            <a:endParaRPr lang="en-US" sz="750" dirty="0"/>
          </a:p>
        </p:txBody>
      </p:sp>
      <p:sp>
        <p:nvSpPr>
          <p:cNvPr id="63" name="Text 60"/>
          <p:cNvSpPr txBox="1"/>
          <p:nvPr/>
        </p:nvSpPr>
        <p:spPr>
          <a:xfrm>
            <a:off x="8229600" y="2807208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$266k</a:t>
            </a:r>
            <a:endParaRPr lang="en-US" sz="750" dirty="0"/>
          </a:p>
        </p:txBody>
      </p:sp>
      <p:sp>
        <p:nvSpPr>
          <p:cNvPr id="64" name="Text 61"/>
          <p:cNvSpPr txBox="1"/>
          <p:nvPr/>
        </p:nvSpPr>
        <p:spPr>
          <a:xfrm>
            <a:off x="9372600" y="2807208"/>
            <a:ext cx="1051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1.0h</a:t>
            </a:r>
            <a:endParaRPr lang="en-US" sz="750" dirty="0"/>
          </a:p>
        </p:txBody>
      </p:sp>
      <p:sp>
        <p:nvSpPr>
          <p:cNvPr id="65" name="Text 62"/>
          <p:cNvSpPr txBox="1"/>
          <p:nvPr/>
        </p:nvSpPr>
        <p:spPr>
          <a:xfrm>
            <a:off x="10469880" y="2807208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$42</a:t>
            </a:r>
            <a:endParaRPr lang="en-US" sz="750" dirty="0"/>
          </a:p>
        </p:txBody>
      </p:sp>
      <p:sp>
        <p:nvSpPr>
          <p:cNvPr id="66" name="Text 63"/>
          <p:cNvSpPr txBox="1"/>
          <p:nvPr/>
        </p:nvSpPr>
        <p:spPr>
          <a:xfrm>
            <a:off x="5916168" y="2962656"/>
            <a:ext cx="22860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Me&amp;U</a:t>
            </a:r>
            <a:endParaRPr lang="en-US" sz="750" dirty="0"/>
          </a:p>
        </p:txBody>
      </p:sp>
      <p:sp>
        <p:nvSpPr>
          <p:cNvPr id="67" name="Text 64"/>
          <p:cNvSpPr txBox="1"/>
          <p:nvPr/>
        </p:nvSpPr>
        <p:spPr>
          <a:xfrm>
            <a:off x="8229600" y="2962656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$126k</a:t>
            </a:r>
            <a:endParaRPr lang="en-US" sz="750" dirty="0"/>
          </a:p>
        </p:txBody>
      </p:sp>
      <p:sp>
        <p:nvSpPr>
          <p:cNvPr id="68" name="Text 65"/>
          <p:cNvSpPr txBox="1"/>
          <p:nvPr/>
        </p:nvSpPr>
        <p:spPr>
          <a:xfrm>
            <a:off x="9372600" y="2962656"/>
            <a:ext cx="1051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seen</a:t>
            </a:r>
            <a:endParaRPr lang="en-US" sz="750" dirty="0"/>
          </a:p>
        </p:txBody>
      </p:sp>
      <p:sp>
        <p:nvSpPr>
          <p:cNvPr id="69" name="Text 66"/>
          <p:cNvSpPr txBox="1"/>
          <p:nvPr/>
        </p:nvSpPr>
        <p:spPr>
          <a:xfrm>
            <a:off x="10469880" y="2962656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70" name="Shape 67"/>
          <p:cNvSpPr/>
          <p:nvPr/>
        </p:nvSpPr>
        <p:spPr>
          <a:xfrm>
            <a:off x="5843016" y="3118104"/>
            <a:ext cx="5806440" cy="155448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71" name="Text 68"/>
          <p:cNvSpPr txBox="1"/>
          <p:nvPr/>
        </p:nvSpPr>
        <p:spPr>
          <a:xfrm>
            <a:off x="5916168" y="3118104"/>
            <a:ext cx="22860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7Rs (SevenRooms)</a:t>
            </a:r>
            <a:endParaRPr lang="en-US" sz="750" dirty="0"/>
          </a:p>
        </p:txBody>
      </p:sp>
      <p:sp>
        <p:nvSpPr>
          <p:cNvPr id="72" name="Text 69"/>
          <p:cNvSpPr txBox="1"/>
          <p:nvPr/>
        </p:nvSpPr>
        <p:spPr>
          <a:xfrm>
            <a:off x="8229600" y="3118104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$112k</a:t>
            </a:r>
            <a:endParaRPr lang="en-US" sz="750" dirty="0"/>
          </a:p>
        </p:txBody>
      </p:sp>
      <p:sp>
        <p:nvSpPr>
          <p:cNvPr id="73" name="Text 70"/>
          <p:cNvSpPr txBox="1"/>
          <p:nvPr/>
        </p:nvSpPr>
        <p:spPr>
          <a:xfrm>
            <a:off x="9372600" y="3118104"/>
            <a:ext cx="1051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2.0h</a:t>
            </a:r>
            <a:endParaRPr lang="en-US" sz="750" dirty="0"/>
          </a:p>
        </p:txBody>
      </p:sp>
      <p:sp>
        <p:nvSpPr>
          <p:cNvPr id="74" name="Text 71"/>
          <p:cNvSpPr txBox="1"/>
          <p:nvPr/>
        </p:nvSpPr>
        <p:spPr>
          <a:xfrm>
            <a:off x="10469880" y="3118104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$84</a:t>
            </a:r>
            <a:endParaRPr lang="en-US" sz="750" dirty="0"/>
          </a:p>
        </p:txBody>
      </p:sp>
      <p:sp>
        <p:nvSpPr>
          <p:cNvPr id="75" name="Text 72"/>
          <p:cNvSpPr txBox="1"/>
          <p:nvPr/>
        </p:nvSpPr>
        <p:spPr>
          <a:xfrm>
            <a:off x="5916168" y="3273552"/>
            <a:ext cx="22860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Zeller</a:t>
            </a:r>
            <a:endParaRPr lang="en-US" sz="750" dirty="0"/>
          </a:p>
        </p:txBody>
      </p:sp>
      <p:sp>
        <p:nvSpPr>
          <p:cNvPr id="76" name="Text 73"/>
          <p:cNvSpPr txBox="1"/>
          <p:nvPr/>
        </p:nvSpPr>
        <p:spPr>
          <a:xfrm>
            <a:off x="8229600" y="3273552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$79k</a:t>
            </a:r>
            <a:endParaRPr lang="en-US" sz="750" dirty="0"/>
          </a:p>
        </p:txBody>
      </p:sp>
      <p:sp>
        <p:nvSpPr>
          <p:cNvPr id="77" name="Text 74"/>
          <p:cNvSpPr txBox="1"/>
          <p:nvPr/>
        </p:nvSpPr>
        <p:spPr>
          <a:xfrm>
            <a:off x="9372600" y="3273552"/>
            <a:ext cx="1051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1.0h</a:t>
            </a:r>
            <a:endParaRPr lang="en-US" sz="750" dirty="0"/>
          </a:p>
        </p:txBody>
      </p:sp>
      <p:sp>
        <p:nvSpPr>
          <p:cNvPr id="78" name="Text 75"/>
          <p:cNvSpPr txBox="1"/>
          <p:nvPr/>
        </p:nvSpPr>
        <p:spPr>
          <a:xfrm>
            <a:off x="10469880" y="3273552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$42</a:t>
            </a:r>
            <a:endParaRPr lang="en-US" sz="750" dirty="0"/>
          </a:p>
        </p:txBody>
      </p:sp>
      <p:sp>
        <p:nvSpPr>
          <p:cNvPr id="79" name="Shape 76"/>
          <p:cNvSpPr/>
          <p:nvPr/>
        </p:nvSpPr>
        <p:spPr>
          <a:xfrm>
            <a:off x="5843016" y="3429000"/>
            <a:ext cx="5806440" cy="155448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80" name="Text 77"/>
          <p:cNvSpPr txBox="1"/>
          <p:nvPr/>
        </p:nvSpPr>
        <p:spPr>
          <a:xfrm>
            <a:off x="5916168" y="3429000"/>
            <a:ext cx="22860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Zen</a:t>
            </a:r>
            <a:endParaRPr lang="en-US" sz="750" dirty="0"/>
          </a:p>
        </p:txBody>
      </p:sp>
      <p:sp>
        <p:nvSpPr>
          <p:cNvPr id="81" name="Text 78"/>
          <p:cNvSpPr txBox="1"/>
          <p:nvPr/>
        </p:nvSpPr>
        <p:spPr>
          <a:xfrm>
            <a:off x="8229600" y="3429000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$61k</a:t>
            </a:r>
            <a:endParaRPr lang="en-US" sz="750" dirty="0"/>
          </a:p>
        </p:txBody>
      </p:sp>
      <p:sp>
        <p:nvSpPr>
          <p:cNvPr id="82" name="Text 79"/>
          <p:cNvSpPr txBox="1"/>
          <p:nvPr/>
        </p:nvSpPr>
        <p:spPr>
          <a:xfrm>
            <a:off x="9372600" y="3429000"/>
            <a:ext cx="1051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seen</a:t>
            </a:r>
            <a:endParaRPr lang="en-US" sz="750" dirty="0"/>
          </a:p>
        </p:txBody>
      </p:sp>
      <p:sp>
        <p:nvSpPr>
          <p:cNvPr id="83" name="Text 80"/>
          <p:cNvSpPr txBox="1"/>
          <p:nvPr/>
        </p:nvSpPr>
        <p:spPr>
          <a:xfrm>
            <a:off x="10469880" y="3429000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84" name="Text 81"/>
          <p:cNvSpPr txBox="1"/>
          <p:nvPr/>
        </p:nvSpPr>
        <p:spPr>
          <a:xfrm>
            <a:off x="5916168" y="3584448"/>
            <a:ext cx="22860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Chewzie</a:t>
            </a:r>
            <a:endParaRPr lang="en-US" sz="750" dirty="0"/>
          </a:p>
        </p:txBody>
      </p:sp>
      <p:sp>
        <p:nvSpPr>
          <p:cNvPr id="85" name="Text 82"/>
          <p:cNvSpPr txBox="1"/>
          <p:nvPr/>
        </p:nvSpPr>
        <p:spPr>
          <a:xfrm>
            <a:off x="8229600" y="3584448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$45k</a:t>
            </a:r>
            <a:endParaRPr lang="en-US" sz="750" dirty="0"/>
          </a:p>
        </p:txBody>
      </p:sp>
      <p:sp>
        <p:nvSpPr>
          <p:cNvPr id="86" name="Text 83"/>
          <p:cNvSpPr txBox="1"/>
          <p:nvPr/>
        </p:nvSpPr>
        <p:spPr>
          <a:xfrm>
            <a:off x="9372600" y="3584448"/>
            <a:ext cx="1051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seen</a:t>
            </a:r>
            <a:endParaRPr lang="en-US" sz="750" dirty="0"/>
          </a:p>
        </p:txBody>
      </p:sp>
      <p:sp>
        <p:nvSpPr>
          <p:cNvPr id="87" name="Text 84"/>
          <p:cNvSpPr txBox="1"/>
          <p:nvPr/>
        </p:nvSpPr>
        <p:spPr>
          <a:xfrm>
            <a:off x="10469880" y="3584448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88" name="Shape 85"/>
          <p:cNvSpPr/>
          <p:nvPr/>
        </p:nvSpPr>
        <p:spPr>
          <a:xfrm>
            <a:off x="5843016" y="3739896"/>
            <a:ext cx="5806440" cy="155448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89" name="Text 86"/>
          <p:cNvSpPr txBox="1"/>
          <p:nvPr/>
        </p:nvSpPr>
        <p:spPr>
          <a:xfrm>
            <a:off x="5916168" y="3739896"/>
            <a:ext cx="22860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HungryHungry</a:t>
            </a:r>
            <a:endParaRPr lang="en-US" sz="750" dirty="0"/>
          </a:p>
        </p:txBody>
      </p:sp>
      <p:sp>
        <p:nvSpPr>
          <p:cNvPr id="90" name="Text 87"/>
          <p:cNvSpPr txBox="1"/>
          <p:nvPr/>
        </p:nvSpPr>
        <p:spPr>
          <a:xfrm>
            <a:off x="8229600" y="3739896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$16k</a:t>
            </a:r>
            <a:endParaRPr lang="en-US" sz="750" dirty="0"/>
          </a:p>
        </p:txBody>
      </p:sp>
      <p:sp>
        <p:nvSpPr>
          <p:cNvPr id="91" name="Text 88"/>
          <p:cNvSpPr txBox="1"/>
          <p:nvPr/>
        </p:nvSpPr>
        <p:spPr>
          <a:xfrm>
            <a:off x="9372600" y="3739896"/>
            <a:ext cx="1051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1.5h</a:t>
            </a:r>
            <a:endParaRPr lang="en-US" sz="750" dirty="0"/>
          </a:p>
        </p:txBody>
      </p:sp>
      <p:sp>
        <p:nvSpPr>
          <p:cNvPr id="92" name="Text 89"/>
          <p:cNvSpPr txBox="1"/>
          <p:nvPr/>
        </p:nvSpPr>
        <p:spPr>
          <a:xfrm>
            <a:off x="10469880" y="3739896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$63</a:t>
            </a:r>
            <a:endParaRPr lang="en-US" sz="750" dirty="0"/>
          </a:p>
        </p:txBody>
      </p:sp>
      <p:sp>
        <p:nvSpPr>
          <p:cNvPr id="93" name="Text 90"/>
          <p:cNvSpPr txBox="1"/>
          <p:nvPr/>
        </p:nvSpPr>
        <p:spPr>
          <a:xfrm>
            <a:off x="5916168" y="3895344"/>
            <a:ext cx="22860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EatClub</a:t>
            </a:r>
            <a:endParaRPr lang="en-US" sz="750" dirty="0"/>
          </a:p>
        </p:txBody>
      </p:sp>
      <p:sp>
        <p:nvSpPr>
          <p:cNvPr id="94" name="Text 91"/>
          <p:cNvSpPr txBox="1"/>
          <p:nvPr/>
        </p:nvSpPr>
        <p:spPr>
          <a:xfrm>
            <a:off x="8229600" y="3895344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$2k</a:t>
            </a:r>
            <a:endParaRPr lang="en-US" sz="750" dirty="0"/>
          </a:p>
        </p:txBody>
      </p:sp>
      <p:sp>
        <p:nvSpPr>
          <p:cNvPr id="95" name="Text 92"/>
          <p:cNvSpPr txBox="1"/>
          <p:nvPr/>
        </p:nvSpPr>
        <p:spPr>
          <a:xfrm>
            <a:off x="9372600" y="3895344"/>
            <a:ext cx="1051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1.1h</a:t>
            </a:r>
            <a:endParaRPr lang="en-US" sz="750" dirty="0"/>
          </a:p>
        </p:txBody>
      </p:sp>
      <p:sp>
        <p:nvSpPr>
          <p:cNvPr id="96" name="Text 93"/>
          <p:cNvSpPr txBox="1"/>
          <p:nvPr/>
        </p:nvSpPr>
        <p:spPr>
          <a:xfrm>
            <a:off x="10469880" y="3895344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$47</a:t>
            </a:r>
            <a:endParaRPr lang="en-US" sz="750" dirty="0"/>
          </a:p>
        </p:txBody>
      </p:sp>
      <p:sp>
        <p:nvSpPr>
          <p:cNvPr id="97" name="Shape 94"/>
          <p:cNvSpPr/>
          <p:nvPr/>
        </p:nvSpPr>
        <p:spPr>
          <a:xfrm>
            <a:off x="5843016" y="4050792"/>
            <a:ext cx="5806440" cy="155448"/>
          </a:xfrm>
          <a:prstGeom prst="rect">
            <a:avLst/>
          </a:prstGeom>
          <a:solidFill>
            <a:srgbClr val="F2F6F8"/>
          </a:solidFill>
          <a:ln/>
        </p:spPr>
      </p:sp>
      <p:sp>
        <p:nvSpPr>
          <p:cNvPr id="98" name="Text 95"/>
          <p:cNvSpPr txBox="1"/>
          <p:nvPr/>
        </p:nvSpPr>
        <p:spPr>
          <a:xfrm>
            <a:off x="5916168" y="4050792"/>
            <a:ext cx="22860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 (ValPay share)</a:t>
            </a:r>
            <a:endParaRPr lang="en-US" sz="750" dirty="0"/>
          </a:p>
        </p:txBody>
      </p:sp>
      <p:sp>
        <p:nvSpPr>
          <p:cNvPr id="99" name="Text 96"/>
          <p:cNvSpPr txBox="1"/>
          <p:nvPr/>
        </p:nvSpPr>
        <p:spPr>
          <a:xfrm>
            <a:off x="8229600" y="4050792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separate</a:t>
            </a:r>
            <a:endParaRPr lang="en-US" sz="750" dirty="0"/>
          </a:p>
        </p:txBody>
      </p:sp>
      <p:sp>
        <p:nvSpPr>
          <p:cNvPr id="100" name="Text 97"/>
          <p:cNvSpPr txBox="1"/>
          <p:nvPr/>
        </p:nvSpPr>
        <p:spPr>
          <a:xfrm>
            <a:off x="9372600" y="4050792"/>
            <a:ext cx="1051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4.0h</a:t>
            </a:r>
            <a:endParaRPr lang="en-US" sz="750" dirty="0"/>
          </a:p>
        </p:txBody>
      </p:sp>
      <p:sp>
        <p:nvSpPr>
          <p:cNvPr id="101" name="Text 98"/>
          <p:cNvSpPr txBox="1"/>
          <p:nvPr/>
        </p:nvSpPr>
        <p:spPr>
          <a:xfrm>
            <a:off x="10469880" y="4050792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$168</a:t>
            </a:r>
            <a:endParaRPr lang="en-US" sz="750" dirty="0"/>
          </a:p>
        </p:txBody>
      </p:sp>
      <p:sp>
        <p:nvSpPr>
          <p:cNvPr id="102" name="Text 99"/>
          <p:cNvSpPr txBox="1"/>
          <p:nvPr/>
        </p:nvSpPr>
        <p:spPr>
          <a:xfrm>
            <a:off x="5916168" y="4206240"/>
            <a:ext cx="22860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Uber Eats — no commission</a:t>
            </a:r>
            <a:endParaRPr lang="en-US" sz="750" dirty="0"/>
          </a:p>
        </p:txBody>
      </p:sp>
      <p:sp>
        <p:nvSpPr>
          <p:cNvPr id="103" name="Text 100"/>
          <p:cNvSpPr txBox="1"/>
          <p:nvPr/>
        </p:nvSpPr>
        <p:spPr>
          <a:xfrm>
            <a:off x="8229600" y="4206240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$0</a:t>
            </a:r>
            <a:endParaRPr lang="en-US" sz="750" dirty="0"/>
          </a:p>
        </p:txBody>
      </p:sp>
      <p:sp>
        <p:nvSpPr>
          <p:cNvPr id="104" name="Text 101"/>
          <p:cNvSpPr txBox="1"/>
          <p:nvPr/>
        </p:nvSpPr>
        <p:spPr>
          <a:xfrm>
            <a:off x="9372600" y="4206240"/>
            <a:ext cx="1051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6.3h</a:t>
            </a:r>
            <a:endParaRPr lang="en-US" sz="750" dirty="0"/>
          </a:p>
        </p:txBody>
      </p:sp>
      <p:sp>
        <p:nvSpPr>
          <p:cNvPr id="105" name="Text 102"/>
          <p:cNvSpPr txBox="1"/>
          <p:nvPr/>
        </p:nvSpPr>
        <p:spPr>
          <a:xfrm>
            <a:off x="10469880" y="4206240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$265</a:t>
            </a:r>
            <a:endParaRPr lang="en-US" sz="750" dirty="0"/>
          </a:p>
        </p:txBody>
      </p:sp>
      <p:sp>
        <p:nvSpPr>
          <p:cNvPr id="106" name="Text 103"/>
          <p:cNvSpPr txBox="1"/>
          <p:nvPr/>
        </p:nvSpPr>
        <p:spPr>
          <a:xfrm>
            <a:off x="5916168" y="4453128"/>
            <a:ext cx="5660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Q4 hours are matched on partner names in ticket subjects (estimate) — none carry a partner or non-chargeable reason yet. All are logged billable. Cost at ~$42/h: ≈ $62.4k a month of PS cost ÷ ≈1,480 available hours (9 PS staff × 38h) — estimate.</a:t>
            </a:r>
            <a:endParaRPr lang="en-US" sz="580" dirty="0"/>
          </a:p>
        </p:txBody>
      </p:sp>
      <p:sp>
        <p:nvSpPr>
          <p:cNvPr id="107" name="Shape 104"/>
          <p:cNvSpPr/>
          <p:nvPr/>
        </p:nvSpPr>
        <p:spPr>
          <a:xfrm>
            <a:off x="5715000" y="4892040"/>
            <a:ext cx="6062472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08" name="Text 105"/>
          <p:cNvSpPr txBox="1"/>
          <p:nvPr/>
        </p:nvSpPr>
        <p:spPr>
          <a:xfrm>
            <a:off x="5916168" y="5001768"/>
            <a:ext cx="5696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109" name="Text 106"/>
          <p:cNvSpPr txBox="1"/>
          <p:nvPr/>
        </p:nvSpPr>
        <p:spPr>
          <a:xfrm>
            <a:off x="5916168" y="5312664"/>
            <a:ext cx="5650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 is $268k short, but partners paid H&amp;L $1.29M.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Part of PS's unrecovered cost is the integration work that keeps that commission flowing.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 can't price that work yet.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16.9h in Q4 can be tied to a partner, from ticket subjects only, and none carry a non-chargeable reason. 6.3h went to Uber Eats, which pays no commission.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Fix: two fields on every hidden hour —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non-chargeable reason (partner integration · legacy key account) and who it was for.</a:t>
            </a:r>
            <a:endParaRPr lang="en-US" sz="900" dirty="0"/>
          </a:p>
        </p:txBody>
      </p:sp>
      <p:sp>
        <p:nvSpPr>
          <p:cNvPr id="110" name="Shape 107"/>
          <p:cNvSpPr/>
          <p:nvPr/>
        </p:nvSpPr>
        <p:spPr>
          <a:xfrm>
            <a:off x="5925312" y="6510528"/>
            <a:ext cx="5852160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111" name="Text 108"/>
          <p:cNvSpPr txBox="1"/>
          <p:nvPr/>
        </p:nvSpPr>
        <p:spPr>
          <a:xfrm>
            <a:off x="5925312" y="6510528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PS P&amp;L Jan–Sep 2026 (Finance) · Premium Partner Commissions 2026 · HubSpot PS tickets Q4 to 25 Oct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oppi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oppi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2026-10-25T13:42:27Z</dcterms:created>
  <dcterms:modified xsi:type="dcterms:W3CDTF">2026-10-25T13:42:27Z</dcterms:modified>
</cp:coreProperties>
</file>