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24452</c:v>
                </c:pt>
                <c:pt idx="1">
                  <c:v>27867</c:v>
                </c:pt>
                <c:pt idx="2">
                  <c:v>30164</c:v>
                </c:pt>
                <c:pt idx="3">
                  <c:v>23947</c:v>
                </c:pt>
                <c:pt idx="4">
                  <c:v>32107</c:v>
                </c:pt>
                <c:pt idx="5">
                  <c:v>32610</c:v>
                </c:pt>
                <c:pt idx="6">
                  <c:v>35340</c:v>
                </c:pt>
                <c:pt idx="7">
                  <c:v>66642</c:v>
                </c:pt>
                <c:pt idx="8">
                  <c:v>20359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56087</c:v>
                </c:pt>
                <c:pt idx="1">
                  <c:v>63765</c:v>
                </c:pt>
                <c:pt idx="2">
                  <c:v>75839</c:v>
                </c:pt>
                <c:pt idx="3">
                  <c:v>69343</c:v>
                </c:pt>
                <c:pt idx="4">
                  <c:v>60274</c:v>
                </c:pt>
                <c:pt idx="5">
                  <c:v>60368</c:v>
                </c:pt>
                <c:pt idx="6">
                  <c:v>60240</c:v>
                </c:pt>
                <c:pt idx="7">
                  <c:v>50403</c:v>
                </c:pt>
                <c:pt idx="8">
                  <c:v>65362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Contribution</c:v>
                </c:pt>
              </c:strCache>
            </c:strRef>
          </c:tx>
          <c:spPr>
            <a:solidFill>
              <a:srgbClr val="C2562A"/>
            </a:solidFill>
            <a:ln w="28575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-31635</c:v>
                </c:pt>
                <c:pt idx="1">
                  <c:v>-35898</c:v>
                </c:pt>
                <c:pt idx="2">
                  <c:v>-45675</c:v>
                </c:pt>
                <c:pt idx="3">
                  <c:v>-45396</c:v>
                </c:pt>
                <c:pt idx="4">
                  <c:v>-28167</c:v>
                </c:pt>
                <c:pt idx="5">
                  <c:v>-27758</c:v>
                </c:pt>
                <c:pt idx="6">
                  <c:v>-24900</c:v>
                </c:pt>
                <c:pt idx="7">
                  <c:v>16239</c:v>
                </c:pt>
                <c:pt idx="8">
                  <c:v>-45003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-600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Economics — The Hidden Work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</a:t>
            </a:r>
            <a:endParaRPr lang="en-US" sz="700" dirty="0"/>
          </a:p>
        </p:txBody>
      </p:sp>
      <p:sp>
        <p:nvSpPr>
          <p:cNvPr id="16" name="Text 14"/>
          <p:cNvSpPr txBox="1"/>
          <p:nvPr/>
        </p:nvSpPr>
        <p:spPr>
          <a:xfrm>
            <a:off x="53035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311.6h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51.0h last week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2328672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465832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65832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2447544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2465832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16.8% last week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4245864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383024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383024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CHARGEABLE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364736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30%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383024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12.5h (25%) last week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6163056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00216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300216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NON-CHARGEABLE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6281928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9%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6300216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from 1.0h (2%) last week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8080248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217408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17408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UTILISED · NON-BILLABLE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8199120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217408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non-billable records yet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999744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134600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013460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NON-UTILISED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1011631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1013460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admin, meetings, leave not logged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411480" y="2011680"/>
            <a:ext cx="5120640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612648" y="21214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P&amp;L BY MONTH — 2026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2788920" y="21214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Jan–Sep: revenue $293k · cost $562k · −$268k</a:t>
            </a:r>
            <a:endParaRPr lang="en-US" sz="70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521208" y="2359152"/>
          <a:ext cx="4901184" cy="18196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Shape 44"/>
          <p:cNvSpPr/>
          <p:nvPr/>
        </p:nvSpPr>
        <p:spPr>
          <a:xfrm>
            <a:off x="411480" y="4361688"/>
            <a:ext cx="5120640" cy="20574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612648" y="4434840"/>
            <a:ext cx="4718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ON WEEK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the weeks stand today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612648" y="47091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endParaRPr lang="en-US" sz="630" dirty="0"/>
          </a:p>
        </p:txBody>
      </p:sp>
      <p:sp>
        <p:nvSpPr>
          <p:cNvPr id="50" name="Text 47"/>
          <p:cNvSpPr txBox="1"/>
          <p:nvPr/>
        </p:nvSpPr>
        <p:spPr>
          <a:xfrm>
            <a:off x="1737360" y="47091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ITEMS</a:t>
            </a:r>
            <a:endParaRPr lang="en-US" sz="630" dirty="0"/>
          </a:p>
        </p:txBody>
      </p:sp>
      <p:sp>
        <p:nvSpPr>
          <p:cNvPr id="51" name="Text 48"/>
          <p:cNvSpPr txBox="1"/>
          <p:nvPr/>
        </p:nvSpPr>
        <p:spPr>
          <a:xfrm>
            <a:off x="2240280" y="4709160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NOW</a:t>
            </a:r>
            <a:endParaRPr lang="en-US" sz="630" dirty="0"/>
          </a:p>
        </p:txBody>
      </p:sp>
      <p:sp>
        <p:nvSpPr>
          <p:cNvPr id="52" name="Text 49"/>
          <p:cNvSpPr txBox="1"/>
          <p:nvPr/>
        </p:nvSpPr>
        <p:spPr>
          <a:xfrm>
            <a:off x="3063240" y="47091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</a:t>
            </a:r>
            <a:endParaRPr lang="en-US" sz="630" dirty="0"/>
          </a:p>
        </p:txBody>
      </p:sp>
      <p:sp>
        <p:nvSpPr>
          <p:cNvPr id="53" name="Text 50"/>
          <p:cNvSpPr txBox="1"/>
          <p:nvPr/>
        </p:nvSpPr>
        <p:spPr>
          <a:xfrm>
            <a:off x="3611880" y="470916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FIRST REPORTED</a:t>
            </a:r>
            <a:endParaRPr lang="en-US" sz="630" dirty="0"/>
          </a:p>
        </p:txBody>
      </p:sp>
      <p:sp>
        <p:nvSpPr>
          <p:cNvPr id="54" name="Shape 51"/>
          <p:cNvSpPr/>
          <p:nvPr/>
        </p:nvSpPr>
        <p:spPr>
          <a:xfrm>
            <a:off x="612648" y="5148072"/>
            <a:ext cx="4718304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612648" y="49103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 Sep–4 Oct</a:t>
            </a:r>
            <a:endParaRPr lang="en-US" sz="800" dirty="0"/>
          </a:p>
        </p:txBody>
      </p:sp>
      <p:sp>
        <p:nvSpPr>
          <p:cNvPr id="56" name="Text 53"/>
          <p:cNvSpPr txBox="1"/>
          <p:nvPr/>
        </p:nvSpPr>
        <p:spPr>
          <a:xfrm>
            <a:off x="1737360" y="491032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</a:t>
            </a:r>
            <a:endParaRPr lang="en-US" sz="800" dirty="0"/>
          </a:p>
        </p:txBody>
      </p:sp>
      <p:sp>
        <p:nvSpPr>
          <p:cNvPr id="57" name="Text 54"/>
          <p:cNvSpPr txBox="1"/>
          <p:nvPr/>
        </p:nvSpPr>
        <p:spPr>
          <a:xfrm>
            <a:off x="2240280" y="4910328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83.46h</a:t>
            </a:r>
            <a:endParaRPr lang="en-US" sz="850" dirty="0"/>
          </a:p>
        </p:txBody>
      </p:sp>
      <p:sp>
        <p:nvSpPr>
          <p:cNvPr id="58" name="Text 55"/>
          <p:cNvSpPr txBox="1"/>
          <p:nvPr/>
        </p:nvSpPr>
        <p:spPr>
          <a:xfrm>
            <a:off x="3063240" y="4910328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31.4%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3611880" y="4910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88.87h · 33.4%   ▼ −5.41h</a:t>
            </a:r>
            <a:endParaRPr lang="en-US" sz="700" dirty="0"/>
          </a:p>
        </p:txBody>
      </p:sp>
      <p:sp>
        <p:nvSpPr>
          <p:cNvPr id="60" name="Shape 57"/>
          <p:cNvSpPr/>
          <p:nvPr/>
        </p:nvSpPr>
        <p:spPr>
          <a:xfrm>
            <a:off x="612648" y="5394960"/>
            <a:ext cx="4718304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612648" y="5157216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5–11 Oct</a:t>
            </a:r>
            <a:endParaRPr lang="en-US" sz="800" dirty="0"/>
          </a:p>
        </p:txBody>
      </p:sp>
      <p:sp>
        <p:nvSpPr>
          <p:cNvPr id="62" name="Text 59"/>
          <p:cNvSpPr txBox="1"/>
          <p:nvPr/>
        </p:nvSpPr>
        <p:spPr>
          <a:xfrm>
            <a:off x="1737360" y="515721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800" dirty="0"/>
          </a:p>
        </p:txBody>
      </p:sp>
      <p:sp>
        <p:nvSpPr>
          <p:cNvPr id="63" name="Text 60"/>
          <p:cNvSpPr txBox="1"/>
          <p:nvPr/>
        </p:nvSpPr>
        <p:spPr>
          <a:xfrm>
            <a:off x="2240280" y="5157216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35.25h</a:t>
            </a:r>
            <a:endParaRPr lang="en-US" sz="850" dirty="0"/>
          </a:p>
        </p:txBody>
      </p:sp>
      <p:sp>
        <p:nvSpPr>
          <p:cNvPr id="64" name="Text 61"/>
          <p:cNvSpPr txBox="1"/>
          <p:nvPr/>
        </p:nvSpPr>
        <p:spPr>
          <a:xfrm>
            <a:off x="3063240" y="5157216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10.3%</a:t>
            </a:r>
            <a:endParaRPr lang="en-US" sz="850" dirty="0"/>
          </a:p>
        </p:txBody>
      </p:sp>
      <p:sp>
        <p:nvSpPr>
          <p:cNvPr id="65" name="Text 62"/>
          <p:cNvSpPr txBox="1"/>
          <p:nvPr/>
        </p:nvSpPr>
        <p:spPr>
          <a:xfrm>
            <a:off x="3611880" y="5157216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21.25h · 6.2%   ▲ +14.00h</a:t>
            </a:r>
            <a:endParaRPr lang="en-US" sz="700" dirty="0"/>
          </a:p>
        </p:txBody>
      </p:sp>
      <p:sp>
        <p:nvSpPr>
          <p:cNvPr id="66" name="Shape 63"/>
          <p:cNvSpPr/>
          <p:nvPr/>
        </p:nvSpPr>
        <p:spPr>
          <a:xfrm>
            <a:off x="612648" y="5641848"/>
            <a:ext cx="4718304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612648" y="5404104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12–18 Oct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1737360" y="540410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</a:t>
            </a:r>
            <a:endParaRPr lang="en-US" sz="800" dirty="0"/>
          </a:p>
        </p:txBody>
      </p:sp>
      <p:sp>
        <p:nvSpPr>
          <p:cNvPr id="69" name="Text 66"/>
          <p:cNvSpPr txBox="1"/>
          <p:nvPr/>
        </p:nvSpPr>
        <p:spPr>
          <a:xfrm>
            <a:off x="2240280" y="540410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51.02h</a:t>
            </a:r>
            <a:endParaRPr lang="en-US" sz="850" dirty="0"/>
          </a:p>
        </p:txBody>
      </p:sp>
      <p:sp>
        <p:nvSpPr>
          <p:cNvPr id="70" name="Text 67"/>
          <p:cNvSpPr txBox="1"/>
          <p:nvPr/>
        </p:nvSpPr>
        <p:spPr>
          <a:xfrm>
            <a:off x="3063240" y="5404104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16.8%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3611880" y="540410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39.45h · 13.0%   ▲ +11.57h</a:t>
            </a:r>
            <a:endParaRPr lang="en-US" sz="700" dirty="0"/>
          </a:p>
        </p:txBody>
      </p:sp>
      <p:sp>
        <p:nvSpPr>
          <p:cNvPr id="72" name="Shape 69"/>
          <p:cNvSpPr/>
          <p:nvPr/>
        </p:nvSpPr>
        <p:spPr>
          <a:xfrm>
            <a:off x="612648" y="5888736"/>
            <a:ext cx="4718304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612648" y="5650992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19–25 Oct  ●</a:t>
            </a:r>
            <a:endParaRPr lang="en-US" sz="800" dirty="0"/>
          </a:p>
        </p:txBody>
      </p:sp>
      <p:sp>
        <p:nvSpPr>
          <p:cNvPr id="74" name="Text 71"/>
          <p:cNvSpPr txBox="1"/>
          <p:nvPr/>
        </p:nvSpPr>
        <p:spPr>
          <a:xfrm>
            <a:off x="1737360" y="565099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800" dirty="0"/>
          </a:p>
        </p:txBody>
      </p:sp>
      <p:sp>
        <p:nvSpPr>
          <p:cNvPr id="75" name="Text 72"/>
          <p:cNvSpPr txBox="1"/>
          <p:nvPr/>
        </p:nvSpPr>
        <p:spPr>
          <a:xfrm>
            <a:off x="2240280" y="56509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11.50h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3063240" y="5650992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3611880" y="5650992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</a:t>
            </a:r>
            <a:endParaRPr lang="en-US" sz="730" dirty="0"/>
          </a:p>
        </p:txBody>
      </p:sp>
      <p:sp>
        <p:nvSpPr>
          <p:cNvPr id="78" name="Text 75"/>
          <p:cNvSpPr txBox="1"/>
          <p:nvPr/>
        </p:nvSpPr>
        <p:spPr>
          <a:xfrm>
            <a:off x="612648" y="6089904"/>
            <a:ext cx="4718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 is available staff × 38h: 7 for 28 Sep–4 Oct (Rhys and Rodney on leave), 9 for 5–11 Oct, 8 for 12–18 Oct (Isayah on leave) and 9 this week less two days each for Argenis and Karim. PS-pipeline tickets by Sydney week, re-pulled 24 Oct.</a:t>
            </a:r>
            <a:endParaRPr lang="en-US" sz="580" dirty="0"/>
          </a:p>
        </p:txBody>
      </p:sp>
      <p:sp>
        <p:nvSpPr>
          <p:cNvPr id="79" name="Shape 76"/>
          <p:cNvSpPr/>
          <p:nvPr/>
        </p:nvSpPr>
        <p:spPr>
          <a:xfrm>
            <a:off x="57150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0" name="Text 77"/>
          <p:cNvSpPr txBox="1"/>
          <p:nvPr/>
        </p:nvSpPr>
        <p:spPr>
          <a:xfrm>
            <a:off x="58795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PARTNERS — COMMISSION vs PS WORK</a:t>
            </a:r>
            <a:endParaRPr lang="en-US" sz="950" dirty="0"/>
          </a:p>
        </p:txBody>
      </p:sp>
      <p:sp>
        <p:nvSpPr>
          <p:cNvPr id="81" name="Text 78"/>
          <p:cNvSpPr txBox="1"/>
          <p:nvPr/>
        </p:nvSpPr>
        <p:spPr>
          <a:xfrm>
            <a:off x="5879592" y="239572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</a:t>
            </a:r>
            <a:endParaRPr lang="en-US" sz="560" dirty="0"/>
          </a:p>
        </p:txBody>
      </p:sp>
      <p:sp>
        <p:nvSpPr>
          <p:cNvPr id="82" name="Text 79"/>
          <p:cNvSpPr txBox="1"/>
          <p:nvPr/>
        </p:nvSpPr>
        <p:spPr>
          <a:xfrm>
            <a:off x="6903720" y="239572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COMM. JAN–SEP</a:t>
            </a:r>
            <a:endParaRPr lang="en-US" sz="560" dirty="0"/>
          </a:p>
        </p:txBody>
      </p:sp>
      <p:sp>
        <p:nvSpPr>
          <p:cNvPr id="83" name="Text 80"/>
          <p:cNvSpPr txBox="1"/>
          <p:nvPr/>
        </p:nvSpPr>
        <p:spPr>
          <a:xfrm>
            <a:off x="7680960" y="2395728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84" name="Text 81"/>
          <p:cNvSpPr txBox="1"/>
          <p:nvPr/>
        </p:nvSpPr>
        <p:spPr>
          <a:xfrm>
            <a:off x="8092440" y="239572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EST. COST</a:t>
            </a:r>
            <a:endParaRPr lang="en-US" sz="560" dirty="0"/>
          </a:p>
        </p:txBody>
      </p:sp>
      <p:sp>
        <p:nvSpPr>
          <p:cNvPr id="85" name="Text 82"/>
          <p:cNvSpPr txBox="1"/>
          <p:nvPr/>
        </p:nvSpPr>
        <p:spPr>
          <a:xfrm>
            <a:off x="5879592" y="2560320"/>
            <a:ext cx="10972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 Yum</a:t>
            </a:r>
            <a:endParaRPr lang="en-US" sz="680" dirty="0"/>
          </a:p>
        </p:txBody>
      </p:sp>
      <p:sp>
        <p:nvSpPr>
          <p:cNvPr id="86" name="Text 83"/>
          <p:cNvSpPr txBox="1"/>
          <p:nvPr/>
        </p:nvSpPr>
        <p:spPr>
          <a:xfrm>
            <a:off x="6903720" y="2560320"/>
            <a:ext cx="7315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$488k</a:t>
            </a:r>
            <a:endParaRPr lang="en-US" sz="680" dirty="0"/>
          </a:p>
        </p:txBody>
      </p:sp>
      <p:sp>
        <p:nvSpPr>
          <p:cNvPr id="87" name="Text 84"/>
          <p:cNvSpPr txBox="1"/>
          <p:nvPr/>
        </p:nvSpPr>
        <p:spPr>
          <a:xfrm>
            <a:off x="7680960" y="256032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8" name="Text 85"/>
          <p:cNvSpPr txBox="1"/>
          <p:nvPr/>
        </p:nvSpPr>
        <p:spPr>
          <a:xfrm>
            <a:off x="8092440" y="2560320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9" name="Shape 86"/>
          <p:cNvSpPr/>
          <p:nvPr/>
        </p:nvSpPr>
        <p:spPr>
          <a:xfrm>
            <a:off x="58064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5879592" y="2711196"/>
            <a:ext cx="10972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Tyro</a:t>
            </a:r>
            <a:endParaRPr lang="en-US" sz="680" dirty="0"/>
          </a:p>
        </p:txBody>
      </p:sp>
      <p:sp>
        <p:nvSpPr>
          <p:cNvPr id="91" name="Text 88"/>
          <p:cNvSpPr txBox="1"/>
          <p:nvPr/>
        </p:nvSpPr>
        <p:spPr>
          <a:xfrm>
            <a:off x="6903720" y="2711196"/>
            <a:ext cx="7315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$266k</a:t>
            </a:r>
            <a:endParaRPr lang="en-US" sz="680" dirty="0"/>
          </a:p>
        </p:txBody>
      </p:sp>
      <p:sp>
        <p:nvSpPr>
          <p:cNvPr id="92" name="Text 89"/>
          <p:cNvSpPr txBox="1"/>
          <p:nvPr/>
        </p:nvSpPr>
        <p:spPr>
          <a:xfrm>
            <a:off x="7680960" y="271119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93" name="Text 90"/>
          <p:cNvSpPr txBox="1"/>
          <p:nvPr/>
        </p:nvSpPr>
        <p:spPr>
          <a:xfrm>
            <a:off x="8092440" y="2711196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$42</a:t>
            </a:r>
            <a:endParaRPr lang="en-US" sz="680" dirty="0"/>
          </a:p>
        </p:txBody>
      </p:sp>
      <p:sp>
        <p:nvSpPr>
          <p:cNvPr id="94" name="Text 91"/>
          <p:cNvSpPr txBox="1"/>
          <p:nvPr/>
        </p:nvSpPr>
        <p:spPr>
          <a:xfrm>
            <a:off x="5879592" y="2862072"/>
            <a:ext cx="10972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Me&amp;U</a:t>
            </a:r>
            <a:endParaRPr lang="en-US" sz="680" dirty="0"/>
          </a:p>
        </p:txBody>
      </p:sp>
      <p:sp>
        <p:nvSpPr>
          <p:cNvPr id="95" name="Text 92"/>
          <p:cNvSpPr txBox="1"/>
          <p:nvPr/>
        </p:nvSpPr>
        <p:spPr>
          <a:xfrm>
            <a:off x="6903720" y="2862072"/>
            <a:ext cx="7315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$126k</a:t>
            </a:r>
            <a:endParaRPr lang="en-US" sz="680" dirty="0"/>
          </a:p>
        </p:txBody>
      </p:sp>
      <p:sp>
        <p:nvSpPr>
          <p:cNvPr id="96" name="Text 93"/>
          <p:cNvSpPr txBox="1"/>
          <p:nvPr/>
        </p:nvSpPr>
        <p:spPr>
          <a:xfrm>
            <a:off x="7680960" y="286207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7" name="Text 94"/>
          <p:cNvSpPr txBox="1"/>
          <p:nvPr/>
        </p:nvSpPr>
        <p:spPr>
          <a:xfrm>
            <a:off x="8092440" y="2862072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8" name="Shape 95"/>
          <p:cNvSpPr/>
          <p:nvPr/>
        </p:nvSpPr>
        <p:spPr>
          <a:xfrm>
            <a:off x="58064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9" name="Text 96"/>
          <p:cNvSpPr txBox="1"/>
          <p:nvPr/>
        </p:nvSpPr>
        <p:spPr>
          <a:xfrm>
            <a:off x="5879592" y="3012948"/>
            <a:ext cx="10972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7Rs (SevenRooms)</a:t>
            </a:r>
            <a:endParaRPr lang="en-US" sz="680" dirty="0"/>
          </a:p>
        </p:txBody>
      </p:sp>
      <p:sp>
        <p:nvSpPr>
          <p:cNvPr id="100" name="Text 97"/>
          <p:cNvSpPr txBox="1"/>
          <p:nvPr/>
        </p:nvSpPr>
        <p:spPr>
          <a:xfrm>
            <a:off x="6903720" y="3012948"/>
            <a:ext cx="7315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$112k</a:t>
            </a:r>
            <a:endParaRPr lang="en-US" sz="680" dirty="0"/>
          </a:p>
        </p:txBody>
      </p:sp>
      <p:sp>
        <p:nvSpPr>
          <p:cNvPr id="101" name="Text 98"/>
          <p:cNvSpPr txBox="1"/>
          <p:nvPr/>
        </p:nvSpPr>
        <p:spPr>
          <a:xfrm>
            <a:off x="7680960" y="301294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02" name="Text 99"/>
          <p:cNvSpPr txBox="1"/>
          <p:nvPr/>
        </p:nvSpPr>
        <p:spPr>
          <a:xfrm>
            <a:off x="8092440" y="3012948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$84</a:t>
            </a:r>
            <a:endParaRPr lang="en-US" sz="680" dirty="0"/>
          </a:p>
        </p:txBody>
      </p:sp>
      <p:sp>
        <p:nvSpPr>
          <p:cNvPr id="103" name="Text 100"/>
          <p:cNvSpPr txBox="1"/>
          <p:nvPr/>
        </p:nvSpPr>
        <p:spPr>
          <a:xfrm>
            <a:off x="5879592" y="3163824"/>
            <a:ext cx="10972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Zeller</a:t>
            </a:r>
            <a:endParaRPr lang="en-US" sz="680" dirty="0"/>
          </a:p>
        </p:txBody>
      </p:sp>
      <p:sp>
        <p:nvSpPr>
          <p:cNvPr id="104" name="Text 101"/>
          <p:cNvSpPr txBox="1"/>
          <p:nvPr/>
        </p:nvSpPr>
        <p:spPr>
          <a:xfrm>
            <a:off x="6903720" y="3163824"/>
            <a:ext cx="7315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$79k</a:t>
            </a:r>
            <a:endParaRPr lang="en-US" sz="680" dirty="0"/>
          </a:p>
        </p:txBody>
      </p:sp>
      <p:sp>
        <p:nvSpPr>
          <p:cNvPr id="105" name="Text 102"/>
          <p:cNvSpPr txBox="1"/>
          <p:nvPr/>
        </p:nvSpPr>
        <p:spPr>
          <a:xfrm>
            <a:off x="7680960" y="3163824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06" name="Text 103"/>
          <p:cNvSpPr txBox="1"/>
          <p:nvPr/>
        </p:nvSpPr>
        <p:spPr>
          <a:xfrm>
            <a:off x="8092440" y="3163824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$42</a:t>
            </a:r>
            <a:endParaRPr lang="en-US" sz="680" dirty="0"/>
          </a:p>
        </p:txBody>
      </p:sp>
      <p:sp>
        <p:nvSpPr>
          <p:cNvPr id="107" name="Shape 104"/>
          <p:cNvSpPr/>
          <p:nvPr/>
        </p:nvSpPr>
        <p:spPr>
          <a:xfrm>
            <a:off x="58064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5879592" y="3314700"/>
            <a:ext cx="10972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Zen</a:t>
            </a:r>
            <a:endParaRPr lang="en-US" sz="680" dirty="0"/>
          </a:p>
        </p:txBody>
      </p:sp>
      <p:sp>
        <p:nvSpPr>
          <p:cNvPr id="109" name="Text 106"/>
          <p:cNvSpPr txBox="1"/>
          <p:nvPr/>
        </p:nvSpPr>
        <p:spPr>
          <a:xfrm>
            <a:off x="6903720" y="3314700"/>
            <a:ext cx="7315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$61k</a:t>
            </a:r>
            <a:endParaRPr lang="en-US" sz="680" dirty="0"/>
          </a:p>
        </p:txBody>
      </p:sp>
      <p:sp>
        <p:nvSpPr>
          <p:cNvPr id="110" name="Text 107"/>
          <p:cNvSpPr txBox="1"/>
          <p:nvPr/>
        </p:nvSpPr>
        <p:spPr>
          <a:xfrm>
            <a:off x="7680960" y="331470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1" name="Text 108"/>
          <p:cNvSpPr txBox="1"/>
          <p:nvPr/>
        </p:nvSpPr>
        <p:spPr>
          <a:xfrm>
            <a:off x="8092440" y="3314700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2" name="Text 109"/>
          <p:cNvSpPr txBox="1"/>
          <p:nvPr/>
        </p:nvSpPr>
        <p:spPr>
          <a:xfrm>
            <a:off x="5879592" y="3465576"/>
            <a:ext cx="10972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Chewzie</a:t>
            </a:r>
            <a:endParaRPr lang="en-US" sz="680" dirty="0"/>
          </a:p>
        </p:txBody>
      </p:sp>
      <p:sp>
        <p:nvSpPr>
          <p:cNvPr id="113" name="Text 110"/>
          <p:cNvSpPr txBox="1"/>
          <p:nvPr/>
        </p:nvSpPr>
        <p:spPr>
          <a:xfrm>
            <a:off x="6903720" y="3465576"/>
            <a:ext cx="7315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$45k</a:t>
            </a:r>
            <a:endParaRPr lang="en-US" sz="680" dirty="0"/>
          </a:p>
        </p:txBody>
      </p:sp>
      <p:sp>
        <p:nvSpPr>
          <p:cNvPr id="114" name="Text 111"/>
          <p:cNvSpPr txBox="1"/>
          <p:nvPr/>
        </p:nvSpPr>
        <p:spPr>
          <a:xfrm>
            <a:off x="7680960" y="346557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5" name="Text 112"/>
          <p:cNvSpPr txBox="1"/>
          <p:nvPr/>
        </p:nvSpPr>
        <p:spPr>
          <a:xfrm>
            <a:off x="8092440" y="3465576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6" name="Shape 113"/>
          <p:cNvSpPr/>
          <p:nvPr/>
        </p:nvSpPr>
        <p:spPr>
          <a:xfrm>
            <a:off x="58064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17" name="Text 114"/>
          <p:cNvSpPr txBox="1"/>
          <p:nvPr/>
        </p:nvSpPr>
        <p:spPr>
          <a:xfrm>
            <a:off x="5879592" y="3616452"/>
            <a:ext cx="10972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HungryHungry</a:t>
            </a:r>
            <a:endParaRPr lang="en-US" sz="680" dirty="0"/>
          </a:p>
        </p:txBody>
      </p:sp>
      <p:sp>
        <p:nvSpPr>
          <p:cNvPr id="118" name="Text 115"/>
          <p:cNvSpPr txBox="1"/>
          <p:nvPr/>
        </p:nvSpPr>
        <p:spPr>
          <a:xfrm>
            <a:off x="6903720" y="3616452"/>
            <a:ext cx="7315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680" dirty="0"/>
          </a:p>
        </p:txBody>
      </p:sp>
      <p:sp>
        <p:nvSpPr>
          <p:cNvPr id="119" name="Text 116"/>
          <p:cNvSpPr txBox="1"/>
          <p:nvPr/>
        </p:nvSpPr>
        <p:spPr>
          <a:xfrm>
            <a:off x="7680960" y="361645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1.5h</a:t>
            </a:r>
            <a:endParaRPr lang="en-US" sz="680" dirty="0"/>
          </a:p>
        </p:txBody>
      </p:sp>
      <p:sp>
        <p:nvSpPr>
          <p:cNvPr id="120" name="Text 117"/>
          <p:cNvSpPr txBox="1"/>
          <p:nvPr/>
        </p:nvSpPr>
        <p:spPr>
          <a:xfrm>
            <a:off x="8092440" y="3616452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$63</a:t>
            </a:r>
            <a:endParaRPr lang="en-US" sz="680" dirty="0"/>
          </a:p>
        </p:txBody>
      </p:sp>
      <p:sp>
        <p:nvSpPr>
          <p:cNvPr id="121" name="Text 118"/>
          <p:cNvSpPr txBox="1"/>
          <p:nvPr/>
        </p:nvSpPr>
        <p:spPr>
          <a:xfrm>
            <a:off x="5879592" y="3767328"/>
            <a:ext cx="10972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EatClub</a:t>
            </a:r>
            <a:endParaRPr lang="en-US" sz="680" dirty="0"/>
          </a:p>
        </p:txBody>
      </p:sp>
      <p:sp>
        <p:nvSpPr>
          <p:cNvPr id="122" name="Text 119"/>
          <p:cNvSpPr txBox="1"/>
          <p:nvPr/>
        </p:nvSpPr>
        <p:spPr>
          <a:xfrm>
            <a:off x="6903720" y="3767328"/>
            <a:ext cx="7315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680" dirty="0"/>
          </a:p>
        </p:txBody>
      </p:sp>
      <p:sp>
        <p:nvSpPr>
          <p:cNvPr id="123" name="Text 120"/>
          <p:cNvSpPr txBox="1"/>
          <p:nvPr/>
        </p:nvSpPr>
        <p:spPr>
          <a:xfrm>
            <a:off x="7680960" y="376732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1.1h</a:t>
            </a:r>
            <a:endParaRPr lang="en-US" sz="680" dirty="0"/>
          </a:p>
        </p:txBody>
      </p:sp>
      <p:sp>
        <p:nvSpPr>
          <p:cNvPr id="124" name="Text 121"/>
          <p:cNvSpPr txBox="1"/>
          <p:nvPr/>
        </p:nvSpPr>
        <p:spPr>
          <a:xfrm>
            <a:off x="8092440" y="3767328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</a:t>
            </a:r>
            <a:endParaRPr lang="en-US" sz="680" dirty="0"/>
          </a:p>
        </p:txBody>
      </p:sp>
      <p:sp>
        <p:nvSpPr>
          <p:cNvPr id="125" name="Shape 122"/>
          <p:cNvSpPr/>
          <p:nvPr/>
        </p:nvSpPr>
        <p:spPr>
          <a:xfrm>
            <a:off x="5806440" y="3918204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26" name="Text 123"/>
          <p:cNvSpPr txBox="1"/>
          <p:nvPr/>
        </p:nvSpPr>
        <p:spPr>
          <a:xfrm>
            <a:off x="5879592" y="3918204"/>
            <a:ext cx="10972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(ValPay share)</a:t>
            </a:r>
            <a:endParaRPr lang="en-US" sz="680" dirty="0"/>
          </a:p>
        </p:txBody>
      </p:sp>
      <p:sp>
        <p:nvSpPr>
          <p:cNvPr id="127" name="Text 124"/>
          <p:cNvSpPr txBox="1"/>
          <p:nvPr/>
        </p:nvSpPr>
        <p:spPr>
          <a:xfrm>
            <a:off x="6903720" y="3918204"/>
            <a:ext cx="7315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separate</a:t>
            </a:r>
            <a:endParaRPr lang="en-US" sz="680" dirty="0"/>
          </a:p>
        </p:txBody>
      </p:sp>
      <p:sp>
        <p:nvSpPr>
          <p:cNvPr id="128" name="Text 125"/>
          <p:cNvSpPr txBox="1"/>
          <p:nvPr/>
        </p:nvSpPr>
        <p:spPr>
          <a:xfrm>
            <a:off x="7680960" y="3918204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4.0h</a:t>
            </a:r>
            <a:endParaRPr lang="en-US" sz="680" dirty="0"/>
          </a:p>
        </p:txBody>
      </p:sp>
      <p:sp>
        <p:nvSpPr>
          <p:cNvPr id="129" name="Text 126"/>
          <p:cNvSpPr txBox="1"/>
          <p:nvPr/>
        </p:nvSpPr>
        <p:spPr>
          <a:xfrm>
            <a:off x="8092440" y="3918204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$168</a:t>
            </a:r>
            <a:endParaRPr lang="en-US" sz="680" dirty="0"/>
          </a:p>
        </p:txBody>
      </p:sp>
      <p:sp>
        <p:nvSpPr>
          <p:cNvPr id="130" name="Text 127"/>
          <p:cNvSpPr txBox="1"/>
          <p:nvPr/>
        </p:nvSpPr>
        <p:spPr>
          <a:xfrm>
            <a:off x="5879592" y="4069080"/>
            <a:ext cx="10972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Uber Eats</a:t>
            </a:r>
            <a:endParaRPr lang="en-US" sz="680" dirty="0"/>
          </a:p>
        </p:txBody>
      </p:sp>
      <p:sp>
        <p:nvSpPr>
          <p:cNvPr id="131" name="Text 128"/>
          <p:cNvSpPr txBox="1"/>
          <p:nvPr/>
        </p:nvSpPr>
        <p:spPr>
          <a:xfrm>
            <a:off x="6903720" y="4069080"/>
            <a:ext cx="7315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32" name="Text 129"/>
          <p:cNvSpPr txBox="1"/>
          <p:nvPr/>
        </p:nvSpPr>
        <p:spPr>
          <a:xfrm>
            <a:off x="7680960" y="406908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6.3h</a:t>
            </a:r>
            <a:endParaRPr lang="en-US" sz="680" dirty="0"/>
          </a:p>
        </p:txBody>
      </p:sp>
      <p:sp>
        <p:nvSpPr>
          <p:cNvPr id="133" name="Text 130"/>
          <p:cNvSpPr txBox="1"/>
          <p:nvPr/>
        </p:nvSpPr>
        <p:spPr>
          <a:xfrm>
            <a:off x="8092440" y="4069080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$265</a:t>
            </a:r>
            <a:endParaRPr lang="en-US" sz="680" dirty="0"/>
          </a:p>
        </p:txBody>
      </p:sp>
      <p:sp>
        <p:nvSpPr>
          <p:cNvPr id="134" name="Text 131"/>
          <p:cNvSpPr txBox="1"/>
          <p:nvPr/>
        </p:nvSpPr>
        <p:spPr>
          <a:xfrm>
            <a:off x="5879592" y="4233672"/>
            <a:ext cx="2647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hours are matched on partner names in ticket subjects (estimate) — none carry a partner or non-chargeable reason yet. All are logged billable.</a:t>
            </a:r>
            <a:endParaRPr lang="en-US" sz="540" dirty="0"/>
          </a:p>
        </p:txBody>
      </p:sp>
      <p:sp>
        <p:nvSpPr>
          <p:cNvPr id="135" name="Shape 132"/>
          <p:cNvSpPr/>
          <p:nvPr/>
        </p:nvSpPr>
        <p:spPr>
          <a:xfrm>
            <a:off x="88011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6" name="Text 133"/>
          <p:cNvSpPr txBox="1"/>
          <p:nvPr/>
        </p:nvSpPr>
        <p:spPr>
          <a:xfrm>
            <a:off x="89656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ACCOUNTS — PS WORK BUILT IN</a:t>
            </a:r>
            <a:endParaRPr lang="en-US" sz="950" dirty="0"/>
          </a:p>
        </p:txBody>
      </p:sp>
      <p:sp>
        <p:nvSpPr>
          <p:cNvPr id="137" name="Text 134"/>
          <p:cNvSpPr txBox="1"/>
          <p:nvPr/>
        </p:nvSpPr>
        <p:spPr>
          <a:xfrm>
            <a:off x="8965692" y="2395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</a:t>
            </a:r>
            <a:endParaRPr lang="en-US" sz="560" dirty="0"/>
          </a:p>
        </p:txBody>
      </p:sp>
      <p:sp>
        <p:nvSpPr>
          <p:cNvPr id="138" name="Text 135"/>
          <p:cNvSpPr txBox="1"/>
          <p:nvPr/>
        </p:nvSpPr>
        <p:spPr>
          <a:xfrm>
            <a:off x="9944100" y="2395728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139" name="Text 136"/>
          <p:cNvSpPr txBox="1"/>
          <p:nvPr/>
        </p:nvSpPr>
        <p:spPr>
          <a:xfrm>
            <a:off x="10401300" y="239572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CHARGEABLE</a:t>
            </a:r>
            <a:endParaRPr lang="en-US" sz="560" dirty="0"/>
          </a:p>
        </p:txBody>
      </p:sp>
      <p:sp>
        <p:nvSpPr>
          <p:cNvPr id="140" name="Text 137"/>
          <p:cNvSpPr txBox="1"/>
          <p:nvPr/>
        </p:nvSpPr>
        <p:spPr>
          <a:xfrm>
            <a:off x="10904220" y="2395728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BLANK</a:t>
            </a:r>
            <a:endParaRPr lang="en-US" sz="560" dirty="0"/>
          </a:p>
        </p:txBody>
      </p:sp>
      <p:sp>
        <p:nvSpPr>
          <p:cNvPr id="141" name="Text 138"/>
          <p:cNvSpPr txBox="1"/>
          <p:nvPr/>
        </p:nvSpPr>
        <p:spPr>
          <a:xfrm>
            <a:off x="11224260" y="23957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EST. COST</a:t>
            </a:r>
            <a:endParaRPr lang="en-US" sz="560" dirty="0"/>
          </a:p>
        </p:txBody>
      </p:sp>
      <p:sp>
        <p:nvSpPr>
          <p:cNvPr id="142" name="Text 139"/>
          <p:cNvSpPr txBox="1"/>
          <p:nvPr/>
        </p:nvSpPr>
        <p:spPr>
          <a:xfrm>
            <a:off x="8965692" y="256032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</a:t>
            </a:r>
            <a:endParaRPr lang="en-US" sz="680" dirty="0"/>
          </a:p>
        </p:txBody>
      </p:sp>
      <p:sp>
        <p:nvSpPr>
          <p:cNvPr id="143" name="Text 140"/>
          <p:cNvSpPr txBox="1"/>
          <p:nvPr/>
        </p:nvSpPr>
        <p:spPr>
          <a:xfrm>
            <a:off x="9944100" y="256032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21.5h</a:t>
            </a:r>
            <a:endParaRPr lang="en-US" sz="680" dirty="0"/>
          </a:p>
        </p:txBody>
      </p:sp>
      <p:sp>
        <p:nvSpPr>
          <p:cNvPr id="144" name="Text 141"/>
          <p:cNvSpPr txBox="1"/>
          <p:nvPr/>
        </p:nvSpPr>
        <p:spPr>
          <a:xfrm>
            <a:off x="10401300" y="2560320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680" dirty="0"/>
          </a:p>
        </p:txBody>
      </p:sp>
      <p:sp>
        <p:nvSpPr>
          <p:cNvPr id="145" name="Text 142"/>
          <p:cNvSpPr txBox="1"/>
          <p:nvPr/>
        </p:nvSpPr>
        <p:spPr>
          <a:xfrm>
            <a:off x="10904220" y="2560320"/>
            <a:ext cx="3200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46" name="Text 143"/>
          <p:cNvSpPr txBox="1"/>
          <p:nvPr/>
        </p:nvSpPr>
        <p:spPr>
          <a:xfrm>
            <a:off x="11224260" y="256032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$903</a:t>
            </a:r>
            <a:endParaRPr lang="en-US" sz="680" dirty="0"/>
          </a:p>
        </p:txBody>
      </p:sp>
      <p:sp>
        <p:nvSpPr>
          <p:cNvPr id="147" name="Shape 144"/>
          <p:cNvSpPr/>
          <p:nvPr/>
        </p:nvSpPr>
        <p:spPr>
          <a:xfrm>
            <a:off x="88925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8965692" y="271119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Solotel</a:t>
            </a:r>
            <a:endParaRPr lang="en-US" sz="680" dirty="0"/>
          </a:p>
        </p:txBody>
      </p:sp>
      <p:sp>
        <p:nvSpPr>
          <p:cNvPr id="149" name="Text 146"/>
          <p:cNvSpPr txBox="1"/>
          <p:nvPr/>
        </p:nvSpPr>
        <p:spPr>
          <a:xfrm>
            <a:off x="9944100" y="271119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0" name="Text 147"/>
          <p:cNvSpPr txBox="1"/>
          <p:nvPr/>
        </p:nvSpPr>
        <p:spPr>
          <a:xfrm>
            <a:off x="10401300" y="2711196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51" name="Text 148"/>
          <p:cNvSpPr txBox="1"/>
          <p:nvPr/>
        </p:nvSpPr>
        <p:spPr>
          <a:xfrm>
            <a:off x="10904220" y="2711196"/>
            <a:ext cx="3200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4.5h</a:t>
            </a:r>
            <a:endParaRPr lang="en-US" sz="680" dirty="0"/>
          </a:p>
        </p:txBody>
      </p:sp>
      <p:sp>
        <p:nvSpPr>
          <p:cNvPr id="152" name="Text 149"/>
          <p:cNvSpPr txBox="1"/>
          <p:nvPr/>
        </p:nvSpPr>
        <p:spPr>
          <a:xfrm>
            <a:off x="11224260" y="271119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$294</a:t>
            </a:r>
            <a:endParaRPr lang="en-US" sz="680" dirty="0"/>
          </a:p>
        </p:txBody>
      </p:sp>
      <p:sp>
        <p:nvSpPr>
          <p:cNvPr id="153" name="Text 150"/>
          <p:cNvSpPr txBox="1"/>
          <p:nvPr/>
        </p:nvSpPr>
        <p:spPr>
          <a:xfrm>
            <a:off x="8965692" y="286207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Trader House</a:t>
            </a:r>
            <a:endParaRPr lang="en-US" sz="680" dirty="0"/>
          </a:p>
        </p:txBody>
      </p:sp>
      <p:sp>
        <p:nvSpPr>
          <p:cNvPr id="154" name="Text 151"/>
          <p:cNvSpPr txBox="1"/>
          <p:nvPr/>
        </p:nvSpPr>
        <p:spPr>
          <a:xfrm>
            <a:off x="9944100" y="286207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5" name="Text 152"/>
          <p:cNvSpPr txBox="1"/>
          <p:nvPr/>
        </p:nvSpPr>
        <p:spPr>
          <a:xfrm>
            <a:off x="10401300" y="2862072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6" name="Text 153"/>
          <p:cNvSpPr txBox="1"/>
          <p:nvPr/>
        </p:nvSpPr>
        <p:spPr>
          <a:xfrm>
            <a:off x="10904220" y="2862072"/>
            <a:ext cx="3200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7" name="Text 154"/>
          <p:cNvSpPr txBox="1"/>
          <p:nvPr/>
        </p:nvSpPr>
        <p:spPr>
          <a:xfrm>
            <a:off x="11224260" y="286207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$147</a:t>
            </a:r>
            <a:endParaRPr lang="en-US" sz="680" dirty="0"/>
          </a:p>
        </p:txBody>
      </p:sp>
      <p:sp>
        <p:nvSpPr>
          <p:cNvPr id="158" name="Shape 155"/>
          <p:cNvSpPr/>
          <p:nvPr/>
        </p:nvSpPr>
        <p:spPr>
          <a:xfrm>
            <a:off x="88925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59" name="Text 156"/>
          <p:cNvSpPr txBox="1"/>
          <p:nvPr/>
        </p:nvSpPr>
        <p:spPr>
          <a:xfrm>
            <a:off x="8965692" y="301294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Locals Co</a:t>
            </a:r>
            <a:endParaRPr lang="en-US" sz="680" dirty="0"/>
          </a:p>
        </p:txBody>
      </p:sp>
      <p:sp>
        <p:nvSpPr>
          <p:cNvPr id="160" name="Text 157"/>
          <p:cNvSpPr txBox="1"/>
          <p:nvPr/>
        </p:nvSpPr>
        <p:spPr>
          <a:xfrm>
            <a:off x="9944100" y="301294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1" name="Text 158"/>
          <p:cNvSpPr txBox="1"/>
          <p:nvPr/>
        </p:nvSpPr>
        <p:spPr>
          <a:xfrm>
            <a:off x="10401300" y="3012948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2" name="Text 159"/>
          <p:cNvSpPr txBox="1"/>
          <p:nvPr/>
        </p:nvSpPr>
        <p:spPr>
          <a:xfrm>
            <a:off x="10904220" y="3012948"/>
            <a:ext cx="3200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3" name="Text 160"/>
          <p:cNvSpPr txBox="1"/>
          <p:nvPr/>
        </p:nvSpPr>
        <p:spPr>
          <a:xfrm>
            <a:off x="11224260" y="301294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$147</a:t>
            </a:r>
            <a:endParaRPr lang="en-US" sz="680" dirty="0"/>
          </a:p>
        </p:txBody>
      </p:sp>
      <p:sp>
        <p:nvSpPr>
          <p:cNvPr id="164" name="Text 161"/>
          <p:cNvSpPr txBox="1"/>
          <p:nvPr/>
        </p:nvSpPr>
        <p:spPr>
          <a:xfrm>
            <a:off x="8965692" y="316382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HHG</a:t>
            </a:r>
            <a:endParaRPr lang="en-US" sz="680" dirty="0"/>
          </a:p>
        </p:txBody>
      </p:sp>
      <p:sp>
        <p:nvSpPr>
          <p:cNvPr id="165" name="Text 162"/>
          <p:cNvSpPr txBox="1"/>
          <p:nvPr/>
        </p:nvSpPr>
        <p:spPr>
          <a:xfrm>
            <a:off x="9944100" y="3163824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6" name="Text 163"/>
          <p:cNvSpPr txBox="1"/>
          <p:nvPr/>
        </p:nvSpPr>
        <p:spPr>
          <a:xfrm>
            <a:off x="10401300" y="3163824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67" name="Text 164"/>
          <p:cNvSpPr txBox="1"/>
          <p:nvPr/>
        </p:nvSpPr>
        <p:spPr>
          <a:xfrm>
            <a:off x="10904220" y="3163824"/>
            <a:ext cx="3200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68" name="Text 165"/>
          <p:cNvSpPr txBox="1"/>
          <p:nvPr/>
        </p:nvSpPr>
        <p:spPr>
          <a:xfrm>
            <a:off x="11224260" y="3163824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$147</a:t>
            </a:r>
            <a:endParaRPr lang="en-US" sz="680" dirty="0"/>
          </a:p>
        </p:txBody>
      </p:sp>
      <p:sp>
        <p:nvSpPr>
          <p:cNvPr id="169" name="Shape 166"/>
          <p:cNvSpPr/>
          <p:nvPr/>
        </p:nvSpPr>
        <p:spPr>
          <a:xfrm>
            <a:off x="88925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70" name="Text 167"/>
          <p:cNvSpPr txBox="1"/>
          <p:nvPr/>
        </p:nvSpPr>
        <p:spPr>
          <a:xfrm>
            <a:off x="8965692" y="331470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Lucas Collective</a:t>
            </a:r>
            <a:endParaRPr lang="en-US" sz="680" dirty="0"/>
          </a:p>
        </p:txBody>
      </p:sp>
      <p:sp>
        <p:nvSpPr>
          <p:cNvPr id="171" name="Text 168"/>
          <p:cNvSpPr txBox="1"/>
          <p:nvPr/>
        </p:nvSpPr>
        <p:spPr>
          <a:xfrm>
            <a:off x="9944100" y="331470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2" name="Text 169"/>
          <p:cNvSpPr txBox="1"/>
          <p:nvPr/>
        </p:nvSpPr>
        <p:spPr>
          <a:xfrm>
            <a:off x="10401300" y="3314700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3" name="Text 170"/>
          <p:cNvSpPr txBox="1"/>
          <p:nvPr/>
        </p:nvSpPr>
        <p:spPr>
          <a:xfrm>
            <a:off x="10904220" y="3314700"/>
            <a:ext cx="3200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4" name="Text 171"/>
          <p:cNvSpPr txBox="1"/>
          <p:nvPr/>
        </p:nvSpPr>
        <p:spPr>
          <a:xfrm>
            <a:off x="11224260" y="331470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$126</a:t>
            </a:r>
            <a:endParaRPr lang="en-US" sz="680" dirty="0"/>
          </a:p>
        </p:txBody>
      </p:sp>
      <p:sp>
        <p:nvSpPr>
          <p:cNvPr id="175" name="Text 172"/>
          <p:cNvSpPr txBox="1"/>
          <p:nvPr/>
        </p:nvSpPr>
        <p:spPr>
          <a:xfrm>
            <a:off x="8965692" y="346557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Liquor Barons</a:t>
            </a:r>
            <a:endParaRPr lang="en-US" sz="680" dirty="0"/>
          </a:p>
        </p:txBody>
      </p:sp>
      <p:sp>
        <p:nvSpPr>
          <p:cNvPr id="176" name="Text 173"/>
          <p:cNvSpPr txBox="1"/>
          <p:nvPr/>
        </p:nvSpPr>
        <p:spPr>
          <a:xfrm>
            <a:off x="9944100" y="346557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77" name="Text 174"/>
          <p:cNvSpPr txBox="1"/>
          <p:nvPr/>
        </p:nvSpPr>
        <p:spPr>
          <a:xfrm>
            <a:off x="10401300" y="3465576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78" name="Text 175"/>
          <p:cNvSpPr txBox="1"/>
          <p:nvPr/>
        </p:nvSpPr>
        <p:spPr>
          <a:xfrm>
            <a:off x="10904220" y="3465576"/>
            <a:ext cx="3200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9" name="Text 176"/>
          <p:cNvSpPr txBox="1"/>
          <p:nvPr/>
        </p:nvSpPr>
        <p:spPr>
          <a:xfrm>
            <a:off x="11224260" y="346557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$105</a:t>
            </a:r>
            <a:endParaRPr lang="en-US" sz="680" dirty="0"/>
          </a:p>
        </p:txBody>
      </p:sp>
      <p:sp>
        <p:nvSpPr>
          <p:cNvPr id="180" name="Shape 177"/>
          <p:cNvSpPr/>
          <p:nvPr/>
        </p:nvSpPr>
        <p:spPr>
          <a:xfrm>
            <a:off x="88925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81" name="Text 178"/>
          <p:cNvSpPr txBox="1"/>
          <p:nvPr/>
        </p:nvSpPr>
        <p:spPr>
          <a:xfrm>
            <a:off x="8965692" y="361645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</a:t>
            </a:r>
            <a:endParaRPr lang="en-US" sz="680" dirty="0"/>
          </a:p>
        </p:txBody>
      </p:sp>
      <p:sp>
        <p:nvSpPr>
          <p:cNvPr id="182" name="Text 179"/>
          <p:cNvSpPr txBox="1"/>
          <p:nvPr/>
        </p:nvSpPr>
        <p:spPr>
          <a:xfrm>
            <a:off x="9944100" y="361645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3" name="Text 180"/>
          <p:cNvSpPr txBox="1"/>
          <p:nvPr/>
        </p:nvSpPr>
        <p:spPr>
          <a:xfrm>
            <a:off x="10401300" y="3616452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4" name="Text 181"/>
          <p:cNvSpPr txBox="1"/>
          <p:nvPr/>
        </p:nvSpPr>
        <p:spPr>
          <a:xfrm>
            <a:off x="10904220" y="3616452"/>
            <a:ext cx="3200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5" name="Text 182"/>
          <p:cNvSpPr txBox="1"/>
          <p:nvPr/>
        </p:nvSpPr>
        <p:spPr>
          <a:xfrm>
            <a:off x="11224260" y="361645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$87</a:t>
            </a:r>
            <a:endParaRPr lang="en-US" sz="680" dirty="0"/>
          </a:p>
        </p:txBody>
      </p:sp>
      <p:sp>
        <p:nvSpPr>
          <p:cNvPr id="186" name="Text 183"/>
          <p:cNvSpPr txBox="1"/>
          <p:nvPr/>
        </p:nvSpPr>
        <p:spPr>
          <a:xfrm>
            <a:off x="8965692" y="376732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Perks Hospitality</a:t>
            </a:r>
            <a:endParaRPr lang="en-US" sz="680" dirty="0"/>
          </a:p>
        </p:txBody>
      </p:sp>
      <p:sp>
        <p:nvSpPr>
          <p:cNvPr id="187" name="Text 184"/>
          <p:cNvSpPr txBox="1"/>
          <p:nvPr/>
        </p:nvSpPr>
        <p:spPr>
          <a:xfrm>
            <a:off x="9944100" y="376732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88" name="Text 185"/>
          <p:cNvSpPr txBox="1"/>
          <p:nvPr/>
        </p:nvSpPr>
        <p:spPr>
          <a:xfrm>
            <a:off x="10401300" y="3767328"/>
            <a:ext cx="50292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89" name="Text 186"/>
          <p:cNvSpPr txBox="1"/>
          <p:nvPr/>
        </p:nvSpPr>
        <p:spPr>
          <a:xfrm>
            <a:off x="10904220" y="3767328"/>
            <a:ext cx="3200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90" name="Text 187"/>
          <p:cNvSpPr txBox="1"/>
          <p:nvPr/>
        </p:nvSpPr>
        <p:spPr>
          <a:xfrm>
            <a:off x="11224260" y="376732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$84</a:t>
            </a:r>
            <a:endParaRPr lang="en-US" sz="680" dirty="0"/>
          </a:p>
        </p:txBody>
      </p:sp>
      <p:sp>
        <p:nvSpPr>
          <p:cNvPr id="191" name="Text 188"/>
          <p:cNvSpPr txBox="1"/>
          <p:nvPr/>
        </p:nvSpPr>
        <p:spPr>
          <a:xfrm>
            <a:off x="8965692" y="4233672"/>
            <a:ext cx="2647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hours by ticket company or name (estimate). AVC's 18h is the 9.2 upgrades ticket, flagged chargeable — confirm it was invoiced. Rodney: 8.25h of his 13.75h sit on these accounts.</a:t>
            </a:r>
            <a:endParaRPr lang="en-US" sz="540" dirty="0"/>
          </a:p>
        </p:txBody>
      </p:sp>
      <p:sp>
        <p:nvSpPr>
          <p:cNvPr id="192" name="Shape 189"/>
          <p:cNvSpPr/>
          <p:nvPr/>
        </p:nvSpPr>
        <p:spPr>
          <a:xfrm>
            <a:off x="5715000" y="4727448"/>
            <a:ext cx="606247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3" name="Text 190"/>
          <p:cNvSpPr txBox="1"/>
          <p:nvPr/>
        </p:nvSpPr>
        <p:spPr>
          <a:xfrm>
            <a:off x="5916168" y="4837176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94" name="Text 191"/>
          <p:cNvSpPr txBox="1"/>
          <p:nvPr/>
        </p:nvSpPr>
        <p:spPr>
          <a:xfrm>
            <a:off x="5916168" y="5148072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is $268k short on its P&amp;L, but partners paid H&amp;L $1.29M.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of the shortfall is partner integration and key-account work we don't charge for — the billable, non-chargeable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 only 1.0h is flagged non-chargeable.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Chargeable went live this week: 7.0 of the 11.5h logged (61%) are still blank, so the hidden work is under-counted.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renegotiate, each non-chargeable hour needs a reason and an owner: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premium partner (which one) or key account (which one). Then the partner and account tables price themselves.</a:t>
            </a:r>
            <a:endParaRPr lang="en-US" sz="900" dirty="0"/>
          </a:p>
        </p:txBody>
      </p:sp>
      <p:sp>
        <p:nvSpPr>
          <p:cNvPr id="195" name="Shape 192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96" name="Text 193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PS P&amp;L Jan–Sep 2026 (Finance) · Premium Partner Commissions 2026 · HubSpot PS tickets Q4 to 25 Oct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2026-10-25T22:36:00Z</dcterms:created>
  <dcterms:modified xsi:type="dcterms:W3CDTF">2026-10-25T22:36:00Z</dcterms:modified>
</cp:coreProperties>
</file>