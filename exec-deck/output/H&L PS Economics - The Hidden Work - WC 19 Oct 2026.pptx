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311.6h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51.0h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16.8%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30%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12.5h (25%)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9%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371600" y="5294376"/>
            <a:ext cx="594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011680" y="5294376"/>
            <a:ext cx="685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274320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NON-CHARG.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42900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FLAG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58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1371600" y="5458968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2011680" y="5458968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274320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342900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16.3h</a:t>
            </a:r>
            <a:endParaRPr lang="en-US" sz="780" dirty="0"/>
          </a:p>
        </p:txBody>
      </p:sp>
      <p:sp>
        <p:nvSpPr>
          <p:cNvPr id="61" name="Text 58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2" name="Text 59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3" name="Shape 60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594360" y="56967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1371600" y="569671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2011680" y="5696712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12.5h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274320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8" name="Text 65"/>
          <p:cNvSpPr txBox="1"/>
          <p:nvPr/>
        </p:nvSpPr>
        <p:spPr>
          <a:xfrm>
            <a:off x="342900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37.5h</a:t>
            </a:r>
            <a:endParaRPr lang="en-US" sz="780" dirty="0"/>
          </a:p>
        </p:txBody>
      </p:sp>
      <p:sp>
        <p:nvSpPr>
          <p:cNvPr id="69" name="Text 66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16.8%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+11.6h</a:t>
            </a:r>
            <a:endParaRPr lang="en-US" sz="680" dirty="0"/>
          </a:p>
        </p:txBody>
      </p:sp>
      <p:sp>
        <p:nvSpPr>
          <p:cNvPr id="71" name="Shape 68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594360" y="593445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1371600" y="5934456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2011680" y="5934456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780" dirty="0"/>
          </a:p>
        </p:txBody>
      </p:sp>
      <p:sp>
        <p:nvSpPr>
          <p:cNvPr id="75" name="Text 72"/>
          <p:cNvSpPr txBox="1"/>
          <p:nvPr/>
        </p:nvSpPr>
        <p:spPr>
          <a:xfrm>
            <a:off x="274320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76" name="Text 73"/>
          <p:cNvSpPr txBox="1"/>
          <p:nvPr/>
        </p:nvSpPr>
        <p:spPr>
          <a:xfrm>
            <a:off x="342900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780" dirty="0"/>
          </a:p>
        </p:txBody>
      </p:sp>
      <p:sp>
        <p:nvSpPr>
          <p:cNvPr id="77" name="Text 74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3.7%</a:t>
            </a:r>
            <a:endParaRPr lang="en-US" sz="780" dirty="0"/>
          </a:p>
        </p:txBody>
      </p:sp>
      <p:sp>
        <p:nvSpPr>
          <p:cNvPr id="78" name="Text 75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</a:t>
            </a:r>
            <a:endParaRPr lang="en-US" sz="680" dirty="0"/>
          </a:p>
        </p:txBody>
      </p:sp>
      <p:sp>
        <p:nvSpPr>
          <p:cNvPr id="79" name="Shape 76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0" name="Text 77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5" name="Text 82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6" name="Text 83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Shape 86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Text 91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5" name="Text 92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8" name="Shape 95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03" name="Text 100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4" name="Text 101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07" name="Shape 104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Text 109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13" name="Text 110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6" name="Shape 113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$225</a:t>
            </a:r>
            <a:endParaRPr lang="en-US" sz="680" dirty="0"/>
          </a:p>
        </p:txBody>
      </p:sp>
      <p:sp>
        <p:nvSpPr>
          <p:cNvPr id="121" name="Text 118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22" name="Text 119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$167</a:t>
            </a:r>
            <a:endParaRPr lang="en-US" sz="680" dirty="0"/>
          </a:p>
        </p:txBody>
      </p:sp>
      <p:sp>
        <p:nvSpPr>
          <p:cNvPr id="125" name="Shape 122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30" name="Text 127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31" name="Text 128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34" name="Shape 131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6" name="Text 133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7" name="Text 134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8" name="Text 135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$948</a:t>
            </a:r>
            <a:endParaRPr lang="en-US" sz="680" dirty="0"/>
          </a:p>
        </p:txBody>
      </p:sp>
      <p:sp>
        <p:nvSpPr>
          <p:cNvPr id="139" name="Shape 136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0" name="Text 137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41" name="Text 138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43" name="Text 140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CHARGED</a:t>
            </a:r>
            <a:endParaRPr lang="en-US" sz="560" dirty="0"/>
          </a:p>
        </p:txBody>
      </p:sp>
      <p:sp>
        <p:nvSpPr>
          <p:cNvPr id="144" name="Text 141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FLAG</a:t>
            </a:r>
            <a:endParaRPr lang="en-US" sz="560" dirty="0"/>
          </a:p>
        </p:txBody>
      </p:sp>
      <p:sp>
        <p:nvSpPr>
          <p:cNvPr id="145" name="Text 142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6" name="Text 143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7" name="Text 144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8" name="Text 145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51" name="Shape 148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2" name="Text 149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4.5h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$675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58" name="Text 155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59" name="Text 156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62" name="Shape 159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$525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69" name="Text 166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70" name="Text 167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$375</a:t>
            </a:r>
            <a:endParaRPr lang="en-US" sz="680" dirty="0"/>
          </a:p>
        </p:txBody>
      </p:sp>
      <p:sp>
        <p:nvSpPr>
          <p:cNvPr id="173" name="Shape 170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4" name="Text 171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$450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80" name="Text 177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1" name="Text 178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4" name="Shape 181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$311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91" name="Text 188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92" name="Text 189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93" name="Text 190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94" name="Text 191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$150</a:t>
            </a:r>
            <a:endParaRPr lang="en-US" sz="680" dirty="0"/>
          </a:p>
        </p:txBody>
      </p:sp>
      <p:sp>
        <p:nvSpPr>
          <p:cNvPr id="195" name="Shape 192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3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7" name="Text 194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integration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only 1.0h is flagged non-chargeable.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Chargeable went live this week: 7.0 of the 11.5h logged (61%) have no flag yet, so the hidden work is under-counted.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each non-chargeable hour needs a reason and an owner: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premium partner (which one) or key account (which one). Then the partner and account tables price themselves.</a:t>
            </a:r>
            <a:endParaRPr lang="en-US" sz="900" dirty="0"/>
          </a:p>
        </p:txBody>
      </p:sp>
      <p:sp>
        <p:nvSpPr>
          <p:cNvPr id="198" name="Shape 195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9" name="Text 196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2026-10-25T22:51:57Z</dcterms:created>
  <dcterms:modified xsi:type="dcterms:W3CDTF">2026-10-25T22:51:57Z</dcterms:modified>
</cp:coreProperties>
</file>