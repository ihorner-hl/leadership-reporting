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B8D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24452</c:v>
                </c:pt>
                <c:pt idx="1">
                  <c:v>27867</c:v>
                </c:pt>
                <c:pt idx="2">
                  <c:v>30164</c:v>
                </c:pt>
                <c:pt idx="3">
                  <c:v>23947</c:v>
                </c:pt>
                <c:pt idx="4">
                  <c:v>32107</c:v>
                </c:pt>
                <c:pt idx="5">
                  <c:v>32610</c:v>
                </c:pt>
                <c:pt idx="6">
                  <c:v>35340</c:v>
                </c:pt>
                <c:pt idx="7">
                  <c:v>66642</c:v>
                </c:pt>
                <c:pt idx="8">
                  <c:v>20359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E0A45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56087</c:v>
                </c:pt>
                <c:pt idx="1">
                  <c:v>63765</c:v>
                </c:pt>
                <c:pt idx="2">
                  <c:v>75839</c:v>
                </c:pt>
                <c:pt idx="3">
                  <c:v>69343</c:v>
                </c:pt>
                <c:pt idx="4">
                  <c:v>60274</c:v>
                </c:pt>
                <c:pt idx="5">
                  <c:v>60368</c:v>
                </c:pt>
                <c:pt idx="6">
                  <c:v>60240</c:v>
                </c:pt>
                <c:pt idx="7">
                  <c:v>50403</c:v>
                </c:pt>
                <c:pt idx="8">
                  <c:v>65362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Contribution</c:v>
                </c:pt>
              </c:strCache>
            </c:strRef>
          </c:tx>
          <c:spPr>
            <a:solidFill>
              <a:srgbClr val="C2562A"/>
            </a:solidFill>
            <a:ln w="28575" cap="flat">
              <a:solidFill>
                <a:srgbClr val="C256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2562A"/>
              </a:solidFill>
              <a:ln w="9525" cap="flat">
                <a:solidFill>
                  <a:srgbClr val="C256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-31635</c:v>
                </c:pt>
                <c:pt idx="1">
                  <c:v>-35898</c:v>
                </c:pt>
                <c:pt idx="2">
                  <c:v>-45675</c:v>
                </c:pt>
                <c:pt idx="3">
                  <c:v>-45396</c:v>
                </c:pt>
                <c:pt idx="4">
                  <c:v>-28167</c:v>
                </c:pt>
                <c:pt idx="5">
                  <c:v>-27758</c:v>
                </c:pt>
                <c:pt idx="6">
                  <c:v>-24900</c:v>
                </c:pt>
                <c:pt idx="7">
                  <c:v>16239</c:v>
                </c:pt>
                <c:pt idx="8">
                  <c:v>-45003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2293A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00"/>
          <c:min val="-60000"/>
        </c:scaling>
        <c:delete val="0"/>
        <c:axPos val="l"/>
        <c:majorGridlines>
          <c:spPr>
            <a:ln w="6350" cap="flat">
              <a:solidFill>
                <a:srgbClr val="E2EAEE"/>
              </a:solidFill>
              <a:prstDash val="solid"/>
              <a:round/>
            </a:ln>
          </c:spPr>
        </c:majorGridlines>
        <c:numFmt formatCode="$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FA1AC"/>
                </a:solidFill>
                <a:latin typeface="Poppins"/>
              </a:defRPr>
            </a:pPr>
            <a:endParaRPr lang="en-US"/>
          </a:p>
        </c:txPr>
        <c:crossAx val="2094734554"/>
        <c:crosses val="autoZero"/>
        <c:crossBetween val="between"/>
        <c:majorUnit val="2000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50">
              <a:solidFill>
                <a:srgbClr val="3A4B57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155448"/>
            <a:ext cx="7315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4048" y="15544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5486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PS Economics — The Hidden Work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1316736" y="51206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AE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Professional Services &amp; Finance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0" y="246888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0" y="246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 ·  DID WE DELIVER?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872216" y="0"/>
            <a:ext cx="841248" cy="841248"/>
          </a:xfrm>
          <a:prstGeom prst="ellipse">
            <a:avLst/>
          </a:prstGeom>
          <a:solidFill>
            <a:srgbClr val="1C5765"/>
          </a:solidFill>
          <a:ln/>
        </p:spPr>
      </p:sp>
      <p:sp>
        <p:nvSpPr>
          <p:cNvPr id="10" name="Shape 8"/>
          <p:cNvSpPr/>
          <p:nvPr/>
        </p:nvSpPr>
        <p:spPr>
          <a:xfrm>
            <a:off x="10968228" y="96012"/>
            <a:ext cx="649224" cy="649224"/>
          </a:xfrm>
          <a:prstGeom prst="ellipse">
            <a:avLst/>
          </a:prstGeom>
          <a:solidFill>
            <a:srgbClr val="2C8394"/>
          </a:solidFill>
          <a:ln/>
        </p:spPr>
      </p:sp>
      <p:sp>
        <p:nvSpPr>
          <p:cNvPr id="11" name="Shape 9"/>
          <p:cNvSpPr/>
          <p:nvPr/>
        </p:nvSpPr>
        <p:spPr>
          <a:xfrm>
            <a:off x="11064240" y="192024"/>
            <a:ext cx="457200" cy="457200"/>
          </a:xfrm>
          <a:prstGeom prst="ellipse">
            <a:avLst/>
          </a:prstGeom>
          <a:solidFill>
            <a:srgbClr val="6FAEB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60252" y="288036"/>
            <a:ext cx="265176" cy="265176"/>
          </a:xfrm>
          <a:prstGeom prst="ellipse">
            <a:avLst/>
          </a:prstGeom>
          <a:solidFill>
            <a:srgbClr val="E4F1F4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987552"/>
            <a:ext cx="178003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1097280"/>
            <a:ext cx="274320" cy="41148"/>
          </a:xfrm>
          <a:prstGeom prst="rect">
            <a:avLst/>
          </a:prstGeom>
          <a:solidFill>
            <a:srgbClr val="1B8DA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1152144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 HOURS LOGGED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" y="1353312"/>
            <a:ext cx="1578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11.5h</a:t>
            </a:r>
            <a:pPr indent="0" marL="0">
              <a:buNone/>
            </a:pPr>
            <a:r>
              <a:rPr lang="en-US" sz="9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of 311.6h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1682496"/>
            <a:ext cx="1551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▼ from 51.0h last week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2328672" y="987552"/>
            <a:ext cx="178003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65832" y="1097280"/>
            <a:ext cx="274320" cy="41148"/>
          </a:xfrm>
          <a:prstGeom prst="rect">
            <a:avLst/>
          </a:prstGeom>
          <a:solidFill>
            <a:srgbClr val="1B8D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465832" y="1152144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BILLABLE UTILISATION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2447544" y="1353312"/>
            <a:ext cx="1578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3.7%</a:t>
            </a:r>
            <a:pPr indent="0" marL="0">
              <a:buNone/>
            </a:pPr>
            <a:r>
              <a:rPr lang="en-US" sz="9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target 50%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2465832" y="1682496"/>
            <a:ext cx="1551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▼ from 16.8% last week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4245864" y="987552"/>
            <a:ext cx="178003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83024" y="1097280"/>
            <a:ext cx="274320" cy="41148"/>
          </a:xfrm>
          <a:prstGeom prst="rect">
            <a:avLst/>
          </a:prstGeom>
          <a:solidFill>
            <a:srgbClr val="1B8DA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383024" y="1152144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BILLABLE · CHARGEABLE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4364736" y="1353312"/>
            <a:ext cx="1578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3.5h</a:t>
            </a:r>
            <a:pPr indent="0" marL="0">
              <a:buNone/>
            </a:pPr>
            <a:r>
              <a:rPr lang="en-US" sz="9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30%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383024" y="1682496"/>
            <a:ext cx="1551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▼ from 12.5h (25%) last week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6163056" y="987552"/>
            <a:ext cx="178003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00216" y="1097280"/>
            <a:ext cx="274320" cy="41148"/>
          </a:xfrm>
          <a:prstGeom prst="rect">
            <a:avLst/>
          </a:prstGeom>
          <a:solidFill>
            <a:srgbClr val="1B8DA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00216" y="1152144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BILLABLE · NON-CHARGEABLE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6281928" y="1353312"/>
            <a:ext cx="1578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1.0h</a:t>
            </a:r>
            <a:pPr indent="0" marL="0">
              <a:buNone/>
            </a:pPr>
            <a:r>
              <a:rPr lang="en-US" sz="9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9%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6300216" y="1682496"/>
            <a:ext cx="1551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from 1.0h (2%) last week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8080248" y="987552"/>
            <a:ext cx="178003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17408" y="1097280"/>
            <a:ext cx="274320" cy="41148"/>
          </a:xfrm>
          <a:prstGeom prst="rect">
            <a:avLst/>
          </a:prstGeom>
          <a:solidFill>
            <a:srgbClr val="C7D3D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217408" y="1152144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UTILISED · NON-BILLABLE</a:t>
            </a:r>
            <a:endParaRPr lang="en-US" sz="700" dirty="0"/>
          </a:p>
        </p:txBody>
      </p:sp>
      <p:sp>
        <p:nvSpPr>
          <p:cNvPr id="36" name="Text 34"/>
          <p:cNvSpPr txBox="1"/>
          <p:nvPr/>
        </p:nvSpPr>
        <p:spPr>
          <a:xfrm>
            <a:off x="8199120" y="1353312"/>
            <a:ext cx="1578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set up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217408" y="1682496"/>
            <a:ext cx="1551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non-billable records yet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9997440" y="987552"/>
            <a:ext cx="178003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0134600" y="1097280"/>
            <a:ext cx="274320" cy="41148"/>
          </a:xfrm>
          <a:prstGeom prst="rect">
            <a:avLst/>
          </a:prstGeom>
          <a:solidFill>
            <a:srgbClr val="C7D3D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0134600" y="1152144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NON-UTILISED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10116312" y="1353312"/>
            <a:ext cx="1578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set up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10134600" y="1682496"/>
            <a:ext cx="1551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admin, meetings, leave not logged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411480" y="2011680"/>
            <a:ext cx="5120640" cy="2880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612648" y="21214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PS P&amp;L BY MONTH — 2026</a:t>
            </a:r>
            <a:endParaRPr lang="en-US" sz="1200" dirty="0"/>
          </a:p>
        </p:txBody>
      </p:sp>
      <p:graphicFrame>
        <p:nvGraphicFramePr>
          <p:cNvPr id="45" name="Chart 0" descr=""/>
          <p:cNvGraphicFramePr/>
          <p:nvPr/>
        </p:nvGraphicFramePr>
        <p:xfrm>
          <a:off x="521208" y="2359152"/>
          <a:ext cx="4901184" cy="24597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6" name="Shape 43"/>
          <p:cNvSpPr/>
          <p:nvPr/>
        </p:nvSpPr>
        <p:spPr>
          <a:xfrm>
            <a:off x="411480" y="5001768"/>
            <a:ext cx="51206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47" name="Text 44"/>
          <p:cNvSpPr txBox="1"/>
          <p:nvPr/>
        </p:nvSpPr>
        <p:spPr>
          <a:xfrm>
            <a:off x="594360" y="50566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 ON WEEK  </a:t>
            </a:r>
            <a:pPr indent="0" marL="0">
              <a:buNone/>
            </a:pPr>
            <a:r>
              <a:rPr lang="en-US" sz="6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billable hours as the weeks stand today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594360" y="5294376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</a:t>
            </a:r>
            <a:endParaRPr lang="en-US" sz="580" dirty="0"/>
          </a:p>
        </p:txBody>
      </p:sp>
      <p:sp>
        <p:nvSpPr>
          <p:cNvPr id="49" name="Text 46"/>
          <p:cNvSpPr txBox="1"/>
          <p:nvPr/>
        </p:nvSpPr>
        <p:spPr>
          <a:xfrm>
            <a:off x="1371600" y="5294376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BILLABLE</a:t>
            </a:r>
            <a:endParaRPr lang="en-US" sz="580" dirty="0"/>
          </a:p>
        </p:txBody>
      </p:sp>
      <p:sp>
        <p:nvSpPr>
          <p:cNvPr id="50" name="Text 47"/>
          <p:cNvSpPr txBox="1"/>
          <p:nvPr/>
        </p:nvSpPr>
        <p:spPr>
          <a:xfrm>
            <a:off x="2011680" y="5294376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CHARGEABLE</a:t>
            </a:r>
            <a:endParaRPr lang="en-US" sz="580" dirty="0"/>
          </a:p>
        </p:txBody>
      </p:sp>
      <p:sp>
        <p:nvSpPr>
          <p:cNvPr id="51" name="Text 48"/>
          <p:cNvSpPr txBox="1"/>
          <p:nvPr/>
        </p:nvSpPr>
        <p:spPr>
          <a:xfrm>
            <a:off x="2743200" y="529437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NON-CHARG.</a:t>
            </a:r>
            <a:endParaRPr lang="en-US" sz="580" dirty="0"/>
          </a:p>
        </p:txBody>
      </p:sp>
      <p:sp>
        <p:nvSpPr>
          <p:cNvPr id="52" name="Text 49"/>
          <p:cNvSpPr txBox="1"/>
          <p:nvPr/>
        </p:nvSpPr>
        <p:spPr>
          <a:xfrm>
            <a:off x="3429000" y="52943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BLANK</a:t>
            </a:r>
            <a:endParaRPr lang="en-US" sz="580" dirty="0"/>
          </a:p>
        </p:txBody>
      </p:sp>
      <p:sp>
        <p:nvSpPr>
          <p:cNvPr id="53" name="Text 50"/>
          <p:cNvSpPr txBox="1"/>
          <p:nvPr/>
        </p:nvSpPr>
        <p:spPr>
          <a:xfrm>
            <a:off x="3931920" y="52943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UTIL</a:t>
            </a:r>
            <a:endParaRPr lang="en-US" sz="580" dirty="0"/>
          </a:p>
        </p:txBody>
      </p:sp>
      <p:sp>
        <p:nvSpPr>
          <p:cNvPr id="54" name="Text 51"/>
          <p:cNvSpPr txBox="1"/>
          <p:nvPr/>
        </p:nvSpPr>
        <p:spPr>
          <a:xfrm>
            <a:off x="4434840" y="529437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FIRST REPORTED</a:t>
            </a:r>
            <a:endParaRPr lang="en-US" sz="580" dirty="0"/>
          </a:p>
        </p:txBody>
      </p:sp>
      <p:sp>
        <p:nvSpPr>
          <p:cNvPr id="55" name="Text 52"/>
          <p:cNvSpPr txBox="1"/>
          <p:nvPr/>
        </p:nvSpPr>
        <p:spPr>
          <a:xfrm>
            <a:off x="594360" y="545896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5–11 Oct</a:t>
            </a:r>
            <a:endParaRPr lang="en-US" sz="780" dirty="0"/>
          </a:p>
        </p:txBody>
      </p:sp>
      <p:sp>
        <p:nvSpPr>
          <p:cNvPr id="56" name="Text 53"/>
          <p:cNvSpPr txBox="1"/>
          <p:nvPr/>
        </p:nvSpPr>
        <p:spPr>
          <a:xfrm>
            <a:off x="1371600" y="545896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35.3h</a:t>
            </a:r>
            <a:endParaRPr lang="en-US" sz="780" dirty="0"/>
          </a:p>
        </p:txBody>
      </p:sp>
      <p:sp>
        <p:nvSpPr>
          <p:cNvPr id="57" name="Text 54"/>
          <p:cNvSpPr txBox="1"/>
          <p:nvPr/>
        </p:nvSpPr>
        <p:spPr>
          <a:xfrm>
            <a:off x="2011680" y="5458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19.0h</a:t>
            </a:r>
            <a:endParaRPr lang="en-US" sz="780" dirty="0"/>
          </a:p>
        </p:txBody>
      </p:sp>
      <p:sp>
        <p:nvSpPr>
          <p:cNvPr id="58" name="Text 55"/>
          <p:cNvSpPr txBox="1"/>
          <p:nvPr/>
        </p:nvSpPr>
        <p:spPr>
          <a:xfrm>
            <a:off x="2743200" y="545896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780" dirty="0"/>
          </a:p>
        </p:txBody>
      </p:sp>
      <p:sp>
        <p:nvSpPr>
          <p:cNvPr id="59" name="Text 56"/>
          <p:cNvSpPr txBox="1"/>
          <p:nvPr/>
        </p:nvSpPr>
        <p:spPr>
          <a:xfrm>
            <a:off x="3429000" y="54589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16.3h</a:t>
            </a:r>
            <a:endParaRPr lang="en-US" sz="780" dirty="0"/>
          </a:p>
        </p:txBody>
      </p:sp>
      <p:sp>
        <p:nvSpPr>
          <p:cNvPr id="60" name="Text 57"/>
          <p:cNvSpPr txBox="1"/>
          <p:nvPr/>
        </p:nvSpPr>
        <p:spPr>
          <a:xfrm>
            <a:off x="3931920" y="54589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10.3%</a:t>
            </a:r>
            <a:endParaRPr lang="en-US" sz="780" dirty="0"/>
          </a:p>
        </p:txBody>
      </p:sp>
      <p:sp>
        <p:nvSpPr>
          <p:cNvPr id="61" name="Text 58"/>
          <p:cNvSpPr txBox="1"/>
          <p:nvPr/>
        </p:nvSpPr>
        <p:spPr>
          <a:xfrm>
            <a:off x="4434840" y="54589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21.3h  ▲ +14.0h</a:t>
            </a:r>
            <a:endParaRPr lang="en-US" sz="680" dirty="0"/>
          </a:p>
        </p:txBody>
      </p:sp>
      <p:sp>
        <p:nvSpPr>
          <p:cNvPr id="62" name="Shape 59"/>
          <p:cNvSpPr/>
          <p:nvPr/>
        </p:nvSpPr>
        <p:spPr>
          <a:xfrm>
            <a:off x="594360" y="5696712"/>
            <a:ext cx="4754880" cy="5486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594360" y="569671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12–18 Oct</a:t>
            </a:r>
            <a:endParaRPr lang="en-US" sz="780" dirty="0"/>
          </a:p>
        </p:txBody>
      </p:sp>
      <p:sp>
        <p:nvSpPr>
          <p:cNvPr id="64" name="Text 61"/>
          <p:cNvSpPr txBox="1"/>
          <p:nvPr/>
        </p:nvSpPr>
        <p:spPr>
          <a:xfrm>
            <a:off x="1371600" y="569671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51.0h</a:t>
            </a:r>
            <a:endParaRPr lang="en-US" sz="780" dirty="0"/>
          </a:p>
        </p:txBody>
      </p:sp>
      <p:sp>
        <p:nvSpPr>
          <p:cNvPr id="65" name="Text 62"/>
          <p:cNvSpPr txBox="1"/>
          <p:nvPr/>
        </p:nvSpPr>
        <p:spPr>
          <a:xfrm>
            <a:off x="2011680" y="569671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12.5h</a:t>
            </a:r>
            <a:endParaRPr lang="en-US" sz="780" dirty="0"/>
          </a:p>
        </p:txBody>
      </p:sp>
      <p:sp>
        <p:nvSpPr>
          <p:cNvPr id="66" name="Text 63"/>
          <p:cNvSpPr txBox="1"/>
          <p:nvPr/>
        </p:nvSpPr>
        <p:spPr>
          <a:xfrm>
            <a:off x="2743200" y="569671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1.0h</a:t>
            </a:r>
            <a:endParaRPr lang="en-US" sz="780" dirty="0"/>
          </a:p>
        </p:txBody>
      </p:sp>
      <p:sp>
        <p:nvSpPr>
          <p:cNvPr id="67" name="Text 64"/>
          <p:cNvSpPr txBox="1"/>
          <p:nvPr/>
        </p:nvSpPr>
        <p:spPr>
          <a:xfrm>
            <a:off x="3429000" y="56967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37.5h</a:t>
            </a:r>
            <a:endParaRPr lang="en-US" sz="780" dirty="0"/>
          </a:p>
        </p:txBody>
      </p:sp>
      <p:sp>
        <p:nvSpPr>
          <p:cNvPr id="68" name="Text 65"/>
          <p:cNvSpPr txBox="1"/>
          <p:nvPr/>
        </p:nvSpPr>
        <p:spPr>
          <a:xfrm>
            <a:off x="3931920" y="56967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16.8%</a:t>
            </a:r>
            <a:endParaRPr lang="en-US" sz="780" dirty="0"/>
          </a:p>
        </p:txBody>
      </p:sp>
      <p:sp>
        <p:nvSpPr>
          <p:cNvPr id="69" name="Text 66"/>
          <p:cNvSpPr txBox="1"/>
          <p:nvPr/>
        </p:nvSpPr>
        <p:spPr>
          <a:xfrm>
            <a:off x="4434840" y="56967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39.5h  ▲ +11.6h</a:t>
            </a:r>
            <a:endParaRPr lang="en-US" sz="680" dirty="0"/>
          </a:p>
        </p:txBody>
      </p:sp>
      <p:sp>
        <p:nvSpPr>
          <p:cNvPr id="70" name="Shape 67"/>
          <p:cNvSpPr/>
          <p:nvPr/>
        </p:nvSpPr>
        <p:spPr>
          <a:xfrm>
            <a:off x="594360" y="5934456"/>
            <a:ext cx="4754880" cy="5486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594360" y="593445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19–25 Oct ●</a:t>
            </a:r>
            <a:endParaRPr lang="en-US" sz="780" dirty="0"/>
          </a:p>
        </p:txBody>
      </p:sp>
      <p:sp>
        <p:nvSpPr>
          <p:cNvPr id="72" name="Text 69"/>
          <p:cNvSpPr txBox="1"/>
          <p:nvPr/>
        </p:nvSpPr>
        <p:spPr>
          <a:xfrm>
            <a:off x="1371600" y="593445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11.5h</a:t>
            </a:r>
            <a:endParaRPr lang="en-US" sz="780" dirty="0"/>
          </a:p>
        </p:txBody>
      </p:sp>
      <p:sp>
        <p:nvSpPr>
          <p:cNvPr id="73" name="Text 70"/>
          <p:cNvSpPr txBox="1"/>
          <p:nvPr/>
        </p:nvSpPr>
        <p:spPr>
          <a:xfrm>
            <a:off x="2011680" y="593445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3.5h</a:t>
            </a:r>
            <a:endParaRPr lang="en-US" sz="780" dirty="0"/>
          </a:p>
        </p:txBody>
      </p:sp>
      <p:sp>
        <p:nvSpPr>
          <p:cNvPr id="74" name="Text 71"/>
          <p:cNvSpPr txBox="1"/>
          <p:nvPr/>
        </p:nvSpPr>
        <p:spPr>
          <a:xfrm>
            <a:off x="2743200" y="593445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1.0h</a:t>
            </a:r>
            <a:endParaRPr lang="en-US" sz="780" dirty="0"/>
          </a:p>
        </p:txBody>
      </p:sp>
      <p:sp>
        <p:nvSpPr>
          <p:cNvPr id="75" name="Text 72"/>
          <p:cNvSpPr txBox="1"/>
          <p:nvPr/>
        </p:nvSpPr>
        <p:spPr>
          <a:xfrm>
            <a:off x="3429000" y="59344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7.0h</a:t>
            </a:r>
            <a:endParaRPr lang="en-US" sz="780" dirty="0"/>
          </a:p>
        </p:txBody>
      </p:sp>
      <p:sp>
        <p:nvSpPr>
          <p:cNvPr id="76" name="Text 73"/>
          <p:cNvSpPr txBox="1"/>
          <p:nvPr/>
        </p:nvSpPr>
        <p:spPr>
          <a:xfrm>
            <a:off x="3931920" y="59344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3.7%</a:t>
            </a:r>
            <a:endParaRPr lang="en-US" sz="780" dirty="0"/>
          </a:p>
        </p:txBody>
      </p:sp>
      <p:sp>
        <p:nvSpPr>
          <p:cNvPr id="77" name="Text 74"/>
          <p:cNvSpPr txBox="1"/>
          <p:nvPr/>
        </p:nvSpPr>
        <p:spPr>
          <a:xfrm>
            <a:off x="4434840" y="59344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first report</a:t>
            </a:r>
            <a:endParaRPr lang="en-US" sz="680" dirty="0"/>
          </a:p>
        </p:txBody>
      </p:sp>
      <p:sp>
        <p:nvSpPr>
          <p:cNvPr id="78" name="Shape 75"/>
          <p:cNvSpPr/>
          <p:nvPr/>
        </p:nvSpPr>
        <p:spPr>
          <a:xfrm>
            <a:off x="5715000" y="2011680"/>
            <a:ext cx="2976372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79" name="Text 76"/>
          <p:cNvSpPr txBox="1"/>
          <p:nvPr/>
        </p:nvSpPr>
        <p:spPr>
          <a:xfrm>
            <a:off x="5879592" y="2103120"/>
            <a:ext cx="2647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PARTNERS — COMMISSION vs PS WORK</a:t>
            </a:r>
            <a:endParaRPr lang="en-US" sz="950" dirty="0"/>
          </a:p>
        </p:txBody>
      </p:sp>
      <p:sp>
        <p:nvSpPr>
          <p:cNvPr id="80" name="Text 77"/>
          <p:cNvSpPr txBox="1"/>
          <p:nvPr/>
        </p:nvSpPr>
        <p:spPr>
          <a:xfrm>
            <a:off x="5879592" y="239572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PARTNER</a:t>
            </a:r>
            <a:endParaRPr lang="en-US" sz="560" dirty="0"/>
          </a:p>
        </p:txBody>
      </p:sp>
      <p:sp>
        <p:nvSpPr>
          <p:cNvPr id="81" name="Text 78"/>
          <p:cNvSpPr txBox="1"/>
          <p:nvPr/>
        </p:nvSpPr>
        <p:spPr>
          <a:xfrm>
            <a:off x="6903720" y="239572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COMM. JAN–SEP</a:t>
            </a:r>
            <a:endParaRPr lang="en-US" sz="560" dirty="0"/>
          </a:p>
        </p:txBody>
      </p:sp>
      <p:sp>
        <p:nvSpPr>
          <p:cNvPr id="82" name="Text 79"/>
          <p:cNvSpPr txBox="1"/>
          <p:nvPr/>
        </p:nvSpPr>
        <p:spPr>
          <a:xfrm>
            <a:off x="7680960" y="239572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HRS Q4</a:t>
            </a:r>
            <a:endParaRPr lang="en-US" sz="560" dirty="0"/>
          </a:p>
        </p:txBody>
      </p:sp>
      <p:sp>
        <p:nvSpPr>
          <p:cNvPr id="83" name="Text 80"/>
          <p:cNvSpPr txBox="1"/>
          <p:nvPr/>
        </p:nvSpPr>
        <p:spPr>
          <a:xfrm>
            <a:off x="8092440" y="239572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EST. COST</a:t>
            </a:r>
            <a:endParaRPr lang="en-US" sz="560" dirty="0"/>
          </a:p>
        </p:txBody>
      </p:sp>
      <p:sp>
        <p:nvSpPr>
          <p:cNvPr id="84" name="Text 81"/>
          <p:cNvSpPr txBox="1"/>
          <p:nvPr/>
        </p:nvSpPr>
        <p:spPr>
          <a:xfrm>
            <a:off x="5879592" y="2560320"/>
            <a:ext cx="10972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Mr Yum</a:t>
            </a:r>
            <a:endParaRPr lang="en-US" sz="680" dirty="0"/>
          </a:p>
        </p:txBody>
      </p:sp>
      <p:sp>
        <p:nvSpPr>
          <p:cNvPr id="85" name="Text 82"/>
          <p:cNvSpPr txBox="1"/>
          <p:nvPr/>
        </p:nvSpPr>
        <p:spPr>
          <a:xfrm>
            <a:off x="6903720" y="2560320"/>
            <a:ext cx="7315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$488k</a:t>
            </a:r>
            <a:endParaRPr lang="en-US" sz="680" dirty="0"/>
          </a:p>
        </p:txBody>
      </p:sp>
      <p:sp>
        <p:nvSpPr>
          <p:cNvPr id="86" name="Text 83"/>
          <p:cNvSpPr txBox="1"/>
          <p:nvPr/>
        </p:nvSpPr>
        <p:spPr>
          <a:xfrm>
            <a:off x="7680960" y="2560320"/>
            <a:ext cx="4114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87" name="Text 84"/>
          <p:cNvSpPr txBox="1"/>
          <p:nvPr/>
        </p:nvSpPr>
        <p:spPr>
          <a:xfrm>
            <a:off x="8092440" y="2560320"/>
            <a:ext cx="5029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88" name="Shape 85"/>
          <p:cNvSpPr/>
          <p:nvPr/>
        </p:nvSpPr>
        <p:spPr>
          <a:xfrm>
            <a:off x="5806440" y="2711196"/>
            <a:ext cx="2793492" cy="150876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89" name="Text 86"/>
          <p:cNvSpPr txBox="1"/>
          <p:nvPr/>
        </p:nvSpPr>
        <p:spPr>
          <a:xfrm>
            <a:off x="5879592" y="2711196"/>
            <a:ext cx="10972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Tyro</a:t>
            </a:r>
            <a:endParaRPr lang="en-US" sz="680" dirty="0"/>
          </a:p>
        </p:txBody>
      </p:sp>
      <p:sp>
        <p:nvSpPr>
          <p:cNvPr id="90" name="Text 87"/>
          <p:cNvSpPr txBox="1"/>
          <p:nvPr/>
        </p:nvSpPr>
        <p:spPr>
          <a:xfrm>
            <a:off x="6903720" y="2711196"/>
            <a:ext cx="7315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$266k</a:t>
            </a:r>
            <a:endParaRPr lang="en-US" sz="680" dirty="0"/>
          </a:p>
        </p:txBody>
      </p:sp>
      <p:sp>
        <p:nvSpPr>
          <p:cNvPr id="91" name="Text 88"/>
          <p:cNvSpPr txBox="1"/>
          <p:nvPr/>
        </p:nvSpPr>
        <p:spPr>
          <a:xfrm>
            <a:off x="7680960" y="2711196"/>
            <a:ext cx="4114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92" name="Text 89"/>
          <p:cNvSpPr txBox="1"/>
          <p:nvPr/>
        </p:nvSpPr>
        <p:spPr>
          <a:xfrm>
            <a:off x="8092440" y="2711196"/>
            <a:ext cx="5029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93" name="Text 90"/>
          <p:cNvSpPr txBox="1"/>
          <p:nvPr/>
        </p:nvSpPr>
        <p:spPr>
          <a:xfrm>
            <a:off x="5879592" y="2862072"/>
            <a:ext cx="10972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Me&amp;U</a:t>
            </a:r>
            <a:endParaRPr lang="en-US" sz="680" dirty="0"/>
          </a:p>
        </p:txBody>
      </p:sp>
      <p:sp>
        <p:nvSpPr>
          <p:cNvPr id="94" name="Text 91"/>
          <p:cNvSpPr txBox="1"/>
          <p:nvPr/>
        </p:nvSpPr>
        <p:spPr>
          <a:xfrm>
            <a:off x="6903720" y="2862072"/>
            <a:ext cx="7315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$126k</a:t>
            </a:r>
            <a:endParaRPr lang="en-US" sz="680" dirty="0"/>
          </a:p>
        </p:txBody>
      </p:sp>
      <p:sp>
        <p:nvSpPr>
          <p:cNvPr id="95" name="Text 92"/>
          <p:cNvSpPr txBox="1"/>
          <p:nvPr/>
        </p:nvSpPr>
        <p:spPr>
          <a:xfrm>
            <a:off x="7680960" y="2862072"/>
            <a:ext cx="4114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96" name="Text 93"/>
          <p:cNvSpPr txBox="1"/>
          <p:nvPr/>
        </p:nvSpPr>
        <p:spPr>
          <a:xfrm>
            <a:off x="8092440" y="2862072"/>
            <a:ext cx="5029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97" name="Shape 94"/>
          <p:cNvSpPr/>
          <p:nvPr/>
        </p:nvSpPr>
        <p:spPr>
          <a:xfrm>
            <a:off x="5806440" y="3012948"/>
            <a:ext cx="2793492" cy="150876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98" name="Text 95"/>
          <p:cNvSpPr txBox="1"/>
          <p:nvPr/>
        </p:nvSpPr>
        <p:spPr>
          <a:xfrm>
            <a:off x="5879592" y="3012948"/>
            <a:ext cx="10972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7Rs (SevenRooms)</a:t>
            </a:r>
            <a:endParaRPr lang="en-US" sz="680" dirty="0"/>
          </a:p>
        </p:txBody>
      </p:sp>
      <p:sp>
        <p:nvSpPr>
          <p:cNvPr id="99" name="Text 96"/>
          <p:cNvSpPr txBox="1"/>
          <p:nvPr/>
        </p:nvSpPr>
        <p:spPr>
          <a:xfrm>
            <a:off x="6903720" y="3012948"/>
            <a:ext cx="7315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$112k</a:t>
            </a:r>
            <a:endParaRPr lang="en-US" sz="680" dirty="0"/>
          </a:p>
        </p:txBody>
      </p:sp>
      <p:sp>
        <p:nvSpPr>
          <p:cNvPr id="100" name="Text 97"/>
          <p:cNvSpPr txBox="1"/>
          <p:nvPr/>
        </p:nvSpPr>
        <p:spPr>
          <a:xfrm>
            <a:off x="7680960" y="3012948"/>
            <a:ext cx="4114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1.0h</a:t>
            </a:r>
            <a:endParaRPr lang="en-US" sz="680" dirty="0"/>
          </a:p>
        </p:txBody>
      </p:sp>
      <p:sp>
        <p:nvSpPr>
          <p:cNvPr id="101" name="Text 98"/>
          <p:cNvSpPr txBox="1"/>
          <p:nvPr/>
        </p:nvSpPr>
        <p:spPr>
          <a:xfrm>
            <a:off x="8092440" y="3012948"/>
            <a:ext cx="5029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$42</a:t>
            </a:r>
            <a:endParaRPr lang="en-US" sz="680" dirty="0"/>
          </a:p>
        </p:txBody>
      </p:sp>
      <p:sp>
        <p:nvSpPr>
          <p:cNvPr id="102" name="Text 99"/>
          <p:cNvSpPr txBox="1"/>
          <p:nvPr/>
        </p:nvSpPr>
        <p:spPr>
          <a:xfrm>
            <a:off x="5879592" y="3163824"/>
            <a:ext cx="10972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Zeller</a:t>
            </a:r>
            <a:endParaRPr lang="en-US" sz="680" dirty="0"/>
          </a:p>
        </p:txBody>
      </p:sp>
      <p:sp>
        <p:nvSpPr>
          <p:cNvPr id="103" name="Text 100"/>
          <p:cNvSpPr txBox="1"/>
          <p:nvPr/>
        </p:nvSpPr>
        <p:spPr>
          <a:xfrm>
            <a:off x="6903720" y="3163824"/>
            <a:ext cx="7315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$79k</a:t>
            </a:r>
            <a:endParaRPr lang="en-US" sz="680" dirty="0"/>
          </a:p>
        </p:txBody>
      </p:sp>
      <p:sp>
        <p:nvSpPr>
          <p:cNvPr id="104" name="Text 101"/>
          <p:cNvSpPr txBox="1"/>
          <p:nvPr/>
        </p:nvSpPr>
        <p:spPr>
          <a:xfrm>
            <a:off x="7680960" y="3163824"/>
            <a:ext cx="4114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1.0h</a:t>
            </a:r>
            <a:endParaRPr lang="en-US" sz="680" dirty="0"/>
          </a:p>
        </p:txBody>
      </p:sp>
      <p:sp>
        <p:nvSpPr>
          <p:cNvPr id="105" name="Text 102"/>
          <p:cNvSpPr txBox="1"/>
          <p:nvPr/>
        </p:nvSpPr>
        <p:spPr>
          <a:xfrm>
            <a:off x="8092440" y="3163824"/>
            <a:ext cx="5029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$42</a:t>
            </a:r>
            <a:endParaRPr lang="en-US" sz="680" dirty="0"/>
          </a:p>
        </p:txBody>
      </p:sp>
      <p:sp>
        <p:nvSpPr>
          <p:cNvPr id="106" name="Shape 103"/>
          <p:cNvSpPr/>
          <p:nvPr/>
        </p:nvSpPr>
        <p:spPr>
          <a:xfrm>
            <a:off x="5806440" y="3314700"/>
            <a:ext cx="2793492" cy="150876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107" name="Text 104"/>
          <p:cNvSpPr txBox="1"/>
          <p:nvPr/>
        </p:nvSpPr>
        <p:spPr>
          <a:xfrm>
            <a:off x="5879592" y="3314700"/>
            <a:ext cx="10972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Zen</a:t>
            </a:r>
            <a:endParaRPr lang="en-US" sz="680" dirty="0"/>
          </a:p>
        </p:txBody>
      </p:sp>
      <p:sp>
        <p:nvSpPr>
          <p:cNvPr id="108" name="Text 105"/>
          <p:cNvSpPr txBox="1"/>
          <p:nvPr/>
        </p:nvSpPr>
        <p:spPr>
          <a:xfrm>
            <a:off x="6903720" y="3314700"/>
            <a:ext cx="7315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$61k</a:t>
            </a:r>
            <a:endParaRPr lang="en-US" sz="680" dirty="0"/>
          </a:p>
        </p:txBody>
      </p:sp>
      <p:sp>
        <p:nvSpPr>
          <p:cNvPr id="109" name="Text 106"/>
          <p:cNvSpPr txBox="1"/>
          <p:nvPr/>
        </p:nvSpPr>
        <p:spPr>
          <a:xfrm>
            <a:off x="7680960" y="3314700"/>
            <a:ext cx="4114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10" name="Text 107"/>
          <p:cNvSpPr txBox="1"/>
          <p:nvPr/>
        </p:nvSpPr>
        <p:spPr>
          <a:xfrm>
            <a:off x="8092440" y="3314700"/>
            <a:ext cx="5029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11" name="Text 108"/>
          <p:cNvSpPr txBox="1"/>
          <p:nvPr/>
        </p:nvSpPr>
        <p:spPr>
          <a:xfrm>
            <a:off x="5879592" y="3465576"/>
            <a:ext cx="10972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Chewzie</a:t>
            </a:r>
            <a:endParaRPr lang="en-US" sz="680" dirty="0"/>
          </a:p>
        </p:txBody>
      </p:sp>
      <p:sp>
        <p:nvSpPr>
          <p:cNvPr id="112" name="Text 109"/>
          <p:cNvSpPr txBox="1"/>
          <p:nvPr/>
        </p:nvSpPr>
        <p:spPr>
          <a:xfrm>
            <a:off x="6903720" y="3465576"/>
            <a:ext cx="7315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$45k</a:t>
            </a:r>
            <a:endParaRPr lang="en-US" sz="680" dirty="0"/>
          </a:p>
        </p:txBody>
      </p:sp>
      <p:sp>
        <p:nvSpPr>
          <p:cNvPr id="113" name="Text 110"/>
          <p:cNvSpPr txBox="1"/>
          <p:nvPr/>
        </p:nvSpPr>
        <p:spPr>
          <a:xfrm>
            <a:off x="7680960" y="3465576"/>
            <a:ext cx="4114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14" name="Text 111"/>
          <p:cNvSpPr txBox="1"/>
          <p:nvPr/>
        </p:nvSpPr>
        <p:spPr>
          <a:xfrm>
            <a:off x="8092440" y="3465576"/>
            <a:ext cx="5029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15" name="Shape 112"/>
          <p:cNvSpPr/>
          <p:nvPr/>
        </p:nvSpPr>
        <p:spPr>
          <a:xfrm>
            <a:off x="5806440" y="3616452"/>
            <a:ext cx="2793492" cy="150876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116" name="Text 113"/>
          <p:cNvSpPr txBox="1"/>
          <p:nvPr/>
        </p:nvSpPr>
        <p:spPr>
          <a:xfrm>
            <a:off x="5879592" y="3616452"/>
            <a:ext cx="10972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HungryHungry</a:t>
            </a:r>
            <a:endParaRPr lang="en-US" sz="680" dirty="0"/>
          </a:p>
        </p:txBody>
      </p:sp>
      <p:sp>
        <p:nvSpPr>
          <p:cNvPr id="117" name="Text 114"/>
          <p:cNvSpPr txBox="1"/>
          <p:nvPr/>
        </p:nvSpPr>
        <p:spPr>
          <a:xfrm>
            <a:off x="6903720" y="3616452"/>
            <a:ext cx="7315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$16k</a:t>
            </a:r>
            <a:endParaRPr lang="en-US" sz="680" dirty="0"/>
          </a:p>
        </p:txBody>
      </p:sp>
      <p:sp>
        <p:nvSpPr>
          <p:cNvPr id="118" name="Text 115"/>
          <p:cNvSpPr txBox="1"/>
          <p:nvPr/>
        </p:nvSpPr>
        <p:spPr>
          <a:xfrm>
            <a:off x="7680960" y="3616452"/>
            <a:ext cx="4114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1.5h</a:t>
            </a:r>
            <a:endParaRPr lang="en-US" sz="680" dirty="0"/>
          </a:p>
        </p:txBody>
      </p:sp>
      <p:sp>
        <p:nvSpPr>
          <p:cNvPr id="119" name="Text 116"/>
          <p:cNvSpPr txBox="1"/>
          <p:nvPr/>
        </p:nvSpPr>
        <p:spPr>
          <a:xfrm>
            <a:off x="8092440" y="3616452"/>
            <a:ext cx="5029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$63</a:t>
            </a:r>
            <a:endParaRPr lang="en-US" sz="680" dirty="0"/>
          </a:p>
        </p:txBody>
      </p:sp>
      <p:sp>
        <p:nvSpPr>
          <p:cNvPr id="120" name="Text 117"/>
          <p:cNvSpPr txBox="1"/>
          <p:nvPr/>
        </p:nvSpPr>
        <p:spPr>
          <a:xfrm>
            <a:off x="5879592" y="3767328"/>
            <a:ext cx="10972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EatClub</a:t>
            </a:r>
            <a:endParaRPr lang="en-US" sz="680" dirty="0"/>
          </a:p>
        </p:txBody>
      </p:sp>
      <p:sp>
        <p:nvSpPr>
          <p:cNvPr id="121" name="Text 118"/>
          <p:cNvSpPr txBox="1"/>
          <p:nvPr/>
        </p:nvSpPr>
        <p:spPr>
          <a:xfrm>
            <a:off x="6903720" y="3767328"/>
            <a:ext cx="7315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$2k</a:t>
            </a:r>
            <a:endParaRPr lang="en-US" sz="680" dirty="0"/>
          </a:p>
        </p:txBody>
      </p:sp>
      <p:sp>
        <p:nvSpPr>
          <p:cNvPr id="122" name="Text 119"/>
          <p:cNvSpPr txBox="1"/>
          <p:nvPr/>
        </p:nvSpPr>
        <p:spPr>
          <a:xfrm>
            <a:off x="7680960" y="3767328"/>
            <a:ext cx="4114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1.1h</a:t>
            </a:r>
            <a:endParaRPr lang="en-US" sz="680" dirty="0"/>
          </a:p>
        </p:txBody>
      </p:sp>
      <p:sp>
        <p:nvSpPr>
          <p:cNvPr id="123" name="Text 120"/>
          <p:cNvSpPr txBox="1"/>
          <p:nvPr/>
        </p:nvSpPr>
        <p:spPr>
          <a:xfrm>
            <a:off x="8092440" y="3767328"/>
            <a:ext cx="5029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$47</a:t>
            </a:r>
            <a:endParaRPr lang="en-US" sz="680" dirty="0"/>
          </a:p>
        </p:txBody>
      </p:sp>
      <p:sp>
        <p:nvSpPr>
          <p:cNvPr id="124" name="Shape 121"/>
          <p:cNvSpPr/>
          <p:nvPr/>
        </p:nvSpPr>
        <p:spPr>
          <a:xfrm>
            <a:off x="5806440" y="3918204"/>
            <a:ext cx="2793492" cy="150876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125" name="Text 122"/>
          <p:cNvSpPr txBox="1"/>
          <p:nvPr/>
        </p:nvSpPr>
        <p:spPr>
          <a:xfrm>
            <a:off x="5879592" y="3918204"/>
            <a:ext cx="10972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 Pay</a:t>
            </a:r>
            <a:endParaRPr lang="en-US" sz="680" dirty="0"/>
          </a:p>
        </p:txBody>
      </p:sp>
      <p:sp>
        <p:nvSpPr>
          <p:cNvPr id="126" name="Text 123"/>
          <p:cNvSpPr txBox="1"/>
          <p:nvPr/>
        </p:nvSpPr>
        <p:spPr>
          <a:xfrm>
            <a:off x="6903720" y="3918204"/>
            <a:ext cx="7315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separate</a:t>
            </a:r>
            <a:endParaRPr lang="en-US" sz="680" dirty="0"/>
          </a:p>
        </p:txBody>
      </p:sp>
      <p:sp>
        <p:nvSpPr>
          <p:cNvPr id="127" name="Text 124"/>
          <p:cNvSpPr txBox="1"/>
          <p:nvPr/>
        </p:nvSpPr>
        <p:spPr>
          <a:xfrm>
            <a:off x="7680960" y="3918204"/>
            <a:ext cx="4114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2.0h</a:t>
            </a:r>
            <a:endParaRPr lang="en-US" sz="680" dirty="0"/>
          </a:p>
        </p:txBody>
      </p:sp>
      <p:sp>
        <p:nvSpPr>
          <p:cNvPr id="128" name="Text 125"/>
          <p:cNvSpPr txBox="1"/>
          <p:nvPr/>
        </p:nvSpPr>
        <p:spPr>
          <a:xfrm>
            <a:off x="8092440" y="3918204"/>
            <a:ext cx="5029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$84</a:t>
            </a:r>
            <a:endParaRPr lang="en-US" sz="680" dirty="0"/>
          </a:p>
        </p:txBody>
      </p:sp>
      <p:sp>
        <p:nvSpPr>
          <p:cNvPr id="129" name="Text 126"/>
          <p:cNvSpPr txBox="1"/>
          <p:nvPr/>
        </p:nvSpPr>
        <p:spPr>
          <a:xfrm>
            <a:off x="5879592" y="4069080"/>
            <a:ext cx="10972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NowBookIt</a:t>
            </a:r>
            <a:endParaRPr lang="en-US" sz="680" dirty="0"/>
          </a:p>
        </p:txBody>
      </p:sp>
      <p:sp>
        <p:nvSpPr>
          <p:cNvPr id="130" name="Text 127"/>
          <p:cNvSpPr txBox="1"/>
          <p:nvPr/>
        </p:nvSpPr>
        <p:spPr>
          <a:xfrm>
            <a:off x="6903720" y="4069080"/>
            <a:ext cx="7315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$0</a:t>
            </a:r>
            <a:endParaRPr lang="en-US" sz="680" dirty="0"/>
          </a:p>
        </p:txBody>
      </p:sp>
      <p:sp>
        <p:nvSpPr>
          <p:cNvPr id="131" name="Text 128"/>
          <p:cNvSpPr txBox="1"/>
          <p:nvPr/>
        </p:nvSpPr>
        <p:spPr>
          <a:xfrm>
            <a:off x="7680960" y="4069080"/>
            <a:ext cx="4114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2.0h</a:t>
            </a:r>
            <a:endParaRPr lang="en-US" sz="680" dirty="0"/>
          </a:p>
        </p:txBody>
      </p:sp>
      <p:sp>
        <p:nvSpPr>
          <p:cNvPr id="132" name="Text 129"/>
          <p:cNvSpPr txBox="1"/>
          <p:nvPr/>
        </p:nvSpPr>
        <p:spPr>
          <a:xfrm>
            <a:off x="8092440" y="4069080"/>
            <a:ext cx="5029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$84</a:t>
            </a:r>
            <a:endParaRPr lang="en-US" sz="680" dirty="0"/>
          </a:p>
        </p:txBody>
      </p:sp>
      <p:sp>
        <p:nvSpPr>
          <p:cNvPr id="133" name="Shape 130"/>
          <p:cNvSpPr/>
          <p:nvPr/>
        </p:nvSpPr>
        <p:spPr>
          <a:xfrm>
            <a:off x="5806440" y="4219956"/>
            <a:ext cx="2793492" cy="150876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134" name="Text 131"/>
          <p:cNvSpPr txBox="1"/>
          <p:nvPr/>
        </p:nvSpPr>
        <p:spPr>
          <a:xfrm>
            <a:off x="5879592" y="4219956"/>
            <a:ext cx="10972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Uber Eats</a:t>
            </a:r>
            <a:endParaRPr lang="en-US" sz="680" dirty="0"/>
          </a:p>
        </p:txBody>
      </p:sp>
      <p:sp>
        <p:nvSpPr>
          <p:cNvPr id="135" name="Text 132"/>
          <p:cNvSpPr txBox="1"/>
          <p:nvPr/>
        </p:nvSpPr>
        <p:spPr>
          <a:xfrm>
            <a:off x="6903720" y="4219956"/>
            <a:ext cx="7315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$0</a:t>
            </a:r>
            <a:endParaRPr lang="en-US" sz="680" dirty="0"/>
          </a:p>
        </p:txBody>
      </p:sp>
      <p:sp>
        <p:nvSpPr>
          <p:cNvPr id="136" name="Text 133"/>
          <p:cNvSpPr txBox="1"/>
          <p:nvPr/>
        </p:nvSpPr>
        <p:spPr>
          <a:xfrm>
            <a:off x="7680960" y="4219956"/>
            <a:ext cx="4114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6.3h</a:t>
            </a:r>
            <a:endParaRPr lang="en-US" sz="680" dirty="0"/>
          </a:p>
        </p:txBody>
      </p:sp>
      <p:sp>
        <p:nvSpPr>
          <p:cNvPr id="137" name="Text 134"/>
          <p:cNvSpPr txBox="1"/>
          <p:nvPr/>
        </p:nvSpPr>
        <p:spPr>
          <a:xfrm>
            <a:off x="8092440" y="4219956"/>
            <a:ext cx="5029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$265</a:t>
            </a:r>
            <a:endParaRPr lang="en-US" sz="680" dirty="0"/>
          </a:p>
        </p:txBody>
      </p:sp>
      <p:sp>
        <p:nvSpPr>
          <p:cNvPr id="138" name="Shape 135"/>
          <p:cNvSpPr/>
          <p:nvPr/>
        </p:nvSpPr>
        <p:spPr>
          <a:xfrm>
            <a:off x="8801100" y="2011680"/>
            <a:ext cx="2976372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39" name="Text 136"/>
          <p:cNvSpPr txBox="1"/>
          <p:nvPr/>
        </p:nvSpPr>
        <p:spPr>
          <a:xfrm>
            <a:off x="8965692" y="2103120"/>
            <a:ext cx="2647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ACCOUNTS — PS WORK BUILT IN</a:t>
            </a:r>
            <a:endParaRPr lang="en-US" sz="950" dirty="0"/>
          </a:p>
        </p:txBody>
      </p:sp>
      <p:sp>
        <p:nvSpPr>
          <p:cNvPr id="140" name="Text 137"/>
          <p:cNvSpPr txBox="1"/>
          <p:nvPr/>
        </p:nvSpPr>
        <p:spPr>
          <a:xfrm>
            <a:off x="8965692" y="239572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ACCOUNT</a:t>
            </a:r>
            <a:endParaRPr lang="en-US" sz="560" dirty="0"/>
          </a:p>
        </p:txBody>
      </p:sp>
      <p:sp>
        <p:nvSpPr>
          <p:cNvPr id="141" name="Text 138"/>
          <p:cNvSpPr txBox="1"/>
          <p:nvPr/>
        </p:nvSpPr>
        <p:spPr>
          <a:xfrm>
            <a:off x="9944100" y="239572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HRS Q4</a:t>
            </a:r>
            <a:endParaRPr lang="en-US" sz="560" dirty="0"/>
          </a:p>
        </p:txBody>
      </p:sp>
      <p:sp>
        <p:nvSpPr>
          <p:cNvPr id="142" name="Text 139"/>
          <p:cNvSpPr txBox="1"/>
          <p:nvPr/>
        </p:nvSpPr>
        <p:spPr>
          <a:xfrm>
            <a:off x="10401300" y="239572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CHARGEABLE</a:t>
            </a:r>
            <a:endParaRPr lang="en-US" sz="560" dirty="0"/>
          </a:p>
        </p:txBody>
      </p:sp>
      <p:sp>
        <p:nvSpPr>
          <p:cNvPr id="143" name="Text 140"/>
          <p:cNvSpPr txBox="1"/>
          <p:nvPr/>
        </p:nvSpPr>
        <p:spPr>
          <a:xfrm>
            <a:off x="10904220" y="2395728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BLANK</a:t>
            </a:r>
            <a:endParaRPr lang="en-US" sz="560" dirty="0"/>
          </a:p>
        </p:txBody>
      </p:sp>
      <p:sp>
        <p:nvSpPr>
          <p:cNvPr id="144" name="Text 141"/>
          <p:cNvSpPr txBox="1"/>
          <p:nvPr/>
        </p:nvSpPr>
        <p:spPr>
          <a:xfrm>
            <a:off x="11224260" y="239572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EST. COST</a:t>
            </a:r>
            <a:endParaRPr lang="en-US" sz="560" dirty="0"/>
          </a:p>
        </p:txBody>
      </p:sp>
      <p:sp>
        <p:nvSpPr>
          <p:cNvPr id="145" name="Text 142"/>
          <p:cNvSpPr txBox="1"/>
          <p:nvPr/>
        </p:nvSpPr>
        <p:spPr>
          <a:xfrm>
            <a:off x="8965692" y="2560320"/>
            <a:ext cx="1005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AVC</a:t>
            </a:r>
            <a:endParaRPr lang="en-US" sz="680" dirty="0"/>
          </a:p>
        </p:txBody>
      </p:sp>
      <p:sp>
        <p:nvSpPr>
          <p:cNvPr id="146" name="Text 143"/>
          <p:cNvSpPr txBox="1"/>
          <p:nvPr/>
        </p:nvSpPr>
        <p:spPr>
          <a:xfrm>
            <a:off x="9944100" y="2560320"/>
            <a:ext cx="4114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21.5h</a:t>
            </a:r>
            <a:endParaRPr lang="en-US" sz="680" dirty="0"/>
          </a:p>
        </p:txBody>
      </p:sp>
      <p:sp>
        <p:nvSpPr>
          <p:cNvPr id="147" name="Text 144"/>
          <p:cNvSpPr txBox="1"/>
          <p:nvPr/>
        </p:nvSpPr>
        <p:spPr>
          <a:xfrm>
            <a:off x="10401300" y="2560320"/>
            <a:ext cx="5029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18.0h</a:t>
            </a:r>
            <a:endParaRPr lang="en-US" sz="680" dirty="0"/>
          </a:p>
        </p:txBody>
      </p:sp>
      <p:sp>
        <p:nvSpPr>
          <p:cNvPr id="148" name="Text 145"/>
          <p:cNvSpPr txBox="1"/>
          <p:nvPr/>
        </p:nvSpPr>
        <p:spPr>
          <a:xfrm>
            <a:off x="10904220" y="2560320"/>
            <a:ext cx="320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3.5h</a:t>
            </a:r>
            <a:endParaRPr lang="en-US" sz="680" dirty="0"/>
          </a:p>
        </p:txBody>
      </p:sp>
      <p:sp>
        <p:nvSpPr>
          <p:cNvPr id="149" name="Text 146"/>
          <p:cNvSpPr txBox="1"/>
          <p:nvPr/>
        </p:nvSpPr>
        <p:spPr>
          <a:xfrm>
            <a:off x="11224260" y="2560320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$903</a:t>
            </a:r>
            <a:endParaRPr lang="en-US" sz="680" dirty="0"/>
          </a:p>
        </p:txBody>
      </p:sp>
      <p:sp>
        <p:nvSpPr>
          <p:cNvPr id="150" name="Shape 147"/>
          <p:cNvSpPr/>
          <p:nvPr/>
        </p:nvSpPr>
        <p:spPr>
          <a:xfrm>
            <a:off x="8892540" y="2711196"/>
            <a:ext cx="2793492" cy="150876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151" name="Text 148"/>
          <p:cNvSpPr txBox="1"/>
          <p:nvPr/>
        </p:nvSpPr>
        <p:spPr>
          <a:xfrm>
            <a:off x="8965692" y="2711196"/>
            <a:ext cx="1005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Solotel</a:t>
            </a:r>
            <a:endParaRPr lang="en-US" sz="680" dirty="0"/>
          </a:p>
        </p:txBody>
      </p:sp>
      <p:sp>
        <p:nvSpPr>
          <p:cNvPr id="152" name="Text 149"/>
          <p:cNvSpPr txBox="1"/>
          <p:nvPr/>
        </p:nvSpPr>
        <p:spPr>
          <a:xfrm>
            <a:off x="9944100" y="2711196"/>
            <a:ext cx="4114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7.0h</a:t>
            </a:r>
            <a:endParaRPr lang="en-US" sz="680" dirty="0"/>
          </a:p>
        </p:txBody>
      </p:sp>
      <p:sp>
        <p:nvSpPr>
          <p:cNvPr id="153" name="Text 150"/>
          <p:cNvSpPr txBox="1"/>
          <p:nvPr/>
        </p:nvSpPr>
        <p:spPr>
          <a:xfrm>
            <a:off x="10401300" y="2711196"/>
            <a:ext cx="5029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2.5h</a:t>
            </a:r>
            <a:endParaRPr lang="en-US" sz="680" dirty="0"/>
          </a:p>
        </p:txBody>
      </p:sp>
      <p:sp>
        <p:nvSpPr>
          <p:cNvPr id="154" name="Text 151"/>
          <p:cNvSpPr txBox="1"/>
          <p:nvPr/>
        </p:nvSpPr>
        <p:spPr>
          <a:xfrm>
            <a:off x="10904220" y="2711196"/>
            <a:ext cx="320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4.5h</a:t>
            </a:r>
            <a:endParaRPr lang="en-US" sz="680" dirty="0"/>
          </a:p>
        </p:txBody>
      </p:sp>
      <p:sp>
        <p:nvSpPr>
          <p:cNvPr id="155" name="Text 152"/>
          <p:cNvSpPr txBox="1"/>
          <p:nvPr/>
        </p:nvSpPr>
        <p:spPr>
          <a:xfrm>
            <a:off x="11224260" y="2711196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$294</a:t>
            </a:r>
            <a:endParaRPr lang="en-US" sz="680" dirty="0"/>
          </a:p>
        </p:txBody>
      </p:sp>
      <p:sp>
        <p:nvSpPr>
          <p:cNvPr id="156" name="Text 153"/>
          <p:cNvSpPr txBox="1"/>
          <p:nvPr/>
        </p:nvSpPr>
        <p:spPr>
          <a:xfrm>
            <a:off x="8965692" y="2862072"/>
            <a:ext cx="1005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Trader House</a:t>
            </a:r>
            <a:endParaRPr lang="en-US" sz="680" dirty="0"/>
          </a:p>
        </p:txBody>
      </p:sp>
      <p:sp>
        <p:nvSpPr>
          <p:cNvPr id="157" name="Text 154"/>
          <p:cNvSpPr txBox="1"/>
          <p:nvPr/>
        </p:nvSpPr>
        <p:spPr>
          <a:xfrm>
            <a:off x="9944100" y="2862072"/>
            <a:ext cx="4114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3.5h</a:t>
            </a:r>
            <a:endParaRPr lang="en-US" sz="680" dirty="0"/>
          </a:p>
        </p:txBody>
      </p:sp>
      <p:sp>
        <p:nvSpPr>
          <p:cNvPr id="158" name="Text 155"/>
          <p:cNvSpPr txBox="1"/>
          <p:nvPr/>
        </p:nvSpPr>
        <p:spPr>
          <a:xfrm>
            <a:off x="10401300" y="2862072"/>
            <a:ext cx="5029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59" name="Text 156"/>
          <p:cNvSpPr txBox="1"/>
          <p:nvPr/>
        </p:nvSpPr>
        <p:spPr>
          <a:xfrm>
            <a:off x="10904220" y="2862072"/>
            <a:ext cx="320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3.5h</a:t>
            </a:r>
            <a:endParaRPr lang="en-US" sz="680" dirty="0"/>
          </a:p>
        </p:txBody>
      </p:sp>
      <p:sp>
        <p:nvSpPr>
          <p:cNvPr id="160" name="Text 157"/>
          <p:cNvSpPr txBox="1"/>
          <p:nvPr/>
        </p:nvSpPr>
        <p:spPr>
          <a:xfrm>
            <a:off x="11224260" y="2862072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$147</a:t>
            </a:r>
            <a:endParaRPr lang="en-US" sz="680" dirty="0"/>
          </a:p>
        </p:txBody>
      </p:sp>
      <p:sp>
        <p:nvSpPr>
          <p:cNvPr id="161" name="Shape 158"/>
          <p:cNvSpPr/>
          <p:nvPr/>
        </p:nvSpPr>
        <p:spPr>
          <a:xfrm>
            <a:off x="8892540" y="3012948"/>
            <a:ext cx="2793492" cy="150876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162" name="Text 159"/>
          <p:cNvSpPr txBox="1"/>
          <p:nvPr/>
        </p:nvSpPr>
        <p:spPr>
          <a:xfrm>
            <a:off x="8965692" y="3012948"/>
            <a:ext cx="1005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Locals Co</a:t>
            </a:r>
            <a:endParaRPr lang="en-US" sz="680" dirty="0"/>
          </a:p>
        </p:txBody>
      </p:sp>
      <p:sp>
        <p:nvSpPr>
          <p:cNvPr id="163" name="Text 160"/>
          <p:cNvSpPr txBox="1"/>
          <p:nvPr/>
        </p:nvSpPr>
        <p:spPr>
          <a:xfrm>
            <a:off x="9944100" y="3012948"/>
            <a:ext cx="4114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3.5h</a:t>
            </a:r>
            <a:endParaRPr lang="en-US" sz="680" dirty="0"/>
          </a:p>
        </p:txBody>
      </p:sp>
      <p:sp>
        <p:nvSpPr>
          <p:cNvPr id="164" name="Text 161"/>
          <p:cNvSpPr txBox="1"/>
          <p:nvPr/>
        </p:nvSpPr>
        <p:spPr>
          <a:xfrm>
            <a:off x="10401300" y="3012948"/>
            <a:ext cx="5029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65" name="Text 162"/>
          <p:cNvSpPr txBox="1"/>
          <p:nvPr/>
        </p:nvSpPr>
        <p:spPr>
          <a:xfrm>
            <a:off x="10904220" y="3012948"/>
            <a:ext cx="320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3.5h</a:t>
            </a:r>
            <a:endParaRPr lang="en-US" sz="680" dirty="0"/>
          </a:p>
        </p:txBody>
      </p:sp>
      <p:sp>
        <p:nvSpPr>
          <p:cNvPr id="166" name="Text 163"/>
          <p:cNvSpPr txBox="1"/>
          <p:nvPr/>
        </p:nvSpPr>
        <p:spPr>
          <a:xfrm>
            <a:off x="11224260" y="3012948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$147</a:t>
            </a:r>
            <a:endParaRPr lang="en-US" sz="680" dirty="0"/>
          </a:p>
        </p:txBody>
      </p:sp>
      <p:sp>
        <p:nvSpPr>
          <p:cNvPr id="167" name="Text 164"/>
          <p:cNvSpPr txBox="1"/>
          <p:nvPr/>
        </p:nvSpPr>
        <p:spPr>
          <a:xfrm>
            <a:off x="8965692" y="3163824"/>
            <a:ext cx="1005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HHG</a:t>
            </a:r>
            <a:endParaRPr lang="en-US" sz="680" dirty="0"/>
          </a:p>
        </p:txBody>
      </p:sp>
      <p:sp>
        <p:nvSpPr>
          <p:cNvPr id="168" name="Text 165"/>
          <p:cNvSpPr txBox="1"/>
          <p:nvPr/>
        </p:nvSpPr>
        <p:spPr>
          <a:xfrm>
            <a:off x="9944100" y="3163824"/>
            <a:ext cx="4114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3.5h</a:t>
            </a:r>
            <a:endParaRPr lang="en-US" sz="680" dirty="0"/>
          </a:p>
        </p:txBody>
      </p:sp>
      <p:sp>
        <p:nvSpPr>
          <p:cNvPr id="169" name="Text 166"/>
          <p:cNvSpPr txBox="1"/>
          <p:nvPr/>
        </p:nvSpPr>
        <p:spPr>
          <a:xfrm>
            <a:off x="10401300" y="3163824"/>
            <a:ext cx="5029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1.0h</a:t>
            </a:r>
            <a:endParaRPr lang="en-US" sz="680" dirty="0"/>
          </a:p>
        </p:txBody>
      </p:sp>
      <p:sp>
        <p:nvSpPr>
          <p:cNvPr id="170" name="Text 167"/>
          <p:cNvSpPr txBox="1"/>
          <p:nvPr/>
        </p:nvSpPr>
        <p:spPr>
          <a:xfrm>
            <a:off x="10904220" y="3163824"/>
            <a:ext cx="320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2.5h</a:t>
            </a:r>
            <a:endParaRPr lang="en-US" sz="680" dirty="0"/>
          </a:p>
        </p:txBody>
      </p:sp>
      <p:sp>
        <p:nvSpPr>
          <p:cNvPr id="171" name="Text 168"/>
          <p:cNvSpPr txBox="1"/>
          <p:nvPr/>
        </p:nvSpPr>
        <p:spPr>
          <a:xfrm>
            <a:off x="11224260" y="3163824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$147</a:t>
            </a:r>
            <a:endParaRPr lang="en-US" sz="680" dirty="0"/>
          </a:p>
        </p:txBody>
      </p:sp>
      <p:sp>
        <p:nvSpPr>
          <p:cNvPr id="172" name="Shape 169"/>
          <p:cNvSpPr/>
          <p:nvPr/>
        </p:nvSpPr>
        <p:spPr>
          <a:xfrm>
            <a:off x="8892540" y="3314700"/>
            <a:ext cx="2793492" cy="150876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173" name="Text 170"/>
          <p:cNvSpPr txBox="1"/>
          <p:nvPr/>
        </p:nvSpPr>
        <p:spPr>
          <a:xfrm>
            <a:off x="8965692" y="3314700"/>
            <a:ext cx="1005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Lucas Collective</a:t>
            </a:r>
            <a:endParaRPr lang="en-US" sz="680" dirty="0"/>
          </a:p>
        </p:txBody>
      </p:sp>
      <p:sp>
        <p:nvSpPr>
          <p:cNvPr id="174" name="Text 171"/>
          <p:cNvSpPr txBox="1"/>
          <p:nvPr/>
        </p:nvSpPr>
        <p:spPr>
          <a:xfrm>
            <a:off x="9944100" y="3314700"/>
            <a:ext cx="4114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3.0h</a:t>
            </a:r>
            <a:endParaRPr lang="en-US" sz="680" dirty="0"/>
          </a:p>
        </p:txBody>
      </p:sp>
      <p:sp>
        <p:nvSpPr>
          <p:cNvPr id="175" name="Text 172"/>
          <p:cNvSpPr txBox="1"/>
          <p:nvPr/>
        </p:nvSpPr>
        <p:spPr>
          <a:xfrm>
            <a:off x="10401300" y="3314700"/>
            <a:ext cx="5029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76" name="Text 173"/>
          <p:cNvSpPr txBox="1"/>
          <p:nvPr/>
        </p:nvSpPr>
        <p:spPr>
          <a:xfrm>
            <a:off x="10904220" y="3314700"/>
            <a:ext cx="320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3.0h</a:t>
            </a:r>
            <a:endParaRPr lang="en-US" sz="680" dirty="0"/>
          </a:p>
        </p:txBody>
      </p:sp>
      <p:sp>
        <p:nvSpPr>
          <p:cNvPr id="177" name="Text 174"/>
          <p:cNvSpPr txBox="1"/>
          <p:nvPr/>
        </p:nvSpPr>
        <p:spPr>
          <a:xfrm>
            <a:off x="11224260" y="3314700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$126</a:t>
            </a:r>
            <a:endParaRPr lang="en-US" sz="680" dirty="0"/>
          </a:p>
        </p:txBody>
      </p:sp>
      <p:sp>
        <p:nvSpPr>
          <p:cNvPr id="178" name="Text 175"/>
          <p:cNvSpPr txBox="1"/>
          <p:nvPr/>
        </p:nvSpPr>
        <p:spPr>
          <a:xfrm>
            <a:off x="8965692" y="3465576"/>
            <a:ext cx="1005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Liquor Barons</a:t>
            </a:r>
            <a:endParaRPr lang="en-US" sz="680" dirty="0"/>
          </a:p>
        </p:txBody>
      </p:sp>
      <p:sp>
        <p:nvSpPr>
          <p:cNvPr id="179" name="Text 176"/>
          <p:cNvSpPr txBox="1"/>
          <p:nvPr/>
        </p:nvSpPr>
        <p:spPr>
          <a:xfrm>
            <a:off x="9944100" y="3465576"/>
            <a:ext cx="4114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2.5h</a:t>
            </a:r>
            <a:endParaRPr lang="en-US" sz="680" dirty="0"/>
          </a:p>
        </p:txBody>
      </p:sp>
      <p:sp>
        <p:nvSpPr>
          <p:cNvPr id="180" name="Text 177"/>
          <p:cNvSpPr txBox="1"/>
          <p:nvPr/>
        </p:nvSpPr>
        <p:spPr>
          <a:xfrm>
            <a:off x="10401300" y="3465576"/>
            <a:ext cx="5029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2.5h</a:t>
            </a:r>
            <a:endParaRPr lang="en-US" sz="680" dirty="0"/>
          </a:p>
        </p:txBody>
      </p:sp>
      <p:sp>
        <p:nvSpPr>
          <p:cNvPr id="181" name="Text 178"/>
          <p:cNvSpPr txBox="1"/>
          <p:nvPr/>
        </p:nvSpPr>
        <p:spPr>
          <a:xfrm>
            <a:off x="10904220" y="3465576"/>
            <a:ext cx="320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82" name="Text 179"/>
          <p:cNvSpPr txBox="1"/>
          <p:nvPr/>
        </p:nvSpPr>
        <p:spPr>
          <a:xfrm>
            <a:off x="11224260" y="3465576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$105</a:t>
            </a:r>
            <a:endParaRPr lang="en-US" sz="680" dirty="0"/>
          </a:p>
        </p:txBody>
      </p:sp>
      <p:sp>
        <p:nvSpPr>
          <p:cNvPr id="183" name="Shape 180"/>
          <p:cNvSpPr/>
          <p:nvPr/>
        </p:nvSpPr>
        <p:spPr>
          <a:xfrm>
            <a:off x="8892540" y="3616452"/>
            <a:ext cx="2793492" cy="150876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184" name="Text 181"/>
          <p:cNvSpPr txBox="1"/>
          <p:nvPr/>
        </p:nvSpPr>
        <p:spPr>
          <a:xfrm>
            <a:off x="8965692" y="3616452"/>
            <a:ext cx="1005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BRG</a:t>
            </a:r>
            <a:endParaRPr lang="en-US" sz="680" dirty="0"/>
          </a:p>
        </p:txBody>
      </p:sp>
      <p:sp>
        <p:nvSpPr>
          <p:cNvPr id="185" name="Text 182"/>
          <p:cNvSpPr txBox="1"/>
          <p:nvPr/>
        </p:nvSpPr>
        <p:spPr>
          <a:xfrm>
            <a:off x="9944100" y="3616452"/>
            <a:ext cx="4114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2.1h</a:t>
            </a:r>
            <a:endParaRPr lang="en-US" sz="680" dirty="0"/>
          </a:p>
        </p:txBody>
      </p:sp>
      <p:sp>
        <p:nvSpPr>
          <p:cNvPr id="186" name="Text 183"/>
          <p:cNvSpPr txBox="1"/>
          <p:nvPr/>
        </p:nvSpPr>
        <p:spPr>
          <a:xfrm>
            <a:off x="10401300" y="3616452"/>
            <a:ext cx="5029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87" name="Text 184"/>
          <p:cNvSpPr txBox="1"/>
          <p:nvPr/>
        </p:nvSpPr>
        <p:spPr>
          <a:xfrm>
            <a:off x="10904220" y="3616452"/>
            <a:ext cx="320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2.1h</a:t>
            </a:r>
            <a:endParaRPr lang="en-US" sz="680" dirty="0"/>
          </a:p>
        </p:txBody>
      </p:sp>
      <p:sp>
        <p:nvSpPr>
          <p:cNvPr id="188" name="Text 185"/>
          <p:cNvSpPr txBox="1"/>
          <p:nvPr/>
        </p:nvSpPr>
        <p:spPr>
          <a:xfrm>
            <a:off x="11224260" y="3616452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$87</a:t>
            </a:r>
            <a:endParaRPr lang="en-US" sz="680" dirty="0"/>
          </a:p>
        </p:txBody>
      </p:sp>
      <p:sp>
        <p:nvSpPr>
          <p:cNvPr id="189" name="Text 186"/>
          <p:cNvSpPr txBox="1"/>
          <p:nvPr/>
        </p:nvSpPr>
        <p:spPr>
          <a:xfrm>
            <a:off x="8965692" y="3767328"/>
            <a:ext cx="1005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Perks Hospitality</a:t>
            </a:r>
            <a:endParaRPr lang="en-US" sz="680" dirty="0"/>
          </a:p>
        </p:txBody>
      </p:sp>
      <p:sp>
        <p:nvSpPr>
          <p:cNvPr id="190" name="Text 187"/>
          <p:cNvSpPr txBox="1"/>
          <p:nvPr/>
        </p:nvSpPr>
        <p:spPr>
          <a:xfrm>
            <a:off x="9944100" y="3767328"/>
            <a:ext cx="4114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2.0h</a:t>
            </a:r>
            <a:endParaRPr lang="en-US" sz="680" dirty="0"/>
          </a:p>
        </p:txBody>
      </p:sp>
      <p:sp>
        <p:nvSpPr>
          <p:cNvPr id="191" name="Text 188"/>
          <p:cNvSpPr txBox="1"/>
          <p:nvPr/>
        </p:nvSpPr>
        <p:spPr>
          <a:xfrm>
            <a:off x="10401300" y="3767328"/>
            <a:ext cx="5029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1.0h</a:t>
            </a:r>
            <a:endParaRPr lang="en-US" sz="680" dirty="0"/>
          </a:p>
        </p:txBody>
      </p:sp>
      <p:sp>
        <p:nvSpPr>
          <p:cNvPr id="192" name="Text 189"/>
          <p:cNvSpPr txBox="1"/>
          <p:nvPr/>
        </p:nvSpPr>
        <p:spPr>
          <a:xfrm>
            <a:off x="10904220" y="3767328"/>
            <a:ext cx="320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1.0h</a:t>
            </a:r>
            <a:endParaRPr lang="en-US" sz="680" dirty="0"/>
          </a:p>
        </p:txBody>
      </p:sp>
      <p:sp>
        <p:nvSpPr>
          <p:cNvPr id="193" name="Text 190"/>
          <p:cNvSpPr txBox="1"/>
          <p:nvPr/>
        </p:nvSpPr>
        <p:spPr>
          <a:xfrm>
            <a:off x="11224260" y="3767328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$84</a:t>
            </a:r>
            <a:endParaRPr lang="en-US" sz="680" dirty="0"/>
          </a:p>
        </p:txBody>
      </p:sp>
      <p:sp>
        <p:nvSpPr>
          <p:cNvPr id="194" name="Shape 191"/>
          <p:cNvSpPr/>
          <p:nvPr/>
        </p:nvSpPr>
        <p:spPr>
          <a:xfrm>
            <a:off x="5715000" y="4727448"/>
            <a:ext cx="6062472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95" name="Text 192"/>
          <p:cNvSpPr txBox="1"/>
          <p:nvPr/>
        </p:nvSpPr>
        <p:spPr>
          <a:xfrm>
            <a:off x="5916168" y="4837176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SUMMARY</a:t>
            </a:r>
            <a:endParaRPr lang="en-US" sz="1200" dirty="0"/>
          </a:p>
        </p:txBody>
      </p:sp>
      <p:sp>
        <p:nvSpPr>
          <p:cNvPr id="196" name="Text 193"/>
          <p:cNvSpPr txBox="1"/>
          <p:nvPr/>
        </p:nvSpPr>
        <p:spPr>
          <a:xfrm>
            <a:off x="5916168" y="5148072"/>
            <a:ext cx="5650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PS is $268k short on its P&amp;L, but partners paid H&amp;L $1.29M.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 of the shortfall is partner integration and key-account work we don't charge for — the billable, non-chargeable hours.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week only 1.0h is flagged non-chargeable.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 Chargeable went live this week: 7.0 of the 11.5h logged (61%) are still blank, so the hidden work is under-counted.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 renegotiate, each non-chargeable hour needs a reason and an owner: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premium partner (which one) or key account (which one). Then the partner and account tables price themselves.</a:t>
            </a:r>
            <a:endParaRPr lang="en-US" sz="900" dirty="0"/>
          </a:p>
        </p:txBody>
      </p:sp>
      <p:sp>
        <p:nvSpPr>
          <p:cNvPr id="197" name="Shape 194"/>
          <p:cNvSpPr/>
          <p:nvPr/>
        </p:nvSpPr>
        <p:spPr>
          <a:xfrm>
            <a:off x="5925312" y="6510528"/>
            <a:ext cx="5852160" cy="256032"/>
          </a:xfrm>
          <a:prstGeom prst="roundRect">
            <a:avLst>
              <a:gd name="adj" fmla="val 46429"/>
            </a:avLst>
          </a:prstGeom>
          <a:solidFill>
            <a:srgbClr val="12293A"/>
          </a:solidFill>
          <a:ln/>
        </p:spPr>
      </p:sp>
      <p:sp>
        <p:nvSpPr>
          <p:cNvPr id="198" name="Text 195"/>
          <p:cNvSpPr txBox="1"/>
          <p:nvPr/>
        </p:nvSpPr>
        <p:spPr>
          <a:xfrm>
            <a:off x="5925312" y="651052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PS P&amp;L Jan–Sep 2026 (Finance) · Premium Partner Commissions 2026 · HubSpot PS tickets Q4 to 25 Oct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2026-10-25T22:46:14Z</dcterms:created>
  <dcterms:modified xsi:type="dcterms:W3CDTF">2026-10-25T22:46:14Z</dcterms:modified>
</cp:coreProperties>
</file>