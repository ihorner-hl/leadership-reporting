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ustomXml" Target="../customXml/item3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ustomXml" Target="../customXml/item2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customXml" Target="../customXml/item1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ARR</c:v>
                </c:pt>
              </c:strCache>
            </c:strRef>
          </c:tx>
          <c:spPr>
            <a:solidFill>
              <a:srgbClr val="3D8F5F"/>
            </a:solidFill>
          </c:spPr>
          <c:cat>
            <c:strRef>
              <c:f>Sheet1!$A$2:$A$7</c:f>
              <c:strCache>
                <c:ptCount val="6"/>
                <c:pt idx="0">
                  <c:v>Bradford</c:v>
                </c:pt>
                <c:pt idx="1">
                  <c:v>Kent</c:v>
                </c:pt>
                <c:pt idx="2">
                  <c:v>Bjorn</c:v>
                </c:pt>
                <c:pt idx="3">
                  <c:v>Phuong</c:v>
                </c:pt>
                <c:pt idx="4">
                  <c:v>Brett</c:v>
                </c:pt>
                <c:pt idx="5">
                  <c:v>Michael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2128</c:v>
                </c:pt>
                <c:pt idx="1">
                  <c:v>5821</c:v>
                </c:pt>
                <c:pt idx="2">
                  <c:v>8726</c:v>
                </c:pt>
                <c:pt idx="3">
                  <c:v>16550</c:v>
                </c:pt>
                <c:pt idx="4">
                  <c:v>31158</c:v>
                </c:pt>
                <c:pt idx="5">
                  <c:v>53813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Unweighted ARR</c:v>
                </c:pt>
              </c:strCache>
            </c:strRef>
          </c:tx>
          <c:spPr>
            <a:solidFill>
              <a:srgbClr val="2C8394"/>
            </a:solidFill>
          </c:spPr>
          <c:cat>
            <c:strRef>
              <c:f>Sheet1!$A$2:$A$7</c:f>
              <c:strCache>
                <c:ptCount val="6"/>
                <c:pt idx="0">
                  <c:v>Bradford</c:v>
                </c:pt>
                <c:pt idx="1">
                  <c:v>Kent</c:v>
                </c:pt>
                <c:pt idx="2">
                  <c:v>Bjorn</c:v>
                </c:pt>
                <c:pt idx="3">
                  <c:v>Phuong</c:v>
                </c:pt>
                <c:pt idx="4">
                  <c:v>Brett</c:v>
                </c:pt>
                <c:pt idx="5">
                  <c:v>Michael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2364</c:v>
                </c:pt>
                <c:pt idx="1">
                  <c:v>6468</c:v>
                </c:pt>
                <c:pt idx="2">
                  <c:v>9696</c:v>
                </c:pt>
                <c:pt idx="3">
                  <c:v>26976</c:v>
                </c:pt>
                <c:pt idx="4">
                  <c:v>34620</c:v>
                </c:pt>
                <c:pt idx="5">
                  <c:v>94716</c:v>
                </c:pt>
              </c:numCache>
            </c:numRef>
          </c:val>
        </c:ser>
        <c:dLbls>
          <c:numFmt formatCode="&quot;$&quot;#,##0,&quot;k&quot;" sourceLinked="0"/>
          <c:txPr>
            <a:bodyPr/>
            <a:lstStyle/>
            <a:p>
              <a:pPr>
                <a:defRPr sz="7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C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Closed won</c:v>
                </c:pt>
              </c:strCache>
            </c:strRef>
          </c:tx>
          <c:spPr>
            <a:solidFill>
              <a:srgbClr val="2C8394"/>
            </a:solidFill>
          </c:spP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89148</c:v>
                </c:pt>
                <c:pt idx="1">
                  <c:v>53717</c:v>
                </c:pt>
                <c:pt idx="2">
                  <c:v>200064</c:v>
                </c:pt>
                <c:pt idx="3">
                  <c:v>34236</c:v>
                </c:pt>
                <c:pt idx="4">
                  <c:v>39372</c:v>
                </c:pt>
                <c:pt idx="5">
                  <c:v>77748</c:v>
                </c:pt>
                <c:pt idx="6">
                  <c:v>15377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Invoiced (new + expansion)</c:v>
                </c:pt>
              </c:strCache>
            </c:strRef>
          </c:tx>
          <c:spPr>
            <a:solidFill>
              <a:srgbClr val="3D8F5F"/>
            </a:solidFill>
          </c:spP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30732</c:v>
                </c:pt>
                <c:pt idx="1">
                  <c:v>66948</c:v>
                </c:pt>
                <c:pt idx="2">
                  <c:v>44352</c:v>
                </c:pt>
                <c:pt idx="3">
                  <c:v>58572</c:v>
                </c:pt>
                <c:pt idx="4">
                  <c:v>70788</c:v>
                </c:pt>
                <c:pt idx="5">
                  <c:v>45408</c:v>
                </c:pt>
                <c:pt idx="6">
                  <c:v>90012</c:v>
                </c:pt>
              </c:numCache>
            </c:numRef>
          </c:val>
        </c:ser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C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0–7 days</c:v>
                </c:pt>
              </c:strCache>
            </c:strRef>
          </c:tx>
          <c:spPr>
            <a:solidFill>
              <a:srgbClr val="3D8F5F"/>
            </a:solidFill>
          </c:spPr>
          <c:cat>
            <c:strRef>
              <c:f>Sheet1!$A$2:$A$6</c:f>
              <c:strCache>
                <c:ptCount val="5"/>
                <c:pt idx="0">
                  <c:v>07-12</c:v>
                </c:pt>
                <c:pt idx="1">
                  <c:v>07-19</c:v>
                </c:pt>
                <c:pt idx="2">
                  <c:v>07-26</c:v>
                </c:pt>
                <c:pt idx="3">
                  <c:v>08-02</c:v>
                </c:pt>
                <c:pt idx="4">
                  <c:v>08-09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</c:v>
                </c:pt>
                <c:pt idx="1">
                  <c:v>87</c:v>
                </c:pt>
                <c:pt idx="2">
                  <c:v>164</c:v>
                </c:pt>
                <c:pt idx="3">
                  <c:v>166</c:v>
                </c:pt>
                <c:pt idx="4">
                  <c:v>260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8–30 days</c:v>
                </c:pt>
              </c:strCache>
            </c:strRef>
          </c:tx>
          <c:spPr>
            <a:solidFill>
              <a:srgbClr val="5FB2C4"/>
            </a:solidFill>
          </c:spPr>
          <c:cat>
            <c:strRef>
              <c:f>Sheet1!$A$2:$A$6</c:f>
              <c:strCache>
                <c:ptCount val="5"/>
                <c:pt idx="0">
                  <c:v>07-12</c:v>
                </c:pt>
                <c:pt idx="1">
                  <c:v>07-19</c:v>
                </c:pt>
                <c:pt idx="2">
                  <c:v>07-26</c:v>
                </c:pt>
                <c:pt idx="3">
                  <c:v>08-02</c:v>
                </c:pt>
                <c:pt idx="4">
                  <c:v>08-09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280</c:v>
                </c:pt>
                <c:pt idx="1">
                  <c:v>216</c:v>
                </c:pt>
                <c:pt idx="2">
                  <c:v>190</c:v>
                </c:pt>
                <c:pt idx="3">
                  <c:v>220</c:v>
                </c:pt>
                <c:pt idx="4">
                  <c:v>238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31–90 days</c:v>
                </c:pt>
              </c:strCache>
            </c:strRef>
          </c:tx>
          <c:spPr>
            <a:solidFill>
              <a:srgbClr val="C88A2E"/>
            </a:solidFill>
          </c:spPr>
          <c:cat>
            <c:strRef>
              <c:f>Sheet1!$A$2:$A$6</c:f>
              <c:strCache>
                <c:ptCount val="5"/>
                <c:pt idx="0">
                  <c:v>07-12</c:v>
                </c:pt>
                <c:pt idx="1">
                  <c:v>07-19</c:v>
                </c:pt>
                <c:pt idx="2">
                  <c:v>07-26</c:v>
                </c:pt>
                <c:pt idx="3">
                  <c:v>08-02</c:v>
                </c:pt>
                <c:pt idx="4">
                  <c:v>08-09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143</c:v>
                </c:pt>
                <c:pt idx="1">
                  <c:v>191</c:v>
                </c:pt>
                <c:pt idx="2">
                  <c:v>223</c:v>
                </c:pt>
                <c:pt idx="3">
                  <c:v>236</c:v>
                </c:pt>
                <c:pt idx="4">
                  <c:v>88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90+ days</c:v>
                </c:pt>
              </c:strCache>
            </c:strRef>
          </c:tx>
          <c:spPr>
            <a:solidFill>
              <a:srgbClr val="B4552D"/>
            </a:solidFill>
          </c:spPr>
          <c:cat>
            <c:strRef>
              <c:f>Sheet1!$A$2:$A$6</c:f>
              <c:strCache>
                <c:ptCount val="5"/>
                <c:pt idx="0">
                  <c:v>07-12</c:v>
                </c:pt>
                <c:pt idx="1">
                  <c:v>07-19</c:v>
                </c:pt>
                <c:pt idx="2">
                  <c:v>07-26</c:v>
                </c:pt>
                <c:pt idx="3">
                  <c:v>08-02</c:v>
                </c:pt>
                <c:pt idx="4">
                  <c:v>08-09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74</c:v>
                </c:pt>
                <c:pt idx="1">
                  <c:v>74</c:v>
                </c:pt>
                <c:pt idx="2">
                  <c:v>77</c:v>
                </c:pt>
                <c:pt idx="3">
                  <c:v>72</c:v>
                </c:pt>
                <c:pt idx="4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00"/>
                  <a:t>Week ending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C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00"/>
                  <a:t>Open 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651760"/>
            <a:ext cx="6217920" cy="6217920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-1783080"/>
            <a:ext cx="4480560" cy="448056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82296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H&amp;L Weekly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343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CEEF2"/>
                </a:solidFill>
                <a:latin typeface="Poppins"/>
                <a:ea typeface="Poppins"/>
                <a:cs typeface="Poppins"/>
              </a:rPr>
              <a:t>Week commencing 10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800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Generated: 19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26746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2674620" cy="82296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37893" y="1700784"/>
            <a:ext cx="621792" cy="62179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87168"/>
            <a:ext cx="24917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DID WE SELL?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16352"/>
            <a:ext cx="24917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Sales &amp; partner motion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28750" y="3145536"/>
            <a:ext cx="640080" cy="14630"/>
          </a:xfrm>
          <a:prstGeom prst="rect">
            <a:avLst/>
          </a:prstGeom>
          <a:solidFill>
            <a:srgbClr val="E3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32841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Target vs Invoiced — sales team roll-up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840480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New Products — target vs 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206240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H&amp;L Pay — partner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572000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Sales Pipeline — Q3 FY26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5556" y="1371600"/>
            <a:ext cx="26746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05556" y="1371600"/>
            <a:ext cx="2674620" cy="82296"/>
          </a:xfrm>
          <a:prstGeom prst="rect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31970" y="1700784"/>
            <a:ext cx="621792" cy="621792"/>
          </a:xfrm>
          <a:prstGeom prst="ellipse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6996" y="2487168"/>
            <a:ext cx="24917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DID WE DELIVER?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6996" y="2816352"/>
            <a:ext cx="24917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From signed to billed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2826" y="3145536"/>
            <a:ext cx="640080" cy="14630"/>
          </a:xfrm>
          <a:prstGeom prst="rect">
            <a:avLst/>
          </a:prstGeom>
          <a:solidFill>
            <a:srgbClr val="E3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1588" y="332841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Utilisation &amp; Delivery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1588" y="369417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Won vs Invoiced &amp; Retention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1371600"/>
            <a:ext cx="26746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1371600"/>
            <a:ext cx="2674620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6046" y="1700784"/>
            <a:ext cx="621792" cy="621792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2487168"/>
            <a:ext cx="24917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DID WE KEEP THEM?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2816352"/>
            <a:ext cx="24917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Support health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16902" y="3145536"/>
            <a:ext cx="640080" cy="14630"/>
          </a:xfrm>
          <a:prstGeom prst="rect">
            <a:avLst/>
          </a:prstGeom>
          <a:solidFill>
            <a:srgbClr val="E3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32841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Backlog, ageing &amp;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69417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AI Support 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3708" y="1371600"/>
            <a:ext cx="26746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3708" y="1371600"/>
            <a:ext cx="2674620" cy="82296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20122" y="1700784"/>
            <a:ext cx="621792" cy="621792"/>
          </a:xfrm>
          <a:prstGeom prst="ellipse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5148" y="2487168"/>
            <a:ext cx="24917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BUILDING THE FUTURE?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5148" y="2816352"/>
            <a:ext cx="24917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Product, AI &amp; projects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10978" y="3145536"/>
            <a:ext cx="640080" cy="14630"/>
          </a:xfrm>
          <a:prstGeom prst="rect">
            <a:avLst/>
          </a:prstGeom>
          <a:solidFill>
            <a:srgbClr val="E3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9740" y="332841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Q3 Roadmap · GTM Readiness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9740" y="369417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AI Usage — adoption &amp; activity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9740" y="4059936"/>
            <a:ext cx="22174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Projects — portfolio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024128"/>
            <a:ext cx="367284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170432"/>
            <a:ext cx="3270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OVERALL PERFORMANCE &amp; FINANCE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499616"/>
            <a:ext cx="3270504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Team on track to target and why?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hardware 112% and new MRR 87% of required pace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working well?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not?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2336" y="1024128"/>
            <a:ext cx="367284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504" y="1170432"/>
            <a:ext cx="3270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SALES &amp; ACCOUNT MANAGEMENT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1499616"/>
            <a:ext cx="3270504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Team on track to target and why?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$1.03M won awaiting first invoice; net MRR -$22k cumulative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working well?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not?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3191" y="1024128"/>
            <a:ext cx="367284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59" y="1170432"/>
            <a:ext cx="3270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PROFESSIONAL SERVICES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59" y="1499616"/>
            <a:ext cx="3270504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Team on track to target and why?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utilisation 67% vs 80% target (prior week 59%)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working well?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not?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39312"/>
            <a:ext cx="367284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785615"/>
            <a:ext cx="3270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SUPPORT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114800"/>
            <a:ext cx="3270504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Team on track to target and why?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weekly inflow 577 vs resolved 628 — outflow keeping pace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working well?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not?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12336" y="3639312"/>
            <a:ext cx="367284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3504" y="3785615"/>
            <a:ext cx="3270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3504" y="4114800"/>
            <a:ext cx="3270504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Team on track to target and why?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Q3 roadmap: 10 done · 12 on track · 2 at risk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working well?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not?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3191" y="3639312"/>
            <a:ext cx="367284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4359" y="3785615"/>
            <a:ext cx="3270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USAGE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4359" y="4114800"/>
            <a:ext cx="3270504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Team on track to target and why?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draft adoption 6.1% this week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working well?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What's not? </a:t>
            </a: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xx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Commentary is leadership-editable — pre-filled lines are computed from the dashboard; 'xx' needs an owner's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Target vs Invoiced — Sales Team Roll-up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Finance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02521" y="283464"/>
            <a:ext cx="1422806" cy="292608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1  ·  DID WE SELL?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969264"/>
            <a:ext cx="555955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05156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NEW MRR — Q3 · OKR2 $28k · team $30k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2618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$7k</a:t>
            </a:r>
            <a:r>
              <a:rPr sz="10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 of $28k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225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▲ +$833 this wk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700784"/>
            <a:ext cx="4187952" cy="128016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13434" cy="128016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8438" y="1673352"/>
            <a:ext cx="21945" cy="182880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7176" y="1655064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24%</a:t>
            </a:r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· pace 54%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969264"/>
            <a:ext cx="555955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05156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HARDWARE — Q3 · OKR2 $715k · team $761k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12618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$186k</a:t>
            </a:r>
            <a:r>
              <a:rPr sz="10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 of $715k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1225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▲ +$61k this wk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91656" y="1700784"/>
            <a:ext cx="4187952" cy="128016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91656" y="1700784"/>
            <a:ext cx="1092342" cy="128016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35734" y="1673352"/>
            <a:ext cx="21945" cy="182880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1655064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26%</a:t>
            </a:r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· pace 54%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231136"/>
            <a:ext cx="786384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234086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Q3 BY MEMBER</a:t>
            </a:r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  ▮ pace mark = weeks elapsed ÷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261518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NEW MRR ($/qtr)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61518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HARDWARE ($/qtr)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816352"/>
            <a:ext cx="3108960" cy="14630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0" y="2816352"/>
            <a:ext cx="2926080" cy="14630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71215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MEMBER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2871215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TGT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2871215"/>
            <a:ext cx="594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QTD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4408" y="2871215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ATTAIN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287121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Δ WK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287121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TGT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9592" y="287121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QTD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8" y="2871215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ATTAIN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287121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Δ WK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" y="3072384"/>
            <a:ext cx="7571231" cy="14630"/>
          </a:xfrm>
          <a:prstGeom prst="rect">
            <a:avLst/>
          </a:prstGeom>
          <a:solidFill>
            <a:srgbClr val="D5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14553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Bjorn Magabo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31455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$5k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314553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$3k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3214116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64408" y="3214116"/>
            <a:ext cx="434888" cy="10972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9006" y="3191256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32504" y="314553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58%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8" y="31455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1455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$140k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79592" y="31455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$37k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6248" y="3214116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56248" y="3214116"/>
            <a:ext cx="19495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50846" y="3191256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24344" y="314553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0648" y="314553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+$8k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346557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Brett Gorman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1680" y="346557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$5k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06040" y="34655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$2k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64408" y="3534156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64408" y="3534156"/>
            <a:ext cx="284927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59006" y="3511296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32504" y="346557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38%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53128" y="346557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+$465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0" y="346557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$143k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79592" y="346557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$24k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56248" y="3534156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6248" y="3534156"/>
            <a:ext cx="127467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50846" y="3511296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24344" y="3465576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17%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70648" y="346557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+$24k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" y="378561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Bradford Young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11680" y="378561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$5k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06040" y="3785615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$2k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64408" y="3854196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64408" y="3854196"/>
            <a:ext cx="224942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59006" y="383133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32504" y="378561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30%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53128" y="378561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+$368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2080" y="378561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$163k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79592" y="378561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$27k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56248" y="3854196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56248" y="3854196"/>
            <a:ext cx="119969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50846" y="383133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24344" y="378561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16%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70648" y="378561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+$13k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4360" y="410565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Jasmine Hikuroa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11680" y="410565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$6k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06040" y="4105655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$422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64408" y="417423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64408" y="4174235"/>
            <a:ext cx="52486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9006" y="415137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32504" y="410565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7%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53128" y="410565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12080" y="410565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$214k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79592" y="410565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$38k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56248" y="417423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556248" y="4174235"/>
            <a:ext cx="134965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950846" y="415137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24344" y="410565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18%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70648" y="410565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+$2k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94360" y="442569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Phuong Ho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11680" y="442569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$2k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06040" y="4425695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$79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4408" y="449427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4408" y="4494275"/>
            <a:ext cx="29992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59006" y="447141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032504" y="442569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4%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453128" y="442569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12080" y="442569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$55k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879592" y="442569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$6k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556248" y="449427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556248" y="4494275"/>
            <a:ext cx="82478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50846" y="447141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324344" y="442569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11%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70648" y="442569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+$3k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4360" y="474573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Mick Teasdale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11680" y="474573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$3k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06040" y="4745735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64408" y="481431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59006" y="479145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032504" y="474573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0%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53128" y="474573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12080" y="474573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$46k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879592" y="474573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470648" y="474573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4360" y="506577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Unassigned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011680" y="506577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$4k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06040" y="5065775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$40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264408" y="513435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264408" y="5134355"/>
            <a:ext cx="7498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59006" y="511149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032504" y="506577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1%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453128" y="506577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212080" y="506577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$0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879592" y="506577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70648" y="506577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57784" y="5404103"/>
            <a:ext cx="7571231" cy="20116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4360" y="547725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SALES TEAM TOTAL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011680" y="547725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$30k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606040" y="5477255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$7k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264408" y="554583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264408" y="5545835"/>
            <a:ext cx="164957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659006" y="552297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032504" y="547725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22%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453128" y="547725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+$833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12080" y="547725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$761k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879592" y="547725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$186k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556248" y="554583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556248" y="5545835"/>
            <a:ext cx="187452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950846" y="552297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324344" y="547725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470648" y="547725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+$61k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94360" y="579729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Company (OKR2)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011680" y="579729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$28k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606040" y="5797295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$7k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264408" y="586587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264408" y="5865875"/>
            <a:ext cx="179953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659006" y="584301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032504" y="579729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24%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453128" y="579729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+$833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212080" y="579729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$715k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879592" y="579729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$186k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556248" y="5865875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556248" y="5865875"/>
            <a:ext cx="19495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50846" y="5843015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324344" y="5797295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26%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470648" y="5797295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+$61k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57784" y="6126479"/>
            <a:ext cx="7571231" cy="12801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94360" y="6181343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3D5A6C"/>
                </a:solidFill>
                <a:latin typeface="Poppins"/>
                <a:ea typeface="Poppins"/>
                <a:cs typeface="Poppins"/>
              </a:rPr>
              <a:t>H&amp;L Pay — net new MRR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606040" y="6181343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3D5A6C"/>
                </a:solidFill>
                <a:latin typeface="Poppins"/>
                <a:ea typeface="Poppins"/>
                <a:cs typeface="Poppins"/>
              </a:rPr>
              <a:t>$2k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453128" y="6181343"/>
            <a:ext cx="6217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5A6C"/>
                </a:solidFill>
                <a:latin typeface="Poppins"/>
                <a:ea typeface="Poppins"/>
                <a:cs typeface="Poppins"/>
              </a:rPr>
              <a:t>+$235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212080" y="6181343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separate — never inside core MRR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8421624" y="2231136"/>
            <a:ext cx="3346704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604503" y="2340864"/>
            <a:ext cx="29809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SUMMARY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604503" y="263347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MRR is $7k (24%) against a 54% pace mark — $8k behind the run-rate.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This week: +$833 MRR invoiced · +$61k hardware. Bjorn leads at 58%; Mick yet to record.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$4k of the team target is unassigned — source being clarified.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HW covers 4 extract weeks · member HW = commissionable only · attainment = invoiced, never closed-won · bands &lt;50 · 50–100 · ≥100.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057132" y="6638544"/>
            <a:ext cx="2738627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057132" y="6665976"/>
            <a:ext cx="2738627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Finance movement register + sales targets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New Products — Target vs 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Sales &amp; Product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02521" y="283464"/>
            <a:ext cx="1422806" cy="292608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1  ·  DID WE SELL?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969264"/>
            <a:ext cx="555955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05156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NEW-PRODUCT MRR — AUGUST · committed $10k/mo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2618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$62</a:t>
            </a:r>
            <a:r>
              <a:rPr sz="10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 of $10k committed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22529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▲ +1 deals · $0 this wk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700784"/>
            <a:ext cx="4187952" cy="128016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41879" cy="128016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0196" y="1673352"/>
            <a:ext cx="21945" cy="182880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65506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1%</a:t>
            </a:r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· pace 61%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969264"/>
            <a:ext cx="555955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05156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PATH TO DECEMBER · exit $136.8k MRR · 77% AI-built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12618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$62</a:t>
            </a:r>
            <a:r>
              <a:rPr sz="10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 of $137k committed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122529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plan-to-date $10k/mo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91656" y="1700784"/>
            <a:ext cx="4187952" cy="128016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83930" y="1673352"/>
            <a:ext cx="21945" cy="182880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33888" y="1655064"/>
            <a:ext cx="10607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0%</a:t>
            </a:r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· pace 7%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2231136"/>
            <a:ext cx="786384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2340864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BY PRODUCT</a:t>
            </a:r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  ▮ pace mark = day of month · trajectory tick on the December 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26883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268833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MO TGT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26883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QTD MRR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8833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ATTAIN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26883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DEMOS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26883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PILOTS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68833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Δ WK PIPE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268833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DEC TGT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8" y="268833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OPEN PIPE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" y="2907791"/>
            <a:ext cx="7571231" cy="14630"/>
          </a:xfrm>
          <a:prstGeom prst="rect">
            <a:avLst/>
          </a:prstGeom>
          <a:solidFill>
            <a:srgbClr val="D5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0358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QR Ordering (OrderNow)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303580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$8k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5768" y="303580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3104388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79415" y="3081527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97096" y="303580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30358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30358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03580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9672" y="3035808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$83k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6328" y="3035808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 · $0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351129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Data Product BI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03120" y="3511296"/>
            <a:ext cx="566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15768" y="351129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29000" y="351129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starts Oct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35112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351129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3511296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9672" y="3511296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$13k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6328" y="3511296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0 · 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3986783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Sentinel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03120" y="3986783"/>
            <a:ext cx="566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15768" y="3986783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3986783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starts Sep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17720" y="398678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0" y="398678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3986783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9672" y="3986783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$9k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96328" y="3986783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 · $7k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4462271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Roam (MobilePOS)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03120" y="4462271"/>
            <a:ext cx="566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$2k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15768" y="4462271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$62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29000" y="4530851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29000" y="4530851"/>
            <a:ext cx="29992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79415" y="4507991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97096" y="4462271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4%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17720" y="446227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0640" y="446227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0" y="4462271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+1 · $0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19672" y="4462271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$32k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96328" y="4462271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21 · $9k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7784" y="4937759"/>
            <a:ext cx="7571231" cy="20116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5029199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TOTAL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03120" y="5029199"/>
            <a:ext cx="5669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$10k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15768" y="5029199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$62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29000" y="5097779"/>
            <a:ext cx="749808" cy="10972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429000" y="5097779"/>
            <a:ext cx="7498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879415" y="5074919"/>
            <a:ext cx="18288" cy="1554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97096" y="5029199"/>
            <a:ext cx="384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1%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0" y="502919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20640" y="5029199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0" y="5029199"/>
            <a:ext cx="777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+1 · $0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19672" y="5029199"/>
            <a:ext cx="6217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$136.8k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96328" y="5029199"/>
            <a:ext cx="8961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25 · $16k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57784" y="5349239"/>
            <a:ext cx="7571231" cy="12801"/>
          </a:xfrm>
          <a:prstGeom prst="rect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360" y="5404103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3D5A6C"/>
                </a:solidFill>
                <a:latin typeface="Poppins"/>
                <a:ea typeface="Poppins"/>
                <a:cs typeface="Poppins"/>
              </a:rPr>
              <a:t>COMMITTED TRAJECTORY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23160" y="5404103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Aug $10k  →  Sep $30k  →  Oct $60k  →  Nov $97k  →  Dec $137k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421624" y="2231136"/>
            <a:ext cx="3346704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04503" y="2340864"/>
            <a:ext cx="29809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SUMMARY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04503" y="263347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August's recorded MRR is $62 (1%) against a 61% month-pace mark — keyword matching undercounts, so the gap is part real, part tagging.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This week added 1 deal ($0 ARR). Roam (MobilePOS) leads at 4%.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Path to December: $137k/mo still to activate for the $136.8k exit; open pipeline (25 deals ≈ $1k/mo) covers ~1% of that gap if it all closes.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Demos &amp; pilots come from the product-team feed — the CRM carries no demo/pilot signal for these lines. Units and $ are keyword-matched on the opportunity name until product tagging lands.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012680" y="6638544"/>
            <a:ext cx="1783080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012680" y="6665976"/>
            <a:ext cx="1783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Creatio + product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H&amp;L Pay — Our Referrals to ValPay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Sales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02521" y="283464"/>
            <a:ext cx="1422806" cy="292608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1  ·  DID WE SELL?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042415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REFERRALS GIVEN — ALL-TIME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3502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7739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tagged referred deals in the partner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11338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5 this qtr · 10 last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1042415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11556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REFERRED GMV — 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133502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$37M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17739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13 deals won · 2 venues live &amp; 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7024" y="11338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40% of all wins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7" y="1042415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7" y="111556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REFERRED — OPEN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335024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$182M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17739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15 referred deals in negotiation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322576"/>
            <a:ext cx="6903720" cy="23408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395728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THE REFERRAL ENGINE — WHAT HAPPENS TO OUR REFERRALS</a:t>
            </a:r>
          </a:p>
        </p:txBody>
      </p:sp>
      <p:sp>
        <p:nvSpPr>
          <p:cNvPr id="27" name="Pentagon 26"/>
          <p:cNvSpPr/>
          <p:nvPr/>
        </p:nvSpPr>
        <p:spPr>
          <a:xfrm>
            <a:off x="594360" y="2688336"/>
            <a:ext cx="1783080" cy="932688"/>
          </a:xfrm>
          <a:prstGeom prst="homePlate">
            <a:avLst>
              <a:gd name="adj" fmla="val 3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2743200"/>
            <a:ext cx="14356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REFERRED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2889504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3291840"/>
            <a:ext cx="1453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$221M GMV tagged</a:t>
            </a:r>
          </a:p>
        </p:txBody>
      </p:sp>
      <p:sp>
        <p:nvSpPr>
          <p:cNvPr id="31" name="Chevron 30"/>
          <p:cNvSpPr/>
          <p:nvPr/>
        </p:nvSpPr>
        <p:spPr>
          <a:xfrm>
            <a:off x="2258568" y="2688336"/>
            <a:ext cx="1783080" cy="932688"/>
          </a:xfrm>
          <a:prstGeom prst="chevron">
            <a:avLst>
              <a:gd name="adj" fmla="val 30000"/>
            </a:avLst>
          </a:prstGeom>
          <a:solidFill>
            <a:srgbClr val="1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42616" y="274320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OPEN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42616" y="288950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2616" y="329184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$182M in negotiation</a:t>
            </a:r>
          </a:p>
        </p:txBody>
      </p:sp>
      <p:sp>
        <p:nvSpPr>
          <p:cNvPr id="35" name="Chevron 34"/>
          <p:cNvSpPr/>
          <p:nvPr/>
        </p:nvSpPr>
        <p:spPr>
          <a:xfrm>
            <a:off x="3922776" y="2688336"/>
            <a:ext cx="1783080" cy="932688"/>
          </a:xfrm>
          <a:prstGeom prst="chevron">
            <a:avLst>
              <a:gd name="adj" fmla="val 3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6824" y="274320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6824" y="288950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329184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$37M signed</a:t>
            </a:r>
          </a:p>
        </p:txBody>
      </p:sp>
      <p:sp>
        <p:nvSpPr>
          <p:cNvPr id="39" name="Chevron 38"/>
          <p:cNvSpPr/>
          <p:nvPr/>
        </p:nvSpPr>
        <p:spPr>
          <a:xfrm>
            <a:off x="5586984" y="2688336"/>
            <a:ext cx="1783080" cy="932688"/>
          </a:xfrm>
          <a:prstGeom prst="chevron">
            <a:avLst>
              <a:gd name="adj" fmla="val 30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71032" y="2743200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SHARE OF ALL WINS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71032" y="288950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71032" y="3291840"/>
            <a:ext cx="1216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of $91M signed GMV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37033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REFERRAL FLOW — WHEN REFERRALS WERE GIVEN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3712463"/>
            <a:ext cx="314553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3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bars </a:t>
            </a:r>
            <a:r>
              <a:rPr sz="63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given / month</a:t>
            </a:r>
            <a:r>
              <a:rPr sz="63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  line </a:t>
            </a:r>
            <a:r>
              <a:rPr sz="63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cumulative → </a:t>
            </a:r>
            <a:r>
              <a:rPr sz="6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23 YTD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1042987" y="4277801"/>
            <a:ext cx="714375" cy="44528"/>
          </a:xfrm>
          <a:prstGeom prst="line">
            <a:avLst/>
          </a:prstGeom>
          <a:ln w="15875">
            <a:solidFill>
              <a:srgbClr val="B6C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757362" y="4211010"/>
            <a:ext cx="714375" cy="66791"/>
          </a:xfrm>
          <a:prstGeom prst="line">
            <a:avLst/>
          </a:prstGeom>
          <a:ln w="15875">
            <a:solidFill>
              <a:srgbClr val="B6C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471737" y="4144219"/>
            <a:ext cx="714375" cy="66791"/>
          </a:xfrm>
          <a:prstGeom prst="line">
            <a:avLst/>
          </a:prstGeom>
          <a:ln w="15875">
            <a:solidFill>
              <a:srgbClr val="B6C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186112" y="4099692"/>
            <a:ext cx="714375" cy="44527"/>
          </a:xfrm>
          <a:prstGeom prst="line">
            <a:avLst/>
          </a:prstGeom>
          <a:ln w="15875">
            <a:solidFill>
              <a:srgbClr val="B6C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00487" y="3988374"/>
            <a:ext cx="714375" cy="111318"/>
          </a:xfrm>
          <a:prstGeom prst="line">
            <a:avLst/>
          </a:prstGeom>
          <a:ln w="15875">
            <a:solidFill>
              <a:srgbClr val="B6C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614862" y="3943846"/>
            <a:ext cx="714375" cy="44528"/>
          </a:xfrm>
          <a:prstGeom prst="line">
            <a:avLst/>
          </a:prstGeom>
          <a:ln w="15875">
            <a:solidFill>
              <a:srgbClr val="B6C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329237" y="3877056"/>
            <a:ext cx="714375" cy="66790"/>
          </a:xfrm>
          <a:prstGeom prst="line">
            <a:avLst/>
          </a:prstGeom>
          <a:ln w="15875">
            <a:solidFill>
              <a:srgbClr val="B6C6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020127" y="4299469"/>
            <a:ext cx="45720" cy="457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734502" y="4254941"/>
            <a:ext cx="45720" cy="457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448877" y="4188150"/>
            <a:ext cx="45720" cy="457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163252" y="4121359"/>
            <a:ext cx="45720" cy="457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877627" y="4076832"/>
            <a:ext cx="45720" cy="457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92002" y="3965514"/>
            <a:ext cx="45720" cy="457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306377" y="3920986"/>
            <a:ext cx="45720" cy="457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020752" y="3854196"/>
            <a:ext cx="45720" cy="457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8FA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009322" y="3842766"/>
            <a:ext cx="68580" cy="68580"/>
          </a:xfrm>
          <a:prstGeom prst="ellipse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87539" y="4389120"/>
            <a:ext cx="310896" cy="0"/>
          </a:xfrm>
          <a:prstGeom prst="line">
            <a:avLst/>
          </a:prstGeom>
          <a:ln w="9525">
            <a:solidFill>
              <a:srgbClr val="D7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05827" y="4081881"/>
            <a:ext cx="274320" cy="307238"/>
          </a:xfrm>
          <a:prstGeom prst="roundRect">
            <a:avLst>
              <a:gd name="adj" fmla="val 16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667" y="4109313"/>
            <a:ext cx="548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947" y="441655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Jan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8668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84396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15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90123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95851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201578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601914" y="4389120"/>
            <a:ext cx="310896" cy="0"/>
          </a:xfrm>
          <a:prstGeom prst="line">
            <a:avLst/>
          </a:prstGeom>
          <a:ln w="9525">
            <a:solidFill>
              <a:srgbClr val="D7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1620202" y="4184294"/>
            <a:ext cx="274320" cy="204825"/>
          </a:xfrm>
          <a:prstGeom prst="roundRect">
            <a:avLst>
              <a:gd name="adj" fmla="val 16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83042" y="4037990"/>
            <a:ext cx="548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37322" y="441655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Feb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93043" y="4572000"/>
            <a:ext cx="119357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625203" y="4572000"/>
            <a:ext cx="119357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757362" y="4572000"/>
            <a:ext cx="119357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889521" y="4572000"/>
            <a:ext cx="119357" cy="45720"/>
          </a:xfrm>
          <a:prstGeom prst="roundRect">
            <a:avLst>
              <a:gd name="adj" fmla="val 50000"/>
            </a:avLst>
          </a:prstGeom>
          <a:solidFill>
            <a:srgbClr val="53B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316289" y="4389120"/>
            <a:ext cx="310896" cy="0"/>
          </a:xfrm>
          <a:prstGeom prst="line">
            <a:avLst/>
          </a:prstGeom>
          <a:ln w="9525">
            <a:solidFill>
              <a:srgbClr val="D7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2334577" y="4081881"/>
            <a:ext cx="274320" cy="307238"/>
          </a:xfrm>
          <a:prstGeom prst="roundRect">
            <a:avLst>
              <a:gd name="adj" fmla="val 16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97417" y="4109313"/>
            <a:ext cx="548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51697" y="441655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Mar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207418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313146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418873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524601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53B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630328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3030664" y="4389120"/>
            <a:ext cx="310896" cy="0"/>
          </a:xfrm>
          <a:prstGeom prst="line">
            <a:avLst/>
          </a:prstGeom>
          <a:ln w="9525">
            <a:solidFill>
              <a:srgbClr val="D7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3048952" y="4081881"/>
            <a:ext cx="274320" cy="307238"/>
          </a:xfrm>
          <a:prstGeom prst="roundRect">
            <a:avLst>
              <a:gd name="adj" fmla="val 16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11792" y="4109313"/>
            <a:ext cx="548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66072" y="441655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Apr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21793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3027521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133248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3238976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344703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53B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3745039" y="4389120"/>
            <a:ext cx="310896" cy="0"/>
          </a:xfrm>
          <a:prstGeom prst="line">
            <a:avLst/>
          </a:prstGeom>
          <a:ln w="9525">
            <a:solidFill>
              <a:srgbClr val="D7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3763327" y="4184294"/>
            <a:ext cx="274320" cy="204825"/>
          </a:xfrm>
          <a:prstGeom prst="roundRect">
            <a:avLst>
              <a:gd name="adj" fmla="val 16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26167" y="4037990"/>
            <a:ext cx="548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80447" y="441655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May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36168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53B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3724275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3812381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3900487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988593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076699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4459414" y="4389120"/>
            <a:ext cx="310896" cy="0"/>
          </a:xfrm>
          <a:prstGeom prst="line">
            <a:avLst/>
          </a:prstGeom>
          <a:ln w="9525">
            <a:solidFill>
              <a:srgbClr val="D7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4477702" y="3877056"/>
            <a:ext cx="274320" cy="512063"/>
          </a:xfrm>
          <a:prstGeom prst="roundRect">
            <a:avLst>
              <a:gd name="adj" fmla="val 16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40542" y="3904488"/>
            <a:ext cx="548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94822" y="441655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Jun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350543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4456271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4561998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15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4667726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773453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5173789" y="4389120"/>
            <a:ext cx="310896" cy="0"/>
          </a:xfrm>
          <a:prstGeom prst="line">
            <a:avLst/>
          </a:prstGeom>
          <a:ln w="9525">
            <a:solidFill>
              <a:srgbClr val="D7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5192077" y="4184294"/>
            <a:ext cx="274320" cy="204825"/>
          </a:xfrm>
          <a:prstGeom prst="roundRect">
            <a:avLst>
              <a:gd name="adj" fmla="val 16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054917" y="4037990"/>
            <a:ext cx="548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09197" y="441655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Jul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064918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5170646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276373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5382101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5487828" y="4572000"/>
            <a:ext cx="92925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5888164" y="4389120"/>
            <a:ext cx="310896" cy="0"/>
          </a:xfrm>
          <a:prstGeom prst="line">
            <a:avLst/>
          </a:prstGeom>
          <a:ln w="9525">
            <a:solidFill>
              <a:srgbClr val="D7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5906452" y="4081881"/>
            <a:ext cx="274320" cy="307238"/>
          </a:xfrm>
          <a:prstGeom prst="roundRect">
            <a:avLst>
              <a:gd name="adj" fmla="val 16000"/>
            </a:avLst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69292" y="4109313"/>
            <a:ext cx="54864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723572" y="441655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Aug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779293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91C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5867400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5955506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15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6043612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131718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6219825" y="4572000"/>
            <a:ext cx="75304" cy="45720"/>
          </a:xfrm>
          <a:prstGeom prst="roundRect">
            <a:avLst>
              <a:gd name="adj" fmla="val 50000"/>
            </a:avLst>
          </a:prstGeom>
          <a:solidFill>
            <a:srgbClr val="EC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94360" y="4558284"/>
            <a:ext cx="822960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weekly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461504" y="2322576"/>
            <a:ext cx="4306824" cy="23408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44383" y="2395728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WHO IS GIVING THE REFERRALS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44383" y="261518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REFERRER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555480" y="261518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GIVEN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241280" y="261518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835640" y="2615184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GMV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644383" y="2958084"/>
            <a:ext cx="1783080" cy="32004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644383" y="28163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Bjorn Magabo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55480" y="281635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163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835640" y="281635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$53M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644383" y="3232403"/>
            <a:ext cx="1248156" cy="32004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644383" y="309067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Bradford Young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555480" y="309067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241280" y="309067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835640" y="309067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$16M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644383" y="3506723"/>
            <a:ext cx="713232" cy="32004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644383" y="3364991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Brett Gorman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36499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41280" y="336499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835640" y="3364991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$115M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644383" y="3781044"/>
            <a:ext cx="713232" cy="32004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644383" y="3639311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Mick Teasdale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55480" y="363931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241280" y="363931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835640" y="3639311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$5M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644383" y="4055363"/>
            <a:ext cx="534924" cy="32004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644383" y="3913631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Phuong Ho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555480" y="391363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241280" y="391363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35640" y="3913631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$17M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644383" y="4329683"/>
            <a:ext cx="178308" cy="32004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644383" y="4187951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Unattributed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55480" y="418795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418795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835640" y="4187951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$15M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644383" y="4480559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6 deals untagged — referral figures are a floor. Referrer = Account Manager on the deal.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11480" y="4773168"/>
            <a:ext cx="11356848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94360" y="4846320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SUMMARY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94360" y="5084064"/>
            <a:ext cx="1097280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69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Our referrals convert: 29 referred deals have already produced 13 wins worth $37M GMV — 40% of everything H&amp;L Pay has signed — with $182M more in negotiation.</a:t>
            </a:r>
          </a:p>
          <a:p>
            <a:pPr algn="l">
              <a:spcAft>
                <a:spcPts val="500"/>
              </a:spcAft>
            </a:pPr>
            <a:r>
              <a:rPr sz="869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Flow (measured from deal create dates — when the referral was given): 5 (06) → 2 (07) → 3 (08). Bjorn Magabo leads with 10 referrals (6 won). Referring is concentrated in a handful of AMs — widening the referrer base is the lever.</a:t>
            </a:r>
          </a:p>
          <a:p>
            <a:pPr algn="l">
              <a:spcAft>
                <a:spcPts val="500"/>
              </a:spcAft>
            </a:pPr>
            <a:r>
              <a:rPr sz="869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Context: the whole partner pipeline stands at $91M signed of the $625M combined GMV target (15%) with $441M open — the referral engine above is H&amp;L's contribution to it.</a:t>
            </a:r>
          </a:p>
          <a:p>
            <a:pPr algn="l">
              <a:spcAft>
                <a:spcPts val="500"/>
              </a:spcAft>
            </a:pPr>
            <a:r>
              <a:rPr sz="869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19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Basis: ValPay sales HubSpot export (2026-08-16), weekly via the file drop; GMV = estimated annual (AUD); referrer = Account Manager recorded on the deal.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761220" y="6638544"/>
            <a:ext cx="2034540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761220" y="6665976"/>
            <a:ext cx="20345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ValPay sales HubSpot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H&amp;L Pay — Commercial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Sales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02521" y="283464"/>
            <a:ext cx="1422806" cy="292608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1  ·  DID WE SELL?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14400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AUGUST – SEPTEMBER 2026 · LAUNCHES, PREPARATION &amp; LIVE COMMERCIAL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914400"/>
            <a:ext cx="3520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R Retain · G Grow · A Acquire · ◆ launch / decision · bar = prep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1170432"/>
            <a:ext cx="111899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W/C</a:t>
            </a:r>
          </a:p>
          <a:p>
            <a:pPr algn="ctr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10 Aug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1481328"/>
            <a:ext cx="10972" cy="486460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5349" y="1170432"/>
            <a:ext cx="111899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W/C</a:t>
            </a:r>
          </a:p>
          <a:p>
            <a:pPr algn="ctr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17 Aug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5349" y="1481328"/>
            <a:ext cx="10972" cy="486460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4346" y="1170432"/>
            <a:ext cx="111899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W/C</a:t>
            </a:r>
          </a:p>
          <a:p>
            <a:pPr algn="ctr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24 Aug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4346" y="1481328"/>
            <a:ext cx="10972" cy="486460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3343" y="1170432"/>
            <a:ext cx="111899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W/C</a:t>
            </a:r>
          </a:p>
          <a:p>
            <a:pPr algn="ctr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31 Aug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3343" y="1481328"/>
            <a:ext cx="10972" cy="486460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2340" y="1170432"/>
            <a:ext cx="111899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W/C</a:t>
            </a:r>
          </a:p>
          <a:p>
            <a:pPr algn="ctr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7 Sep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2340" y="1481328"/>
            <a:ext cx="10972" cy="486460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1337" y="1170432"/>
            <a:ext cx="111899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W/C</a:t>
            </a:r>
          </a:p>
          <a:p>
            <a:pPr algn="ctr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14 Sep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1337" y="1481328"/>
            <a:ext cx="10972" cy="486460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30334" y="1170432"/>
            <a:ext cx="111899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W/C</a:t>
            </a:r>
          </a:p>
          <a:p>
            <a:pPr algn="ctr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21 Sep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30334" y="1481328"/>
            <a:ext cx="10972" cy="486460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49331" y="1170432"/>
            <a:ext cx="111899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W/C</a:t>
            </a:r>
          </a:p>
          <a:p>
            <a:pPr algn="ctr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28 Sep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49331" y="1481328"/>
            <a:ext cx="10972" cy="4864608"/>
          </a:xfrm>
          <a:prstGeom prst="rect">
            <a:avLst/>
          </a:prstGeom>
          <a:solidFill>
            <a:srgbClr val="E7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71925" y="1481328"/>
            <a:ext cx="1045844" cy="2743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1029" y="1033271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▼ TODAY · 17 AUG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155448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1 · EDM CAMPAIGN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" y="1723644"/>
            <a:ext cx="4480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Owner: Marketing / Luke Plunkett · design: Sophie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19" y="1545336"/>
            <a:ext cx="1664208" cy="201168"/>
          </a:xfrm>
          <a:prstGeom prst="roundRect">
            <a:avLst>
              <a:gd name="adj" fmla="val 11000"/>
            </a:avLst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1561795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IN DESIGN · GREEN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186537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EDM #1 – RBA / Surcharging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52928" y="1901952"/>
            <a:ext cx="1045844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9504" y="1890979"/>
            <a:ext cx="10092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In design with Sophie → finalise</a:t>
            </a:r>
          </a:p>
        </p:txBody>
      </p:sp>
      <p:sp>
        <p:nvSpPr>
          <p:cNvPr id="38" name="Diamond 37"/>
          <p:cNvSpPr/>
          <p:nvPr/>
        </p:nvSpPr>
        <p:spPr>
          <a:xfrm>
            <a:off x="3981069" y="1897380"/>
            <a:ext cx="118872" cy="118872"/>
          </a:xfrm>
          <a:prstGeom prst="diamond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36516" y="186994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LAUNCH · Thu 20 Aug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204825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EDM #2 – H&amp;L Pay + POS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G · 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90922" y="2084832"/>
            <a:ext cx="2164841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7498" y="2073859"/>
            <a:ext cx="212826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Design &amp; build → finalise</a:t>
            </a:r>
          </a:p>
        </p:txBody>
      </p:sp>
      <p:sp>
        <p:nvSpPr>
          <p:cNvPr id="43" name="Diamond 42"/>
          <p:cNvSpPr/>
          <p:nvPr/>
        </p:nvSpPr>
        <p:spPr>
          <a:xfrm>
            <a:off x="7338060" y="2080260"/>
            <a:ext cx="118872" cy="118872"/>
          </a:xfrm>
          <a:prstGeom prst="diamond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3508" y="205282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LAUNCH · Thu 3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" y="223113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EDM #3 – What’s Coming / Pay at Bar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R · G · 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28915" y="2267712"/>
            <a:ext cx="2164841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5492" y="2256739"/>
            <a:ext cx="212826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Design &amp; build → finalise</a:t>
            </a:r>
          </a:p>
        </p:txBody>
      </p:sp>
      <p:sp>
        <p:nvSpPr>
          <p:cNvPr id="48" name="Diamond 47"/>
          <p:cNvSpPr/>
          <p:nvPr/>
        </p:nvSpPr>
        <p:spPr>
          <a:xfrm>
            <a:off x="8457057" y="2263140"/>
            <a:ext cx="118872" cy="118872"/>
          </a:xfrm>
          <a:prstGeom prst="diamond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12505" y="2235708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LAUNCH · Thu 17 Sep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" y="24505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2 · AM WEBINARS / DROP-INS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" y="2619756"/>
            <a:ext cx="4480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Owner: Account Managers · one open session per state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04119" y="2441448"/>
            <a:ext cx="1664208" cy="201168"/>
          </a:xfrm>
          <a:prstGeom prst="roundRect">
            <a:avLst>
              <a:gd name="adj" fmla="val 11000"/>
            </a:avLst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04119" y="2457907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PROPOSED – TO CONFIRM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" y="276148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Content prep &amp; talking points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1925" y="2798064"/>
            <a:ext cx="2164841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8501" y="2787091"/>
            <a:ext cx="212826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Marketing + payments SME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" y="294436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AM briefing &amp; rehearsal</a:t>
            </a:r>
          </a:p>
        </p:txBody>
      </p:sp>
      <p:sp>
        <p:nvSpPr>
          <p:cNvPr id="58" name="Diamond 57"/>
          <p:cNvSpPr/>
          <p:nvPr/>
        </p:nvSpPr>
        <p:spPr>
          <a:xfrm>
            <a:off x="5100066" y="2976372"/>
            <a:ext cx="118872" cy="118872"/>
          </a:xfrm>
          <a:prstGeom prst="diamond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55514" y="294894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Thu 27 Aug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8" y="312724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Customer invitations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90922" y="3163824"/>
            <a:ext cx="4402836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7498" y="3152851"/>
            <a:ext cx="436625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Invite + reminder sequence, staggered by state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" y="33101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Open sessions – 1 per state / AM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R · G</a:t>
            </a:r>
          </a:p>
        </p:txBody>
      </p:sp>
      <p:sp>
        <p:nvSpPr>
          <p:cNvPr id="64" name="Diamond 63"/>
          <p:cNvSpPr/>
          <p:nvPr/>
        </p:nvSpPr>
        <p:spPr>
          <a:xfrm>
            <a:off x="6219063" y="3342132"/>
            <a:ext cx="100584" cy="100584"/>
          </a:xfrm>
          <a:prstGeom prst="diamond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7840980" y="3342132"/>
            <a:ext cx="100584" cy="100584"/>
          </a:xfrm>
          <a:prstGeom prst="diamond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iamond 65"/>
          <p:cNvSpPr/>
          <p:nvPr/>
        </p:nvSpPr>
        <p:spPr>
          <a:xfrm>
            <a:off x="7338060" y="3342132"/>
            <a:ext cx="100584" cy="100584"/>
          </a:xfrm>
          <a:prstGeom prst="diamond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iamond 66"/>
          <p:cNvSpPr/>
          <p:nvPr/>
        </p:nvSpPr>
        <p:spPr>
          <a:xfrm>
            <a:off x="8959977" y="3342132"/>
            <a:ext cx="100584" cy="100584"/>
          </a:xfrm>
          <a:prstGeom prst="diamond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9576054" y="3342132"/>
            <a:ext cx="100584" cy="100584"/>
          </a:xfrm>
          <a:prstGeom prst="diamond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73343" y="3474720"/>
            <a:ext cx="44805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VIC/TAS 1 Sep · NSW/Corp 8 Sep · QLD 10 Sep · WA/NT 16 Sep · SA 23 Sep — book into AM diaries now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" y="360273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Follow-up &amp; pipeline actions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66909" y="3639312"/>
            <a:ext cx="2164842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3486" y="3628339"/>
            <a:ext cx="212826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Convert to payment reviews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" y="3822192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3 · STRATEGIC 1:1 CONSULTING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3991356"/>
            <a:ext cx="4480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Owner: Account Managers + H&amp;L Pay specialist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104119" y="3813048"/>
            <a:ext cx="1664208" cy="201168"/>
          </a:xfrm>
          <a:prstGeom prst="roundRect">
            <a:avLst>
              <a:gd name="adj" fmla="val 11000"/>
            </a:avLst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04119" y="3829507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IN PROGRESS · GREEN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1208" y="413308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Target accounts identified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R · 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71925" y="4169664"/>
            <a:ext cx="2164841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08501" y="4158691"/>
            <a:ext cx="212826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Prioritise base by payment spend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1208" y="431596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Merchant statement → payment review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R · 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90922" y="4352544"/>
            <a:ext cx="3283839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27498" y="4341571"/>
            <a:ext cx="3247263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Statement in · cost analysis vs H&amp;L Pay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1208" y="449884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1:1 consultation · H&amp;L Pay specialist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R · 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09919" y="4535424"/>
            <a:ext cx="3283838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46495" y="4524451"/>
            <a:ext cx="324726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Direct commercial conversations, not just email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1208" y="46817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Switching / retention → follow-up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R · 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28915" y="4718304"/>
            <a:ext cx="4402836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65492" y="4707331"/>
            <a:ext cx="43662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Proposal → sign → onboard ahead of 1 Oct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208" y="490118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4 · STRATEGIC / WHALE ACCOUNTS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1208" y="5070348"/>
            <a:ext cx="44805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Owner: Luke Plunkett + Kane Lu · live opportunities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104119" y="4892040"/>
            <a:ext cx="1664208" cy="201168"/>
          </a:xfrm>
          <a:prstGeom prst="roundRect">
            <a:avLst>
              <a:gd name="adj" fmla="val 11000"/>
            </a:avLst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04119" y="4908499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LIVE · COMMERCIAL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1208" y="521208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HSW · active with Kane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G · 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852928" y="5248656"/>
            <a:ext cx="6640829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89504" y="5237683"/>
            <a:ext cx="6604253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Live discussion → commercial progression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58400" y="5212080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4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NEXT MILESTONE · TBC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1208" y="539496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Morris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G · 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852928" y="5431536"/>
            <a:ext cx="6640829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89504" y="5420563"/>
            <a:ext cx="6604253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Current discussion → next action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58400" y="5394960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4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DECISION / TENDER · TBC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1208" y="55778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me&amp;u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G · 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852928" y="5614416"/>
            <a:ext cx="4402836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889504" y="5603443"/>
            <a:ext cx="436625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Live commercial discussion</a:t>
            </a:r>
          </a:p>
        </p:txBody>
      </p:sp>
      <p:sp>
        <p:nvSpPr>
          <p:cNvPr id="104" name="Diamond 103"/>
          <p:cNvSpPr/>
          <p:nvPr/>
        </p:nvSpPr>
        <p:spPr>
          <a:xfrm>
            <a:off x="7338060" y="5609844"/>
            <a:ext cx="118872" cy="118872"/>
          </a:xfrm>
          <a:prstGeom prst="diamond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93508" y="558241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DECISION POINT · ~3 wks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1208" y="57607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3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AVC</a:t>
            </a:r>
            <a:r>
              <a:rPr sz="66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G · 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52928" y="5797296"/>
            <a:ext cx="6640829" cy="141732"/>
          </a:xfrm>
          <a:prstGeom prst="rect">
            <a:avLst/>
          </a:prstGeom>
          <a:solidFill>
            <a:srgbClr val="C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89504" y="5786323"/>
            <a:ext cx="6604253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Current discussion → next action · DECISION / TENDER · TBC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554212" y="6638544"/>
            <a:ext cx="3241548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54212" y="6665976"/>
            <a:ext cx="324154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H&amp;L Pay marketing plan · temp slide, this week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H&amp;L Pay — One POS. One Payment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Sales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02521" y="283464"/>
            <a:ext cx="1422806" cy="292608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1  ·  DID WE SELL?</a:t>
            </a:r>
          </a:p>
        </p:txBody>
      </p:sp>
      <p:pic>
        <p:nvPicPr>
          <p:cNvPr id="11" name="Picture 10" descr="mkt_s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4937760" cy="330731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11480" y="4434840"/>
            <a:ext cx="49377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52628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COMING SOON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70916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PAY AT 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00176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More ways to pay. More integrated with H&amp;L.</a:t>
            </a:r>
          </a:p>
        </p:txBody>
      </p:sp>
      <p:pic>
        <p:nvPicPr>
          <p:cNvPr id="16" name="Picture 15" descr="mkt_s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005840"/>
            <a:ext cx="746311" cy="39776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0680" y="5029200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EDM #1 – LIVE</a:t>
            </a:r>
          </a:p>
          <a:p>
            <a:pPr algn="l">
              <a:spcAft>
                <a:spcPts val="100"/>
              </a:spcAft>
            </a:pPr>
            <a:r>
              <a:rPr sz="6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RBA / surcharging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005840"/>
            <a:ext cx="46451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115568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ONE PROGRAM · THREE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33502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Activities are tagged, not siloed — most work across more than one objective.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59105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RETAIN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59105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GROW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159105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ACQUIRE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796796"/>
            <a:ext cx="4370832" cy="32918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8288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EDM #1 – RBA / Surcharging</a:t>
            </a:r>
          </a:p>
        </p:txBody>
      </p:sp>
      <p:sp>
        <p:nvSpPr>
          <p:cNvPr id="26" name="Oval 25"/>
          <p:cNvSpPr/>
          <p:nvPr/>
        </p:nvSpPr>
        <p:spPr>
          <a:xfrm>
            <a:off x="9537192" y="1856231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50424" y="1883664"/>
            <a:ext cx="91440" cy="91440"/>
          </a:xfrm>
          <a:prstGeom prst="ellipse">
            <a:avLst/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36224" y="1883664"/>
            <a:ext cx="91440" cy="91440"/>
          </a:xfrm>
          <a:prstGeom prst="ellipse">
            <a:avLst/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1717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EDM #2 – H&amp;L Pay + POS</a:t>
            </a:r>
          </a:p>
        </p:txBody>
      </p:sp>
      <p:sp>
        <p:nvSpPr>
          <p:cNvPr id="30" name="Oval 29"/>
          <p:cNvSpPr/>
          <p:nvPr/>
        </p:nvSpPr>
        <p:spPr>
          <a:xfrm>
            <a:off x="9564624" y="2226564"/>
            <a:ext cx="91440" cy="91440"/>
          </a:xfrm>
          <a:prstGeom prst="ellipse">
            <a:avLst/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1991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08792" y="21991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2482596"/>
            <a:ext cx="4370832" cy="32918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25146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EDM #3 – Product / Pay at Bar</a:t>
            </a:r>
          </a:p>
        </p:txBody>
      </p:sp>
      <p:sp>
        <p:nvSpPr>
          <p:cNvPr id="35" name="Oval 34"/>
          <p:cNvSpPr/>
          <p:nvPr/>
        </p:nvSpPr>
        <p:spPr>
          <a:xfrm>
            <a:off x="9537192" y="25420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22992" y="25420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08792" y="25420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28575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AM Webinars / Drop-in Sessions</a:t>
            </a:r>
          </a:p>
        </p:txBody>
      </p:sp>
      <p:sp>
        <p:nvSpPr>
          <p:cNvPr id="39" name="Oval 38"/>
          <p:cNvSpPr/>
          <p:nvPr/>
        </p:nvSpPr>
        <p:spPr>
          <a:xfrm>
            <a:off x="9537192" y="28849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22992" y="28849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36224" y="2912364"/>
            <a:ext cx="91440" cy="91440"/>
          </a:xfrm>
          <a:prstGeom prst="ellipse">
            <a:avLst/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0" y="3168396"/>
            <a:ext cx="4370832" cy="32918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2004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Strategic 1:1 Consultations</a:t>
            </a:r>
          </a:p>
        </p:txBody>
      </p:sp>
      <p:sp>
        <p:nvSpPr>
          <p:cNvPr id="44" name="Oval 43"/>
          <p:cNvSpPr/>
          <p:nvPr/>
        </p:nvSpPr>
        <p:spPr>
          <a:xfrm>
            <a:off x="9537192" y="32278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22992" y="32278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36224" y="3255264"/>
            <a:ext cx="91440" cy="91440"/>
          </a:xfrm>
          <a:prstGeom prst="ellipse">
            <a:avLst/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354330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Strategic / Whale Accounts</a:t>
            </a:r>
          </a:p>
        </p:txBody>
      </p:sp>
      <p:sp>
        <p:nvSpPr>
          <p:cNvPr id="48" name="Oval 47"/>
          <p:cNvSpPr/>
          <p:nvPr/>
        </p:nvSpPr>
        <p:spPr>
          <a:xfrm>
            <a:off x="9564624" y="3598164"/>
            <a:ext cx="91440" cy="91440"/>
          </a:xfrm>
          <a:prstGeom prst="ellipse">
            <a:avLst/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22992" y="35707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08792" y="3570732"/>
            <a:ext cx="146304" cy="146304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95935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Sequenced across August – September 2026 to land ahead of the proposed 1 October surcharging change.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54864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12648" y="5614416"/>
            <a:ext cx="118872" cy="118872"/>
          </a:xfrm>
          <a:prstGeom prst="ellipse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" y="55595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RETAIN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581558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Educate and protect the base ahead of 1 Oct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603504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EDM #1 &amp; #3 · AM webinars · 1:1 payment reviews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51960" y="54864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53128" y="5614416"/>
            <a:ext cx="118872" cy="1188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54296" y="55595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GROW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53128" y="581558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Move the H&amp;L POS base onto H&amp;L Pay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53128" y="603504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EDM #2 &amp; #3 · webinars · consults · strategic accounts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92440" y="54864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93608" y="5614416"/>
            <a:ext cx="118872" cy="118872"/>
          </a:xfrm>
          <a:prstGeom prst="ellipse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94776" y="55595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ACQUIRE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93608" y="581558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Win new payment customers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93608" y="603504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EDM #2 &amp; #3 · Pay at Bar · strategic / whale accounts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54212" y="6638544"/>
            <a:ext cx="3241548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54212" y="6665976"/>
            <a:ext cx="324154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H&amp;L Pay marketing plan · temp slide, this week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Sales Pipeline — Q3 FY26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Sales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02521" y="283464"/>
            <a:ext cx="1422806" cy="292608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1  ·  DID WE SELL?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969264"/>
            <a:ext cx="27249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106984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Q3 PIPELINE (UNWEIGHTED)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128016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$175k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572768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75 open opps with a Q3 close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969264"/>
            <a:ext cx="27249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06984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Q3 PIPELINE (WEIGHTED)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28016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$118k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1572768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× win probability · point-in-time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969264"/>
            <a:ext cx="27249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06984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CLOSED WON — 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28016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$813k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572768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100 deals · by expected close 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3" y="969264"/>
            <a:ext cx="27249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106984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Q3 WIN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128016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90.1%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1572768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100 won / 11 lost, closed in Q3 · by 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121408"/>
            <a:ext cx="6766560" cy="4041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23113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Q3 PIPELINE ARR BY OWNER — UNWEIGHTED VS WEIGHTED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548640" y="2523744"/>
          <a:ext cx="649224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324344" y="2121408"/>
            <a:ext cx="4443984" cy="4041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3" y="223113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3" y="2560320"/>
            <a:ext cx="4069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Q3-dated pipeline. 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$175k unweighted / $118k weighted sits against a Jul–Sep close date, across 75 deals. Michael holds the most ($95k).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Pipeline hygiene. 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1,678 open deals — $1.73M, 88% of all open value — carry no expected close date, so they cannot be counted toward Q3 or any quarter. A further 58 deals ($70k) are past-dated: still open with a lapsed close date. Dating the pipeline is the unlock for a true Q3 coverage view.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Attribution basis. 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Closed-won is attributed by expected close date — the only usable field: last-modified dates are contaminated by bulk record clean-ups and measure edits, not wins. 159 won deals ($391k) carry a blank close date and belong to no quarter until dated.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67060" y="6638544"/>
            <a:ext cx="1028700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67060" y="6665976"/>
            <a:ext cx="10287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Creatio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Utilisation &amp; Delivery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Professional Services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88551" y="283464"/>
            <a:ext cx="1636776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2  ·  DID WE DELIVER?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060704"/>
            <a:ext cx="367284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1161288"/>
            <a:ext cx="3380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BILLED VS NON-BILLED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1371600"/>
            <a:ext cx="3380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20% / 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828800"/>
            <a:ext cx="33802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billed vs everything else logged · week of 2026-08-09 (Sun-Sat)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2336" y="1060704"/>
            <a:ext cx="367284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8640" y="1161288"/>
            <a:ext cx="3380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TOTAL UTILISATION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1371600"/>
            <a:ext cx="3380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640" y="1828800"/>
            <a:ext cx="33802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all hours vs capacity · 80% 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3191" y="1060704"/>
            <a:ext cx="367284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9495" y="1161288"/>
            <a:ext cx="3380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ACTIVE ROSTER — THIS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9495" y="1371600"/>
            <a:ext cx="33802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7 of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9495" y="1828800"/>
            <a:ext cx="33802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on work orders this week · 38h/week per head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340864"/>
            <a:ext cx="7452360" cy="2852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3774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WHERE THE HOURS GO — AVAILABLE VS UTILISED, MONTHLY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418588"/>
            <a:ext cx="100584" cy="82296"/>
          </a:xfrm>
          <a:prstGeom prst="rect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2976" y="237744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billed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7996" y="2418588"/>
            <a:ext cx="100584" cy="822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46012" y="237744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non-billed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31228" y="2418588"/>
            <a:ext cx="100584" cy="82296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9244" y="237744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unused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2633472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Mar</a:t>
            </a:r>
          </a:p>
          <a:p>
            <a:pPr algn="l"/>
            <a:r>
              <a:rPr sz="6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1,216h avail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45307" y="2633472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Apr</a:t>
            </a:r>
          </a:p>
          <a:p>
            <a:pPr algn="l"/>
            <a:r>
              <a:rPr sz="6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1,520h avail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6096" y="2633472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May</a:t>
            </a:r>
          </a:p>
          <a:p>
            <a:pPr algn="l"/>
            <a:r>
              <a:rPr sz="6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1,216h avail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6884" y="2633472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Jun</a:t>
            </a:r>
          </a:p>
          <a:p>
            <a:pPr algn="l"/>
            <a:r>
              <a:rPr sz="6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1,216h avail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7672" y="2633472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Jul</a:t>
            </a:r>
          </a:p>
          <a:p>
            <a:pPr algn="l"/>
            <a:r>
              <a:rPr sz="6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1,520h avail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8460" y="2633472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Aug*</a:t>
            </a:r>
          </a:p>
          <a:p>
            <a:pPr algn="l"/>
            <a:r>
              <a:rPr sz="6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608h avail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300106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Onboarding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97379" y="2990088"/>
            <a:ext cx="925068" cy="190652"/>
          </a:xfrm>
          <a:prstGeom prst="rect">
            <a:avLst/>
          </a:prstGeom>
          <a:solidFill>
            <a:srgbClr val="82C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74519" y="299557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73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68167" y="2990088"/>
            <a:ext cx="925068" cy="190652"/>
          </a:xfrm>
          <a:prstGeom prst="rect">
            <a:avLst/>
          </a:prstGeom>
          <a:solidFill>
            <a:srgbClr val="5A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45307" y="299557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283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38956" y="2990088"/>
            <a:ext cx="925068" cy="190652"/>
          </a:xfrm>
          <a:prstGeom prst="rect">
            <a:avLst/>
          </a:prstGeom>
          <a:solidFill>
            <a:srgbClr val="44AE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16096" y="299557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9744" y="2990088"/>
            <a:ext cx="925068" cy="190652"/>
          </a:xfrm>
          <a:prstGeom prst="rect">
            <a:avLst/>
          </a:prstGeom>
          <a:solidFill>
            <a:srgbClr val="31A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86884" y="299557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363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80532" y="2990088"/>
            <a:ext cx="925068" cy="190652"/>
          </a:xfrm>
          <a:prstGeom prst="rect">
            <a:avLst/>
          </a:prstGeom>
          <a:solidFill>
            <a:srgbClr val="6DC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57672" y="299557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258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51320" y="2990088"/>
            <a:ext cx="925068" cy="190652"/>
          </a:xfrm>
          <a:prstGeom prst="rect">
            <a:avLst/>
          </a:prstGeom>
          <a:solidFill>
            <a:srgbClr val="63B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8460" y="299557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" y="3213658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Other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97379" y="3202686"/>
            <a:ext cx="925068" cy="190652"/>
          </a:xfrm>
          <a:prstGeom prst="rect">
            <a:avLst/>
          </a:prstGeom>
          <a:solidFill>
            <a:srgbClr val="6EC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74519" y="320817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68167" y="3202686"/>
            <a:ext cx="925068" cy="190652"/>
          </a:xfrm>
          <a:prstGeom prst="rect">
            <a:avLst/>
          </a:prstGeom>
          <a:solidFill>
            <a:srgbClr val="AF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45307" y="320817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38956" y="3202686"/>
            <a:ext cx="925068" cy="190652"/>
          </a:xfrm>
          <a:prstGeom prst="rect">
            <a:avLst/>
          </a:prstGeom>
          <a:solidFill>
            <a:srgbClr val="A4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16096" y="320817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9744" y="3202686"/>
            <a:ext cx="925068" cy="190652"/>
          </a:xfrm>
          <a:prstGeom prst="rect">
            <a:avLst/>
          </a:prstGeom>
          <a:solidFill>
            <a:srgbClr val="B9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86884" y="320817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122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80532" y="3202686"/>
            <a:ext cx="925068" cy="190652"/>
          </a:xfrm>
          <a:prstGeom prst="rect">
            <a:avLst/>
          </a:prstGeom>
          <a:solidFill>
            <a:srgbClr val="8EC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57672" y="320817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199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1320" y="3202686"/>
            <a:ext cx="925068" cy="190652"/>
          </a:xfrm>
          <a:prstGeom prst="rect">
            <a:avLst/>
          </a:prstGeom>
          <a:solidFill>
            <a:srgbClr val="AE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28460" y="320817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59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" y="3426256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Tech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97379" y="3415284"/>
            <a:ext cx="925068" cy="190652"/>
          </a:xfrm>
          <a:prstGeom prst="rect">
            <a:avLst/>
          </a:prstGeom>
          <a:solidFill>
            <a:srgbClr val="9D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74519" y="342077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57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68167" y="3415284"/>
            <a:ext cx="925068" cy="190652"/>
          </a:xfrm>
          <a:prstGeom prst="rect">
            <a:avLst/>
          </a:prstGeom>
          <a:solidFill>
            <a:srgbClr val="ADD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45307" y="342077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38956" y="3415284"/>
            <a:ext cx="925068" cy="190652"/>
          </a:xfrm>
          <a:prstGeom prst="rect">
            <a:avLst/>
          </a:prstGeom>
          <a:solidFill>
            <a:srgbClr val="B5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16096" y="342077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90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09744" y="3415284"/>
            <a:ext cx="925068" cy="190652"/>
          </a:xfrm>
          <a:prstGeom prst="rect">
            <a:avLst/>
          </a:prstGeom>
          <a:solidFill>
            <a:srgbClr val="9F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86884" y="342077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168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80532" y="3415284"/>
            <a:ext cx="925068" cy="190652"/>
          </a:xfrm>
          <a:prstGeom prst="rect">
            <a:avLst/>
          </a:prstGeom>
          <a:solidFill>
            <a:srgbClr val="94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57672" y="342077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188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51320" y="3415284"/>
            <a:ext cx="925068" cy="190652"/>
          </a:xfrm>
          <a:prstGeom prst="rect">
            <a:avLst/>
          </a:prstGeom>
          <a:solidFill>
            <a:srgbClr val="A3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28460" y="342077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68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6072" y="363885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Travel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97379" y="3627882"/>
            <a:ext cx="925068" cy="190652"/>
          </a:xfrm>
          <a:prstGeom prst="rect">
            <a:avLst/>
          </a:prstGeom>
          <a:solidFill>
            <a:srgbClr val="AAD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74519" y="3633368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68167" y="3627882"/>
            <a:ext cx="925068" cy="190652"/>
          </a:xfrm>
          <a:prstGeom prst="rect">
            <a:avLst/>
          </a:prstGeom>
          <a:solidFill>
            <a:srgbClr val="98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45307" y="3633368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177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38956" y="3627882"/>
            <a:ext cx="925068" cy="190652"/>
          </a:xfrm>
          <a:prstGeom prst="rect">
            <a:avLst/>
          </a:prstGeom>
          <a:solidFill>
            <a:srgbClr val="A4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16096" y="3633368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111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09744" y="3627882"/>
            <a:ext cx="925068" cy="190652"/>
          </a:xfrm>
          <a:prstGeom prst="rect">
            <a:avLst/>
          </a:prstGeom>
          <a:solidFill>
            <a:srgbClr val="BBE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86884" y="3633368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119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80532" y="3627882"/>
            <a:ext cx="925068" cy="190652"/>
          </a:xfrm>
          <a:prstGeom prst="rect">
            <a:avLst/>
          </a:prstGeom>
          <a:solidFill>
            <a:srgbClr val="B8E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57672" y="3633368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124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751320" y="3627882"/>
            <a:ext cx="925068" cy="190652"/>
          </a:xfrm>
          <a:prstGeom prst="rect">
            <a:avLst/>
          </a:prstGeom>
          <a:solidFill>
            <a:srgbClr val="B5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28460" y="3633368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54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6072" y="3851452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Warranty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97379" y="3840480"/>
            <a:ext cx="925068" cy="190652"/>
          </a:xfrm>
          <a:prstGeom prst="rect">
            <a:avLst/>
          </a:prstGeom>
          <a:solidFill>
            <a:srgbClr val="E8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74519" y="3845966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68167" y="3840480"/>
            <a:ext cx="925068" cy="190652"/>
          </a:xfrm>
          <a:prstGeom prst="rect">
            <a:avLst/>
          </a:prstGeom>
          <a:solidFill>
            <a:srgbClr val="C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45307" y="3845966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88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38956" y="3840480"/>
            <a:ext cx="925068" cy="190652"/>
          </a:xfrm>
          <a:prstGeom prst="rect">
            <a:avLst/>
          </a:prstGeom>
          <a:solidFill>
            <a:srgbClr val="D8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816096" y="3845966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809744" y="3840480"/>
            <a:ext cx="925068" cy="190652"/>
          </a:xfrm>
          <a:prstGeom prst="rect">
            <a:avLst/>
          </a:prstGeom>
          <a:solidFill>
            <a:srgbClr val="E6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86884" y="3845966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80532" y="3840480"/>
            <a:ext cx="925068" cy="190652"/>
          </a:xfrm>
          <a:prstGeom prst="rect">
            <a:avLst/>
          </a:prstGeom>
          <a:solidFill>
            <a:srgbClr val="D4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57672" y="3845966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76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51320" y="3840480"/>
            <a:ext cx="925068" cy="190652"/>
          </a:xfrm>
          <a:prstGeom prst="rect">
            <a:avLst/>
          </a:prstGeom>
          <a:solidFill>
            <a:srgbClr val="C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28460" y="3845966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6072" y="4064050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Integrations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897379" y="4053078"/>
            <a:ext cx="925068" cy="190652"/>
          </a:xfrm>
          <a:prstGeom prst="rect">
            <a:avLst/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874519" y="405856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68167" y="4053078"/>
            <a:ext cx="925068" cy="190652"/>
          </a:xfrm>
          <a:prstGeom prst="rect">
            <a:avLst/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845307" y="405856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38956" y="4053078"/>
            <a:ext cx="925068" cy="190652"/>
          </a:xfrm>
          <a:prstGeom prst="rect">
            <a:avLst/>
          </a:prstGeom>
          <a:solidFill>
            <a:srgbClr val="E8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816096" y="405856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09744" y="4053078"/>
            <a:ext cx="925068" cy="190652"/>
          </a:xfrm>
          <a:prstGeom prst="rect">
            <a:avLst/>
          </a:prstGeom>
          <a:solidFill>
            <a:srgbClr val="D0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86884" y="405856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82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80532" y="4053078"/>
            <a:ext cx="925068" cy="190652"/>
          </a:xfrm>
          <a:prstGeom prst="rect">
            <a:avLst/>
          </a:prstGeom>
          <a:solidFill>
            <a:srgbClr val="D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57672" y="405856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60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751320" y="4053078"/>
            <a:ext cx="925068" cy="190652"/>
          </a:xfrm>
          <a:prstGeom prst="rect">
            <a:avLst/>
          </a:prstGeom>
          <a:solidFill>
            <a:srgbClr val="D7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28460" y="4058564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6072" y="4276648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Training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97379" y="4265676"/>
            <a:ext cx="925068" cy="190652"/>
          </a:xfrm>
          <a:prstGeom prst="rect">
            <a:avLst/>
          </a:prstGeom>
          <a:solidFill>
            <a:srgbClr val="EB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874519" y="427116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868167" y="4265676"/>
            <a:ext cx="925068" cy="190652"/>
          </a:xfrm>
          <a:prstGeom prst="rect">
            <a:avLst/>
          </a:prstGeom>
          <a:solidFill>
            <a:srgbClr val="EF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845307" y="427116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838956" y="4265676"/>
            <a:ext cx="925068" cy="190652"/>
          </a:xfrm>
          <a:prstGeom prst="rect">
            <a:avLst/>
          </a:prstGeom>
          <a:solidFill>
            <a:srgbClr val="FA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816096" y="427116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809744" y="4265676"/>
            <a:ext cx="925068" cy="190652"/>
          </a:xfrm>
          <a:prstGeom prst="rect">
            <a:avLst/>
          </a:prstGeom>
          <a:solidFill>
            <a:srgbClr val="F6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86884" y="427116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780532" y="4265676"/>
            <a:ext cx="925068" cy="190652"/>
          </a:xfrm>
          <a:prstGeom prst="rect">
            <a:avLst/>
          </a:prstGeom>
          <a:solidFill>
            <a:srgbClr val="F6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757672" y="427116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51320" y="4265676"/>
            <a:ext cx="925068" cy="190652"/>
          </a:xfrm>
          <a:prstGeom prst="rect">
            <a:avLst/>
          </a:prstGeom>
          <a:solidFill>
            <a:srgbClr val="F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728460" y="4271162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6072" y="4489246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ValPay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897379" y="4478274"/>
            <a:ext cx="925068" cy="190652"/>
          </a:xfrm>
          <a:prstGeom prst="rect">
            <a:avLst/>
          </a:prstGeom>
          <a:solidFill>
            <a:srgbClr val="F8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874519" y="448376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68167" y="4478274"/>
            <a:ext cx="925068" cy="190652"/>
          </a:xfrm>
          <a:prstGeom prst="rect">
            <a:avLst/>
          </a:prstGeom>
          <a:solidFill>
            <a:srgbClr val="FB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845307" y="448376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838956" y="4478274"/>
            <a:ext cx="925068" cy="190652"/>
          </a:xfrm>
          <a:prstGeom prst="rect">
            <a:avLst/>
          </a:prstGeom>
          <a:solidFill>
            <a:srgbClr val="F0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816096" y="448376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18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09744" y="4478274"/>
            <a:ext cx="925068" cy="190652"/>
          </a:xfrm>
          <a:prstGeom prst="rect">
            <a:avLst/>
          </a:prstGeom>
          <a:solidFill>
            <a:srgbClr val="FA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786884" y="448376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80532" y="4478274"/>
            <a:ext cx="925068" cy="190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57672" y="448376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751320" y="4478274"/>
            <a:ext cx="925068" cy="190652"/>
          </a:xfrm>
          <a:prstGeom prst="rect">
            <a:avLst/>
          </a:prstGeom>
          <a:solidFill>
            <a:srgbClr val="FB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28460" y="4483760"/>
            <a:ext cx="9707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76072" y="4718304"/>
            <a:ext cx="129844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UTILISED VS</a:t>
            </a:r>
          </a:p>
          <a:p>
            <a:pPr algn="l">
              <a:spcAft>
                <a:spcPts val="100"/>
              </a:spcAft>
            </a:pPr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AVAILABLE</a:t>
            </a:r>
          </a:p>
          <a:p>
            <a:pPr algn="l">
              <a:spcAft>
                <a:spcPts val="100"/>
              </a:spcAft>
            </a:pPr>
            <a:r>
              <a:rPr sz="63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% billed / % used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897379" y="4736592"/>
            <a:ext cx="925068" cy="96012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924158" y="4736592"/>
            <a:ext cx="203804" cy="9601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897379" y="4736592"/>
            <a:ext cx="26778" cy="96012"/>
          </a:xfrm>
          <a:prstGeom prst="rect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874519" y="4864607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3%</a:t>
            </a:r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/ </a:t>
            </a:r>
            <a:r>
              <a:rPr sz="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25%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868167" y="4736592"/>
            <a:ext cx="925068" cy="96012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991530" y="4736592"/>
            <a:ext cx="421027" cy="9601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868167" y="4736592"/>
            <a:ext cx="123362" cy="96012"/>
          </a:xfrm>
          <a:prstGeom prst="rect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45307" y="4864607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13%</a:t>
            </a:r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/ </a:t>
            </a: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59%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838956" y="4736592"/>
            <a:ext cx="925068" cy="96012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038728" y="4736592"/>
            <a:ext cx="285584" cy="9601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838956" y="4736592"/>
            <a:ext cx="199772" cy="96012"/>
          </a:xfrm>
          <a:prstGeom prst="rect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816096" y="4864607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22%</a:t>
            </a:r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/ </a:t>
            </a: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52%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809744" y="4736592"/>
            <a:ext cx="925068" cy="96012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169044" y="4736592"/>
            <a:ext cx="338456" cy="9601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809744" y="4736592"/>
            <a:ext cx="359300" cy="96012"/>
          </a:xfrm>
          <a:prstGeom prst="rect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786884" y="4864607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39%</a:t>
            </a:r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/ </a:t>
            </a: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75%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780532" y="4736592"/>
            <a:ext cx="925068" cy="96012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068033" y="4736592"/>
            <a:ext cx="273686" cy="9601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780532" y="4736592"/>
            <a:ext cx="287501" cy="96012"/>
          </a:xfrm>
          <a:prstGeom prst="rect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757672" y="4864607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31%</a:t>
            </a:r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/ </a:t>
            </a: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61%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751320" y="4736592"/>
            <a:ext cx="925068" cy="96012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0152" y="4736592"/>
            <a:ext cx="355116" cy="9601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751320" y="4736592"/>
            <a:ext cx="228832" cy="96012"/>
          </a:xfrm>
          <a:prstGeom prst="rect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728460" y="4864607"/>
            <a:ext cx="97078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25%</a:t>
            </a:r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/ </a:t>
            </a: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63%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010144" y="2340864"/>
            <a:ext cx="3758184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156448" y="2395728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BILLABLE BY MEMBER · WK 2026-08-09 (PRIOR)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156448" y="2615184"/>
            <a:ext cx="352044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Josh C.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48%  (41%)  ·  18.1h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Isayah K.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39%  (29%)  ·  15.0h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Greg S.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33%  (36%)  ·  12.6h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Argenis G.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21%  (44%)  ·  7.8h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Rhys W.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17%  (70%)  ·  6.3h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Isaac M.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0%  (8%)  ·  0.0h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Karim R.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0%  (8%)  ·  0.0h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Rodney N.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0%  (3%)  ·  0.0h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010144" y="3913632"/>
            <a:ext cx="3758184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156448" y="3968496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TICKET AGE BY TYPE — OPEN TASKS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156448" y="4206240"/>
            <a:ext cx="352044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Tech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Avg 58 · Mdn 50 · n=108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Onboarding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Avg 66 · Mdn 64 · n=81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Other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Avg 71 · Mdn 64 · n=76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Warranty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Avg 51 · Mdn 34 · n=50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Integrations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Avg 60 · Mdn 52 · n=26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Training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Avg 77 · Mdn 73 · n=8</a:t>
            </a:r>
          </a:p>
          <a:p>
            <a:pPr algn="l">
              <a:spcAft>
                <a:spcPts val="80"/>
              </a:spcAft>
            </a:pPr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Escalated</a:t>
            </a:r>
            <a:r>
              <a:rPr sz="78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  Avg 22 · Mdn 22 · n=1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11480" y="5321808"/>
            <a:ext cx="11356848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94360" y="5394960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SUMMARY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94360" y="565099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69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Utilisation is 67% total — up from 59% the week prior: 20% billed and 47% non-billed (travel, ValPay credits, non-billable and estimated task effort) against the 80% target. Josh leads with 18.1h billable (48%); no member reaches the 80% line this week.</a:t>
            </a:r>
          </a:p>
          <a:p>
            <a:pPr algn="l">
              <a:spcAft>
                <a:spcPts val="500"/>
              </a:spcAft>
            </a:pPr>
            <a:r>
              <a:rPr sz="869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Open work-order backlog concentrates in Tech (108 open); Training ages oldest at 77 days average. Only logged work orders count as billed — tasks with no work order are estimated at category rates and sit in non-billed; PS time on Support cannot be split out (separate objects, no shared time log).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0767060" y="6638544"/>
            <a:ext cx="1028700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767060" y="6665976"/>
            <a:ext cx="10287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Creatio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Won vs Invoiced &amp;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Sales, Professional Services &amp; Finance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88551" y="283464"/>
            <a:ext cx="1636776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2  ·  DID WE DELIVER?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060704"/>
            <a:ext cx="7498079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17043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CLOSED WON ARR VS INVOICED ARR BY MONTH · 2026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8640" y="1444752"/>
          <a:ext cx="7223760" cy="25420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055863" y="1060704"/>
            <a:ext cx="371246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7" y="1161288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AWAITING GO-LIVE —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7" y="1371600"/>
            <a:ext cx="34198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$1.03M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1609344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463 deals won since Mar · 248 invoiced · 215 outstanding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2066543"/>
            <a:ext cx="371246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7" y="2167127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CHURNED ARR · 2025→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377439"/>
            <a:ext cx="34198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$1.13M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615184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254 logos lost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3" y="3072384"/>
            <a:ext cx="3712463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7" y="3172968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NET MRR MOVEMENT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7" y="3383279"/>
            <a:ext cx="34198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-$22k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3621023"/>
            <a:ext cx="341985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cumulative — the base is shrinking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169663"/>
            <a:ext cx="63093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26110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553712"/>
            <a:ext cx="59436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Install-to-invoice lag runs 60–90 days — wins bill ~a quarter later; March wins still uninvoiced are past normal lag and worth chasing.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Uninvoiced is top-loaded: AVC is 76% of the $1.03M awaiting go-live; the top 3 clients are ~93%.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90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Matching now runs on the customer spine (debtor-ID join, 10,591 venues): 163 deals previously mis-shown as uninvoiced are confirmed billed. What remains is a real go-live queue.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GO-LIVE CONTEXT</a:t>
            </a:r>
          </a:p>
          <a:p>
            <a:pPr algn="l">
              <a:spcAft>
                <a:spcPts val="500"/>
              </a:spcAft>
            </a:pPr>
            <a:r>
              <a:rPr sz="869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◆  </a:t>
            </a:r>
            <a:r>
              <a:rPr sz="869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Oscars Group  —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Signed — ~1.5x rollout timeline expected. Keen to start but held by old provider's contract terms; asking H&amp;L for a discount to bridge.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67144" y="4169663"/>
            <a:ext cx="490118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0024" y="4261104"/>
            <a:ext cx="453542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TOP 10 NOT INVOICED</a:t>
            </a:r>
            <a:r>
              <a:rPr sz="7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   ARR — sums to the awaiting figure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51713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0263" y="451713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4936" y="451713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MRR/mo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3032" y="451713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WON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28248" y="45171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DEALS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1736" y="4736592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736592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AVC · 8 venues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0263" y="473659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$782k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4736592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$65,137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3032" y="4736592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Aug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8248" y="47365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1736" y="4910328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4910328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Oscars Group  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0263" y="491032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$155k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4936" y="4910328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$12,880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3032" y="49103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28248" y="491032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31736" y="5084064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084064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Wayi Restaurant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70263" y="508406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$21k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74936" y="5084064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$1,790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43032" y="508406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28248" y="508406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31736" y="5257800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5257800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Hallmark Hospitali · 2 venues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70263" y="525780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$19k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74936" y="5257800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$1,557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43032" y="525780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Jun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28248" y="525780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31736" y="5431536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5431536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BRG · 3 venues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70263" y="5431536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$10k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74936" y="543153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$831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43032" y="5431536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Aug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28248" y="54315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31736" y="5605272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5605272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TH - Cote Basque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70263" y="560527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$8k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74936" y="5605272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$641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43032" y="5605272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Jun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28248" y="560527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31736" y="5779008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69480" y="5779008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Downs Club Toowoom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70263" y="577900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$5k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74936" y="5779008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$455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43032" y="577900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28248" y="577900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31736" y="5952744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80" y="5952744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Crazy Horse Revue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70263" y="595274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$5k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74936" y="5952744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$437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43032" y="5952744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Apr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28248" y="595274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31736" y="6126480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69480" y="6126480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Citi Group - Harp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70263" y="6126480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$5k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74936" y="6126480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$410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43032" y="6126480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Mar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128248" y="612648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31736" y="6300216"/>
            <a:ext cx="2194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69480" y="6300216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Darwin RSL - Darwi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70263" y="6300216"/>
            <a:ext cx="731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$2k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74936" y="630021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$178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43032" y="6300216"/>
            <a:ext cx="53035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Apr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28248" y="630021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6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Invoiced = new + expansion MRR movements annualised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409176" y="6638544"/>
            <a:ext cx="2386584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409176" y="6665976"/>
            <a:ext cx="23865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Finance Weekly Invoicing &amp; Creatio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Support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45905" y="283464"/>
            <a:ext cx="1779422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3  ·  DID WE KEEP THEM?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060704"/>
            <a:ext cx="2724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11612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OPEN 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137160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586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828800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132 aged 31d+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1060704"/>
            <a:ext cx="2724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1612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UNANSWERED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37160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477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1828800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334 older than 2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1060704"/>
            <a:ext cx="2724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1612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OPEN PAST 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37160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136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828800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de facto resolution overdue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3" y="1060704"/>
            <a:ext cx="2724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7" y="11612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TOTAL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137160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10,515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1828800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1 Feb 26 → 19 Aug 26 · migration records removed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395728"/>
            <a:ext cx="676656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505456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OPEN BACKLOG BY AGE BAND — LAST MONTH (WEEKLY)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548640" y="2798064"/>
          <a:ext cx="64922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324344" y="2395728"/>
            <a:ext cx="4443984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07223" y="250545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3" y="2834640"/>
            <a:ext cx="4069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Ageing, not inflow, is the problem. 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Weekly inflow and resolution roughly balance (415 in / 445 out), yet the 30+ day tail held around 247 across the month.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The live risk is the queue. 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477 open cases have no first response and 136 are already past 30 days — acknowledged, then abandoned.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Clearing it is capacity and triage. 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Capacity at the top of the queue plus disciplined first-response triage — with the AI support agent absorbing volume as adoption lifts.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67060" y="6638544"/>
            <a:ext cx="1028700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67060" y="6665976"/>
            <a:ext cx="10287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Creatio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AI Support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Support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45905" y="283464"/>
            <a:ext cx="1779422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3  ·  DID WE KEEP THEM?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877824"/>
            <a:ext cx="113385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Adoption basis: </a:t>
            </a:r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closed tickets only · Level 1, Level 2, Level 3 or unassigned/no-group · voicemail excluded</a:t>
            </a:r>
            <a:r>
              <a:rPr sz="7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  ·  all-time (2026) headline + this week beside each — all-time = dashboard Year, this week = dashboard Week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097280"/>
            <a:ext cx="2724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119786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APPROVED &amp; 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408176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1865376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18 as-is · 9 edited · 2 this week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4408" y="1097280"/>
            <a:ext cx="2724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119786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NOT 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1408176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570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1865376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cleared or undecided — reject vs auto-clear not separable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7336" y="1097280"/>
            <a:ext cx="2724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19786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DRAFTED (TOTAL)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408176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597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865376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all AI drafts in scope · 33 this week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3" y="1097280"/>
            <a:ext cx="2724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7" y="1197864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CONFIDENCE — RIGHT FIRST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1408176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1865376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18 as-is of 27 approved · 50% this wk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377439"/>
            <a:ext cx="557784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2478023"/>
            <a:ext cx="5285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ADOPTION — APPROVED OF ALL DRAFTS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" y="2688335"/>
            <a:ext cx="52852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4.5%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" y="3145536"/>
            <a:ext cx="52852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27 approved &amp; sent of 597 drafts in scope · this week 6.1% (2/33) · human-approved throughout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17336" y="2377439"/>
            <a:ext cx="557784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478023"/>
            <a:ext cx="52852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OPEN QUEUE — NOT YET DECIDED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688335"/>
            <a:ext cx="52852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203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45536"/>
            <a:ext cx="5285231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in-scope drafts on still-open tickets · context only, outside the closed-ticket adoption measure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3749039"/>
            <a:ext cx="1127455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877055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HOW TO READ ADOPTION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206240"/>
            <a:ext cx="10908792" cy="1609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105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Adoption = approved &amp; sent / all drafts in scope = 27/597 = 4.5%. Every approved reply is human-reviewed — assisted resolution, not autonomous deflection.</a:t>
            </a:r>
          </a:p>
          <a:p>
            <a:pPr algn="l">
              <a:spcAft>
                <a:spcPts val="700"/>
              </a:spcAft>
            </a:pPr>
            <a:r>
              <a:rPr sz="10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105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The other 570 drafts were not sent. We deliberately do NOT split them into 'rejected' vs 'auto-cleared': the CRM export can't tell a genuine agent reject from the old auto-clear workflow Nicolas removed, so counting rejects would overstate them. A true decision rate (approved / approved+rejected) waits on his draft-level tracking.</a:t>
            </a:r>
          </a:p>
          <a:p>
            <a:pPr algn="l">
              <a:spcAft>
                <a:spcPts val="700"/>
              </a:spcAft>
            </a:pPr>
            <a:r>
              <a:rPr sz="10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105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Confidence = quality of what was approved: sent as-is / approved (18/27 = 67%) — the strict first-time-right rate, target 95%. Where drafts fall short it clusters on technical tickets (fixes too complex, missing step-by-step detail) — knowledge-base gaps, not tone.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Adoption = approved &amp; sent / all drafts in scope · confidence = sent as-is / approved · rejects not counted (not separable from auto-clear) · closed tickets only · Level 1, Level 2, Level 3 or unassigned/no-group · voicemail excluded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67060" y="6638544"/>
            <a:ext cx="1028700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67060" y="6665976"/>
            <a:ext cx="10287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Creatio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Q3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Product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31936" y="283464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3D5A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4  ·  BUILDING THE FUTURE?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1005840"/>
            <a:ext cx="146304" cy="146304"/>
          </a:xfrm>
          <a:prstGeom prst="ellipse">
            <a:avLst/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96012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10 Done</a:t>
            </a:r>
          </a:p>
        </p:txBody>
      </p:sp>
      <p:sp>
        <p:nvSpPr>
          <p:cNvPr id="13" name="Oval 12"/>
          <p:cNvSpPr/>
          <p:nvPr/>
        </p:nvSpPr>
        <p:spPr>
          <a:xfrm>
            <a:off x="1568196" y="1005840"/>
            <a:ext cx="146304" cy="146304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7652" y="96012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12 On Track</a:t>
            </a:r>
          </a:p>
        </p:txBody>
      </p:sp>
      <p:sp>
        <p:nvSpPr>
          <p:cNvPr id="15" name="Oval 14"/>
          <p:cNvSpPr/>
          <p:nvPr/>
        </p:nvSpPr>
        <p:spPr>
          <a:xfrm>
            <a:off x="3072384" y="1005840"/>
            <a:ext cx="146304" cy="146304"/>
          </a:xfrm>
          <a:prstGeom prst="ellipse">
            <a:avLst/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96012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 Not Started</a:t>
            </a:r>
          </a:p>
        </p:txBody>
      </p:sp>
      <p:sp>
        <p:nvSpPr>
          <p:cNvPr id="17" name="Oval 16"/>
          <p:cNvSpPr/>
          <p:nvPr/>
        </p:nvSpPr>
        <p:spPr>
          <a:xfrm>
            <a:off x="4750308" y="1005840"/>
            <a:ext cx="146304" cy="146304"/>
          </a:xfrm>
          <a:prstGeom prst="ellipse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96012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 At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9784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· 27 items across 6 sprints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280160"/>
            <a:ext cx="12908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Jul wk1-2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3292" y="1280160"/>
            <a:ext cx="12908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Jul wk3-4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5004" y="1481328"/>
            <a:ext cx="10972" cy="48006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8984" y="1280160"/>
            <a:ext cx="12908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Aug wk1-2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0696" y="1481328"/>
            <a:ext cx="10972" cy="48006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4675" y="1280160"/>
            <a:ext cx="12908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Aug wk3-4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76388" y="1481328"/>
            <a:ext cx="10972" cy="48006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40368" y="1280160"/>
            <a:ext cx="12908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Sep wk1-2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22080" y="1481328"/>
            <a:ext cx="10972" cy="48006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86060" y="1280160"/>
            <a:ext cx="12908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Sep wk3-4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67772" y="1481328"/>
            <a:ext cx="10972" cy="480060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1536192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Metcash Phase 1B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5032" y="1547164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0752" y="1540763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1701325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171229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EonX Order at Bar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85032" y="1723271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16870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188840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WebOrders Reference/BatchID Capture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30724" y="1899378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6444" y="1892977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2053539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2064512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Eonx API Uplift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76416" y="2075484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2136" y="2069083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224061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Onxy Gaming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85032" y="2251591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30752" y="2245190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Hawraa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405752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" y="241672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SCIS Stock Movement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85032" y="2427698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0752" y="2421297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Brad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" y="2592832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EDR Auth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30724" y="2603804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76444" y="2597404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2757965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" y="276893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Accounts Flow Auto Promo File Delivery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30724" y="2779911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6444" y="2773510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" y="294504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Create Stripe Terminal Simulator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30724" y="2956018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76444" y="2949617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3110179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9768" y="3121152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ALH Bug Fixes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85032" y="3132124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30752" y="3125724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8" y="329725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ALH Food Pricing - PLU Visibility Filter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30724" y="3308231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6444" y="3301830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3462392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" y="347336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ALH RMS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76416" y="3484338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22136" y="3477937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Brad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9768" y="3649472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LMG - various enhancemens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22107" y="3660444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67827" y="3654044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Brad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3814605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9768" y="382557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Bug Run 9.3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413492" y="3836551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59212" y="3830150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8" y="400168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OpenTable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85032" y="4012658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30752" y="4006257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Hawraa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4166819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9768" y="4177791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Metcash Scan Work (SM-6423,SM-6478)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67800" y="4188764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13520" y="4182363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Ciaran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9768" y="435389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Unattended Upgrades (released deployment)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85032" y="4364871"/>
            <a:ext cx="3945636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30752" y="4358470"/>
            <a:ext cx="3872484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Dave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4519032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9768" y="453000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H&amp;L Pay - Tyro Parity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30724" y="4540978"/>
            <a:ext cx="6637020" cy="13038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76444" y="4534577"/>
            <a:ext cx="6563868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Valpay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9768" y="4706111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QR Code Ordering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85032" y="4717084"/>
            <a:ext cx="7982712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30752" y="4710683"/>
            <a:ext cx="7909560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Tony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1480" y="4871245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9768" y="488221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Native Apps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685032" y="4893191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30752" y="4886790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Nidhi, Eric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9768" y="505832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Adyen Native SDK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685032" y="5069298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730752" y="5062897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Nidhi, Eric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1480" y="5223459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9768" y="5234431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Tyro Tap to Pay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685032" y="5245404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30752" y="5239003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Nidhi, Eric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9768" y="541053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Floorplan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685032" y="5421511"/>
            <a:ext cx="1254252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730752" y="5415110"/>
            <a:ext cx="1181099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Nidhi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1480" y="5575672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9768" y="558664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The Pass Integration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76416" y="5597618"/>
            <a:ext cx="5291328" cy="13038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22136" y="5591217"/>
            <a:ext cx="5218176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Nidhi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9768" y="5762751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Quick Sale for Events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76416" y="5773724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22136" y="5767323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Eric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1480" y="5927885"/>
            <a:ext cx="11320272" cy="17610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29768" y="5938858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Happy Hour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067800" y="5949831"/>
            <a:ext cx="2599944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13520" y="5943430"/>
            <a:ext cx="2526792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Eric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29768" y="6114965"/>
            <a:ext cx="3108960" cy="1761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Data Product #1 - Margin Capture (Lucas)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685032" y="6125938"/>
            <a:ext cx="7982712" cy="130386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730752" y="6119537"/>
            <a:ext cx="7909560" cy="1486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Ammar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811512" y="6638544"/>
            <a:ext cx="1984248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811512" y="666597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GTM Tracker (product team)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GTM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Product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31936" y="283464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3D5A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4  ·  BUILDING THE FUTURE?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188720"/>
            <a:ext cx="11365992" cy="384048"/>
          </a:xfrm>
          <a:prstGeom prst="roundRect">
            <a:avLst>
              <a:gd name="adj" fmla="val 3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7101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MESSAGING &amp; COLLATERAL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2528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VALUE CASE $ 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1896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PRICING &amp; PACKAGING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CONTRACT &amp; DATA TERMS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632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BILLING &amp; METERING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0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REFERENCE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SALES ENABLED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8736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SUPPORT &amp; REMI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38104" y="1234440"/>
            <a:ext cx="984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AI ACCURACY &amp; FALLBACK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645920"/>
            <a:ext cx="11365992" cy="841248"/>
          </a:xfrm>
          <a:prstGeom prst="rect">
            <a:avLst/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QR Ordering (OrderNow)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85644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5644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Jasmine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5012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5012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64380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4380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Luke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3748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3748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Luke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3116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3116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Janice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2484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2484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21852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1852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61220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1220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00588" y="19202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00588" y="19751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7797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Roam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85644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85644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Bjorn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5012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5012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64380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4380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Luke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03748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03748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Luke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43116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43116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Janice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82484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2484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21852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21852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61220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61220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00588" y="27614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9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00588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N/A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3328416"/>
            <a:ext cx="11365992" cy="841248"/>
          </a:xfrm>
          <a:prstGeom prst="rect">
            <a:avLst/>
          </a:prstGeom>
          <a:solidFill>
            <a:srgbClr val="F7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36210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Sentinel AI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485644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85644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Bradford *1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525012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25012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64380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64380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Luke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03748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03748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Luke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643116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43116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Janice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682484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2484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21852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21852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61220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61220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Matt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800588" y="360273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800588" y="36576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Ammar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1480" y="4297680"/>
            <a:ext cx="6858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4379976"/>
            <a:ext cx="6492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GTM READINESS — AI SUMMARY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" y="4626864"/>
            <a:ext cx="6492240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9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Launch scoreboard —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Roam 78%  ·  QR Ordering (OrderNow) 33%  ·  Sentinel AI 11%  (green = done, amber = half-credit).</a:t>
            </a:r>
          </a:p>
          <a:p>
            <a:pPr algn="l">
              <a:spcAft>
                <a:spcPts val="400"/>
              </a:spcAft>
            </a:pPr>
            <a:r>
              <a:rPr sz="89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•  Red gates —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QR Ordering (OrderNow) is blocked on Messaging &amp; collateral, Sales enabled, Support &amp; Remi; Sentinel AI is blocked on Messaging &amp; collateral, Pricing &amp; packaging, Contract &amp; data terms, Billing &amp; metering, Sales enabled, Support &amp; Remi, AI accuracy &amp; fallback. Nothing else stops a launch.</a:t>
            </a:r>
          </a:p>
          <a:p>
            <a:pPr algn="l">
              <a:spcAft>
                <a:spcPts val="400"/>
              </a:spcAft>
            </a:pPr>
            <a:r>
              <a:rPr sz="89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•  Who owns it — </a:t>
            </a:r>
            <a:r>
              <a:rPr sz="869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24 of 27 dimensions have a named owner on the pill; 1 carry notes. An unowned red is a stalled red.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*1  </a:t>
            </a:r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Sentinel AI · Messaging &amp; collateral: </a:t>
            </a:r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MF to give BY prototype to produce a 1pgr pitch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15783" y="4297680"/>
            <a:ext cx="436168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98664" y="4379976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ROADMAP — AI SUMMARY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98664" y="4626864"/>
            <a:ext cx="4023360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◆  </a:t>
            </a:r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ALH Food Pricing - PLU Visibility Filter (On Track): </a:t>
            </a:r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Requirements gathered - behind schedule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◆  </a:t>
            </a:r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H&amp;L Pay - Tyro Parity (At risk): </a:t>
            </a:r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Tarek interviewing next week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◆  </a:t>
            </a:r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Native Apps (On Track): </a:t>
            </a:r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Release pending</a:t>
            </a:r>
          </a:p>
          <a:p>
            <a:pPr algn="l">
              <a:spcAft>
                <a:spcPts val="400"/>
              </a:spcAft>
            </a:pPr>
            <a:r>
              <a:rPr sz="850" b="1">
                <a:solidFill>
                  <a:srgbClr val="C88A2E"/>
                </a:solidFill>
                <a:latin typeface="Poppins"/>
                <a:ea typeface="Poppins"/>
                <a:cs typeface="Poppins"/>
              </a:rPr>
              <a:t>◆  </a:t>
            </a:r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Mobile POS - Adyen Native SDK (On Track): </a:t>
            </a:r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Release pending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811512" y="6638544"/>
            <a:ext cx="1984248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811512" y="6665976"/>
            <a:ext cx="198424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GTM Tracker (product team)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AI Usage — Adoption &amp;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IT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31936" y="283464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3D5A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4  ·  BUILDING THE FUTURE?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060704"/>
            <a:ext cx="27249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11612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ACTIVE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137160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38 of 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1792224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weekly active · 31 daily · 43 monthly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1060704"/>
            <a:ext cx="27249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161288"/>
            <a:ext cx="2432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LINES OF CODE — LAST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137160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27,679 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1792224"/>
            <a:ext cx="24323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-42% WoW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7336" y="1060704"/>
            <a:ext cx="565099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124712"/>
            <a:ext cx="528523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PLATFORM STICKINESS — SHARE OF MONTHLY USERS ACTIVE 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362456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Claude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0376" y="1385316"/>
            <a:ext cx="3246120" cy="8686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0376" y="1385316"/>
            <a:ext cx="2434590" cy="86868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72216" y="1351483"/>
            <a:ext cx="5669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1559052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Cowork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0376" y="1581912"/>
            <a:ext cx="3246120" cy="8686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0376" y="1581912"/>
            <a:ext cx="1460754" cy="86868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72216" y="1548079"/>
            <a:ext cx="5669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1755648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Claude.ai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0376" y="1778508"/>
            <a:ext cx="3246120" cy="8686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0376" y="1778508"/>
            <a:ext cx="1460754" cy="86868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72216" y="1744675"/>
            <a:ext cx="5669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195224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Agents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0376" y="1975104"/>
            <a:ext cx="3246120" cy="86868"/>
          </a:xfrm>
          <a:prstGeom prst="rect">
            <a:avLst/>
          </a:prstGeom>
          <a:solidFill>
            <a:srgbClr val="DD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0376" y="1975104"/>
            <a:ext cx="421995" cy="86868"/>
          </a:xfrm>
          <a:prstGeom prst="rect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72216" y="1941271"/>
            <a:ext cx="566928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13%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340864"/>
            <a:ext cx="74523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404872"/>
            <a:ext cx="70408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THE CODE PICTURE — WHO, BY MONTH · AND THE WEEKLY RHYTHM BENEATH 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2688336"/>
            <a:ext cx="153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Jun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8080" y="2688336"/>
            <a:ext cx="153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Jul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7320" y="2688336"/>
            <a:ext cx="1539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Aug*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26883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TOTAL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292790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Brad Smith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76272" y="2916936"/>
            <a:ext cx="1484376" cy="159105"/>
          </a:xfrm>
          <a:prstGeom prst="rect">
            <a:avLst/>
          </a:prstGeom>
          <a:solidFill>
            <a:srgbClr val="C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48840" y="2922422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10,351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15512" y="2916936"/>
            <a:ext cx="1484376" cy="159105"/>
          </a:xfrm>
          <a:prstGeom prst="rect">
            <a:avLst/>
          </a:prstGeom>
          <a:solidFill>
            <a:srgbClr val="8BC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88080" y="2922422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39,579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4752" y="2916936"/>
            <a:ext cx="1484376" cy="159105"/>
          </a:xfrm>
          <a:prstGeom prst="rect">
            <a:avLst/>
          </a:prstGeom>
          <a:solidFill>
            <a:srgbClr val="71C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27320" y="2922422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24,077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2926080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74,007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3107131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Hawraa Khalil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76272" y="3096158"/>
            <a:ext cx="1484376" cy="159105"/>
          </a:xfrm>
          <a:prstGeom prst="rect">
            <a:avLst/>
          </a:prstGeom>
          <a:solidFill>
            <a:srgbClr val="82C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48840" y="310164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22,385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15512" y="3096158"/>
            <a:ext cx="1484376" cy="159105"/>
          </a:xfrm>
          <a:prstGeom prst="rect">
            <a:avLst/>
          </a:prstGeom>
          <a:solidFill>
            <a:srgbClr val="ABD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88080" y="310164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28,536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4752" y="3096158"/>
            <a:ext cx="1484376" cy="159105"/>
          </a:xfrm>
          <a:prstGeom prst="rect">
            <a:avLst/>
          </a:prstGeom>
          <a:solidFill>
            <a:srgbClr val="D9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27320" y="310164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6,379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3105302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57,300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3286353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Nicolas Ibrahim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76272" y="3275380"/>
            <a:ext cx="1484376" cy="159105"/>
          </a:xfrm>
          <a:prstGeom prst="rect">
            <a:avLst/>
          </a:prstGeom>
          <a:solidFill>
            <a:srgbClr val="95D1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48840" y="3280867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18,954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15512" y="3275380"/>
            <a:ext cx="1484376" cy="159105"/>
          </a:xfrm>
          <a:prstGeom prst="rect">
            <a:avLst/>
          </a:prstGeom>
          <a:solidFill>
            <a:srgbClr val="D0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88080" y="3280867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15,834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4752" y="3275380"/>
            <a:ext cx="1484376" cy="159105"/>
          </a:xfrm>
          <a:prstGeom prst="rect">
            <a:avLst/>
          </a:prstGeom>
          <a:solidFill>
            <a:srgbClr val="CB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27320" y="3280867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8,705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3284524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43,493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3465576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David Corbett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76272" y="3454603"/>
            <a:ext cx="1484376" cy="159105"/>
          </a:xfrm>
          <a:prstGeom prst="rect">
            <a:avLst/>
          </a:prstGeom>
          <a:solidFill>
            <a:srgbClr val="C4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48840" y="3460089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10,549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15512" y="3454603"/>
            <a:ext cx="1484376" cy="159105"/>
          </a:xfrm>
          <a:prstGeom prst="rect">
            <a:avLst/>
          </a:prstGeom>
          <a:solidFill>
            <a:srgbClr val="AF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88080" y="3460089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27,031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4752" y="3454603"/>
            <a:ext cx="1484376" cy="159105"/>
          </a:xfrm>
          <a:prstGeom prst="rect">
            <a:avLst/>
          </a:prstGeom>
          <a:solidFill>
            <a:srgbClr val="E5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27320" y="3460089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4,335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0" y="3463747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41,915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360" y="364479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Chris Huang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176272" y="3633825"/>
            <a:ext cx="1484376" cy="159105"/>
          </a:xfrm>
          <a:prstGeom prst="rect">
            <a:avLst/>
          </a:prstGeom>
          <a:solidFill>
            <a:srgbClr val="B6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48840" y="3639312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12,955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715512" y="3633825"/>
            <a:ext cx="1484376" cy="159105"/>
          </a:xfrm>
          <a:prstGeom prst="rect">
            <a:avLst/>
          </a:prstGeom>
          <a:solidFill>
            <a:srgbClr val="C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88080" y="3639312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19,535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54752" y="3633825"/>
            <a:ext cx="1484376" cy="159105"/>
          </a:xfrm>
          <a:prstGeom prst="rect">
            <a:avLst/>
          </a:prstGeom>
          <a:solidFill>
            <a:srgbClr val="C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27320" y="3639312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9,364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0" y="3642969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41,854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" y="38240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Aditya Katyayan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76272" y="3813048"/>
            <a:ext cx="1484376" cy="1591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48840" y="381853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715512" y="3813048"/>
            <a:ext cx="1484376" cy="159105"/>
          </a:xfrm>
          <a:prstGeom prst="rect">
            <a:avLst/>
          </a:prstGeom>
          <a:solidFill>
            <a:srgbClr val="9ED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88080" y="381853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32,957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254752" y="3813048"/>
            <a:ext cx="1484376" cy="159105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27320" y="381853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165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6560" y="3822192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33,122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360" y="4003243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Ciaran Dempsey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76272" y="3992270"/>
            <a:ext cx="1484376" cy="159105"/>
          </a:xfrm>
          <a:prstGeom prst="rect">
            <a:avLst/>
          </a:prstGeom>
          <a:solidFill>
            <a:srgbClr val="D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48840" y="3997756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6,280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15512" y="3992270"/>
            <a:ext cx="1484376" cy="159105"/>
          </a:xfrm>
          <a:prstGeom prst="rect">
            <a:avLst/>
          </a:prstGeom>
          <a:solidFill>
            <a:srgbClr val="C7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88080" y="3997756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18,918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54752" y="3992270"/>
            <a:ext cx="1484376" cy="159105"/>
          </a:xfrm>
          <a:prstGeom prst="rect">
            <a:avLst/>
          </a:prstGeom>
          <a:solidFill>
            <a:srgbClr val="D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27320" y="3997756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5,261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66560" y="4001414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30,459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4360" y="4182465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Mohamed Ammar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76272" y="4171492"/>
            <a:ext cx="1484376" cy="159105"/>
          </a:xfrm>
          <a:prstGeom prst="rect">
            <a:avLst/>
          </a:prstGeom>
          <a:solidFill>
            <a:srgbClr val="D7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148840" y="4176979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7,046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715512" y="4171492"/>
            <a:ext cx="1484376" cy="159105"/>
          </a:xfrm>
          <a:prstGeom prst="rect">
            <a:avLst/>
          </a:prstGeom>
          <a:solidFill>
            <a:srgbClr val="EB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88080" y="4176979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6,582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254752" y="4171492"/>
            <a:ext cx="1484376" cy="159105"/>
          </a:xfrm>
          <a:prstGeom prst="rect">
            <a:avLst/>
          </a:prstGeom>
          <a:solidFill>
            <a:srgbClr val="B6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227320" y="4176979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12,350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66560" y="4180636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25,978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360" y="436168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Tony Ghoussein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176272" y="4350715"/>
            <a:ext cx="1484376" cy="159105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148840" y="4356201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885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15512" y="4350715"/>
            <a:ext cx="1484376" cy="159105"/>
          </a:xfrm>
          <a:prstGeom prst="rect">
            <a:avLst/>
          </a:prstGeom>
          <a:solidFill>
            <a:srgbClr val="EC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88080" y="4356201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6,208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254752" y="4350715"/>
            <a:ext cx="1484376" cy="159105"/>
          </a:xfrm>
          <a:prstGeom prst="rect">
            <a:avLst/>
          </a:prstGeom>
          <a:solidFill>
            <a:srgbClr val="E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227320" y="4356201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4,831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66560" y="4359859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11,924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4360" y="454091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Eric Cruz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76272" y="4529937"/>
            <a:ext cx="1484376" cy="159105"/>
          </a:xfrm>
          <a:prstGeom prst="rect">
            <a:avLst/>
          </a:prstGeom>
          <a:solidFill>
            <a:srgbClr val="F5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48840" y="453542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1,666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715512" y="4529937"/>
            <a:ext cx="1484376" cy="159105"/>
          </a:xfrm>
          <a:prstGeom prst="rect">
            <a:avLst/>
          </a:prstGeom>
          <a:solidFill>
            <a:srgbClr val="F6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688080" y="453542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2,970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254752" y="4529937"/>
            <a:ext cx="1484376" cy="159105"/>
          </a:xfrm>
          <a:prstGeom prst="rect">
            <a:avLst/>
          </a:prstGeom>
          <a:solidFill>
            <a:srgbClr val="FB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227320" y="4535424"/>
            <a:ext cx="15392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3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537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66560" y="4539081"/>
            <a:ext cx="9144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8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5,173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4360" y="4727447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ALL DEVELOPERS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148840" y="4727447"/>
            <a:ext cx="153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120,224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688080" y="4727447"/>
            <a:ext cx="153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228,132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27320" y="4727447"/>
            <a:ext cx="1539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113,460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766560" y="4727447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461,816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4360" y="499262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BY WEEK</a:t>
            </a:r>
          </a:p>
          <a:p>
            <a:pPr algn="l">
              <a:spcAft>
                <a:spcPts val="100"/>
              </a:spcAft>
            </a:pPr>
            <a:r>
              <a:rPr sz="62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cell = one week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176272" y="4946903"/>
            <a:ext cx="348234" cy="274320"/>
          </a:xfrm>
          <a:prstGeom prst="rect">
            <a:avLst/>
          </a:prstGeom>
          <a:solidFill>
            <a:srgbClr val="AAD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157984" y="4997195"/>
            <a:ext cx="38938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28k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57984" y="5239512"/>
            <a:ext cx="3893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547366" y="4946903"/>
            <a:ext cx="348234" cy="274320"/>
          </a:xfrm>
          <a:prstGeom prst="rect">
            <a:avLst/>
          </a:prstGeom>
          <a:solidFill>
            <a:srgbClr val="AAD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529078" y="4997195"/>
            <a:ext cx="38938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28k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529078" y="5239512"/>
            <a:ext cx="3893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918460" y="4946903"/>
            <a:ext cx="348234" cy="274320"/>
          </a:xfrm>
          <a:prstGeom prst="rect">
            <a:avLst/>
          </a:prstGeom>
          <a:solidFill>
            <a:srgbClr val="AAD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900172" y="4997195"/>
            <a:ext cx="38938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28k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900172" y="5239512"/>
            <a:ext cx="3893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21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289554" y="4946903"/>
            <a:ext cx="348234" cy="274320"/>
          </a:xfrm>
          <a:prstGeom prst="rect">
            <a:avLst/>
          </a:prstGeom>
          <a:solidFill>
            <a:srgbClr val="82C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271266" y="4997195"/>
            <a:ext cx="38938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41k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71266" y="5239512"/>
            <a:ext cx="3893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28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715512" y="4946903"/>
            <a:ext cx="348234" cy="274320"/>
          </a:xfrm>
          <a:prstGeom prst="rect">
            <a:avLst/>
          </a:prstGeom>
          <a:solidFill>
            <a:srgbClr val="64B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97224" y="4997195"/>
            <a:ext cx="38938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52k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697224" y="5239512"/>
            <a:ext cx="3893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086606" y="4946903"/>
            <a:ext cx="348234" cy="274320"/>
          </a:xfrm>
          <a:prstGeom prst="rect">
            <a:avLst/>
          </a:prstGeom>
          <a:solidFill>
            <a:srgbClr val="64B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068318" y="4997195"/>
            <a:ext cx="38938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52k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068318" y="5239512"/>
            <a:ext cx="3893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457700" y="4946903"/>
            <a:ext cx="348234" cy="274320"/>
          </a:xfrm>
          <a:prstGeom prst="rect">
            <a:avLst/>
          </a:prstGeom>
          <a:solidFill>
            <a:srgbClr val="64B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439412" y="4997195"/>
            <a:ext cx="38938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439412" y="5239512"/>
            <a:ext cx="3893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19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828794" y="4946903"/>
            <a:ext cx="348234" cy="274320"/>
          </a:xfrm>
          <a:prstGeom prst="rect">
            <a:avLst/>
          </a:prstGeom>
          <a:solidFill>
            <a:srgbClr val="6EC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810506" y="4997195"/>
            <a:ext cx="38938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10506" y="5239512"/>
            <a:ext cx="38938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26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254752" y="4946903"/>
            <a:ext cx="719328" cy="274320"/>
          </a:xfrm>
          <a:prstGeom prst="rect">
            <a:avLst/>
          </a:prstGeom>
          <a:solidFill>
            <a:srgbClr val="A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236464" y="4997195"/>
            <a:ext cx="7604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28k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236464" y="5239512"/>
            <a:ext cx="76047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996940" y="4946903"/>
            <a:ext cx="719328" cy="274320"/>
          </a:xfrm>
          <a:prstGeom prst="rect">
            <a:avLst/>
          </a:prstGeom>
          <a:solidFill>
            <a:srgbClr val="15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978652" y="4997195"/>
            <a:ext cx="7604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8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978652" y="5239512"/>
            <a:ext cx="760476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09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010144" y="2340864"/>
            <a:ext cx="3758184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156448" y="2404872"/>
            <a:ext cx="3520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COWORK — SESSIONS PER WEEK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156448" y="26517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~130 </a:t>
            </a:r>
            <a:r>
              <a:rPr sz="150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▬  </a:t>
            </a:r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baseline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156448" y="3218688"/>
            <a:ext cx="3465576" cy="14630"/>
          </a:xfrm>
          <a:prstGeom prst="rect">
            <a:avLst/>
          </a:prstGeom>
          <a:solidFill>
            <a:srgbClr val="E3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156448" y="331012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Matt Freeman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332719" y="33101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~28/wk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156448" y="344728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Dave Corbett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332719" y="344728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~23/wk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156448" y="358444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Bjorn Magabo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19" y="358444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~17/wk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156448" y="372160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Harjeet Sammi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332719" y="372160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~10/wk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156448" y="385876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Bradford Young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332719" y="385876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~8/wk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156448" y="399592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Izaak Horner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332719" y="39959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~8/wk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156448" y="413308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Lee Atkins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332719" y="413308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~6/wk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156448" y="427024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Isayah Kuhlmann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332719" y="427024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~5/wk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156448" y="440740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Tony Ghoussein *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332719" y="440740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~0/wk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156448" y="454456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Eric Cruz *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332719" y="454456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~0/wk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156448" y="468172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Mohamed Ammar *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332719" y="46817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~0/wk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156448" y="4818888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Nicolas Ibrahim *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332719" y="481888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~0/wk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156448" y="4974336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* always reported · weekly = this import − last import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11480" y="5413248"/>
            <a:ext cx="11356848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594360" y="5477256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AI SUMMARY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94360" y="5705856"/>
            <a:ext cx="109728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30" b="1">
                <a:solidFill>
                  <a:srgbClr val="3D8F5F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3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38 of 46 members active weekly (31 daily) — Claude Code stickiest at 75% DAU/MAU, every platform in live use. Code output last week 27,679 lines (-42% WoW); Documents &amp; reports 39% of Cowork output — usage is majority non-engineering.</a:t>
            </a:r>
          </a:p>
          <a:p>
            <a:pPr algn="l">
              <a:spcAft>
                <a:spcPts val="300"/>
              </a:spcAft>
            </a:pPr>
            <a:r>
              <a:rPr sz="830" b="1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•  </a:t>
            </a:r>
            <a:r>
              <a:rPr sz="83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Weeks are derived from the admin's rolling windows (baseline split, then Friday-capture deltas) — estimated weeks labelled, indicators go live as measured weeks land.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9660636" y="6638544"/>
            <a:ext cx="2135124" cy="182880"/>
          </a:xfrm>
          <a:prstGeom prst="roundRect">
            <a:avLst>
              <a:gd name="adj" fmla="val 50000"/>
            </a:avLst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660636" y="6665976"/>
            <a:ext cx="21351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Source: Claude Admin (weekly capture)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55448"/>
            <a:ext cx="74980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2293A"/>
                </a:solidFill>
                <a:latin typeface="Poppins"/>
              </a:rPr>
              <a:t>H&amp;L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18872"/>
            <a:ext cx="8686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Projects — Portfolio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512064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B2C4"/>
                </a:solidFill>
                <a:latin typeface="Poppins"/>
                <a:ea typeface="Poppins"/>
                <a:cs typeface="Poppins"/>
              </a:rPr>
              <a:t>Portfolio · 19 Aug 2026</a:t>
            </a:r>
          </a:p>
        </p:txBody>
      </p:sp>
      <p:sp>
        <p:nvSpPr>
          <p:cNvPr id="7" name="Oval 6"/>
          <p:cNvSpPr/>
          <p:nvPr/>
        </p:nvSpPr>
        <p:spPr>
          <a:xfrm>
            <a:off x="10890504" y="18288"/>
            <a:ext cx="804672" cy="804672"/>
          </a:xfrm>
          <a:prstGeom prst="ellipse">
            <a:avLst/>
          </a:prstGeom>
          <a:solidFill>
            <a:srgbClr val="2C8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8519" y="146304"/>
            <a:ext cx="548640" cy="548640"/>
          </a:xfrm>
          <a:prstGeom prst="ellipse">
            <a:avLst/>
          </a:prstGeom>
          <a:solidFill>
            <a:srgbClr val="5FB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37392" y="265176"/>
            <a:ext cx="310896" cy="310896"/>
          </a:xfrm>
          <a:prstGeom prst="ellipse">
            <a:avLst/>
          </a:prstGeom>
          <a:solidFill>
            <a:srgbClr val="D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31936" y="283464"/>
            <a:ext cx="1993392" cy="292608"/>
          </a:xfrm>
          <a:prstGeom prst="roundRect">
            <a:avLst>
              <a:gd name="adj" fmla="val 50000"/>
            </a:avLst>
          </a:prstGeom>
          <a:solidFill>
            <a:srgbClr val="3D5A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Poppins"/>
              </a:rPr>
              <a:t>4  ·  BUILDING THE FUTURE?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42415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04241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042415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04241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2C8394"/>
                </a:solidFill>
                <a:latin typeface="Poppins"/>
                <a:ea typeface="Poppins"/>
                <a:cs typeface="Poppins"/>
              </a:rPr>
              <a:t>ROADBLOCK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335024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463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HubSpot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1051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Build · go-live 2026-08-31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762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Owner Izaak Horner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153619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600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48132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Data extraction + cleansing review (this week)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481328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SysNet-to-debtor linkage (~80% venue IDs unmatched) drives match quality · Champion engagement — UAT testers and backups not yet confirmed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596896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7249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AI Support Agents — Email + 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072384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3814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Owner Izaak Horner / Nicolas Ibrahim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279806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8620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7432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Voice agent production tests (3 prepared voicemails) — pending Youssef availability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7432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Adoption: SOP agreed but the usage habit is not yet formed — review queue is the bottleneck · L2 adoption low; drafts weak on complex technical tickets until KB enrichment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58768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986783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Leadership Reporting &amp; Hosting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33425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7000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Owner Izaak Horner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059935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1239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ON 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005072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SharePoint interim hosting live by Friday; AWS proposal with leadership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005072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AWS hosting gated on budget approval — pending leadership sign-off · Weekly inputs from CRM, finance, support and product owners need to become routine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2064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248655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293A"/>
                </a:solidFill>
                <a:latin typeface="Poppins"/>
                <a:ea typeface="Poppins"/>
                <a:cs typeface="Poppins"/>
              </a:rPr>
              <a:t>ALH RFP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596127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618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Owner Luke Plunkett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80" y="5321807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538581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ON TRACK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5266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3D505E"/>
                </a:solidFill>
                <a:latin typeface="Poppins"/>
                <a:ea typeface="Poppins"/>
                <a:cs typeface="Poppins"/>
              </a:rPr>
              <a:t>In-person demo 24 Aug; three win themes locked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5266944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B4552D"/>
                </a:solidFill>
                <a:latin typeface="Poppins"/>
                <a:ea typeface="Poppins"/>
                <a:cs typeface="Poppins"/>
              </a:rPr>
              <a:t>Security and compliance criteria need early IT input (Glynn flagged third-party dependencies)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6B4"/>
                </a:solidFill>
                <a:latin typeface="Poppins"/>
                <a:ea typeface="Poppins"/>
                <a:cs typeface="Poppins"/>
              </a:rPr>
              <a:t>Current state = next action from the weekly meeting record · roadblock = flagged risks · Operating Model Update not yet a tracked project — add it to the record to appear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875AE7872FF24186B1288363B788DA" ma:contentTypeVersion="12" ma:contentTypeDescription="Create a new document." ma:contentTypeScope="" ma:versionID="9efd4f5b85be4bc60e968c6511091fc7">
  <xsd:schema xmlns:xsd="http://www.w3.org/2001/XMLSchema" xmlns:xs="http://www.w3.org/2001/XMLSchema" xmlns:p="http://schemas.microsoft.com/office/2006/metadata/properties" xmlns:ns2="7d518537-68e9-492a-a0cd-bd129f7583d7" xmlns:ns3="532671de-86cd-4d92-904d-c308859623a0" targetNamespace="http://schemas.microsoft.com/office/2006/metadata/properties" ma:root="true" ma:fieldsID="ce57cb09182b7947e8dcc9ae7654688a" ns2:_="" ns3:_="">
    <xsd:import namespace="7d518537-68e9-492a-a0cd-bd129f7583d7"/>
    <xsd:import namespace="532671de-86cd-4d92-904d-c308859623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Which_x0020_Hero_x0020_are_x0020_you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518537-68e9-492a-a0cd-bd129f7583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Which_x0020_Hero_x0020_are_x0020_you" ma:index="16" nillable="true" ma:displayName="Which Hero are you" ma:format="Dropdown" ma:internalName="Which_x0020_Hero_x0020_are_x0020_you">
      <xsd:simpleType>
        <xsd:restriction base="dms:Choice">
          <xsd:enumeration value="The Guardian"/>
          <xsd:enumeration value="The Builder"/>
          <xsd:enumeration value="The Pioneer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acf9d9-638c-4920-9669-b0bf029ffb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2671de-86cd-4d92-904d-c308859623a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5f78d102-0d39-40f5-93f0-99237b034534}" ma:internalName="TaxCatchAll" ma:showField="CatchAllData" ma:web="532671de-86cd-4d92-904d-c308859623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518537-68e9-492a-a0cd-bd129f7583d7">
      <Terms xmlns="http://schemas.microsoft.com/office/infopath/2007/PartnerControls"/>
    </lcf76f155ced4ddcb4097134ff3c332f>
    <TaxCatchAll xmlns="532671de-86cd-4d92-904d-c308859623a0" xsi:nil="true"/>
    <Which_x0020_Hero_x0020_are_x0020_you xmlns="7d518537-68e9-492a-a0cd-bd129f7583d7" xsi:nil="true"/>
  </documentManagement>
</p:properties>
</file>

<file path=customXml/itemProps1.xml><?xml version="1.0" encoding="utf-8"?>
<ds:datastoreItem xmlns:ds="http://schemas.openxmlformats.org/officeDocument/2006/customXml" ds:itemID="{ABB4575C-1032-498C-8503-BF977460A31B}"/>
</file>

<file path=customXml/itemProps2.xml><?xml version="1.0" encoding="utf-8"?>
<ds:datastoreItem xmlns:ds="http://schemas.openxmlformats.org/officeDocument/2006/customXml" ds:itemID="{8A511D62-E916-473F-B11A-9154926FF126}"/>
</file>

<file path=customXml/itemProps3.xml><?xml version="1.0" encoding="utf-8"?>
<ds:datastoreItem xmlns:ds="http://schemas.openxmlformats.org/officeDocument/2006/customXml" ds:itemID="{831C6C08-8FD4-4B83-9E77-2894D1530B28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0x0101005A875AE7872FF24186B1288363B788DA</vt:lpwstr>
  </property>
</Properties>
</file>